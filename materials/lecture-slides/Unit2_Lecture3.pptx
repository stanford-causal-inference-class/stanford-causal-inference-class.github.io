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omments/modernComment_1D5_563ED35E.xml" ContentType="application/vnd.ms-powerpoint.comments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9"/>
  </p:notesMasterIdLst>
  <p:sldIdLst>
    <p:sldId id="257" r:id="rId2"/>
    <p:sldId id="258" r:id="rId3"/>
    <p:sldId id="259" r:id="rId4"/>
    <p:sldId id="261" r:id="rId5"/>
    <p:sldId id="260" r:id="rId6"/>
    <p:sldId id="262" r:id="rId7"/>
    <p:sldId id="263" r:id="rId8"/>
    <p:sldId id="264" r:id="rId9"/>
    <p:sldId id="266" r:id="rId10"/>
    <p:sldId id="265" r:id="rId11"/>
    <p:sldId id="267" r:id="rId12"/>
    <p:sldId id="268" r:id="rId13"/>
    <p:sldId id="269" r:id="rId14"/>
    <p:sldId id="418" r:id="rId15"/>
    <p:sldId id="417" r:id="rId16"/>
    <p:sldId id="419" r:id="rId17"/>
    <p:sldId id="406" r:id="rId18"/>
    <p:sldId id="421" r:id="rId19"/>
    <p:sldId id="424" r:id="rId20"/>
    <p:sldId id="425" r:id="rId21"/>
    <p:sldId id="422" r:id="rId22"/>
    <p:sldId id="426" r:id="rId23"/>
    <p:sldId id="427" r:id="rId24"/>
    <p:sldId id="469" r:id="rId25"/>
    <p:sldId id="420" r:id="rId26"/>
    <p:sldId id="428" r:id="rId27"/>
    <p:sldId id="431" r:id="rId28"/>
    <p:sldId id="432" r:id="rId29"/>
    <p:sldId id="433" r:id="rId30"/>
    <p:sldId id="441" r:id="rId31"/>
    <p:sldId id="439" r:id="rId32"/>
    <p:sldId id="436" r:id="rId33"/>
    <p:sldId id="437" r:id="rId34"/>
    <p:sldId id="434" r:id="rId35"/>
    <p:sldId id="442" r:id="rId36"/>
    <p:sldId id="440" r:id="rId37"/>
    <p:sldId id="445" r:id="rId38"/>
    <p:sldId id="446" r:id="rId39"/>
    <p:sldId id="448" r:id="rId40"/>
    <p:sldId id="447" r:id="rId41"/>
    <p:sldId id="449" r:id="rId42"/>
    <p:sldId id="452" r:id="rId43"/>
    <p:sldId id="453" r:id="rId44"/>
    <p:sldId id="454" r:id="rId45"/>
    <p:sldId id="455" r:id="rId46"/>
    <p:sldId id="456" r:id="rId47"/>
    <p:sldId id="335" r:id="rId4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E58CD8C-03A7-9D85-365F-EE55E6D00704}" name="Jason Weitze" initials="JW" userId="c76f9870fa4fa52b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E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52"/>
    <p:restoredTop sz="94626"/>
  </p:normalViewPr>
  <p:slideViewPr>
    <p:cSldViewPr snapToGrid="0">
      <p:cViewPr varScale="1">
        <p:scale>
          <a:sx n="121" d="100"/>
          <a:sy n="121" d="100"/>
        </p:scale>
        <p:origin x="736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comments/modernComment_1D5_563ED35E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D1F0A443-B799-0741-82CB-AE8DBC718DA7}" authorId="{FE58CD8C-03A7-9D85-365F-EE55E6D00704}" created="2024-10-22T17:06:45.637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1446957918" sldId="469"/>
      <ac:spMk id="6" creationId="{D8B460FE-511E-6194-4683-FF0C1CC6F76D}"/>
      <ac:txMk cp="26" len="6">
        <ac:context len="33" hash="1488639939"/>
      </ac:txMk>
    </ac:txMkLst>
    <p188:pos x="5478632" y="479072"/>
    <p188:txBody>
      <a:bodyPr/>
      <a:lstStyle/>
      <a:p>
        <a:r>
          <a:rPr lang="en-US"/>
          <a:t>earnings?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9BEBCC9-647F-5E45-BA5E-8CCC5D43C492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955DA0-5701-4544-B989-8ED9ACDD95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96048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6CF3F7-4D41-164A-A4D4-E640BD3750B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957088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955DA0-5701-4544-B989-8ED9ACDD9502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10270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Do not modify the notes in this section to avoid tampering with the Poll Everywhere activity.
More info at polleverywhere.com/support
Should $$\beta_L$$ be positive or negative?</a:t>
            </a:r>
          </a:p>
          <a:p>
            <a:r>
              <a:rPr lang="en-US"/>
              <a:t>https://www.polleverywhere.com/multiple_choice_polls/kCsbHoHpsxh7oZs1mQxKe?state=opened&amp;flow=Default&amp;onscreen=persist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955DA0-5701-4544-B989-8ED9ACDD9502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8623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955DA0-5701-4544-B989-8ED9ACDD9502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11940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955DA0-5701-4544-B989-8ED9ACDD9502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44653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1E6818-5228-6746-93C7-81444766F2C7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3602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6DF170-811C-2B31-C0B0-862E91A4B4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07CCEDE-52CB-FB5A-D84F-1DE2B0FF22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20654C-3E45-A586-A8CF-27C2F44FD8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529C-7AC4-498E-86D4-DC9A7DA9F898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F3FB41-6698-A8A3-9568-A48F19505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5500EE-EA0C-D40A-DD27-0D0C4B373C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35CC-C70A-4792-B171-5A9C7364B6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5432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5DF521-5D56-2266-8D85-8DD46238AA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0C1307-B2F1-2310-0212-94140F1A5D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ADBA0A-585B-37F2-C235-0D07DF81F0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529C-7AC4-498E-86D4-DC9A7DA9F898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6C95D1-75E4-DBB9-137E-73D4F5ABD4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98427C-7848-DA7C-8C53-9BD757009D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35CC-C70A-4792-B171-5A9C7364B6D5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4FA992D-C6A1-04E6-6480-D6FF5834A1D9}"/>
              </a:ext>
            </a:extLst>
          </p:cNvPr>
          <p:cNvSpPr/>
          <p:nvPr/>
        </p:nvSpPr>
        <p:spPr>
          <a:xfrm>
            <a:off x="0" y="0"/>
            <a:ext cx="381000" cy="685800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09809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49FEB4-A114-1406-AAC7-E6A9374762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F5736C-4324-7C32-AD7B-93A2A9C7E0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71F154-5E54-8A6E-32D1-50892B476E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529C-7AC4-498E-86D4-DC9A7DA9F898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89038B-6435-F39A-AE45-EC2277648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8BDF1E-A55C-2F2F-60EB-26E50943C5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35CC-C70A-4792-B171-5A9C7364B6D5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CC699B5-BC08-318D-27C2-159A3F84676E}"/>
              </a:ext>
            </a:extLst>
          </p:cNvPr>
          <p:cNvSpPr/>
          <p:nvPr/>
        </p:nvSpPr>
        <p:spPr>
          <a:xfrm>
            <a:off x="0" y="0"/>
            <a:ext cx="381000" cy="685800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36836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4E8BC7-37A9-2A41-A226-1AA2056C75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195DB0-B3D9-5AA8-0EBE-8DE243B43F7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BC9C40-4553-98FF-B057-51D0631655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D316FA-702D-0970-98FC-C9857BDB91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529C-7AC4-498E-86D4-DC9A7DA9F898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5F98C5-312D-43ED-B810-B24CF5C920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17E21C-8BB3-4F1E-CF27-B3C2310D0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35CC-C70A-4792-B171-5A9C7364B6D5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ADB9F7D-4293-E584-BB33-F33655869B04}"/>
              </a:ext>
            </a:extLst>
          </p:cNvPr>
          <p:cNvSpPr/>
          <p:nvPr/>
        </p:nvSpPr>
        <p:spPr>
          <a:xfrm>
            <a:off x="0" y="0"/>
            <a:ext cx="381000" cy="685800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7846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DBB629-ED87-5F0F-C9BC-928A597F10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3799BA-B41E-6860-AA97-BD0EF6DD43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FE23B1-8B3C-B07C-FDE2-19F41F30B9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9C4BBA-5A0D-0E42-7483-493DBCED4B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D716F14-27E0-D214-DE57-BB9CAF7B4F8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7BACE10-B3E3-AA96-7962-FFDFF71588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529C-7AC4-498E-86D4-DC9A7DA9F898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916E200-901C-8F02-918B-5D1D4D5827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DEBD97F-62C3-7108-5E3B-4FCE958B8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35CC-C70A-4792-B171-5A9C7364B6D5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13A5397-9352-EF76-A222-9B7EF3224C80}"/>
              </a:ext>
            </a:extLst>
          </p:cNvPr>
          <p:cNvSpPr/>
          <p:nvPr/>
        </p:nvSpPr>
        <p:spPr>
          <a:xfrm>
            <a:off x="0" y="0"/>
            <a:ext cx="381000" cy="685800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79375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8D29A3-9228-EFA1-7EA8-320A5E4CD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62B2899-CC6E-9662-436F-D08B922BA1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529C-7AC4-498E-86D4-DC9A7DA9F898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09471A-67C3-CA58-574B-353065996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098AAE-7DA0-24C8-EAFB-429398606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35CC-C70A-4792-B171-5A9C7364B6D5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A67E615-E4D7-8DF7-AC05-9434E1BD634F}"/>
              </a:ext>
            </a:extLst>
          </p:cNvPr>
          <p:cNvSpPr/>
          <p:nvPr/>
        </p:nvSpPr>
        <p:spPr>
          <a:xfrm>
            <a:off x="0" y="0"/>
            <a:ext cx="381000" cy="685800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21474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2657AF7-9EDB-A1C4-8FE7-E0FEEE544B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529C-7AC4-498E-86D4-DC9A7DA9F898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FB410C-9EC2-0283-7D97-C87FEBE2B3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0411A1-87A4-150F-6303-025F73278A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35CC-C70A-4792-B171-5A9C7364B6D5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BEC10DA-58DD-6058-72F5-37C7FA819707}"/>
              </a:ext>
            </a:extLst>
          </p:cNvPr>
          <p:cNvSpPr/>
          <p:nvPr/>
        </p:nvSpPr>
        <p:spPr>
          <a:xfrm>
            <a:off x="0" y="0"/>
            <a:ext cx="381000" cy="685800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17635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569521-1256-3807-0A09-73CF197D19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5A0C9A-E639-327E-EAE2-4C18EEFBB2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72BD3E-A8F9-C833-0D6E-E56DF294F7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27D350-5EB9-6E86-2F02-CACFB7A7E0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529C-7AC4-498E-86D4-DC9A7DA9F898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194B27-4321-6C96-5E6C-B4294A3A3F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878C75-416A-15DA-A2DC-37E0ECED7D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35CC-C70A-4792-B171-5A9C7364B6D5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DD89290-EA5E-999A-9087-ED945E983F0D}"/>
              </a:ext>
            </a:extLst>
          </p:cNvPr>
          <p:cNvSpPr/>
          <p:nvPr/>
        </p:nvSpPr>
        <p:spPr>
          <a:xfrm>
            <a:off x="0" y="0"/>
            <a:ext cx="381000" cy="685800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88062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7BC17-AE68-BB5D-7E81-4CAFF8B6CB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9C9BB58-A5B3-752C-C3CD-66BCD70B95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7F54B17-4878-2B1B-1EF4-2E2326955C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C00598-743F-6934-3985-938F1E866A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529C-7AC4-498E-86D4-DC9A7DA9F898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D902F9-7383-6CE3-298B-4DB50315F4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34894E-3991-6152-5957-002E7265C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35CC-C70A-4792-B171-5A9C7364B6D5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6B84A78-F893-43A3-1D6F-4587823EF278}"/>
              </a:ext>
            </a:extLst>
          </p:cNvPr>
          <p:cNvSpPr/>
          <p:nvPr/>
        </p:nvSpPr>
        <p:spPr>
          <a:xfrm>
            <a:off x="0" y="0"/>
            <a:ext cx="381000" cy="685800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71473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9B4510-4B21-DC22-7420-9F84FC621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119451-B586-AA05-D054-A9F1923CE2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E7FC57-6205-2A78-80A0-BB6AA1CF03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529C-7AC4-498E-86D4-DC9A7DA9F898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5B43F5-3769-91D9-F447-F3E44C42DA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562A88-1673-2416-F5B7-E12A4BECBD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35CC-C70A-4792-B171-5A9C7364B6D5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352AE72-8B3F-0851-5089-AC8CFF790B2F}"/>
              </a:ext>
            </a:extLst>
          </p:cNvPr>
          <p:cNvSpPr/>
          <p:nvPr/>
        </p:nvSpPr>
        <p:spPr>
          <a:xfrm>
            <a:off x="0" y="0"/>
            <a:ext cx="381000" cy="685800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79811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3E1EEFA-D7BD-F80C-2B4C-0AEDA101A1A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3C1D9E-E814-5FED-9B2B-78D71AEBE4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157526-7469-C9F1-34C8-B1F790EC8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529C-7AC4-498E-86D4-DC9A7DA9F898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5ADFC0-7CC2-BF2F-F56F-571E62AE49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84DFF3-379F-BDBB-5CAB-16B1BC40BE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35CC-C70A-4792-B171-5A9C7364B6D5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85E4D9E-0F99-E18D-52A5-55D652C32935}"/>
              </a:ext>
            </a:extLst>
          </p:cNvPr>
          <p:cNvSpPr/>
          <p:nvPr/>
        </p:nvSpPr>
        <p:spPr>
          <a:xfrm>
            <a:off x="0" y="0"/>
            <a:ext cx="381000" cy="685800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88112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close-up of a logo&#10;&#10;Description automatically generated">
            <a:extLst>
              <a:ext uri="{FF2B5EF4-FFF2-40B4-BE49-F238E27FC236}">
                <a16:creationId xmlns:a16="http://schemas.microsoft.com/office/drawing/2014/main" id="{45FD974E-6B30-074E-DCDA-B43A8313BDC9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3705" y="6239790"/>
            <a:ext cx="1473924" cy="50617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770B608-161B-B8F7-D7A5-CED71D4B41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8A0E45-27EC-856E-DA78-F5A5903CB6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A56F89-8D60-6463-E4B5-485DB2E5698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B1B529C-7AC4-498E-86D4-DC9A7DA9F898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EDDFEF-E259-13F0-9373-3E1D0F6A24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B544F3-851E-BC68-C039-63A94D3C5E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4A35CC-C70A-4792-B171-5A9C7364B6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35243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8C1515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Relationship Id="rId4" Type="http://schemas.openxmlformats.org/officeDocument/2006/relationships/image" Target="../media/image6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28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4.xml"/><Relationship Id="rId4" Type="http://schemas.openxmlformats.org/officeDocument/2006/relationships/image" Target="../media/image1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28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0.png"/></Relationships>
</file>

<file path=ppt/slides/_rels/slide24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D5_563ED35E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97FF79-BB73-440C-5390-3645CD1AFDE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Empirical Evidence on the Effect of Unearned Income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B7705A0-1A40-EE67-D3CC-B6D8C02508B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Causality, Decision Making, and Data Science </a:t>
            </a:r>
          </a:p>
          <a:p>
            <a:r>
              <a:rPr lang="en-US" dirty="0"/>
              <a:t>Lecture 8</a:t>
            </a:r>
          </a:p>
        </p:txBody>
      </p:sp>
    </p:spTree>
    <p:extLst>
      <p:ext uri="{BB962C8B-B14F-4D97-AF65-F5344CB8AC3E}">
        <p14:creationId xmlns:p14="http://schemas.microsoft.com/office/powerpoint/2010/main" val="33742930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652645-F809-D986-1B55-7DFE7F5061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Announcements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88A547-1923-059B-0397-4DFE85EBFF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HW2 Part 1 </a:t>
            </a:r>
            <a:r>
              <a:rPr lang="en-US" b="1" i="1" dirty="0"/>
              <a:t>and</a:t>
            </a:r>
            <a:r>
              <a:rPr lang="en-US" dirty="0"/>
              <a:t> Project Ideas due Monday!</a:t>
            </a:r>
          </a:p>
        </p:txBody>
      </p:sp>
    </p:spTree>
    <p:extLst>
      <p:ext uri="{BB962C8B-B14F-4D97-AF65-F5344CB8AC3E}">
        <p14:creationId xmlns:p14="http://schemas.microsoft.com/office/powerpoint/2010/main" val="14626952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DD8796-F507-0AEE-13D5-D90F3B03AF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51AB89-B93A-F402-19AA-B2C148E792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Recap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Three studies on the effects of UBI / unearned income</a:t>
            </a:r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36598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B07089-0080-E834-4EAA-5D8CD6867E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B5A501-9935-81A7-8AEA-53812D9A17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82939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58DC1E-8ADC-D907-8BE2-DB31E0404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have we seen so far?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2299F6-91AD-6A39-FFF8-003852EB02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667250"/>
          </a:xfrm>
        </p:spPr>
        <p:txBody>
          <a:bodyPr>
            <a:normAutofit lnSpcReduction="10000"/>
          </a:bodyPr>
          <a:lstStyle/>
          <a:p>
            <a:r>
              <a:rPr lang="en-US" b="1" dirty="0"/>
              <a:t>Some theory:</a:t>
            </a:r>
          </a:p>
          <a:p>
            <a:pPr lvl="1"/>
            <a:r>
              <a:rPr lang="en-US" dirty="0"/>
              <a:t>Friedman’s Permanent Income Hypothesis says that people “smooth” consumption over their lifetime.</a:t>
            </a:r>
          </a:p>
          <a:p>
            <a:pPr lvl="2"/>
            <a:r>
              <a:rPr lang="en-US" dirty="0">
                <a:solidFill>
                  <a:schemeClr val="accent1"/>
                </a:solidFill>
              </a:rPr>
              <a:t>If you get a windfall now, you’ll save most of it</a:t>
            </a:r>
          </a:p>
          <a:p>
            <a:pPr lvl="2"/>
            <a:r>
              <a:rPr lang="en-US" dirty="0">
                <a:solidFill>
                  <a:schemeClr val="accent1"/>
                </a:solidFill>
              </a:rPr>
              <a:t>If you know you’re going to make more later, you’ll start spending some of it now</a:t>
            </a:r>
          </a:p>
          <a:p>
            <a:r>
              <a:rPr lang="en-US" b="1" dirty="0"/>
              <a:t>Some techniques:</a:t>
            </a:r>
            <a:r>
              <a:rPr lang="en-US" dirty="0"/>
              <a:t>	</a:t>
            </a:r>
          </a:p>
          <a:p>
            <a:pPr lvl="1"/>
            <a:r>
              <a:rPr lang="en-US" dirty="0"/>
              <a:t>(Multivariate) regression!</a:t>
            </a:r>
          </a:p>
          <a:p>
            <a:pPr lvl="2"/>
            <a:r>
              <a:rPr lang="en-US" dirty="0">
                <a:solidFill>
                  <a:schemeClr val="accent1"/>
                </a:solidFill>
              </a:rPr>
              <a:t>Regression fits a linear model</a:t>
            </a:r>
          </a:p>
          <a:p>
            <a:pPr lvl="2"/>
            <a:r>
              <a:rPr lang="en-US" dirty="0">
                <a:solidFill>
                  <a:schemeClr val="accent1"/>
                </a:solidFill>
              </a:rPr>
              <a:t>You can “control” for observables by including them in the model</a:t>
            </a:r>
          </a:p>
          <a:p>
            <a:r>
              <a:rPr lang="en-US" b="1" dirty="0"/>
              <a:t>Some older studies:</a:t>
            </a:r>
          </a:p>
          <a:p>
            <a:pPr lvl="1"/>
            <a:r>
              <a:rPr lang="en-US" dirty="0"/>
              <a:t>What happens when people get windfall income?</a:t>
            </a:r>
          </a:p>
          <a:p>
            <a:pPr lvl="2"/>
            <a:r>
              <a:rPr lang="en-US" dirty="0">
                <a:solidFill>
                  <a:schemeClr val="accent1"/>
                </a:solidFill>
              </a:rPr>
              <a:t>Conflicting results!</a:t>
            </a:r>
          </a:p>
        </p:txBody>
      </p:sp>
    </p:spTree>
    <p:extLst>
      <p:ext uri="{BB962C8B-B14F-4D97-AF65-F5344CB8AC3E}">
        <p14:creationId xmlns:p14="http://schemas.microsoft.com/office/powerpoint/2010/main" val="36830950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5F3EF-3A9F-E610-7A26-7670EBCB5C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F119C4-9A2D-EF4D-9A8C-13CD188F39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Three more recent studies on the effects of UBI / unearned income: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Lotteries!  </a:t>
            </a:r>
          </a:p>
          <a:p>
            <a:pPr lvl="2"/>
            <a:r>
              <a:rPr lang="en-US" dirty="0">
                <a:solidFill>
                  <a:schemeClr val="accent1"/>
                </a:solidFill>
              </a:rPr>
              <a:t>You’re looking at this on your homework!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A randomized experiment on UBI done in the US</a:t>
            </a:r>
          </a:p>
          <a:p>
            <a:pPr lvl="2"/>
            <a:r>
              <a:rPr lang="en-US" dirty="0">
                <a:solidFill>
                  <a:schemeClr val="accent1"/>
                </a:solidFill>
              </a:rPr>
              <a:t>You looked at this one before class!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A randomized experiment on UBI done in Finland (if time)</a:t>
            </a:r>
          </a:p>
          <a:p>
            <a:pPr lvl="2"/>
            <a:r>
              <a:rPr lang="en-US" dirty="0">
                <a:solidFill>
                  <a:schemeClr val="accent1"/>
                </a:solidFill>
              </a:rPr>
              <a:t>This one is new!</a:t>
            </a:r>
          </a:p>
        </p:txBody>
      </p:sp>
    </p:spTree>
    <p:extLst>
      <p:ext uri="{BB962C8B-B14F-4D97-AF65-F5344CB8AC3E}">
        <p14:creationId xmlns:p14="http://schemas.microsoft.com/office/powerpoint/2010/main" val="35807844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7039F5-4A07-0EAA-487C-319CB1E037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Three Studies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647928-9BF1-6FD0-B30E-F4B3FB9700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31790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2827E0-A964-E0BE-1A58-4630C8ED10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 we go through these studies…</a:t>
            </a:r>
            <a:br>
              <a:rPr lang="en-US" dirty="0"/>
            </a:br>
            <a:r>
              <a:rPr lang="en-US" sz="2400" dirty="0"/>
              <a:t>Think about: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F9A43D-C39C-C629-6A99-A62A6A36D8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90688"/>
            <a:ext cx="11219823" cy="4802187"/>
          </a:xfrm>
        </p:spPr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Internal Validity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Does this get at a causal effect in the population studied?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External Validity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Does this get at a causal effect in other relevant populations?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Construct Validity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Are we measuring the right thing?</a:t>
            </a:r>
          </a:p>
          <a:p>
            <a:pPr lvl="2"/>
            <a:r>
              <a:rPr lang="en-US" dirty="0">
                <a:solidFill>
                  <a:schemeClr val="accent1"/>
                </a:solidFill>
              </a:rPr>
              <a:t>If we care about UBI?  If we care about stimulus checks?  If we care about social security? </a:t>
            </a:r>
            <a:r>
              <a:rPr lang="en-US" dirty="0" err="1">
                <a:solidFill>
                  <a:schemeClr val="accent1"/>
                </a:solidFill>
              </a:rPr>
              <a:t>Etc</a:t>
            </a:r>
            <a:r>
              <a:rPr lang="en-US" dirty="0">
                <a:solidFill>
                  <a:schemeClr val="accent1"/>
                </a:solidFill>
              </a:rPr>
              <a:t>…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Spillover Effects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Might the fact that some people got the “treatment” affect those who didn’t?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Ethical Concerns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Is it ethical to randomize?  For observational data, privacy issues?</a:t>
            </a:r>
          </a:p>
        </p:txBody>
      </p:sp>
    </p:spTree>
    <p:extLst>
      <p:ext uri="{BB962C8B-B14F-4D97-AF65-F5344CB8AC3E}">
        <p14:creationId xmlns:p14="http://schemas.microsoft.com/office/powerpoint/2010/main" val="26954530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2827E0-A964-E0BE-1A58-4630C8ED10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 we go through these studies…</a:t>
            </a:r>
            <a:br>
              <a:rPr lang="en-US" dirty="0"/>
            </a:br>
            <a:r>
              <a:rPr lang="en-US" sz="2400" dirty="0"/>
              <a:t>Think about: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F9A43D-C39C-C629-6A99-A62A6A36D8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90688"/>
            <a:ext cx="11219823" cy="480218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What are the take-aways for a policy-maker thinking about UBI?</a:t>
            </a:r>
          </a:p>
          <a:p>
            <a:r>
              <a:rPr lang="en-US" dirty="0"/>
              <a:t>If we had a UBI…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Would people work less?  Work more?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What would people do with the money?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Is there heterogeneity in the effects?</a:t>
            </a:r>
          </a:p>
          <a:p>
            <a:pPr lvl="1"/>
            <a:endParaRPr lang="en-US" dirty="0">
              <a:solidFill>
                <a:schemeClr val="accent1"/>
              </a:solidFill>
            </a:endParaRPr>
          </a:p>
          <a:p>
            <a:pPr lvl="1"/>
            <a:r>
              <a:rPr lang="en-US" dirty="0">
                <a:solidFill>
                  <a:schemeClr val="accent1"/>
                </a:solidFill>
              </a:rPr>
              <a:t>Other policy-relevant questions?</a:t>
            </a:r>
          </a:p>
          <a:p>
            <a:pPr lvl="1"/>
            <a:endParaRPr lang="en-US" dirty="0">
              <a:solidFill>
                <a:schemeClr val="accent1"/>
              </a:solidFill>
            </a:endParaRPr>
          </a:p>
          <a:p>
            <a:pPr lvl="1"/>
            <a:r>
              <a:rPr lang="en-US" dirty="0">
                <a:solidFill>
                  <a:schemeClr val="accent1"/>
                </a:solidFill>
              </a:rPr>
              <a:t>How confident does the study make you in the answers to the above?</a:t>
            </a:r>
          </a:p>
          <a:p>
            <a:pPr lvl="1"/>
            <a:endParaRPr lang="en-US" dirty="0">
              <a:solidFill>
                <a:schemeClr val="accent1"/>
              </a:solidFill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7486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493764-EF5E-8452-91D4-37D4A42D2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Study 1: </a:t>
            </a:r>
            <a:br>
              <a:rPr lang="en-US" dirty="0"/>
            </a:br>
            <a:r>
              <a:rPr lang="en-US" sz="5400" dirty="0"/>
              <a:t>Massachusetts Lottery Winners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DFB29F-0C50-0A1B-188A-B46045504B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2DC27CE-E8EB-5E10-D204-826425F2A8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1491" y="267123"/>
            <a:ext cx="7605371" cy="200141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3EE05A1-1D3C-2A1A-B697-2C5C5EB35889}"/>
              </a:ext>
            </a:extLst>
          </p:cNvPr>
          <p:cNvSpPr txBox="1"/>
          <p:nvPr/>
        </p:nvSpPr>
        <p:spPr>
          <a:xfrm>
            <a:off x="8370278" y="2295524"/>
            <a:ext cx="35390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American Economic Review, 2001</a:t>
            </a:r>
          </a:p>
        </p:txBody>
      </p:sp>
    </p:spTree>
    <p:extLst>
      <p:ext uri="{BB962C8B-B14F-4D97-AF65-F5344CB8AC3E}">
        <p14:creationId xmlns:p14="http://schemas.microsoft.com/office/powerpoint/2010/main" val="22990466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86AC3A-3803-4D84-5555-B18ED4D612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study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DA19BDF-AB4D-B8AC-0D78-B2E75EEF01B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84463"/>
                <a:ext cx="10515600" cy="4908411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dirty="0"/>
                  <a:t>Look at people who played the lottery in MA, in 1984-1988.</a:t>
                </a:r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“Winners” won large prizes (mean: $400K), paid out over 20 years.</a:t>
                </a:r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“Non-winners” are season-ticket holders who won smaller ($100-$5000) one-time prizes.</a:t>
                </a:r>
              </a:p>
              <a:p>
                <a:pPr lvl="1"/>
                <a:endParaRPr lang="en-US" dirty="0">
                  <a:solidFill>
                    <a:schemeClr val="accent1"/>
                  </a:solidFill>
                </a:endParaRPr>
              </a:p>
              <a:p>
                <a:r>
                  <a:rPr lang="en-US" dirty="0"/>
                  <a:t>Survey winners and non-winners:</a:t>
                </a:r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What are things like now (at the time of the survey, 1995/1996)?</a:t>
                </a:r>
              </a:p>
              <a:p>
                <a:pPr lvl="2"/>
                <a:r>
                  <a:rPr lang="en-US" dirty="0">
                    <a:solidFill>
                      <a:schemeClr val="accent4"/>
                    </a:solidFill>
                  </a:rPr>
                  <a:t>Do you / your spouse work?  How much savings do you have and of what types? What’s your housing/car situation? Etc.</a:t>
                </a:r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What were things like when you won your small/big prize?</a:t>
                </a:r>
              </a:p>
              <a:p>
                <a:pPr lvl="2"/>
                <a:r>
                  <a:rPr lang="en-US" dirty="0">
                    <a:solidFill>
                      <a:schemeClr val="accent4"/>
                    </a:solidFill>
                  </a:rPr>
                  <a:t>Similar questions, but about 1984-1988</a:t>
                </a:r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Earnings info</a:t>
                </a:r>
              </a:p>
              <a:p>
                <a:pPr lvl="2"/>
                <a:r>
                  <a:rPr lang="en-US" dirty="0">
                    <a:solidFill>
                      <a:schemeClr val="accent4"/>
                    </a:solidFill>
                  </a:rPr>
                  <a:t>Earnings at winning time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±</m:t>
                    </m:r>
                  </m:oMath>
                </a14:m>
                <a:r>
                  <a:rPr lang="en-US" dirty="0">
                    <a:solidFill>
                      <a:schemeClr val="accent4"/>
                    </a:solidFill>
                  </a:rPr>
                  <a:t>6 years (via Social Security earnings records)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DA19BDF-AB4D-B8AC-0D78-B2E75EEF01B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84463"/>
                <a:ext cx="10515600" cy="4908411"/>
              </a:xfrm>
              <a:blipFill>
                <a:blip r:embed="rId2"/>
                <a:stretch>
                  <a:fillRect l="-1043" t="-3106" r="-1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731380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DA8F3B-71A1-A6EB-F8B9-7BEC3BCE0A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968613" cy="1325563"/>
          </a:xfrm>
        </p:spPr>
        <p:txBody>
          <a:bodyPr>
            <a:normAutofit fontScale="90000"/>
          </a:bodyPr>
          <a:lstStyle/>
          <a:p>
            <a:r>
              <a:rPr lang="en-US" dirty="0"/>
              <a:t>Examples</a:t>
            </a:r>
            <a:br>
              <a:rPr lang="en-US" dirty="0"/>
            </a:br>
            <a:r>
              <a:rPr lang="en-US" sz="2700" dirty="0"/>
              <a:t>There were a lot more questions – you can see some of these data in your HW!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5DF3B4-C050-04F8-EE41-A0ADB9A676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36155"/>
            <a:ext cx="5130521" cy="4745997"/>
          </a:xfrm>
        </p:spPr>
        <p:txBody>
          <a:bodyPr/>
          <a:lstStyle/>
          <a:p>
            <a:r>
              <a:rPr lang="en-US" dirty="0"/>
              <a:t>A few questions about “now” </a:t>
            </a:r>
            <a:r>
              <a:rPr lang="en-US" sz="2000" dirty="0"/>
              <a:t>(1995-1996)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66774E5-F43E-B896-221C-DAAD36815F3E}"/>
              </a:ext>
            </a:extLst>
          </p:cNvPr>
          <p:cNvSpPr txBox="1">
            <a:spLocks/>
          </p:cNvSpPr>
          <p:nvPr/>
        </p:nvSpPr>
        <p:spPr>
          <a:xfrm>
            <a:off x="7079902" y="2920403"/>
            <a:ext cx="4819022" cy="47459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A few questions about “when you won”</a:t>
            </a:r>
            <a:r>
              <a:rPr lang="en-US" dirty="0">
                <a:sym typeface="Wingdings" pitchFamily="2" charset="2"/>
              </a:rPr>
              <a:t> </a:t>
            </a:r>
            <a:r>
              <a:rPr lang="en-US" sz="2000" dirty="0">
                <a:sym typeface="Wingdings" pitchFamily="2" charset="2"/>
              </a:rPr>
              <a:t>(1986)</a:t>
            </a:r>
            <a:r>
              <a:rPr lang="en-US" dirty="0">
                <a:sym typeface="Wingdings" pitchFamily="2" charset="2"/>
              </a:rPr>
              <a:t>: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8BF04B-2C91-D6BA-434E-09E2DB1C4E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988" y="2920403"/>
            <a:ext cx="5775526" cy="326368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82D7534-1AB2-6D42-F447-4203986CD9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2998" y="3937597"/>
            <a:ext cx="6149002" cy="283296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3708315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773A4A-1AC7-E19E-EDED-E1BC7DF04B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0"/>
            <a:ext cx="10515600" cy="1325563"/>
          </a:xfrm>
        </p:spPr>
        <p:txBody>
          <a:bodyPr/>
          <a:lstStyle/>
          <a:p>
            <a:r>
              <a:rPr lang="en-US" dirty="0"/>
              <a:t>Summary statistics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5694DB2-19D2-AAAB-4242-1EAD9C9A557C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199" y="1194934"/>
            <a:ext cx="8217905" cy="5426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41708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773A4A-1AC7-E19E-EDED-E1BC7DF04B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0"/>
            <a:ext cx="10515600" cy="1325563"/>
          </a:xfrm>
        </p:spPr>
        <p:txBody>
          <a:bodyPr/>
          <a:lstStyle/>
          <a:p>
            <a:r>
              <a:rPr lang="en-US" dirty="0"/>
              <a:t>Summary statistics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5694DB2-19D2-AAAB-4242-1EAD9C9A557C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199" y="1194934"/>
            <a:ext cx="8217905" cy="542628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BC44990-8D32-6FA5-8E42-A4EA77A7B8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55499" y="3340642"/>
            <a:ext cx="2447707" cy="218837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EF2AAC9-9487-D74F-2CE7-B3964805172D}"/>
              </a:ext>
            </a:extLst>
          </p:cNvPr>
          <p:cNvSpPr txBox="1"/>
          <p:nvPr/>
        </p:nvSpPr>
        <p:spPr>
          <a:xfrm>
            <a:off x="9342921" y="662781"/>
            <a:ext cx="2672862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Discuss: </a:t>
            </a:r>
          </a:p>
          <a:p>
            <a:pPr algn="ctr"/>
            <a:r>
              <a:rPr lang="en-US" sz="2400" dirty="0"/>
              <a:t>Are there meaningful differences between winners and losers?  </a:t>
            </a:r>
          </a:p>
          <a:p>
            <a:pPr algn="ctr"/>
            <a:r>
              <a:rPr lang="en-US" sz="2400" dirty="0"/>
              <a:t>If so, why might that be?</a:t>
            </a:r>
          </a:p>
        </p:txBody>
      </p:sp>
    </p:spTree>
    <p:extLst>
      <p:ext uri="{BB962C8B-B14F-4D97-AF65-F5344CB8AC3E}">
        <p14:creationId xmlns:p14="http://schemas.microsoft.com/office/powerpoint/2010/main" val="8750814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6ED845-8254-D26F-3FF3-35926CBA6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85C2BA-EFA3-6AA1-8CFB-E2596256BE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possible reasons…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DF13C8-62B5-00C4-3A64-57835E16DE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Survey response rate was only around 50% for winners and 42% for non-winners.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Different types of people might be more/less likely to reply when they are winners/non-winners.</a:t>
            </a:r>
          </a:p>
          <a:p>
            <a:endParaRPr lang="en-US" dirty="0"/>
          </a:p>
          <a:p>
            <a:r>
              <a:rPr lang="en-US" dirty="0"/>
              <a:t>The lottery is random by </a:t>
            </a:r>
            <a:r>
              <a:rPr lang="en-US" b="1" dirty="0"/>
              <a:t>tickets</a:t>
            </a:r>
            <a:r>
              <a:rPr lang="en-US" dirty="0"/>
              <a:t>, not by people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Number of tickets bought may be correlated with other characteristics.</a:t>
            </a:r>
          </a:p>
        </p:txBody>
      </p:sp>
    </p:spTree>
    <p:extLst>
      <p:ext uri="{BB962C8B-B14F-4D97-AF65-F5344CB8AC3E}">
        <p14:creationId xmlns:p14="http://schemas.microsoft.com/office/powerpoint/2010/main" val="8099484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B192B-CB43-BE68-3C80-BC24FFDD22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“winning” look like?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384B59-4204-DB61-7D41-A2AE491E6B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038155"/>
          </a:xfrm>
        </p:spPr>
        <p:txBody>
          <a:bodyPr/>
          <a:lstStyle/>
          <a:p>
            <a:r>
              <a:rPr lang="en-US" dirty="0"/>
              <a:t>Histogram of </a:t>
            </a:r>
            <a:r>
              <a:rPr lang="en-US" b="1" dirty="0"/>
              <a:t>yearly</a:t>
            </a:r>
            <a:r>
              <a:rPr lang="en-US" dirty="0"/>
              <a:t> payouts for winners: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EDD1A40-9E21-0618-2AFC-5EE5F84F19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648" y="2451100"/>
            <a:ext cx="8445391" cy="3737534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9066F7F8-3884-CDBA-8D8D-5445F1FE3ECF}"/>
              </a:ext>
            </a:extLst>
          </p:cNvPr>
          <p:cNvGrpSpPr/>
          <p:nvPr/>
        </p:nvGrpSpPr>
        <p:grpSpPr>
          <a:xfrm flipH="1">
            <a:off x="9460891" y="1922274"/>
            <a:ext cx="2347163" cy="3327806"/>
            <a:chOff x="2487772" y="3114648"/>
            <a:chExt cx="2964221" cy="3327806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A59849B3-C53E-8C30-81A6-682B75BB979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flipH="1">
              <a:off x="2684536" y="4314977"/>
              <a:ext cx="1146772" cy="2127477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390BC00-60C5-9295-6DDE-96EE5424A15E}"/>
                </a:ext>
              </a:extLst>
            </p:cNvPr>
            <p:cNvSpPr txBox="1"/>
            <p:nvPr/>
          </p:nvSpPr>
          <p:spPr>
            <a:xfrm>
              <a:off x="2487772" y="3114648"/>
              <a:ext cx="2964221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dirty="0">
                  <a:solidFill>
                    <a:srgbClr val="0070C0"/>
                  </a:solidFill>
                </a:rPr>
                <a:t>Lots of winners received about $20,000 per year for 20 years.  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360888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6E3757-BC2F-9DF6-A118-7A7BB70911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External Validity?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C4600D-9051-2827-0F85-1AA3044AC9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do lottery players compare to the rest of the population?</a:t>
            </a:r>
          </a:p>
          <a:p>
            <a:r>
              <a:rPr lang="en-US" dirty="0"/>
              <a:t>Here is a comparison to the Current Population Survey, a nationally representative survey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E940BA4-31B8-8E05-2528-BD894D6B214A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9715" y="3572228"/>
            <a:ext cx="8932569" cy="2287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62982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ECDCCA-7924-EE63-2FE9-0ACCCA5C5C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B8B35B-877D-5A33-A76F-4F54DD8110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Lottery study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F077CE3-9EAD-EB24-C839-0449478ADCF3}"/>
              </a:ext>
            </a:extLst>
          </p:cNvPr>
          <p:cNvGrpSpPr/>
          <p:nvPr/>
        </p:nvGrpSpPr>
        <p:grpSpPr>
          <a:xfrm flipH="1">
            <a:off x="9118599" y="1816006"/>
            <a:ext cx="2677501" cy="3434074"/>
            <a:chOff x="2502869" y="3008380"/>
            <a:chExt cx="3381403" cy="343407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D97BA78D-DAB1-117F-C0AB-73489EF96D1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flipH="1">
              <a:off x="2684536" y="4314977"/>
              <a:ext cx="1146772" cy="2127477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3171A08-DF11-B00C-63D1-5F8D09E9FBF4}"/>
                </a:ext>
              </a:extLst>
            </p:cNvPr>
            <p:cNvSpPr txBox="1"/>
            <p:nvPr/>
          </p:nvSpPr>
          <p:spPr>
            <a:xfrm>
              <a:off x="2502869" y="3008380"/>
              <a:ext cx="3381403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dirty="0">
                  <a:solidFill>
                    <a:srgbClr val="0070C0"/>
                  </a:solidFill>
                </a:rPr>
                <a:t>You’ll get to play around with these data and see if you find similar things in your homework!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585860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3D0FE-C0BA-55D2-49D9-F7B63A3AE9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Looks like there’s an effect…</a:t>
            </a:r>
            <a:br>
              <a:rPr lang="en-US" dirty="0"/>
            </a:br>
            <a:r>
              <a:rPr lang="en-US" sz="2400" dirty="0"/>
              <a:t>On whether or not you work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A516F9F-FA60-CDBD-2755-201E7F59A2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1376" y="1690688"/>
            <a:ext cx="10392905" cy="443637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7140DF4-56CA-84B8-2EC3-E4DA7064649F}"/>
              </a:ext>
            </a:extLst>
          </p:cNvPr>
          <p:cNvSpPr txBox="1"/>
          <p:nvPr/>
        </p:nvSpPr>
        <p:spPr>
          <a:xfrm>
            <a:off x="7265633" y="3650735"/>
            <a:ext cx="1320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Big winners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2EB8850-FE88-5ABF-CA62-10AC10C0A077}"/>
              </a:ext>
            </a:extLst>
          </p:cNvPr>
          <p:cNvSpPr txBox="1"/>
          <p:nvPr/>
        </p:nvSpPr>
        <p:spPr>
          <a:xfrm>
            <a:off x="9738502" y="3217173"/>
            <a:ext cx="10063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2"/>
                </a:solidFill>
              </a:rPr>
              <a:t>Winners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7D215B-4C34-19D5-0CA1-2B591A76CF71}"/>
              </a:ext>
            </a:extLst>
          </p:cNvPr>
          <p:cNvSpPr txBox="1"/>
          <p:nvPr/>
        </p:nvSpPr>
        <p:spPr>
          <a:xfrm>
            <a:off x="8701809" y="2781855"/>
            <a:ext cx="14986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2"/>
                </a:solidFill>
              </a:rPr>
              <a:t>Non-Winners</a:t>
            </a:r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201DDB64-9EA2-E6D3-B1C7-864F2CAD1416}"/>
              </a:ext>
            </a:extLst>
          </p:cNvPr>
          <p:cNvSpPr/>
          <p:nvPr/>
        </p:nvSpPr>
        <p:spPr>
          <a:xfrm>
            <a:off x="2154264" y="2772029"/>
            <a:ext cx="8865031" cy="1259621"/>
          </a:xfrm>
          <a:custGeom>
            <a:avLst/>
            <a:gdLst>
              <a:gd name="connsiteX0" fmla="*/ 0 w 8865031"/>
              <a:gd name="connsiteY0" fmla="*/ 141652 h 1259621"/>
              <a:gd name="connsiteX1" fmla="*/ 371960 w 8865031"/>
              <a:gd name="connsiteY1" fmla="*/ 172649 h 1259621"/>
              <a:gd name="connsiteX2" fmla="*/ 697424 w 8865031"/>
              <a:gd name="connsiteY2" fmla="*/ 281137 h 1259621"/>
              <a:gd name="connsiteX3" fmla="*/ 1053885 w 8865031"/>
              <a:gd name="connsiteY3" fmla="*/ 172649 h 1259621"/>
              <a:gd name="connsiteX4" fmla="*/ 1503336 w 8865031"/>
              <a:gd name="connsiteY4" fmla="*/ 48663 h 1259621"/>
              <a:gd name="connsiteX5" fmla="*/ 2247255 w 8865031"/>
              <a:gd name="connsiteY5" fmla="*/ 2168 h 1259621"/>
              <a:gd name="connsiteX6" fmla="*/ 2882685 w 8865031"/>
              <a:gd name="connsiteY6" fmla="*/ 110656 h 1259621"/>
              <a:gd name="connsiteX7" fmla="*/ 3843580 w 8865031"/>
              <a:gd name="connsiteY7" fmla="*/ 95157 h 1259621"/>
              <a:gd name="connsiteX8" fmla="*/ 4432516 w 8865031"/>
              <a:gd name="connsiteY8" fmla="*/ 141652 h 1259621"/>
              <a:gd name="connsiteX9" fmla="*/ 4556502 w 8865031"/>
              <a:gd name="connsiteY9" fmla="*/ 250140 h 1259621"/>
              <a:gd name="connsiteX10" fmla="*/ 5129939 w 8865031"/>
              <a:gd name="connsiteY10" fmla="*/ 730588 h 1259621"/>
              <a:gd name="connsiteX11" fmla="*/ 5796367 w 8865031"/>
              <a:gd name="connsiteY11" fmla="*/ 901069 h 1259621"/>
              <a:gd name="connsiteX12" fmla="*/ 6555783 w 8865031"/>
              <a:gd name="connsiteY12" fmla="*/ 963063 h 1259621"/>
              <a:gd name="connsiteX13" fmla="*/ 7392692 w 8865031"/>
              <a:gd name="connsiteY13" fmla="*/ 1257530 h 1259621"/>
              <a:gd name="connsiteX14" fmla="*/ 8105614 w 8865031"/>
              <a:gd name="connsiteY14" fmla="*/ 1102547 h 1259621"/>
              <a:gd name="connsiteX15" fmla="*/ 8865031 w 8865031"/>
              <a:gd name="connsiteY15" fmla="*/ 1257530 h 12596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8865031" h="1259621">
                <a:moveTo>
                  <a:pt x="0" y="141652"/>
                </a:moveTo>
                <a:cubicBezTo>
                  <a:pt x="127861" y="145527"/>
                  <a:pt x="255723" y="149402"/>
                  <a:pt x="371960" y="172649"/>
                </a:cubicBezTo>
                <a:cubicBezTo>
                  <a:pt x="488197" y="195896"/>
                  <a:pt x="583770" y="281137"/>
                  <a:pt x="697424" y="281137"/>
                </a:cubicBezTo>
                <a:cubicBezTo>
                  <a:pt x="811078" y="281137"/>
                  <a:pt x="919566" y="211395"/>
                  <a:pt x="1053885" y="172649"/>
                </a:cubicBezTo>
                <a:cubicBezTo>
                  <a:pt x="1188204" y="133903"/>
                  <a:pt x="1304441" y="77076"/>
                  <a:pt x="1503336" y="48663"/>
                </a:cubicBezTo>
                <a:cubicBezTo>
                  <a:pt x="1702231" y="20250"/>
                  <a:pt x="2017364" y="-8164"/>
                  <a:pt x="2247255" y="2168"/>
                </a:cubicBezTo>
                <a:cubicBezTo>
                  <a:pt x="2477146" y="12500"/>
                  <a:pt x="2616631" y="95158"/>
                  <a:pt x="2882685" y="110656"/>
                </a:cubicBezTo>
                <a:cubicBezTo>
                  <a:pt x="3148739" y="126154"/>
                  <a:pt x="3585275" y="89991"/>
                  <a:pt x="3843580" y="95157"/>
                </a:cubicBezTo>
                <a:cubicBezTo>
                  <a:pt x="4101885" y="100323"/>
                  <a:pt x="4313696" y="115822"/>
                  <a:pt x="4432516" y="141652"/>
                </a:cubicBezTo>
                <a:cubicBezTo>
                  <a:pt x="4551336" y="167482"/>
                  <a:pt x="4556502" y="250140"/>
                  <a:pt x="4556502" y="250140"/>
                </a:cubicBezTo>
                <a:cubicBezTo>
                  <a:pt x="4672739" y="348296"/>
                  <a:pt x="4923295" y="622100"/>
                  <a:pt x="5129939" y="730588"/>
                </a:cubicBezTo>
                <a:cubicBezTo>
                  <a:pt x="5336583" y="839076"/>
                  <a:pt x="5558726" y="862323"/>
                  <a:pt x="5796367" y="901069"/>
                </a:cubicBezTo>
                <a:cubicBezTo>
                  <a:pt x="6034008" y="939815"/>
                  <a:pt x="6289729" y="903653"/>
                  <a:pt x="6555783" y="963063"/>
                </a:cubicBezTo>
                <a:cubicBezTo>
                  <a:pt x="6821837" y="1022473"/>
                  <a:pt x="7134387" y="1234283"/>
                  <a:pt x="7392692" y="1257530"/>
                </a:cubicBezTo>
                <a:cubicBezTo>
                  <a:pt x="7650997" y="1280777"/>
                  <a:pt x="7860224" y="1102547"/>
                  <a:pt x="8105614" y="1102547"/>
                </a:cubicBezTo>
                <a:cubicBezTo>
                  <a:pt x="8351004" y="1102547"/>
                  <a:pt x="8608017" y="1180038"/>
                  <a:pt x="8865031" y="1257530"/>
                </a:cubicBezTo>
              </a:path>
            </a:pathLst>
          </a:custGeom>
          <a:ln w="38100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50639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A516F9F-FA60-CDBD-2755-201E7F59A2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1376" y="1690688"/>
            <a:ext cx="10392905" cy="443637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7140DF4-56CA-84B8-2EC3-E4DA7064649F}"/>
              </a:ext>
            </a:extLst>
          </p:cNvPr>
          <p:cNvSpPr txBox="1"/>
          <p:nvPr/>
        </p:nvSpPr>
        <p:spPr>
          <a:xfrm>
            <a:off x="7265633" y="3650735"/>
            <a:ext cx="1320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Big winners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2EB8850-FE88-5ABF-CA62-10AC10C0A077}"/>
              </a:ext>
            </a:extLst>
          </p:cNvPr>
          <p:cNvSpPr txBox="1"/>
          <p:nvPr/>
        </p:nvSpPr>
        <p:spPr>
          <a:xfrm>
            <a:off x="9738502" y="3217173"/>
            <a:ext cx="10063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2"/>
                </a:solidFill>
              </a:rPr>
              <a:t>Winners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7D215B-4C34-19D5-0CA1-2B591A76CF71}"/>
              </a:ext>
            </a:extLst>
          </p:cNvPr>
          <p:cNvSpPr txBox="1"/>
          <p:nvPr/>
        </p:nvSpPr>
        <p:spPr>
          <a:xfrm>
            <a:off x="8701809" y="2781855"/>
            <a:ext cx="14986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2"/>
                </a:solidFill>
              </a:rPr>
              <a:t>Non-Winners</a:t>
            </a:r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201DDB64-9EA2-E6D3-B1C7-864F2CAD1416}"/>
              </a:ext>
            </a:extLst>
          </p:cNvPr>
          <p:cNvSpPr/>
          <p:nvPr/>
        </p:nvSpPr>
        <p:spPr>
          <a:xfrm>
            <a:off x="2154264" y="2772029"/>
            <a:ext cx="8865031" cy="1259621"/>
          </a:xfrm>
          <a:custGeom>
            <a:avLst/>
            <a:gdLst>
              <a:gd name="connsiteX0" fmla="*/ 0 w 8865031"/>
              <a:gd name="connsiteY0" fmla="*/ 141652 h 1259621"/>
              <a:gd name="connsiteX1" fmla="*/ 371960 w 8865031"/>
              <a:gd name="connsiteY1" fmla="*/ 172649 h 1259621"/>
              <a:gd name="connsiteX2" fmla="*/ 697424 w 8865031"/>
              <a:gd name="connsiteY2" fmla="*/ 281137 h 1259621"/>
              <a:gd name="connsiteX3" fmla="*/ 1053885 w 8865031"/>
              <a:gd name="connsiteY3" fmla="*/ 172649 h 1259621"/>
              <a:gd name="connsiteX4" fmla="*/ 1503336 w 8865031"/>
              <a:gd name="connsiteY4" fmla="*/ 48663 h 1259621"/>
              <a:gd name="connsiteX5" fmla="*/ 2247255 w 8865031"/>
              <a:gd name="connsiteY5" fmla="*/ 2168 h 1259621"/>
              <a:gd name="connsiteX6" fmla="*/ 2882685 w 8865031"/>
              <a:gd name="connsiteY6" fmla="*/ 110656 h 1259621"/>
              <a:gd name="connsiteX7" fmla="*/ 3843580 w 8865031"/>
              <a:gd name="connsiteY7" fmla="*/ 95157 h 1259621"/>
              <a:gd name="connsiteX8" fmla="*/ 4432516 w 8865031"/>
              <a:gd name="connsiteY8" fmla="*/ 141652 h 1259621"/>
              <a:gd name="connsiteX9" fmla="*/ 4556502 w 8865031"/>
              <a:gd name="connsiteY9" fmla="*/ 250140 h 1259621"/>
              <a:gd name="connsiteX10" fmla="*/ 5129939 w 8865031"/>
              <a:gd name="connsiteY10" fmla="*/ 730588 h 1259621"/>
              <a:gd name="connsiteX11" fmla="*/ 5796367 w 8865031"/>
              <a:gd name="connsiteY11" fmla="*/ 901069 h 1259621"/>
              <a:gd name="connsiteX12" fmla="*/ 6555783 w 8865031"/>
              <a:gd name="connsiteY12" fmla="*/ 963063 h 1259621"/>
              <a:gd name="connsiteX13" fmla="*/ 7392692 w 8865031"/>
              <a:gd name="connsiteY13" fmla="*/ 1257530 h 1259621"/>
              <a:gd name="connsiteX14" fmla="*/ 8105614 w 8865031"/>
              <a:gd name="connsiteY14" fmla="*/ 1102547 h 1259621"/>
              <a:gd name="connsiteX15" fmla="*/ 8865031 w 8865031"/>
              <a:gd name="connsiteY15" fmla="*/ 1257530 h 12596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8865031" h="1259621">
                <a:moveTo>
                  <a:pt x="0" y="141652"/>
                </a:moveTo>
                <a:cubicBezTo>
                  <a:pt x="127861" y="145527"/>
                  <a:pt x="255723" y="149402"/>
                  <a:pt x="371960" y="172649"/>
                </a:cubicBezTo>
                <a:cubicBezTo>
                  <a:pt x="488197" y="195896"/>
                  <a:pt x="583770" y="281137"/>
                  <a:pt x="697424" y="281137"/>
                </a:cubicBezTo>
                <a:cubicBezTo>
                  <a:pt x="811078" y="281137"/>
                  <a:pt x="919566" y="211395"/>
                  <a:pt x="1053885" y="172649"/>
                </a:cubicBezTo>
                <a:cubicBezTo>
                  <a:pt x="1188204" y="133903"/>
                  <a:pt x="1304441" y="77076"/>
                  <a:pt x="1503336" y="48663"/>
                </a:cubicBezTo>
                <a:cubicBezTo>
                  <a:pt x="1702231" y="20250"/>
                  <a:pt x="2017364" y="-8164"/>
                  <a:pt x="2247255" y="2168"/>
                </a:cubicBezTo>
                <a:cubicBezTo>
                  <a:pt x="2477146" y="12500"/>
                  <a:pt x="2616631" y="95158"/>
                  <a:pt x="2882685" y="110656"/>
                </a:cubicBezTo>
                <a:cubicBezTo>
                  <a:pt x="3148739" y="126154"/>
                  <a:pt x="3585275" y="89991"/>
                  <a:pt x="3843580" y="95157"/>
                </a:cubicBezTo>
                <a:cubicBezTo>
                  <a:pt x="4101885" y="100323"/>
                  <a:pt x="4313696" y="115822"/>
                  <a:pt x="4432516" y="141652"/>
                </a:cubicBezTo>
                <a:cubicBezTo>
                  <a:pt x="4551336" y="167482"/>
                  <a:pt x="4556502" y="250140"/>
                  <a:pt x="4556502" y="250140"/>
                </a:cubicBezTo>
                <a:cubicBezTo>
                  <a:pt x="4672739" y="348296"/>
                  <a:pt x="4923295" y="622100"/>
                  <a:pt x="5129939" y="730588"/>
                </a:cubicBezTo>
                <a:cubicBezTo>
                  <a:pt x="5336583" y="839076"/>
                  <a:pt x="5558726" y="862323"/>
                  <a:pt x="5796367" y="901069"/>
                </a:cubicBezTo>
                <a:cubicBezTo>
                  <a:pt x="6034008" y="939815"/>
                  <a:pt x="6289729" y="903653"/>
                  <a:pt x="6555783" y="963063"/>
                </a:cubicBezTo>
                <a:cubicBezTo>
                  <a:pt x="6821837" y="1022473"/>
                  <a:pt x="7134387" y="1234283"/>
                  <a:pt x="7392692" y="1257530"/>
                </a:cubicBezTo>
                <a:cubicBezTo>
                  <a:pt x="7650997" y="1280777"/>
                  <a:pt x="7860224" y="1102547"/>
                  <a:pt x="8105614" y="1102547"/>
                </a:cubicBezTo>
                <a:cubicBezTo>
                  <a:pt x="8351004" y="1102547"/>
                  <a:pt x="8608017" y="1180038"/>
                  <a:pt x="8865031" y="1257530"/>
                </a:cubicBezTo>
              </a:path>
            </a:pathLst>
          </a:custGeom>
          <a:ln w="38100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A132136-64E5-D5C0-2965-A65804EFF36A}"/>
              </a:ext>
            </a:extLst>
          </p:cNvPr>
          <p:cNvSpPr txBox="1">
            <a:spLocks/>
          </p:cNvSpPr>
          <p:nvPr/>
        </p:nvSpPr>
        <p:spPr>
          <a:xfrm>
            <a:off x="8650637" y="431111"/>
            <a:ext cx="2788403" cy="119359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rgbClr val="8C1515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sz="3200" dirty="0"/>
              <a:t>But how do we quantify it?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644A781B-DA8B-E41D-7C23-CE7B8DFB41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Looks like there’s an effect…</a:t>
            </a:r>
            <a:br>
              <a:rPr lang="en-US" dirty="0"/>
            </a:br>
            <a:r>
              <a:rPr lang="en-US" sz="2400" dirty="0"/>
              <a:t>On whether or not you work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264713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DCF548-30CC-9ADA-CAD1-1F04BE0512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 a multivariate regression!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593AA7-49FC-EC53-7766-78F433CFDD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176000" cy="4351338"/>
              </a:xfrm>
            </p:spPr>
            <p:txBody>
              <a:bodyPr/>
              <a:lstStyle/>
              <a:p>
                <a:r>
                  <a:rPr lang="en-US" b="1" dirty="0"/>
                  <a:t>Outcome variable: </a:t>
                </a:r>
                <a:r>
                  <a:rPr lang="en-US" dirty="0">
                    <a:solidFill>
                      <a:schemeClr val="accent1"/>
                    </a:solidFill>
                  </a:rPr>
                  <a:t>average earnings </a:t>
                </a:r>
                <a:r>
                  <a:rPr lang="en-US" dirty="0"/>
                  <a:t>over 6 years post-winning</a:t>
                </a:r>
              </a:p>
              <a:p>
                <a:r>
                  <a:rPr lang="en-US" b="1" dirty="0"/>
                  <a:t>Variable we care about: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20</m:t>
                        </m:r>
                      </m:den>
                    </m:f>
                  </m:oMath>
                </a14:m>
                <a:r>
                  <a:rPr lang="en-US" dirty="0"/>
                  <a:t>, lottery payout per year</a:t>
                </a:r>
              </a:p>
              <a:p>
                <a:r>
                  <a:rPr lang="en-US" b="1" dirty="0"/>
                  <a:t>Other variables in the regression: </a:t>
                </a:r>
                <a:r>
                  <a:rPr lang="en-US" dirty="0">
                    <a:solidFill>
                      <a:schemeClr val="accent5"/>
                    </a:solidFill>
                  </a:rPr>
                  <a:t>Tons of stuff!</a:t>
                </a:r>
              </a:p>
              <a:p>
                <a:pPr lvl="1"/>
                <a:r>
                  <a:rPr lang="en-US" dirty="0"/>
                  <a:t>Age, sex, education, number of tickets bought, prior earnings, prior employment status…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593AA7-49FC-EC53-7766-78F433CFDD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176000" cy="4351338"/>
              </a:xfrm>
              <a:blipFill>
                <a:blip r:embed="rId2"/>
                <a:stretch>
                  <a:fillRect l="-1022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EAA9627-D902-3F86-C9D3-8D9D2232A6D7}"/>
                  </a:ext>
                </a:extLst>
              </p:cNvPr>
              <p:cNvSpPr txBox="1"/>
              <p:nvPr/>
            </p:nvSpPr>
            <p:spPr>
              <a:xfrm>
                <a:off x="1538534" y="4519246"/>
                <a:ext cx="9114931" cy="81573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8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 b="0" i="0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Average</m:t>
                          </m:r>
                          <m:r>
                            <a:rPr lang="en-US" sz="2800" b="0" i="0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800" b="0" i="0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earnings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800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800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num>
                            <m:den>
                              <m:r>
                                <a:rPr lang="en-US" sz="2800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20</m:t>
                              </m:r>
                            </m:den>
                          </m:f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800" b="0" i="0" smtClean="0">
                              <a:latin typeface="Cambria Math" panose="02040503050406030204" pitchFamily="18" charset="0"/>
                            </a:rPr>
                            <m:t>stuff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800" b="0" i="0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stuff</m:t>
                          </m:r>
                        </m:sub>
                      </m:sSub>
                      <m:r>
                        <a:rPr lang="en-US" sz="2800" b="0" i="1" smtClean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noise</m:t>
                      </m:r>
                      <m:r>
                        <a:rPr lang="en-US" sz="2800" b="0" i="0" smtClean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EAA9627-D902-3F86-C9D3-8D9D2232A6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8534" y="4519246"/>
                <a:ext cx="9114931" cy="815736"/>
              </a:xfrm>
              <a:prstGeom prst="rect">
                <a:avLst/>
              </a:prstGeom>
              <a:blipFill>
                <a:blip r:embed="rId3"/>
                <a:stretch>
                  <a:fillRect r="-972" b="-12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06BE4F0-BEF7-C26D-5132-BD4362C14A7B}"/>
                  </a:ext>
                </a:extLst>
              </p:cNvPr>
              <p:cNvSpPr txBox="1"/>
              <p:nvPr/>
            </p:nvSpPr>
            <p:spPr>
              <a:xfrm>
                <a:off x="838200" y="5969655"/>
                <a:ext cx="940847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Quick sanity-check: </a:t>
                </a:r>
                <a:r>
                  <a:rPr lang="en-US" sz="2800" dirty="0"/>
                  <a:t>Do you think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US" sz="2800" dirty="0"/>
                  <a:t> is positive or negative?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06BE4F0-BEF7-C26D-5132-BD4362C14A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969655"/>
                <a:ext cx="9408473" cy="523220"/>
              </a:xfrm>
              <a:prstGeom prst="rect">
                <a:avLst/>
              </a:prstGeom>
              <a:blipFill>
                <a:blip r:embed="rId4"/>
                <a:stretch>
                  <a:fillRect l="-1350" t="-9302" r="-405" b="-325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980309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4DB315-69A3-5CB1-D4CE-DA5497D1C6B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B7E29F-82B2-E91E-C68A-B1B1626C0ED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slide.url=https://www.polleverywhere.com/multiple_choice_polls/kCsbHoHpsxh7oZs1mQxKe?state=opened&amp;flow=Default&amp;onscreen=persist">
            <a:extLst>
              <a:ext uri="{FF2B5EF4-FFF2-40B4-BE49-F238E27FC236}">
                <a16:creationId xmlns:a16="http://schemas.microsoft.com/office/drawing/2014/main" id="{A062C995-4144-CA1E-CD3E-C803928451CF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" y="63500"/>
            <a:ext cx="12065000" cy="673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941395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DCF548-30CC-9ADA-CAD1-1F04BE0512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 a multivariate regression!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593AA7-49FC-EC53-7766-78F433CFDD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176000" cy="4351338"/>
              </a:xfrm>
            </p:spPr>
            <p:txBody>
              <a:bodyPr/>
              <a:lstStyle/>
              <a:p>
                <a:r>
                  <a:rPr lang="en-US" b="1" dirty="0"/>
                  <a:t>Outcome variable: </a:t>
                </a:r>
                <a:r>
                  <a:rPr lang="en-US" dirty="0">
                    <a:solidFill>
                      <a:schemeClr val="accent1"/>
                    </a:solidFill>
                  </a:rPr>
                  <a:t>average earnings </a:t>
                </a:r>
                <a:r>
                  <a:rPr lang="en-US" dirty="0"/>
                  <a:t>over 6 years post-winning</a:t>
                </a:r>
              </a:p>
              <a:p>
                <a:r>
                  <a:rPr lang="en-US" b="1" dirty="0"/>
                  <a:t>Variable we care about: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20</m:t>
                        </m:r>
                      </m:den>
                    </m:f>
                  </m:oMath>
                </a14:m>
                <a:r>
                  <a:rPr lang="en-US" dirty="0"/>
                  <a:t>, lottery payout per year</a:t>
                </a:r>
              </a:p>
              <a:p>
                <a:r>
                  <a:rPr lang="en-US" b="1" dirty="0"/>
                  <a:t>Other variables in the regression: </a:t>
                </a:r>
                <a:r>
                  <a:rPr lang="en-US" dirty="0">
                    <a:solidFill>
                      <a:schemeClr val="accent5"/>
                    </a:solidFill>
                  </a:rPr>
                  <a:t>Tons of stuff!</a:t>
                </a:r>
              </a:p>
              <a:p>
                <a:pPr lvl="1"/>
                <a:r>
                  <a:rPr lang="en-US" dirty="0"/>
                  <a:t>Age, sex, education, number of tickets bought, prior earnings, prior employment status…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593AA7-49FC-EC53-7766-78F433CFDD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176000" cy="4351338"/>
              </a:xfrm>
              <a:blipFill>
                <a:blip r:embed="rId2"/>
                <a:stretch>
                  <a:fillRect l="-1022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EAA9627-D902-3F86-C9D3-8D9D2232A6D7}"/>
                  </a:ext>
                </a:extLst>
              </p:cNvPr>
              <p:cNvSpPr txBox="1"/>
              <p:nvPr/>
            </p:nvSpPr>
            <p:spPr>
              <a:xfrm>
                <a:off x="1538534" y="4519246"/>
                <a:ext cx="9114931" cy="81573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8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 b="0" i="0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Average</m:t>
                          </m:r>
                          <m:r>
                            <a:rPr lang="en-US" sz="2800" b="0" i="0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800" b="0" i="0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earnings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800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800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num>
                            <m:den>
                              <m:r>
                                <a:rPr lang="en-US" sz="2800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20</m:t>
                              </m:r>
                            </m:den>
                          </m:f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800" b="0" i="0" smtClean="0">
                              <a:latin typeface="Cambria Math" panose="02040503050406030204" pitchFamily="18" charset="0"/>
                            </a:rPr>
                            <m:t>stuff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800" b="0" i="0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stuff</m:t>
                          </m:r>
                        </m:sub>
                      </m:sSub>
                      <m:r>
                        <a:rPr lang="en-US" sz="2800" b="0" i="1" smtClean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noise</m:t>
                      </m:r>
                      <m:r>
                        <a:rPr lang="en-US" sz="2800" b="0" i="0" smtClean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EAA9627-D902-3F86-C9D3-8D9D2232A6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8534" y="4519246"/>
                <a:ext cx="9114931" cy="815736"/>
              </a:xfrm>
              <a:prstGeom prst="rect">
                <a:avLst/>
              </a:prstGeom>
              <a:blipFill>
                <a:blip r:embed="rId3"/>
                <a:stretch>
                  <a:fillRect r="-972" b="-12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06BE4F0-BEF7-C26D-5132-BD4362C14A7B}"/>
                  </a:ext>
                </a:extLst>
              </p:cNvPr>
              <p:cNvSpPr txBox="1"/>
              <p:nvPr/>
            </p:nvSpPr>
            <p:spPr>
              <a:xfrm>
                <a:off x="838200" y="5700964"/>
                <a:ext cx="6256264" cy="61093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US" sz="3200" b="1" dirty="0"/>
                  <a:t>Result</a:t>
                </a:r>
                <a:r>
                  <a:rPr lang="en-US" sz="3200" dirty="0"/>
                  <a:t>: 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32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sz="3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sub>
                        </m:sSub>
                      </m:e>
                    </m:acc>
                    <m:r>
                      <a:rPr lang="en-US" sz="3200" b="0" i="1" dirty="0" smtClean="0">
                        <a:latin typeface="Cambria Math" panose="02040503050406030204" pitchFamily="18" charset="0"/>
                      </a:rPr>
                      <m:t>=−0.051      (0.008)</m:t>
                    </m:r>
                  </m:oMath>
                </a14:m>
                <a:endParaRPr lang="en-US" sz="32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06BE4F0-BEF7-C26D-5132-BD4362C14A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700964"/>
                <a:ext cx="6256264" cy="610936"/>
              </a:xfrm>
              <a:prstGeom prst="rect">
                <a:avLst/>
              </a:prstGeom>
              <a:blipFill>
                <a:blip r:embed="rId4"/>
                <a:stretch>
                  <a:fillRect l="-2231" t="-10204" r="-811" b="-326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3CE5006F-2FD2-F8CF-F9EE-E251A2DE1EDD}"/>
              </a:ext>
            </a:extLst>
          </p:cNvPr>
          <p:cNvSpPr txBox="1"/>
          <p:nvPr/>
        </p:nvSpPr>
        <p:spPr>
          <a:xfrm>
            <a:off x="7473462" y="5576798"/>
            <a:ext cx="290146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Every dollar of unearned yearly permanent income causes someone to earn 5¢ less, on average.</a:t>
            </a:r>
          </a:p>
        </p:txBody>
      </p:sp>
    </p:spTree>
    <p:extLst>
      <p:ext uri="{BB962C8B-B14F-4D97-AF65-F5344CB8AC3E}">
        <p14:creationId xmlns:p14="http://schemas.microsoft.com/office/powerpoint/2010/main" val="178894503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D5574D-233A-8D69-9193-EE78364C69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Sanity-check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043681-8D60-2577-2430-822230305F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/>
          <a:lstStyle/>
          <a:p>
            <a:r>
              <a:rPr lang="en-US" dirty="0"/>
              <a:t>What happens if we let the dependent variable be “average earnings in the 6 years </a:t>
            </a:r>
            <a:r>
              <a:rPr lang="en-US" b="1" dirty="0"/>
              <a:t>before</a:t>
            </a:r>
            <a:r>
              <a:rPr lang="en-US" dirty="0"/>
              <a:t> you won the lottery”?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We should get that the ATE is 0…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8E1B95-3D4F-437A-F5AD-516333C5C2CC}"/>
              </a:ext>
            </a:extLst>
          </p:cNvPr>
          <p:cNvSpPr txBox="1"/>
          <p:nvPr/>
        </p:nvSpPr>
        <p:spPr>
          <a:xfrm>
            <a:off x="1474898" y="3167390"/>
            <a:ext cx="3429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Outcome variable: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8B460FE-511E-6194-4683-FF0C1CC6F76D}"/>
              </a:ext>
            </a:extLst>
          </p:cNvPr>
          <p:cNvSpPr txBox="1"/>
          <p:nvPr/>
        </p:nvSpPr>
        <p:spPr>
          <a:xfrm>
            <a:off x="440254" y="3907577"/>
            <a:ext cx="54982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dirty="0">
                <a:solidFill>
                  <a:schemeClr val="accent1"/>
                </a:solidFill>
              </a:rPr>
              <a:t>Average of </a:t>
            </a:r>
            <a:r>
              <a:rPr lang="en-US" sz="2400" b="1" dirty="0">
                <a:solidFill>
                  <a:schemeClr val="accent1"/>
                </a:solidFill>
              </a:rPr>
              <a:t>last</a:t>
            </a:r>
            <a:r>
              <a:rPr lang="en-US" sz="2400" dirty="0">
                <a:solidFill>
                  <a:schemeClr val="accent1"/>
                </a:solidFill>
              </a:rPr>
              <a:t> 1 year of income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AEA850-3B7A-1F79-08C6-FF04D91D4531}"/>
              </a:ext>
            </a:extLst>
          </p:cNvPr>
          <p:cNvSpPr txBox="1"/>
          <p:nvPr/>
        </p:nvSpPr>
        <p:spPr>
          <a:xfrm>
            <a:off x="1301049" y="5221805"/>
            <a:ext cx="47910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dirty="0">
                <a:solidFill>
                  <a:schemeClr val="accent1"/>
                </a:solidFill>
              </a:rPr>
              <a:t>Average of</a:t>
            </a:r>
            <a:r>
              <a:rPr lang="en-US" sz="2400" b="1" dirty="0">
                <a:solidFill>
                  <a:schemeClr val="accent1"/>
                </a:solidFill>
              </a:rPr>
              <a:t> next </a:t>
            </a:r>
            <a:r>
              <a:rPr lang="en-US" sz="2400" dirty="0">
                <a:solidFill>
                  <a:schemeClr val="accent1"/>
                </a:solidFill>
              </a:rPr>
              <a:t>6 years of income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3C1DA69-8E3A-F92B-46FF-5E0A5758B621}"/>
                  </a:ext>
                </a:extLst>
              </p:cNvPr>
              <p:cNvSpPr txBox="1"/>
              <p:nvPr/>
            </p:nvSpPr>
            <p:spPr>
              <a:xfrm>
                <a:off x="7381977" y="3144242"/>
                <a:ext cx="2463688" cy="5463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Estimate 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800" b="0" i="0" smtClean="0">
                                <a:latin typeface="Cambria Math" panose="02040503050406030204" pitchFamily="18" charset="0"/>
                              </a:rPr>
                              <m:t>win</m:t>
                            </m:r>
                          </m:sub>
                        </m:sSub>
                      </m:e>
                    </m:acc>
                  </m:oMath>
                </a14:m>
                <a:r>
                  <a:rPr lang="en-US" sz="2800" dirty="0"/>
                  <a:t> 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3C1DA69-8E3A-F92B-46FF-5E0A5758B6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81977" y="3144242"/>
                <a:ext cx="2463688" cy="546368"/>
              </a:xfrm>
              <a:prstGeom prst="rect">
                <a:avLst/>
              </a:prstGeom>
              <a:blipFill>
                <a:blip r:embed="rId4"/>
                <a:stretch>
                  <a:fillRect l="-5128" t="-9091" b="-3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A034BC77-4E6B-2E17-0ED7-FCC59C4FAA6C}"/>
              </a:ext>
            </a:extLst>
          </p:cNvPr>
          <p:cNvSpPr txBox="1"/>
          <p:nvPr/>
        </p:nvSpPr>
        <p:spPr>
          <a:xfrm>
            <a:off x="7431796" y="3866357"/>
            <a:ext cx="15953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1"/>
                </a:solidFill>
              </a:rPr>
              <a:t>-0.53  (.78)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FC59180-57D3-FBAD-5ED2-0743AE1E5814}"/>
              </a:ext>
            </a:extLst>
          </p:cNvPr>
          <p:cNvSpPr txBox="1"/>
          <p:nvPr/>
        </p:nvSpPr>
        <p:spPr>
          <a:xfrm>
            <a:off x="7381977" y="5219989"/>
            <a:ext cx="17604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1"/>
                </a:solidFill>
              </a:rPr>
              <a:t>-5.74  (1.40)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43B2FE8-93DC-C511-E3B5-B6F020154992}"/>
                  </a:ext>
                </a:extLst>
              </p:cNvPr>
              <p:cNvSpPr txBox="1"/>
              <p:nvPr/>
            </p:nvSpPr>
            <p:spPr>
              <a:xfrm>
                <a:off x="4653279" y="6070095"/>
                <a:ext cx="75387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accent5"/>
                    </a:solidFill>
                  </a:rPr>
                  <a:t>Slightly different regression: </a:t>
                </a:r>
              </a:p>
              <a:p>
                <a:r>
                  <a:rPr lang="en-US" dirty="0">
                    <a:solidFill>
                      <a:schemeClr val="accent5"/>
                    </a:solidFill>
                  </a:rPr>
                  <a:t>(Average earnings) =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win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⋅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Did</m:t>
                        </m:r>
                        <m:r>
                          <a:rPr lang="en-US" b="0" i="0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you</m:t>
                        </m:r>
                        <m:r>
                          <a:rPr lang="en-US" b="0" i="0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win</m:t>
                        </m:r>
                        <m:r>
                          <a:rPr lang="en-US" b="0" i="0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the</m:t>
                        </m:r>
                        <m:r>
                          <a:rPr lang="en-US" b="0" i="0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lottery</m:t>
                        </m:r>
                        <m:r>
                          <a:rPr lang="en-US" b="0" i="0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?</m:t>
                        </m:r>
                      </m:e>
                    </m:d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stuff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stuff</m:t>
                        </m:r>
                        <m:r>
                          <a:rPr lang="en-US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</m:oMath>
                </a14:m>
                <a:endParaRPr lang="en-US" i="1" dirty="0">
                  <a:solidFill>
                    <a:schemeClr val="accent5"/>
                  </a:solidFill>
                </a:endParaRPr>
              </a:p>
              <a:p>
                <a:endParaRPr lang="en-US" dirty="0">
                  <a:solidFill>
                    <a:schemeClr val="accent5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43B2FE8-93DC-C511-E3B5-B6F0201549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3279" y="6070095"/>
                <a:ext cx="7538721" cy="923330"/>
              </a:xfrm>
              <a:prstGeom prst="rect">
                <a:avLst/>
              </a:prstGeom>
              <a:blipFill>
                <a:blip r:embed="rId5"/>
                <a:stretch>
                  <a:fillRect l="-672" t="-41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ectangle 13">
            <a:extLst>
              <a:ext uri="{FF2B5EF4-FFF2-40B4-BE49-F238E27FC236}">
                <a16:creationId xmlns:a16="http://schemas.microsoft.com/office/drawing/2014/main" id="{5117B430-C564-65B0-B463-04BE1E1B8922}"/>
              </a:ext>
            </a:extLst>
          </p:cNvPr>
          <p:cNvSpPr/>
          <p:nvPr/>
        </p:nvSpPr>
        <p:spPr>
          <a:xfrm>
            <a:off x="1301049" y="3016251"/>
            <a:ext cx="9037320" cy="278623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E5F309B-E8D8-C7D0-FC07-41527A5FD9E3}"/>
              </a:ext>
            </a:extLst>
          </p:cNvPr>
          <p:cNvSpPr txBox="1"/>
          <p:nvPr/>
        </p:nvSpPr>
        <p:spPr>
          <a:xfrm>
            <a:off x="593800" y="4543173"/>
            <a:ext cx="54982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dirty="0">
                <a:solidFill>
                  <a:schemeClr val="accent1"/>
                </a:solidFill>
              </a:rPr>
              <a:t>Average of </a:t>
            </a:r>
            <a:r>
              <a:rPr lang="en-US" sz="2400" b="1" dirty="0">
                <a:solidFill>
                  <a:schemeClr val="accent1"/>
                </a:solidFill>
              </a:rPr>
              <a:t>last</a:t>
            </a:r>
            <a:r>
              <a:rPr lang="en-US" sz="2400" dirty="0">
                <a:solidFill>
                  <a:schemeClr val="accent1"/>
                </a:solidFill>
              </a:rPr>
              <a:t> 3 years of income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624318-2E05-54BB-91D3-1F58058A7717}"/>
              </a:ext>
            </a:extLst>
          </p:cNvPr>
          <p:cNvSpPr txBox="1"/>
          <p:nvPr/>
        </p:nvSpPr>
        <p:spPr>
          <a:xfrm>
            <a:off x="7417573" y="4507063"/>
            <a:ext cx="15953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1"/>
                </a:solidFill>
              </a:rPr>
              <a:t>-0.39  (.95)</a:t>
            </a:r>
          </a:p>
        </p:txBody>
      </p:sp>
    </p:spTree>
    <p:extLst>
      <p:ext uri="{BB962C8B-B14F-4D97-AF65-F5344CB8AC3E}">
        <p14:creationId xmlns:p14="http://schemas.microsoft.com/office/powerpoint/2010/main" val="144695791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C9F017-2037-0DAE-AE32-4F74746019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Take-aways?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90DD46-7A4F-861C-3F40-D78AF736EC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Lottery study</a:t>
            </a:r>
          </a:p>
        </p:txBody>
      </p:sp>
    </p:spTree>
    <p:extLst>
      <p:ext uri="{BB962C8B-B14F-4D97-AF65-F5344CB8AC3E}">
        <p14:creationId xmlns:p14="http://schemas.microsoft.com/office/powerpoint/2010/main" val="3730503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B5C50D-74D7-D3DB-F1BD-A431CB641F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 you take away from this study?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587D24-9F2D-D0B2-CDD7-9E4D2D7617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Does this tell us something about what would happen if we implemented UBI?</a:t>
            </a:r>
          </a:p>
          <a:p>
            <a:r>
              <a:rPr lang="en-US" dirty="0"/>
              <a:t>How would you advise a policy-maker to act based on this study?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5D961B6-AB5F-DB81-F436-57CB2DD783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9992" y="3759375"/>
            <a:ext cx="2447707" cy="2188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47590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493764-EF5E-8452-91D4-37D4A42D2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Study 2: </a:t>
            </a:r>
            <a:br>
              <a:rPr lang="en-US" dirty="0"/>
            </a:br>
            <a:r>
              <a:rPr lang="en-US" sz="4400" dirty="0" err="1"/>
              <a:t>OpenResearch</a:t>
            </a:r>
            <a:r>
              <a:rPr lang="en-US" sz="4400" dirty="0"/>
              <a:t> </a:t>
            </a:r>
            <a:br>
              <a:rPr lang="en-US" sz="4400" dirty="0"/>
            </a:br>
            <a:r>
              <a:rPr lang="en-US" sz="4400" dirty="0"/>
              <a:t>Unconditional Income Study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DFB29F-0C50-0A1B-188A-B46045504B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D94EDB0-A3FF-7B32-4A15-0BEEECD90B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6615" y="193431"/>
            <a:ext cx="5175250" cy="227317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14D0638-8465-9927-C180-612B31D679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4599" y="193431"/>
            <a:ext cx="4264855" cy="219873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8459808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FC3A0-B42A-549C-2238-A599F60C38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9906000" cy="1325563"/>
          </a:xfrm>
        </p:spPr>
        <p:txBody>
          <a:bodyPr>
            <a:normAutofit/>
          </a:bodyPr>
          <a:lstStyle/>
          <a:p>
            <a:r>
              <a:rPr lang="en-US" dirty="0"/>
              <a:t>The study: </a:t>
            </a:r>
            <a:br>
              <a:rPr lang="en-US" dirty="0"/>
            </a:br>
            <a:r>
              <a:rPr lang="en-US" sz="3100" dirty="0"/>
              <a:t>A randomized experiment, 2020-2023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930041-C5C3-2EDF-67C3-3CF2531453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5811" y="1878379"/>
            <a:ext cx="9269498" cy="4351338"/>
          </a:xfrm>
        </p:spPr>
        <p:txBody>
          <a:bodyPr>
            <a:normAutofit lnSpcReduction="10000"/>
          </a:bodyPr>
          <a:lstStyle/>
          <a:p>
            <a:r>
              <a:rPr lang="en-US" b="1" dirty="0"/>
              <a:t>Population: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Eligible participants were between 21 and 40 years old, and less then 300% of federal poverty line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Two regions: Texas (including Dallas) and Illinois (including Chicago)</a:t>
            </a:r>
            <a:endParaRPr lang="en-US" b="1" dirty="0"/>
          </a:p>
          <a:p>
            <a:r>
              <a:rPr lang="en-US" b="1" dirty="0"/>
              <a:t>Treatment: </a:t>
            </a:r>
            <a:r>
              <a:rPr lang="en-US" dirty="0"/>
              <a:t>1000 people got $1000/month for 3 years</a:t>
            </a:r>
          </a:p>
          <a:p>
            <a:r>
              <a:rPr lang="en-US" b="1" dirty="0"/>
              <a:t>Control: </a:t>
            </a:r>
            <a:r>
              <a:rPr lang="en-US" dirty="0"/>
              <a:t>2000 people got $50/month for 3 years</a:t>
            </a:r>
          </a:p>
          <a:p>
            <a:r>
              <a:rPr lang="en-US" b="1" dirty="0"/>
              <a:t>Data Collected:</a:t>
            </a:r>
            <a:r>
              <a:rPr lang="en-US" dirty="0"/>
              <a:t> 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Survey data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Administrative/credit records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Time-use data from a phone app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24B04AA-315C-0457-E3B1-C311149287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9640" y="0"/>
            <a:ext cx="4162360" cy="210844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5858897-41C5-4401-2F41-CF273E4507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10820" y="2363505"/>
            <a:ext cx="2019125" cy="4494495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7" name="Curved Connector 6">
            <a:extLst>
              <a:ext uri="{FF2B5EF4-FFF2-40B4-BE49-F238E27FC236}">
                <a16:creationId xmlns:a16="http://schemas.microsoft.com/office/drawing/2014/main" id="{F6190ED1-4702-FDFD-BDEE-E8CB676BCB07}"/>
              </a:ext>
            </a:extLst>
          </p:cNvPr>
          <p:cNvCxnSpPr>
            <a:cxnSpLocks/>
          </p:cNvCxnSpPr>
          <p:nvPr/>
        </p:nvCxnSpPr>
        <p:spPr>
          <a:xfrm flipV="1">
            <a:off x="5943600" y="4610752"/>
            <a:ext cx="3991709" cy="1271888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3709786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CC1083-E0E0-97F9-2905-BBCC37968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You looked at some data from this study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002B18-C456-716F-A205-1FB3E51C0D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did you find interesting?</a:t>
            </a:r>
          </a:p>
          <a:p>
            <a:r>
              <a:rPr lang="en-US" dirty="0"/>
              <a:t>Share with your neighbor, then we’ll discuss together.</a:t>
            </a:r>
          </a:p>
        </p:txBody>
      </p:sp>
    </p:spTree>
    <p:extLst>
      <p:ext uri="{BB962C8B-B14F-4D97-AF65-F5344CB8AC3E}">
        <p14:creationId xmlns:p14="http://schemas.microsoft.com/office/powerpoint/2010/main" val="345328525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ECDCCA-7924-EE63-2FE9-0ACCCA5C5C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B8B35B-877D-5A33-A76F-4F54DD8110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OpenResearch</a:t>
            </a:r>
            <a:r>
              <a:rPr lang="en-US" dirty="0"/>
              <a:t> Study</a:t>
            </a:r>
          </a:p>
        </p:txBody>
      </p:sp>
    </p:spTree>
    <p:extLst>
      <p:ext uri="{BB962C8B-B14F-4D97-AF65-F5344CB8AC3E}">
        <p14:creationId xmlns:p14="http://schemas.microsoft.com/office/powerpoint/2010/main" val="83804380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3EEE5D-3A66-96D6-874D-01214EC66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did people spend the money?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1D1F26-6E1A-1BAC-3B84-249E71E8AC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 average, out of $1000 per month,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$310 was spent on higher expenditures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$210 on increased leisure (i.e., reduced earned income),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$30 was spent on higher savings, </a:t>
            </a:r>
          </a:p>
          <a:p>
            <a:pPr lvl="2"/>
            <a:r>
              <a:rPr lang="en-US" dirty="0">
                <a:solidFill>
                  <a:schemeClr val="accent1"/>
                </a:solidFill>
              </a:rPr>
              <a:t>…but this was offset by the accumulation of $60/month of higher debt.</a:t>
            </a:r>
          </a:p>
        </p:txBody>
      </p:sp>
    </p:spTree>
    <p:extLst>
      <p:ext uri="{BB962C8B-B14F-4D97-AF65-F5344CB8AC3E}">
        <p14:creationId xmlns:p14="http://schemas.microsoft.com/office/powerpoint/2010/main" val="13160533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43AA4B-6A2A-B3FB-E19B-9451B3BA1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did they spend the money 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1E57F8-D899-F156-858B-8C2D922D22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8296"/>
            <a:ext cx="11247120" cy="4351338"/>
          </a:xfrm>
        </p:spPr>
        <p:txBody>
          <a:bodyPr/>
          <a:lstStyle/>
          <a:p>
            <a:r>
              <a:rPr lang="en-US" dirty="0"/>
              <a:t>On average, monthly expenditures increased by $310 (out of $1000)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4C370E4-160A-D116-E4F9-E19B4ED2E1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520" y="2211677"/>
            <a:ext cx="7772400" cy="4416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66401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F24AB4-F3A1-D8AE-CC69-20739076EB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did they spend the money 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52AFD9-A7B8-0243-A818-8A51DB9BF3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4553" y="1592006"/>
            <a:ext cx="10515600" cy="4351338"/>
          </a:xfrm>
        </p:spPr>
        <p:txBody>
          <a:bodyPr/>
          <a:lstStyle/>
          <a:p>
            <a:r>
              <a:rPr lang="en-US" dirty="0"/>
              <a:t>This differed by income level: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Low-income: Spending went up by $294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Medium-income: …by $427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High-income: … by $71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59F78D2-C81B-0870-6FB2-05A8B2FFC4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691138"/>
            <a:ext cx="5513294" cy="316686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F5260BE-B287-C272-8564-FC3673D2E761}"/>
              </a:ext>
            </a:extLst>
          </p:cNvPr>
          <p:cNvSpPr txBox="1"/>
          <p:nvPr/>
        </p:nvSpPr>
        <p:spPr>
          <a:xfrm>
            <a:off x="0" y="3506472"/>
            <a:ext cx="1649106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8E0000"/>
                </a:solidFill>
              </a:rPr>
              <a:t>Lower income: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F73220E-3762-1A8D-63BF-0C0318DFA045}"/>
              </a:ext>
            </a:extLst>
          </p:cNvPr>
          <p:cNvSpPr txBox="1"/>
          <p:nvPr/>
        </p:nvSpPr>
        <p:spPr>
          <a:xfrm>
            <a:off x="6355976" y="3448072"/>
            <a:ext cx="1701107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8E0000"/>
                </a:solidFill>
              </a:rPr>
              <a:t>Higher income: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0C1039-24C3-7C94-14E0-3875EDDAC1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4553" y="3767675"/>
            <a:ext cx="5325436" cy="3090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929621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95DF63-5711-051E-FDA1-A16204DA5D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did people spend their time/work?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31F2620-1B9B-038D-136C-677D6F7E51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2.0 percentage point decrease in labor market participation</a:t>
            </a:r>
          </a:p>
          <a:p>
            <a:r>
              <a:rPr lang="en-US" dirty="0"/>
              <a:t>1.3-1.4 hour-per-week reduction in hours </a:t>
            </a:r>
          </a:p>
          <a:p>
            <a:r>
              <a:rPr lang="en-US" dirty="0"/>
              <a:t>No statistically significant impact on: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Quality of employment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Investment in human capital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52665BB-17DE-AF88-26F6-7264C49F0D89}"/>
              </a:ext>
            </a:extLst>
          </p:cNvPr>
          <p:cNvSpPr txBox="1"/>
          <p:nvPr/>
        </p:nvSpPr>
        <p:spPr>
          <a:xfrm>
            <a:off x="1680883" y="5080062"/>
            <a:ext cx="93726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dirty="0">
                <a:solidFill>
                  <a:schemeClr val="accent1"/>
                </a:solidFill>
              </a:rPr>
              <a:t>“Overall, our results suggest a moderate labor supply effect that does not appear offset by other productive activities.”</a:t>
            </a:r>
          </a:p>
        </p:txBody>
      </p:sp>
    </p:spTree>
    <p:extLst>
      <p:ext uri="{BB962C8B-B14F-4D97-AF65-F5344CB8AC3E}">
        <p14:creationId xmlns:p14="http://schemas.microsoft.com/office/powerpoint/2010/main" val="428779557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C9F017-2037-0DAE-AE32-4F74746019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Take-aways?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90DD46-7A4F-861C-3F40-D78AF736EC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OpenResearch</a:t>
            </a:r>
            <a:r>
              <a:rPr lang="en-US" dirty="0"/>
              <a:t> Study</a:t>
            </a:r>
          </a:p>
        </p:txBody>
      </p:sp>
    </p:spTree>
    <p:extLst>
      <p:ext uri="{BB962C8B-B14F-4D97-AF65-F5344CB8AC3E}">
        <p14:creationId xmlns:p14="http://schemas.microsoft.com/office/powerpoint/2010/main" val="378838087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B5C50D-74D7-D3DB-F1BD-A431CB641F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 you take away from this study?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587D24-9F2D-D0B2-CDD7-9E4D2D7617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Does this tell us something about what would happen if we implemented UBI?</a:t>
            </a:r>
          </a:p>
          <a:p>
            <a:r>
              <a:rPr lang="en-US" dirty="0"/>
              <a:t>How would you advise a policy-maker to act based on this study?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5D961B6-AB5F-DB81-F436-57CB2DD783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9992" y="3759375"/>
            <a:ext cx="2447707" cy="2188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941021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493764-EF5E-8452-91D4-37D4A42D2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Study 3: </a:t>
            </a:r>
            <a:br>
              <a:rPr lang="en-US" dirty="0"/>
            </a:br>
            <a:r>
              <a:rPr lang="en-US" sz="5400" dirty="0"/>
              <a:t>UBI in Finland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DFB29F-0C50-0A1B-188A-B46045504B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C7A07D8-D0BA-ECDF-16D0-16DCF50706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0989" y="138906"/>
            <a:ext cx="5156200" cy="889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E6A42CA-71E0-DB95-C428-99946CCCCE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2812" y="1123031"/>
            <a:ext cx="4984377" cy="1036960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03686AD4-7D48-8E73-1C06-E0C4A9EA62DF}"/>
              </a:ext>
            </a:extLst>
          </p:cNvPr>
          <p:cNvGrpSpPr/>
          <p:nvPr/>
        </p:nvGrpSpPr>
        <p:grpSpPr>
          <a:xfrm>
            <a:off x="7032812" y="2186979"/>
            <a:ext cx="6098240" cy="960704"/>
            <a:chOff x="7227422" y="2186979"/>
            <a:chExt cx="6098240" cy="96070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0D6B010-5D6E-2652-620C-792BB63512A6}"/>
                </a:ext>
              </a:extLst>
            </p:cNvPr>
            <p:cNvSpPr txBox="1"/>
            <p:nvPr/>
          </p:nvSpPr>
          <p:spPr>
            <a:xfrm>
              <a:off x="7227423" y="2624463"/>
              <a:ext cx="480060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solidFill>
                    <a:srgbClr val="0070C0"/>
                  </a:solidFill>
                </a:rPr>
                <a:t>(The full paper is only available in Finnish.  These slides are based on Google </a:t>
              </a:r>
              <a:r>
                <a:rPr lang="en-US" sz="1400" dirty="0" err="1">
                  <a:solidFill>
                    <a:srgbClr val="0070C0"/>
                  </a:solidFill>
                </a:rPr>
                <a:t>Translate’s</a:t>
              </a:r>
              <a:r>
                <a:rPr lang="en-US" sz="1400" dirty="0">
                  <a:solidFill>
                    <a:srgbClr val="0070C0"/>
                  </a:solidFill>
                </a:rPr>
                <a:t> translation.)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23307E4-B0B3-2758-8D63-3C5AC9142A95}"/>
                </a:ext>
              </a:extLst>
            </p:cNvPr>
            <p:cNvSpPr txBox="1"/>
            <p:nvPr/>
          </p:nvSpPr>
          <p:spPr>
            <a:xfrm>
              <a:off x="7227422" y="2186979"/>
              <a:ext cx="609824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>
                  <a:solidFill>
                    <a:srgbClr val="0070C0"/>
                  </a:solidFill>
                </a:rPr>
                <a:t>The title translates to:</a:t>
              </a:r>
              <a:br>
                <a:rPr lang="en-US" sz="1400" dirty="0">
                  <a:solidFill>
                    <a:srgbClr val="0070C0"/>
                  </a:solidFill>
                </a:rPr>
              </a:br>
              <a:r>
                <a:rPr lang="en-US" sz="1400" dirty="0">
                  <a:solidFill>
                    <a:srgbClr val="0070C0"/>
                  </a:solidFill>
                  <a:latin typeface="Roboto" panose="02000000000000000000" pitchFamily="2" charset="0"/>
                </a:rPr>
                <a:t>“E</a:t>
              </a:r>
              <a:r>
                <a:rPr lang="en-US" sz="1400" b="0" i="0" dirty="0">
                  <a:solidFill>
                    <a:srgbClr val="0070C0"/>
                  </a:solidFill>
                  <a:effectLst/>
                  <a:latin typeface="Roboto" panose="02000000000000000000" pitchFamily="2" charset="0"/>
                </a:rPr>
                <a:t>valuation of the Finnish basic income experiment”</a:t>
              </a:r>
              <a:endParaRPr lang="en-US" sz="1400" dirty="0">
                <a:solidFill>
                  <a:srgbClr val="0070C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282961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2D82B6-D4C1-5907-2591-B49E9834D9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study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5F9C79-4C3F-8869-B4D0-FEE546BA7F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0" i="0">
                <a:solidFill>
                  <a:srgbClr val="050707"/>
                </a:solidFill>
                <a:effectLst/>
                <a:latin typeface="Lato" panose="020F0502020204030203" pitchFamily="34" charset="0"/>
              </a:rPr>
              <a:t>Ran for 2017 -2018 </a:t>
            </a:r>
          </a:p>
          <a:p>
            <a:r>
              <a:rPr lang="en-US" b="1">
                <a:solidFill>
                  <a:srgbClr val="050707"/>
                </a:solidFill>
                <a:latin typeface="Lato" panose="020F0502020204030203" pitchFamily="34" charset="0"/>
              </a:rPr>
              <a:t>Treatment group: </a:t>
            </a:r>
            <a:r>
              <a:rPr lang="en-US" b="0" i="0">
                <a:solidFill>
                  <a:srgbClr val="050707"/>
                </a:solidFill>
                <a:effectLst/>
                <a:latin typeface="Lato" panose="020F0502020204030203" pitchFamily="34" charset="0"/>
              </a:rPr>
              <a:t>2,000 randomly selected unemployed people across the country got a regular monthly income of €560, with no obligations.</a:t>
            </a:r>
          </a:p>
          <a:p>
            <a:r>
              <a:rPr lang="en-US" b="1">
                <a:solidFill>
                  <a:srgbClr val="050707"/>
                </a:solidFill>
                <a:latin typeface="Lato" panose="020F0502020204030203" pitchFamily="34" charset="0"/>
              </a:rPr>
              <a:t>Control group: </a:t>
            </a:r>
            <a:r>
              <a:rPr lang="en-US">
                <a:solidFill>
                  <a:srgbClr val="050707"/>
                </a:solidFill>
                <a:latin typeface="Lato" panose="020F0502020204030203" pitchFamily="34" charset="0"/>
              </a:rPr>
              <a:t>people with unemployment benefits.</a:t>
            </a:r>
          </a:p>
          <a:p>
            <a:pPr lvl="1"/>
            <a:endParaRPr lang="en-US">
              <a:solidFill>
                <a:srgbClr val="050707"/>
              </a:solidFill>
              <a:latin typeface="Lato" panose="020F0502020204030203" pitchFamily="34" charset="0"/>
            </a:endParaRPr>
          </a:p>
          <a:p>
            <a:r>
              <a:rPr lang="en-US">
                <a:solidFill>
                  <a:srgbClr val="050707"/>
                </a:solidFill>
                <a:latin typeface="Lato" panose="020F0502020204030203" pitchFamily="34" charset="0"/>
              </a:rPr>
              <a:t>Question:</a:t>
            </a:r>
          </a:p>
          <a:p>
            <a:pPr lvl="1"/>
            <a:r>
              <a:rPr lang="en-US" b="0" i="0">
                <a:solidFill>
                  <a:schemeClr val="accent1"/>
                </a:solidFill>
                <a:effectLst/>
                <a:latin typeface="Lato" panose="020F0502020204030203" pitchFamily="34" charset="0"/>
              </a:rPr>
              <a:t>Would a guaranteed income encourage people to take up low-paid or temporary work without fear of losing benefits?</a:t>
            </a:r>
          </a:p>
          <a:p>
            <a:pPr lvl="2"/>
            <a:r>
              <a:rPr lang="en-US">
                <a:solidFill>
                  <a:schemeClr val="accent1"/>
                </a:solidFill>
                <a:latin typeface="Lato" panose="020F0502020204030203" pitchFamily="34" charset="0"/>
              </a:rPr>
              <a:t>(In contrast to unemployment benefits)</a:t>
            </a:r>
            <a:endParaRPr lang="en-US" b="0" i="0" dirty="0">
              <a:solidFill>
                <a:schemeClr val="accent1"/>
              </a:solidFill>
              <a:effectLst/>
              <a:latin typeface="Lato" panose="020F050202020403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679515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ECDCCA-7924-EE63-2FE9-0ACCCA5C5C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B8B35B-877D-5A33-A76F-4F54DD8110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Finland study</a:t>
            </a:r>
          </a:p>
        </p:txBody>
      </p:sp>
    </p:spTree>
    <p:extLst>
      <p:ext uri="{BB962C8B-B14F-4D97-AF65-F5344CB8AC3E}">
        <p14:creationId xmlns:p14="http://schemas.microsoft.com/office/powerpoint/2010/main" val="301805499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8F9AE34C-3CF4-7EAA-14F7-DE26E040B745}"/>
              </a:ext>
            </a:extLst>
          </p:cNvPr>
          <p:cNvSpPr txBox="1"/>
          <p:nvPr/>
        </p:nvSpPr>
        <p:spPr>
          <a:xfrm>
            <a:off x="838200" y="1234105"/>
            <a:ext cx="19704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8E0000"/>
                </a:solidFill>
              </a:rPr>
              <a:t>A little bit!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5436C4C-5A97-7C2F-B856-CE1B10CEA822}"/>
              </a:ext>
            </a:extLst>
          </p:cNvPr>
          <p:cNvGrpSpPr/>
          <p:nvPr/>
        </p:nvGrpSpPr>
        <p:grpSpPr>
          <a:xfrm>
            <a:off x="5425961" y="552153"/>
            <a:ext cx="7186706" cy="6302894"/>
            <a:chOff x="5090459" y="555106"/>
            <a:chExt cx="7186706" cy="6302894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EC3B67E2-615F-491B-5B0D-EE96EA4820D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090459" y="924438"/>
              <a:ext cx="7186706" cy="5933562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70332F4-971C-94F7-5E9D-A1F1B89A7CEF}"/>
                </a:ext>
              </a:extLst>
            </p:cNvPr>
            <p:cNvSpPr txBox="1"/>
            <p:nvPr/>
          </p:nvSpPr>
          <p:spPr>
            <a:xfrm>
              <a:off x="9729830" y="555106"/>
              <a:ext cx="2193229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dirty="0">
                  <a:solidFill>
                    <a:schemeClr val="accent1"/>
                  </a:solidFill>
                </a:rPr>
                <a:t> ● Treatment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659B9BDD-190A-1259-F6D1-FE6E03F1ECA5}"/>
                </a:ext>
              </a:extLst>
            </p:cNvPr>
            <p:cNvSpPr txBox="1"/>
            <p:nvPr/>
          </p:nvSpPr>
          <p:spPr>
            <a:xfrm>
              <a:off x="10582835" y="2526823"/>
              <a:ext cx="1257977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pPr algn="ctr"/>
              <a:r>
                <a:rPr lang="en-US" dirty="0">
                  <a:solidFill>
                    <a:schemeClr val="accent1"/>
                  </a:solidFill>
                </a:rPr>
                <a:t>○ Control</a:t>
              </a:r>
            </a:p>
          </p:txBody>
        </p:sp>
        <p:cxnSp>
          <p:nvCxnSpPr>
            <p:cNvPr id="15" name="Curved Connector 14">
              <a:extLst>
                <a:ext uri="{FF2B5EF4-FFF2-40B4-BE49-F238E27FC236}">
                  <a16:creationId xmlns:a16="http://schemas.microsoft.com/office/drawing/2014/main" id="{E021E659-DDDB-6817-0D12-C6CBE6D8A822}"/>
                </a:ext>
              </a:extLst>
            </p:cNvPr>
            <p:cNvCxnSpPr>
              <a:cxnSpLocks/>
              <a:stCxn id="11" idx="2"/>
            </p:cNvCxnSpPr>
            <p:nvPr/>
          </p:nvCxnSpPr>
          <p:spPr>
            <a:xfrm rot="5400000">
              <a:off x="10405624" y="1101649"/>
              <a:ext cx="598033" cy="243610"/>
            </a:xfrm>
            <a:prstGeom prst="curvedConnector3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urved Connector 16">
              <a:extLst>
                <a:ext uri="{FF2B5EF4-FFF2-40B4-BE49-F238E27FC236}">
                  <a16:creationId xmlns:a16="http://schemas.microsoft.com/office/drawing/2014/main" id="{33A30913-D8DD-FD82-BB22-07D19C50F824}"/>
                </a:ext>
              </a:extLst>
            </p:cNvPr>
            <p:cNvCxnSpPr>
              <a:cxnSpLocks/>
              <a:stCxn id="13" idx="1"/>
            </p:cNvCxnSpPr>
            <p:nvPr/>
          </p:nvCxnSpPr>
          <p:spPr>
            <a:xfrm rot="10800000">
              <a:off x="10204755" y="1880437"/>
              <a:ext cx="378081" cy="831053"/>
            </a:xfrm>
            <a:prstGeom prst="curved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0528A494-09D8-D8B5-D884-E8AFECA7B0A6}"/>
              </a:ext>
            </a:extLst>
          </p:cNvPr>
          <p:cNvSpPr txBox="1"/>
          <p:nvPr/>
        </p:nvSpPr>
        <p:spPr>
          <a:xfrm>
            <a:off x="7462846" y="5185044"/>
            <a:ext cx="3455491" cy="646331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r"/>
            <a:r>
              <a:rPr lang="en-US" dirty="0">
                <a:solidFill>
                  <a:schemeClr val="accent1"/>
                </a:solidFill>
              </a:rPr>
              <a:t>Treatment – Control</a:t>
            </a:r>
          </a:p>
          <a:p>
            <a:pPr algn="r"/>
            <a:r>
              <a:rPr lang="en-US" dirty="0">
                <a:solidFill>
                  <a:schemeClr val="accent1"/>
                </a:solidFill>
              </a:rPr>
              <a:t>(with 95% confidence intervals)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8369239-67CD-1E88-EA79-3512BE8F8452}"/>
              </a:ext>
            </a:extLst>
          </p:cNvPr>
          <p:cNvSpPr txBox="1"/>
          <p:nvPr/>
        </p:nvSpPr>
        <p:spPr>
          <a:xfrm>
            <a:off x="838200" y="2168834"/>
            <a:ext cx="5091680" cy="36625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Regression results: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The control group worked an average of 71 days in a year.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accent1"/>
                </a:solidFill>
              </a:rPr>
              <a:t>Nov 2017-Oct 2018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/>
              <a:t>Estimate:</a:t>
            </a:r>
            <a:r>
              <a:rPr lang="en-US" sz="2400" dirty="0"/>
              <a:t> treatment group worked about 6 more days in that period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accent1"/>
                </a:solidFill>
              </a:rPr>
              <a:t>Std. Err: 2.5 days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accent1"/>
                </a:solidFill>
              </a:rPr>
              <a:t>p-value: 0.02</a:t>
            </a:r>
          </a:p>
          <a:p>
            <a:endParaRPr lang="en-US" sz="2400" dirty="0"/>
          </a:p>
          <a:p>
            <a:endParaRPr lang="en-US" sz="24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85E51C7-9B52-86D0-D48A-4A8A9D13607D}"/>
              </a:ext>
            </a:extLst>
          </p:cNvPr>
          <p:cNvSpPr txBox="1"/>
          <p:nvPr/>
        </p:nvSpPr>
        <p:spPr>
          <a:xfrm>
            <a:off x="430985" y="5933562"/>
            <a:ext cx="482681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Regression controlled for: gender, age, education level and field, foreign language proficiency, family type, disease diagnosis, municipality group, residential area, type of unemployment benefit, unemployment days, working days, work income and amount of housing allowance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BD5F7AB-37A7-C7BC-F7E7-6C2D86A53737}"/>
              </a:ext>
            </a:extLst>
          </p:cNvPr>
          <p:cNvSpPr txBox="1"/>
          <p:nvPr/>
        </p:nvSpPr>
        <p:spPr>
          <a:xfrm>
            <a:off x="8132353" y="2782669"/>
            <a:ext cx="2193229" cy="646331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Monthly number of working days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1238832-C31F-8310-98BF-561AB19401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6908"/>
            <a:ext cx="10515600" cy="1325563"/>
          </a:xfrm>
        </p:spPr>
        <p:txBody>
          <a:bodyPr/>
          <a:lstStyle/>
          <a:p>
            <a:r>
              <a:rPr lang="en-US" dirty="0"/>
              <a:t>Did people work more?</a:t>
            </a:r>
          </a:p>
        </p:txBody>
      </p:sp>
    </p:spTree>
    <p:extLst>
      <p:ext uri="{BB962C8B-B14F-4D97-AF65-F5344CB8AC3E}">
        <p14:creationId xmlns:p14="http://schemas.microsoft.com/office/powerpoint/2010/main" val="391372908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D7FF04-8396-52E9-DB63-8709EE7A50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9272" y="218141"/>
            <a:ext cx="10515600" cy="1325563"/>
          </a:xfrm>
        </p:spPr>
        <p:txBody>
          <a:bodyPr/>
          <a:lstStyle/>
          <a:p>
            <a:r>
              <a:rPr lang="en-US" dirty="0"/>
              <a:t>Were people happier/healthier?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909224-EDAC-AC26-867D-73430D905C1A}"/>
              </a:ext>
            </a:extLst>
          </p:cNvPr>
          <p:cNvSpPr txBox="1"/>
          <p:nvPr/>
        </p:nvSpPr>
        <p:spPr>
          <a:xfrm>
            <a:off x="779272" y="1502263"/>
            <a:ext cx="9126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8E0000"/>
                </a:solidFill>
              </a:rPr>
              <a:t>Yes!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705B7E3E-4D0B-474C-04E8-BC0C5AA8A274}"/>
              </a:ext>
            </a:extLst>
          </p:cNvPr>
          <p:cNvGrpSpPr/>
          <p:nvPr/>
        </p:nvGrpSpPr>
        <p:grpSpPr>
          <a:xfrm>
            <a:off x="2679138" y="2865717"/>
            <a:ext cx="9512862" cy="3992283"/>
            <a:chOff x="1339569" y="2259106"/>
            <a:chExt cx="9512862" cy="3992283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18A656EF-7151-6A23-B9B7-0E6A059A371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339569" y="2259106"/>
              <a:ext cx="9512862" cy="3992283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9D497241-5856-F5B5-C2CB-902BB913E629}"/>
                </a:ext>
              </a:extLst>
            </p:cNvPr>
            <p:cNvSpPr txBox="1"/>
            <p:nvPr/>
          </p:nvSpPr>
          <p:spPr>
            <a:xfrm>
              <a:off x="1788457" y="3532456"/>
              <a:ext cx="1494024" cy="33855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en-US" sz="1600" dirty="0">
                  <a:solidFill>
                    <a:schemeClr val="accent1"/>
                  </a:solidFill>
                </a:rPr>
                <a:t>Dejection?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18F8BC3-6EE9-E1F4-F09A-60483DD9C144}"/>
                </a:ext>
              </a:extLst>
            </p:cNvPr>
            <p:cNvSpPr txBox="1"/>
            <p:nvPr/>
          </p:nvSpPr>
          <p:spPr>
            <a:xfrm>
              <a:off x="1934975" y="3839748"/>
              <a:ext cx="1494024" cy="830997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en-US" sz="1600" dirty="0">
                  <a:solidFill>
                    <a:schemeClr val="accent1"/>
                  </a:solidFill>
                </a:rPr>
                <a:t>Yes</a:t>
              </a:r>
            </a:p>
            <a:p>
              <a:r>
                <a:rPr lang="en-US" sz="1600" dirty="0">
                  <a:solidFill>
                    <a:schemeClr val="accent1"/>
                  </a:solidFill>
                </a:rPr>
                <a:t>No</a:t>
              </a:r>
            </a:p>
            <a:p>
              <a:r>
                <a:rPr lang="en-US" sz="1600" dirty="0">
                  <a:solidFill>
                    <a:schemeClr val="accent1"/>
                  </a:solidFill>
                </a:rPr>
                <a:t>Can’t say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77BDBF0-ED29-3112-6C44-D7F866F402AA}"/>
                </a:ext>
              </a:extLst>
            </p:cNvPr>
            <p:cNvSpPr txBox="1"/>
            <p:nvPr/>
          </p:nvSpPr>
          <p:spPr>
            <a:xfrm>
              <a:off x="1788457" y="4752388"/>
              <a:ext cx="3470744" cy="33855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en-US" sz="1600" dirty="0">
                  <a:solidFill>
                    <a:schemeClr val="accent1"/>
                  </a:solidFill>
                </a:rPr>
                <a:t>Inability to experience pleasure?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74B2D74-B066-2737-52B2-ED79630080CD}"/>
                </a:ext>
              </a:extLst>
            </p:cNvPr>
            <p:cNvSpPr txBox="1"/>
            <p:nvPr/>
          </p:nvSpPr>
          <p:spPr>
            <a:xfrm>
              <a:off x="1934975" y="5045715"/>
              <a:ext cx="1494024" cy="830997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en-US" sz="1600" dirty="0">
                  <a:solidFill>
                    <a:schemeClr val="accent1"/>
                  </a:solidFill>
                </a:rPr>
                <a:t>Yes</a:t>
              </a:r>
            </a:p>
            <a:p>
              <a:r>
                <a:rPr lang="en-US" sz="1600" dirty="0">
                  <a:solidFill>
                    <a:schemeClr val="accent1"/>
                  </a:solidFill>
                </a:rPr>
                <a:t>No</a:t>
              </a:r>
            </a:p>
            <a:p>
              <a:r>
                <a:rPr lang="en-US" sz="1600" dirty="0">
                  <a:solidFill>
                    <a:schemeClr val="accent1"/>
                  </a:solidFill>
                </a:rPr>
                <a:t>Can’t say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1974EE2-E368-01BC-6A90-B0559F50A4D0}"/>
                </a:ext>
              </a:extLst>
            </p:cNvPr>
            <p:cNvSpPr txBox="1"/>
            <p:nvPr/>
          </p:nvSpPr>
          <p:spPr>
            <a:xfrm>
              <a:off x="4388875" y="3207570"/>
              <a:ext cx="1166162" cy="276999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pPr algn="r"/>
              <a:r>
                <a:rPr lang="en-US" sz="1200" b="1" dirty="0">
                  <a:solidFill>
                    <a:schemeClr val="accent1"/>
                  </a:solidFill>
                </a:rPr>
                <a:t>Treatment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871EA818-360C-B368-6C1E-105C7DDA0716}"/>
                </a:ext>
              </a:extLst>
            </p:cNvPr>
            <p:cNvSpPr txBox="1"/>
            <p:nvPr/>
          </p:nvSpPr>
          <p:spPr>
            <a:xfrm>
              <a:off x="6458321" y="3196064"/>
              <a:ext cx="1166162" cy="276999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pPr algn="r"/>
              <a:r>
                <a:rPr lang="en-US" sz="1200" b="1" dirty="0">
                  <a:solidFill>
                    <a:schemeClr val="accent1"/>
                  </a:solidFill>
                </a:rPr>
                <a:t>Control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8F9658D-9035-7935-1A08-56DF93A0E392}"/>
                </a:ext>
              </a:extLst>
            </p:cNvPr>
            <p:cNvSpPr txBox="1"/>
            <p:nvPr/>
          </p:nvSpPr>
          <p:spPr>
            <a:xfrm>
              <a:off x="1759323" y="2449748"/>
              <a:ext cx="8673353" cy="58477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n-US" sz="3200" dirty="0">
                  <a:solidFill>
                    <a:schemeClr val="accent1"/>
                  </a:solidFill>
                </a:rPr>
                <a:t>Effects on depression</a:t>
              </a:r>
            </a:p>
          </p:txBody>
        </p:sp>
      </p:grp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F6B4B939-2B25-AA88-4691-9F1FF258E9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1298" y="1623181"/>
            <a:ext cx="9126071" cy="1206115"/>
          </a:xfrm>
        </p:spPr>
        <p:txBody>
          <a:bodyPr>
            <a:normAutofit/>
          </a:bodyPr>
          <a:lstStyle/>
          <a:p>
            <a:r>
              <a:rPr lang="en-US" sz="2400" dirty="0"/>
              <a:t>Treatment group reported better health, fewer trips to the hospital, better subjective sense of well-being, etc.</a:t>
            </a:r>
          </a:p>
          <a:p>
            <a:r>
              <a:rPr lang="en-US" sz="2400" dirty="0" err="1"/>
              <a:t>E.g</a:t>
            </a:r>
            <a:r>
              <a:rPr lang="en-US" sz="2400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253026507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C9F017-2037-0DAE-AE32-4F74746019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Take-aways?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90DD46-7A4F-861C-3F40-D78AF736EC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Finland study</a:t>
            </a:r>
          </a:p>
        </p:txBody>
      </p:sp>
    </p:spTree>
    <p:extLst>
      <p:ext uri="{BB962C8B-B14F-4D97-AF65-F5344CB8AC3E}">
        <p14:creationId xmlns:p14="http://schemas.microsoft.com/office/powerpoint/2010/main" val="170738002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B5C50D-74D7-D3DB-F1BD-A431CB641F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 you take away from this study?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587D24-9F2D-D0B2-CDD7-9E4D2D7617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Does this tell us something about what would happen if we implemented UBI?</a:t>
            </a:r>
          </a:p>
          <a:p>
            <a:r>
              <a:rPr lang="en-US" dirty="0"/>
              <a:t>How would you advise a policy-maker to act based on this study?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5D961B6-AB5F-DB81-F436-57CB2DD783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9992" y="3759375"/>
            <a:ext cx="2447707" cy="2188377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A3899B74-85D2-6053-69CE-492B27159CF3}"/>
              </a:ext>
            </a:extLst>
          </p:cNvPr>
          <p:cNvSpPr txBox="1">
            <a:spLocks/>
          </p:cNvSpPr>
          <p:nvPr/>
        </p:nvSpPr>
        <p:spPr>
          <a:xfrm>
            <a:off x="838200" y="4680596"/>
            <a:ext cx="8655424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rgbClr val="8C1515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/>
              <a:t>What do you take away from all three studies together?</a:t>
            </a:r>
          </a:p>
        </p:txBody>
      </p:sp>
    </p:spTree>
    <p:extLst>
      <p:ext uri="{BB962C8B-B14F-4D97-AF65-F5344CB8AC3E}">
        <p14:creationId xmlns:p14="http://schemas.microsoft.com/office/powerpoint/2010/main" val="31809666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B6A2A9-4F8B-66F3-66A1-CBCE8962B7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Wrap-Up and Looking Ahead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C1BAC3-F9CB-6142-F3E6-F045863941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49563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E41679-D839-9784-3D52-46AD105A3E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E8CF34-3780-A415-A5EF-4A255CB83D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3388" y="1865966"/>
            <a:ext cx="11353800" cy="4351338"/>
          </a:xfrm>
        </p:spPr>
        <p:txBody>
          <a:bodyPr/>
          <a:lstStyle/>
          <a:p>
            <a:r>
              <a:rPr lang="en-US" dirty="0"/>
              <a:t>Three more recent studies on the effects of unearned income/UBI.</a:t>
            </a:r>
          </a:p>
          <a:p>
            <a:endParaRPr lang="en-US" dirty="0"/>
          </a:p>
          <a:p>
            <a:r>
              <a:rPr lang="en-US" dirty="0"/>
              <a:t>Takeaways: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For policy-makers: still an ongoing conversation!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For us: Causal inference is hard!</a:t>
            </a:r>
          </a:p>
          <a:p>
            <a:pPr marL="914400" lvl="2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284926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9DCC7E-759A-EBC3-E048-9A4FADF20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9B7CF6-E3C5-2392-E881-0E964BC295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Heterogeneous Treatment Effects!  Random Forests!</a:t>
            </a:r>
          </a:p>
        </p:txBody>
      </p:sp>
    </p:spTree>
    <p:extLst>
      <p:ext uri="{BB962C8B-B14F-4D97-AF65-F5344CB8AC3E}">
        <p14:creationId xmlns:p14="http://schemas.microsoft.com/office/powerpoint/2010/main" val="114958619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9F0EB9-8855-6AA6-B0C9-E83FD33E11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Exit ticket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0D56821-B36F-05BE-8C22-119BD426E0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0775" y="146050"/>
            <a:ext cx="2028825" cy="144060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5F0044E-68BA-46FB-DFE2-EB19710BB196}"/>
              </a:ext>
            </a:extLst>
          </p:cNvPr>
          <p:cNvSpPr txBox="1"/>
          <p:nvPr/>
        </p:nvSpPr>
        <p:spPr>
          <a:xfrm>
            <a:off x="1505712" y="1984243"/>
            <a:ext cx="984808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Don’t forget to fill out the exit ticket before you leave class!</a:t>
            </a:r>
          </a:p>
        </p:txBody>
      </p:sp>
      <p:sp>
        <p:nvSpPr>
          <p:cNvPr id="10" name="Arrow: Bent 9">
            <a:extLst>
              <a:ext uri="{FF2B5EF4-FFF2-40B4-BE49-F238E27FC236}">
                <a16:creationId xmlns:a16="http://schemas.microsoft.com/office/drawing/2014/main" id="{01F52CB0-CE46-989E-A338-6C694D0A271D}"/>
              </a:ext>
            </a:extLst>
          </p:cNvPr>
          <p:cNvSpPr/>
          <p:nvPr/>
        </p:nvSpPr>
        <p:spPr>
          <a:xfrm rot="10800000">
            <a:off x="8403336" y="2902064"/>
            <a:ext cx="2002536" cy="1551063"/>
          </a:xfrm>
          <a:prstGeom prst="bentArrow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E9E7EB9-A5E7-BA24-8C26-9D7108DB05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6760" y="2653887"/>
            <a:ext cx="3598479" cy="3598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911427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2670.416"/>
  <p:tag name="ORIGINALWIDTH" val="4044.244"/>
  <p:tag name="OUTPUTTYPE" val="PNG"/>
  <p:tag name="IGUANATEXVERSION" val="161"/>
  <p:tag name="LATEXADDIN" val="\documentclass{article}&#10;\usepackage{amsmath}&#10;\pagestyle{empty}&#10;\begin{document}&#10;&#10;&#10;\centerline{\sc Summary Statistics Lottery  Sample}&#10;\begin{center}&#10;\begin{tabular}{lccccccc}&#10;\hline\hline&#10;%&amp;&amp;&amp;&amp;&amp;&amp;&amp;\\&#10;Variable &amp; \multicolumn{2}{c}{All} &amp; Losers &amp; Winners &amp;  \\&#10;&amp;  \multicolumn{2}{c}{N=496} &amp; $N_T$=259 &amp; $N_C$=237 &amp; &amp; Norm.&#10;\\&#10; &amp; mean &amp; (s.d.) &amp; mean &amp; mean &amp;[t-stat] &amp;  Dif.\\&#10; %&amp;&amp;&amp;&amp;&amp;&amp;&amp; \\ &#10;\hline&#10;%&amp; \\&#10; {\tt Year Won}          &amp; 6.23 &amp; 1.18 &amp; 6.38 &amp; 6.06 &amp; -3.0 &amp; -0.27 \\    &#10; {\tt \# Tickets}  &amp; 3.33 &amp; 2.86 &amp; 2.19 &amp; 4.57 &amp; 9.9 &amp; 0.90 \\      &#10; {\tt Age} &amp; 50.2 &amp; 13.7 &amp; 53.2 &amp; 47.0 &amp; -5.2 &amp; -0.47 \\&#10; {\tt Male} &amp; 0.63 &amp; 0.48 &amp; 0.67 &amp; 0.58 &amp; -2.1 &amp; -0.19 \\    &#10; {\tt Education}  &amp; 13.73 &amp; 2.20 &amp; 14.43 &amp; 12.97 &amp; -7.8 &amp; -0.70 \\ &#10; {\tt Working Then} &amp; 0.78 &amp; 0.41 &amp; 0.77 &amp; 0.80 &amp; 0.9 &amp; 0.08 \\      &#10; {\tt Earn Y -6}  &amp; 13.8 &amp; 13.4 &amp; 15.6 &amp; 12.0 &amp; -3.1 &amp; -0.27 \\&#10;\vdots \\&#10;%{\tt Earn Y -5}    &amp; 14.12 &amp; 13.76 &amp; 15.96 &amp; 12.12 &amp; -3.2 &amp; -0.28 \\&#10;% {\tt Earn Y -4}  &amp; 14.21 &amp; 14.06 &amp; 16.20 &amp; 12.04 &amp; -3.4 &amp; -0.30 \\&#10;%{\tt Earn Y -3}  &amp; 14.80 &amp; 14.77 &amp; 16.62 &amp; 12.82 &amp; -2.9 &amp; -0.26 \\&#10;% {\tt Earn Y -2}   &amp; 15.62 &amp; 15.27 &amp; 17.58 &amp; 13.48 &amp; -3.1 &amp; -0.27 \\&#10; {\tt Earn Y -1}  &amp; 16.3 &amp; 15.7 &amp; {18.0} &amp; {14.5} &amp; -2.5 &amp; -0.23 \\&#10; {\tt Pos Earn Y-6}&amp; 0.69 &amp; 0.46 &amp; 0.69 &amp; 0.70 &amp; 0.3 &amp; 0.03 \\      &#10;\vdots \\&#10;% {\tt Pos Earn Y -5}&amp; 0.71 &amp; 0.45 &amp; 0.68 &amp; 0.74 &amp; 1.6 &amp; 0.14 \\      &#10;% {\tt Pos Earn Y -4}&amp; 0.71 &amp; 0.45 &amp; 0.69 &amp; 0.73 &amp; 1.1 &amp; 0.10 \\      &#10;% {\tt Pos Earn Y -3}&amp; 0.70 &amp; 0.46 &amp; 0.68 &amp; 0.73 &amp; 1.4 &amp; 0.13 \\      &#10; %{\tt Pos Earn Y -2}&amp; 0.71 &amp; 0.46 &amp; 0.68 &amp; 0.74 &amp; 1.6 &amp; 0.15 \\      &#10; {\tt Pos Earn Y-1}&amp; 0.71 &amp; 0.45 &amp; 0.69 &amp; 0.74 &amp; 1.2 &amp; 0.10 \\      &#10;\hline&#10;\end{tabular}      &#10;\end{center}      &#10;&#10;\end{document}"/>
  <p:tag name="IGUANATEXSIZE" val="20"/>
  <p:tag name="IGUANATEXCURSOR" val="82"/>
  <p:tag name="TRANSPARENCY" val="True"/>
  <p:tag name="LATEXENGINEID" val="0"/>
  <p:tag name="TEMPFOLDER" val="c:\temp\"/>
  <p:tag name="LATEXFORMHEIGHT" val="320"/>
  <p:tag name="LATEXFORMWIDTH" val="385"/>
  <p:tag name="LATEXFORMWRAP" val="True"/>
  <p:tag name="BITMAPVECTOR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2670.416"/>
  <p:tag name="ORIGINALWIDTH" val="4044.244"/>
  <p:tag name="OUTPUTTYPE" val="PNG"/>
  <p:tag name="IGUANATEXVERSION" val="161"/>
  <p:tag name="LATEXADDIN" val="\documentclass{article}&#10;\usepackage{amsmath}&#10;\pagestyle{empty}&#10;\begin{document}&#10;&#10;&#10;\centerline{\sc Summary Statistics Lottery  Sample}&#10;\begin{center}&#10;\begin{tabular}{lccccccc}&#10;\hline\hline&#10;%&amp;&amp;&amp;&amp;&amp;&amp;&amp;\\&#10;Variable &amp; \multicolumn{2}{c}{All} &amp; Losers &amp; Winners &amp;  \\&#10;&amp;  \multicolumn{2}{c}{N=496} &amp; $N_T$=259 &amp; $N_C$=237 &amp; &amp; Norm.&#10;\\&#10; &amp; mean &amp; (s.d.) &amp; mean &amp; mean &amp;[t-stat] &amp;  Dif.\\&#10; %&amp;&amp;&amp;&amp;&amp;&amp;&amp; \\ &#10;\hline&#10;%&amp; \\&#10; {\tt Year Won}          &amp; 6.23 &amp; 1.18 &amp; 6.38 &amp; 6.06 &amp; -3.0 &amp; -0.27 \\    &#10; {\tt \# Tickets}  &amp; 3.33 &amp; 2.86 &amp; 2.19 &amp; 4.57 &amp; 9.9 &amp; 0.90 \\      &#10; {\tt Age} &amp; 50.2 &amp; 13.7 &amp; 53.2 &amp; 47.0 &amp; -5.2 &amp; -0.47 \\&#10; {\tt Male} &amp; 0.63 &amp; 0.48 &amp; 0.67 &amp; 0.58 &amp; -2.1 &amp; -0.19 \\    &#10; {\tt Education}  &amp; 13.73 &amp; 2.20 &amp; 14.43 &amp; 12.97 &amp; -7.8 &amp; -0.70 \\ &#10; {\tt Working Then} &amp; 0.78 &amp; 0.41 &amp; 0.77 &amp; 0.80 &amp; 0.9 &amp; 0.08 \\      &#10; {\tt Earn Y -6}  &amp; 13.8 &amp; 13.4 &amp; 15.6 &amp; 12.0 &amp; -3.1 &amp; -0.27 \\&#10;\vdots \\&#10;%{\tt Earn Y -5}    &amp; 14.12 &amp; 13.76 &amp; 15.96 &amp; 12.12 &amp; -3.2 &amp; -0.28 \\&#10;% {\tt Earn Y -4}  &amp; 14.21 &amp; 14.06 &amp; 16.20 &amp; 12.04 &amp; -3.4 &amp; -0.30 \\&#10;%{\tt Earn Y -3}  &amp; 14.80 &amp; 14.77 &amp; 16.62 &amp; 12.82 &amp; -2.9 &amp; -0.26 \\&#10;% {\tt Earn Y -2}   &amp; 15.62 &amp; 15.27 &amp; 17.58 &amp; 13.48 &amp; -3.1 &amp; -0.27 \\&#10; {\tt Earn Y -1}  &amp; 16.3 &amp; 15.7 &amp; {18.0} &amp; {14.5} &amp; -2.5 &amp; -0.23 \\&#10; {\tt Pos Earn Y-6}&amp; 0.69 &amp; 0.46 &amp; 0.69 &amp; 0.70 &amp; 0.3 &amp; 0.03 \\      &#10;\vdots \\&#10;% {\tt Pos Earn Y -5}&amp; 0.71 &amp; 0.45 &amp; 0.68 &amp; 0.74 &amp; 1.6 &amp; 0.14 \\      &#10;% {\tt Pos Earn Y -4}&amp; 0.71 &amp; 0.45 &amp; 0.69 &amp; 0.73 &amp; 1.1 &amp; 0.10 \\      &#10;% {\tt Pos Earn Y -3}&amp; 0.70 &amp; 0.46 &amp; 0.68 &amp; 0.73 &amp; 1.4 &amp; 0.13 \\      &#10; %{\tt Pos Earn Y -2}&amp; 0.71 &amp; 0.46 &amp; 0.68 &amp; 0.74 &amp; 1.6 &amp; 0.15 \\      &#10; {\tt Pos Earn Y-1}&amp; 0.71 &amp; 0.45 &amp; 0.69 &amp; 0.74 &amp; 1.2 &amp; 0.10 \\      &#10;\hline&#10;\end{tabular}      &#10;\end{center}      &#10;&#10;\end{document}"/>
  <p:tag name="IGUANATEXSIZE" val="20"/>
  <p:tag name="IGUANATEXCURSOR" val="82"/>
  <p:tag name="TRANSPARENCY" val="True"/>
  <p:tag name="LATEXENGINEID" val="0"/>
  <p:tag name="TEMPFOLDER" val="c:\temp\"/>
  <p:tag name="LATEXFORMHEIGHT" val="320"/>
  <p:tag name="LATEXFORMWIDTH" val="385"/>
  <p:tag name="LATEXFORMWRAP" val="True"/>
  <p:tag name="BITMAPVECTOR" val="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125.609"/>
  <p:tag name="ORIGINALWIDTH" val="4395.951"/>
  <p:tag name="OUTPUTTYPE" val="PNG"/>
  <p:tag name="IGUANATEXVERSION" val="161"/>
  <p:tag name="LATEXADDIN" val="\documentclass{article}&#10;\usepackage{amsmath}&#10;\pagestyle{empty}&#10;\begin{document}&#10;&#10;&#10;\centerline{\sc Summary Statistics Lottery  Sample and Current Population Survey}&#10;\begin{center}&#10;\begin{tabular}{lcc}&#10;Variable &amp; Lottery Data &amp; Current Population Survey&#10;\\&#10;Female &amp; 0.37 &amp; 0.53\\&#10;Age &amp; 47.0 &amp; 43.2\\&#10;Education &amp; 13.7 &amp; 12.7\\&#10;Earnings 1983 &amp; 14.8 &amp; 11.6\\&#10;Positive Earnings 1983 &amp; 0.71 &amp; 0.71 \\&#10;    \hline&#10;\end{tabular}      &#10;\end{center}&#10;&#10;\end{document}"/>
  <p:tag name="IGUANATEXSIZE" val="20"/>
  <p:tag name="IGUANATEXCURSOR" val="81"/>
  <p:tag name="TRANSPARENCY" val="True"/>
  <p:tag name="LATEXENGINEID" val="0"/>
  <p:tag name="TEMPFOLDER" val="c:\temp\"/>
  <p:tag name="LATEXFORMHEIGHT" val="320"/>
  <p:tag name="LATEXFORMWIDTH" val="385"/>
  <p:tag name="LATEXFORMWRAP" val="True"/>
  <p:tag name="BITMAPVECTOR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45b10c62-83dd-4c3d-ae0e-6c6ff162f9d4"/>
</p:tagLst>
</file>

<file path=ppt/theme/theme1.xml><?xml version="1.0" encoding="utf-8"?>
<a:theme xmlns:a="http://schemas.openxmlformats.org/drawingml/2006/main" name="stanford_theme_1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stanford_theme_1" id="{A142E0A3-F9A9-4D8A-A335-47DDAA9BD0A9}" vid="{02C1A18B-3E97-49A8-9281-C5CEFF48935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stanford_theme_1</Template>
  <TotalTime>3772</TotalTime>
  <Words>1863</Words>
  <Application>Microsoft Macintosh PowerPoint</Application>
  <PresentationFormat>Widescreen</PresentationFormat>
  <Paragraphs>241</Paragraphs>
  <Slides>47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4" baseType="lpstr">
      <vt:lpstr>Aptos</vt:lpstr>
      <vt:lpstr>Arial</vt:lpstr>
      <vt:lpstr>Cambria Math</vt:lpstr>
      <vt:lpstr>Lato</vt:lpstr>
      <vt:lpstr>Roboto</vt:lpstr>
      <vt:lpstr>Wingdings</vt:lpstr>
      <vt:lpstr>stanford_theme_1</vt:lpstr>
      <vt:lpstr>Empirical Evidence on the Effect of Unearned Income</vt:lpstr>
      <vt:lpstr>Announcements</vt:lpstr>
      <vt:lpstr>Agenda</vt:lpstr>
      <vt:lpstr>Recap</vt:lpstr>
      <vt:lpstr>What have we seen so far?</vt:lpstr>
      <vt:lpstr>Today</vt:lpstr>
      <vt:lpstr>Three Studies</vt:lpstr>
      <vt:lpstr>As we go through these studies… Think about:</vt:lpstr>
      <vt:lpstr>As we go through these studies… Think about:</vt:lpstr>
      <vt:lpstr>Study 1:  Massachusetts Lottery Winners</vt:lpstr>
      <vt:lpstr>The study</vt:lpstr>
      <vt:lpstr>Examples There were a lot more questions – you can see some of these data in your HW!</vt:lpstr>
      <vt:lpstr>Summary statistics</vt:lpstr>
      <vt:lpstr>Summary statistics</vt:lpstr>
      <vt:lpstr>Some possible reasons…</vt:lpstr>
      <vt:lpstr>What does “winning” look like?</vt:lpstr>
      <vt:lpstr>External Validity?</vt:lpstr>
      <vt:lpstr>Findings</vt:lpstr>
      <vt:lpstr>Looks like there’s an effect… On whether or not you work</vt:lpstr>
      <vt:lpstr>Looks like there’s an effect… On whether or not you work</vt:lpstr>
      <vt:lpstr>Run a multivariate regression!</vt:lpstr>
      <vt:lpstr>PowerPoint Presentation</vt:lpstr>
      <vt:lpstr>Run a multivariate regression!</vt:lpstr>
      <vt:lpstr>Sanity-check</vt:lpstr>
      <vt:lpstr>Take-aways?</vt:lpstr>
      <vt:lpstr>What do you take away from this study?</vt:lpstr>
      <vt:lpstr>Study 2:  OpenResearch  Unconditional Income Study</vt:lpstr>
      <vt:lpstr>The study:  A randomized experiment, 2020-2023</vt:lpstr>
      <vt:lpstr>You looked at some data from this study</vt:lpstr>
      <vt:lpstr>Findings</vt:lpstr>
      <vt:lpstr>How did people spend the money?</vt:lpstr>
      <vt:lpstr>What did they spend the money on?</vt:lpstr>
      <vt:lpstr>What did they spend the money on?</vt:lpstr>
      <vt:lpstr>How did people spend their time/work?</vt:lpstr>
      <vt:lpstr>Take-aways?</vt:lpstr>
      <vt:lpstr>What do you take away from this study?</vt:lpstr>
      <vt:lpstr>Study 3:  UBI in Finland</vt:lpstr>
      <vt:lpstr>The study</vt:lpstr>
      <vt:lpstr>Findings</vt:lpstr>
      <vt:lpstr>Did people work more?</vt:lpstr>
      <vt:lpstr>Were people happier/healthier?</vt:lpstr>
      <vt:lpstr>Take-aways?</vt:lpstr>
      <vt:lpstr>What do you take away from this study?</vt:lpstr>
      <vt:lpstr>Wrap-Up and Looking Ahead</vt:lpstr>
      <vt:lpstr>Today</vt:lpstr>
      <vt:lpstr>Next time</vt:lpstr>
      <vt:lpstr>Exit ticket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Mary Katherine Wootters</dc:creator>
  <cp:lastModifiedBy>Mary Katherine Wootters</cp:lastModifiedBy>
  <cp:revision>50</cp:revision>
  <dcterms:created xsi:type="dcterms:W3CDTF">2024-10-16T16:44:10Z</dcterms:created>
  <dcterms:modified xsi:type="dcterms:W3CDTF">2025-11-24T22:02:20Z</dcterms:modified>
</cp:coreProperties>
</file>