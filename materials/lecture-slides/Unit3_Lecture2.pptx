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notesSlides/notesSlide23.xml" ContentType="application/vnd.openxmlformats-officedocument.presentationml.notesSlide+xml"/>
  <Override PartName="/ppt/tags/tag2.xml" ContentType="application/vnd.openxmlformats-officedocument.presentationml.tags+xml"/>
  <Override PartName="/ppt/notesSlides/notesSlide24.xml" ContentType="application/vnd.openxmlformats-officedocument.presentationml.notesSlide+xml"/>
  <Override PartName="/ppt/tags/tag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4.xml" ContentType="application/vnd.openxmlformats-officedocument.presentationml.tags+xml"/>
  <Override PartName="/ppt/notesSlides/notesSlide29.xml" ContentType="application/vnd.openxmlformats-officedocument.presentationml.notesSlide+xml"/>
  <Override PartName="/ppt/tags/tag5.xml" ContentType="application/vnd.openxmlformats-officedocument.presentationml.tags+xml"/>
  <Override PartName="/ppt/notesSlides/notesSlide30.xml" ContentType="application/vnd.openxmlformats-officedocument.presentationml.notesSlide+xml"/>
  <Override PartName="/ppt/tags/tag6.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57" r:id="rId3"/>
    <p:sldId id="258" r:id="rId4"/>
    <p:sldId id="261" r:id="rId5"/>
    <p:sldId id="259" r:id="rId6"/>
    <p:sldId id="264" r:id="rId7"/>
    <p:sldId id="265" r:id="rId8"/>
    <p:sldId id="260" r:id="rId9"/>
    <p:sldId id="262" r:id="rId10"/>
    <p:sldId id="263" r:id="rId11"/>
    <p:sldId id="266" r:id="rId12"/>
    <p:sldId id="267" r:id="rId13"/>
    <p:sldId id="268" r:id="rId14"/>
    <p:sldId id="269" r:id="rId15"/>
    <p:sldId id="270" r:id="rId16"/>
    <p:sldId id="271" r:id="rId17"/>
    <p:sldId id="273" r:id="rId18"/>
    <p:sldId id="274" r:id="rId19"/>
    <p:sldId id="278" r:id="rId20"/>
    <p:sldId id="275" r:id="rId21"/>
    <p:sldId id="276" r:id="rId22"/>
    <p:sldId id="280" r:id="rId23"/>
    <p:sldId id="279" r:id="rId24"/>
    <p:sldId id="281" r:id="rId25"/>
    <p:sldId id="339" r:id="rId26"/>
    <p:sldId id="340" r:id="rId27"/>
    <p:sldId id="341" r:id="rId28"/>
    <p:sldId id="342" r:id="rId29"/>
    <p:sldId id="377" r:id="rId30"/>
    <p:sldId id="344" r:id="rId31"/>
    <p:sldId id="345" r:id="rId32"/>
    <p:sldId id="346" r:id="rId33"/>
    <p:sldId id="347" r:id="rId34"/>
    <p:sldId id="350" r:id="rId35"/>
    <p:sldId id="348" r:id="rId36"/>
    <p:sldId id="349" r:id="rId37"/>
    <p:sldId id="351" r:id="rId38"/>
    <p:sldId id="352" r:id="rId39"/>
    <p:sldId id="356" r:id="rId40"/>
    <p:sldId id="380" r:id="rId41"/>
    <p:sldId id="381" r:id="rId42"/>
    <p:sldId id="353" r:id="rId43"/>
    <p:sldId id="354" r:id="rId44"/>
    <p:sldId id="355" r:id="rId45"/>
    <p:sldId id="287" r:id="rId46"/>
    <p:sldId id="378" r:id="rId47"/>
    <p:sldId id="357" r:id="rId48"/>
    <p:sldId id="359" r:id="rId49"/>
    <p:sldId id="376" r:id="rId50"/>
    <p:sldId id="360" r:id="rId51"/>
    <p:sldId id="362" r:id="rId52"/>
    <p:sldId id="361" r:id="rId53"/>
    <p:sldId id="307" r:id="rId54"/>
    <p:sldId id="363" r:id="rId55"/>
    <p:sldId id="365" r:id="rId56"/>
    <p:sldId id="310" r:id="rId57"/>
    <p:sldId id="367" r:id="rId58"/>
    <p:sldId id="368" r:id="rId59"/>
    <p:sldId id="369" r:id="rId60"/>
    <p:sldId id="370" r:id="rId61"/>
    <p:sldId id="379" r:id="rId62"/>
    <p:sldId id="371" r:id="rId63"/>
    <p:sldId id="372" r:id="rId64"/>
    <p:sldId id="373" r:id="rId65"/>
    <p:sldId id="335" r:id="rId66"/>
  </p:sldIdLst>
  <p:sldSz cx="12192000" cy="6858000"/>
  <p:notesSz cx="9236075"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1516"/>
    <a:srgbClr val="71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726"/>
    <p:restoredTop sz="77823"/>
  </p:normalViewPr>
  <p:slideViewPr>
    <p:cSldViewPr snapToGrid="0">
      <p:cViewPr varScale="1">
        <p:scale>
          <a:sx n="98" d="100"/>
          <a:sy n="98" d="100"/>
        </p:scale>
        <p:origin x="2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02299" cy="351737"/>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5231639" y="1"/>
            <a:ext cx="4002299" cy="351737"/>
          </a:xfrm>
          <a:prstGeom prst="rect">
            <a:avLst/>
          </a:prstGeom>
        </p:spPr>
        <p:txBody>
          <a:bodyPr vert="horz" lIns="92830" tIns="46415" rIns="92830" bIns="46415" rtlCol="0"/>
          <a:lstStyle>
            <a:lvl1pPr algn="r">
              <a:defRPr sz="1200"/>
            </a:lvl1pPr>
          </a:lstStyle>
          <a:p>
            <a:fld id="{FD7A750D-B7C7-4E4C-8ABB-988029B5B835}" type="datetimeFigureOut">
              <a:rPr lang="en-US" smtClean="0"/>
              <a:t>10/27/25</a:t>
            </a:fld>
            <a:endParaRPr lang="en-US"/>
          </a:p>
        </p:txBody>
      </p:sp>
      <p:sp>
        <p:nvSpPr>
          <p:cNvPr id="4" name="Slide Image Placeholder 3"/>
          <p:cNvSpPr>
            <a:spLocks noGrp="1" noRot="1" noChangeAspect="1"/>
          </p:cNvSpPr>
          <p:nvPr>
            <p:ph type="sldImg" idx="2"/>
          </p:nvPr>
        </p:nvSpPr>
        <p:spPr>
          <a:xfrm>
            <a:off x="2516188" y="876300"/>
            <a:ext cx="4203700" cy="2365375"/>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923608" y="3373754"/>
            <a:ext cx="7388860" cy="2760346"/>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02299" cy="351736"/>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5231639" y="6658664"/>
            <a:ext cx="4002299" cy="351736"/>
          </a:xfrm>
          <a:prstGeom prst="rect">
            <a:avLst/>
          </a:prstGeom>
        </p:spPr>
        <p:txBody>
          <a:bodyPr vert="horz" lIns="92830" tIns="46415" rIns="92830" bIns="46415" rtlCol="0" anchor="b"/>
          <a:lstStyle>
            <a:lvl1pPr algn="r">
              <a:defRPr sz="1200"/>
            </a:lvl1pPr>
          </a:lstStyle>
          <a:p>
            <a:fld id="{466533D6-0F13-4849-BB80-CD7A57A6E6F5}" type="slidenum">
              <a:rPr lang="en-US" smtClean="0"/>
              <a:t>‹#›</a:t>
            </a:fld>
            <a:endParaRPr lang="en-US"/>
          </a:p>
        </p:txBody>
      </p:sp>
    </p:spTree>
    <p:extLst>
      <p:ext uri="{BB962C8B-B14F-4D97-AF65-F5344CB8AC3E}">
        <p14:creationId xmlns:p14="http://schemas.microsoft.com/office/powerpoint/2010/main" val="191172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a:t>
            </a:fld>
            <a:endParaRPr lang="en-US"/>
          </a:p>
        </p:txBody>
      </p:sp>
    </p:spTree>
    <p:extLst>
      <p:ext uri="{BB962C8B-B14F-4D97-AF65-F5344CB8AC3E}">
        <p14:creationId xmlns:p14="http://schemas.microsoft.com/office/powerpoint/2010/main" val="2987666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2</a:t>
            </a:fld>
            <a:endParaRPr lang="en-US"/>
          </a:p>
        </p:txBody>
      </p:sp>
    </p:spTree>
    <p:extLst>
      <p:ext uri="{BB962C8B-B14F-4D97-AF65-F5344CB8AC3E}">
        <p14:creationId xmlns:p14="http://schemas.microsoft.com/office/powerpoint/2010/main" val="967461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3</a:t>
            </a:fld>
            <a:endParaRPr lang="en-US"/>
          </a:p>
        </p:txBody>
      </p:sp>
    </p:spTree>
    <p:extLst>
      <p:ext uri="{BB962C8B-B14F-4D97-AF65-F5344CB8AC3E}">
        <p14:creationId xmlns:p14="http://schemas.microsoft.com/office/powerpoint/2010/main" val="1702587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4</a:t>
            </a:fld>
            <a:endParaRPr lang="en-US"/>
          </a:p>
        </p:txBody>
      </p:sp>
    </p:spTree>
    <p:extLst>
      <p:ext uri="{BB962C8B-B14F-4D97-AF65-F5344CB8AC3E}">
        <p14:creationId xmlns:p14="http://schemas.microsoft.com/office/powerpoint/2010/main" val="2694444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5</a:t>
            </a:fld>
            <a:endParaRPr lang="en-US"/>
          </a:p>
        </p:txBody>
      </p:sp>
    </p:spTree>
    <p:extLst>
      <p:ext uri="{BB962C8B-B14F-4D97-AF65-F5344CB8AC3E}">
        <p14:creationId xmlns:p14="http://schemas.microsoft.com/office/powerpoint/2010/main" val="2518647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6</a:t>
            </a:fld>
            <a:endParaRPr lang="en-US"/>
          </a:p>
        </p:txBody>
      </p:sp>
    </p:spTree>
    <p:extLst>
      <p:ext uri="{BB962C8B-B14F-4D97-AF65-F5344CB8AC3E}">
        <p14:creationId xmlns:p14="http://schemas.microsoft.com/office/powerpoint/2010/main" val="4166600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8</a:t>
            </a:fld>
            <a:endParaRPr lang="en-US"/>
          </a:p>
        </p:txBody>
      </p:sp>
    </p:spTree>
    <p:extLst>
      <p:ext uri="{BB962C8B-B14F-4D97-AF65-F5344CB8AC3E}">
        <p14:creationId xmlns:p14="http://schemas.microsoft.com/office/powerpoint/2010/main" val="2767098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9</a:t>
            </a:fld>
            <a:endParaRPr lang="en-US"/>
          </a:p>
        </p:txBody>
      </p:sp>
    </p:spTree>
    <p:extLst>
      <p:ext uri="{BB962C8B-B14F-4D97-AF65-F5344CB8AC3E}">
        <p14:creationId xmlns:p14="http://schemas.microsoft.com/office/powerpoint/2010/main" val="1408378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10</a:t>
            </a:fld>
            <a:endParaRPr lang="en-US"/>
          </a:p>
        </p:txBody>
      </p:sp>
    </p:spTree>
    <p:extLst>
      <p:ext uri="{BB962C8B-B14F-4D97-AF65-F5344CB8AC3E}">
        <p14:creationId xmlns:p14="http://schemas.microsoft.com/office/powerpoint/2010/main" val="2964935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11</a:t>
            </a:fld>
            <a:endParaRPr lang="en-US"/>
          </a:p>
        </p:txBody>
      </p:sp>
    </p:spTree>
    <p:extLst>
      <p:ext uri="{BB962C8B-B14F-4D97-AF65-F5344CB8AC3E}">
        <p14:creationId xmlns:p14="http://schemas.microsoft.com/office/powerpoint/2010/main" val="2535527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12</a:t>
            </a:fld>
            <a:endParaRPr lang="en-US"/>
          </a:p>
        </p:txBody>
      </p:sp>
    </p:spTree>
    <p:extLst>
      <p:ext uri="{BB962C8B-B14F-4D97-AF65-F5344CB8AC3E}">
        <p14:creationId xmlns:p14="http://schemas.microsoft.com/office/powerpoint/2010/main" val="12795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13</a:t>
            </a:fld>
            <a:endParaRPr lang="en-US"/>
          </a:p>
        </p:txBody>
      </p:sp>
    </p:spTree>
    <p:extLst>
      <p:ext uri="{BB962C8B-B14F-4D97-AF65-F5344CB8AC3E}">
        <p14:creationId xmlns:p14="http://schemas.microsoft.com/office/powerpoint/2010/main" val="1055859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14</a:t>
            </a:fld>
            <a:endParaRPr lang="en-US"/>
          </a:p>
        </p:txBody>
      </p:sp>
    </p:spTree>
    <p:extLst>
      <p:ext uri="{BB962C8B-B14F-4D97-AF65-F5344CB8AC3E}">
        <p14:creationId xmlns:p14="http://schemas.microsoft.com/office/powerpoint/2010/main" val="233894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16</a:t>
            </a:fld>
            <a:endParaRPr lang="en-US"/>
          </a:p>
        </p:txBody>
      </p:sp>
    </p:spTree>
    <p:extLst>
      <p:ext uri="{BB962C8B-B14F-4D97-AF65-F5344CB8AC3E}">
        <p14:creationId xmlns:p14="http://schemas.microsoft.com/office/powerpoint/2010/main" val="2234318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17</a:t>
            </a:fld>
            <a:endParaRPr lang="en-US"/>
          </a:p>
        </p:txBody>
      </p:sp>
    </p:spTree>
    <p:extLst>
      <p:ext uri="{BB962C8B-B14F-4D97-AF65-F5344CB8AC3E}">
        <p14:creationId xmlns:p14="http://schemas.microsoft.com/office/powerpoint/2010/main" val="15941745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Disclaimer: arguably for the never-takers, being drafted DOES affect downstream earnings, since if they are drafted and have to dodge the draft, they may take steps that they wouldn’t otherwise (going to Canada, going to school, </a:t>
            </a:r>
            <a:r>
              <a:rPr lang="en-US" dirty="0" err="1"/>
              <a:t>etc</a:t>
            </a:r>
            <a:r>
              <a:rPr lang="en-US" dirty="0"/>
              <a:t>), which probably would effect their earnings.</a:t>
            </a:r>
          </a:p>
        </p:txBody>
      </p:sp>
      <p:sp>
        <p:nvSpPr>
          <p:cNvPr id="4" name="Slide Number Placeholder 3"/>
          <p:cNvSpPr>
            <a:spLocks noGrp="1"/>
          </p:cNvSpPr>
          <p:nvPr>
            <p:ph type="sldNum" sz="quarter" idx="5"/>
          </p:nvPr>
        </p:nvSpPr>
        <p:spPr/>
        <p:txBody>
          <a:bodyPr/>
          <a:lstStyle/>
          <a:p>
            <a:fld id="{466533D6-0F13-4849-BB80-CD7A57A6E6F5}" type="slidenum">
              <a:rPr lang="en-US" smtClean="0"/>
              <a:t>18</a:t>
            </a:fld>
            <a:endParaRPr lang="en-US"/>
          </a:p>
        </p:txBody>
      </p:sp>
    </p:spTree>
    <p:extLst>
      <p:ext uri="{BB962C8B-B14F-4D97-AF65-F5344CB8AC3E}">
        <p14:creationId xmlns:p14="http://schemas.microsoft.com/office/powerpoint/2010/main" val="2233753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19</a:t>
            </a:fld>
            <a:endParaRPr lang="en-US"/>
          </a:p>
        </p:txBody>
      </p:sp>
    </p:spTree>
    <p:extLst>
      <p:ext uri="{BB962C8B-B14F-4D97-AF65-F5344CB8AC3E}">
        <p14:creationId xmlns:p14="http://schemas.microsoft.com/office/powerpoint/2010/main" val="41284852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20</a:t>
            </a:fld>
            <a:endParaRPr lang="en-US"/>
          </a:p>
        </p:txBody>
      </p:sp>
    </p:spTree>
    <p:extLst>
      <p:ext uri="{BB962C8B-B14F-4D97-AF65-F5344CB8AC3E}">
        <p14:creationId xmlns:p14="http://schemas.microsoft.com/office/powerpoint/2010/main" val="3152315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21</a:t>
            </a:fld>
            <a:endParaRPr lang="en-US"/>
          </a:p>
        </p:txBody>
      </p:sp>
    </p:spTree>
    <p:extLst>
      <p:ext uri="{BB962C8B-B14F-4D97-AF65-F5344CB8AC3E}">
        <p14:creationId xmlns:p14="http://schemas.microsoft.com/office/powerpoint/2010/main" val="2129931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22</a:t>
            </a:fld>
            <a:endParaRPr lang="en-US"/>
          </a:p>
        </p:txBody>
      </p:sp>
    </p:spTree>
    <p:extLst>
      <p:ext uri="{BB962C8B-B14F-4D97-AF65-F5344CB8AC3E}">
        <p14:creationId xmlns:p14="http://schemas.microsoft.com/office/powerpoint/2010/main" val="2816826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23</a:t>
            </a:fld>
            <a:endParaRPr lang="en-US"/>
          </a:p>
        </p:txBody>
      </p:sp>
    </p:spTree>
    <p:extLst>
      <p:ext uri="{BB962C8B-B14F-4D97-AF65-F5344CB8AC3E}">
        <p14:creationId xmlns:p14="http://schemas.microsoft.com/office/powerpoint/2010/main" val="2359549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24</a:t>
            </a:fld>
            <a:endParaRPr lang="en-US"/>
          </a:p>
        </p:txBody>
      </p:sp>
    </p:spTree>
    <p:extLst>
      <p:ext uri="{BB962C8B-B14F-4D97-AF65-F5344CB8AC3E}">
        <p14:creationId xmlns:p14="http://schemas.microsoft.com/office/powerpoint/2010/main" val="35216841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Why is LATE = (ATE of draft on earnings) / (ATE of draft on serving)?</a:t>
            </a:r>
          </a:p>
          <a:p>
            <a:r>
              <a:rPr lang="en-US"/>
              <a:t>https://www.polleverywhere.com/multiple_choice_polls/l93AAMCDpo3b5PH40n0ve?display_state=instructions&amp;activity_state=opened&amp;state=opened&amp;flow=Engagement&amp;onscreen=persist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C1B3F40B-6583-544B-8B7E-D43E25739ECE}" type="slidenum">
              <a:rPr lang="en-US" smtClean="0"/>
              <a:t>25</a:t>
            </a:fld>
            <a:endParaRPr lang="en-US"/>
          </a:p>
        </p:txBody>
      </p:sp>
    </p:spTree>
    <p:extLst>
      <p:ext uri="{BB962C8B-B14F-4D97-AF65-F5344CB8AC3E}">
        <p14:creationId xmlns:p14="http://schemas.microsoft.com/office/powerpoint/2010/main" val="9876078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Why is LATE = (ATE of draft on earnings) / (ATE of draft on serving)?</a:t>
            </a:r>
          </a:p>
          <a:p>
            <a:r>
              <a:rPr lang="en-US"/>
              <a:t>https://www.polleverywhere.com/multiple_choice_polls/l93AAMCDpo3b5PH40n0ve?display_state=chart&amp;activity_state=opened&amp;state=opened&amp;flow=Engagement&amp;onscreen=persist</a:t>
            </a:r>
          </a:p>
        </p:txBody>
      </p:sp>
      <p:sp>
        <p:nvSpPr>
          <p:cNvPr id="4" name="Slide Number Placeholder 3"/>
          <p:cNvSpPr>
            <a:spLocks noGrp="1"/>
          </p:cNvSpPr>
          <p:nvPr>
            <p:ph type="sldNum" sz="quarter" idx="5"/>
          </p:nvPr>
        </p:nvSpPr>
        <p:spPr/>
        <p:txBody>
          <a:bodyPr/>
          <a:lstStyle/>
          <a:p>
            <a:fld id="{C1B3F40B-6583-544B-8B7E-D43E25739ECE}" type="slidenum">
              <a:rPr lang="en-US" smtClean="0"/>
              <a:t>26</a:t>
            </a:fld>
            <a:endParaRPr lang="en-US"/>
          </a:p>
        </p:txBody>
      </p:sp>
    </p:spTree>
    <p:extLst>
      <p:ext uri="{BB962C8B-B14F-4D97-AF65-F5344CB8AC3E}">
        <p14:creationId xmlns:p14="http://schemas.microsoft.com/office/powerpoint/2010/main" val="1398334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Why is LATE = (ATE of draft on earnings) / (ATE of draft on serving)?</a:t>
            </a:r>
          </a:p>
          <a:p>
            <a:r>
              <a:rPr lang="en-US"/>
              <a:t>https://www.polleverywhere.com/multiple_choice_polls/l93AAMCDpo3b5PH40n0ve?display_state=chart&amp;activity_state=closed&amp;state=closed&amp;flow=Engagement&amp;onscreen=persist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C1B3F40B-6583-544B-8B7E-D43E25739ECE}" type="slidenum">
              <a:rPr lang="en-US" smtClean="0"/>
              <a:t>27</a:t>
            </a:fld>
            <a:endParaRPr lang="en-US"/>
          </a:p>
        </p:txBody>
      </p:sp>
    </p:spTree>
    <p:extLst>
      <p:ext uri="{BB962C8B-B14F-4D97-AF65-F5344CB8AC3E}">
        <p14:creationId xmlns:p14="http://schemas.microsoft.com/office/powerpoint/2010/main" val="3056348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28</a:t>
            </a:fld>
            <a:endParaRPr lang="en-US"/>
          </a:p>
        </p:txBody>
      </p:sp>
    </p:spTree>
    <p:extLst>
      <p:ext uri="{BB962C8B-B14F-4D97-AF65-F5344CB8AC3E}">
        <p14:creationId xmlns:p14="http://schemas.microsoft.com/office/powerpoint/2010/main" val="4823407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29</a:t>
            </a:fld>
            <a:endParaRPr lang="en-US"/>
          </a:p>
        </p:txBody>
      </p:sp>
    </p:spTree>
    <p:extLst>
      <p:ext uri="{BB962C8B-B14F-4D97-AF65-F5344CB8AC3E}">
        <p14:creationId xmlns:p14="http://schemas.microsoft.com/office/powerpoint/2010/main" val="33797461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30</a:t>
            </a:fld>
            <a:endParaRPr lang="en-US"/>
          </a:p>
        </p:txBody>
      </p:sp>
    </p:spTree>
    <p:extLst>
      <p:ext uri="{BB962C8B-B14F-4D97-AF65-F5344CB8AC3E}">
        <p14:creationId xmlns:p14="http://schemas.microsoft.com/office/powerpoint/2010/main" val="30301500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Why is LATE = (ATE of draft on earnings) / (ATE of draft on serving)?</a:t>
            </a:r>
          </a:p>
          <a:p>
            <a:r>
              <a:rPr lang="en-US"/>
              <a:t>https://www.polleverywhere.com/multiple_choice_polls/kjVqKBh2bxRbY4ZkyOVJC?display_state=instructions&amp;activity_state=opened&amp;state=opened&amp;flow=Engagement&amp;onscreen=persist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C1B3F40B-6583-544B-8B7E-D43E25739ECE}" type="slidenum">
              <a:rPr lang="en-US" smtClean="0"/>
              <a:t>31</a:t>
            </a:fld>
            <a:endParaRPr lang="en-US"/>
          </a:p>
        </p:txBody>
      </p:sp>
    </p:spTree>
    <p:extLst>
      <p:ext uri="{BB962C8B-B14F-4D97-AF65-F5344CB8AC3E}">
        <p14:creationId xmlns:p14="http://schemas.microsoft.com/office/powerpoint/2010/main" val="1452478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Why is LATE = (ATE of draft on earnings) / (ATE of draft on serving)?</a:t>
            </a:r>
          </a:p>
          <a:p>
            <a:r>
              <a:rPr lang="en-US"/>
              <a:t>https://www.polleverywhere.com/multiple_choice_polls/kjVqKBh2bxRbY4ZkyOVJC?display_state=chart&amp;activity_state=opened&amp;state=opened&amp;flow=Engagement&amp;onscreen=persist</a:t>
            </a:r>
          </a:p>
        </p:txBody>
      </p:sp>
      <p:sp>
        <p:nvSpPr>
          <p:cNvPr id="4" name="Slide Number Placeholder 3"/>
          <p:cNvSpPr>
            <a:spLocks noGrp="1"/>
          </p:cNvSpPr>
          <p:nvPr>
            <p:ph type="sldNum" sz="quarter" idx="5"/>
          </p:nvPr>
        </p:nvSpPr>
        <p:spPr/>
        <p:txBody>
          <a:bodyPr/>
          <a:lstStyle/>
          <a:p>
            <a:fld id="{C1B3F40B-6583-544B-8B7E-D43E25739ECE}" type="slidenum">
              <a:rPr lang="en-US" smtClean="0"/>
              <a:t>32</a:t>
            </a:fld>
            <a:endParaRPr lang="en-US"/>
          </a:p>
        </p:txBody>
      </p:sp>
    </p:spTree>
    <p:extLst>
      <p:ext uri="{BB962C8B-B14F-4D97-AF65-F5344CB8AC3E}">
        <p14:creationId xmlns:p14="http://schemas.microsoft.com/office/powerpoint/2010/main" val="31829859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Why is LATE = (ATE of draft on earnings) / (ATE of draft on serving)?</a:t>
            </a:r>
          </a:p>
          <a:p>
            <a:r>
              <a:rPr lang="en-US"/>
              <a:t>https://www.polleverywhere.com/multiple_choice_polls/kjVqKBh2bxRbY4ZkyOVJC?display_state=chart&amp;activity_state=closed&amp;state=closed&amp;flow=Engagement&amp;onscreen=persist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C1B3F40B-6583-544B-8B7E-D43E25739ECE}" type="slidenum">
              <a:rPr lang="en-US" smtClean="0"/>
              <a:t>33</a:t>
            </a:fld>
            <a:endParaRPr lang="en-US"/>
          </a:p>
        </p:txBody>
      </p:sp>
    </p:spTree>
    <p:extLst>
      <p:ext uri="{BB962C8B-B14F-4D97-AF65-F5344CB8AC3E}">
        <p14:creationId xmlns:p14="http://schemas.microsoft.com/office/powerpoint/2010/main" val="34456306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34</a:t>
            </a:fld>
            <a:endParaRPr lang="en-US"/>
          </a:p>
        </p:txBody>
      </p:sp>
    </p:spTree>
    <p:extLst>
      <p:ext uri="{BB962C8B-B14F-4D97-AF65-F5344CB8AC3E}">
        <p14:creationId xmlns:p14="http://schemas.microsoft.com/office/powerpoint/2010/main" val="7731856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35</a:t>
            </a:fld>
            <a:endParaRPr lang="en-US"/>
          </a:p>
        </p:txBody>
      </p:sp>
    </p:spTree>
    <p:extLst>
      <p:ext uri="{BB962C8B-B14F-4D97-AF65-F5344CB8AC3E}">
        <p14:creationId xmlns:p14="http://schemas.microsoft.com/office/powerpoint/2010/main" val="23365733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36</a:t>
            </a:fld>
            <a:endParaRPr lang="en-US"/>
          </a:p>
        </p:txBody>
      </p:sp>
    </p:spTree>
    <p:extLst>
      <p:ext uri="{BB962C8B-B14F-4D97-AF65-F5344CB8AC3E}">
        <p14:creationId xmlns:p14="http://schemas.microsoft.com/office/powerpoint/2010/main" val="20082290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37</a:t>
            </a:fld>
            <a:endParaRPr lang="en-US"/>
          </a:p>
        </p:txBody>
      </p:sp>
    </p:spTree>
    <p:extLst>
      <p:ext uri="{BB962C8B-B14F-4D97-AF65-F5344CB8AC3E}">
        <p14:creationId xmlns:p14="http://schemas.microsoft.com/office/powerpoint/2010/main" val="17102845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38</a:t>
            </a:fld>
            <a:endParaRPr lang="en-US"/>
          </a:p>
        </p:txBody>
      </p:sp>
    </p:spTree>
    <p:extLst>
      <p:ext uri="{BB962C8B-B14F-4D97-AF65-F5344CB8AC3E}">
        <p14:creationId xmlns:p14="http://schemas.microsoft.com/office/powerpoint/2010/main" val="9606130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39</a:t>
            </a:fld>
            <a:endParaRPr lang="en-US"/>
          </a:p>
        </p:txBody>
      </p:sp>
    </p:spTree>
    <p:extLst>
      <p:ext uri="{BB962C8B-B14F-4D97-AF65-F5344CB8AC3E}">
        <p14:creationId xmlns:p14="http://schemas.microsoft.com/office/powerpoint/2010/main" val="9522629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45</a:t>
            </a:fld>
            <a:endParaRPr lang="en-US"/>
          </a:p>
        </p:txBody>
      </p:sp>
    </p:spTree>
    <p:extLst>
      <p:ext uri="{BB962C8B-B14F-4D97-AF65-F5344CB8AC3E}">
        <p14:creationId xmlns:p14="http://schemas.microsoft.com/office/powerpoint/2010/main" val="36097551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46</a:t>
            </a:fld>
            <a:endParaRPr lang="en-US"/>
          </a:p>
        </p:txBody>
      </p:sp>
    </p:spTree>
    <p:extLst>
      <p:ext uri="{BB962C8B-B14F-4D97-AF65-F5344CB8AC3E}">
        <p14:creationId xmlns:p14="http://schemas.microsoft.com/office/powerpoint/2010/main" val="6028495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47</a:t>
            </a:fld>
            <a:endParaRPr lang="en-US"/>
          </a:p>
        </p:txBody>
      </p:sp>
    </p:spTree>
    <p:extLst>
      <p:ext uri="{BB962C8B-B14F-4D97-AF65-F5344CB8AC3E}">
        <p14:creationId xmlns:p14="http://schemas.microsoft.com/office/powerpoint/2010/main" val="22028397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48</a:t>
            </a:fld>
            <a:endParaRPr lang="en-US"/>
          </a:p>
        </p:txBody>
      </p:sp>
    </p:spTree>
    <p:extLst>
      <p:ext uri="{BB962C8B-B14F-4D97-AF65-F5344CB8AC3E}">
        <p14:creationId xmlns:p14="http://schemas.microsoft.com/office/powerpoint/2010/main" val="18990809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50</a:t>
            </a:fld>
            <a:endParaRPr lang="en-US"/>
          </a:p>
        </p:txBody>
      </p:sp>
    </p:spTree>
    <p:extLst>
      <p:ext uri="{BB962C8B-B14F-4D97-AF65-F5344CB8AC3E}">
        <p14:creationId xmlns:p14="http://schemas.microsoft.com/office/powerpoint/2010/main" val="7421558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51</a:t>
            </a:fld>
            <a:endParaRPr lang="en-US"/>
          </a:p>
        </p:txBody>
      </p:sp>
    </p:spTree>
    <p:extLst>
      <p:ext uri="{BB962C8B-B14F-4D97-AF65-F5344CB8AC3E}">
        <p14:creationId xmlns:p14="http://schemas.microsoft.com/office/powerpoint/2010/main" val="40184158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52</a:t>
            </a:fld>
            <a:endParaRPr lang="en-US"/>
          </a:p>
        </p:txBody>
      </p:sp>
    </p:spTree>
    <p:extLst>
      <p:ext uri="{BB962C8B-B14F-4D97-AF65-F5344CB8AC3E}">
        <p14:creationId xmlns:p14="http://schemas.microsoft.com/office/powerpoint/2010/main" val="35030296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53</a:t>
            </a:fld>
            <a:endParaRPr lang="en-US"/>
          </a:p>
        </p:txBody>
      </p:sp>
    </p:spTree>
    <p:extLst>
      <p:ext uri="{BB962C8B-B14F-4D97-AF65-F5344CB8AC3E}">
        <p14:creationId xmlns:p14="http://schemas.microsoft.com/office/powerpoint/2010/main" val="35150551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54</a:t>
            </a:fld>
            <a:endParaRPr lang="en-US"/>
          </a:p>
        </p:txBody>
      </p:sp>
    </p:spTree>
    <p:extLst>
      <p:ext uri="{BB962C8B-B14F-4D97-AF65-F5344CB8AC3E}">
        <p14:creationId xmlns:p14="http://schemas.microsoft.com/office/powerpoint/2010/main" val="537928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55</a:t>
            </a:fld>
            <a:endParaRPr lang="en-US"/>
          </a:p>
        </p:txBody>
      </p:sp>
    </p:spTree>
    <p:extLst>
      <p:ext uri="{BB962C8B-B14F-4D97-AF65-F5344CB8AC3E}">
        <p14:creationId xmlns:p14="http://schemas.microsoft.com/office/powerpoint/2010/main" val="15717457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56</a:t>
            </a:fld>
            <a:endParaRPr lang="en-US"/>
          </a:p>
        </p:txBody>
      </p:sp>
    </p:spTree>
    <p:extLst>
      <p:ext uri="{BB962C8B-B14F-4D97-AF65-F5344CB8AC3E}">
        <p14:creationId xmlns:p14="http://schemas.microsoft.com/office/powerpoint/2010/main" val="31971030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57</a:t>
            </a:fld>
            <a:endParaRPr lang="en-US"/>
          </a:p>
        </p:txBody>
      </p:sp>
    </p:spTree>
    <p:extLst>
      <p:ext uri="{BB962C8B-B14F-4D97-AF65-F5344CB8AC3E}">
        <p14:creationId xmlns:p14="http://schemas.microsoft.com/office/powerpoint/2010/main" val="16600821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58</a:t>
            </a:fld>
            <a:endParaRPr lang="en-US"/>
          </a:p>
        </p:txBody>
      </p:sp>
    </p:spTree>
    <p:extLst>
      <p:ext uri="{BB962C8B-B14F-4D97-AF65-F5344CB8AC3E}">
        <p14:creationId xmlns:p14="http://schemas.microsoft.com/office/powerpoint/2010/main" val="5802591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59</a:t>
            </a:fld>
            <a:endParaRPr lang="en-US"/>
          </a:p>
        </p:txBody>
      </p:sp>
    </p:spTree>
    <p:extLst>
      <p:ext uri="{BB962C8B-B14F-4D97-AF65-F5344CB8AC3E}">
        <p14:creationId xmlns:p14="http://schemas.microsoft.com/office/powerpoint/2010/main" val="27348117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6533D6-0F13-4849-BB80-CD7A57A6E6F5}" type="slidenum">
              <a:rPr lang="en-US" smtClean="0"/>
              <a:t>60</a:t>
            </a:fld>
            <a:endParaRPr lang="en-US"/>
          </a:p>
        </p:txBody>
      </p:sp>
    </p:spTree>
    <p:extLst>
      <p:ext uri="{BB962C8B-B14F-4D97-AF65-F5344CB8AC3E}">
        <p14:creationId xmlns:p14="http://schemas.microsoft.com/office/powerpoint/2010/main" val="32900491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62</a:t>
            </a:fld>
            <a:endParaRPr lang="en-US"/>
          </a:p>
        </p:txBody>
      </p:sp>
    </p:spTree>
    <p:extLst>
      <p:ext uri="{BB962C8B-B14F-4D97-AF65-F5344CB8AC3E}">
        <p14:creationId xmlns:p14="http://schemas.microsoft.com/office/powerpoint/2010/main" val="22352736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63</a:t>
            </a:fld>
            <a:endParaRPr lang="en-US"/>
          </a:p>
        </p:txBody>
      </p:sp>
    </p:spTree>
    <p:extLst>
      <p:ext uri="{BB962C8B-B14F-4D97-AF65-F5344CB8AC3E}">
        <p14:creationId xmlns:p14="http://schemas.microsoft.com/office/powerpoint/2010/main" val="7754372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6533D6-0F13-4849-BB80-CD7A57A6E6F5}" type="slidenum">
              <a:rPr lang="en-US" smtClean="0"/>
              <a:t>64</a:t>
            </a:fld>
            <a:endParaRPr lang="en-US"/>
          </a:p>
        </p:txBody>
      </p:sp>
    </p:spTree>
    <p:extLst>
      <p:ext uri="{BB962C8B-B14F-4D97-AF65-F5344CB8AC3E}">
        <p14:creationId xmlns:p14="http://schemas.microsoft.com/office/powerpoint/2010/main" val="9409888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1E6818-5228-6746-93C7-81444766F2C7}" type="slidenum">
              <a:rPr lang="en-US" smtClean="0"/>
              <a:t>65</a:t>
            </a:fld>
            <a:endParaRPr lang="en-US"/>
          </a:p>
        </p:txBody>
      </p:sp>
    </p:spTree>
    <p:extLst>
      <p:ext uri="{BB962C8B-B14F-4D97-AF65-F5344CB8AC3E}">
        <p14:creationId xmlns:p14="http://schemas.microsoft.com/office/powerpoint/2010/main" val="4164360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DF170-811C-2B31-C0B0-862E91A4B4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07CCEDE-52CB-FB5A-D84F-1DE2B0FF2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20654C-3E45-A586-A8CF-27C2F44FD84E}"/>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5" name="Footer Placeholder 4">
            <a:extLst>
              <a:ext uri="{FF2B5EF4-FFF2-40B4-BE49-F238E27FC236}">
                <a16:creationId xmlns:a16="http://schemas.microsoft.com/office/drawing/2014/main" id="{B5F3FB41-6698-A8A3-9568-A48F195053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5500EE-EA0C-D40A-DD27-0D0C4B373C78}"/>
              </a:ext>
            </a:extLst>
          </p:cNvPr>
          <p:cNvSpPr>
            <a:spLocks noGrp="1"/>
          </p:cNvSpPr>
          <p:nvPr>
            <p:ph type="sldNum" sz="quarter" idx="12"/>
          </p:nvPr>
        </p:nvSpPr>
        <p:spPr/>
        <p:txBody>
          <a:bodyPr/>
          <a:lstStyle/>
          <a:p>
            <a:fld id="{9D4A35CC-C70A-4792-B171-5A9C7364B6D5}" type="slidenum">
              <a:rPr lang="en-US" smtClean="0"/>
              <a:t>‹#›</a:t>
            </a:fld>
            <a:endParaRPr lang="en-US"/>
          </a:p>
        </p:txBody>
      </p:sp>
    </p:spTree>
    <p:extLst>
      <p:ext uri="{BB962C8B-B14F-4D97-AF65-F5344CB8AC3E}">
        <p14:creationId xmlns:p14="http://schemas.microsoft.com/office/powerpoint/2010/main" val="139154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F521-5D56-2266-8D85-8DD46238AAC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E0C1307-B2F1-2310-0212-94140F1A5D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EADBA0A-585B-37F2-C235-0D07DF81F0C6}"/>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5" name="Footer Placeholder 4">
            <a:extLst>
              <a:ext uri="{FF2B5EF4-FFF2-40B4-BE49-F238E27FC236}">
                <a16:creationId xmlns:a16="http://schemas.microsoft.com/office/drawing/2014/main" id="{766C95D1-75E4-DBB9-137E-73D4F5ABD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8427C-7848-DA7C-8C53-9BD757009D8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B4FA992D-C6A1-04E6-6480-D6FF5834A1D9}"/>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98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9FEB4-A114-1406-AAC7-E6A9374762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F5736C-4324-7C32-AD7B-93A2A9C7E0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1F154-5E54-8A6E-32D1-50892B476E0D}"/>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5" name="Footer Placeholder 4">
            <a:extLst>
              <a:ext uri="{FF2B5EF4-FFF2-40B4-BE49-F238E27FC236}">
                <a16:creationId xmlns:a16="http://schemas.microsoft.com/office/drawing/2014/main" id="{5F89038B-6435-F39A-AE45-EC2277648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8BDF1E-A55C-2F2F-60EB-26E50943C5FB}"/>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2CC699B5-BC08-318D-27C2-159A3F84676E}"/>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368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E8BC7-37A9-2A41-A226-1AA2056C7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195DB0-B3D9-5AA8-0EBE-8DE243B43F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BC9C40-4553-98FF-B057-51D0631655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D316FA-702D-0970-98FC-C9857BDB916C}"/>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6" name="Footer Placeholder 5">
            <a:extLst>
              <a:ext uri="{FF2B5EF4-FFF2-40B4-BE49-F238E27FC236}">
                <a16:creationId xmlns:a16="http://schemas.microsoft.com/office/drawing/2014/main" id="{1E5F98C5-312D-43ED-B810-B24CF5C92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7E21C-8BB3-4F1E-CF27-B3C2310D0545}"/>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ADB9F7D-4293-E584-BB33-F33655869B04}"/>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78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B629-ED87-5F0F-C9BC-928A597F10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3799BA-B41E-6860-AA97-BD0EF6DD4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FE23B1-8B3C-B07C-FDE2-19F41F30B9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9C4BBA-5A0D-0E42-7483-493DBCED4B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716F14-27E0-D214-DE57-BB9CAF7B4F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BACE10-B3E3-AA96-7962-FFDFF715887E}"/>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8" name="Footer Placeholder 7">
            <a:extLst>
              <a:ext uri="{FF2B5EF4-FFF2-40B4-BE49-F238E27FC236}">
                <a16:creationId xmlns:a16="http://schemas.microsoft.com/office/drawing/2014/main" id="{A916E200-901C-8F02-918B-5D1D4D5827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EBD97F-62C3-7108-5E3B-4FCE958B80A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10" name="Rectangle 9">
            <a:extLst>
              <a:ext uri="{FF2B5EF4-FFF2-40B4-BE49-F238E27FC236}">
                <a16:creationId xmlns:a16="http://schemas.microsoft.com/office/drawing/2014/main" id="{513A5397-9352-EF76-A222-9B7EF3224C80}"/>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7937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D29A3-9228-EFA1-7EA8-320A5E4CDD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2B2899-CC6E-9662-436F-D08B922BA144}"/>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4" name="Footer Placeholder 3">
            <a:extLst>
              <a:ext uri="{FF2B5EF4-FFF2-40B4-BE49-F238E27FC236}">
                <a16:creationId xmlns:a16="http://schemas.microsoft.com/office/drawing/2014/main" id="{2F09471A-67C3-CA58-574B-353065996B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098AAE-7DA0-24C8-EAFB-429398606A0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6" name="Rectangle 5">
            <a:extLst>
              <a:ext uri="{FF2B5EF4-FFF2-40B4-BE49-F238E27FC236}">
                <a16:creationId xmlns:a16="http://schemas.microsoft.com/office/drawing/2014/main" id="{BA67E615-E4D7-8DF7-AC05-9434E1BD634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2147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657AF7-9EDB-A1C4-8FE7-E0FEEE544BC3}"/>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3" name="Footer Placeholder 2">
            <a:extLst>
              <a:ext uri="{FF2B5EF4-FFF2-40B4-BE49-F238E27FC236}">
                <a16:creationId xmlns:a16="http://schemas.microsoft.com/office/drawing/2014/main" id="{3EFB410C-9EC2-0283-7D97-C87FEBE2B3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0411A1-87A4-150F-6303-025F73278A83}"/>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5" name="Rectangle 4">
            <a:extLst>
              <a:ext uri="{FF2B5EF4-FFF2-40B4-BE49-F238E27FC236}">
                <a16:creationId xmlns:a16="http://schemas.microsoft.com/office/drawing/2014/main" id="{6BEC10DA-58DD-6058-72F5-37C7FA819707}"/>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176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9521-1256-3807-0A09-73CF197D1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5A0C9A-E639-327E-EAE2-4C18EEFBB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72BD3E-A8F9-C833-0D6E-E56DF294F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7D350-5EB9-6E86-2F02-CACFB7A7E0DA}"/>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6" name="Footer Placeholder 5">
            <a:extLst>
              <a:ext uri="{FF2B5EF4-FFF2-40B4-BE49-F238E27FC236}">
                <a16:creationId xmlns:a16="http://schemas.microsoft.com/office/drawing/2014/main" id="{56194B27-4321-6C96-5E6C-B4294A3A3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78C75-416A-15DA-A2DC-37E0ECED7DB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DD89290-EA5E-999A-9087-ED945E983F0D}"/>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80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BC17-AE68-BB5D-7E81-4CAFF8B6CB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C9BB58-A5B3-752C-C3CD-66BCD70B95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7F54B17-4878-2B1B-1EF4-2E2326955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C00598-743F-6934-3985-938F1E866A58}"/>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6" name="Footer Placeholder 5">
            <a:extLst>
              <a:ext uri="{FF2B5EF4-FFF2-40B4-BE49-F238E27FC236}">
                <a16:creationId xmlns:a16="http://schemas.microsoft.com/office/drawing/2014/main" id="{A7D902F9-7383-6CE3-298B-4DB50315F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34894E-3991-6152-5957-002E7265C88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66B84A78-F893-43A3-1D6F-4587823EF278}"/>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7147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4510-4B21-DC22-7420-9F84FC621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119451-B586-AA05-D054-A9F1923CE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7FC57-6205-2A78-80A0-BB6AA1CF03C7}"/>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5" name="Footer Placeholder 4">
            <a:extLst>
              <a:ext uri="{FF2B5EF4-FFF2-40B4-BE49-F238E27FC236}">
                <a16:creationId xmlns:a16="http://schemas.microsoft.com/office/drawing/2014/main" id="{A15B43F5-3769-91D9-F447-F3E44C42DA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62A88-1673-2416-F5B7-E12A4BECBDC2}"/>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6352AE72-8B3F-0851-5089-AC8CFF790B2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798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E1EEFA-D7BD-F80C-2B4C-0AEDA101A1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3C1D9E-E814-5FED-9B2B-78D71AEBE4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157526-7469-C9F1-34C8-B1F790EC8CFB}"/>
              </a:ext>
            </a:extLst>
          </p:cNvPr>
          <p:cNvSpPr>
            <a:spLocks noGrp="1"/>
          </p:cNvSpPr>
          <p:nvPr>
            <p:ph type="dt" sz="half" idx="10"/>
          </p:nvPr>
        </p:nvSpPr>
        <p:spPr/>
        <p:txBody>
          <a:bodyPr/>
          <a:lstStyle/>
          <a:p>
            <a:fld id="{7B1B529C-7AC4-498E-86D4-DC9A7DA9F898}" type="datetimeFigureOut">
              <a:rPr lang="en-US" smtClean="0"/>
              <a:t>10/27/25</a:t>
            </a:fld>
            <a:endParaRPr lang="en-US"/>
          </a:p>
        </p:txBody>
      </p:sp>
      <p:sp>
        <p:nvSpPr>
          <p:cNvPr id="5" name="Footer Placeholder 4">
            <a:extLst>
              <a:ext uri="{FF2B5EF4-FFF2-40B4-BE49-F238E27FC236}">
                <a16:creationId xmlns:a16="http://schemas.microsoft.com/office/drawing/2014/main" id="{525ADFC0-7CC2-BF2F-F56F-571E62AE49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4DFF3-379F-BDBB-5CAB-16B1BC40BEB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185E4D9E-0F99-E18D-52A5-55D652C32935}"/>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8811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close-up of a logo&#10;&#10;Description automatically generated">
            <a:extLst>
              <a:ext uri="{FF2B5EF4-FFF2-40B4-BE49-F238E27FC236}">
                <a16:creationId xmlns:a16="http://schemas.microsoft.com/office/drawing/2014/main" id="{45FD974E-6B30-074E-DCDA-B43A8313BDC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523705" y="6239790"/>
            <a:ext cx="1473924" cy="506170"/>
          </a:xfrm>
          <a:prstGeom prst="rect">
            <a:avLst/>
          </a:prstGeom>
        </p:spPr>
      </p:pic>
      <p:sp>
        <p:nvSpPr>
          <p:cNvPr id="2" name="Title Placeholder 1">
            <a:extLst>
              <a:ext uri="{FF2B5EF4-FFF2-40B4-BE49-F238E27FC236}">
                <a16:creationId xmlns:a16="http://schemas.microsoft.com/office/drawing/2014/main" id="{6770B608-161B-B8F7-D7A5-CED71D4B4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8A0E45-27EC-856E-DA78-F5A5903CB6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A56F89-8D60-6463-E4B5-485DB2E56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1B529C-7AC4-498E-86D4-DC9A7DA9F898}" type="datetimeFigureOut">
              <a:rPr lang="en-US" smtClean="0"/>
              <a:t>10/27/25</a:t>
            </a:fld>
            <a:endParaRPr lang="en-US"/>
          </a:p>
        </p:txBody>
      </p:sp>
      <p:sp>
        <p:nvSpPr>
          <p:cNvPr id="5" name="Footer Placeholder 4">
            <a:extLst>
              <a:ext uri="{FF2B5EF4-FFF2-40B4-BE49-F238E27FC236}">
                <a16:creationId xmlns:a16="http://schemas.microsoft.com/office/drawing/2014/main" id="{3AEDDFEF-E259-13F0-9373-3E1D0F6A2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B544F3-851E-BC68-C039-63A94D3C5E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4A35CC-C70A-4792-B171-5A9C7364B6D5}" type="slidenum">
              <a:rPr lang="en-US" smtClean="0"/>
              <a:t>‹#›</a:t>
            </a:fld>
            <a:endParaRPr lang="en-US"/>
          </a:p>
        </p:txBody>
      </p:sp>
    </p:spTree>
    <p:extLst>
      <p:ext uri="{BB962C8B-B14F-4D97-AF65-F5344CB8AC3E}">
        <p14:creationId xmlns:p14="http://schemas.microsoft.com/office/powerpoint/2010/main" val="177352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8C151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10.png"/><Relationship Id="rId4" Type="http://schemas.openxmlformats.org/officeDocument/2006/relationships/image" Target="../media/image4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1.png"/><Relationship Id="rId7"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10.png"/><Relationship Id="rId4" Type="http://schemas.openxmlformats.org/officeDocument/2006/relationships/image" Target="../media/image410.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0.png"/><Relationship Id="rId4" Type="http://schemas.openxmlformats.org/officeDocument/2006/relationships/image" Target="../media/image370.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54.png"/><Relationship Id="rId5" Type="http://schemas.openxmlformats.org/officeDocument/2006/relationships/image" Target="../media/image43.png"/><Relationship Id="rId10" Type="http://schemas.openxmlformats.org/officeDocument/2006/relationships/image" Target="../media/image53.png"/><Relationship Id="rId4" Type="http://schemas.openxmlformats.org/officeDocument/2006/relationships/image" Target="../media/image42.png"/><Relationship Id="rId9" Type="http://schemas.openxmlformats.org/officeDocument/2006/relationships/image" Target="../media/image52.png"/></Relationships>
</file>

<file path=ppt/slides/_rels/slide4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41.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59.png"/><Relationship Id="rId5" Type="http://schemas.openxmlformats.org/officeDocument/2006/relationships/image" Target="../media/image43.png"/><Relationship Id="rId10" Type="http://schemas.openxmlformats.org/officeDocument/2006/relationships/image" Target="../media/image58.png"/><Relationship Id="rId4" Type="http://schemas.openxmlformats.org/officeDocument/2006/relationships/image" Target="../media/image42.png"/><Relationship Id="rId9" Type="http://schemas.openxmlformats.org/officeDocument/2006/relationships/image" Target="../media/image57.png"/></Relationships>
</file>

<file path=ppt/slides/_rels/slide4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41.png"/><Relationship Id="rId7" Type="http://schemas.openxmlformats.org/officeDocument/2006/relationships/image" Target="../media/image55.png"/><Relationship Id="rId12" Type="http://schemas.openxmlformats.org/officeDocument/2006/relationships/image" Target="../media/image62.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61.png"/><Relationship Id="rId5" Type="http://schemas.openxmlformats.org/officeDocument/2006/relationships/image" Target="../media/image43.png"/><Relationship Id="rId10" Type="http://schemas.openxmlformats.org/officeDocument/2006/relationships/image" Target="../media/image580.png"/><Relationship Id="rId4" Type="http://schemas.openxmlformats.org/officeDocument/2006/relationships/image" Target="../media/image42.png"/><Relationship Id="rId9" Type="http://schemas.openxmlformats.org/officeDocument/2006/relationships/image" Target="../media/image57.png"/></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6.xml.rels><?xml version="1.0" encoding="UTF-8" standalone="yes"?>
<Relationships xmlns="http://schemas.openxmlformats.org/package/2006/relationships"><Relationship Id="rId3" Type="http://schemas.openxmlformats.org/officeDocument/2006/relationships/image" Target="../media/image630.png"/><Relationship Id="rId7"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7.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8.png"/><Relationship Id="rId7"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0.png"/></Relationships>
</file>

<file path=ppt/slides/_rels/slide51.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17.png"/></Relationships>
</file>

<file path=ppt/slides/_rels/slide57.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87.png"/><Relationship Id="rId5" Type="http://schemas.openxmlformats.org/officeDocument/2006/relationships/image" Target="../media/image15.png"/><Relationship Id="rId10" Type="http://schemas.openxmlformats.org/officeDocument/2006/relationships/image" Target="../media/image86.png"/><Relationship Id="rId4" Type="http://schemas.openxmlformats.org/officeDocument/2006/relationships/image" Target="../media/image17.png"/><Relationship Id="rId9" Type="http://schemas.openxmlformats.org/officeDocument/2006/relationships/image" Target="../media/image85.png"/></Relationships>
</file>

<file path=ppt/slides/_rels/slide5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7.png"/></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0.png"/><Relationship Id="rId4" Type="http://schemas.openxmlformats.org/officeDocument/2006/relationships/image" Target="../media/image89.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C1D9-70B5-19FA-D0DD-BC854C061688}"/>
              </a:ext>
            </a:extLst>
          </p:cNvPr>
          <p:cNvSpPr>
            <a:spLocks noGrp="1"/>
          </p:cNvSpPr>
          <p:nvPr>
            <p:ph type="ctrTitle"/>
          </p:nvPr>
        </p:nvSpPr>
        <p:spPr/>
        <p:txBody>
          <a:bodyPr>
            <a:normAutofit/>
          </a:bodyPr>
          <a:lstStyle/>
          <a:p>
            <a:r>
              <a:rPr lang="en-US" dirty="0"/>
              <a:t>Instrumental Variables</a:t>
            </a:r>
            <a:br>
              <a:rPr lang="en-US" dirty="0"/>
            </a:br>
            <a:r>
              <a:rPr lang="en-US" sz="2800" dirty="0"/>
              <a:t>and the effect of military service</a:t>
            </a:r>
            <a:endParaRPr lang="en-US" dirty="0"/>
          </a:p>
        </p:txBody>
      </p:sp>
      <p:sp>
        <p:nvSpPr>
          <p:cNvPr id="3" name="Subtitle 2">
            <a:extLst>
              <a:ext uri="{FF2B5EF4-FFF2-40B4-BE49-F238E27FC236}">
                <a16:creationId xmlns:a16="http://schemas.microsoft.com/office/drawing/2014/main" id="{C0F80D61-5B43-610D-8E79-F8D0D0A4B91C}"/>
              </a:ext>
            </a:extLst>
          </p:cNvPr>
          <p:cNvSpPr>
            <a:spLocks noGrp="1"/>
          </p:cNvSpPr>
          <p:nvPr>
            <p:ph type="subTitle" idx="1"/>
          </p:nvPr>
        </p:nvSpPr>
        <p:spPr/>
        <p:txBody>
          <a:bodyPr/>
          <a:lstStyle/>
          <a:p>
            <a:r>
              <a:rPr lang="en-US" dirty="0"/>
              <a:t>Causality, Decision-Making, and Data Science</a:t>
            </a:r>
          </a:p>
          <a:p>
            <a:r>
              <a:rPr lang="en-US" dirty="0"/>
              <a:t>Lecture 11</a:t>
            </a:r>
          </a:p>
        </p:txBody>
      </p:sp>
      <p:pic>
        <p:nvPicPr>
          <p:cNvPr id="4" name="Picture 2" descr="Hounder Black Red Honey Burst with Stiletto Hard Case">
            <a:extLst>
              <a:ext uri="{FF2B5EF4-FFF2-40B4-BE49-F238E27FC236}">
                <a16:creationId xmlns:a16="http://schemas.microsoft.com/office/drawing/2014/main" id="{B58CF376-5EEE-FE3B-2355-23BDEAC07B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244" y="906463"/>
            <a:ext cx="2819400" cy="281940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665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8A609-9D79-BDF7-4843-2D178D932E55}"/>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443BBD18-1293-4A2A-C04B-460E481E6F6F}"/>
              </a:ext>
            </a:extLst>
          </p:cNvPr>
          <p:cNvSpPr>
            <a:spLocks noGrp="1"/>
          </p:cNvSpPr>
          <p:nvPr>
            <p:ph idx="1"/>
          </p:nvPr>
        </p:nvSpPr>
        <p:spPr>
          <a:xfrm>
            <a:off x="838200" y="1825625"/>
            <a:ext cx="11144250" cy="4351338"/>
          </a:xfrm>
        </p:spPr>
        <p:txBody>
          <a:bodyPr/>
          <a:lstStyle/>
          <a:p>
            <a:r>
              <a:rPr lang="en-US" dirty="0"/>
              <a:t>HW3 part 1 due Monday!</a:t>
            </a:r>
          </a:p>
        </p:txBody>
      </p:sp>
    </p:spTree>
    <p:extLst>
      <p:ext uri="{BB962C8B-B14F-4D97-AF65-F5344CB8AC3E}">
        <p14:creationId xmlns:p14="http://schemas.microsoft.com/office/powerpoint/2010/main" val="224234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34573-8584-2D0B-B080-D9D21BE011D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DAEE3EBA-2983-0460-8F6B-A6D41AE61D8E}"/>
              </a:ext>
            </a:extLst>
          </p:cNvPr>
          <p:cNvSpPr>
            <a:spLocks noGrp="1"/>
          </p:cNvSpPr>
          <p:nvPr>
            <p:ph idx="1"/>
          </p:nvPr>
        </p:nvSpPr>
        <p:spPr/>
        <p:txBody>
          <a:bodyPr/>
          <a:lstStyle/>
          <a:p>
            <a:r>
              <a:rPr lang="en-US" dirty="0"/>
              <a:t>Instrumental Variables: High-Level Introduction</a:t>
            </a:r>
          </a:p>
          <a:p>
            <a:r>
              <a:rPr lang="en-US" dirty="0"/>
              <a:t>Example: Effects of Military Service</a:t>
            </a:r>
          </a:p>
          <a:p>
            <a:pPr lvl="1"/>
            <a:r>
              <a:rPr lang="en-US" dirty="0">
                <a:solidFill>
                  <a:schemeClr val="accent1"/>
                </a:solidFill>
              </a:rPr>
              <a:t>Compliance and Non-Compliance</a:t>
            </a:r>
          </a:p>
          <a:p>
            <a:pPr lvl="1"/>
            <a:r>
              <a:rPr lang="en-US" dirty="0">
                <a:solidFill>
                  <a:schemeClr val="accent1"/>
                </a:solidFill>
              </a:rPr>
              <a:t>Local Average Treatment Effects (LATE)</a:t>
            </a:r>
          </a:p>
          <a:p>
            <a:r>
              <a:rPr lang="en-US" dirty="0"/>
              <a:t>In general</a:t>
            </a:r>
          </a:p>
          <a:p>
            <a:pPr lvl="1"/>
            <a:r>
              <a:rPr lang="en-US" dirty="0">
                <a:solidFill>
                  <a:schemeClr val="accent1"/>
                </a:solidFill>
              </a:rPr>
              <a:t>Compliance and Non-Compliance</a:t>
            </a:r>
          </a:p>
          <a:p>
            <a:pPr lvl="1"/>
            <a:r>
              <a:rPr lang="en-US" dirty="0">
                <a:solidFill>
                  <a:schemeClr val="accent1"/>
                </a:solidFill>
              </a:rPr>
              <a:t>Local Average Treatment Effects (LATE)</a:t>
            </a:r>
          </a:p>
          <a:p>
            <a:r>
              <a:rPr lang="en-US" dirty="0"/>
              <a:t>Interpreting LATE: who are the compliers?</a:t>
            </a:r>
          </a:p>
        </p:txBody>
      </p:sp>
    </p:spTree>
    <p:extLst>
      <p:ext uri="{BB962C8B-B14F-4D97-AF65-F5344CB8AC3E}">
        <p14:creationId xmlns:p14="http://schemas.microsoft.com/office/powerpoint/2010/main" val="263090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CD3EF-77A5-EE04-239E-6B0CA61D65A3}"/>
              </a:ext>
            </a:extLst>
          </p:cNvPr>
          <p:cNvSpPr>
            <a:spLocks noGrp="1"/>
          </p:cNvSpPr>
          <p:nvPr>
            <p:ph type="title"/>
          </p:nvPr>
        </p:nvSpPr>
        <p:spPr/>
        <p:txBody>
          <a:bodyPr/>
          <a:lstStyle/>
          <a:p>
            <a:r>
              <a:rPr lang="en-US" dirty="0"/>
              <a:t>High-Level Intro</a:t>
            </a:r>
          </a:p>
        </p:txBody>
      </p:sp>
      <p:sp>
        <p:nvSpPr>
          <p:cNvPr id="3" name="Text Placeholder 2">
            <a:extLst>
              <a:ext uri="{FF2B5EF4-FFF2-40B4-BE49-F238E27FC236}">
                <a16:creationId xmlns:a16="http://schemas.microsoft.com/office/drawing/2014/main" id="{DC701F88-5616-0D4E-DC1D-A4A901E365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58722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3AE5F-1BB1-3347-C7F6-BB02DB81998C}"/>
              </a:ext>
            </a:extLst>
          </p:cNvPr>
          <p:cNvSpPr>
            <a:spLocks noGrp="1"/>
          </p:cNvSpPr>
          <p:nvPr>
            <p:ph type="title"/>
          </p:nvPr>
        </p:nvSpPr>
        <p:spPr>
          <a:xfrm>
            <a:off x="838200" y="68519"/>
            <a:ext cx="10515600" cy="1325563"/>
          </a:xfrm>
        </p:spPr>
        <p:txBody>
          <a:bodyPr/>
          <a:lstStyle/>
          <a:p>
            <a:r>
              <a:rPr lang="en-US" dirty="0"/>
              <a:t>Instrumental Variables</a:t>
            </a:r>
          </a:p>
        </p:txBody>
      </p:sp>
      <p:sp>
        <p:nvSpPr>
          <p:cNvPr id="3" name="Content Placeholder 2">
            <a:extLst>
              <a:ext uri="{FF2B5EF4-FFF2-40B4-BE49-F238E27FC236}">
                <a16:creationId xmlns:a16="http://schemas.microsoft.com/office/drawing/2014/main" id="{66386024-CCD1-2CE6-8E0A-4A37D974BA82}"/>
              </a:ext>
            </a:extLst>
          </p:cNvPr>
          <p:cNvSpPr>
            <a:spLocks noGrp="1"/>
          </p:cNvSpPr>
          <p:nvPr>
            <p:ph idx="1"/>
          </p:nvPr>
        </p:nvSpPr>
        <p:spPr>
          <a:xfrm>
            <a:off x="838200" y="1464489"/>
            <a:ext cx="10515600" cy="4351338"/>
          </a:xfrm>
        </p:spPr>
        <p:txBody>
          <a:bodyPr/>
          <a:lstStyle/>
          <a:p>
            <a:r>
              <a:rPr lang="en-US" dirty="0"/>
              <a:t>Suppose we want to know the effect of X on Y</a:t>
            </a:r>
          </a:p>
          <a:p>
            <a:pPr lvl="1"/>
            <a:r>
              <a:rPr lang="en-US" dirty="0">
                <a:solidFill>
                  <a:schemeClr val="accent1"/>
                </a:solidFill>
              </a:rPr>
              <a:t>Education on Earnings, say</a:t>
            </a:r>
          </a:p>
          <a:p>
            <a:r>
              <a:rPr lang="en-US" dirty="0"/>
              <a:t>We can’t do a perfect randomized experiment</a:t>
            </a:r>
          </a:p>
          <a:p>
            <a:pPr lvl="1"/>
            <a:r>
              <a:rPr lang="en-US" dirty="0">
                <a:solidFill>
                  <a:schemeClr val="accent1"/>
                </a:solidFill>
              </a:rPr>
              <a:t>Not feasible/ethical/…</a:t>
            </a:r>
          </a:p>
          <a:p>
            <a:r>
              <a:rPr lang="en-US" dirty="0"/>
              <a:t>But we want to randomize something…</a:t>
            </a:r>
          </a:p>
          <a:p>
            <a:pPr lvl="1"/>
            <a:endParaRPr lang="en-US" dirty="0"/>
          </a:p>
        </p:txBody>
      </p:sp>
      <p:grpSp>
        <p:nvGrpSpPr>
          <p:cNvPr id="4" name="Group 3">
            <a:extLst>
              <a:ext uri="{FF2B5EF4-FFF2-40B4-BE49-F238E27FC236}">
                <a16:creationId xmlns:a16="http://schemas.microsoft.com/office/drawing/2014/main" id="{0F2DF954-1091-26ED-3656-7AC155A44500}"/>
              </a:ext>
            </a:extLst>
          </p:cNvPr>
          <p:cNvGrpSpPr/>
          <p:nvPr/>
        </p:nvGrpSpPr>
        <p:grpSpPr>
          <a:xfrm>
            <a:off x="5362222" y="4684889"/>
            <a:ext cx="5517361" cy="1140178"/>
            <a:chOff x="5362222" y="4684889"/>
            <a:chExt cx="5517361" cy="1140178"/>
          </a:xfrm>
        </p:grpSpPr>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80E45570-3DB6-24BE-A14C-647D2AFCCDD2}"/>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𝑋</m:t>
                        </m:r>
                      </m:oMath>
                    </m:oMathPara>
                  </a14:m>
                  <a:endParaRPr lang="en-US" sz="4000" dirty="0"/>
                </a:p>
              </p:txBody>
            </p:sp>
          </mc:Choice>
          <mc:Fallback xmlns="">
            <p:sp>
              <p:nvSpPr>
                <p:cNvPr id="6" name="Oval 5">
                  <a:extLst>
                    <a:ext uri="{FF2B5EF4-FFF2-40B4-BE49-F238E27FC236}">
                      <a16:creationId xmlns:a16="http://schemas.microsoft.com/office/drawing/2014/main" id="{80E45570-3DB6-24BE-A14C-647D2AFCCDD2}"/>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956AC8CA-98C7-99F3-D770-FB5919ABA7DE}"/>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𝑌</m:t>
                        </m:r>
                      </m:oMath>
                    </m:oMathPara>
                  </a14:m>
                  <a:endParaRPr lang="en-US" sz="4000" dirty="0"/>
                </a:p>
              </p:txBody>
            </p:sp>
          </mc:Choice>
          <mc:Fallback xmlns="">
            <p:sp>
              <p:nvSpPr>
                <p:cNvPr id="7" name="Oval 6">
                  <a:extLst>
                    <a:ext uri="{FF2B5EF4-FFF2-40B4-BE49-F238E27FC236}">
                      <a16:creationId xmlns:a16="http://schemas.microsoft.com/office/drawing/2014/main" id="{956AC8CA-98C7-99F3-D770-FB5919ABA7DE}"/>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4"/>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BD9AE04B-2F85-2508-A3CE-4BF964494A2C}"/>
                </a:ext>
              </a:extLst>
            </p:cNvPr>
            <p:cNvCxnSpPr>
              <a:endCxn id="7"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42A075E8-E232-BE33-E862-9253FBD0E1C0}"/>
              </a:ext>
            </a:extLst>
          </p:cNvPr>
          <p:cNvGrpSpPr/>
          <p:nvPr/>
        </p:nvGrpSpPr>
        <p:grpSpPr>
          <a:xfrm>
            <a:off x="1399822" y="4684889"/>
            <a:ext cx="3962400" cy="1140178"/>
            <a:chOff x="1399822" y="4684889"/>
            <a:chExt cx="3962400" cy="1140178"/>
          </a:xfrm>
        </p:grpSpPr>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45135B80-A2AB-EF4C-2DD9-29A841C980F5}"/>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8" name="Oval 7">
                  <a:extLst>
                    <a:ext uri="{FF2B5EF4-FFF2-40B4-BE49-F238E27FC236}">
                      <a16:creationId xmlns:a16="http://schemas.microsoft.com/office/drawing/2014/main" id="{45135B80-A2AB-EF4C-2DD9-29A841C980F5}"/>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5"/>
                  <a:stretch>
                    <a:fillRect/>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AC034340-8BD6-F053-E91F-E46B2B195149}"/>
                </a:ext>
              </a:extLst>
            </p:cNvPr>
            <p:cNvCxnSpPr>
              <a:cxnSpLocks/>
              <a:stCxn id="8" idx="6"/>
              <a:endCxn id="6"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FC1936B8-03B5-3FC8-B030-E397FADBBCE2}"/>
              </a:ext>
            </a:extLst>
          </p:cNvPr>
          <p:cNvGrpSpPr/>
          <p:nvPr/>
        </p:nvGrpSpPr>
        <p:grpSpPr>
          <a:xfrm>
            <a:off x="2797139" y="5689600"/>
            <a:ext cx="6629083" cy="1057452"/>
            <a:chOff x="2797139" y="5689600"/>
            <a:chExt cx="6629083" cy="1057452"/>
          </a:xfrm>
        </p:grpSpPr>
        <p:sp>
          <p:nvSpPr>
            <p:cNvPr id="14" name="Freeform 13">
              <a:extLst>
                <a:ext uri="{FF2B5EF4-FFF2-40B4-BE49-F238E27FC236}">
                  <a16:creationId xmlns:a16="http://schemas.microsoft.com/office/drawing/2014/main" id="{CC070114-2703-CF7B-08D5-9CA9B66AFAD7}"/>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5" name="&quot;No&quot; Symbol 14">
              <a:extLst>
                <a:ext uri="{FF2B5EF4-FFF2-40B4-BE49-F238E27FC236}">
                  <a16:creationId xmlns:a16="http://schemas.microsoft.com/office/drawing/2014/main" id="{BE0D7955-4022-FE03-951E-02B6B1D1FC9C}"/>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A8C2C38-EFA1-9EA9-D1DD-12F760951A84}"/>
                  </a:ext>
                </a:extLst>
              </p:cNvPr>
              <p:cNvSpPr txBox="1"/>
              <p:nvPr/>
            </p:nvSpPr>
            <p:spPr>
              <a:xfrm>
                <a:off x="1393682" y="3720868"/>
                <a:ext cx="10798318" cy="461665"/>
              </a:xfrm>
              <a:prstGeom prst="rect">
                <a:avLst/>
              </a:prstGeom>
              <a:noFill/>
            </p:spPr>
            <p:txBody>
              <a:bodyPr wrap="square" rtlCol="0">
                <a:spAutoFit/>
              </a:bodyPr>
              <a:lstStyle/>
              <a:p>
                <a:pPr marL="457200" indent="-457200">
                  <a:buFont typeface="Arial" panose="020B0604020202020204" pitchFamily="34" charset="0"/>
                  <a:buChar char="•"/>
                </a:pPr>
                <a:r>
                  <a:rPr lang="en-US" sz="2400" b="1" dirty="0">
                    <a:solidFill>
                      <a:schemeClr val="accent1"/>
                    </a:solidFill>
                  </a:rPr>
                  <a:t>Solution: </a:t>
                </a:r>
                <a:r>
                  <a:rPr lang="en-US" sz="2400" dirty="0">
                    <a:solidFill>
                      <a:schemeClr val="accent1"/>
                    </a:solidFill>
                  </a:rPr>
                  <a:t>Randomize something that </a:t>
                </a:r>
                <a:r>
                  <a:rPr lang="en-US" sz="2400" i="1" dirty="0">
                    <a:solidFill>
                      <a:schemeClr val="accent1"/>
                    </a:solidFill>
                  </a:rPr>
                  <a:t>affects</a:t>
                </a:r>
                <a:r>
                  <a:rPr lang="en-US" sz="2400" dirty="0">
                    <a:solidFill>
                      <a:schemeClr val="accent1"/>
                    </a:solidFill>
                  </a:rPr>
                  <a:t> </a:t>
                </a:r>
                <a14:m>
                  <m:oMath xmlns:m="http://schemas.openxmlformats.org/officeDocument/2006/math">
                    <m:r>
                      <a:rPr lang="en-US" sz="2400" i="1" dirty="0" smtClean="0">
                        <a:solidFill>
                          <a:schemeClr val="accent1"/>
                        </a:solidFill>
                        <a:latin typeface="Cambria Math" panose="02040503050406030204" pitchFamily="18" charset="0"/>
                      </a:rPr>
                      <m:t>𝑋</m:t>
                    </m:r>
                  </m:oMath>
                </a14:m>
                <a:r>
                  <a:rPr lang="en-US" sz="2400" dirty="0">
                    <a:solidFill>
                      <a:schemeClr val="accent1"/>
                    </a:solidFill>
                  </a:rPr>
                  <a:t>! (But not </a:t>
                </a:r>
                <a14:m>
                  <m:oMath xmlns:m="http://schemas.openxmlformats.org/officeDocument/2006/math">
                    <m:r>
                      <a:rPr lang="en-US" sz="2400" i="1" dirty="0" smtClean="0">
                        <a:solidFill>
                          <a:schemeClr val="accent1"/>
                        </a:solidFill>
                        <a:latin typeface="Cambria Math" panose="02040503050406030204" pitchFamily="18" charset="0"/>
                      </a:rPr>
                      <m:t>𝑌</m:t>
                    </m:r>
                  </m:oMath>
                </a14:m>
                <a:r>
                  <a:rPr lang="en-US" sz="2400" dirty="0">
                    <a:solidFill>
                      <a:schemeClr val="accent1"/>
                    </a:solidFill>
                  </a:rPr>
                  <a:t> except through X)</a:t>
                </a:r>
              </a:p>
            </p:txBody>
          </p:sp>
        </mc:Choice>
        <mc:Fallback xmlns="">
          <p:sp>
            <p:nvSpPr>
              <p:cNvPr id="16" name="TextBox 15">
                <a:extLst>
                  <a:ext uri="{FF2B5EF4-FFF2-40B4-BE49-F238E27FC236}">
                    <a16:creationId xmlns:a16="http://schemas.microsoft.com/office/drawing/2014/main" id="{2A8C2C38-EFA1-9EA9-D1DD-12F760951A84}"/>
                  </a:ext>
                </a:extLst>
              </p:cNvPr>
              <p:cNvSpPr txBox="1">
                <a:spLocks noRot="1" noChangeAspect="1" noMove="1" noResize="1" noEditPoints="1" noAdjustHandles="1" noChangeArrowheads="1" noChangeShapeType="1" noTextEdit="1"/>
              </p:cNvSpPr>
              <p:nvPr/>
            </p:nvSpPr>
            <p:spPr>
              <a:xfrm>
                <a:off x="1393682" y="3720868"/>
                <a:ext cx="10798318" cy="461665"/>
              </a:xfrm>
              <a:prstGeom prst="rect">
                <a:avLst/>
              </a:prstGeom>
              <a:blipFill>
                <a:blip r:embed="rId6"/>
                <a:stretch>
                  <a:fillRect l="-704" t="-10526" b="-28947"/>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0FB02DB1-BBFE-82D5-B608-74A6AFFDE752}"/>
              </a:ext>
            </a:extLst>
          </p:cNvPr>
          <p:cNvGrpSpPr/>
          <p:nvPr/>
        </p:nvGrpSpPr>
        <p:grpSpPr>
          <a:xfrm>
            <a:off x="838200" y="4327742"/>
            <a:ext cx="1654771" cy="2313606"/>
            <a:chOff x="838200" y="4327742"/>
            <a:chExt cx="1654771" cy="2313606"/>
          </a:xfrm>
        </p:grpSpPr>
        <p:pic>
          <p:nvPicPr>
            <p:cNvPr id="1026" name="Picture 2" descr="Hounder Black Red Honey Burst with Stiletto Hard Case">
              <a:extLst>
                <a:ext uri="{FF2B5EF4-FFF2-40B4-BE49-F238E27FC236}">
                  <a16:creationId xmlns:a16="http://schemas.microsoft.com/office/drawing/2014/main" id="{4FB232CD-9B8F-E5AE-4734-C22030A1A18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96138"/>
                </a:srgbClr>
              </a:glow>
            </a:effectLst>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CB85E803-8CEB-4577-C163-45CF6B1F54B3}"/>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spTree>
    <p:extLst>
      <p:ext uri="{BB962C8B-B14F-4D97-AF65-F5344CB8AC3E}">
        <p14:creationId xmlns:p14="http://schemas.microsoft.com/office/powerpoint/2010/main" val="3738845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CD6025B-61C9-6C29-CB2D-A92FC0EB7C99}"/>
              </a:ext>
            </a:extLst>
          </p:cNvPr>
          <p:cNvSpPr/>
          <p:nvPr/>
        </p:nvSpPr>
        <p:spPr>
          <a:xfrm>
            <a:off x="10421477" y="5932967"/>
            <a:ext cx="1672711" cy="9250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FB01E5-247F-C02F-5102-2CB73D3AE82C}"/>
              </a:ext>
            </a:extLst>
          </p:cNvPr>
          <p:cNvSpPr>
            <a:spLocks noGrp="1"/>
          </p:cNvSpPr>
          <p:nvPr>
            <p:ph type="title"/>
          </p:nvPr>
        </p:nvSpPr>
        <p:spPr>
          <a:xfrm>
            <a:off x="838200" y="365126"/>
            <a:ext cx="10515600" cy="856768"/>
          </a:xfrm>
        </p:spPr>
        <p:txBody>
          <a:bodyPr/>
          <a:lstStyle/>
          <a:p>
            <a:r>
              <a:rPr lang="en-US" dirty="0"/>
              <a:t>IVs for Returns to Education</a:t>
            </a:r>
          </a:p>
        </p:txBody>
      </p:sp>
      <p:grpSp>
        <p:nvGrpSpPr>
          <p:cNvPr id="25" name="Group 24">
            <a:extLst>
              <a:ext uri="{FF2B5EF4-FFF2-40B4-BE49-F238E27FC236}">
                <a16:creationId xmlns:a16="http://schemas.microsoft.com/office/drawing/2014/main" id="{D59C6AA0-7074-CF1D-A902-7ED8E0C92088}"/>
              </a:ext>
            </a:extLst>
          </p:cNvPr>
          <p:cNvGrpSpPr/>
          <p:nvPr/>
        </p:nvGrpSpPr>
        <p:grpSpPr>
          <a:xfrm>
            <a:off x="2337688" y="1342837"/>
            <a:ext cx="8083789" cy="1847930"/>
            <a:chOff x="838200" y="1648566"/>
            <a:chExt cx="10757839" cy="2459210"/>
          </a:xfrm>
        </p:grpSpPr>
        <p:cxnSp>
          <p:nvCxnSpPr>
            <p:cNvPr id="7" name="Straight Arrow Connector 6">
              <a:extLst>
                <a:ext uri="{FF2B5EF4-FFF2-40B4-BE49-F238E27FC236}">
                  <a16:creationId xmlns:a16="http://schemas.microsoft.com/office/drawing/2014/main" id="{83730FEC-3C60-C813-B127-04917CC9090B}"/>
                </a:ext>
              </a:extLst>
            </p:cNvPr>
            <p:cNvCxnSpPr>
              <a:cxnSpLocks/>
              <a:stCxn id="4" idx="6"/>
              <a:endCxn id="5" idx="2"/>
            </p:cNvCxnSpPr>
            <p:nvPr/>
          </p:nvCxnSpPr>
          <p:spPr>
            <a:xfrm>
              <a:off x="7498051" y="2657552"/>
              <a:ext cx="1583368"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3CB97005-535E-1ED7-B9FC-DE192AC84460}"/>
                </a:ext>
              </a:extLst>
            </p:cNvPr>
            <p:cNvCxnSpPr>
              <a:cxnSpLocks/>
              <a:stCxn id="6" idx="6"/>
              <a:endCxn id="4" idx="2"/>
            </p:cNvCxnSpPr>
            <p:nvPr/>
          </p:nvCxnSpPr>
          <p:spPr>
            <a:xfrm>
              <a:off x="3038958" y="2657552"/>
              <a:ext cx="158337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92F71DD8-3E8E-2EA1-EBC0-08530AD32DE8}"/>
                </a:ext>
              </a:extLst>
            </p:cNvPr>
            <p:cNvGrpSpPr/>
            <p:nvPr/>
          </p:nvGrpSpPr>
          <p:grpSpPr>
            <a:xfrm>
              <a:off x="838200" y="1648566"/>
              <a:ext cx="10757839" cy="2459210"/>
              <a:chOff x="838200" y="1648566"/>
              <a:chExt cx="10757839" cy="2459210"/>
            </a:xfrm>
          </p:grpSpPr>
          <p:sp>
            <p:nvSpPr>
              <p:cNvPr id="19" name="Freeform 18">
                <a:extLst>
                  <a:ext uri="{FF2B5EF4-FFF2-40B4-BE49-F238E27FC236}">
                    <a16:creationId xmlns:a16="http://schemas.microsoft.com/office/drawing/2014/main" id="{380D43A4-6ECB-BBC7-3B93-77A8C26008BF}"/>
                  </a:ext>
                </a:extLst>
              </p:cNvPr>
              <p:cNvSpPr/>
              <p:nvPr/>
            </p:nvSpPr>
            <p:spPr>
              <a:xfrm>
                <a:off x="2452511" y="3050324"/>
                <a:ext cx="6973711"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BDE7F6F5-95C5-B430-EF11-4FDC6F4DBC64}"/>
                      </a:ext>
                    </a:extLst>
                  </p:cNvPr>
                  <p:cNvSpPr/>
                  <p:nvPr/>
                </p:nvSpPr>
                <p:spPr>
                  <a:xfrm>
                    <a:off x="4622329" y="1648566"/>
                    <a:ext cx="2875722" cy="2017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oMath>
                      </m:oMathPara>
                    </a14:m>
                    <a:endParaRPr lang="en-US" sz="2400" dirty="0"/>
                  </a:p>
                  <a:p>
                    <a:pPr algn="ctr"/>
                    <a:r>
                      <a:rPr lang="en-US" sz="2400" dirty="0"/>
                      <a:t>Years of education</a:t>
                    </a:r>
                    <a:endParaRPr lang="en-US" sz="4800" dirty="0"/>
                  </a:p>
                </p:txBody>
              </p:sp>
            </mc:Choice>
            <mc:Fallback xmlns="">
              <p:sp>
                <p:nvSpPr>
                  <p:cNvPr id="4" name="Oval 3">
                    <a:extLst>
                      <a:ext uri="{FF2B5EF4-FFF2-40B4-BE49-F238E27FC236}">
                        <a16:creationId xmlns:a16="http://schemas.microsoft.com/office/drawing/2014/main" id="{BDE7F6F5-95C5-B430-EF11-4FDC6F4DBC64}"/>
                      </a:ext>
                    </a:extLst>
                  </p:cNvPr>
                  <p:cNvSpPr>
                    <a:spLocks noRot="1" noChangeAspect="1" noMove="1" noResize="1" noEditPoints="1" noAdjustHandles="1" noChangeArrowheads="1" noChangeShapeType="1" noTextEdit="1"/>
                  </p:cNvSpPr>
                  <p:nvPr/>
                </p:nvSpPr>
                <p:spPr>
                  <a:xfrm>
                    <a:off x="4622329" y="1648566"/>
                    <a:ext cx="2875722" cy="2017971"/>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526F74E6-0858-82A7-1994-B337010E118A}"/>
                      </a:ext>
                    </a:extLst>
                  </p:cNvPr>
                  <p:cNvSpPr/>
                  <p:nvPr/>
                </p:nvSpPr>
                <p:spPr>
                  <a:xfrm>
                    <a:off x="9081419" y="2087462"/>
                    <a:ext cx="251462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oMath>
                      </m:oMathPara>
                    </a14:m>
                    <a:endParaRPr lang="en-US" sz="2400" dirty="0"/>
                  </a:p>
                  <a:p>
                    <a:pPr algn="ctr"/>
                    <a:r>
                      <a:rPr lang="en-US" sz="2400" dirty="0"/>
                      <a:t>Earnings</a:t>
                    </a:r>
                    <a:endParaRPr lang="en-US" sz="4000" dirty="0"/>
                  </a:p>
                </p:txBody>
              </p:sp>
            </mc:Choice>
            <mc:Fallback xmlns="">
              <p:sp>
                <p:nvSpPr>
                  <p:cNvPr id="5" name="Oval 4">
                    <a:extLst>
                      <a:ext uri="{FF2B5EF4-FFF2-40B4-BE49-F238E27FC236}">
                        <a16:creationId xmlns:a16="http://schemas.microsoft.com/office/drawing/2014/main" id="{526F74E6-0858-82A7-1994-B337010E118A}"/>
                      </a:ext>
                    </a:extLst>
                  </p:cNvPr>
                  <p:cNvSpPr>
                    <a:spLocks noRot="1" noChangeAspect="1" noMove="1" noResize="1" noEditPoints="1" noAdjustHandles="1" noChangeArrowheads="1" noChangeShapeType="1" noTextEdit="1"/>
                  </p:cNvSpPr>
                  <p:nvPr/>
                </p:nvSpPr>
                <p:spPr>
                  <a:xfrm>
                    <a:off x="9081419" y="2087462"/>
                    <a:ext cx="2514620" cy="1140178"/>
                  </a:xfrm>
                  <a:prstGeom prst="ellipse">
                    <a:avLst/>
                  </a:prstGeom>
                  <a:blipFill>
                    <a:blip r:embed="rId4"/>
                    <a:stretch>
                      <a:fillRect b="-1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315CA68F-8C7E-2760-D96D-9DD978FA86E6}"/>
                      </a:ext>
                    </a:extLst>
                  </p:cNvPr>
                  <p:cNvSpPr/>
                  <p:nvPr/>
                </p:nvSpPr>
                <p:spPr>
                  <a:xfrm>
                    <a:off x="1320309" y="2087463"/>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6" name="Oval 5">
                    <a:extLst>
                      <a:ext uri="{FF2B5EF4-FFF2-40B4-BE49-F238E27FC236}">
                        <a16:creationId xmlns:a16="http://schemas.microsoft.com/office/drawing/2014/main" id="{315CA68F-8C7E-2760-D96D-9DD978FA86E6}"/>
                      </a:ext>
                    </a:extLst>
                  </p:cNvPr>
                  <p:cNvSpPr>
                    <a:spLocks noRot="1" noChangeAspect="1" noMove="1" noResize="1" noEditPoints="1" noAdjustHandles="1" noChangeArrowheads="1" noChangeShapeType="1" noTextEdit="1"/>
                  </p:cNvSpPr>
                  <p:nvPr/>
                </p:nvSpPr>
                <p:spPr>
                  <a:xfrm>
                    <a:off x="1320309" y="2087463"/>
                    <a:ext cx="1718650" cy="1140178"/>
                  </a:xfrm>
                  <a:prstGeom prst="ellipse">
                    <a:avLst/>
                  </a:prstGeom>
                  <a:blipFill>
                    <a:blip r:embed="rId5"/>
                    <a:stretch>
                      <a:fillRect/>
                    </a:stretch>
                  </a:blipFill>
                </p:spPr>
                <p:txBody>
                  <a:bodyPr/>
                  <a:lstStyle/>
                  <a:p>
                    <a:r>
                      <a:rPr lang="en-US">
                        <a:noFill/>
                      </a:rPr>
                      <a:t> </a:t>
                    </a:r>
                  </a:p>
                </p:txBody>
              </p:sp>
            </mc:Fallback>
          </mc:AlternateContent>
          <p:sp>
            <p:nvSpPr>
              <p:cNvPr id="20" name="&quot;No&quot; Symbol 19">
                <a:extLst>
                  <a:ext uri="{FF2B5EF4-FFF2-40B4-BE49-F238E27FC236}">
                    <a16:creationId xmlns:a16="http://schemas.microsoft.com/office/drawing/2014/main" id="{8569F59B-2FE8-7573-EB6C-5F0467E079AC}"/>
                  </a:ext>
                </a:extLst>
              </p:cNvPr>
              <p:cNvSpPr/>
              <p:nvPr/>
            </p:nvSpPr>
            <p:spPr>
              <a:xfrm>
                <a:off x="7591694" y="3302777"/>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1" name="Picture 2" descr="Hounder Black Red Honey Burst with Stiletto Hard Case">
                <a:extLst>
                  <a:ext uri="{FF2B5EF4-FFF2-40B4-BE49-F238E27FC236}">
                    <a16:creationId xmlns:a16="http://schemas.microsoft.com/office/drawing/2014/main" id="{408E5BE4-2251-2081-7E48-19138515D0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1688466"/>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grpSp>
      </p:grpSp>
      <p:sp>
        <p:nvSpPr>
          <p:cNvPr id="23" name="TextBox 22">
            <a:extLst>
              <a:ext uri="{FF2B5EF4-FFF2-40B4-BE49-F238E27FC236}">
                <a16:creationId xmlns:a16="http://schemas.microsoft.com/office/drawing/2014/main" id="{79A56FCA-0DA0-9981-1B63-DB75D68DC235}"/>
              </a:ext>
            </a:extLst>
          </p:cNvPr>
          <p:cNvSpPr txBox="1"/>
          <p:nvPr/>
        </p:nvSpPr>
        <p:spPr>
          <a:xfrm>
            <a:off x="648792" y="3892740"/>
            <a:ext cx="6205123" cy="4708981"/>
          </a:xfrm>
          <a:prstGeom prst="rect">
            <a:avLst/>
          </a:prstGeom>
          <a:noFill/>
        </p:spPr>
        <p:txBody>
          <a:bodyPr wrap="square" rtlCol="0">
            <a:spAutoFit/>
          </a:bodyPr>
          <a:lstStyle/>
          <a:p>
            <a:pPr marL="285750" indent="-285750">
              <a:buFont typeface="Arial" panose="020B0604020202020204" pitchFamily="34" charset="0"/>
              <a:buChar char="•"/>
            </a:pPr>
            <a:r>
              <a:rPr lang="en-US" sz="2800" dirty="0"/>
              <a:t>Proximity to a college </a:t>
            </a:r>
            <a:r>
              <a:rPr lang="en-US" sz="2000" dirty="0"/>
              <a:t>(Card 1993)</a:t>
            </a:r>
          </a:p>
          <a:p>
            <a:pPr marL="742950" lvl="1" indent="-285750">
              <a:buFont typeface="Arial" panose="020B0604020202020204" pitchFamily="34" charset="0"/>
              <a:buChar char="•"/>
            </a:pPr>
            <a:r>
              <a:rPr lang="en-US" sz="2400" dirty="0">
                <a:solidFill>
                  <a:schemeClr val="accent1"/>
                </a:solidFill>
              </a:rPr>
              <a:t>Easier to go to college if one is nearby</a:t>
            </a:r>
          </a:p>
          <a:p>
            <a:pPr marL="285750" indent="-285750">
              <a:buFont typeface="Arial" panose="020B0604020202020204" pitchFamily="34" charset="0"/>
              <a:buChar char="•"/>
            </a:pPr>
            <a:r>
              <a:rPr lang="en-US" sz="2800" dirty="0"/>
              <a:t>Birth quarter </a:t>
            </a:r>
            <a:r>
              <a:rPr lang="en-US" sz="2000" dirty="0"/>
              <a:t>(Angrist + Krueger 1991)</a:t>
            </a:r>
          </a:p>
          <a:p>
            <a:pPr marL="742950" lvl="1" indent="-285750">
              <a:buFont typeface="Arial" panose="020B0604020202020204" pitchFamily="34" charset="0"/>
              <a:buChar char="•"/>
            </a:pPr>
            <a:r>
              <a:rPr lang="en-US" sz="2400" dirty="0">
                <a:solidFill>
                  <a:schemeClr val="accent1"/>
                </a:solidFill>
              </a:rPr>
              <a:t>Can you drop out of school a bit earlier?</a:t>
            </a:r>
          </a:p>
          <a:p>
            <a:pPr marL="285750" indent="-285750">
              <a:buFont typeface="Arial" panose="020B0604020202020204" pitchFamily="34" charset="0"/>
              <a:buChar char="•"/>
            </a:pPr>
            <a:r>
              <a:rPr lang="en-US" sz="2800" dirty="0"/>
              <a:t>Birth cohort </a:t>
            </a:r>
            <a:r>
              <a:rPr lang="en-US" sz="2000" dirty="0"/>
              <a:t>(Harmon + Walker 1995)</a:t>
            </a:r>
          </a:p>
          <a:p>
            <a:pPr marL="742950" lvl="1" indent="-285750">
              <a:buFont typeface="Arial" panose="020B0604020202020204" pitchFamily="34" charset="0"/>
              <a:buChar char="•"/>
            </a:pPr>
            <a:r>
              <a:rPr lang="en-US" sz="2400" dirty="0">
                <a:solidFill>
                  <a:schemeClr val="accent1"/>
                </a:solidFill>
              </a:rPr>
              <a:t>The rules changed, people a year older can drop out earlier/later</a:t>
            </a:r>
          </a:p>
          <a:p>
            <a:pPr marL="742950" lvl="1" indent="-285750">
              <a:buFont typeface="Arial" panose="020B0604020202020204" pitchFamily="34" charset="0"/>
              <a:buChar char="•"/>
            </a:pPr>
            <a:endParaRPr lang="en-US" sz="2800" dirty="0">
              <a:solidFill>
                <a:schemeClr val="accent1"/>
              </a:solidFill>
            </a:endParaRPr>
          </a:p>
          <a:p>
            <a:pPr marL="742950" lvl="1"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p:txBody>
      </p:sp>
      <p:sp>
        <p:nvSpPr>
          <p:cNvPr id="24" name="TextBox 23">
            <a:extLst>
              <a:ext uri="{FF2B5EF4-FFF2-40B4-BE49-F238E27FC236}">
                <a16:creationId xmlns:a16="http://schemas.microsoft.com/office/drawing/2014/main" id="{F60D8C1E-C31F-D517-8D7E-5F1B0FCB54EF}"/>
              </a:ext>
            </a:extLst>
          </p:cNvPr>
          <p:cNvSpPr txBox="1"/>
          <p:nvPr/>
        </p:nvSpPr>
        <p:spPr>
          <a:xfrm>
            <a:off x="6853915" y="3792001"/>
            <a:ext cx="5240273" cy="2923877"/>
          </a:xfrm>
          <a:prstGeom prst="rect">
            <a:avLst/>
          </a:prstGeom>
          <a:noFill/>
        </p:spPr>
        <p:txBody>
          <a:bodyPr wrap="square" rtlCol="0">
            <a:spAutoFit/>
          </a:bodyPr>
          <a:lstStyle/>
          <a:p>
            <a:pPr marL="285750" indent="-285750">
              <a:buFont typeface="Arial" panose="020B0604020202020204" pitchFamily="34" charset="0"/>
              <a:buChar char="•"/>
            </a:pPr>
            <a:r>
              <a:rPr lang="en-US" sz="2800" dirty="0"/>
              <a:t>Vietnam draft number </a:t>
            </a:r>
            <a:r>
              <a:rPr lang="en-US" sz="2000" dirty="0"/>
              <a:t>(Angrist and Krueger 1992)</a:t>
            </a:r>
            <a:endParaRPr lang="en-US" sz="2800" dirty="0"/>
          </a:p>
          <a:p>
            <a:pPr marL="742950" lvl="1" indent="-285750">
              <a:buFont typeface="Arial" panose="020B0604020202020204" pitchFamily="34" charset="0"/>
              <a:buChar char="•"/>
            </a:pPr>
            <a:r>
              <a:rPr lang="en-US" sz="2000" dirty="0">
                <a:solidFill>
                  <a:schemeClr val="accent1"/>
                </a:solidFill>
              </a:rPr>
              <a:t>The risk of being drafted makes people seek an educational deferment</a:t>
            </a:r>
          </a:p>
          <a:p>
            <a:pPr marL="285750" indent="-285750">
              <a:buFont typeface="Arial" panose="020B0604020202020204" pitchFamily="34" charset="0"/>
              <a:buChar char="•"/>
            </a:pPr>
            <a:r>
              <a:rPr lang="en-US" sz="2800" dirty="0"/>
              <a:t>Sex of siblings </a:t>
            </a:r>
            <a:r>
              <a:rPr lang="en-US" sz="2000" dirty="0"/>
              <a:t>(Butcher + Case, 1994)</a:t>
            </a:r>
          </a:p>
          <a:p>
            <a:pPr marL="742950" lvl="1" indent="-285750">
              <a:buFont typeface="Arial" panose="020B0604020202020204" pitchFamily="34" charset="0"/>
              <a:buChar char="•"/>
            </a:pPr>
            <a:r>
              <a:rPr lang="en-US" sz="2000" dirty="0">
                <a:solidFill>
                  <a:schemeClr val="accent1"/>
                </a:solidFill>
              </a:rPr>
              <a:t>Women with only brothers received more schooling in the early 20</a:t>
            </a:r>
            <a:r>
              <a:rPr lang="en-US" sz="2000" baseline="30000" dirty="0">
                <a:solidFill>
                  <a:schemeClr val="accent1"/>
                </a:solidFill>
              </a:rPr>
              <a:t>th</a:t>
            </a:r>
            <a:r>
              <a:rPr lang="en-US" sz="2000" dirty="0">
                <a:solidFill>
                  <a:schemeClr val="accent1"/>
                </a:solidFill>
              </a:rPr>
              <a:t> c.</a:t>
            </a:r>
          </a:p>
          <a:p>
            <a:pPr marL="285750" indent="-285750">
              <a:buFont typeface="Arial" panose="020B0604020202020204" pitchFamily="34" charset="0"/>
              <a:buChar char="•"/>
            </a:pPr>
            <a:r>
              <a:rPr lang="en-US" sz="2800" dirty="0"/>
              <a:t>Lots more!</a:t>
            </a:r>
          </a:p>
        </p:txBody>
      </p:sp>
      <p:sp>
        <p:nvSpPr>
          <p:cNvPr id="32" name="TextBox 31">
            <a:extLst>
              <a:ext uri="{FF2B5EF4-FFF2-40B4-BE49-F238E27FC236}">
                <a16:creationId xmlns:a16="http://schemas.microsoft.com/office/drawing/2014/main" id="{D6CD8C7F-FF0A-4BEC-8D65-5C588EEA83C7}"/>
              </a:ext>
            </a:extLst>
          </p:cNvPr>
          <p:cNvSpPr txBox="1"/>
          <p:nvPr/>
        </p:nvSpPr>
        <p:spPr>
          <a:xfrm>
            <a:off x="838200" y="3082169"/>
            <a:ext cx="3579634" cy="707886"/>
          </a:xfrm>
          <a:prstGeom prst="rect">
            <a:avLst/>
          </a:prstGeom>
          <a:noFill/>
        </p:spPr>
        <p:txBody>
          <a:bodyPr wrap="none" rtlCol="0">
            <a:spAutoFit/>
          </a:bodyPr>
          <a:lstStyle/>
          <a:p>
            <a:r>
              <a:rPr lang="en-US" sz="4000" dirty="0">
                <a:solidFill>
                  <a:srgbClr val="8C1516"/>
                </a:solidFill>
                <a:latin typeface="+mj-lt"/>
              </a:rPr>
              <a:t>A few examples:</a:t>
            </a:r>
          </a:p>
        </p:txBody>
      </p:sp>
    </p:spTree>
    <p:extLst>
      <p:ext uri="{BB962C8B-B14F-4D97-AF65-F5344CB8AC3E}">
        <p14:creationId xmlns:p14="http://schemas.microsoft.com/office/powerpoint/2010/main" val="390038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24" grpId="0" build="p"/>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7B6D76-F987-D2AE-28A3-5F2E96EA8DA6}"/>
              </a:ext>
            </a:extLst>
          </p:cNvPr>
          <p:cNvPicPr>
            <a:picLocks noChangeAspect="1"/>
          </p:cNvPicPr>
          <p:nvPr/>
        </p:nvPicPr>
        <p:blipFill>
          <a:blip r:embed="rId2"/>
          <a:stretch>
            <a:fillRect/>
          </a:stretch>
        </p:blipFill>
        <p:spPr>
          <a:xfrm>
            <a:off x="1676401" y="88030"/>
            <a:ext cx="10515600" cy="6769970"/>
          </a:xfrm>
          <a:prstGeom prst="rect">
            <a:avLst/>
          </a:prstGeom>
        </p:spPr>
      </p:pic>
      <p:pic>
        <p:nvPicPr>
          <p:cNvPr id="5" name="Picture 4">
            <a:extLst>
              <a:ext uri="{FF2B5EF4-FFF2-40B4-BE49-F238E27FC236}">
                <a16:creationId xmlns:a16="http://schemas.microsoft.com/office/drawing/2014/main" id="{27146512-8923-EF0E-358D-AB82D40D0532}"/>
              </a:ext>
            </a:extLst>
          </p:cNvPr>
          <p:cNvPicPr>
            <a:picLocks noChangeAspect="1"/>
          </p:cNvPicPr>
          <p:nvPr/>
        </p:nvPicPr>
        <p:blipFill>
          <a:blip r:embed="rId3"/>
          <a:stretch>
            <a:fillRect/>
          </a:stretch>
        </p:blipFill>
        <p:spPr>
          <a:xfrm>
            <a:off x="124515" y="1825625"/>
            <a:ext cx="3347554" cy="1183977"/>
          </a:xfrm>
          <a:prstGeom prst="rect">
            <a:avLst/>
          </a:prstGeom>
          <a:ln>
            <a:solidFill>
              <a:schemeClr val="tx1"/>
            </a:solidFill>
          </a:ln>
        </p:spPr>
      </p:pic>
    </p:spTree>
    <p:extLst>
      <p:ext uri="{BB962C8B-B14F-4D97-AF65-F5344CB8AC3E}">
        <p14:creationId xmlns:p14="http://schemas.microsoft.com/office/powerpoint/2010/main" val="1347357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A031-C78C-9953-F01F-BE8E620B08A3}"/>
              </a:ext>
            </a:extLst>
          </p:cNvPr>
          <p:cNvSpPr>
            <a:spLocks noGrp="1"/>
          </p:cNvSpPr>
          <p:nvPr>
            <p:ph type="title"/>
          </p:nvPr>
        </p:nvSpPr>
        <p:spPr/>
        <p:txBody>
          <a:bodyPr/>
          <a:lstStyle/>
          <a:p>
            <a:r>
              <a:rPr lang="en-US" dirty="0"/>
              <a:t>Questions we need to answer first!</a:t>
            </a:r>
          </a:p>
        </p:txBody>
      </p:sp>
      <p:sp>
        <p:nvSpPr>
          <p:cNvPr id="3" name="Content Placeholder 2">
            <a:extLst>
              <a:ext uri="{FF2B5EF4-FFF2-40B4-BE49-F238E27FC236}">
                <a16:creationId xmlns:a16="http://schemas.microsoft.com/office/drawing/2014/main" id="{0B81FAD4-4390-CBAC-5284-F38BDC322217}"/>
              </a:ext>
            </a:extLst>
          </p:cNvPr>
          <p:cNvSpPr>
            <a:spLocks noGrp="1"/>
          </p:cNvSpPr>
          <p:nvPr>
            <p:ph idx="1"/>
          </p:nvPr>
        </p:nvSpPr>
        <p:spPr>
          <a:xfrm>
            <a:off x="838199" y="1825625"/>
            <a:ext cx="10969487" cy="1880221"/>
          </a:xfrm>
        </p:spPr>
        <p:txBody>
          <a:bodyPr/>
          <a:lstStyle/>
          <a:p>
            <a:r>
              <a:rPr lang="en-US" dirty="0"/>
              <a:t>Z doesn’t </a:t>
            </a:r>
            <a:r>
              <a:rPr lang="en-US" i="1" dirty="0"/>
              <a:t>perfectly </a:t>
            </a:r>
            <a:r>
              <a:rPr lang="en-US" dirty="0"/>
              <a:t>affect X, so how do we compute ATE of X on Y?</a:t>
            </a:r>
          </a:p>
          <a:p>
            <a:pPr lvl="1"/>
            <a:r>
              <a:rPr lang="en-US" dirty="0">
                <a:solidFill>
                  <a:schemeClr val="accent1"/>
                </a:solidFill>
              </a:rPr>
              <a:t>We can’t just look at (treated) – (untreated) anymore.</a:t>
            </a:r>
          </a:p>
          <a:p>
            <a:r>
              <a:rPr lang="en-US" dirty="0"/>
              <a:t>What population are we computing the ATE on?</a:t>
            </a:r>
          </a:p>
          <a:p>
            <a:pPr lvl="1"/>
            <a:r>
              <a:rPr lang="en-US" dirty="0">
                <a:solidFill>
                  <a:schemeClr val="accent1"/>
                </a:solidFill>
              </a:rPr>
              <a:t>Z might affect X differently for some people than others…</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FE53138A-0E9B-11B3-C31A-165FA9598F79}"/>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𝑋</m:t>
                      </m:r>
                    </m:oMath>
                  </m:oMathPara>
                </a14:m>
                <a:endParaRPr lang="en-US" sz="4000" dirty="0"/>
              </a:p>
            </p:txBody>
          </p:sp>
        </mc:Choice>
        <mc:Fallback xmlns="">
          <p:sp>
            <p:nvSpPr>
              <p:cNvPr id="4" name="Oval 3">
                <a:extLst>
                  <a:ext uri="{FF2B5EF4-FFF2-40B4-BE49-F238E27FC236}">
                    <a16:creationId xmlns:a16="http://schemas.microsoft.com/office/drawing/2014/main" id="{FE53138A-0E9B-11B3-C31A-165FA9598F79}"/>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82FB0678-E611-0DD7-5D20-1E3AC8EAA40A}"/>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𝑌</m:t>
                      </m:r>
                    </m:oMath>
                  </m:oMathPara>
                </a14:m>
                <a:endParaRPr lang="en-US" sz="4000" dirty="0"/>
              </a:p>
            </p:txBody>
          </p:sp>
        </mc:Choice>
        <mc:Fallback xmlns="">
          <p:sp>
            <p:nvSpPr>
              <p:cNvPr id="5" name="Oval 4">
                <a:extLst>
                  <a:ext uri="{FF2B5EF4-FFF2-40B4-BE49-F238E27FC236}">
                    <a16:creationId xmlns:a16="http://schemas.microsoft.com/office/drawing/2014/main" id="{82FB0678-E611-0DD7-5D20-1E3AC8EAA40A}"/>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B57938DB-EFC6-7CC6-F3EB-DC5B9ED94F92}"/>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6" name="Oval 5">
                <a:extLst>
                  <a:ext uri="{FF2B5EF4-FFF2-40B4-BE49-F238E27FC236}">
                    <a16:creationId xmlns:a16="http://schemas.microsoft.com/office/drawing/2014/main" id="{B57938DB-EFC6-7CC6-F3EB-DC5B9ED94F92}"/>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5"/>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536656D0-E61B-B95F-7857-E36FB57D035E}"/>
              </a:ext>
            </a:extLst>
          </p:cNvPr>
          <p:cNvCxnSpPr>
            <a:endCxn id="5"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FCD2CDB-73CF-68C4-C732-B179456B6DF1}"/>
              </a:ext>
            </a:extLst>
          </p:cNvPr>
          <p:cNvCxnSpPr>
            <a:cxnSpLocks/>
            <a:stCxn id="6" idx="6"/>
            <a:endCxn id="4"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4B8872ED-F670-4A7A-0D8D-9929700C1EB6}"/>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0" name="&quot;No&quot; Symbol 9">
            <a:extLst>
              <a:ext uri="{FF2B5EF4-FFF2-40B4-BE49-F238E27FC236}">
                <a16:creationId xmlns:a16="http://schemas.microsoft.com/office/drawing/2014/main" id="{3AC3803F-E808-3AA9-D7BA-4925571E8A47}"/>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2" descr="Hounder Black Red Honey Burst with Stiletto Hard Case">
            <a:extLst>
              <a:ext uri="{FF2B5EF4-FFF2-40B4-BE49-F238E27FC236}">
                <a16:creationId xmlns:a16="http://schemas.microsoft.com/office/drawing/2014/main" id="{FD48677A-D410-589E-C9A3-E48366B4FD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6ADC4AC-4DB2-273B-EA2F-DB6C77D77D07}"/>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nvGrpSpPr>
          <p:cNvPr id="14" name="Group 13">
            <a:extLst>
              <a:ext uri="{FF2B5EF4-FFF2-40B4-BE49-F238E27FC236}">
                <a16:creationId xmlns:a16="http://schemas.microsoft.com/office/drawing/2014/main" id="{3E088E0B-AA98-C275-610F-8043BEE3B76C}"/>
              </a:ext>
            </a:extLst>
          </p:cNvPr>
          <p:cNvGrpSpPr/>
          <p:nvPr/>
        </p:nvGrpSpPr>
        <p:grpSpPr>
          <a:xfrm>
            <a:off x="4240347" y="15585"/>
            <a:ext cx="2226714" cy="1190363"/>
            <a:chOff x="4240347" y="15585"/>
            <a:chExt cx="2226714" cy="1190363"/>
          </a:xfrm>
        </p:grpSpPr>
        <p:sp>
          <p:nvSpPr>
            <p:cNvPr id="13" name="TextBox 12">
              <a:extLst>
                <a:ext uri="{FF2B5EF4-FFF2-40B4-BE49-F238E27FC236}">
                  <a16:creationId xmlns:a16="http://schemas.microsoft.com/office/drawing/2014/main" id="{ABE49DA6-FF2C-6C63-E4E5-AB86E8C6571A}"/>
                </a:ext>
              </a:extLst>
            </p:cNvPr>
            <p:cNvSpPr txBox="1"/>
            <p:nvPr/>
          </p:nvSpPr>
          <p:spPr>
            <a:xfrm>
              <a:off x="5164847" y="15585"/>
              <a:ext cx="1056700" cy="830997"/>
            </a:xfrm>
            <a:prstGeom prst="rect">
              <a:avLst/>
            </a:prstGeom>
            <a:noFill/>
          </p:spPr>
          <p:txBody>
            <a:bodyPr wrap="none" rtlCol="0">
              <a:spAutoFit/>
            </a:bodyPr>
            <a:lstStyle/>
            <a:p>
              <a:r>
                <a:rPr lang="en-US" sz="4800" dirty="0">
                  <a:solidFill>
                    <a:schemeClr val="accent2"/>
                  </a:solidFill>
                  <a:latin typeface="+mj-lt"/>
                </a:rPr>
                <a:t>will</a:t>
              </a:r>
              <a:endParaRPr lang="en-US" dirty="0">
                <a:solidFill>
                  <a:schemeClr val="accent2"/>
                </a:solidFill>
                <a:latin typeface="+mj-lt"/>
              </a:endParaRPr>
            </a:p>
          </p:txBody>
        </p:sp>
        <p:cxnSp>
          <p:nvCxnSpPr>
            <p:cNvPr id="15" name="Straight Connector 14">
              <a:extLst>
                <a:ext uri="{FF2B5EF4-FFF2-40B4-BE49-F238E27FC236}">
                  <a16:creationId xmlns:a16="http://schemas.microsoft.com/office/drawing/2014/main" id="{74519C1F-06C0-E110-5452-9BE50B8FD779}"/>
                </a:ext>
              </a:extLst>
            </p:cNvPr>
            <p:cNvCxnSpPr/>
            <p:nvPr/>
          </p:nvCxnSpPr>
          <p:spPr>
            <a:xfrm flipH="1" flipV="1">
              <a:off x="4240347" y="846582"/>
              <a:ext cx="2226714" cy="359366"/>
            </a:xfrm>
            <a:prstGeom prst="line">
              <a:avLst/>
            </a:prstGeom>
            <a:ln w="57150">
              <a:solidFill>
                <a:schemeClr val="accent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5717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CD3EF-77A5-EE04-239E-6B0CA61D65A3}"/>
              </a:ext>
            </a:extLst>
          </p:cNvPr>
          <p:cNvSpPr>
            <a:spLocks noGrp="1"/>
          </p:cNvSpPr>
          <p:nvPr>
            <p:ph type="title"/>
          </p:nvPr>
        </p:nvSpPr>
        <p:spPr/>
        <p:txBody>
          <a:bodyPr/>
          <a:lstStyle/>
          <a:p>
            <a:r>
              <a:rPr lang="en-US" dirty="0"/>
              <a:t>Example</a:t>
            </a:r>
          </a:p>
        </p:txBody>
      </p:sp>
      <p:sp>
        <p:nvSpPr>
          <p:cNvPr id="3" name="Text Placeholder 2">
            <a:extLst>
              <a:ext uri="{FF2B5EF4-FFF2-40B4-BE49-F238E27FC236}">
                <a16:creationId xmlns:a16="http://schemas.microsoft.com/office/drawing/2014/main" id="{DC701F88-5616-0D4E-DC1D-A4A901E365B3}"/>
              </a:ext>
            </a:extLst>
          </p:cNvPr>
          <p:cNvSpPr>
            <a:spLocks noGrp="1"/>
          </p:cNvSpPr>
          <p:nvPr>
            <p:ph type="body" idx="1"/>
          </p:nvPr>
        </p:nvSpPr>
        <p:spPr/>
        <p:txBody>
          <a:bodyPr/>
          <a:lstStyle/>
          <a:p>
            <a:r>
              <a:rPr lang="en-US" dirty="0"/>
              <a:t>What is the effect of military service on earnings?</a:t>
            </a:r>
          </a:p>
        </p:txBody>
      </p:sp>
      <p:pic>
        <p:nvPicPr>
          <p:cNvPr id="4" name="Picture 3">
            <a:extLst>
              <a:ext uri="{FF2B5EF4-FFF2-40B4-BE49-F238E27FC236}">
                <a16:creationId xmlns:a16="http://schemas.microsoft.com/office/drawing/2014/main" id="{93D7CEF2-798D-7E47-FB01-D41D479F16D1}"/>
              </a:ext>
            </a:extLst>
          </p:cNvPr>
          <p:cNvPicPr>
            <a:picLocks noChangeAspect="1"/>
          </p:cNvPicPr>
          <p:nvPr/>
        </p:nvPicPr>
        <p:blipFill>
          <a:blip r:embed="rId3"/>
          <a:stretch>
            <a:fillRect/>
          </a:stretch>
        </p:blipFill>
        <p:spPr>
          <a:xfrm>
            <a:off x="5180340" y="217145"/>
            <a:ext cx="6657165" cy="2051392"/>
          </a:xfrm>
          <a:prstGeom prst="rect">
            <a:avLst/>
          </a:prstGeom>
          <a:ln>
            <a:solidFill>
              <a:schemeClr val="tx1"/>
            </a:solidFill>
          </a:ln>
        </p:spPr>
      </p:pic>
      <p:sp>
        <p:nvSpPr>
          <p:cNvPr id="5" name="TextBox 4">
            <a:extLst>
              <a:ext uri="{FF2B5EF4-FFF2-40B4-BE49-F238E27FC236}">
                <a16:creationId xmlns:a16="http://schemas.microsoft.com/office/drawing/2014/main" id="{49023F6F-6FA5-8C6E-CA68-E5511F97EC6B}"/>
              </a:ext>
            </a:extLst>
          </p:cNvPr>
          <p:cNvSpPr txBox="1"/>
          <p:nvPr/>
        </p:nvSpPr>
        <p:spPr>
          <a:xfrm>
            <a:off x="8298459" y="2295525"/>
            <a:ext cx="3539046" cy="369332"/>
          </a:xfrm>
          <a:prstGeom prst="rect">
            <a:avLst/>
          </a:prstGeom>
          <a:noFill/>
        </p:spPr>
        <p:txBody>
          <a:bodyPr wrap="none" rtlCol="0">
            <a:spAutoFit/>
          </a:bodyPr>
          <a:lstStyle/>
          <a:p>
            <a:r>
              <a:rPr lang="en-US" dirty="0"/>
              <a:t>American Economic Review, 1990</a:t>
            </a:r>
          </a:p>
        </p:txBody>
      </p:sp>
      <p:grpSp>
        <p:nvGrpSpPr>
          <p:cNvPr id="6" name="Group 5">
            <a:extLst>
              <a:ext uri="{FF2B5EF4-FFF2-40B4-BE49-F238E27FC236}">
                <a16:creationId xmlns:a16="http://schemas.microsoft.com/office/drawing/2014/main" id="{A08BA22E-6642-B229-0402-A52A80FE1BE3}"/>
              </a:ext>
            </a:extLst>
          </p:cNvPr>
          <p:cNvGrpSpPr/>
          <p:nvPr/>
        </p:nvGrpSpPr>
        <p:grpSpPr>
          <a:xfrm flipH="1">
            <a:off x="8830432" y="3810320"/>
            <a:ext cx="3189077" cy="2390938"/>
            <a:chOff x="2684536" y="4051516"/>
            <a:chExt cx="4027471" cy="2390938"/>
          </a:xfrm>
        </p:grpSpPr>
        <p:pic>
          <p:nvPicPr>
            <p:cNvPr id="7" name="Picture 6">
              <a:extLst>
                <a:ext uri="{FF2B5EF4-FFF2-40B4-BE49-F238E27FC236}">
                  <a16:creationId xmlns:a16="http://schemas.microsoft.com/office/drawing/2014/main" id="{708D6A32-EDFF-E926-956C-7DB83171271C}"/>
                </a:ext>
              </a:extLst>
            </p:cNvPr>
            <p:cNvPicPr>
              <a:picLocks noChangeAspect="1"/>
            </p:cNvPicPr>
            <p:nvPr/>
          </p:nvPicPr>
          <p:blipFill>
            <a:blip r:embed="rId4"/>
            <a:stretch>
              <a:fillRect/>
            </a:stretch>
          </p:blipFill>
          <p:spPr>
            <a:xfrm flipH="1">
              <a:off x="2684536" y="4314977"/>
              <a:ext cx="1146772" cy="2127477"/>
            </a:xfrm>
            <a:prstGeom prst="rect">
              <a:avLst/>
            </a:prstGeom>
          </p:spPr>
        </p:pic>
        <p:sp>
          <p:nvSpPr>
            <p:cNvPr id="8" name="TextBox 7">
              <a:extLst>
                <a:ext uri="{FF2B5EF4-FFF2-40B4-BE49-F238E27FC236}">
                  <a16:creationId xmlns:a16="http://schemas.microsoft.com/office/drawing/2014/main" id="{35CFBA0A-E95E-258E-01A8-D7FC4B6272B3}"/>
                </a:ext>
              </a:extLst>
            </p:cNvPr>
            <p:cNvSpPr txBox="1"/>
            <p:nvPr/>
          </p:nvSpPr>
          <p:spPr>
            <a:xfrm>
              <a:off x="3831308" y="4051516"/>
              <a:ext cx="2880699" cy="1477328"/>
            </a:xfrm>
            <a:prstGeom prst="rect">
              <a:avLst/>
            </a:prstGeom>
            <a:noFill/>
          </p:spPr>
          <p:txBody>
            <a:bodyPr wrap="square" rtlCol="0">
              <a:spAutoFit/>
            </a:bodyPr>
            <a:lstStyle/>
            <a:p>
              <a:pPr algn="r"/>
              <a:r>
                <a:rPr lang="en-US" dirty="0">
                  <a:solidFill>
                    <a:srgbClr val="0070C0"/>
                  </a:solidFill>
                </a:rPr>
                <a:t>We’re going to come back to returns to education next class – this example is cleaner! </a:t>
              </a:r>
            </a:p>
          </p:txBody>
        </p:sp>
      </p:grpSp>
    </p:spTree>
    <p:extLst>
      <p:ext uri="{BB962C8B-B14F-4D97-AF65-F5344CB8AC3E}">
        <p14:creationId xmlns:p14="http://schemas.microsoft.com/office/powerpoint/2010/main" val="285770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BB099-CF91-AE8B-6C0C-9DC8C9459DA9}"/>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A1094EBD-2EEC-D690-BDDB-8705CBCB6C4F}"/>
              </a:ext>
            </a:extLst>
          </p:cNvPr>
          <p:cNvSpPr>
            <a:spLocks noGrp="1"/>
          </p:cNvSpPr>
          <p:nvPr>
            <p:ph idx="1"/>
          </p:nvPr>
        </p:nvSpPr>
        <p:spPr/>
        <p:txBody>
          <a:bodyPr/>
          <a:lstStyle/>
          <a:p>
            <a:r>
              <a:rPr lang="en-US" dirty="0"/>
              <a:t>What is the effect of military service on later earnings?</a:t>
            </a:r>
          </a:p>
          <a:p>
            <a:pPr lvl="1"/>
            <a:r>
              <a:rPr lang="en-US" dirty="0">
                <a:solidFill>
                  <a:schemeClr val="accent1"/>
                </a:solidFill>
              </a:rPr>
              <a:t>This question is important for, say, policy on compensating veterans</a:t>
            </a:r>
          </a:p>
        </p:txBody>
      </p:sp>
    </p:spTree>
    <p:extLst>
      <p:ext uri="{BB962C8B-B14F-4D97-AF65-F5344CB8AC3E}">
        <p14:creationId xmlns:p14="http://schemas.microsoft.com/office/powerpoint/2010/main" val="878846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1E6EF-1961-46BB-8C61-40690B16D505}"/>
              </a:ext>
            </a:extLst>
          </p:cNvPr>
          <p:cNvSpPr>
            <a:spLocks noGrp="1"/>
          </p:cNvSpPr>
          <p:nvPr>
            <p:ph type="title"/>
          </p:nvPr>
        </p:nvSpPr>
        <p:spPr/>
        <p:txBody>
          <a:bodyPr/>
          <a:lstStyle/>
          <a:p>
            <a:r>
              <a:rPr lang="en-US" dirty="0"/>
              <a:t>Instrument: Draft lottery number</a:t>
            </a:r>
          </a:p>
        </p:txBody>
      </p:sp>
      <p:sp>
        <p:nvSpPr>
          <p:cNvPr id="3" name="Content Placeholder 2">
            <a:extLst>
              <a:ext uri="{FF2B5EF4-FFF2-40B4-BE49-F238E27FC236}">
                <a16:creationId xmlns:a16="http://schemas.microsoft.com/office/drawing/2014/main" id="{E7E6CC96-A6E1-BEA3-567E-DFB9C4214FCA}"/>
              </a:ext>
            </a:extLst>
          </p:cNvPr>
          <p:cNvSpPr>
            <a:spLocks noGrp="1"/>
          </p:cNvSpPr>
          <p:nvPr>
            <p:ph idx="1"/>
          </p:nvPr>
        </p:nvSpPr>
        <p:spPr/>
        <p:txBody>
          <a:bodyPr/>
          <a:lstStyle/>
          <a:p>
            <a:r>
              <a:rPr lang="en-US" dirty="0"/>
              <a:t>During the 1970s, young men in the US were drafted to serve in the Vietnam War.</a:t>
            </a:r>
          </a:p>
          <a:p>
            <a:endParaRPr lang="en-US" dirty="0"/>
          </a:p>
          <a:p>
            <a:r>
              <a:rPr lang="en-US" dirty="0"/>
              <a:t>All eligible men got a random number based on their birth date.</a:t>
            </a:r>
          </a:p>
          <a:p>
            <a:r>
              <a:rPr lang="en-US" dirty="0"/>
              <a:t>Lower numbers were called up first.</a:t>
            </a:r>
          </a:p>
        </p:txBody>
      </p:sp>
    </p:spTree>
    <p:extLst>
      <p:ext uri="{BB962C8B-B14F-4D97-AF65-F5344CB8AC3E}">
        <p14:creationId xmlns:p14="http://schemas.microsoft.com/office/powerpoint/2010/main" val="188827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7DFB-072F-9322-164D-A6CD13AF7ACD}"/>
              </a:ext>
            </a:extLst>
          </p:cNvPr>
          <p:cNvSpPr>
            <a:spLocks noGrp="1"/>
          </p:cNvSpPr>
          <p:nvPr>
            <p:ph type="title"/>
          </p:nvPr>
        </p:nvSpPr>
        <p:spPr/>
        <p:txBody>
          <a:bodyPr/>
          <a:lstStyle/>
          <a:p>
            <a:r>
              <a:rPr lang="en-US" dirty="0"/>
              <a:t>Hooray!  </a:t>
            </a:r>
            <a:br>
              <a:rPr lang="en-US" dirty="0"/>
            </a:br>
            <a:r>
              <a:rPr lang="en-US" dirty="0"/>
              <a:t>We have a randomized experiment?</a:t>
            </a:r>
          </a:p>
        </p:txBody>
      </p:sp>
      <p:sp>
        <p:nvSpPr>
          <p:cNvPr id="3" name="Content Placeholder 2">
            <a:extLst>
              <a:ext uri="{FF2B5EF4-FFF2-40B4-BE49-F238E27FC236}">
                <a16:creationId xmlns:a16="http://schemas.microsoft.com/office/drawing/2014/main" id="{88E87407-726C-1D21-AC91-56600C3916CB}"/>
              </a:ext>
            </a:extLst>
          </p:cNvPr>
          <p:cNvSpPr>
            <a:spLocks noGrp="1"/>
          </p:cNvSpPr>
          <p:nvPr>
            <p:ph idx="1"/>
          </p:nvPr>
        </p:nvSpPr>
        <p:spPr>
          <a:xfrm>
            <a:off x="838200" y="2211571"/>
            <a:ext cx="11353800" cy="3965391"/>
          </a:xfrm>
        </p:spPr>
        <p:txBody>
          <a:bodyPr/>
          <a:lstStyle/>
          <a:p>
            <a:r>
              <a:rPr lang="en-US"/>
              <a:t>What </a:t>
            </a:r>
            <a:r>
              <a:rPr lang="en-US" dirty="0"/>
              <a:t>might we miss if we compute</a:t>
            </a:r>
          </a:p>
          <a:p>
            <a:pPr marL="0" indent="0">
              <a:buNone/>
            </a:pPr>
            <a:r>
              <a:rPr lang="en-US" dirty="0">
                <a:solidFill>
                  <a:schemeClr val="accent1"/>
                </a:solidFill>
              </a:rPr>
              <a:t>              [average earnings among drafted]    </a:t>
            </a:r>
          </a:p>
          <a:p>
            <a:pPr marL="0" indent="0" algn="ctr">
              <a:buNone/>
            </a:pPr>
            <a:r>
              <a:rPr lang="en-US" dirty="0">
                <a:solidFill>
                  <a:schemeClr val="accent1"/>
                </a:solidFill>
              </a:rPr>
              <a:t>            – [average earnings among non-drafted] </a:t>
            </a:r>
          </a:p>
        </p:txBody>
      </p:sp>
      <p:sp>
        <p:nvSpPr>
          <p:cNvPr id="6" name="TextBox 5">
            <a:extLst>
              <a:ext uri="{FF2B5EF4-FFF2-40B4-BE49-F238E27FC236}">
                <a16:creationId xmlns:a16="http://schemas.microsoft.com/office/drawing/2014/main" id="{32F491A9-8335-F229-0998-6AFCCAEBD47E}"/>
              </a:ext>
            </a:extLst>
          </p:cNvPr>
          <p:cNvSpPr txBox="1"/>
          <p:nvPr/>
        </p:nvSpPr>
        <p:spPr>
          <a:xfrm>
            <a:off x="5414076" y="4271757"/>
            <a:ext cx="4783810" cy="954107"/>
          </a:xfrm>
          <a:prstGeom prst="rect">
            <a:avLst/>
          </a:prstGeom>
          <a:noFill/>
        </p:spPr>
        <p:txBody>
          <a:bodyPr wrap="square" rtlCol="0">
            <a:spAutoFit/>
          </a:bodyPr>
          <a:lstStyle/>
          <a:p>
            <a:pPr algn="ctr"/>
            <a:r>
              <a:rPr lang="en-US" sz="2800" dirty="0"/>
              <a:t>How is this related to your pre-class reflection?</a:t>
            </a:r>
          </a:p>
        </p:txBody>
      </p:sp>
      <p:grpSp>
        <p:nvGrpSpPr>
          <p:cNvPr id="8" name="Group 7">
            <a:extLst>
              <a:ext uri="{FF2B5EF4-FFF2-40B4-BE49-F238E27FC236}">
                <a16:creationId xmlns:a16="http://schemas.microsoft.com/office/drawing/2014/main" id="{68565DFD-ED88-1A8C-A3FF-A2954773FFE5}"/>
              </a:ext>
            </a:extLst>
          </p:cNvPr>
          <p:cNvGrpSpPr/>
          <p:nvPr/>
        </p:nvGrpSpPr>
        <p:grpSpPr>
          <a:xfrm>
            <a:off x="349102" y="3844164"/>
            <a:ext cx="5350323" cy="2648711"/>
            <a:chOff x="349102" y="3844164"/>
            <a:chExt cx="5350323" cy="2648711"/>
          </a:xfrm>
        </p:grpSpPr>
        <p:pic>
          <p:nvPicPr>
            <p:cNvPr id="5" name="Picture 4">
              <a:extLst>
                <a:ext uri="{FF2B5EF4-FFF2-40B4-BE49-F238E27FC236}">
                  <a16:creationId xmlns:a16="http://schemas.microsoft.com/office/drawing/2014/main" id="{A8CAEF0E-D03E-5F93-D7A5-3F25D673A944}"/>
                </a:ext>
              </a:extLst>
            </p:cNvPr>
            <p:cNvPicPr>
              <a:picLocks noChangeAspect="1"/>
            </p:cNvPicPr>
            <p:nvPr/>
          </p:nvPicPr>
          <p:blipFill>
            <a:blip r:embed="rId3"/>
            <a:stretch>
              <a:fillRect/>
            </a:stretch>
          </p:blipFill>
          <p:spPr>
            <a:xfrm>
              <a:off x="349102" y="3844164"/>
              <a:ext cx="3372293" cy="2648711"/>
            </a:xfrm>
            <a:prstGeom prst="rect">
              <a:avLst/>
            </a:prstGeom>
          </p:spPr>
        </p:pic>
        <p:sp>
          <p:nvSpPr>
            <p:cNvPr id="7" name="TextBox 6">
              <a:extLst>
                <a:ext uri="{FF2B5EF4-FFF2-40B4-BE49-F238E27FC236}">
                  <a16:creationId xmlns:a16="http://schemas.microsoft.com/office/drawing/2014/main" id="{E0A05316-9E3B-39B9-19D9-BAA3D38F3395}"/>
                </a:ext>
              </a:extLst>
            </p:cNvPr>
            <p:cNvSpPr txBox="1"/>
            <p:nvPr/>
          </p:nvSpPr>
          <p:spPr>
            <a:xfrm>
              <a:off x="3436047" y="5683014"/>
              <a:ext cx="2263378" cy="646331"/>
            </a:xfrm>
            <a:prstGeom prst="rect">
              <a:avLst/>
            </a:prstGeom>
            <a:noFill/>
          </p:spPr>
          <p:txBody>
            <a:bodyPr wrap="square">
              <a:spAutoFit/>
            </a:bodyPr>
            <a:lstStyle/>
            <a:p>
              <a:r>
                <a:rPr lang="en-US" sz="3600" b="1" dirty="0"/>
                <a:t>Discuss! </a:t>
              </a:r>
              <a:endParaRPr lang="en-US" sz="3600" dirty="0"/>
            </a:p>
          </p:txBody>
        </p:sp>
      </p:grpSp>
    </p:spTree>
    <p:extLst>
      <p:ext uri="{BB962C8B-B14F-4D97-AF65-F5344CB8AC3E}">
        <p14:creationId xmlns:p14="http://schemas.microsoft.com/office/powerpoint/2010/main" val="423629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1CD56-6BA8-A0D9-A2A0-E085FE8C308F}"/>
              </a:ext>
            </a:extLst>
          </p:cNvPr>
          <p:cNvSpPr>
            <a:spLocks noGrp="1"/>
          </p:cNvSpPr>
          <p:nvPr>
            <p:ph type="title"/>
          </p:nvPr>
        </p:nvSpPr>
        <p:spPr/>
        <p:txBody>
          <a:bodyPr/>
          <a:lstStyle/>
          <a:p>
            <a:r>
              <a:rPr lang="en-US" dirty="0"/>
              <a:t>A few issues</a:t>
            </a:r>
          </a:p>
        </p:txBody>
      </p:sp>
      <p:sp>
        <p:nvSpPr>
          <p:cNvPr id="3" name="Content Placeholder 2">
            <a:extLst>
              <a:ext uri="{FF2B5EF4-FFF2-40B4-BE49-F238E27FC236}">
                <a16:creationId xmlns:a16="http://schemas.microsoft.com/office/drawing/2014/main" id="{124F2963-EC76-7388-63A3-F459234C0500}"/>
              </a:ext>
            </a:extLst>
          </p:cNvPr>
          <p:cNvSpPr>
            <a:spLocks noGrp="1"/>
          </p:cNvSpPr>
          <p:nvPr>
            <p:ph idx="1"/>
          </p:nvPr>
        </p:nvSpPr>
        <p:spPr/>
        <p:txBody>
          <a:bodyPr/>
          <a:lstStyle/>
          <a:p>
            <a:r>
              <a:rPr lang="en-US" dirty="0"/>
              <a:t>Not all men who were drafted served</a:t>
            </a:r>
          </a:p>
          <a:p>
            <a:pPr lvl="1"/>
            <a:r>
              <a:rPr lang="en-US" dirty="0">
                <a:solidFill>
                  <a:schemeClr val="accent1"/>
                </a:solidFill>
              </a:rPr>
              <a:t>Some were conscientious objectors; some pursued educational deferment; some were unfit for duty; some ran away to Canada; …</a:t>
            </a:r>
          </a:p>
          <a:p>
            <a:r>
              <a:rPr lang="en-US" dirty="0"/>
              <a:t>Not all men who were not drafted did not serve</a:t>
            </a:r>
          </a:p>
          <a:p>
            <a:pPr lvl="1"/>
            <a:r>
              <a:rPr lang="en-US" dirty="0">
                <a:solidFill>
                  <a:schemeClr val="accent1"/>
                </a:solidFill>
              </a:rPr>
              <a:t>Some voluntarily signed up</a:t>
            </a:r>
          </a:p>
        </p:txBody>
      </p:sp>
      <p:grpSp>
        <p:nvGrpSpPr>
          <p:cNvPr id="4" name="Group 3">
            <a:extLst>
              <a:ext uri="{FF2B5EF4-FFF2-40B4-BE49-F238E27FC236}">
                <a16:creationId xmlns:a16="http://schemas.microsoft.com/office/drawing/2014/main" id="{9C818084-99F3-B93B-0A9E-26A52563C2BB}"/>
              </a:ext>
            </a:extLst>
          </p:cNvPr>
          <p:cNvGrpSpPr/>
          <p:nvPr/>
        </p:nvGrpSpPr>
        <p:grpSpPr>
          <a:xfrm flipH="1">
            <a:off x="4443412" y="4467062"/>
            <a:ext cx="5575847" cy="2390938"/>
            <a:chOff x="2684536" y="4051516"/>
            <a:chExt cx="7041713" cy="2390938"/>
          </a:xfrm>
        </p:grpSpPr>
        <p:pic>
          <p:nvPicPr>
            <p:cNvPr id="5" name="Picture 4">
              <a:extLst>
                <a:ext uri="{FF2B5EF4-FFF2-40B4-BE49-F238E27FC236}">
                  <a16:creationId xmlns:a16="http://schemas.microsoft.com/office/drawing/2014/main" id="{4969C0C9-C575-FD3B-9ADF-A7A2B44D362D}"/>
                </a:ext>
              </a:extLst>
            </p:cNvPr>
            <p:cNvPicPr>
              <a:picLocks noChangeAspect="1"/>
            </p:cNvPicPr>
            <p:nvPr/>
          </p:nvPicPr>
          <p:blipFill>
            <a:blip r:embed="rId3"/>
            <a:stretch>
              <a:fillRect/>
            </a:stretch>
          </p:blipFill>
          <p:spPr>
            <a:xfrm flipH="1">
              <a:off x="2684536" y="4314977"/>
              <a:ext cx="1146772" cy="2127477"/>
            </a:xfrm>
            <a:prstGeom prst="rect">
              <a:avLst/>
            </a:prstGeom>
          </p:spPr>
        </p:pic>
        <p:sp>
          <p:nvSpPr>
            <p:cNvPr id="6" name="TextBox 5">
              <a:extLst>
                <a:ext uri="{FF2B5EF4-FFF2-40B4-BE49-F238E27FC236}">
                  <a16:creationId xmlns:a16="http://schemas.microsoft.com/office/drawing/2014/main" id="{B8BB10FB-EE7C-D38B-454F-DD64666C84C1}"/>
                </a:ext>
              </a:extLst>
            </p:cNvPr>
            <p:cNvSpPr txBox="1"/>
            <p:nvPr/>
          </p:nvSpPr>
          <p:spPr>
            <a:xfrm>
              <a:off x="3831311" y="4051516"/>
              <a:ext cx="5894938" cy="1323439"/>
            </a:xfrm>
            <a:prstGeom prst="rect">
              <a:avLst/>
            </a:prstGeom>
            <a:noFill/>
          </p:spPr>
          <p:txBody>
            <a:bodyPr wrap="square" rtlCol="0">
              <a:spAutoFit/>
            </a:bodyPr>
            <a:lstStyle/>
            <a:p>
              <a:pPr algn="r"/>
              <a:r>
                <a:rPr lang="en-US" sz="2000" dirty="0">
                  <a:solidFill>
                    <a:srgbClr val="0070C0"/>
                  </a:solidFill>
                </a:rPr>
                <a:t>This is a two-sided version of the problem in the pre-class reflection: </a:t>
              </a:r>
            </a:p>
            <a:p>
              <a:pPr algn="r"/>
              <a:r>
                <a:rPr lang="en-US" sz="2000" dirty="0">
                  <a:solidFill>
                    <a:srgbClr val="0070C0"/>
                  </a:solidFill>
                </a:rPr>
                <a:t>Not everyone assigned to the treatment group actually took the drug.</a:t>
              </a:r>
            </a:p>
          </p:txBody>
        </p:sp>
      </p:grpSp>
    </p:spTree>
    <p:extLst>
      <p:ext uri="{BB962C8B-B14F-4D97-AF65-F5344CB8AC3E}">
        <p14:creationId xmlns:p14="http://schemas.microsoft.com/office/powerpoint/2010/main" val="219368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AE04461-7D1C-F609-DA6B-4CA6BA769041}"/>
              </a:ext>
            </a:extLst>
          </p:cNvPr>
          <p:cNvSpPr/>
          <p:nvPr/>
        </p:nvSpPr>
        <p:spPr>
          <a:xfrm>
            <a:off x="2058771" y="2456100"/>
            <a:ext cx="10133229" cy="4401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8E507B6-A4B8-350E-870B-BEBD5E56FB2F}"/>
              </a:ext>
            </a:extLst>
          </p:cNvPr>
          <p:cNvGrpSpPr/>
          <p:nvPr/>
        </p:nvGrpSpPr>
        <p:grpSpPr>
          <a:xfrm>
            <a:off x="2645249" y="2433017"/>
            <a:ext cx="1497180" cy="4371377"/>
            <a:chOff x="2645249" y="2433017"/>
            <a:chExt cx="1497180" cy="4371377"/>
          </a:xfrm>
        </p:grpSpPr>
        <p:pic>
          <p:nvPicPr>
            <p:cNvPr id="21" name="Picture 20">
              <a:extLst>
                <a:ext uri="{FF2B5EF4-FFF2-40B4-BE49-F238E27FC236}">
                  <a16:creationId xmlns:a16="http://schemas.microsoft.com/office/drawing/2014/main" id="{04E205C5-D10A-7C65-BA0E-43BA8117C905}"/>
                </a:ext>
              </a:extLst>
            </p:cNvPr>
            <p:cNvPicPr>
              <a:picLocks noChangeAspect="1"/>
            </p:cNvPicPr>
            <p:nvPr/>
          </p:nvPicPr>
          <p:blipFill>
            <a:blip r:embed="rId3"/>
            <a:stretch>
              <a:fillRect/>
            </a:stretch>
          </p:blipFill>
          <p:spPr>
            <a:xfrm>
              <a:off x="2667236" y="2433017"/>
              <a:ext cx="1475193" cy="2227383"/>
            </a:xfrm>
            <a:prstGeom prst="rect">
              <a:avLst/>
            </a:prstGeom>
          </p:spPr>
        </p:pic>
        <p:pic>
          <p:nvPicPr>
            <p:cNvPr id="22" name="Picture 21">
              <a:extLst>
                <a:ext uri="{FF2B5EF4-FFF2-40B4-BE49-F238E27FC236}">
                  <a16:creationId xmlns:a16="http://schemas.microsoft.com/office/drawing/2014/main" id="{DE5D958A-25D5-C820-6744-C4B8B9A0A186}"/>
                </a:ext>
              </a:extLst>
            </p:cNvPr>
            <p:cNvPicPr>
              <a:picLocks noChangeAspect="1"/>
            </p:cNvPicPr>
            <p:nvPr/>
          </p:nvPicPr>
          <p:blipFill>
            <a:blip r:embed="rId3"/>
            <a:stretch>
              <a:fillRect/>
            </a:stretch>
          </p:blipFill>
          <p:spPr>
            <a:xfrm>
              <a:off x="2645249" y="4577011"/>
              <a:ext cx="1475193" cy="2227383"/>
            </a:xfrm>
            <a:prstGeom prst="rect">
              <a:avLst/>
            </a:prstGeom>
          </p:spPr>
        </p:pic>
      </p:grpSp>
      <p:sp>
        <p:nvSpPr>
          <p:cNvPr id="2" name="Title 1">
            <a:extLst>
              <a:ext uri="{FF2B5EF4-FFF2-40B4-BE49-F238E27FC236}">
                <a16:creationId xmlns:a16="http://schemas.microsoft.com/office/drawing/2014/main" id="{D5AA30B4-AB2B-561D-A959-F0136B90F346}"/>
              </a:ext>
            </a:extLst>
          </p:cNvPr>
          <p:cNvSpPr>
            <a:spLocks noGrp="1"/>
          </p:cNvSpPr>
          <p:nvPr>
            <p:ph type="title"/>
          </p:nvPr>
        </p:nvSpPr>
        <p:spPr>
          <a:xfrm>
            <a:off x="838200" y="175369"/>
            <a:ext cx="10515600" cy="1325563"/>
          </a:xfrm>
        </p:spPr>
        <p:txBody>
          <a:bodyPr/>
          <a:lstStyle/>
          <a:p>
            <a:r>
              <a:rPr lang="en-US" dirty="0"/>
              <a:t>Four types of people </a:t>
            </a:r>
            <a:r>
              <a:rPr lang="en-US" sz="2400" dirty="0"/>
              <a:t>(w/r/t the Vietnam draft)</a:t>
            </a:r>
            <a:endParaRPr lang="en-US" dirty="0"/>
          </a:p>
        </p:txBody>
      </p:sp>
      <p:sp>
        <p:nvSpPr>
          <p:cNvPr id="4" name="TextBox 3">
            <a:extLst>
              <a:ext uri="{FF2B5EF4-FFF2-40B4-BE49-F238E27FC236}">
                <a16:creationId xmlns:a16="http://schemas.microsoft.com/office/drawing/2014/main" id="{E0DB50F2-E626-E8F5-3168-C7F15C1D1579}"/>
              </a:ext>
            </a:extLst>
          </p:cNvPr>
          <p:cNvSpPr txBox="1"/>
          <p:nvPr/>
        </p:nvSpPr>
        <p:spPr>
          <a:xfrm>
            <a:off x="2364128" y="1871326"/>
            <a:ext cx="2028889" cy="584775"/>
          </a:xfrm>
          <a:prstGeom prst="rect">
            <a:avLst/>
          </a:prstGeom>
          <a:noFill/>
        </p:spPr>
        <p:txBody>
          <a:bodyPr wrap="none" rtlCol="0">
            <a:spAutoFit/>
          </a:bodyPr>
          <a:lstStyle/>
          <a:p>
            <a:r>
              <a:rPr lang="en-US" sz="3200" dirty="0"/>
              <a:t>Compliers</a:t>
            </a:r>
          </a:p>
        </p:txBody>
      </p:sp>
      <p:sp>
        <p:nvSpPr>
          <p:cNvPr id="5" name="TextBox 4">
            <a:extLst>
              <a:ext uri="{FF2B5EF4-FFF2-40B4-BE49-F238E27FC236}">
                <a16:creationId xmlns:a16="http://schemas.microsoft.com/office/drawing/2014/main" id="{D7B568F1-E3E0-272F-031C-93A0D9562479}"/>
              </a:ext>
            </a:extLst>
          </p:cNvPr>
          <p:cNvSpPr txBox="1"/>
          <p:nvPr/>
        </p:nvSpPr>
        <p:spPr>
          <a:xfrm>
            <a:off x="5050706" y="1355799"/>
            <a:ext cx="1853610" cy="1077218"/>
          </a:xfrm>
          <a:prstGeom prst="rect">
            <a:avLst/>
          </a:prstGeom>
          <a:noFill/>
        </p:spPr>
        <p:txBody>
          <a:bodyPr wrap="square" rtlCol="0">
            <a:spAutoFit/>
          </a:bodyPr>
          <a:lstStyle/>
          <a:p>
            <a:pPr algn="ctr"/>
            <a:r>
              <a:rPr lang="en-US" sz="3200" dirty="0"/>
              <a:t>Always-Takers</a:t>
            </a:r>
          </a:p>
        </p:txBody>
      </p:sp>
      <p:sp>
        <p:nvSpPr>
          <p:cNvPr id="6" name="TextBox 5">
            <a:extLst>
              <a:ext uri="{FF2B5EF4-FFF2-40B4-BE49-F238E27FC236}">
                <a16:creationId xmlns:a16="http://schemas.microsoft.com/office/drawing/2014/main" id="{6D0A180D-4389-029B-9B3C-5FFE6D32F46B}"/>
              </a:ext>
            </a:extLst>
          </p:cNvPr>
          <p:cNvSpPr txBox="1"/>
          <p:nvPr/>
        </p:nvSpPr>
        <p:spPr>
          <a:xfrm>
            <a:off x="7562006" y="1355799"/>
            <a:ext cx="1853610" cy="1077218"/>
          </a:xfrm>
          <a:prstGeom prst="rect">
            <a:avLst/>
          </a:prstGeom>
          <a:noFill/>
        </p:spPr>
        <p:txBody>
          <a:bodyPr wrap="square" rtlCol="0">
            <a:spAutoFit/>
          </a:bodyPr>
          <a:lstStyle/>
          <a:p>
            <a:pPr algn="ctr"/>
            <a:r>
              <a:rPr lang="en-US" sz="3200" dirty="0"/>
              <a:t>Never-Takers</a:t>
            </a:r>
          </a:p>
        </p:txBody>
      </p:sp>
      <p:sp>
        <p:nvSpPr>
          <p:cNvPr id="7" name="TextBox 6">
            <a:extLst>
              <a:ext uri="{FF2B5EF4-FFF2-40B4-BE49-F238E27FC236}">
                <a16:creationId xmlns:a16="http://schemas.microsoft.com/office/drawing/2014/main" id="{60D4AA83-1212-6F15-B10B-ED34DA9E4921}"/>
              </a:ext>
            </a:extLst>
          </p:cNvPr>
          <p:cNvSpPr txBox="1"/>
          <p:nvPr/>
        </p:nvSpPr>
        <p:spPr>
          <a:xfrm>
            <a:off x="10264849" y="1851819"/>
            <a:ext cx="2688265" cy="584775"/>
          </a:xfrm>
          <a:prstGeom prst="rect">
            <a:avLst/>
          </a:prstGeom>
          <a:noFill/>
        </p:spPr>
        <p:txBody>
          <a:bodyPr wrap="square" rtlCol="0">
            <a:spAutoFit/>
          </a:bodyPr>
          <a:lstStyle/>
          <a:p>
            <a:r>
              <a:rPr lang="en-US" sz="3200" dirty="0"/>
              <a:t>Defiers</a:t>
            </a:r>
          </a:p>
        </p:txBody>
      </p:sp>
      <p:sp>
        <p:nvSpPr>
          <p:cNvPr id="8" name="TextBox 7">
            <a:extLst>
              <a:ext uri="{FF2B5EF4-FFF2-40B4-BE49-F238E27FC236}">
                <a16:creationId xmlns:a16="http://schemas.microsoft.com/office/drawing/2014/main" id="{E6FA8BE2-454A-4026-95D3-C17DB1216ACD}"/>
              </a:ext>
            </a:extLst>
          </p:cNvPr>
          <p:cNvSpPr txBox="1"/>
          <p:nvPr/>
        </p:nvSpPr>
        <p:spPr>
          <a:xfrm>
            <a:off x="544189" y="3429000"/>
            <a:ext cx="1514582" cy="584775"/>
          </a:xfrm>
          <a:prstGeom prst="rect">
            <a:avLst/>
          </a:prstGeom>
          <a:noFill/>
        </p:spPr>
        <p:txBody>
          <a:bodyPr wrap="none" rtlCol="0">
            <a:spAutoFit/>
          </a:bodyPr>
          <a:lstStyle/>
          <a:p>
            <a:r>
              <a:rPr lang="en-US" sz="3200" dirty="0"/>
              <a:t>Drafted</a:t>
            </a:r>
          </a:p>
        </p:txBody>
      </p:sp>
      <p:sp>
        <p:nvSpPr>
          <p:cNvPr id="9" name="TextBox 8">
            <a:extLst>
              <a:ext uri="{FF2B5EF4-FFF2-40B4-BE49-F238E27FC236}">
                <a16:creationId xmlns:a16="http://schemas.microsoft.com/office/drawing/2014/main" id="{B6209267-D180-B510-084A-A6F5497A5D56}"/>
              </a:ext>
            </a:extLst>
          </p:cNvPr>
          <p:cNvSpPr txBox="1"/>
          <p:nvPr/>
        </p:nvSpPr>
        <p:spPr>
          <a:xfrm>
            <a:off x="544189" y="5213478"/>
            <a:ext cx="1514582" cy="1077218"/>
          </a:xfrm>
          <a:prstGeom prst="rect">
            <a:avLst/>
          </a:prstGeom>
          <a:noFill/>
        </p:spPr>
        <p:txBody>
          <a:bodyPr wrap="none" rtlCol="0">
            <a:spAutoFit/>
          </a:bodyPr>
          <a:lstStyle/>
          <a:p>
            <a:pPr algn="r"/>
            <a:r>
              <a:rPr lang="en-US" sz="3200" dirty="0"/>
              <a:t>Not </a:t>
            </a:r>
          </a:p>
          <a:p>
            <a:pPr algn="r"/>
            <a:r>
              <a:rPr lang="en-US" sz="3200" dirty="0"/>
              <a:t>Drafted</a:t>
            </a:r>
          </a:p>
        </p:txBody>
      </p:sp>
      <p:cxnSp>
        <p:nvCxnSpPr>
          <p:cNvPr id="12" name="Straight Connector 11">
            <a:extLst>
              <a:ext uri="{FF2B5EF4-FFF2-40B4-BE49-F238E27FC236}">
                <a16:creationId xmlns:a16="http://schemas.microsoft.com/office/drawing/2014/main" id="{79721904-0ABE-51EA-41CC-495E7F9D5DD7}"/>
              </a:ext>
            </a:extLst>
          </p:cNvPr>
          <p:cNvCxnSpPr>
            <a:stCxn id="10" idx="1"/>
            <a:endCxn id="10" idx="3"/>
          </p:cNvCxnSpPr>
          <p:nvPr/>
        </p:nvCxnSpPr>
        <p:spPr>
          <a:xfrm>
            <a:off x="2058771" y="4657050"/>
            <a:ext cx="101332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A50FD99-1C1C-566C-137B-06A6D6DA592A}"/>
              </a:ext>
            </a:extLst>
          </p:cNvPr>
          <p:cNvCxnSpPr>
            <a:cxnSpLocks/>
          </p:cNvCxnSpPr>
          <p:nvPr/>
        </p:nvCxnSpPr>
        <p:spPr>
          <a:xfrm>
            <a:off x="4720856"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46BC01C-ADB0-95AB-2EEC-932EBF3F640A}"/>
              </a:ext>
            </a:extLst>
          </p:cNvPr>
          <p:cNvCxnSpPr>
            <a:cxnSpLocks/>
          </p:cNvCxnSpPr>
          <p:nvPr/>
        </p:nvCxnSpPr>
        <p:spPr>
          <a:xfrm>
            <a:off x="7226838"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AA58D98-F793-41F5-2054-9DDF4C3C01ED}"/>
              </a:ext>
            </a:extLst>
          </p:cNvPr>
          <p:cNvCxnSpPr>
            <a:cxnSpLocks/>
          </p:cNvCxnSpPr>
          <p:nvPr/>
        </p:nvCxnSpPr>
        <p:spPr>
          <a:xfrm>
            <a:off x="9734992" y="2456099"/>
            <a:ext cx="0" cy="4391282"/>
          </a:xfrm>
          <a:prstGeom prst="line">
            <a:avLst/>
          </a:prstGeom>
        </p:spPr>
        <p:style>
          <a:lnRef idx="2">
            <a:schemeClr val="accent1"/>
          </a:lnRef>
          <a:fillRef idx="0">
            <a:schemeClr val="accent1"/>
          </a:fillRef>
          <a:effectRef idx="1">
            <a:schemeClr val="accent1"/>
          </a:effectRef>
          <a:fontRef idx="minor">
            <a:schemeClr val="tx1"/>
          </a:fontRef>
        </p:style>
      </p:cxnSp>
      <p:pic>
        <p:nvPicPr>
          <p:cNvPr id="4100" name="Picture 4" descr="Military Beret Cap With Star PNG &amp; SVG Design For T-Shirts">
            <a:extLst>
              <a:ext uri="{FF2B5EF4-FFF2-40B4-BE49-F238E27FC236}">
                <a16:creationId xmlns:a16="http://schemas.microsoft.com/office/drawing/2014/main" id="{12340F13-4F91-A005-CA7C-4071A95B6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4951" y="2346568"/>
            <a:ext cx="873458" cy="87345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Tie Dye T-Shirt - Classic Rainbow Spiral - Psychedelic Shirt">
            <a:extLst>
              <a:ext uri="{FF2B5EF4-FFF2-40B4-BE49-F238E27FC236}">
                <a16:creationId xmlns:a16="http://schemas.microsoft.com/office/drawing/2014/main" id="{14CC4E82-7D33-5A84-166B-F176B8F8DBF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682"/>
          <a:stretch/>
        </p:blipFill>
        <p:spPr bwMode="auto">
          <a:xfrm>
            <a:off x="2894354" y="5475296"/>
            <a:ext cx="1017530" cy="731520"/>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1BBC7DBE-3F68-EFBA-1B6C-3BBE69110994}"/>
              </a:ext>
            </a:extLst>
          </p:cNvPr>
          <p:cNvGrpSpPr/>
          <p:nvPr/>
        </p:nvGrpSpPr>
        <p:grpSpPr>
          <a:xfrm>
            <a:off x="5311148" y="2586750"/>
            <a:ext cx="1232331" cy="4341706"/>
            <a:chOff x="5311148" y="2586750"/>
            <a:chExt cx="1232331" cy="4341706"/>
          </a:xfrm>
        </p:grpSpPr>
        <p:pic>
          <p:nvPicPr>
            <p:cNvPr id="23" name="Picture 7" descr="Adoptable Rabbits | morabbit">
              <a:extLst>
                <a:ext uri="{FF2B5EF4-FFF2-40B4-BE49-F238E27FC236}">
                  <a16:creationId xmlns:a16="http://schemas.microsoft.com/office/drawing/2014/main" id="{B0B6B579-B5D1-9EB1-75C7-1F26EE3FC6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333791" y="2702649"/>
              <a:ext cx="1209688" cy="199163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7" descr="Adoptable Rabbits | morabbit">
              <a:extLst>
                <a:ext uri="{FF2B5EF4-FFF2-40B4-BE49-F238E27FC236}">
                  <a16:creationId xmlns:a16="http://schemas.microsoft.com/office/drawing/2014/main" id="{EE957FF5-A69D-F416-9942-4C6997656C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311148" y="4936817"/>
              <a:ext cx="1209688" cy="199163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Military Beret Cap With Star PNG &amp; SVG Design For T-Shirts">
              <a:extLst>
                <a:ext uri="{FF2B5EF4-FFF2-40B4-BE49-F238E27FC236}">
                  <a16:creationId xmlns:a16="http://schemas.microsoft.com/office/drawing/2014/main" id="{CED960D0-FF0C-80CA-1348-79DAFD3436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3769" y="2586750"/>
              <a:ext cx="710622" cy="71062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Military Beret Cap With Star PNG &amp; SVG Design For T-Shirts">
              <a:extLst>
                <a:ext uri="{FF2B5EF4-FFF2-40B4-BE49-F238E27FC236}">
                  <a16:creationId xmlns:a16="http://schemas.microsoft.com/office/drawing/2014/main" id="{15B88F10-388D-0BDE-6544-00AB212660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9882" y="4837230"/>
              <a:ext cx="710622" cy="7106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a:extLst>
              <a:ext uri="{FF2B5EF4-FFF2-40B4-BE49-F238E27FC236}">
                <a16:creationId xmlns:a16="http://schemas.microsoft.com/office/drawing/2014/main" id="{B174D215-8FBF-9E7C-6561-9EA7B598EE15}"/>
              </a:ext>
            </a:extLst>
          </p:cNvPr>
          <p:cNvGrpSpPr/>
          <p:nvPr/>
        </p:nvGrpSpPr>
        <p:grpSpPr>
          <a:xfrm>
            <a:off x="7695117" y="2824992"/>
            <a:ext cx="1462748" cy="3597957"/>
            <a:chOff x="7695117" y="2824992"/>
            <a:chExt cx="1462748" cy="3597957"/>
          </a:xfrm>
        </p:grpSpPr>
        <p:pic>
          <p:nvPicPr>
            <p:cNvPr id="28" name="Picture 27">
              <a:extLst>
                <a:ext uri="{FF2B5EF4-FFF2-40B4-BE49-F238E27FC236}">
                  <a16:creationId xmlns:a16="http://schemas.microsoft.com/office/drawing/2014/main" id="{0790A24B-348F-013A-7743-DBBFDC6A3AAF}"/>
                </a:ext>
              </a:extLst>
            </p:cNvPr>
            <p:cNvPicPr>
              <a:picLocks noChangeAspect="1"/>
            </p:cNvPicPr>
            <p:nvPr/>
          </p:nvPicPr>
          <p:blipFill>
            <a:blip r:embed="rId7"/>
            <a:stretch>
              <a:fillRect/>
            </a:stretch>
          </p:blipFill>
          <p:spPr>
            <a:xfrm>
              <a:off x="7742706" y="2824992"/>
              <a:ext cx="1165158" cy="1477341"/>
            </a:xfrm>
            <a:prstGeom prst="rect">
              <a:avLst/>
            </a:prstGeom>
          </p:spPr>
        </p:pic>
        <p:pic>
          <p:nvPicPr>
            <p:cNvPr id="29" name="Picture 28">
              <a:extLst>
                <a:ext uri="{FF2B5EF4-FFF2-40B4-BE49-F238E27FC236}">
                  <a16:creationId xmlns:a16="http://schemas.microsoft.com/office/drawing/2014/main" id="{5B482C95-A39C-5124-A28E-E3D1E48C0BA1}"/>
                </a:ext>
              </a:extLst>
            </p:cNvPr>
            <p:cNvPicPr>
              <a:picLocks noChangeAspect="1"/>
            </p:cNvPicPr>
            <p:nvPr/>
          </p:nvPicPr>
          <p:blipFill>
            <a:blip r:embed="rId7"/>
            <a:stretch>
              <a:fillRect/>
            </a:stretch>
          </p:blipFill>
          <p:spPr>
            <a:xfrm>
              <a:off x="7695117" y="4945608"/>
              <a:ext cx="1165158" cy="1477341"/>
            </a:xfrm>
            <a:prstGeom prst="rect">
              <a:avLst/>
            </a:prstGeom>
          </p:spPr>
        </p:pic>
        <p:pic>
          <p:nvPicPr>
            <p:cNvPr id="25" name="Picture 6" descr="Tie Dye T-Shirt - Classic Rainbow Spiral - Psychedelic Shirt">
              <a:extLst>
                <a:ext uri="{FF2B5EF4-FFF2-40B4-BE49-F238E27FC236}">
                  <a16:creationId xmlns:a16="http://schemas.microsoft.com/office/drawing/2014/main" id="{5AB7EE18-4AE4-88A4-EC62-111B567221C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7742706" y="3341198"/>
              <a:ext cx="1415159" cy="73152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Tie Dye T-Shirt - Classic Rainbow Spiral - Psychedelic Shirt">
              <a:extLst>
                <a:ext uri="{FF2B5EF4-FFF2-40B4-BE49-F238E27FC236}">
                  <a16:creationId xmlns:a16="http://schemas.microsoft.com/office/drawing/2014/main" id="{B53B1BAF-BD84-8EED-78B4-DA5704E2AC8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7699679" y="5446416"/>
              <a:ext cx="1415159" cy="7315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roup 17">
            <a:extLst>
              <a:ext uri="{FF2B5EF4-FFF2-40B4-BE49-F238E27FC236}">
                <a16:creationId xmlns:a16="http://schemas.microsoft.com/office/drawing/2014/main" id="{0356ADF6-3991-3B4A-7416-A364EE0190DB}"/>
              </a:ext>
            </a:extLst>
          </p:cNvPr>
          <p:cNvGrpSpPr/>
          <p:nvPr/>
        </p:nvGrpSpPr>
        <p:grpSpPr>
          <a:xfrm>
            <a:off x="10208179" y="2763767"/>
            <a:ext cx="1386423" cy="3659182"/>
            <a:chOff x="10208179" y="2763767"/>
            <a:chExt cx="1386423" cy="3659182"/>
          </a:xfrm>
        </p:grpSpPr>
        <p:pic>
          <p:nvPicPr>
            <p:cNvPr id="31" name="Picture 30">
              <a:extLst>
                <a:ext uri="{FF2B5EF4-FFF2-40B4-BE49-F238E27FC236}">
                  <a16:creationId xmlns:a16="http://schemas.microsoft.com/office/drawing/2014/main" id="{39B4AE11-667E-F857-E098-4CB888180C6D}"/>
                </a:ext>
              </a:extLst>
            </p:cNvPr>
            <p:cNvPicPr>
              <a:picLocks noChangeAspect="1"/>
            </p:cNvPicPr>
            <p:nvPr/>
          </p:nvPicPr>
          <p:blipFill>
            <a:blip r:embed="rId8"/>
            <a:stretch>
              <a:fillRect/>
            </a:stretch>
          </p:blipFill>
          <p:spPr>
            <a:xfrm>
              <a:off x="10355147" y="2763767"/>
              <a:ext cx="1239455" cy="1560585"/>
            </a:xfrm>
            <a:prstGeom prst="rect">
              <a:avLst/>
            </a:prstGeom>
          </p:spPr>
        </p:pic>
        <p:pic>
          <p:nvPicPr>
            <p:cNvPr id="32" name="Picture 31">
              <a:extLst>
                <a:ext uri="{FF2B5EF4-FFF2-40B4-BE49-F238E27FC236}">
                  <a16:creationId xmlns:a16="http://schemas.microsoft.com/office/drawing/2014/main" id="{EF405DAA-10AB-785A-AD30-6A4C0824FC9A}"/>
                </a:ext>
              </a:extLst>
            </p:cNvPr>
            <p:cNvPicPr>
              <a:picLocks noChangeAspect="1"/>
            </p:cNvPicPr>
            <p:nvPr/>
          </p:nvPicPr>
          <p:blipFill>
            <a:blip r:embed="rId8"/>
            <a:stretch>
              <a:fillRect/>
            </a:stretch>
          </p:blipFill>
          <p:spPr>
            <a:xfrm>
              <a:off x="10341620" y="4862364"/>
              <a:ext cx="1239455" cy="1560585"/>
            </a:xfrm>
            <a:prstGeom prst="rect">
              <a:avLst/>
            </a:prstGeom>
          </p:spPr>
        </p:pic>
        <p:pic>
          <p:nvPicPr>
            <p:cNvPr id="33" name="Picture 6" descr="Tie Dye T-Shirt - Classic Rainbow Spiral - Psychedelic Shirt">
              <a:extLst>
                <a:ext uri="{FF2B5EF4-FFF2-40B4-BE49-F238E27FC236}">
                  <a16:creationId xmlns:a16="http://schemas.microsoft.com/office/drawing/2014/main" id="{7F0E2A8A-63E0-0688-4BDE-72E291C77AC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10208179" y="3440521"/>
              <a:ext cx="1252013" cy="64718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Military Beret Cap With Star PNG &amp; SVG Design For T-Shirts">
              <a:extLst>
                <a:ext uri="{FF2B5EF4-FFF2-40B4-BE49-F238E27FC236}">
                  <a16:creationId xmlns:a16="http://schemas.microsoft.com/office/drawing/2014/main" id="{404EE8F1-7981-1E04-0BDD-5A1417DC89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1995" y="4900604"/>
              <a:ext cx="649642" cy="6496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2278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30B4-AB2B-561D-A959-F0136B90F346}"/>
              </a:ext>
            </a:extLst>
          </p:cNvPr>
          <p:cNvSpPr>
            <a:spLocks noGrp="1"/>
          </p:cNvSpPr>
          <p:nvPr>
            <p:ph type="title"/>
          </p:nvPr>
        </p:nvSpPr>
        <p:spPr>
          <a:xfrm>
            <a:off x="838200" y="175369"/>
            <a:ext cx="10515600" cy="1325563"/>
          </a:xfrm>
        </p:spPr>
        <p:txBody>
          <a:bodyPr/>
          <a:lstStyle/>
          <a:p>
            <a:r>
              <a:rPr lang="en-US" dirty="0"/>
              <a:t>Four types of people </a:t>
            </a:r>
            <a:r>
              <a:rPr lang="en-US" sz="2400" dirty="0"/>
              <a:t>(w/r/t the Vietnam draft)</a:t>
            </a:r>
            <a:endParaRPr lang="en-US" dirty="0"/>
          </a:p>
        </p:txBody>
      </p:sp>
      <p:sp>
        <p:nvSpPr>
          <p:cNvPr id="4" name="TextBox 3">
            <a:extLst>
              <a:ext uri="{FF2B5EF4-FFF2-40B4-BE49-F238E27FC236}">
                <a16:creationId xmlns:a16="http://schemas.microsoft.com/office/drawing/2014/main" id="{E0DB50F2-E626-E8F5-3168-C7F15C1D1579}"/>
              </a:ext>
            </a:extLst>
          </p:cNvPr>
          <p:cNvSpPr txBox="1"/>
          <p:nvPr/>
        </p:nvSpPr>
        <p:spPr>
          <a:xfrm>
            <a:off x="2364128" y="1871326"/>
            <a:ext cx="2028889" cy="584775"/>
          </a:xfrm>
          <a:prstGeom prst="rect">
            <a:avLst/>
          </a:prstGeom>
          <a:noFill/>
        </p:spPr>
        <p:txBody>
          <a:bodyPr wrap="none" rtlCol="0">
            <a:spAutoFit/>
          </a:bodyPr>
          <a:lstStyle/>
          <a:p>
            <a:r>
              <a:rPr lang="en-US" sz="3200" dirty="0"/>
              <a:t>Compliers</a:t>
            </a:r>
          </a:p>
        </p:txBody>
      </p:sp>
      <p:sp>
        <p:nvSpPr>
          <p:cNvPr id="5" name="TextBox 4">
            <a:extLst>
              <a:ext uri="{FF2B5EF4-FFF2-40B4-BE49-F238E27FC236}">
                <a16:creationId xmlns:a16="http://schemas.microsoft.com/office/drawing/2014/main" id="{D7B568F1-E3E0-272F-031C-93A0D9562479}"/>
              </a:ext>
            </a:extLst>
          </p:cNvPr>
          <p:cNvSpPr txBox="1"/>
          <p:nvPr/>
        </p:nvSpPr>
        <p:spPr>
          <a:xfrm>
            <a:off x="5050706" y="1355799"/>
            <a:ext cx="1853610" cy="1077218"/>
          </a:xfrm>
          <a:prstGeom prst="rect">
            <a:avLst/>
          </a:prstGeom>
          <a:noFill/>
        </p:spPr>
        <p:txBody>
          <a:bodyPr wrap="square" rtlCol="0">
            <a:spAutoFit/>
          </a:bodyPr>
          <a:lstStyle/>
          <a:p>
            <a:pPr algn="ctr"/>
            <a:r>
              <a:rPr lang="en-US" sz="3200" dirty="0"/>
              <a:t>Always-Takers</a:t>
            </a:r>
          </a:p>
        </p:txBody>
      </p:sp>
      <p:sp>
        <p:nvSpPr>
          <p:cNvPr id="6" name="TextBox 5">
            <a:extLst>
              <a:ext uri="{FF2B5EF4-FFF2-40B4-BE49-F238E27FC236}">
                <a16:creationId xmlns:a16="http://schemas.microsoft.com/office/drawing/2014/main" id="{6D0A180D-4389-029B-9B3C-5FFE6D32F46B}"/>
              </a:ext>
            </a:extLst>
          </p:cNvPr>
          <p:cNvSpPr txBox="1"/>
          <p:nvPr/>
        </p:nvSpPr>
        <p:spPr>
          <a:xfrm>
            <a:off x="7562006" y="1355799"/>
            <a:ext cx="1853610" cy="1077218"/>
          </a:xfrm>
          <a:prstGeom prst="rect">
            <a:avLst/>
          </a:prstGeom>
          <a:noFill/>
        </p:spPr>
        <p:txBody>
          <a:bodyPr wrap="square" rtlCol="0">
            <a:spAutoFit/>
          </a:bodyPr>
          <a:lstStyle/>
          <a:p>
            <a:pPr algn="ctr"/>
            <a:r>
              <a:rPr lang="en-US" sz="3200" dirty="0"/>
              <a:t>Never-Takers</a:t>
            </a:r>
          </a:p>
        </p:txBody>
      </p:sp>
      <p:sp>
        <p:nvSpPr>
          <p:cNvPr id="7" name="TextBox 6">
            <a:extLst>
              <a:ext uri="{FF2B5EF4-FFF2-40B4-BE49-F238E27FC236}">
                <a16:creationId xmlns:a16="http://schemas.microsoft.com/office/drawing/2014/main" id="{60D4AA83-1212-6F15-B10B-ED34DA9E4921}"/>
              </a:ext>
            </a:extLst>
          </p:cNvPr>
          <p:cNvSpPr txBox="1"/>
          <p:nvPr/>
        </p:nvSpPr>
        <p:spPr>
          <a:xfrm>
            <a:off x="10264849" y="1851819"/>
            <a:ext cx="2688265" cy="584775"/>
          </a:xfrm>
          <a:prstGeom prst="rect">
            <a:avLst/>
          </a:prstGeom>
          <a:noFill/>
        </p:spPr>
        <p:txBody>
          <a:bodyPr wrap="square" rtlCol="0">
            <a:spAutoFit/>
          </a:bodyPr>
          <a:lstStyle/>
          <a:p>
            <a:r>
              <a:rPr lang="en-US" sz="3200" dirty="0"/>
              <a:t>Defiers</a:t>
            </a:r>
          </a:p>
        </p:txBody>
      </p:sp>
      <p:sp>
        <p:nvSpPr>
          <p:cNvPr id="8" name="TextBox 7">
            <a:extLst>
              <a:ext uri="{FF2B5EF4-FFF2-40B4-BE49-F238E27FC236}">
                <a16:creationId xmlns:a16="http://schemas.microsoft.com/office/drawing/2014/main" id="{E6FA8BE2-454A-4026-95D3-C17DB1216ACD}"/>
              </a:ext>
            </a:extLst>
          </p:cNvPr>
          <p:cNvSpPr txBox="1"/>
          <p:nvPr/>
        </p:nvSpPr>
        <p:spPr>
          <a:xfrm>
            <a:off x="544189" y="3429000"/>
            <a:ext cx="1514582" cy="584775"/>
          </a:xfrm>
          <a:prstGeom prst="rect">
            <a:avLst/>
          </a:prstGeom>
          <a:noFill/>
        </p:spPr>
        <p:txBody>
          <a:bodyPr wrap="none" rtlCol="0">
            <a:spAutoFit/>
          </a:bodyPr>
          <a:lstStyle/>
          <a:p>
            <a:r>
              <a:rPr lang="en-US" sz="3200" dirty="0"/>
              <a:t>Drafted</a:t>
            </a:r>
          </a:p>
        </p:txBody>
      </p:sp>
      <p:sp>
        <p:nvSpPr>
          <p:cNvPr id="9" name="TextBox 8">
            <a:extLst>
              <a:ext uri="{FF2B5EF4-FFF2-40B4-BE49-F238E27FC236}">
                <a16:creationId xmlns:a16="http://schemas.microsoft.com/office/drawing/2014/main" id="{B6209267-D180-B510-084A-A6F5497A5D56}"/>
              </a:ext>
            </a:extLst>
          </p:cNvPr>
          <p:cNvSpPr txBox="1"/>
          <p:nvPr/>
        </p:nvSpPr>
        <p:spPr>
          <a:xfrm>
            <a:off x="544189" y="5213478"/>
            <a:ext cx="1514582" cy="1077218"/>
          </a:xfrm>
          <a:prstGeom prst="rect">
            <a:avLst/>
          </a:prstGeom>
          <a:noFill/>
        </p:spPr>
        <p:txBody>
          <a:bodyPr wrap="none" rtlCol="0">
            <a:spAutoFit/>
          </a:bodyPr>
          <a:lstStyle/>
          <a:p>
            <a:pPr algn="r"/>
            <a:r>
              <a:rPr lang="en-US" sz="3200" dirty="0"/>
              <a:t>Not </a:t>
            </a:r>
          </a:p>
          <a:p>
            <a:pPr algn="r"/>
            <a:r>
              <a:rPr lang="en-US" sz="3200" dirty="0"/>
              <a:t>Drafted</a:t>
            </a:r>
          </a:p>
        </p:txBody>
      </p:sp>
      <p:sp>
        <p:nvSpPr>
          <p:cNvPr id="10" name="Rectangle 9">
            <a:extLst>
              <a:ext uri="{FF2B5EF4-FFF2-40B4-BE49-F238E27FC236}">
                <a16:creationId xmlns:a16="http://schemas.microsoft.com/office/drawing/2014/main" id="{1AE04461-7D1C-F609-DA6B-4CA6BA769041}"/>
              </a:ext>
            </a:extLst>
          </p:cNvPr>
          <p:cNvSpPr/>
          <p:nvPr/>
        </p:nvSpPr>
        <p:spPr>
          <a:xfrm>
            <a:off x="2058771" y="2456100"/>
            <a:ext cx="10133229" cy="4401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9721904-0ABE-51EA-41CC-495E7F9D5DD7}"/>
              </a:ext>
            </a:extLst>
          </p:cNvPr>
          <p:cNvCxnSpPr>
            <a:stCxn id="10" idx="1"/>
            <a:endCxn id="10" idx="3"/>
          </p:cNvCxnSpPr>
          <p:nvPr/>
        </p:nvCxnSpPr>
        <p:spPr>
          <a:xfrm>
            <a:off x="2058771" y="4657050"/>
            <a:ext cx="101332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A50FD99-1C1C-566C-137B-06A6D6DA592A}"/>
              </a:ext>
            </a:extLst>
          </p:cNvPr>
          <p:cNvCxnSpPr>
            <a:cxnSpLocks/>
          </p:cNvCxnSpPr>
          <p:nvPr/>
        </p:nvCxnSpPr>
        <p:spPr>
          <a:xfrm>
            <a:off x="4720856"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46BC01C-ADB0-95AB-2EEC-932EBF3F640A}"/>
              </a:ext>
            </a:extLst>
          </p:cNvPr>
          <p:cNvCxnSpPr>
            <a:cxnSpLocks/>
          </p:cNvCxnSpPr>
          <p:nvPr/>
        </p:nvCxnSpPr>
        <p:spPr>
          <a:xfrm>
            <a:off x="7226838"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AA58D98-F793-41F5-2054-9DDF4C3C01ED}"/>
              </a:ext>
            </a:extLst>
          </p:cNvPr>
          <p:cNvCxnSpPr>
            <a:cxnSpLocks/>
          </p:cNvCxnSpPr>
          <p:nvPr/>
        </p:nvCxnSpPr>
        <p:spPr>
          <a:xfrm>
            <a:off x="9734992" y="2456099"/>
            <a:ext cx="0" cy="4391282"/>
          </a:xfrm>
          <a:prstGeom prst="line">
            <a:avLst/>
          </a:prstGeom>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04E205C5-D10A-7C65-BA0E-43BA8117C905}"/>
              </a:ext>
            </a:extLst>
          </p:cNvPr>
          <p:cNvPicPr>
            <a:picLocks noChangeAspect="1"/>
          </p:cNvPicPr>
          <p:nvPr/>
        </p:nvPicPr>
        <p:blipFill>
          <a:blip r:embed="rId2"/>
          <a:stretch>
            <a:fillRect/>
          </a:stretch>
        </p:blipFill>
        <p:spPr>
          <a:xfrm>
            <a:off x="2667236" y="2433017"/>
            <a:ext cx="1475193" cy="2227383"/>
          </a:xfrm>
          <a:prstGeom prst="rect">
            <a:avLst/>
          </a:prstGeom>
        </p:spPr>
      </p:pic>
      <p:pic>
        <p:nvPicPr>
          <p:cNvPr id="4100" name="Picture 4" descr="Military Beret Cap With Star PNG &amp; SVG Design For T-Shirts">
            <a:extLst>
              <a:ext uri="{FF2B5EF4-FFF2-40B4-BE49-F238E27FC236}">
                <a16:creationId xmlns:a16="http://schemas.microsoft.com/office/drawing/2014/main" id="{12340F13-4F91-A005-CA7C-4071A95B66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4951" y="2346568"/>
            <a:ext cx="873458" cy="87345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DE5D958A-25D5-C820-6744-C4B8B9A0A186}"/>
              </a:ext>
            </a:extLst>
          </p:cNvPr>
          <p:cNvPicPr>
            <a:picLocks noChangeAspect="1"/>
          </p:cNvPicPr>
          <p:nvPr/>
        </p:nvPicPr>
        <p:blipFill>
          <a:blip r:embed="rId2"/>
          <a:stretch>
            <a:fillRect/>
          </a:stretch>
        </p:blipFill>
        <p:spPr>
          <a:xfrm>
            <a:off x="2645249" y="4577011"/>
            <a:ext cx="1475193" cy="2227383"/>
          </a:xfrm>
          <a:prstGeom prst="rect">
            <a:avLst/>
          </a:prstGeom>
        </p:spPr>
      </p:pic>
      <p:pic>
        <p:nvPicPr>
          <p:cNvPr id="4102" name="Picture 6" descr="Tie Dye T-Shirt - Classic Rainbow Spiral - Psychedelic Shirt">
            <a:extLst>
              <a:ext uri="{FF2B5EF4-FFF2-40B4-BE49-F238E27FC236}">
                <a16:creationId xmlns:a16="http://schemas.microsoft.com/office/drawing/2014/main" id="{14CC4E82-7D33-5A84-166B-F176B8F8DB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2894354" y="5475296"/>
            <a:ext cx="1017530" cy="73152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7" descr="Adoptable Rabbits | morabbit">
            <a:extLst>
              <a:ext uri="{FF2B5EF4-FFF2-40B4-BE49-F238E27FC236}">
                <a16:creationId xmlns:a16="http://schemas.microsoft.com/office/drawing/2014/main" id="{B0B6B579-B5D1-9EB1-75C7-1F26EE3FC6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333791" y="2702649"/>
            <a:ext cx="1209688" cy="199163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7" descr="Adoptable Rabbits | morabbit">
            <a:extLst>
              <a:ext uri="{FF2B5EF4-FFF2-40B4-BE49-F238E27FC236}">
                <a16:creationId xmlns:a16="http://schemas.microsoft.com/office/drawing/2014/main" id="{EE957FF5-A69D-F416-9942-4C6997656C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311148" y="4936817"/>
            <a:ext cx="1209688" cy="199163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Military Beret Cap With Star PNG &amp; SVG Design For T-Shirts">
            <a:extLst>
              <a:ext uri="{FF2B5EF4-FFF2-40B4-BE49-F238E27FC236}">
                <a16:creationId xmlns:a16="http://schemas.microsoft.com/office/drawing/2014/main" id="{CED960D0-FF0C-80CA-1348-79DAFD343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3769" y="2586750"/>
            <a:ext cx="710622" cy="71062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Military Beret Cap With Star PNG &amp; SVG Design For T-Shirts">
            <a:extLst>
              <a:ext uri="{FF2B5EF4-FFF2-40B4-BE49-F238E27FC236}">
                <a16:creationId xmlns:a16="http://schemas.microsoft.com/office/drawing/2014/main" id="{15B88F10-388D-0BDE-6544-00AB212660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9882" y="4837230"/>
            <a:ext cx="710622" cy="71062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0790A24B-348F-013A-7743-DBBFDC6A3AAF}"/>
              </a:ext>
            </a:extLst>
          </p:cNvPr>
          <p:cNvPicPr>
            <a:picLocks noChangeAspect="1"/>
          </p:cNvPicPr>
          <p:nvPr/>
        </p:nvPicPr>
        <p:blipFill>
          <a:blip r:embed="rId6"/>
          <a:stretch>
            <a:fillRect/>
          </a:stretch>
        </p:blipFill>
        <p:spPr>
          <a:xfrm>
            <a:off x="7742706" y="2824992"/>
            <a:ext cx="1165158" cy="1477341"/>
          </a:xfrm>
          <a:prstGeom prst="rect">
            <a:avLst/>
          </a:prstGeom>
        </p:spPr>
      </p:pic>
      <p:pic>
        <p:nvPicPr>
          <p:cNvPr id="29" name="Picture 28">
            <a:extLst>
              <a:ext uri="{FF2B5EF4-FFF2-40B4-BE49-F238E27FC236}">
                <a16:creationId xmlns:a16="http://schemas.microsoft.com/office/drawing/2014/main" id="{5B482C95-A39C-5124-A28E-E3D1E48C0BA1}"/>
              </a:ext>
            </a:extLst>
          </p:cNvPr>
          <p:cNvPicPr>
            <a:picLocks noChangeAspect="1"/>
          </p:cNvPicPr>
          <p:nvPr/>
        </p:nvPicPr>
        <p:blipFill>
          <a:blip r:embed="rId6"/>
          <a:stretch>
            <a:fillRect/>
          </a:stretch>
        </p:blipFill>
        <p:spPr>
          <a:xfrm>
            <a:off x="7695117" y="4945608"/>
            <a:ext cx="1165158" cy="1477341"/>
          </a:xfrm>
          <a:prstGeom prst="rect">
            <a:avLst/>
          </a:prstGeom>
        </p:spPr>
      </p:pic>
      <p:pic>
        <p:nvPicPr>
          <p:cNvPr id="25" name="Picture 6" descr="Tie Dye T-Shirt - Classic Rainbow Spiral - Psychedelic Shirt">
            <a:extLst>
              <a:ext uri="{FF2B5EF4-FFF2-40B4-BE49-F238E27FC236}">
                <a16:creationId xmlns:a16="http://schemas.microsoft.com/office/drawing/2014/main" id="{5AB7EE18-4AE4-88A4-EC62-111B567221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b="44407"/>
          <a:stretch/>
        </p:blipFill>
        <p:spPr bwMode="auto">
          <a:xfrm>
            <a:off x="7742706" y="3341198"/>
            <a:ext cx="1415159" cy="73152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Tie Dye T-Shirt - Classic Rainbow Spiral - Psychedelic Shirt">
            <a:extLst>
              <a:ext uri="{FF2B5EF4-FFF2-40B4-BE49-F238E27FC236}">
                <a16:creationId xmlns:a16="http://schemas.microsoft.com/office/drawing/2014/main" id="{B53B1BAF-BD84-8EED-78B4-DA5704E2AC8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b="44407"/>
          <a:stretch/>
        </p:blipFill>
        <p:spPr bwMode="auto">
          <a:xfrm>
            <a:off x="7699679" y="5446416"/>
            <a:ext cx="1415159" cy="73152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39B4AE11-667E-F857-E098-4CB888180C6D}"/>
              </a:ext>
            </a:extLst>
          </p:cNvPr>
          <p:cNvPicPr>
            <a:picLocks noChangeAspect="1"/>
          </p:cNvPicPr>
          <p:nvPr/>
        </p:nvPicPr>
        <p:blipFill>
          <a:blip r:embed="rId7"/>
          <a:stretch>
            <a:fillRect/>
          </a:stretch>
        </p:blipFill>
        <p:spPr>
          <a:xfrm>
            <a:off x="10355147" y="2763767"/>
            <a:ext cx="1239455" cy="1560585"/>
          </a:xfrm>
          <a:prstGeom prst="rect">
            <a:avLst/>
          </a:prstGeom>
        </p:spPr>
      </p:pic>
      <p:pic>
        <p:nvPicPr>
          <p:cNvPr id="32" name="Picture 31">
            <a:extLst>
              <a:ext uri="{FF2B5EF4-FFF2-40B4-BE49-F238E27FC236}">
                <a16:creationId xmlns:a16="http://schemas.microsoft.com/office/drawing/2014/main" id="{EF405DAA-10AB-785A-AD30-6A4C0824FC9A}"/>
              </a:ext>
            </a:extLst>
          </p:cNvPr>
          <p:cNvPicPr>
            <a:picLocks noChangeAspect="1"/>
          </p:cNvPicPr>
          <p:nvPr/>
        </p:nvPicPr>
        <p:blipFill>
          <a:blip r:embed="rId7"/>
          <a:stretch>
            <a:fillRect/>
          </a:stretch>
        </p:blipFill>
        <p:spPr>
          <a:xfrm>
            <a:off x="10341620" y="4862364"/>
            <a:ext cx="1239455" cy="1560585"/>
          </a:xfrm>
          <a:prstGeom prst="rect">
            <a:avLst/>
          </a:prstGeom>
        </p:spPr>
      </p:pic>
      <p:pic>
        <p:nvPicPr>
          <p:cNvPr id="33" name="Picture 6" descr="Tie Dye T-Shirt - Classic Rainbow Spiral - Psychedelic Shirt">
            <a:extLst>
              <a:ext uri="{FF2B5EF4-FFF2-40B4-BE49-F238E27FC236}">
                <a16:creationId xmlns:a16="http://schemas.microsoft.com/office/drawing/2014/main" id="{7F0E2A8A-63E0-0688-4BDE-72E291C77AC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b="44407"/>
          <a:stretch/>
        </p:blipFill>
        <p:spPr bwMode="auto">
          <a:xfrm>
            <a:off x="10208179" y="3440521"/>
            <a:ext cx="1252013" cy="64718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Military Beret Cap With Star PNG &amp; SVG Design For T-Shirts">
            <a:extLst>
              <a:ext uri="{FF2B5EF4-FFF2-40B4-BE49-F238E27FC236}">
                <a16:creationId xmlns:a16="http://schemas.microsoft.com/office/drawing/2014/main" id="{404EE8F1-7981-1E04-0BDD-5A1417DC89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1995" y="4900604"/>
            <a:ext cx="649642" cy="649642"/>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ular Callout 2">
            <a:extLst>
              <a:ext uri="{FF2B5EF4-FFF2-40B4-BE49-F238E27FC236}">
                <a16:creationId xmlns:a16="http://schemas.microsoft.com/office/drawing/2014/main" id="{2800D689-B455-FE41-CCDB-F871012AA936}"/>
              </a:ext>
            </a:extLst>
          </p:cNvPr>
          <p:cNvSpPr/>
          <p:nvPr/>
        </p:nvSpPr>
        <p:spPr>
          <a:xfrm>
            <a:off x="544189" y="1246631"/>
            <a:ext cx="1514582" cy="845636"/>
          </a:xfrm>
          <a:prstGeom prst="wedgeRoundRectCallout">
            <a:avLst>
              <a:gd name="adj1" fmla="val 111946"/>
              <a:gd name="adj2" fmla="val 16647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I’ll serve if asked</a:t>
            </a:r>
          </a:p>
        </p:txBody>
      </p:sp>
      <p:sp>
        <p:nvSpPr>
          <p:cNvPr id="11" name="Rounded Rectangular Callout 10">
            <a:extLst>
              <a:ext uri="{FF2B5EF4-FFF2-40B4-BE49-F238E27FC236}">
                <a16:creationId xmlns:a16="http://schemas.microsoft.com/office/drawing/2014/main" id="{5A172DD7-2CB6-348A-537C-6A5F746B43CF}"/>
              </a:ext>
            </a:extLst>
          </p:cNvPr>
          <p:cNvSpPr/>
          <p:nvPr/>
        </p:nvSpPr>
        <p:spPr>
          <a:xfrm>
            <a:off x="3058582" y="436827"/>
            <a:ext cx="2122938" cy="1140427"/>
          </a:xfrm>
          <a:prstGeom prst="wedgeRoundRectCallout">
            <a:avLst>
              <a:gd name="adj1" fmla="val 63056"/>
              <a:gd name="adj2" fmla="val 16476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Even if I’m not drafted, I’ll volunteer!</a:t>
            </a:r>
          </a:p>
        </p:txBody>
      </p:sp>
      <p:sp>
        <p:nvSpPr>
          <p:cNvPr id="14" name="Rounded Rectangular Callout 13">
            <a:extLst>
              <a:ext uri="{FF2B5EF4-FFF2-40B4-BE49-F238E27FC236}">
                <a16:creationId xmlns:a16="http://schemas.microsoft.com/office/drawing/2014/main" id="{A97F156D-9D45-6751-5792-A10C8A1FB9C6}"/>
              </a:ext>
            </a:extLst>
          </p:cNvPr>
          <p:cNvSpPr/>
          <p:nvPr/>
        </p:nvSpPr>
        <p:spPr>
          <a:xfrm>
            <a:off x="5839208" y="129392"/>
            <a:ext cx="2300451" cy="1371539"/>
          </a:xfrm>
          <a:prstGeom prst="wedgeRoundRectCallout">
            <a:avLst>
              <a:gd name="adj1" fmla="val 47797"/>
              <a:gd name="adj2" fmla="val 15257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 a conscientious objector.  I won’t serve no matter what.</a:t>
            </a:r>
          </a:p>
        </p:txBody>
      </p:sp>
      <p:sp>
        <p:nvSpPr>
          <p:cNvPr id="15" name="Rounded Rectangular Callout 14">
            <a:extLst>
              <a:ext uri="{FF2B5EF4-FFF2-40B4-BE49-F238E27FC236}">
                <a16:creationId xmlns:a16="http://schemas.microsoft.com/office/drawing/2014/main" id="{00A47838-6727-FF9F-D8F4-2C19767E4D73}"/>
              </a:ext>
            </a:extLst>
          </p:cNvPr>
          <p:cNvSpPr/>
          <p:nvPr/>
        </p:nvSpPr>
        <p:spPr>
          <a:xfrm>
            <a:off x="8411239" y="281054"/>
            <a:ext cx="1853610" cy="1051662"/>
          </a:xfrm>
          <a:prstGeom prst="wedgeRoundRectCallout">
            <a:avLst>
              <a:gd name="adj1" fmla="val 60736"/>
              <a:gd name="adj2" fmla="val 20816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Don’t tell me what to do!</a:t>
            </a:r>
          </a:p>
        </p:txBody>
      </p:sp>
    </p:spTree>
    <p:extLst>
      <p:ext uri="{BB962C8B-B14F-4D97-AF65-F5344CB8AC3E}">
        <p14:creationId xmlns:p14="http://schemas.microsoft.com/office/powerpoint/2010/main" val="1803021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30B4-AB2B-561D-A959-F0136B90F346}"/>
              </a:ext>
            </a:extLst>
          </p:cNvPr>
          <p:cNvSpPr>
            <a:spLocks noGrp="1"/>
          </p:cNvSpPr>
          <p:nvPr>
            <p:ph type="title"/>
          </p:nvPr>
        </p:nvSpPr>
        <p:spPr>
          <a:xfrm>
            <a:off x="838200" y="175369"/>
            <a:ext cx="10515600" cy="1325563"/>
          </a:xfrm>
        </p:spPr>
        <p:txBody>
          <a:bodyPr/>
          <a:lstStyle/>
          <a:p>
            <a:r>
              <a:rPr lang="en-US" dirty="0"/>
              <a:t>Four types of people </a:t>
            </a:r>
            <a:r>
              <a:rPr lang="en-US" sz="2400" dirty="0"/>
              <a:t>(w/r/t the Vietnam draft)</a:t>
            </a:r>
            <a:endParaRPr lang="en-US" dirty="0"/>
          </a:p>
        </p:txBody>
      </p:sp>
      <p:sp>
        <p:nvSpPr>
          <p:cNvPr id="4" name="TextBox 3">
            <a:extLst>
              <a:ext uri="{FF2B5EF4-FFF2-40B4-BE49-F238E27FC236}">
                <a16:creationId xmlns:a16="http://schemas.microsoft.com/office/drawing/2014/main" id="{E0DB50F2-E626-E8F5-3168-C7F15C1D1579}"/>
              </a:ext>
            </a:extLst>
          </p:cNvPr>
          <p:cNvSpPr txBox="1"/>
          <p:nvPr/>
        </p:nvSpPr>
        <p:spPr>
          <a:xfrm>
            <a:off x="2364128" y="1871326"/>
            <a:ext cx="2028889" cy="584775"/>
          </a:xfrm>
          <a:prstGeom prst="rect">
            <a:avLst/>
          </a:prstGeom>
          <a:noFill/>
        </p:spPr>
        <p:txBody>
          <a:bodyPr wrap="none" rtlCol="0">
            <a:spAutoFit/>
          </a:bodyPr>
          <a:lstStyle/>
          <a:p>
            <a:r>
              <a:rPr lang="en-US" sz="3200" dirty="0"/>
              <a:t>Compliers</a:t>
            </a:r>
          </a:p>
        </p:txBody>
      </p:sp>
      <p:sp>
        <p:nvSpPr>
          <p:cNvPr id="5" name="TextBox 4">
            <a:extLst>
              <a:ext uri="{FF2B5EF4-FFF2-40B4-BE49-F238E27FC236}">
                <a16:creationId xmlns:a16="http://schemas.microsoft.com/office/drawing/2014/main" id="{D7B568F1-E3E0-272F-031C-93A0D9562479}"/>
              </a:ext>
            </a:extLst>
          </p:cNvPr>
          <p:cNvSpPr txBox="1"/>
          <p:nvPr/>
        </p:nvSpPr>
        <p:spPr>
          <a:xfrm>
            <a:off x="5050706" y="1355799"/>
            <a:ext cx="1853610" cy="1077218"/>
          </a:xfrm>
          <a:prstGeom prst="rect">
            <a:avLst/>
          </a:prstGeom>
          <a:noFill/>
        </p:spPr>
        <p:txBody>
          <a:bodyPr wrap="square" rtlCol="0">
            <a:spAutoFit/>
          </a:bodyPr>
          <a:lstStyle/>
          <a:p>
            <a:pPr algn="ctr"/>
            <a:r>
              <a:rPr lang="en-US" sz="3200" dirty="0"/>
              <a:t>Always-Takers</a:t>
            </a:r>
          </a:p>
        </p:txBody>
      </p:sp>
      <p:sp>
        <p:nvSpPr>
          <p:cNvPr id="6" name="TextBox 5">
            <a:extLst>
              <a:ext uri="{FF2B5EF4-FFF2-40B4-BE49-F238E27FC236}">
                <a16:creationId xmlns:a16="http://schemas.microsoft.com/office/drawing/2014/main" id="{6D0A180D-4389-029B-9B3C-5FFE6D32F46B}"/>
              </a:ext>
            </a:extLst>
          </p:cNvPr>
          <p:cNvSpPr txBox="1"/>
          <p:nvPr/>
        </p:nvSpPr>
        <p:spPr>
          <a:xfrm>
            <a:off x="7562006" y="1355799"/>
            <a:ext cx="1853610" cy="1077218"/>
          </a:xfrm>
          <a:prstGeom prst="rect">
            <a:avLst/>
          </a:prstGeom>
          <a:noFill/>
        </p:spPr>
        <p:txBody>
          <a:bodyPr wrap="square" rtlCol="0">
            <a:spAutoFit/>
          </a:bodyPr>
          <a:lstStyle/>
          <a:p>
            <a:pPr algn="ctr"/>
            <a:r>
              <a:rPr lang="en-US" sz="3200" dirty="0"/>
              <a:t>Never-Takers</a:t>
            </a:r>
          </a:p>
        </p:txBody>
      </p:sp>
      <p:sp>
        <p:nvSpPr>
          <p:cNvPr id="7" name="TextBox 6">
            <a:extLst>
              <a:ext uri="{FF2B5EF4-FFF2-40B4-BE49-F238E27FC236}">
                <a16:creationId xmlns:a16="http://schemas.microsoft.com/office/drawing/2014/main" id="{60D4AA83-1212-6F15-B10B-ED34DA9E4921}"/>
              </a:ext>
            </a:extLst>
          </p:cNvPr>
          <p:cNvSpPr txBox="1"/>
          <p:nvPr/>
        </p:nvSpPr>
        <p:spPr>
          <a:xfrm>
            <a:off x="10264849" y="1851819"/>
            <a:ext cx="2688265" cy="584775"/>
          </a:xfrm>
          <a:prstGeom prst="rect">
            <a:avLst/>
          </a:prstGeom>
          <a:noFill/>
        </p:spPr>
        <p:txBody>
          <a:bodyPr wrap="square" rtlCol="0">
            <a:spAutoFit/>
          </a:bodyPr>
          <a:lstStyle/>
          <a:p>
            <a:r>
              <a:rPr lang="en-US" sz="3200" dirty="0"/>
              <a:t>Defiers</a:t>
            </a:r>
          </a:p>
        </p:txBody>
      </p:sp>
      <p:sp>
        <p:nvSpPr>
          <p:cNvPr id="8" name="TextBox 7">
            <a:extLst>
              <a:ext uri="{FF2B5EF4-FFF2-40B4-BE49-F238E27FC236}">
                <a16:creationId xmlns:a16="http://schemas.microsoft.com/office/drawing/2014/main" id="{E6FA8BE2-454A-4026-95D3-C17DB1216ACD}"/>
              </a:ext>
            </a:extLst>
          </p:cNvPr>
          <p:cNvSpPr txBox="1"/>
          <p:nvPr/>
        </p:nvSpPr>
        <p:spPr>
          <a:xfrm>
            <a:off x="544189" y="3429000"/>
            <a:ext cx="1514582" cy="584775"/>
          </a:xfrm>
          <a:prstGeom prst="rect">
            <a:avLst/>
          </a:prstGeom>
          <a:noFill/>
        </p:spPr>
        <p:txBody>
          <a:bodyPr wrap="none" rtlCol="0">
            <a:spAutoFit/>
          </a:bodyPr>
          <a:lstStyle/>
          <a:p>
            <a:r>
              <a:rPr lang="en-US" sz="3200" dirty="0"/>
              <a:t>Drafted</a:t>
            </a:r>
          </a:p>
        </p:txBody>
      </p:sp>
      <p:sp>
        <p:nvSpPr>
          <p:cNvPr id="9" name="TextBox 8">
            <a:extLst>
              <a:ext uri="{FF2B5EF4-FFF2-40B4-BE49-F238E27FC236}">
                <a16:creationId xmlns:a16="http://schemas.microsoft.com/office/drawing/2014/main" id="{B6209267-D180-B510-084A-A6F5497A5D56}"/>
              </a:ext>
            </a:extLst>
          </p:cNvPr>
          <p:cNvSpPr txBox="1"/>
          <p:nvPr/>
        </p:nvSpPr>
        <p:spPr>
          <a:xfrm>
            <a:off x="544189" y="5213478"/>
            <a:ext cx="1514582" cy="1077218"/>
          </a:xfrm>
          <a:prstGeom prst="rect">
            <a:avLst/>
          </a:prstGeom>
          <a:noFill/>
        </p:spPr>
        <p:txBody>
          <a:bodyPr wrap="none" rtlCol="0">
            <a:spAutoFit/>
          </a:bodyPr>
          <a:lstStyle/>
          <a:p>
            <a:pPr algn="r"/>
            <a:r>
              <a:rPr lang="en-US" sz="3200" dirty="0"/>
              <a:t>Not </a:t>
            </a:r>
          </a:p>
          <a:p>
            <a:pPr algn="r"/>
            <a:r>
              <a:rPr lang="en-US" sz="3200" dirty="0"/>
              <a:t>Drafted</a:t>
            </a:r>
          </a:p>
        </p:txBody>
      </p:sp>
      <p:sp>
        <p:nvSpPr>
          <p:cNvPr id="10" name="Rectangle 9">
            <a:extLst>
              <a:ext uri="{FF2B5EF4-FFF2-40B4-BE49-F238E27FC236}">
                <a16:creationId xmlns:a16="http://schemas.microsoft.com/office/drawing/2014/main" id="{1AE04461-7D1C-F609-DA6B-4CA6BA769041}"/>
              </a:ext>
            </a:extLst>
          </p:cNvPr>
          <p:cNvSpPr/>
          <p:nvPr/>
        </p:nvSpPr>
        <p:spPr>
          <a:xfrm>
            <a:off x="2058771" y="2456100"/>
            <a:ext cx="10133229" cy="4401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9721904-0ABE-51EA-41CC-495E7F9D5DD7}"/>
              </a:ext>
            </a:extLst>
          </p:cNvPr>
          <p:cNvCxnSpPr>
            <a:stCxn id="10" idx="1"/>
            <a:endCxn id="10" idx="3"/>
          </p:cNvCxnSpPr>
          <p:nvPr/>
        </p:nvCxnSpPr>
        <p:spPr>
          <a:xfrm>
            <a:off x="2058771" y="4657050"/>
            <a:ext cx="101332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A50FD99-1C1C-566C-137B-06A6D6DA592A}"/>
              </a:ext>
            </a:extLst>
          </p:cNvPr>
          <p:cNvCxnSpPr>
            <a:cxnSpLocks/>
          </p:cNvCxnSpPr>
          <p:nvPr/>
        </p:nvCxnSpPr>
        <p:spPr>
          <a:xfrm>
            <a:off x="4720856"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46BC01C-ADB0-95AB-2EEC-932EBF3F640A}"/>
              </a:ext>
            </a:extLst>
          </p:cNvPr>
          <p:cNvCxnSpPr>
            <a:cxnSpLocks/>
          </p:cNvCxnSpPr>
          <p:nvPr/>
        </p:nvCxnSpPr>
        <p:spPr>
          <a:xfrm>
            <a:off x="7226838"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AA58D98-F793-41F5-2054-9DDF4C3C01ED}"/>
              </a:ext>
            </a:extLst>
          </p:cNvPr>
          <p:cNvCxnSpPr>
            <a:cxnSpLocks/>
          </p:cNvCxnSpPr>
          <p:nvPr/>
        </p:nvCxnSpPr>
        <p:spPr>
          <a:xfrm>
            <a:off x="9734992" y="2456099"/>
            <a:ext cx="0" cy="4391282"/>
          </a:xfrm>
          <a:prstGeom prst="line">
            <a:avLst/>
          </a:prstGeom>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04E205C5-D10A-7C65-BA0E-43BA8117C905}"/>
              </a:ext>
            </a:extLst>
          </p:cNvPr>
          <p:cNvPicPr>
            <a:picLocks noChangeAspect="1"/>
          </p:cNvPicPr>
          <p:nvPr/>
        </p:nvPicPr>
        <p:blipFill>
          <a:blip r:embed="rId3"/>
          <a:stretch>
            <a:fillRect/>
          </a:stretch>
        </p:blipFill>
        <p:spPr>
          <a:xfrm>
            <a:off x="2667236" y="2433017"/>
            <a:ext cx="1475193" cy="2227383"/>
          </a:xfrm>
          <a:prstGeom prst="rect">
            <a:avLst/>
          </a:prstGeom>
        </p:spPr>
      </p:pic>
      <p:pic>
        <p:nvPicPr>
          <p:cNvPr id="4100" name="Picture 4" descr="Military Beret Cap With Star PNG &amp; SVG Design For T-Shirts">
            <a:extLst>
              <a:ext uri="{FF2B5EF4-FFF2-40B4-BE49-F238E27FC236}">
                <a16:creationId xmlns:a16="http://schemas.microsoft.com/office/drawing/2014/main" id="{12340F13-4F91-A005-CA7C-4071A95B6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4951" y="2346568"/>
            <a:ext cx="873458" cy="87345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DE5D958A-25D5-C820-6744-C4B8B9A0A186}"/>
              </a:ext>
            </a:extLst>
          </p:cNvPr>
          <p:cNvPicPr>
            <a:picLocks noChangeAspect="1"/>
          </p:cNvPicPr>
          <p:nvPr/>
        </p:nvPicPr>
        <p:blipFill>
          <a:blip r:embed="rId3"/>
          <a:stretch>
            <a:fillRect/>
          </a:stretch>
        </p:blipFill>
        <p:spPr>
          <a:xfrm>
            <a:off x="2645249" y="4577011"/>
            <a:ext cx="1475193" cy="2227383"/>
          </a:xfrm>
          <a:prstGeom prst="rect">
            <a:avLst/>
          </a:prstGeom>
        </p:spPr>
      </p:pic>
      <p:pic>
        <p:nvPicPr>
          <p:cNvPr id="4102" name="Picture 6" descr="Tie Dye T-Shirt - Classic Rainbow Spiral - Psychedelic Shirt">
            <a:extLst>
              <a:ext uri="{FF2B5EF4-FFF2-40B4-BE49-F238E27FC236}">
                <a16:creationId xmlns:a16="http://schemas.microsoft.com/office/drawing/2014/main" id="{14CC4E82-7D33-5A84-166B-F176B8F8DBF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682"/>
          <a:stretch/>
        </p:blipFill>
        <p:spPr bwMode="auto">
          <a:xfrm>
            <a:off x="2894354" y="5475296"/>
            <a:ext cx="1017530" cy="73152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7" descr="Adoptable Rabbits | morabbit">
            <a:extLst>
              <a:ext uri="{FF2B5EF4-FFF2-40B4-BE49-F238E27FC236}">
                <a16:creationId xmlns:a16="http://schemas.microsoft.com/office/drawing/2014/main" id="{B0B6B579-B5D1-9EB1-75C7-1F26EE3FC6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333791" y="2702649"/>
            <a:ext cx="1209688" cy="199163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7" descr="Adoptable Rabbits | morabbit">
            <a:extLst>
              <a:ext uri="{FF2B5EF4-FFF2-40B4-BE49-F238E27FC236}">
                <a16:creationId xmlns:a16="http://schemas.microsoft.com/office/drawing/2014/main" id="{EE957FF5-A69D-F416-9942-4C6997656C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311148" y="4936817"/>
            <a:ext cx="1209688" cy="199163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Military Beret Cap With Star PNG &amp; SVG Design For T-Shirts">
            <a:extLst>
              <a:ext uri="{FF2B5EF4-FFF2-40B4-BE49-F238E27FC236}">
                <a16:creationId xmlns:a16="http://schemas.microsoft.com/office/drawing/2014/main" id="{CED960D0-FF0C-80CA-1348-79DAFD3436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3769" y="2586750"/>
            <a:ext cx="710622" cy="71062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Military Beret Cap With Star PNG &amp; SVG Design For T-Shirts">
            <a:extLst>
              <a:ext uri="{FF2B5EF4-FFF2-40B4-BE49-F238E27FC236}">
                <a16:creationId xmlns:a16="http://schemas.microsoft.com/office/drawing/2014/main" id="{15B88F10-388D-0BDE-6544-00AB212660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9882" y="4837230"/>
            <a:ext cx="710622" cy="71062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0790A24B-348F-013A-7743-DBBFDC6A3AAF}"/>
              </a:ext>
            </a:extLst>
          </p:cNvPr>
          <p:cNvPicPr>
            <a:picLocks noChangeAspect="1"/>
          </p:cNvPicPr>
          <p:nvPr/>
        </p:nvPicPr>
        <p:blipFill>
          <a:blip r:embed="rId7"/>
          <a:stretch>
            <a:fillRect/>
          </a:stretch>
        </p:blipFill>
        <p:spPr>
          <a:xfrm>
            <a:off x="7742706" y="2824992"/>
            <a:ext cx="1165158" cy="1477341"/>
          </a:xfrm>
          <a:prstGeom prst="rect">
            <a:avLst/>
          </a:prstGeom>
        </p:spPr>
      </p:pic>
      <p:pic>
        <p:nvPicPr>
          <p:cNvPr id="29" name="Picture 28">
            <a:extLst>
              <a:ext uri="{FF2B5EF4-FFF2-40B4-BE49-F238E27FC236}">
                <a16:creationId xmlns:a16="http://schemas.microsoft.com/office/drawing/2014/main" id="{5B482C95-A39C-5124-A28E-E3D1E48C0BA1}"/>
              </a:ext>
            </a:extLst>
          </p:cNvPr>
          <p:cNvPicPr>
            <a:picLocks noChangeAspect="1"/>
          </p:cNvPicPr>
          <p:nvPr/>
        </p:nvPicPr>
        <p:blipFill>
          <a:blip r:embed="rId7"/>
          <a:stretch>
            <a:fillRect/>
          </a:stretch>
        </p:blipFill>
        <p:spPr>
          <a:xfrm>
            <a:off x="7695117" y="4945608"/>
            <a:ext cx="1165158" cy="1477341"/>
          </a:xfrm>
          <a:prstGeom prst="rect">
            <a:avLst/>
          </a:prstGeom>
        </p:spPr>
      </p:pic>
      <p:pic>
        <p:nvPicPr>
          <p:cNvPr id="25" name="Picture 6" descr="Tie Dye T-Shirt - Classic Rainbow Spiral - Psychedelic Shirt">
            <a:extLst>
              <a:ext uri="{FF2B5EF4-FFF2-40B4-BE49-F238E27FC236}">
                <a16:creationId xmlns:a16="http://schemas.microsoft.com/office/drawing/2014/main" id="{5AB7EE18-4AE4-88A4-EC62-111B567221C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7742706" y="3341198"/>
            <a:ext cx="1415159" cy="73152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Tie Dye T-Shirt - Classic Rainbow Spiral - Psychedelic Shirt">
            <a:extLst>
              <a:ext uri="{FF2B5EF4-FFF2-40B4-BE49-F238E27FC236}">
                <a16:creationId xmlns:a16="http://schemas.microsoft.com/office/drawing/2014/main" id="{B53B1BAF-BD84-8EED-78B4-DA5704E2AC8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7699679" y="5446416"/>
            <a:ext cx="1415159" cy="73152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39B4AE11-667E-F857-E098-4CB888180C6D}"/>
              </a:ext>
            </a:extLst>
          </p:cNvPr>
          <p:cNvPicPr>
            <a:picLocks noChangeAspect="1"/>
          </p:cNvPicPr>
          <p:nvPr/>
        </p:nvPicPr>
        <p:blipFill>
          <a:blip r:embed="rId8"/>
          <a:stretch>
            <a:fillRect/>
          </a:stretch>
        </p:blipFill>
        <p:spPr>
          <a:xfrm>
            <a:off x="10355147" y="2763767"/>
            <a:ext cx="1239455" cy="1560585"/>
          </a:xfrm>
          <a:prstGeom prst="rect">
            <a:avLst/>
          </a:prstGeom>
        </p:spPr>
      </p:pic>
      <p:pic>
        <p:nvPicPr>
          <p:cNvPr id="32" name="Picture 31">
            <a:extLst>
              <a:ext uri="{FF2B5EF4-FFF2-40B4-BE49-F238E27FC236}">
                <a16:creationId xmlns:a16="http://schemas.microsoft.com/office/drawing/2014/main" id="{EF405DAA-10AB-785A-AD30-6A4C0824FC9A}"/>
              </a:ext>
            </a:extLst>
          </p:cNvPr>
          <p:cNvPicPr>
            <a:picLocks noChangeAspect="1"/>
          </p:cNvPicPr>
          <p:nvPr/>
        </p:nvPicPr>
        <p:blipFill>
          <a:blip r:embed="rId8"/>
          <a:stretch>
            <a:fillRect/>
          </a:stretch>
        </p:blipFill>
        <p:spPr>
          <a:xfrm>
            <a:off x="10341620" y="4862364"/>
            <a:ext cx="1239455" cy="1560585"/>
          </a:xfrm>
          <a:prstGeom prst="rect">
            <a:avLst/>
          </a:prstGeom>
        </p:spPr>
      </p:pic>
      <p:pic>
        <p:nvPicPr>
          <p:cNvPr id="33" name="Picture 6" descr="Tie Dye T-Shirt - Classic Rainbow Spiral - Psychedelic Shirt">
            <a:extLst>
              <a:ext uri="{FF2B5EF4-FFF2-40B4-BE49-F238E27FC236}">
                <a16:creationId xmlns:a16="http://schemas.microsoft.com/office/drawing/2014/main" id="{7F0E2A8A-63E0-0688-4BDE-72E291C77AC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10208179" y="3440521"/>
            <a:ext cx="1252013" cy="64718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Military Beret Cap With Star PNG &amp; SVG Design For T-Shirts">
            <a:extLst>
              <a:ext uri="{FF2B5EF4-FFF2-40B4-BE49-F238E27FC236}">
                <a16:creationId xmlns:a16="http://schemas.microsoft.com/office/drawing/2014/main" id="{404EE8F1-7981-1E04-0BDD-5A1417DC89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1995" y="4900604"/>
            <a:ext cx="649642" cy="649642"/>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a:extLst>
              <a:ext uri="{FF2B5EF4-FFF2-40B4-BE49-F238E27FC236}">
                <a16:creationId xmlns:a16="http://schemas.microsoft.com/office/drawing/2014/main" id="{81C9C92C-4A77-4429-99CE-03F497829F05}"/>
              </a:ext>
            </a:extLst>
          </p:cNvPr>
          <p:cNvSpPr/>
          <p:nvPr/>
        </p:nvSpPr>
        <p:spPr>
          <a:xfrm>
            <a:off x="9734992" y="1355799"/>
            <a:ext cx="2457008" cy="5779519"/>
          </a:xfrm>
          <a:prstGeom prst="round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EF9A13B-A8E7-4B61-F70A-CC2085345A21}"/>
              </a:ext>
            </a:extLst>
          </p:cNvPr>
          <p:cNvSpPr txBox="1"/>
          <p:nvPr/>
        </p:nvSpPr>
        <p:spPr>
          <a:xfrm>
            <a:off x="9958730" y="118233"/>
            <a:ext cx="2032287" cy="1200329"/>
          </a:xfrm>
          <a:prstGeom prst="rect">
            <a:avLst/>
          </a:prstGeom>
          <a:noFill/>
        </p:spPr>
        <p:txBody>
          <a:bodyPr wrap="square" rtlCol="0">
            <a:spAutoFit/>
          </a:bodyPr>
          <a:lstStyle/>
          <a:p>
            <a:pPr algn="ctr"/>
            <a:r>
              <a:rPr lang="en-US" sz="2400" dirty="0">
                <a:solidFill>
                  <a:schemeClr val="accent5"/>
                </a:solidFill>
              </a:rPr>
              <a:t>This seems unlikely in this context.  </a:t>
            </a:r>
          </a:p>
        </p:txBody>
      </p:sp>
    </p:spTree>
    <p:extLst>
      <p:ext uri="{BB962C8B-B14F-4D97-AF65-F5344CB8AC3E}">
        <p14:creationId xmlns:p14="http://schemas.microsoft.com/office/powerpoint/2010/main" val="199471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A0A74-15CD-F16D-F00D-38DD3DDBC6BA}"/>
              </a:ext>
            </a:extLst>
          </p:cNvPr>
          <p:cNvSpPr>
            <a:spLocks noGrp="1"/>
          </p:cNvSpPr>
          <p:nvPr>
            <p:ph type="title"/>
          </p:nvPr>
        </p:nvSpPr>
        <p:spPr>
          <a:xfrm>
            <a:off x="838200" y="139658"/>
            <a:ext cx="10515600" cy="1325563"/>
          </a:xfrm>
        </p:spPr>
        <p:txBody>
          <a:bodyPr/>
          <a:lstStyle/>
          <a:p>
            <a:r>
              <a:rPr lang="en-US" dirty="0"/>
              <a:t>Two questions</a:t>
            </a:r>
          </a:p>
        </p:txBody>
      </p:sp>
      <p:sp>
        <p:nvSpPr>
          <p:cNvPr id="3" name="Content Placeholder 2">
            <a:extLst>
              <a:ext uri="{FF2B5EF4-FFF2-40B4-BE49-F238E27FC236}">
                <a16:creationId xmlns:a16="http://schemas.microsoft.com/office/drawing/2014/main" id="{FDC5B861-87D8-6484-E396-5ABB3BD7AC2E}"/>
              </a:ext>
            </a:extLst>
          </p:cNvPr>
          <p:cNvSpPr>
            <a:spLocks noGrp="1"/>
          </p:cNvSpPr>
          <p:nvPr>
            <p:ph idx="1"/>
          </p:nvPr>
        </p:nvSpPr>
        <p:spPr>
          <a:xfrm>
            <a:off x="838200" y="1481555"/>
            <a:ext cx="10515600" cy="1305231"/>
          </a:xfrm>
        </p:spPr>
        <p:txBody>
          <a:bodyPr/>
          <a:lstStyle/>
          <a:p>
            <a:pPr marL="514350" indent="-514350">
              <a:buFont typeface="+mj-lt"/>
              <a:buAutoNum type="arabicPeriod"/>
            </a:pPr>
            <a:r>
              <a:rPr lang="en-US" dirty="0"/>
              <a:t>What is the ATE of being drafted on earnings?</a:t>
            </a:r>
          </a:p>
          <a:p>
            <a:pPr marL="514350" indent="-514350">
              <a:buFont typeface="+mj-lt"/>
              <a:buAutoNum type="arabicPeriod"/>
            </a:pPr>
            <a:r>
              <a:rPr lang="en-US" dirty="0"/>
              <a:t>What is the ATE of military service on earnings?</a:t>
            </a:r>
          </a:p>
        </p:txBody>
      </p:sp>
      <p:grpSp>
        <p:nvGrpSpPr>
          <p:cNvPr id="4" name="Group 3">
            <a:extLst>
              <a:ext uri="{FF2B5EF4-FFF2-40B4-BE49-F238E27FC236}">
                <a16:creationId xmlns:a16="http://schemas.microsoft.com/office/drawing/2014/main" id="{67D84F38-8697-93DD-4E51-773EA910E842}"/>
              </a:ext>
            </a:extLst>
          </p:cNvPr>
          <p:cNvGrpSpPr/>
          <p:nvPr/>
        </p:nvGrpSpPr>
        <p:grpSpPr>
          <a:xfrm>
            <a:off x="6560276" y="3649239"/>
            <a:ext cx="5631724" cy="3285846"/>
            <a:chOff x="183827" y="1355799"/>
            <a:chExt cx="9551165" cy="5572657"/>
          </a:xfrm>
        </p:grpSpPr>
        <p:grpSp>
          <p:nvGrpSpPr>
            <p:cNvPr id="5" name="Group 4">
              <a:extLst>
                <a:ext uri="{FF2B5EF4-FFF2-40B4-BE49-F238E27FC236}">
                  <a16:creationId xmlns:a16="http://schemas.microsoft.com/office/drawing/2014/main" id="{12FF62C1-11B2-840C-111E-A9F3221CFFD5}"/>
                </a:ext>
              </a:extLst>
            </p:cNvPr>
            <p:cNvGrpSpPr/>
            <p:nvPr/>
          </p:nvGrpSpPr>
          <p:grpSpPr>
            <a:xfrm>
              <a:off x="183827" y="1744216"/>
              <a:ext cx="9551165" cy="5184240"/>
              <a:chOff x="183827" y="1744216"/>
              <a:chExt cx="9551165" cy="5184240"/>
            </a:xfrm>
          </p:grpSpPr>
          <p:sp>
            <p:nvSpPr>
              <p:cNvPr id="8" name="TextBox 7">
                <a:extLst>
                  <a:ext uri="{FF2B5EF4-FFF2-40B4-BE49-F238E27FC236}">
                    <a16:creationId xmlns:a16="http://schemas.microsoft.com/office/drawing/2014/main" id="{D1BE13C2-6030-16F8-EB17-FDA4F2C4A4B9}"/>
                  </a:ext>
                </a:extLst>
              </p:cNvPr>
              <p:cNvSpPr txBox="1"/>
              <p:nvPr/>
            </p:nvSpPr>
            <p:spPr>
              <a:xfrm>
                <a:off x="2364128" y="1744216"/>
                <a:ext cx="2269073" cy="678570"/>
              </a:xfrm>
              <a:prstGeom prst="rect">
                <a:avLst/>
              </a:prstGeom>
              <a:noFill/>
            </p:spPr>
            <p:txBody>
              <a:bodyPr wrap="none" rtlCol="0">
                <a:spAutoFit/>
              </a:bodyPr>
              <a:lstStyle/>
              <a:p>
                <a:r>
                  <a:rPr lang="en-US" sz="2000" dirty="0"/>
                  <a:t>Compliers</a:t>
                </a:r>
              </a:p>
            </p:txBody>
          </p:sp>
          <p:sp>
            <p:nvSpPr>
              <p:cNvPr id="9" name="TextBox 8">
                <a:extLst>
                  <a:ext uri="{FF2B5EF4-FFF2-40B4-BE49-F238E27FC236}">
                    <a16:creationId xmlns:a16="http://schemas.microsoft.com/office/drawing/2014/main" id="{5878D056-8229-1B44-B1F9-67EC9827B27F}"/>
                  </a:ext>
                </a:extLst>
              </p:cNvPr>
              <p:cNvSpPr txBox="1"/>
              <p:nvPr/>
            </p:nvSpPr>
            <p:spPr>
              <a:xfrm>
                <a:off x="391656" y="3429001"/>
                <a:ext cx="1722413" cy="678570"/>
              </a:xfrm>
              <a:prstGeom prst="rect">
                <a:avLst/>
              </a:prstGeom>
              <a:noFill/>
            </p:spPr>
            <p:txBody>
              <a:bodyPr wrap="none" rtlCol="0">
                <a:spAutoFit/>
              </a:bodyPr>
              <a:lstStyle/>
              <a:p>
                <a:r>
                  <a:rPr lang="en-US" sz="2000" dirty="0"/>
                  <a:t>Drafted</a:t>
                </a:r>
              </a:p>
            </p:txBody>
          </p:sp>
          <p:sp>
            <p:nvSpPr>
              <p:cNvPr id="10" name="TextBox 9">
                <a:extLst>
                  <a:ext uri="{FF2B5EF4-FFF2-40B4-BE49-F238E27FC236}">
                    <a16:creationId xmlns:a16="http://schemas.microsoft.com/office/drawing/2014/main" id="{3E3280D7-56E0-25B0-2C77-96B2BD22F64E}"/>
                  </a:ext>
                </a:extLst>
              </p:cNvPr>
              <p:cNvSpPr txBox="1"/>
              <p:nvPr/>
            </p:nvSpPr>
            <p:spPr>
              <a:xfrm>
                <a:off x="183827" y="5213478"/>
                <a:ext cx="1722411" cy="1200545"/>
              </a:xfrm>
              <a:prstGeom prst="rect">
                <a:avLst/>
              </a:prstGeom>
              <a:noFill/>
            </p:spPr>
            <p:txBody>
              <a:bodyPr wrap="none" rtlCol="0">
                <a:spAutoFit/>
              </a:bodyPr>
              <a:lstStyle/>
              <a:p>
                <a:pPr algn="r"/>
                <a:r>
                  <a:rPr lang="en-US" sz="2000" dirty="0"/>
                  <a:t>Not </a:t>
                </a:r>
              </a:p>
              <a:p>
                <a:pPr algn="r"/>
                <a:r>
                  <a:rPr lang="en-US" sz="2000" dirty="0"/>
                  <a:t>Drafted</a:t>
                </a:r>
              </a:p>
            </p:txBody>
          </p:sp>
          <p:sp>
            <p:nvSpPr>
              <p:cNvPr id="11" name="Rectangle 10">
                <a:extLst>
                  <a:ext uri="{FF2B5EF4-FFF2-40B4-BE49-F238E27FC236}">
                    <a16:creationId xmlns:a16="http://schemas.microsoft.com/office/drawing/2014/main" id="{E689D2C1-24B6-CA4A-039F-6AE2F8A9ACF2}"/>
                  </a:ext>
                </a:extLst>
              </p:cNvPr>
              <p:cNvSpPr/>
              <p:nvPr/>
            </p:nvSpPr>
            <p:spPr>
              <a:xfrm>
                <a:off x="2058771" y="2456100"/>
                <a:ext cx="7639865" cy="4401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2" name="Straight Connector 11">
                <a:extLst>
                  <a:ext uri="{FF2B5EF4-FFF2-40B4-BE49-F238E27FC236}">
                    <a16:creationId xmlns:a16="http://schemas.microsoft.com/office/drawing/2014/main" id="{E68CADAE-DBA1-1006-2ADF-91BA03B711D0}"/>
                  </a:ext>
                </a:extLst>
              </p:cNvPr>
              <p:cNvCxnSpPr>
                <a:cxnSpLocks/>
                <a:stCxn id="11" idx="1"/>
              </p:cNvCxnSpPr>
              <p:nvPr/>
            </p:nvCxnSpPr>
            <p:spPr>
              <a:xfrm>
                <a:off x="2058771" y="4657050"/>
                <a:ext cx="7676221" cy="3723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C2B2D17-B45A-1E59-4885-670D082F5C74}"/>
                  </a:ext>
                </a:extLst>
              </p:cNvPr>
              <p:cNvCxnSpPr>
                <a:cxnSpLocks/>
              </p:cNvCxnSpPr>
              <p:nvPr/>
            </p:nvCxnSpPr>
            <p:spPr>
              <a:xfrm>
                <a:off x="4720856"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4E82963-CE6D-062D-7508-74D3A2688559}"/>
                  </a:ext>
                </a:extLst>
              </p:cNvPr>
              <p:cNvCxnSpPr>
                <a:cxnSpLocks/>
              </p:cNvCxnSpPr>
              <p:nvPr/>
            </p:nvCxnSpPr>
            <p:spPr>
              <a:xfrm>
                <a:off x="7226838" y="2466718"/>
                <a:ext cx="0" cy="4391282"/>
              </a:xfrm>
              <a:prstGeom prst="line">
                <a:avLst/>
              </a:prstGeom>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A24FCBAC-B98E-6089-4841-C44AE433A145}"/>
                  </a:ext>
                </a:extLst>
              </p:cNvPr>
              <p:cNvPicPr>
                <a:picLocks noChangeAspect="1"/>
              </p:cNvPicPr>
              <p:nvPr/>
            </p:nvPicPr>
            <p:blipFill>
              <a:blip r:embed="rId3"/>
              <a:stretch>
                <a:fillRect/>
              </a:stretch>
            </p:blipFill>
            <p:spPr>
              <a:xfrm>
                <a:off x="2667236" y="2433017"/>
                <a:ext cx="1475193" cy="2227383"/>
              </a:xfrm>
              <a:prstGeom prst="rect">
                <a:avLst/>
              </a:prstGeom>
            </p:spPr>
          </p:pic>
          <p:pic>
            <p:nvPicPr>
              <p:cNvPr id="16" name="Picture 4" descr="Military Beret Cap With Star PNG &amp; SVG Design For T-Shirts">
                <a:extLst>
                  <a:ext uri="{FF2B5EF4-FFF2-40B4-BE49-F238E27FC236}">
                    <a16:creationId xmlns:a16="http://schemas.microsoft.com/office/drawing/2014/main" id="{AEBC0C25-AD99-ED15-3F2B-B5E7C17D63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4951" y="2346568"/>
                <a:ext cx="873458" cy="873458"/>
              </a:xfrm>
              <a:prstGeom prst="rect">
                <a:avLst/>
              </a:prstGeom>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00738344-2EEC-7F56-0E05-4DD11C27F5FA}"/>
                  </a:ext>
                </a:extLst>
              </p:cNvPr>
              <p:cNvPicPr>
                <a:picLocks noChangeAspect="1"/>
              </p:cNvPicPr>
              <p:nvPr/>
            </p:nvPicPr>
            <p:blipFill>
              <a:blip r:embed="rId3"/>
              <a:stretch>
                <a:fillRect/>
              </a:stretch>
            </p:blipFill>
            <p:spPr>
              <a:xfrm>
                <a:off x="2645249" y="4577011"/>
                <a:ext cx="1475193" cy="2227383"/>
              </a:xfrm>
              <a:prstGeom prst="rect">
                <a:avLst/>
              </a:prstGeom>
            </p:spPr>
          </p:pic>
          <p:pic>
            <p:nvPicPr>
              <p:cNvPr id="18" name="Picture 6" descr="Tie Dye T-Shirt - Classic Rainbow Spiral - Psychedelic Shirt">
                <a:extLst>
                  <a:ext uri="{FF2B5EF4-FFF2-40B4-BE49-F238E27FC236}">
                    <a16:creationId xmlns:a16="http://schemas.microsoft.com/office/drawing/2014/main" id="{E439BD60-A2F0-BEDF-9CBE-E29D60E721F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682"/>
              <a:stretch/>
            </p:blipFill>
            <p:spPr bwMode="auto">
              <a:xfrm>
                <a:off x="2894354" y="5475296"/>
                <a:ext cx="1017530" cy="731520"/>
              </a:xfrm>
              <a:prstGeom prst="rect">
                <a:avLst/>
              </a:prstGeom>
              <a:extLst>
                <a:ext uri="{909E8E84-426E-40DD-AFC4-6F175D3DCCD1}">
                  <a14:hiddenFill xmlns:a14="http://schemas.microsoft.com/office/drawing/2010/main">
                    <a:solidFill>
                      <a:srgbClr val="FFFFFF"/>
                    </a:solidFill>
                  </a14:hiddenFill>
                </a:ext>
              </a:extLst>
            </p:spPr>
          </p:pic>
          <p:pic>
            <p:nvPicPr>
              <p:cNvPr id="19" name="Picture 7" descr="Adoptable Rabbits | morabbit">
                <a:extLst>
                  <a:ext uri="{FF2B5EF4-FFF2-40B4-BE49-F238E27FC236}">
                    <a16:creationId xmlns:a16="http://schemas.microsoft.com/office/drawing/2014/main" id="{DE769545-E6C8-90B4-C6B2-54CA67BBF8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333791" y="2702649"/>
                <a:ext cx="1209688" cy="1991639"/>
              </a:xfrm>
              <a:prstGeom prst="rect">
                <a:avLst/>
              </a:prstGeom>
              <a:extLst>
                <a:ext uri="{909E8E84-426E-40DD-AFC4-6F175D3DCCD1}">
                  <a14:hiddenFill xmlns:a14="http://schemas.microsoft.com/office/drawing/2010/main">
                    <a:solidFill>
                      <a:srgbClr val="FFFFFF"/>
                    </a:solidFill>
                  </a14:hiddenFill>
                </a:ext>
              </a:extLst>
            </p:spPr>
          </p:pic>
          <p:pic>
            <p:nvPicPr>
              <p:cNvPr id="20" name="Picture 7" descr="Adoptable Rabbits | morabbit">
                <a:extLst>
                  <a:ext uri="{FF2B5EF4-FFF2-40B4-BE49-F238E27FC236}">
                    <a16:creationId xmlns:a16="http://schemas.microsoft.com/office/drawing/2014/main" id="{55430209-FDC9-F972-81DC-E0FE6760E6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311148" y="4936817"/>
                <a:ext cx="1209688" cy="1991639"/>
              </a:xfrm>
              <a:prstGeom prst="rect">
                <a:avLst/>
              </a:prstGeom>
              <a:extLst>
                <a:ext uri="{909E8E84-426E-40DD-AFC4-6F175D3DCCD1}">
                  <a14:hiddenFill xmlns:a14="http://schemas.microsoft.com/office/drawing/2010/main">
                    <a:solidFill>
                      <a:srgbClr val="FFFFFF"/>
                    </a:solidFill>
                  </a14:hiddenFill>
                </a:ext>
              </a:extLst>
            </p:spPr>
          </p:pic>
          <p:pic>
            <p:nvPicPr>
              <p:cNvPr id="21" name="Picture 4" descr="Military Beret Cap With Star PNG &amp; SVG Design For T-Shirts">
                <a:extLst>
                  <a:ext uri="{FF2B5EF4-FFF2-40B4-BE49-F238E27FC236}">
                    <a16:creationId xmlns:a16="http://schemas.microsoft.com/office/drawing/2014/main" id="{43857311-0D2C-4766-F0AB-6754347163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3769" y="2586750"/>
                <a:ext cx="710622" cy="710622"/>
              </a:xfrm>
              <a:prstGeom prst="rect">
                <a:avLst/>
              </a:prstGeom>
              <a:extLst>
                <a:ext uri="{909E8E84-426E-40DD-AFC4-6F175D3DCCD1}">
                  <a14:hiddenFill xmlns:a14="http://schemas.microsoft.com/office/drawing/2010/main">
                    <a:solidFill>
                      <a:srgbClr val="FFFFFF"/>
                    </a:solidFill>
                  </a14:hiddenFill>
                </a:ext>
              </a:extLst>
            </p:spPr>
          </p:pic>
          <p:pic>
            <p:nvPicPr>
              <p:cNvPr id="22" name="Picture 4" descr="Military Beret Cap With Star PNG &amp; SVG Design For T-Shirts">
                <a:extLst>
                  <a:ext uri="{FF2B5EF4-FFF2-40B4-BE49-F238E27FC236}">
                    <a16:creationId xmlns:a16="http://schemas.microsoft.com/office/drawing/2014/main" id="{81C17360-45A9-786E-F7F4-7D358673C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9882" y="4837230"/>
                <a:ext cx="710622" cy="710622"/>
              </a:xfrm>
              <a:prstGeom prst="rect">
                <a:avLst/>
              </a:prstGeom>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563A75EB-B860-4C1C-0718-37EA3CF769C7}"/>
                  </a:ext>
                </a:extLst>
              </p:cNvPr>
              <p:cNvPicPr>
                <a:picLocks noChangeAspect="1"/>
              </p:cNvPicPr>
              <p:nvPr/>
            </p:nvPicPr>
            <p:blipFill>
              <a:blip r:embed="rId7"/>
              <a:stretch>
                <a:fillRect/>
              </a:stretch>
            </p:blipFill>
            <p:spPr>
              <a:xfrm>
                <a:off x="7742706" y="2824992"/>
                <a:ext cx="1165158" cy="1477341"/>
              </a:xfrm>
              <a:prstGeom prst="rect">
                <a:avLst/>
              </a:prstGeom>
            </p:spPr>
          </p:pic>
          <p:pic>
            <p:nvPicPr>
              <p:cNvPr id="24" name="Picture 23">
                <a:extLst>
                  <a:ext uri="{FF2B5EF4-FFF2-40B4-BE49-F238E27FC236}">
                    <a16:creationId xmlns:a16="http://schemas.microsoft.com/office/drawing/2014/main" id="{9E189110-CBD8-6D9B-4BFC-4999AC38B755}"/>
                  </a:ext>
                </a:extLst>
              </p:cNvPr>
              <p:cNvPicPr>
                <a:picLocks noChangeAspect="1"/>
              </p:cNvPicPr>
              <p:nvPr/>
            </p:nvPicPr>
            <p:blipFill>
              <a:blip r:embed="rId7"/>
              <a:stretch>
                <a:fillRect/>
              </a:stretch>
            </p:blipFill>
            <p:spPr>
              <a:xfrm>
                <a:off x="7695117" y="4945608"/>
                <a:ext cx="1165158" cy="1477341"/>
              </a:xfrm>
              <a:prstGeom prst="rect">
                <a:avLst/>
              </a:prstGeom>
            </p:spPr>
          </p:pic>
          <p:pic>
            <p:nvPicPr>
              <p:cNvPr id="25" name="Picture 6" descr="Tie Dye T-Shirt - Classic Rainbow Spiral - Psychedelic Shirt">
                <a:extLst>
                  <a:ext uri="{FF2B5EF4-FFF2-40B4-BE49-F238E27FC236}">
                    <a16:creationId xmlns:a16="http://schemas.microsoft.com/office/drawing/2014/main" id="{06DF81A7-2157-8D4F-7802-3224CD5E37C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7742706" y="3341198"/>
                <a:ext cx="1415159" cy="731520"/>
              </a:xfrm>
              <a:prstGeom prst="rect">
                <a:avLst/>
              </a:prstGeom>
              <a:extLst>
                <a:ext uri="{909E8E84-426E-40DD-AFC4-6F175D3DCCD1}">
                  <a14:hiddenFill xmlns:a14="http://schemas.microsoft.com/office/drawing/2010/main">
                    <a:solidFill>
                      <a:srgbClr val="FFFFFF"/>
                    </a:solidFill>
                  </a14:hiddenFill>
                </a:ext>
              </a:extLst>
            </p:spPr>
          </p:pic>
          <p:pic>
            <p:nvPicPr>
              <p:cNvPr id="26" name="Picture 6" descr="Tie Dye T-Shirt - Classic Rainbow Spiral - Psychedelic Shirt">
                <a:extLst>
                  <a:ext uri="{FF2B5EF4-FFF2-40B4-BE49-F238E27FC236}">
                    <a16:creationId xmlns:a16="http://schemas.microsoft.com/office/drawing/2014/main" id="{A695A616-5337-C9DE-C3C3-7D567998052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7699679" y="5446416"/>
                <a:ext cx="1415159" cy="731520"/>
              </a:xfrm>
              <a:prstGeom prst="rect">
                <a:avLst/>
              </a:prstGeom>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624BE570-2034-64F1-CE05-03D3BA0738C3}"/>
                </a:ext>
              </a:extLst>
            </p:cNvPr>
            <p:cNvSpPr txBox="1"/>
            <p:nvPr/>
          </p:nvSpPr>
          <p:spPr>
            <a:xfrm>
              <a:off x="5050705" y="1355799"/>
              <a:ext cx="1853611" cy="1200545"/>
            </a:xfrm>
            <a:prstGeom prst="rect">
              <a:avLst/>
            </a:prstGeom>
            <a:noFill/>
          </p:spPr>
          <p:txBody>
            <a:bodyPr wrap="square" rtlCol="0">
              <a:spAutoFit/>
            </a:bodyPr>
            <a:lstStyle/>
            <a:p>
              <a:pPr algn="ctr"/>
              <a:r>
                <a:rPr lang="en-US" sz="2000" dirty="0"/>
                <a:t>Always-Takers</a:t>
              </a:r>
            </a:p>
          </p:txBody>
        </p:sp>
        <p:sp>
          <p:nvSpPr>
            <p:cNvPr id="7" name="TextBox 6">
              <a:extLst>
                <a:ext uri="{FF2B5EF4-FFF2-40B4-BE49-F238E27FC236}">
                  <a16:creationId xmlns:a16="http://schemas.microsoft.com/office/drawing/2014/main" id="{355906F2-1048-05BD-C158-2D5A636C89AD}"/>
                </a:ext>
              </a:extLst>
            </p:cNvPr>
            <p:cNvSpPr txBox="1"/>
            <p:nvPr/>
          </p:nvSpPr>
          <p:spPr>
            <a:xfrm>
              <a:off x="7562005" y="1355799"/>
              <a:ext cx="1853611" cy="1200545"/>
            </a:xfrm>
            <a:prstGeom prst="rect">
              <a:avLst/>
            </a:prstGeom>
            <a:noFill/>
          </p:spPr>
          <p:txBody>
            <a:bodyPr wrap="square" rtlCol="0">
              <a:spAutoFit/>
            </a:bodyPr>
            <a:lstStyle/>
            <a:p>
              <a:pPr algn="ctr"/>
              <a:r>
                <a:rPr lang="en-US" sz="2000" dirty="0"/>
                <a:t>Never-Takers</a:t>
              </a:r>
            </a:p>
          </p:txBody>
        </p:sp>
      </p:grpSp>
      <p:grpSp>
        <p:nvGrpSpPr>
          <p:cNvPr id="30" name="Group 29">
            <a:extLst>
              <a:ext uri="{FF2B5EF4-FFF2-40B4-BE49-F238E27FC236}">
                <a16:creationId xmlns:a16="http://schemas.microsoft.com/office/drawing/2014/main" id="{90F4321E-C8E4-3318-383A-BB8CF311ECC1}"/>
              </a:ext>
            </a:extLst>
          </p:cNvPr>
          <p:cNvGrpSpPr/>
          <p:nvPr/>
        </p:nvGrpSpPr>
        <p:grpSpPr>
          <a:xfrm>
            <a:off x="866195" y="2527569"/>
            <a:ext cx="5373129" cy="3912093"/>
            <a:chOff x="866195" y="2194563"/>
            <a:chExt cx="5373129" cy="3912093"/>
          </a:xfrm>
        </p:grpSpPr>
        <p:sp>
          <p:nvSpPr>
            <p:cNvPr id="28" name="TextBox 27">
              <a:extLst>
                <a:ext uri="{FF2B5EF4-FFF2-40B4-BE49-F238E27FC236}">
                  <a16:creationId xmlns:a16="http://schemas.microsoft.com/office/drawing/2014/main" id="{D2203597-68B0-C847-B8C2-9E532AC8EFEE}"/>
                </a:ext>
              </a:extLst>
            </p:cNvPr>
            <p:cNvSpPr txBox="1"/>
            <p:nvPr/>
          </p:nvSpPr>
          <p:spPr>
            <a:xfrm>
              <a:off x="866195" y="3429000"/>
              <a:ext cx="5373129" cy="2677656"/>
            </a:xfrm>
            <a:prstGeom prst="rect">
              <a:avLst/>
            </a:prstGeom>
            <a:noFill/>
          </p:spPr>
          <p:txBody>
            <a:bodyPr wrap="square">
              <a:spAutoFit/>
            </a:bodyPr>
            <a:lstStyle/>
            <a:p>
              <a:r>
                <a:rPr lang="en-US" sz="2800" b="1" dirty="0">
                  <a:solidFill>
                    <a:schemeClr val="accent1"/>
                  </a:solidFill>
                </a:rPr>
                <a:t>Discuss: </a:t>
              </a:r>
            </a:p>
            <a:p>
              <a:r>
                <a:rPr lang="en-US" sz="2800" dirty="0">
                  <a:solidFill>
                    <a:schemeClr val="accent1"/>
                  </a:solidFill>
                </a:rPr>
                <a:t>For each of these three types:</a:t>
              </a:r>
            </a:p>
            <a:p>
              <a:pPr marL="457200" indent="-457200">
                <a:buFont typeface="Arial" panose="020B0604020202020204" pitchFamily="34" charset="0"/>
                <a:buChar char="•"/>
              </a:pPr>
              <a:r>
                <a:rPr lang="en-US" sz="2800" dirty="0">
                  <a:solidFill>
                    <a:schemeClr val="accent1"/>
                  </a:solidFill>
                </a:rPr>
                <a:t>Are the answers to the two questions the same?</a:t>
              </a:r>
            </a:p>
            <a:p>
              <a:pPr marL="457200" indent="-457200">
                <a:buFont typeface="Arial" panose="020B0604020202020204" pitchFamily="34" charset="0"/>
                <a:buChar char="•"/>
              </a:pPr>
              <a:r>
                <a:rPr lang="en-US" sz="2800" dirty="0">
                  <a:solidFill>
                    <a:schemeClr val="accent1"/>
                  </a:solidFill>
                </a:rPr>
                <a:t>Which of the two questions can we hope to answer?</a:t>
              </a:r>
            </a:p>
          </p:txBody>
        </p:sp>
        <p:pic>
          <p:nvPicPr>
            <p:cNvPr id="29" name="Picture 28">
              <a:extLst>
                <a:ext uri="{FF2B5EF4-FFF2-40B4-BE49-F238E27FC236}">
                  <a16:creationId xmlns:a16="http://schemas.microsoft.com/office/drawing/2014/main" id="{D67AF833-3A27-D7DA-BB93-0A9DE98C4E17}"/>
                </a:ext>
              </a:extLst>
            </p:cNvPr>
            <p:cNvPicPr>
              <a:picLocks noChangeAspect="1"/>
            </p:cNvPicPr>
            <p:nvPr/>
          </p:nvPicPr>
          <p:blipFill>
            <a:blip r:embed="rId8"/>
            <a:stretch>
              <a:fillRect/>
            </a:stretch>
          </p:blipFill>
          <p:spPr>
            <a:xfrm>
              <a:off x="2261493" y="2194563"/>
              <a:ext cx="1815831" cy="1609913"/>
            </a:xfrm>
            <a:prstGeom prst="rect">
              <a:avLst/>
            </a:prstGeom>
          </p:spPr>
        </p:pic>
      </p:grpSp>
    </p:spTree>
    <p:extLst>
      <p:ext uri="{BB962C8B-B14F-4D97-AF65-F5344CB8AC3E}">
        <p14:creationId xmlns:p14="http://schemas.microsoft.com/office/powerpoint/2010/main" val="225803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A0A74-15CD-F16D-F00D-38DD3DDBC6BA}"/>
              </a:ext>
            </a:extLst>
          </p:cNvPr>
          <p:cNvSpPr>
            <a:spLocks noGrp="1"/>
          </p:cNvSpPr>
          <p:nvPr>
            <p:ph type="title"/>
          </p:nvPr>
        </p:nvSpPr>
        <p:spPr>
          <a:xfrm>
            <a:off x="817123" y="79394"/>
            <a:ext cx="10515600" cy="1325563"/>
          </a:xfrm>
        </p:spPr>
        <p:txBody>
          <a:bodyPr/>
          <a:lstStyle/>
          <a:p>
            <a:r>
              <a:rPr lang="en-US" dirty="0"/>
              <a:t>Two questions</a:t>
            </a:r>
          </a:p>
        </p:txBody>
      </p:sp>
      <p:sp>
        <p:nvSpPr>
          <p:cNvPr id="3" name="Content Placeholder 2">
            <a:extLst>
              <a:ext uri="{FF2B5EF4-FFF2-40B4-BE49-F238E27FC236}">
                <a16:creationId xmlns:a16="http://schemas.microsoft.com/office/drawing/2014/main" id="{FDC5B861-87D8-6484-E396-5ABB3BD7AC2E}"/>
              </a:ext>
            </a:extLst>
          </p:cNvPr>
          <p:cNvSpPr>
            <a:spLocks noGrp="1"/>
          </p:cNvSpPr>
          <p:nvPr>
            <p:ph idx="1"/>
          </p:nvPr>
        </p:nvSpPr>
        <p:spPr>
          <a:xfrm>
            <a:off x="817123" y="1511484"/>
            <a:ext cx="10515600" cy="1305231"/>
          </a:xfrm>
        </p:spPr>
        <p:txBody>
          <a:bodyPr>
            <a:normAutofit/>
          </a:bodyPr>
          <a:lstStyle/>
          <a:p>
            <a:pPr marL="514350" indent="-514350">
              <a:buFont typeface="+mj-lt"/>
              <a:buAutoNum type="arabicPeriod"/>
            </a:pPr>
            <a:r>
              <a:rPr lang="en-US" dirty="0"/>
              <a:t>What is the ATE of being drafted on earnings?</a:t>
            </a:r>
          </a:p>
          <a:p>
            <a:pPr marL="514350" indent="-514350">
              <a:buFont typeface="+mj-lt"/>
              <a:buAutoNum type="arabicPeriod"/>
            </a:pPr>
            <a:r>
              <a:rPr lang="en-US" dirty="0"/>
              <a:t>What is the ATE of military service on earnings?</a:t>
            </a:r>
          </a:p>
        </p:txBody>
      </p:sp>
      <p:grpSp>
        <p:nvGrpSpPr>
          <p:cNvPr id="4" name="Group 3">
            <a:extLst>
              <a:ext uri="{FF2B5EF4-FFF2-40B4-BE49-F238E27FC236}">
                <a16:creationId xmlns:a16="http://schemas.microsoft.com/office/drawing/2014/main" id="{67D84F38-8697-93DD-4E51-773EA910E842}"/>
              </a:ext>
            </a:extLst>
          </p:cNvPr>
          <p:cNvGrpSpPr/>
          <p:nvPr/>
        </p:nvGrpSpPr>
        <p:grpSpPr>
          <a:xfrm>
            <a:off x="6560276" y="3649239"/>
            <a:ext cx="5631724" cy="3285846"/>
            <a:chOff x="183827" y="1355799"/>
            <a:chExt cx="9551165" cy="5572657"/>
          </a:xfrm>
        </p:grpSpPr>
        <p:grpSp>
          <p:nvGrpSpPr>
            <p:cNvPr id="5" name="Group 4">
              <a:extLst>
                <a:ext uri="{FF2B5EF4-FFF2-40B4-BE49-F238E27FC236}">
                  <a16:creationId xmlns:a16="http://schemas.microsoft.com/office/drawing/2014/main" id="{12FF62C1-11B2-840C-111E-A9F3221CFFD5}"/>
                </a:ext>
              </a:extLst>
            </p:cNvPr>
            <p:cNvGrpSpPr/>
            <p:nvPr/>
          </p:nvGrpSpPr>
          <p:grpSpPr>
            <a:xfrm>
              <a:off x="183827" y="1744216"/>
              <a:ext cx="9551165" cy="5184240"/>
              <a:chOff x="183827" y="1744216"/>
              <a:chExt cx="9551165" cy="5184240"/>
            </a:xfrm>
          </p:grpSpPr>
          <p:sp>
            <p:nvSpPr>
              <p:cNvPr id="8" name="TextBox 7">
                <a:extLst>
                  <a:ext uri="{FF2B5EF4-FFF2-40B4-BE49-F238E27FC236}">
                    <a16:creationId xmlns:a16="http://schemas.microsoft.com/office/drawing/2014/main" id="{D1BE13C2-6030-16F8-EB17-FDA4F2C4A4B9}"/>
                  </a:ext>
                </a:extLst>
              </p:cNvPr>
              <p:cNvSpPr txBox="1"/>
              <p:nvPr/>
            </p:nvSpPr>
            <p:spPr>
              <a:xfrm>
                <a:off x="2364128" y="1744216"/>
                <a:ext cx="2269073" cy="678570"/>
              </a:xfrm>
              <a:prstGeom prst="rect">
                <a:avLst/>
              </a:prstGeom>
              <a:noFill/>
            </p:spPr>
            <p:txBody>
              <a:bodyPr wrap="none" rtlCol="0">
                <a:spAutoFit/>
              </a:bodyPr>
              <a:lstStyle/>
              <a:p>
                <a:r>
                  <a:rPr lang="en-US" sz="2000" dirty="0"/>
                  <a:t>Compliers</a:t>
                </a:r>
              </a:p>
            </p:txBody>
          </p:sp>
          <p:sp>
            <p:nvSpPr>
              <p:cNvPr id="9" name="TextBox 8">
                <a:extLst>
                  <a:ext uri="{FF2B5EF4-FFF2-40B4-BE49-F238E27FC236}">
                    <a16:creationId xmlns:a16="http://schemas.microsoft.com/office/drawing/2014/main" id="{5878D056-8229-1B44-B1F9-67EC9827B27F}"/>
                  </a:ext>
                </a:extLst>
              </p:cNvPr>
              <p:cNvSpPr txBox="1"/>
              <p:nvPr/>
            </p:nvSpPr>
            <p:spPr>
              <a:xfrm>
                <a:off x="391656" y="3429001"/>
                <a:ext cx="1722413" cy="678570"/>
              </a:xfrm>
              <a:prstGeom prst="rect">
                <a:avLst/>
              </a:prstGeom>
              <a:noFill/>
            </p:spPr>
            <p:txBody>
              <a:bodyPr wrap="none" rtlCol="0">
                <a:spAutoFit/>
              </a:bodyPr>
              <a:lstStyle/>
              <a:p>
                <a:r>
                  <a:rPr lang="en-US" sz="2000" dirty="0"/>
                  <a:t>Drafted</a:t>
                </a:r>
              </a:p>
            </p:txBody>
          </p:sp>
          <p:sp>
            <p:nvSpPr>
              <p:cNvPr id="10" name="TextBox 9">
                <a:extLst>
                  <a:ext uri="{FF2B5EF4-FFF2-40B4-BE49-F238E27FC236}">
                    <a16:creationId xmlns:a16="http://schemas.microsoft.com/office/drawing/2014/main" id="{3E3280D7-56E0-25B0-2C77-96B2BD22F64E}"/>
                  </a:ext>
                </a:extLst>
              </p:cNvPr>
              <p:cNvSpPr txBox="1"/>
              <p:nvPr/>
            </p:nvSpPr>
            <p:spPr>
              <a:xfrm>
                <a:off x="183827" y="5213478"/>
                <a:ext cx="1722411" cy="1200545"/>
              </a:xfrm>
              <a:prstGeom prst="rect">
                <a:avLst/>
              </a:prstGeom>
              <a:noFill/>
            </p:spPr>
            <p:txBody>
              <a:bodyPr wrap="none" rtlCol="0">
                <a:spAutoFit/>
              </a:bodyPr>
              <a:lstStyle/>
              <a:p>
                <a:pPr algn="r"/>
                <a:r>
                  <a:rPr lang="en-US" sz="2000" dirty="0"/>
                  <a:t>Not </a:t>
                </a:r>
              </a:p>
              <a:p>
                <a:pPr algn="r"/>
                <a:r>
                  <a:rPr lang="en-US" sz="2000" dirty="0"/>
                  <a:t>Drafted</a:t>
                </a:r>
              </a:p>
            </p:txBody>
          </p:sp>
          <p:sp>
            <p:nvSpPr>
              <p:cNvPr id="11" name="Rectangle 10">
                <a:extLst>
                  <a:ext uri="{FF2B5EF4-FFF2-40B4-BE49-F238E27FC236}">
                    <a16:creationId xmlns:a16="http://schemas.microsoft.com/office/drawing/2014/main" id="{E689D2C1-24B6-CA4A-039F-6AE2F8A9ACF2}"/>
                  </a:ext>
                </a:extLst>
              </p:cNvPr>
              <p:cNvSpPr/>
              <p:nvPr/>
            </p:nvSpPr>
            <p:spPr>
              <a:xfrm>
                <a:off x="2058771" y="2456100"/>
                <a:ext cx="7639865" cy="4401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2" name="Straight Connector 11">
                <a:extLst>
                  <a:ext uri="{FF2B5EF4-FFF2-40B4-BE49-F238E27FC236}">
                    <a16:creationId xmlns:a16="http://schemas.microsoft.com/office/drawing/2014/main" id="{E68CADAE-DBA1-1006-2ADF-91BA03B711D0}"/>
                  </a:ext>
                </a:extLst>
              </p:cNvPr>
              <p:cNvCxnSpPr>
                <a:cxnSpLocks/>
                <a:stCxn id="11" idx="1"/>
              </p:cNvCxnSpPr>
              <p:nvPr/>
            </p:nvCxnSpPr>
            <p:spPr>
              <a:xfrm>
                <a:off x="2058771" y="4657050"/>
                <a:ext cx="7676221" cy="3723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C2B2D17-B45A-1E59-4885-670D082F5C74}"/>
                  </a:ext>
                </a:extLst>
              </p:cNvPr>
              <p:cNvCxnSpPr>
                <a:cxnSpLocks/>
              </p:cNvCxnSpPr>
              <p:nvPr/>
            </p:nvCxnSpPr>
            <p:spPr>
              <a:xfrm>
                <a:off x="4720856" y="2466718"/>
                <a:ext cx="0" cy="439128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4E82963-CE6D-062D-7508-74D3A2688559}"/>
                  </a:ext>
                </a:extLst>
              </p:cNvPr>
              <p:cNvCxnSpPr>
                <a:cxnSpLocks/>
              </p:cNvCxnSpPr>
              <p:nvPr/>
            </p:nvCxnSpPr>
            <p:spPr>
              <a:xfrm>
                <a:off x="7226838" y="2466718"/>
                <a:ext cx="0" cy="4391282"/>
              </a:xfrm>
              <a:prstGeom prst="line">
                <a:avLst/>
              </a:prstGeom>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A24FCBAC-B98E-6089-4841-C44AE433A145}"/>
                  </a:ext>
                </a:extLst>
              </p:cNvPr>
              <p:cNvPicPr>
                <a:picLocks noChangeAspect="1"/>
              </p:cNvPicPr>
              <p:nvPr/>
            </p:nvPicPr>
            <p:blipFill>
              <a:blip r:embed="rId3"/>
              <a:stretch>
                <a:fillRect/>
              </a:stretch>
            </p:blipFill>
            <p:spPr>
              <a:xfrm>
                <a:off x="2667236" y="2433017"/>
                <a:ext cx="1475193" cy="2227383"/>
              </a:xfrm>
              <a:prstGeom prst="rect">
                <a:avLst/>
              </a:prstGeom>
            </p:spPr>
          </p:pic>
          <p:pic>
            <p:nvPicPr>
              <p:cNvPr id="16" name="Picture 4" descr="Military Beret Cap With Star PNG &amp; SVG Design For T-Shirts">
                <a:extLst>
                  <a:ext uri="{FF2B5EF4-FFF2-40B4-BE49-F238E27FC236}">
                    <a16:creationId xmlns:a16="http://schemas.microsoft.com/office/drawing/2014/main" id="{AEBC0C25-AD99-ED15-3F2B-B5E7C17D63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4951" y="2346568"/>
                <a:ext cx="873458" cy="873458"/>
              </a:xfrm>
              <a:prstGeom prst="rect">
                <a:avLst/>
              </a:prstGeom>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00738344-2EEC-7F56-0E05-4DD11C27F5FA}"/>
                  </a:ext>
                </a:extLst>
              </p:cNvPr>
              <p:cNvPicPr>
                <a:picLocks noChangeAspect="1"/>
              </p:cNvPicPr>
              <p:nvPr/>
            </p:nvPicPr>
            <p:blipFill>
              <a:blip r:embed="rId3"/>
              <a:stretch>
                <a:fillRect/>
              </a:stretch>
            </p:blipFill>
            <p:spPr>
              <a:xfrm>
                <a:off x="2645249" y="4577011"/>
                <a:ext cx="1475193" cy="2227383"/>
              </a:xfrm>
              <a:prstGeom prst="rect">
                <a:avLst/>
              </a:prstGeom>
            </p:spPr>
          </p:pic>
          <p:pic>
            <p:nvPicPr>
              <p:cNvPr id="18" name="Picture 6" descr="Tie Dye T-Shirt - Classic Rainbow Spiral - Psychedelic Shirt">
                <a:extLst>
                  <a:ext uri="{FF2B5EF4-FFF2-40B4-BE49-F238E27FC236}">
                    <a16:creationId xmlns:a16="http://schemas.microsoft.com/office/drawing/2014/main" id="{E439BD60-A2F0-BEDF-9CBE-E29D60E721F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682"/>
              <a:stretch/>
            </p:blipFill>
            <p:spPr bwMode="auto">
              <a:xfrm>
                <a:off x="2894354" y="5475296"/>
                <a:ext cx="1017530" cy="731520"/>
              </a:xfrm>
              <a:prstGeom prst="rect">
                <a:avLst/>
              </a:prstGeom>
              <a:extLst>
                <a:ext uri="{909E8E84-426E-40DD-AFC4-6F175D3DCCD1}">
                  <a14:hiddenFill xmlns:a14="http://schemas.microsoft.com/office/drawing/2010/main">
                    <a:solidFill>
                      <a:srgbClr val="FFFFFF"/>
                    </a:solidFill>
                  </a14:hiddenFill>
                </a:ext>
              </a:extLst>
            </p:spPr>
          </p:pic>
          <p:pic>
            <p:nvPicPr>
              <p:cNvPr id="19" name="Picture 7" descr="Adoptable Rabbits | morabbit">
                <a:extLst>
                  <a:ext uri="{FF2B5EF4-FFF2-40B4-BE49-F238E27FC236}">
                    <a16:creationId xmlns:a16="http://schemas.microsoft.com/office/drawing/2014/main" id="{DE769545-E6C8-90B4-C6B2-54CA67BBF8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333791" y="2702649"/>
                <a:ext cx="1209688" cy="1991639"/>
              </a:xfrm>
              <a:prstGeom prst="rect">
                <a:avLst/>
              </a:prstGeom>
              <a:extLst>
                <a:ext uri="{909E8E84-426E-40DD-AFC4-6F175D3DCCD1}">
                  <a14:hiddenFill xmlns:a14="http://schemas.microsoft.com/office/drawing/2010/main">
                    <a:solidFill>
                      <a:srgbClr val="FFFFFF"/>
                    </a:solidFill>
                  </a14:hiddenFill>
                </a:ext>
              </a:extLst>
            </p:spPr>
          </p:pic>
          <p:pic>
            <p:nvPicPr>
              <p:cNvPr id="20" name="Picture 7" descr="Adoptable Rabbits | morabbit">
                <a:extLst>
                  <a:ext uri="{FF2B5EF4-FFF2-40B4-BE49-F238E27FC236}">
                    <a16:creationId xmlns:a16="http://schemas.microsoft.com/office/drawing/2014/main" id="{55430209-FDC9-F972-81DC-E0FE6760E6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311148" y="4936817"/>
                <a:ext cx="1209688" cy="1991639"/>
              </a:xfrm>
              <a:prstGeom prst="rect">
                <a:avLst/>
              </a:prstGeom>
              <a:extLst>
                <a:ext uri="{909E8E84-426E-40DD-AFC4-6F175D3DCCD1}">
                  <a14:hiddenFill xmlns:a14="http://schemas.microsoft.com/office/drawing/2010/main">
                    <a:solidFill>
                      <a:srgbClr val="FFFFFF"/>
                    </a:solidFill>
                  </a14:hiddenFill>
                </a:ext>
              </a:extLst>
            </p:spPr>
          </p:pic>
          <p:pic>
            <p:nvPicPr>
              <p:cNvPr id="21" name="Picture 4" descr="Military Beret Cap With Star PNG &amp; SVG Design For T-Shirts">
                <a:extLst>
                  <a:ext uri="{FF2B5EF4-FFF2-40B4-BE49-F238E27FC236}">
                    <a16:creationId xmlns:a16="http://schemas.microsoft.com/office/drawing/2014/main" id="{43857311-0D2C-4766-F0AB-6754347163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3769" y="2586750"/>
                <a:ext cx="710622" cy="710622"/>
              </a:xfrm>
              <a:prstGeom prst="rect">
                <a:avLst/>
              </a:prstGeom>
              <a:extLst>
                <a:ext uri="{909E8E84-426E-40DD-AFC4-6F175D3DCCD1}">
                  <a14:hiddenFill xmlns:a14="http://schemas.microsoft.com/office/drawing/2010/main">
                    <a:solidFill>
                      <a:srgbClr val="FFFFFF"/>
                    </a:solidFill>
                  </a14:hiddenFill>
                </a:ext>
              </a:extLst>
            </p:spPr>
          </p:pic>
          <p:pic>
            <p:nvPicPr>
              <p:cNvPr id="22" name="Picture 4" descr="Military Beret Cap With Star PNG &amp; SVG Design For T-Shirts">
                <a:extLst>
                  <a:ext uri="{FF2B5EF4-FFF2-40B4-BE49-F238E27FC236}">
                    <a16:creationId xmlns:a16="http://schemas.microsoft.com/office/drawing/2014/main" id="{81C17360-45A9-786E-F7F4-7D358673C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9882" y="4837230"/>
                <a:ext cx="710622" cy="710622"/>
              </a:xfrm>
              <a:prstGeom prst="rect">
                <a:avLst/>
              </a:prstGeom>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563A75EB-B860-4C1C-0718-37EA3CF769C7}"/>
                  </a:ext>
                </a:extLst>
              </p:cNvPr>
              <p:cNvPicPr>
                <a:picLocks noChangeAspect="1"/>
              </p:cNvPicPr>
              <p:nvPr/>
            </p:nvPicPr>
            <p:blipFill>
              <a:blip r:embed="rId7"/>
              <a:stretch>
                <a:fillRect/>
              </a:stretch>
            </p:blipFill>
            <p:spPr>
              <a:xfrm>
                <a:off x="7742706" y="2824992"/>
                <a:ext cx="1165158" cy="1477341"/>
              </a:xfrm>
              <a:prstGeom prst="rect">
                <a:avLst/>
              </a:prstGeom>
            </p:spPr>
          </p:pic>
          <p:pic>
            <p:nvPicPr>
              <p:cNvPr id="24" name="Picture 23">
                <a:extLst>
                  <a:ext uri="{FF2B5EF4-FFF2-40B4-BE49-F238E27FC236}">
                    <a16:creationId xmlns:a16="http://schemas.microsoft.com/office/drawing/2014/main" id="{9E189110-CBD8-6D9B-4BFC-4999AC38B755}"/>
                  </a:ext>
                </a:extLst>
              </p:cNvPr>
              <p:cNvPicPr>
                <a:picLocks noChangeAspect="1"/>
              </p:cNvPicPr>
              <p:nvPr/>
            </p:nvPicPr>
            <p:blipFill>
              <a:blip r:embed="rId7"/>
              <a:stretch>
                <a:fillRect/>
              </a:stretch>
            </p:blipFill>
            <p:spPr>
              <a:xfrm>
                <a:off x="7695117" y="4945608"/>
                <a:ext cx="1165158" cy="1477341"/>
              </a:xfrm>
              <a:prstGeom prst="rect">
                <a:avLst/>
              </a:prstGeom>
            </p:spPr>
          </p:pic>
          <p:pic>
            <p:nvPicPr>
              <p:cNvPr id="25" name="Picture 6" descr="Tie Dye T-Shirt - Classic Rainbow Spiral - Psychedelic Shirt">
                <a:extLst>
                  <a:ext uri="{FF2B5EF4-FFF2-40B4-BE49-F238E27FC236}">
                    <a16:creationId xmlns:a16="http://schemas.microsoft.com/office/drawing/2014/main" id="{06DF81A7-2157-8D4F-7802-3224CD5E37C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7742706" y="3341198"/>
                <a:ext cx="1415159" cy="731520"/>
              </a:xfrm>
              <a:prstGeom prst="rect">
                <a:avLst/>
              </a:prstGeom>
              <a:extLst>
                <a:ext uri="{909E8E84-426E-40DD-AFC4-6F175D3DCCD1}">
                  <a14:hiddenFill xmlns:a14="http://schemas.microsoft.com/office/drawing/2010/main">
                    <a:solidFill>
                      <a:srgbClr val="FFFFFF"/>
                    </a:solidFill>
                  </a14:hiddenFill>
                </a:ext>
              </a:extLst>
            </p:spPr>
          </p:pic>
          <p:pic>
            <p:nvPicPr>
              <p:cNvPr id="26" name="Picture 6" descr="Tie Dye T-Shirt - Classic Rainbow Spiral - Psychedelic Shirt">
                <a:extLst>
                  <a:ext uri="{FF2B5EF4-FFF2-40B4-BE49-F238E27FC236}">
                    <a16:creationId xmlns:a16="http://schemas.microsoft.com/office/drawing/2014/main" id="{A695A616-5337-C9DE-C3C3-7D567998052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7699679" y="5446416"/>
                <a:ext cx="1415159" cy="731520"/>
              </a:xfrm>
              <a:prstGeom prst="rect">
                <a:avLst/>
              </a:prstGeom>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624BE570-2034-64F1-CE05-03D3BA0738C3}"/>
                </a:ext>
              </a:extLst>
            </p:cNvPr>
            <p:cNvSpPr txBox="1"/>
            <p:nvPr/>
          </p:nvSpPr>
          <p:spPr>
            <a:xfrm>
              <a:off x="5050705" y="1355799"/>
              <a:ext cx="1853611" cy="1200545"/>
            </a:xfrm>
            <a:prstGeom prst="rect">
              <a:avLst/>
            </a:prstGeom>
            <a:noFill/>
          </p:spPr>
          <p:txBody>
            <a:bodyPr wrap="square" rtlCol="0">
              <a:spAutoFit/>
            </a:bodyPr>
            <a:lstStyle/>
            <a:p>
              <a:pPr algn="ctr"/>
              <a:r>
                <a:rPr lang="en-US" sz="2000" dirty="0"/>
                <a:t>Always-Takers</a:t>
              </a:r>
            </a:p>
          </p:txBody>
        </p:sp>
        <p:sp>
          <p:nvSpPr>
            <p:cNvPr id="7" name="TextBox 6">
              <a:extLst>
                <a:ext uri="{FF2B5EF4-FFF2-40B4-BE49-F238E27FC236}">
                  <a16:creationId xmlns:a16="http://schemas.microsoft.com/office/drawing/2014/main" id="{355906F2-1048-05BD-C158-2D5A636C89AD}"/>
                </a:ext>
              </a:extLst>
            </p:cNvPr>
            <p:cNvSpPr txBox="1"/>
            <p:nvPr/>
          </p:nvSpPr>
          <p:spPr>
            <a:xfrm>
              <a:off x="7562005" y="1355799"/>
              <a:ext cx="1853611" cy="1200545"/>
            </a:xfrm>
            <a:prstGeom prst="rect">
              <a:avLst/>
            </a:prstGeom>
            <a:noFill/>
          </p:spPr>
          <p:txBody>
            <a:bodyPr wrap="square" rtlCol="0">
              <a:spAutoFit/>
            </a:bodyPr>
            <a:lstStyle/>
            <a:p>
              <a:pPr algn="ctr"/>
              <a:r>
                <a:rPr lang="en-US" sz="2000" dirty="0"/>
                <a:t>Never-Takers</a:t>
              </a:r>
            </a:p>
          </p:txBody>
        </p:sp>
      </p:grpSp>
      <p:sp>
        <p:nvSpPr>
          <p:cNvPr id="27" name="TextBox 26">
            <a:extLst>
              <a:ext uri="{FF2B5EF4-FFF2-40B4-BE49-F238E27FC236}">
                <a16:creationId xmlns:a16="http://schemas.microsoft.com/office/drawing/2014/main" id="{876B4CC7-1DCF-60D9-6B3E-EBA40446CF35}"/>
              </a:ext>
            </a:extLst>
          </p:cNvPr>
          <p:cNvSpPr txBox="1"/>
          <p:nvPr/>
        </p:nvSpPr>
        <p:spPr>
          <a:xfrm>
            <a:off x="989278" y="2816715"/>
            <a:ext cx="5076669" cy="1200329"/>
          </a:xfrm>
          <a:prstGeom prst="rect">
            <a:avLst/>
          </a:prstGeom>
          <a:noFill/>
        </p:spPr>
        <p:txBody>
          <a:bodyPr wrap="square" rtlCol="0">
            <a:spAutoFit/>
          </a:bodyPr>
          <a:lstStyle/>
          <a:p>
            <a:r>
              <a:rPr lang="en-US" sz="2400" b="1" dirty="0">
                <a:solidFill>
                  <a:schemeClr val="accent1"/>
                </a:solidFill>
              </a:rPr>
              <a:t>For compliers: </a:t>
            </a:r>
          </a:p>
          <a:p>
            <a:pPr marL="342900" indent="-342900">
              <a:buFont typeface="Arial" panose="020B0604020202020204" pitchFamily="34" charset="0"/>
              <a:buChar char="•"/>
            </a:pPr>
            <a:r>
              <a:rPr lang="en-US" sz="2400" dirty="0">
                <a:solidFill>
                  <a:schemeClr val="accent1"/>
                </a:solidFill>
              </a:rPr>
              <a:t>The answers are the same!  We may hope to figure it out…</a:t>
            </a:r>
          </a:p>
        </p:txBody>
      </p:sp>
      <p:sp>
        <p:nvSpPr>
          <p:cNvPr id="29" name="TextBox 28">
            <a:extLst>
              <a:ext uri="{FF2B5EF4-FFF2-40B4-BE49-F238E27FC236}">
                <a16:creationId xmlns:a16="http://schemas.microsoft.com/office/drawing/2014/main" id="{2C314BEC-B40F-D249-A2DF-F3BEC48C3F7D}"/>
              </a:ext>
            </a:extLst>
          </p:cNvPr>
          <p:cNvSpPr txBox="1"/>
          <p:nvPr/>
        </p:nvSpPr>
        <p:spPr>
          <a:xfrm>
            <a:off x="989277" y="4221261"/>
            <a:ext cx="5076669" cy="1569660"/>
          </a:xfrm>
          <a:prstGeom prst="rect">
            <a:avLst/>
          </a:prstGeom>
          <a:noFill/>
        </p:spPr>
        <p:txBody>
          <a:bodyPr wrap="square" rtlCol="0">
            <a:spAutoFit/>
          </a:bodyPr>
          <a:lstStyle/>
          <a:p>
            <a:r>
              <a:rPr lang="en-US" sz="2400" b="1" dirty="0">
                <a:solidFill>
                  <a:schemeClr val="accent1"/>
                </a:solidFill>
              </a:rPr>
              <a:t>For always-takers: </a:t>
            </a:r>
          </a:p>
          <a:p>
            <a:pPr marL="342900" indent="-342900">
              <a:buFont typeface="Arial" panose="020B0604020202020204" pitchFamily="34" charset="0"/>
              <a:buChar char="•"/>
            </a:pPr>
            <a:r>
              <a:rPr lang="en-US" sz="2400" dirty="0">
                <a:solidFill>
                  <a:schemeClr val="accent1"/>
                </a:solidFill>
              </a:rPr>
              <a:t>The answers may be different!  </a:t>
            </a:r>
          </a:p>
          <a:p>
            <a:pPr marL="342900" indent="-342900">
              <a:buFont typeface="Arial" panose="020B0604020202020204" pitchFamily="34" charset="0"/>
              <a:buChar char="•"/>
            </a:pPr>
            <a:r>
              <a:rPr lang="en-US" sz="2400" dirty="0">
                <a:solidFill>
                  <a:schemeClr val="accent1"/>
                </a:solidFill>
              </a:rPr>
              <a:t>The answer to Q1 is “zero”</a:t>
            </a:r>
          </a:p>
          <a:p>
            <a:pPr marL="342900" indent="-342900">
              <a:buFont typeface="Arial" panose="020B0604020202020204" pitchFamily="34" charset="0"/>
              <a:buChar char="•"/>
            </a:pPr>
            <a:r>
              <a:rPr lang="en-US" sz="2400" dirty="0">
                <a:solidFill>
                  <a:schemeClr val="accent1"/>
                </a:solidFill>
              </a:rPr>
              <a:t>We have no way of answering Q2.</a:t>
            </a:r>
          </a:p>
        </p:txBody>
      </p:sp>
      <p:sp>
        <p:nvSpPr>
          <p:cNvPr id="31" name="TextBox 30">
            <a:extLst>
              <a:ext uri="{FF2B5EF4-FFF2-40B4-BE49-F238E27FC236}">
                <a16:creationId xmlns:a16="http://schemas.microsoft.com/office/drawing/2014/main" id="{84AABD68-8B47-F291-7070-8353AD90BE01}"/>
              </a:ext>
            </a:extLst>
          </p:cNvPr>
          <p:cNvSpPr txBox="1"/>
          <p:nvPr/>
        </p:nvSpPr>
        <p:spPr>
          <a:xfrm>
            <a:off x="902029" y="5949159"/>
            <a:ext cx="5799012" cy="461665"/>
          </a:xfrm>
          <a:prstGeom prst="rect">
            <a:avLst/>
          </a:prstGeom>
          <a:noFill/>
        </p:spPr>
        <p:txBody>
          <a:bodyPr wrap="square" rtlCol="0">
            <a:spAutoFit/>
          </a:bodyPr>
          <a:lstStyle/>
          <a:p>
            <a:r>
              <a:rPr lang="en-US" sz="2400" b="1" dirty="0">
                <a:solidFill>
                  <a:schemeClr val="accent1"/>
                </a:solidFill>
              </a:rPr>
              <a:t>For never-takers: </a:t>
            </a:r>
            <a:r>
              <a:rPr lang="en-US" sz="2400" dirty="0">
                <a:solidFill>
                  <a:schemeClr val="accent1"/>
                </a:solidFill>
              </a:rPr>
              <a:t>Same</a:t>
            </a:r>
            <a:r>
              <a:rPr lang="en-US" sz="2400" baseline="30000" dirty="0">
                <a:solidFill>
                  <a:schemeClr val="accent1"/>
                </a:solidFill>
              </a:rPr>
              <a:t>*</a:t>
            </a:r>
            <a:r>
              <a:rPr lang="en-US" sz="2400" dirty="0">
                <a:solidFill>
                  <a:schemeClr val="accent1"/>
                </a:solidFill>
              </a:rPr>
              <a:t> as always-takers.</a:t>
            </a:r>
          </a:p>
        </p:txBody>
      </p:sp>
      <p:sp>
        <p:nvSpPr>
          <p:cNvPr id="28" name="TextBox 27">
            <a:extLst>
              <a:ext uri="{FF2B5EF4-FFF2-40B4-BE49-F238E27FC236}">
                <a16:creationId xmlns:a16="http://schemas.microsoft.com/office/drawing/2014/main" id="{F1551AE9-4DCE-021A-A164-723298C28290}"/>
              </a:ext>
            </a:extLst>
          </p:cNvPr>
          <p:cNvSpPr txBox="1"/>
          <p:nvPr/>
        </p:nvSpPr>
        <p:spPr>
          <a:xfrm>
            <a:off x="371576" y="6615829"/>
            <a:ext cx="6335375" cy="261610"/>
          </a:xfrm>
          <a:prstGeom prst="rect">
            <a:avLst/>
          </a:prstGeom>
          <a:noFill/>
        </p:spPr>
        <p:txBody>
          <a:bodyPr wrap="square" rtlCol="0">
            <a:spAutoFit/>
          </a:bodyPr>
          <a:lstStyle/>
          <a:p>
            <a:r>
              <a:rPr lang="en-US" sz="1100" dirty="0">
                <a:solidFill>
                  <a:schemeClr val="bg2">
                    <a:lumMod val="75000"/>
                  </a:schemeClr>
                </a:solidFill>
              </a:rPr>
              <a:t>*At least for Q2… if you run away to Canada when drafted, that may affect your earnings…</a:t>
            </a:r>
          </a:p>
        </p:txBody>
      </p:sp>
    </p:spTree>
    <p:extLst>
      <p:ext uri="{BB962C8B-B14F-4D97-AF65-F5344CB8AC3E}">
        <p14:creationId xmlns:p14="http://schemas.microsoft.com/office/powerpoint/2010/main" val="261870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1"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EB15B-9735-F898-5C0E-896524E94BC5}"/>
              </a:ext>
            </a:extLst>
          </p:cNvPr>
          <p:cNvSpPr>
            <a:spLocks noGrp="1"/>
          </p:cNvSpPr>
          <p:nvPr>
            <p:ph type="title"/>
          </p:nvPr>
        </p:nvSpPr>
        <p:spPr/>
        <p:txBody>
          <a:bodyPr/>
          <a:lstStyle/>
          <a:p>
            <a:r>
              <a:rPr lang="en-US" dirty="0"/>
              <a:t>LATE: Answering for just the compliers</a:t>
            </a:r>
            <a:br>
              <a:rPr lang="en-US" dirty="0"/>
            </a:br>
            <a:r>
              <a:rPr lang="en-US" sz="2800" b="1" dirty="0"/>
              <a:t>L</a:t>
            </a:r>
            <a:r>
              <a:rPr lang="en-US" sz="2800" dirty="0"/>
              <a:t>ocal </a:t>
            </a:r>
            <a:r>
              <a:rPr lang="en-US" sz="2800" b="1" dirty="0"/>
              <a:t>A</a:t>
            </a:r>
            <a:r>
              <a:rPr lang="en-US" sz="2800" dirty="0"/>
              <a:t>verage </a:t>
            </a:r>
            <a:r>
              <a:rPr lang="en-US" sz="2800" b="1" dirty="0"/>
              <a:t>T</a:t>
            </a:r>
            <a:r>
              <a:rPr lang="en-US" sz="2800" dirty="0"/>
              <a:t>reatment </a:t>
            </a:r>
            <a:r>
              <a:rPr lang="en-US" sz="2800" b="1" dirty="0"/>
              <a:t>E</a:t>
            </a:r>
            <a:r>
              <a:rPr lang="en-US" sz="2800" dirty="0"/>
              <a:t>ffect</a:t>
            </a:r>
            <a:endParaRPr lang="en-US" dirty="0"/>
          </a:p>
        </p:txBody>
      </p:sp>
      <p:sp>
        <p:nvSpPr>
          <p:cNvPr id="3" name="Content Placeholder 2">
            <a:extLst>
              <a:ext uri="{FF2B5EF4-FFF2-40B4-BE49-F238E27FC236}">
                <a16:creationId xmlns:a16="http://schemas.microsoft.com/office/drawing/2014/main" id="{42C78007-E845-CFD0-FEFF-E8B2938F628B}"/>
              </a:ext>
            </a:extLst>
          </p:cNvPr>
          <p:cNvSpPr>
            <a:spLocks noGrp="1"/>
          </p:cNvSpPr>
          <p:nvPr>
            <p:ph idx="1"/>
          </p:nvPr>
        </p:nvSpPr>
        <p:spPr/>
        <p:txBody>
          <a:bodyPr/>
          <a:lstStyle/>
          <a:p>
            <a:r>
              <a:rPr lang="en-US" dirty="0"/>
              <a:t>We can’t hope to estimate ATE of serving on earnings for always-takers or never-takers.</a:t>
            </a:r>
          </a:p>
          <a:p>
            <a:r>
              <a:rPr lang="en-US" dirty="0"/>
              <a:t>So let’s just try to estimate ATE for the compliers.</a:t>
            </a:r>
          </a:p>
          <a:p>
            <a:r>
              <a:rPr lang="en-US" dirty="0"/>
              <a:t>That’s called a Local ATE (LATE)</a:t>
            </a:r>
          </a:p>
          <a:p>
            <a:pPr lvl="1"/>
            <a:r>
              <a:rPr lang="en-US" dirty="0">
                <a:solidFill>
                  <a:schemeClr val="accent1"/>
                </a:solidFill>
              </a:rPr>
              <a:t>It’s </a:t>
            </a:r>
            <a:r>
              <a:rPr lang="en-US" b="1" dirty="0">
                <a:solidFill>
                  <a:schemeClr val="accent1"/>
                </a:solidFill>
              </a:rPr>
              <a:t>local</a:t>
            </a:r>
            <a:r>
              <a:rPr lang="en-US" dirty="0">
                <a:solidFill>
                  <a:schemeClr val="accent1"/>
                </a:solidFill>
              </a:rPr>
              <a:t> to the population of compliers in this experiment.</a:t>
            </a:r>
          </a:p>
          <a:p>
            <a:endParaRPr lang="en-US" dirty="0"/>
          </a:p>
        </p:txBody>
      </p:sp>
      <p:grpSp>
        <p:nvGrpSpPr>
          <p:cNvPr id="4" name="Group 3">
            <a:extLst>
              <a:ext uri="{FF2B5EF4-FFF2-40B4-BE49-F238E27FC236}">
                <a16:creationId xmlns:a16="http://schemas.microsoft.com/office/drawing/2014/main" id="{4F4185E9-C96A-7A31-5B06-D71ABE3BC1B6}"/>
              </a:ext>
            </a:extLst>
          </p:cNvPr>
          <p:cNvGrpSpPr/>
          <p:nvPr/>
        </p:nvGrpSpPr>
        <p:grpSpPr>
          <a:xfrm flipH="1">
            <a:off x="7480092" y="4049486"/>
            <a:ext cx="4509437" cy="2127477"/>
            <a:chOff x="2684536" y="4314977"/>
            <a:chExt cx="5694949" cy="2127477"/>
          </a:xfrm>
        </p:grpSpPr>
        <p:pic>
          <p:nvPicPr>
            <p:cNvPr id="5" name="Picture 4">
              <a:extLst>
                <a:ext uri="{FF2B5EF4-FFF2-40B4-BE49-F238E27FC236}">
                  <a16:creationId xmlns:a16="http://schemas.microsoft.com/office/drawing/2014/main" id="{51047033-097C-EEAF-AFD4-3A5EE8BDDA51}"/>
                </a:ext>
              </a:extLst>
            </p:cNvPr>
            <p:cNvPicPr>
              <a:picLocks noChangeAspect="1"/>
            </p:cNvPicPr>
            <p:nvPr/>
          </p:nvPicPr>
          <p:blipFill>
            <a:blip r:embed="rId3"/>
            <a:stretch>
              <a:fillRect/>
            </a:stretch>
          </p:blipFill>
          <p:spPr>
            <a:xfrm flipH="1">
              <a:off x="2684536" y="4314977"/>
              <a:ext cx="1146772" cy="2127477"/>
            </a:xfrm>
            <a:prstGeom prst="rect">
              <a:avLst/>
            </a:prstGeom>
          </p:spPr>
        </p:pic>
        <p:sp>
          <p:nvSpPr>
            <p:cNvPr id="6" name="TextBox 5">
              <a:extLst>
                <a:ext uri="{FF2B5EF4-FFF2-40B4-BE49-F238E27FC236}">
                  <a16:creationId xmlns:a16="http://schemas.microsoft.com/office/drawing/2014/main" id="{5783E0DE-1F64-1120-72AB-CADFA8AA95A7}"/>
                </a:ext>
              </a:extLst>
            </p:cNvPr>
            <p:cNvSpPr txBox="1"/>
            <p:nvPr/>
          </p:nvSpPr>
          <p:spPr>
            <a:xfrm>
              <a:off x="3831309" y="4778550"/>
              <a:ext cx="4548176" cy="923330"/>
            </a:xfrm>
            <a:prstGeom prst="rect">
              <a:avLst/>
            </a:prstGeom>
            <a:noFill/>
          </p:spPr>
          <p:txBody>
            <a:bodyPr wrap="square" rtlCol="0">
              <a:spAutoFit/>
            </a:bodyPr>
            <a:lstStyle/>
            <a:p>
              <a:pPr algn="r"/>
              <a:r>
                <a:rPr lang="en-US" dirty="0">
                  <a:solidFill>
                    <a:srgbClr val="0070C0"/>
                  </a:solidFill>
                </a:rPr>
                <a:t>Note that who is a complier depends on the experiment.  </a:t>
              </a:r>
            </a:p>
            <a:p>
              <a:pPr algn="r"/>
              <a:r>
                <a:rPr lang="en-US" dirty="0">
                  <a:solidFill>
                    <a:srgbClr val="0070C0"/>
                  </a:solidFill>
                </a:rPr>
                <a:t>It’s not a property of a person.</a:t>
              </a:r>
            </a:p>
          </p:txBody>
        </p:sp>
      </p:grpSp>
      <p:pic>
        <p:nvPicPr>
          <p:cNvPr id="7" name="Picture 6">
            <a:extLst>
              <a:ext uri="{FF2B5EF4-FFF2-40B4-BE49-F238E27FC236}">
                <a16:creationId xmlns:a16="http://schemas.microsoft.com/office/drawing/2014/main" id="{78785419-E8EF-658D-C87B-87475E40A5CE}"/>
              </a:ext>
            </a:extLst>
          </p:cNvPr>
          <p:cNvPicPr>
            <a:picLocks noChangeAspect="1"/>
          </p:cNvPicPr>
          <p:nvPr/>
        </p:nvPicPr>
        <p:blipFill>
          <a:blip r:embed="rId4"/>
          <a:stretch>
            <a:fillRect/>
          </a:stretch>
        </p:blipFill>
        <p:spPr>
          <a:xfrm>
            <a:off x="577746" y="4972088"/>
            <a:ext cx="6266617" cy="1822208"/>
          </a:xfrm>
          <a:prstGeom prst="rect">
            <a:avLst/>
          </a:prstGeom>
          <a:ln>
            <a:solidFill>
              <a:schemeClr val="tx1"/>
            </a:solidFill>
          </a:ln>
        </p:spPr>
      </p:pic>
    </p:spTree>
    <p:extLst>
      <p:ext uri="{BB962C8B-B14F-4D97-AF65-F5344CB8AC3E}">
        <p14:creationId xmlns:p14="http://schemas.microsoft.com/office/powerpoint/2010/main" val="226632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A0A74-15CD-F16D-F00D-38DD3DDBC6BA}"/>
              </a:ext>
            </a:extLst>
          </p:cNvPr>
          <p:cNvSpPr>
            <a:spLocks noGrp="1"/>
          </p:cNvSpPr>
          <p:nvPr>
            <p:ph type="title"/>
          </p:nvPr>
        </p:nvSpPr>
        <p:spPr>
          <a:xfrm>
            <a:off x="817123" y="79394"/>
            <a:ext cx="10515600" cy="1325563"/>
          </a:xfrm>
        </p:spPr>
        <p:txBody>
          <a:bodyPr>
            <a:normAutofit/>
          </a:bodyPr>
          <a:lstStyle/>
          <a:p>
            <a:r>
              <a:rPr lang="en-US" dirty="0"/>
              <a:t>Let’s compute LATE!</a:t>
            </a:r>
            <a:br>
              <a:rPr lang="en-US" dirty="0"/>
            </a:br>
            <a:r>
              <a:rPr lang="en-US" sz="2800" dirty="0"/>
              <a:t>What is the ATE of serving for the compliers?</a:t>
            </a:r>
            <a:endParaRPr lang="en-US" dirty="0"/>
          </a:p>
        </p:txBody>
      </p:sp>
      <p:sp>
        <p:nvSpPr>
          <p:cNvPr id="3" name="Content Placeholder 2">
            <a:extLst>
              <a:ext uri="{FF2B5EF4-FFF2-40B4-BE49-F238E27FC236}">
                <a16:creationId xmlns:a16="http://schemas.microsoft.com/office/drawing/2014/main" id="{FDC5B861-87D8-6484-E396-5ABB3BD7AC2E}"/>
              </a:ext>
            </a:extLst>
          </p:cNvPr>
          <p:cNvSpPr>
            <a:spLocks noGrp="1"/>
          </p:cNvSpPr>
          <p:nvPr>
            <p:ph idx="1"/>
          </p:nvPr>
        </p:nvSpPr>
        <p:spPr>
          <a:xfrm>
            <a:off x="817123" y="1511484"/>
            <a:ext cx="10515600" cy="2385542"/>
          </a:xfrm>
        </p:spPr>
        <p:txBody>
          <a:bodyPr>
            <a:normAutofit/>
          </a:bodyPr>
          <a:lstStyle/>
          <a:p>
            <a:r>
              <a:rPr lang="en-US" dirty="0"/>
              <a:t>Suppose we see:</a:t>
            </a:r>
          </a:p>
        </p:txBody>
      </p:sp>
      <p:grpSp>
        <p:nvGrpSpPr>
          <p:cNvPr id="4" name="Group 3">
            <a:extLst>
              <a:ext uri="{FF2B5EF4-FFF2-40B4-BE49-F238E27FC236}">
                <a16:creationId xmlns:a16="http://schemas.microsoft.com/office/drawing/2014/main" id="{142AD236-ECFA-A5E3-DE83-A033FB70FD86}"/>
              </a:ext>
            </a:extLst>
          </p:cNvPr>
          <p:cNvGrpSpPr/>
          <p:nvPr/>
        </p:nvGrpSpPr>
        <p:grpSpPr>
          <a:xfrm>
            <a:off x="-30498" y="2102836"/>
            <a:ext cx="11243295" cy="2730033"/>
            <a:chOff x="-30498" y="2102836"/>
            <a:chExt cx="11243295" cy="2730033"/>
          </a:xfrm>
        </p:grpSpPr>
        <p:sp>
          <p:nvSpPr>
            <p:cNvPr id="28" name="TextBox 27">
              <a:extLst>
                <a:ext uri="{FF2B5EF4-FFF2-40B4-BE49-F238E27FC236}">
                  <a16:creationId xmlns:a16="http://schemas.microsoft.com/office/drawing/2014/main" id="{F9983627-4970-F5C9-E3EB-CD1D4D2C2F89}"/>
                </a:ext>
              </a:extLst>
            </p:cNvPr>
            <p:cNvSpPr txBox="1"/>
            <p:nvPr/>
          </p:nvSpPr>
          <p:spPr>
            <a:xfrm>
              <a:off x="1364106" y="2102836"/>
              <a:ext cx="3444789" cy="461665"/>
            </a:xfrm>
            <a:prstGeom prst="rect">
              <a:avLst/>
            </a:prstGeom>
            <a:noFill/>
          </p:spPr>
          <p:txBody>
            <a:bodyPr wrap="none" rtlCol="0">
              <a:spAutoFit/>
            </a:bodyPr>
            <a:lstStyle/>
            <a:p>
              <a:r>
                <a:rPr lang="en-US" sz="2400" dirty="0"/>
                <a:t>People who were drafted</a:t>
              </a:r>
            </a:p>
          </p:txBody>
        </p:sp>
        <p:sp>
          <p:nvSpPr>
            <p:cNvPr id="31" name="TextBox 30">
              <a:extLst>
                <a:ext uri="{FF2B5EF4-FFF2-40B4-BE49-F238E27FC236}">
                  <a16:creationId xmlns:a16="http://schemas.microsoft.com/office/drawing/2014/main" id="{D39088F0-DBAC-D428-6FD8-ED1865D27348}"/>
                </a:ext>
              </a:extLst>
            </p:cNvPr>
            <p:cNvSpPr txBox="1"/>
            <p:nvPr/>
          </p:nvSpPr>
          <p:spPr>
            <a:xfrm>
              <a:off x="7221301" y="2137816"/>
              <a:ext cx="3946530" cy="461665"/>
            </a:xfrm>
            <a:prstGeom prst="rect">
              <a:avLst/>
            </a:prstGeom>
            <a:noFill/>
          </p:spPr>
          <p:txBody>
            <a:bodyPr wrap="none" rtlCol="0">
              <a:spAutoFit/>
            </a:bodyPr>
            <a:lstStyle/>
            <a:p>
              <a:r>
                <a:rPr lang="en-US" sz="2400" dirty="0"/>
                <a:t>People who were not drafted</a:t>
              </a:r>
            </a:p>
          </p:txBody>
        </p:sp>
        <p:grpSp>
          <p:nvGrpSpPr>
            <p:cNvPr id="34" name="Group 33">
              <a:extLst>
                <a:ext uri="{FF2B5EF4-FFF2-40B4-BE49-F238E27FC236}">
                  <a16:creationId xmlns:a16="http://schemas.microsoft.com/office/drawing/2014/main" id="{44F1D3D9-E1A9-49DE-B001-D037F518BBA9}"/>
                </a:ext>
              </a:extLst>
            </p:cNvPr>
            <p:cNvGrpSpPr/>
            <p:nvPr/>
          </p:nvGrpSpPr>
          <p:grpSpPr>
            <a:xfrm>
              <a:off x="1199011" y="2706941"/>
              <a:ext cx="869829" cy="1364322"/>
              <a:chOff x="8012095" y="8705"/>
              <a:chExt cx="869829" cy="1364322"/>
            </a:xfrm>
          </p:grpSpPr>
          <p:pic>
            <p:nvPicPr>
              <p:cNvPr id="32" name="Picture 31">
                <a:extLst>
                  <a:ext uri="{FF2B5EF4-FFF2-40B4-BE49-F238E27FC236}">
                    <a16:creationId xmlns:a16="http://schemas.microsoft.com/office/drawing/2014/main" id="{3CE0B1F8-C0E7-084E-9259-4E390D3E90AA}"/>
                  </a:ext>
                </a:extLst>
              </p:cNvPr>
              <p:cNvPicPr>
                <a:picLocks noChangeAspect="1"/>
              </p:cNvPicPr>
              <p:nvPr/>
            </p:nvPicPr>
            <p:blipFill>
              <a:blip r:embed="rId3"/>
              <a:stretch>
                <a:fillRect/>
              </a:stretch>
            </p:blipFill>
            <p:spPr>
              <a:xfrm>
                <a:off x="8012095" y="59679"/>
                <a:ext cx="869829" cy="1313348"/>
              </a:xfrm>
              <a:prstGeom prst="rect">
                <a:avLst/>
              </a:prstGeom>
            </p:spPr>
          </p:pic>
          <p:pic>
            <p:nvPicPr>
              <p:cNvPr id="33" name="Picture 4" descr="Military Beret Cap With Star PNG &amp; SVG Design For T-Shirts">
                <a:extLst>
                  <a:ext uri="{FF2B5EF4-FFF2-40B4-BE49-F238E27FC236}">
                    <a16:creationId xmlns:a16="http://schemas.microsoft.com/office/drawing/2014/main" id="{10D9910B-CEB7-47E8-EFBF-2521EE0171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nvGrpSpPr>
            <p:cNvPr id="35" name="Group 34">
              <a:extLst>
                <a:ext uri="{FF2B5EF4-FFF2-40B4-BE49-F238E27FC236}">
                  <a16:creationId xmlns:a16="http://schemas.microsoft.com/office/drawing/2014/main" id="{BCB53A98-41F8-CE7C-8559-DC57FC37A8EA}"/>
                </a:ext>
              </a:extLst>
            </p:cNvPr>
            <p:cNvGrpSpPr/>
            <p:nvPr/>
          </p:nvGrpSpPr>
          <p:grpSpPr>
            <a:xfrm>
              <a:off x="4126731" y="2719906"/>
              <a:ext cx="869829" cy="1364322"/>
              <a:chOff x="8012095" y="8705"/>
              <a:chExt cx="869829" cy="1364322"/>
            </a:xfrm>
          </p:grpSpPr>
          <p:pic>
            <p:nvPicPr>
              <p:cNvPr id="36" name="Picture 35">
                <a:extLst>
                  <a:ext uri="{FF2B5EF4-FFF2-40B4-BE49-F238E27FC236}">
                    <a16:creationId xmlns:a16="http://schemas.microsoft.com/office/drawing/2014/main" id="{C236313F-D788-81C4-FC77-38677BCC6D42}"/>
                  </a:ext>
                </a:extLst>
              </p:cNvPr>
              <p:cNvPicPr>
                <a:picLocks noChangeAspect="1"/>
              </p:cNvPicPr>
              <p:nvPr/>
            </p:nvPicPr>
            <p:blipFill>
              <a:blip r:embed="rId3"/>
              <a:stretch>
                <a:fillRect/>
              </a:stretch>
            </p:blipFill>
            <p:spPr>
              <a:xfrm>
                <a:off x="8012095" y="59679"/>
                <a:ext cx="869829" cy="1313348"/>
              </a:xfrm>
              <a:prstGeom prst="rect">
                <a:avLst/>
              </a:prstGeom>
            </p:spPr>
          </p:pic>
          <p:pic>
            <p:nvPicPr>
              <p:cNvPr id="37" name="Picture 4" descr="Military Beret Cap With Star PNG &amp; SVG Design For T-Shirts">
                <a:extLst>
                  <a:ext uri="{FF2B5EF4-FFF2-40B4-BE49-F238E27FC236}">
                    <a16:creationId xmlns:a16="http://schemas.microsoft.com/office/drawing/2014/main" id="{04940D3C-3DE5-CC31-D256-B9529B98E4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nvGrpSpPr>
            <p:cNvPr id="40" name="Group 39">
              <a:extLst>
                <a:ext uri="{FF2B5EF4-FFF2-40B4-BE49-F238E27FC236}">
                  <a16:creationId xmlns:a16="http://schemas.microsoft.com/office/drawing/2014/main" id="{EC4E702D-AC27-DE92-4796-A8E7500E592D}"/>
                </a:ext>
              </a:extLst>
            </p:cNvPr>
            <p:cNvGrpSpPr/>
            <p:nvPr/>
          </p:nvGrpSpPr>
          <p:grpSpPr>
            <a:xfrm>
              <a:off x="7291055" y="2756993"/>
              <a:ext cx="869829" cy="1313348"/>
              <a:chOff x="7999130" y="1323857"/>
              <a:chExt cx="869829" cy="1313348"/>
            </a:xfrm>
          </p:grpSpPr>
          <p:pic>
            <p:nvPicPr>
              <p:cNvPr id="38" name="Picture 37">
                <a:extLst>
                  <a:ext uri="{FF2B5EF4-FFF2-40B4-BE49-F238E27FC236}">
                    <a16:creationId xmlns:a16="http://schemas.microsoft.com/office/drawing/2014/main" id="{87A1F314-1A66-E7CD-4044-A404C2BBC713}"/>
                  </a:ext>
                </a:extLst>
              </p:cNvPr>
              <p:cNvPicPr>
                <a:picLocks noChangeAspect="1"/>
              </p:cNvPicPr>
              <p:nvPr/>
            </p:nvPicPr>
            <p:blipFill>
              <a:blip r:embed="rId3"/>
              <a:stretch>
                <a:fillRect/>
              </a:stretch>
            </p:blipFill>
            <p:spPr>
              <a:xfrm>
                <a:off x="7999130" y="1323857"/>
                <a:ext cx="869829" cy="1313348"/>
              </a:xfrm>
              <a:prstGeom prst="rect">
                <a:avLst/>
              </a:prstGeom>
            </p:spPr>
          </p:pic>
          <p:pic>
            <p:nvPicPr>
              <p:cNvPr id="39" name="Picture 6" descr="Tie Dye T-Shirt - Classic Rainbow Spiral - Psychedelic Shirt">
                <a:extLst>
                  <a:ext uri="{FF2B5EF4-FFF2-40B4-BE49-F238E27FC236}">
                    <a16:creationId xmlns:a16="http://schemas.microsoft.com/office/drawing/2014/main" id="{3FFC7CBA-D3FD-B140-6BA5-ABB46B5BE52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41" name="Group 40">
              <a:extLst>
                <a:ext uri="{FF2B5EF4-FFF2-40B4-BE49-F238E27FC236}">
                  <a16:creationId xmlns:a16="http://schemas.microsoft.com/office/drawing/2014/main" id="{B913F7B2-79CC-F3C4-E438-65C0F29BFDFF}"/>
                </a:ext>
              </a:extLst>
            </p:cNvPr>
            <p:cNvGrpSpPr/>
            <p:nvPr/>
          </p:nvGrpSpPr>
          <p:grpSpPr>
            <a:xfrm>
              <a:off x="9173162" y="2745261"/>
              <a:ext cx="869829" cy="1313348"/>
              <a:chOff x="7999130" y="1323857"/>
              <a:chExt cx="869829" cy="1313348"/>
            </a:xfrm>
          </p:grpSpPr>
          <p:pic>
            <p:nvPicPr>
              <p:cNvPr id="42" name="Picture 41">
                <a:extLst>
                  <a:ext uri="{FF2B5EF4-FFF2-40B4-BE49-F238E27FC236}">
                    <a16:creationId xmlns:a16="http://schemas.microsoft.com/office/drawing/2014/main" id="{F0F9CEA8-7154-F386-2BB3-530EA1646F7D}"/>
                  </a:ext>
                </a:extLst>
              </p:cNvPr>
              <p:cNvPicPr>
                <a:picLocks noChangeAspect="1"/>
              </p:cNvPicPr>
              <p:nvPr/>
            </p:nvPicPr>
            <p:blipFill>
              <a:blip r:embed="rId3"/>
              <a:stretch>
                <a:fillRect/>
              </a:stretch>
            </p:blipFill>
            <p:spPr>
              <a:xfrm>
                <a:off x="7999130" y="1323857"/>
                <a:ext cx="869829" cy="1313348"/>
              </a:xfrm>
              <a:prstGeom prst="rect">
                <a:avLst/>
              </a:prstGeom>
            </p:spPr>
          </p:pic>
          <p:pic>
            <p:nvPicPr>
              <p:cNvPr id="43" name="Picture 6" descr="Tie Dye T-Shirt - Classic Rainbow Spiral - Psychedelic Shirt">
                <a:extLst>
                  <a:ext uri="{FF2B5EF4-FFF2-40B4-BE49-F238E27FC236}">
                    <a16:creationId xmlns:a16="http://schemas.microsoft.com/office/drawing/2014/main" id="{E196C3B8-2EC3-30EC-3807-6AC0FC21990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46" name="Group 45">
              <a:extLst>
                <a:ext uri="{FF2B5EF4-FFF2-40B4-BE49-F238E27FC236}">
                  <a16:creationId xmlns:a16="http://schemas.microsoft.com/office/drawing/2014/main" id="{3DC4E1D3-C44E-946A-0B15-9AB759DEDB29}"/>
                </a:ext>
              </a:extLst>
            </p:cNvPr>
            <p:cNvGrpSpPr/>
            <p:nvPr/>
          </p:nvGrpSpPr>
          <p:grpSpPr>
            <a:xfrm>
              <a:off x="10180005" y="2814626"/>
              <a:ext cx="713277" cy="1233065"/>
              <a:chOff x="8802417" y="4582488"/>
              <a:chExt cx="713277" cy="1233065"/>
            </a:xfrm>
          </p:grpSpPr>
          <p:pic>
            <p:nvPicPr>
              <p:cNvPr id="44" name="Picture 7" descr="Adoptable Rabbits | morabbit">
                <a:extLst>
                  <a:ext uri="{FF2B5EF4-FFF2-40B4-BE49-F238E27FC236}">
                    <a16:creationId xmlns:a16="http://schemas.microsoft.com/office/drawing/2014/main" id="{C35C8679-75A5-096F-496C-4A336058C6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802417" y="4641208"/>
                <a:ext cx="713277" cy="1174345"/>
              </a:xfrm>
              <a:prstGeom prst="rect">
                <a:avLst/>
              </a:prstGeom>
              <a:extLst>
                <a:ext uri="{909E8E84-426E-40DD-AFC4-6F175D3DCCD1}">
                  <a14:hiddenFill xmlns:a14="http://schemas.microsoft.com/office/drawing/2010/main">
                    <a:solidFill>
                      <a:srgbClr val="FFFFFF"/>
                    </a:solidFill>
                  </a14:hiddenFill>
                </a:ext>
              </a:extLst>
            </p:spPr>
          </p:pic>
          <p:pic>
            <p:nvPicPr>
              <p:cNvPr id="45" name="Picture 4" descr="Military Beret Cap With Star PNG &amp; SVG Design For T-Shirts">
                <a:extLst>
                  <a:ext uri="{FF2B5EF4-FFF2-40B4-BE49-F238E27FC236}">
                    <a16:creationId xmlns:a16="http://schemas.microsoft.com/office/drawing/2014/main" id="{73B6CA64-60FE-1CCB-7DB9-FFD17B0959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nvGrpSpPr>
            <p:cNvPr id="47" name="Group 46">
              <a:extLst>
                <a:ext uri="{FF2B5EF4-FFF2-40B4-BE49-F238E27FC236}">
                  <a16:creationId xmlns:a16="http://schemas.microsoft.com/office/drawing/2014/main" id="{1C04E29E-7403-ABB7-4BD1-2EC69E517414}"/>
                </a:ext>
              </a:extLst>
            </p:cNvPr>
            <p:cNvGrpSpPr/>
            <p:nvPr/>
          </p:nvGrpSpPr>
          <p:grpSpPr>
            <a:xfrm>
              <a:off x="2197213" y="2835900"/>
              <a:ext cx="713277" cy="1233065"/>
              <a:chOff x="8802417" y="4582488"/>
              <a:chExt cx="713277" cy="1233065"/>
            </a:xfrm>
          </p:grpSpPr>
          <p:pic>
            <p:nvPicPr>
              <p:cNvPr id="48" name="Picture 7" descr="Adoptable Rabbits | morabbit">
                <a:extLst>
                  <a:ext uri="{FF2B5EF4-FFF2-40B4-BE49-F238E27FC236}">
                    <a16:creationId xmlns:a16="http://schemas.microsoft.com/office/drawing/2014/main" id="{4FFACB65-3F65-5FF3-D9B9-BF61FA96FB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802417" y="4641208"/>
                <a:ext cx="713277" cy="1174345"/>
              </a:xfrm>
              <a:prstGeom prst="rect">
                <a:avLst/>
              </a:prstGeom>
              <a:extLst>
                <a:ext uri="{909E8E84-426E-40DD-AFC4-6F175D3DCCD1}">
                  <a14:hiddenFill xmlns:a14="http://schemas.microsoft.com/office/drawing/2010/main">
                    <a:solidFill>
                      <a:srgbClr val="FFFFFF"/>
                    </a:solidFill>
                  </a14:hiddenFill>
                </a:ext>
              </a:extLst>
            </p:spPr>
          </p:pic>
          <p:pic>
            <p:nvPicPr>
              <p:cNvPr id="49" name="Picture 4" descr="Military Beret Cap With Star PNG &amp; SVG Design For T-Shirts">
                <a:extLst>
                  <a:ext uri="{FF2B5EF4-FFF2-40B4-BE49-F238E27FC236}">
                    <a16:creationId xmlns:a16="http://schemas.microsoft.com/office/drawing/2014/main" id="{EFC5829B-DBA5-73FA-B1EE-75B46D5E2C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nvGrpSpPr>
            <p:cNvPr id="52" name="Group 51">
              <a:extLst>
                <a:ext uri="{FF2B5EF4-FFF2-40B4-BE49-F238E27FC236}">
                  <a16:creationId xmlns:a16="http://schemas.microsoft.com/office/drawing/2014/main" id="{B9C45AAC-E8DC-19F8-8619-3A624C898024}"/>
                </a:ext>
              </a:extLst>
            </p:cNvPr>
            <p:cNvGrpSpPr/>
            <p:nvPr/>
          </p:nvGrpSpPr>
          <p:grpSpPr>
            <a:xfrm>
              <a:off x="8345909" y="3020981"/>
              <a:ext cx="837121" cy="871095"/>
              <a:chOff x="10976721" y="1541196"/>
              <a:chExt cx="837121" cy="871095"/>
            </a:xfrm>
          </p:grpSpPr>
          <p:pic>
            <p:nvPicPr>
              <p:cNvPr id="50" name="Picture 49">
                <a:extLst>
                  <a:ext uri="{FF2B5EF4-FFF2-40B4-BE49-F238E27FC236}">
                    <a16:creationId xmlns:a16="http://schemas.microsoft.com/office/drawing/2014/main" id="{6AFF20C2-C170-B6BA-6B50-4CBA2FBFCBEE}"/>
                  </a:ext>
                </a:extLst>
              </p:cNvPr>
              <p:cNvPicPr>
                <a:picLocks noChangeAspect="1"/>
              </p:cNvPicPr>
              <p:nvPr/>
            </p:nvPicPr>
            <p:blipFill>
              <a:blip r:embed="rId7"/>
              <a:stretch>
                <a:fillRect/>
              </a:stretch>
            </p:blipFill>
            <p:spPr>
              <a:xfrm>
                <a:off x="10976721" y="1541196"/>
                <a:ext cx="687021" cy="871095"/>
              </a:xfrm>
              <a:prstGeom prst="rect">
                <a:avLst/>
              </a:prstGeom>
            </p:spPr>
          </p:pic>
          <p:pic>
            <p:nvPicPr>
              <p:cNvPr id="51" name="Picture 6" descr="Tie Dye T-Shirt - Classic Rainbow Spiral - Psychedelic Shirt">
                <a:extLst>
                  <a:ext uri="{FF2B5EF4-FFF2-40B4-BE49-F238E27FC236}">
                    <a16:creationId xmlns:a16="http://schemas.microsoft.com/office/drawing/2014/main" id="{6E9255CD-5889-5526-D0AF-3DAF6C3C984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10979411" y="1836491"/>
                <a:ext cx="834431"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53" name="Group 52">
              <a:extLst>
                <a:ext uri="{FF2B5EF4-FFF2-40B4-BE49-F238E27FC236}">
                  <a16:creationId xmlns:a16="http://schemas.microsoft.com/office/drawing/2014/main" id="{32D07D05-3F83-A5EA-EF36-232F3248F56E}"/>
                </a:ext>
              </a:extLst>
            </p:cNvPr>
            <p:cNvGrpSpPr/>
            <p:nvPr/>
          </p:nvGrpSpPr>
          <p:grpSpPr>
            <a:xfrm>
              <a:off x="3131144" y="3060520"/>
              <a:ext cx="837121" cy="871095"/>
              <a:chOff x="10976721" y="1541196"/>
              <a:chExt cx="837121" cy="871095"/>
            </a:xfrm>
          </p:grpSpPr>
          <p:pic>
            <p:nvPicPr>
              <p:cNvPr id="54" name="Picture 53">
                <a:extLst>
                  <a:ext uri="{FF2B5EF4-FFF2-40B4-BE49-F238E27FC236}">
                    <a16:creationId xmlns:a16="http://schemas.microsoft.com/office/drawing/2014/main" id="{7AB20FD8-89EF-092B-AF38-F675BFBB4CC8}"/>
                  </a:ext>
                </a:extLst>
              </p:cNvPr>
              <p:cNvPicPr>
                <a:picLocks noChangeAspect="1"/>
              </p:cNvPicPr>
              <p:nvPr/>
            </p:nvPicPr>
            <p:blipFill>
              <a:blip r:embed="rId7"/>
              <a:stretch>
                <a:fillRect/>
              </a:stretch>
            </p:blipFill>
            <p:spPr>
              <a:xfrm>
                <a:off x="10976721" y="1541196"/>
                <a:ext cx="687021" cy="871095"/>
              </a:xfrm>
              <a:prstGeom prst="rect">
                <a:avLst/>
              </a:prstGeom>
            </p:spPr>
          </p:pic>
          <p:pic>
            <p:nvPicPr>
              <p:cNvPr id="55" name="Picture 6" descr="Tie Dye T-Shirt - Classic Rainbow Spiral - Psychedelic Shirt">
                <a:extLst>
                  <a:ext uri="{FF2B5EF4-FFF2-40B4-BE49-F238E27FC236}">
                    <a16:creationId xmlns:a16="http://schemas.microsoft.com/office/drawing/2014/main" id="{346CF3DD-7435-7004-6710-B30D10DEC50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 b="44407"/>
              <a:stretch/>
            </p:blipFill>
            <p:spPr bwMode="auto">
              <a:xfrm>
                <a:off x="10979411" y="1836491"/>
                <a:ext cx="834431" cy="431331"/>
              </a:xfrm>
              <a:prstGeom prst="rect">
                <a:avLst/>
              </a:prstGeom>
              <a:extLst>
                <a:ext uri="{909E8E84-426E-40DD-AFC4-6F175D3DCCD1}">
                  <a14:hiddenFill xmlns:a14="http://schemas.microsoft.com/office/drawing/2010/main">
                    <a:solidFill>
                      <a:srgbClr val="FFFFFF"/>
                    </a:solidFill>
                  </a14:hiddenFill>
                </a:ext>
              </a:extLst>
            </p:spPr>
          </p:pic>
        </p:grpSp>
        <p:sp>
          <p:nvSpPr>
            <p:cNvPr id="56" name="TextBox 55">
              <a:extLst>
                <a:ext uri="{FF2B5EF4-FFF2-40B4-BE49-F238E27FC236}">
                  <a16:creationId xmlns:a16="http://schemas.microsoft.com/office/drawing/2014/main" id="{08D6760F-5B1A-9B74-D700-3AB1A55D3430}"/>
                </a:ext>
              </a:extLst>
            </p:cNvPr>
            <p:cNvSpPr txBox="1"/>
            <p:nvPr/>
          </p:nvSpPr>
          <p:spPr>
            <a:xfrm>
              <a:off x="1432773" y="4214418"/>
              <a:ext cx="869828" cy="369332"/>
            </a:xfrm>
            <a:prstGeom prst="rect">
              <a:avLst/>
            </a:prstGeom>
            <a:noFill/>
          </p:spPr>
          <p:txBody>
            <a:bodyPr wrap="square" rtlCol="0">
              <a:spAutoFit/>
            </a:bodyPr>
            <a:lstStyle/>
            <a:p>
              <a:r>
                <a:rPr lang="en-US" dirty="0"/>
                <a:t>$1</a:t>
              </a:r>
            </a:p>
          </p:txBody>
        </p:sp>
        <p:sp>
          <p:nvSpPr>
            <p:cNvPr id="57" name="TextBox 56">
              <a:extLst>
                <a:ext uri="{FF2B5EF4-FFF2-40B4-BE49-F238E27FC236}">
                  <a16:creationId xmlns:a16="http://schemas.microsoft.com/office/drawing/2014/main" id="{FFBBD74D-C949-4617-3BCF-0D8A8F47D002}"/>
                </a:ext>
              </a:extLst>
            </p:cNvPr>
            <p:cNvSpPr txBox="1"/>
            <p:nvPr/>
          </p:nvSpPr>
          <p:spPr>
            <a:xfrm>
              <a:off x="4397422" y="4165682"/>
              <a:ext cx="869828" cy="369332"/>
            </a:xfrm>
            <a:prstGeom prst="rect">
              <a:avLst/>
            </a:prstGeom>
            <a:noFill/>
          </p:spPr>
          <p:txBody>
            <a:bodyPr wrap="square" rtlCol="0">
              <a:spAutoFit/>
            </a:bodyPr>
            <a:lstStyle/>
            <a:p>
              <a:r>
                <a:rPr lang="en-US" dirty="0"/>
                <a:t>$2</a:t>
              </a:r>
            </a:p>
          </p:txBody>
        </p:sp>
        <p:sp>
          <p:nvSpPr>
            <p:cNvPr id="58" name="TextBox 57">
              <a:extLst>
                <a:ext uri="{FF2B5EF4-FFF2-40B4-BE49-F238E27FC236}">
                  <a16:creationId xmlns:a16="http://schemas.microsoft.com/office/drawing/2014/main" id="{888880A4-3B0D-C091-28E1-B677FB9381DF}"/>
                </a:ext>
              </a:extLst>
            </p:cNvPr>
            <p:cNvSpPr txBox="1"/>
            <p:nvPr/>
          </p:nvSpPr>
          <p:spPr>
            <a:xfrm>
              <a:off x="2331015" y="4209128"/>
              <a:ext cx="869828" cy="369332"/>
            </a:xfrm>
            <a:prstGeom prst="rect">
              <a:avLst/>
            </a:prstGeom>
            <a:noFill/>
          </p:spPr>
          <p:txBody>
            <a:bodyPr wrap="square" rtlCol="0">
              <a:spAutoFit/>
            </a:bodyPr>
            <a:lstStyle/>
            <a:p>
              <a:r>
                <a:rPr lang="en-US" dirty="0"/>
                <a:t>$8</a:t>
              </a:r>
            </a:p>
          </p:txBody>
        </p:sp>
        <p:sp>
          <p:nvSpPr>
            <p:cNvPr id="59" name="TextBox 58">
              <a:extLst>
                <a:ext uri="{FF2B5EF4-FFF2-40B4-BE49-F238E27FC236}">
                  <a16:creationId xmlns:a16="http://schemas.microsoft.com/office/drawing/2014/main" id="{E93AFF4B-3E34-F99D-CEC4-6DD35AD6ADC8}"/>
                </a:ext>
              </a:extLst>
            </p:cNvPr>
            <p:cNvSpPr txBox="1"/>
            <p:nvPr/>
          </p:nvSpPr>
          <p:spPr>
            <a:xfrm>
              <a:off x="10342969" y="4170261"/>
              <a:ext cx="869828" cy="369332"/>
            </a:xfrm>
            <a:prstGeom prst="rect">
              <a:avLst/>
            </a:prstGeom>
            <a:noFill/>
          </p:spPr>
          <p:txBody>
            <a:bodyPr wrap="square" rtlCol="0">
              <a:spAutoFit/>
            </a:bodyPr>
            <a:lstStyle/>
            <a:p>
              <a:r>
                <a:rPr lang="en-US" dirty="0"/>
                <a:t>$8</a:t>
              </a:r>
            </a:p>
          </p:txBody>
        </p:sp>
        <p:sp>
          <p:nvSpPr>
            <p:cNvPr id="60" name="TextBox 59">
              <a:extLst>
                <a:ext uri="{FF2B5EF4-FFF2-40B4-BE49-F238E27FC236}">
                  <a16:creationId xmlns:a16="http://schemas.microsoft.com/office/drawing/2014/main" id="{13212F5D-F77E-C4B4-0DE2-685CCB05878B}"/>
                </a:ext>
              </a:extLst>
            </p:cNvPr>
            <p:cNvSpPr txBox="1"/>
            <p:nvPr/>
          </p:nvSpPr>
          <p:spPr>
            <a:xfrm>
              <a:off x="3343293" y="4165682"/>
              <a:ext cx="540348" cy="369332"/>
            </a:xfrm>
            <a:prstGeom prst="rect">
              <a:avLst/>
            </a:prstGeom>
            <a:noFill/>
          </p:spPr>
          <p:txBody>
            <a:bodyPr wrap="square" rtlCol="0">
              <a:spAutoFit/>
            </a:bodyPr>
            <a:lstStyle/>
            <a:p>
              <a:r>
                <a:rPr lang="en-US" dirty="0"/>
                <a:t>$4</a:t>
              </a:r>
            </a:p>
          </p:txBody>
        </p:sp>
        <p:sp>
          <p:nvSpPr>
            <p:cNvPr id="61" name="TextBox 60">
              <a:extLst>
                <a:ext uri="{FF2B5EF4-FFF2-40B4-BE49-F238E27FC236}">
                  <a16:creationId xmlns:a16="http://schemas.microsoft.com/office/drawing/2014/main" id="{0A8BED70-546F-1F50-ED57-83B717518394}"/>
                </a:ext>
              </a:extLst>
            </p:cNvPr>
            <p:cNvSpPr txBox="1"/>
            <p:nvPr/>
          </p:nvSpPr>
          <p:spPr>
            <a:xfrm>
              <a:off x="8519313" y="4154026"/>
              <a:ext cx="540348" cy="369332"/>
            </a:xfrm>
            <a:prstGeom prst="rect">
              <a:avLst/>
            </a:prstGeom>
            <a:noFill/>
          </p:spPr>
          <p:txBody>
            <a:bodyPr wrap="square" rtlCol="0">
              <a:spAutoFit/>
            </a:bodyPr>
            <a:lstStyle/>
            <a:p>
              <a:r>
                <a:rPr lang="en-US" dirty="0"/>
                <a:t>$4</a:t>
              </a:r>
            </a:p>
          </p:txBody>
        </p:sp>
        <p:sp>
          <p:nvSpPr>
            <p:cNvPr id="62" name="TextBox 61">
              <a:extLst>
                <a:ext uri="{FF2B5EF4-FFF2-40B4-BE49-F238E27FC236}">
                  <a16:creationId xmlns:a16="http://schemas.microsoft.com/office/drawing/2014/main" id="{86E11CC3-DBCB-8759-3DD1-74115F025C9F}"/>
                </a:ext>
              </a:extLst>
            </p:cNvPr>
            <p:cNvSpPr txBox="1"/>
            <p:nvPr/>
          </p:nvSpPr>
          <p:spPr>
            <a:xfrm>
              <a:off x="7479790" y="4218162"/>
              <a:ext cx="869828" cy="369332"/>
            </a:xfrm>
            <a:prstGeom prst="rect">
              <a:avLst/>
            </a:prstGeom>
            <a:noFill/>
          </p:spPr>
          <p:txBody>
            <a:bodyPr wrap="square" rtlCol="0">
              <a:spAutoFit/>
            </a:bodyPr>
            <a:lstStyle/>
            <a:p>
              <a:r>
                <a:rPr lang="en-US" dirty="0"/>
                <a:t>$5</a:t>
              </a:r>
            </a:p>
          </p:txBody>
        </p:sp>
        <p:sp>
          <p:nvSpPr>
            <p:cNvPr id="63" name="TextBox 62">
              <a:extLst>
                <a:ext uri="{FF2B5EF4-FFF2-40B4-BE49-F238E27FC236}">
                  <a16:creationId xmlns:a16="http://schemas.microsoft.com/office/drawing/2014/main" id="{1DB49533-E4D0-F8FC-A818-EB028ABB837B}"/>
                </a:ext>
              </a:extLst>
            </p:cNvPr>
            <p:cNvSpPr txBox="1"/>
            <p:nvPr/>
          </p:nvSpPr>
          <p:spPr>
            <a:xfrm>
              <a:off x="9432738" y="4162087"/>
              <a:ext cx="869828" cy="369332"/>
            </a:xfrm>
            <a:prstGeom prst="rect">
              <a:avLst/>
            </a:prstGeom>
            <a:noFill/>
          </p:spPr>
          <p:txBody>
            <a:bodyPr wrap="square" rtlCol="0">
              <a:spAutoFit/>
            </a:bodyPr>
            <a:lstStyle/>
            <a:p>
              <a:r>
                <a:rPr lang="en-US" dirty="0"/>
                <a:t>$6</a:t>
              </a:r>
            </a:p>
          </p:txBody>
        </p:sp>
        <p:sp>
          <p:nvSpPr>
            <p:cNvPr id="89" name="TextBox 88">
              <a:extLst>
                <a:ext uri="{FF2B5EF4-FFF2-40B4-BE49-F238E27FC236}">
                  <a16:creationId xmlns:a16="http://schemas.microsoft.com/office/drawing/2014/main" id="{2BD80FFA-F5DB-3F1E-6040-0DD3F2A93153}"/>
                </a:ext>
              </a:extLst>
            </p:cNvPr>
            <p:cNvSpPr txBox="1"/>
            <p:nvPr/>
          </p:nvSpPr>
          <p:spPr>
            <a:xfrm>
              <a:off x="-30498" y="3909539"/>
              <a:ext cx="1320821" cy="923330"/>
            </a:xfrm>
            <a:prstGeom prst="rect">
              <a:avLst/>
            </a:prstGeom>
            <a:solidFill>
              <a:schemeClr val="bg1"/>
            </a:solidFill>
          </p:spPr>
          <p:txBody>
            <a:bodyPr wrap="square" rtlCol="0">
              <a:spAutoFit/>
            </a:bodyPr>
            <a:lstStyle/>
            <a:p>
              <a:r>
                <a:rPr lang="en-US" dirty="0"/>
                <a:t>Hourly Wage in 1980</a:t>
              </a:r>
            </a:p>
          </p:txBody>
        </p:sp>
      </p:grpSp>
      <p:sp>
        <p:nvSpPr>
          <p:cNvPr id="90" name="TextBox 89">
            <a:extLst>
              <a:ext uri="{FF2B5EF4-FFF2-40B4-BE49-F238E27FC236}">
                <a16:creationId xmlns:a16="http://schemas.microsoft.com/office/drawing/2014/main" id="{499B717F-A305-2245-497E-DFC2E6209A27}"/>
              </a:ext>
            </a:extLst>
          </p:cNvPr>
          <p:cNvSpPr txBox="1"/>
          <p:nvPr/>
        </p:nvSpPr>
        <p:spPr>
          <a:xfrm>
            <a:off x="1432773" y="4890562"/>
            <a:ext cx="10079362" cy="523220"/>
          </a:xfrm>
          <a:prstGeom prst="rect">
            <a:avLst/>
          </a:prstGeom>
          <a:noFill/>
        </p:spPr>
        <p:txBody>
          <a:bodyPr wrap="none" rtlCol="0">
            <a:spAutoFit/>
          </a:bodyPr>
          <a:lstStyle/>
          <a:p>
            <a:r>
              <a:rPr lang="en-US" sz="2800" dirty="0">
                <a:solidFill>
                  <a:schemeClr val="accent1"/>
                </a:solidFill>
              </a:rPr>
              <a:t>What is the ATE of serving  </a:t>
            </a:r>
            <a:r>
              <a:rPr lang="en-US" sz="2800" b="1" dirty="0">
                <a:solidFill>
                  <a:schemeClr val="accent1"/>
                </a:solidFill>
              </a:rPr>
              <a:t>for the compliers</a:t>
            </a:r>
            <a:r>
              <a:rPr lang="en-US" sz="2800" dirty="0">
                <a:solidFill>
                  <a:schemeClr val="accent1"/>
                </a:solidFill>
              </a:rPr>
              <a:t>?  </a:t>
            </a:r>
            <a:r>
              <a:rPr lang="en-US" dirty="0">
                <a:solidFill>
                  <a:schemeClr val="accent1"/>
                </a:solidFill>
              </a:rPr>
              <a:t>(Aka, LATE of being drafted)</a:t>
            </a:r>
            <a:endParaRPr lang="en-US" sz="2800" dirty="0">
              <a:solidFill>
                <a:schemeClr val="accent1"/>
              </a:solidFill>
            </a:endParaRP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41B7E580-FD08-80ED-7726-DFA6D396CBFC}"/>
                  </a:ext>
                </a:extLst>
              </p:cNvPr>
              <p:cNvSpPr txBox="1"/>
              <p:nvPr/>
            </p:nvSpPr>
            <p:spPr>
              <a:xfrm>
                <a:off x="2032786" y="5630215"/>
                <a:ext cx="8200584" cy="989245"/>
              </a:xfrm>
              <a:prstGeom prst="rect">
                <a:avLst/>
              </a:prstGeom>
              <a:noFill/>
            </p:spPr>
            <p:txBody>
              <a:bodyPr wrap="square" rtlCol="0">
                <a:spAutoFit/>
              </a:bodyPr>
              <a:lstStyle/>
              <a:p>
                <a:pPr algn="ctr"/>
                <a:r>
                  <a:rPr lang="en-US" sz="2400" dirty="0"/>
                  <a:t>By cheating (humans are compliers, not rabbits or penguins), </a:t>
                </a:r>
              </a:p>
              <a:p>
                <a:pPr algn="ctr"/>
                <a:r>
                  <a:rPr lang="en-US" sz="2400" dirty="0"/>
                  <a:t>we see that our estimate should be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1+2</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5+6</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=−$4</m:t>
                    </m:r>
                  </m:oMath>
                </a14:m>
                <a:endParaRPr lang="en-US" sz="2400" dirty="0"/>
              </a:p>
            </p:txBody>
          </p:sp>
        </mc:Choice>
        <mc:Fallback xmlns="">
          <p:sp>
            <p:nvSpPr>
              <p:cNvPr id="91" name="TextBox 90">
                <a:extLst>
                  <a:ext uri="{FF2B5EF4-FFF2-40B4-BE49-F238E27FC236}">
                    <a16:creationId xmlns:a16="http://schemas.microsoft.com/office/drawing/2014/main" id="{41B7E580-FD08-80ED-7726-DFA6D396CBFC}"/>
                  </a:ext>
                </a:extLst>
              </p:cNvPr>
              <p:cNvSpPr txBox="1">
                <a:spLocks noRot="1" noChangeAspect="1" noMove="1" noResize="1" noEditPoints="1" noAdjustHandles="1" noChangeArrowheads="1" noChangeShapeType="1" noTextEdit="1"/>
              </p:cNvSpPr>
              <p:nvPr/>
            </p:nvSpPr>
            <p:spPr>
              <a:xfrm>
                <a:off x="2032786" y="5630215"/>
                <a:ext cx="8200584" cy="989245"/>
              </a:xfrm>
              <a:prstGeom prst="rect">
                <a:avLst/>
              </a:prstGeom>
              <a:blipFill>
                <a:blip r:embed="rId8"/>
                <a:stretch>
                  <a:fillRect l="-618" t="-5063" r="-1546" b="-6329"/>
                </a:stretch>
              </a:blipFill>
            </p:spPr>
            <p:txBody>
              <a:bodyPr/>
              <a:lstStyle/>
              <a:p>
                <a:r>
                  <a:rPr lang="en-US">
                    <a:noFill/>
                  </a:rPr>
                  <a:t> </a:t>
                </a:r>
              </a:p>
            </p:txBody>
          </p:sp>
        </mc:Fallback>
      </mc:AlternateContent>
    </p:spTree>
    <p:extLst>
      <p:ext uri="{BB962C8B-B14F-4D97-AF65-F5344CB8AC3E}">
        <p14:creationId xmlns:p14="http://schemas.microsoft.com/office/powerpoint/2010/main" val="11366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0" grpId="0"/>
      <p:bldP spid="9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5B861-87D8-6484-E396-5ABB3BD7AC2E}"/>
              </a:ext>
            </a:extLst>
          </p:cNvPr>
          <p:cNvSpPr>
            <a:spLocks noGrp="1"/>
          </p:cNvSpPr>
          <p:nvPr>
            <p:ph idx="1"/>
          </p:nvPr>
        </p:nvSpPr>
        <p:spPr>
          <a:xfrm>
            <a:off x="817123" y="1511484"/>
            <a:ext cx="10515600" cy="2385542"/>
          </a:xfrm>
        </p:spPr>
        <p:txBody>
          <a:bodyPr>
            <a:normAutofit/>
          </a:bodyPr>
          <a:lstStyle/>
          <a:p>
            <a:r>
              <a:rPr lang="en-US" dirty="0"/>
              <a:t>Suppose we see:</a:t>
            </a:r>
          </a:p>
        </p:txBody>
      </p:sp>
      <p:sp>
        <p:nvSpPr>
          <p:cNvPr id="28" name="TextBox 27">
            <a:extLst>
              <a:ext uri="{FF2B5EF4-FFF2-40B4-BE49-F238E27FC236}">
                <a16:creationId xmlns:a16="http://schemas.microsoft.com/office/drawing/2014/main" id="{F9983627-4970-F5C9-E3EB-CD1D4D2C2F89}"/>
              </a:ext>
            </a:extLst>
          </p:cNvPr>
          <p:cNvSpPr txBox="1"/>
          <p:nvPr/>
        </p:nvSpPr>
        <p:spPr>
          <a:xfrm>
            <a:off x="1364106" y="2117826"/>
            <a:ext cx="3444789" cy="461665"/>
          </a:xfrm>
          <a:prstGeom prst="rect">
            <a:avLst/>
          </a:prstGeom>
          <a:noFill/>
        </p:spPr>
        <p:txBody>
          <a:bodyPr wrap="none" rtlCol="0">
            <a:spAutoFit/>
          </a:bodyPr>
          <a:lstStyle/>
          <a:p>
            <a:r>
              <a:rPr lang="en-US" sz="2400" dirty="0"/>
              <a:t>People who were drafted</a:t>
            </a:r>
          </a:p>
        </p:txBody>
      </p:sp>
      <p:sp>
        <p:nvSpPr>
          <p:cNvPr id="31" name="TextBox 30">
            <a:extLst>
              <a:ext uri="{FF2B5EF4-FFF2-40B4-BE49-F238E27FC236}">
                <a16:creationId xmlns:a16="http://schemas.microsoft.com/office/drawing/2014/main" id="{D39088F0-DBAC-D428-6FD8-ED1865D27348}"/>
              </a:ext>
            </a:extLst>
          </p:cNvPr>
          <p:cNvSpPr txBox="1"/>
          <p:nvPr/>
        </p:nvSpPr>
        <p:spPr>
          <a:xfrm>
            <a:off x="7221301" y="2152806"/>
            <a:ext cx="3946530" cy="461665"/>
          </a:xfrm>
          <a:prstGeom prst="rect">
            <a:avLst/>
          </a:prstGeom>
          <a:noFill/>
        </p:spPr>
        <p:txBody>
          <a:bodyPr wrap="none" rtlCol="0">
            <a:spAutoFit/>
          </a:bodyPr>
          <a:lstStyle/>
          <a:p>
            <a:r>
              <a:rPr lang="en-US" sz="2400" dirty="0"/>
              <a:t>People who were not drafted</a:t>
            </a:r>
          </a:p>
        </p:txBody>
      </p:sp>
      <p:pic>
        <p:nvPicPr>
          <p:cNvPr id="37" name="Picture 4" descr="Military Beret Cap With Star PNG &amp; SVG Design For T-Shirts">
            <a:extLst>
              <a:ext uri="{FF2B5EF4-FFF2-40B4-BE49-F238E27FC236}">
                <a16:creationId xmlns:a16="http://schemas.microsoft.com/office/drawing/2014/main" id="{04940D3C-3DE5-CC31-D256-B9529B98E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8245" y="2567386"/>
            <a:ext cx="515023" cy="515023"/>
          </a:xfrm>
          <a:prstGeom prst="rect">
            <a:avLst/>
          </a:prstGeom>
          <a:extLst>
            <a:ext uri="{909E8E84-426E-40DD-AFC4-6F175D3DCCD1}">
              <a14:hiddenFill xmlns:a14="http://schemas.microsoft.com/office/drawing/2010/main">
                <a:solidFill>
                  <a:srgbClr val="FFFFFF"/>
                </a:solidFill>
              </a14:hiddenFill>
            </a:ext>
          </a:extLst>
        </p:spPr>
      </p:pic>
      <p:pic>
        <p:nvPicPr>
          <p:cNvPr id="43" name="Picture 6" descr="Tie Dye T-Shirt - Classic Rainbow Spiral - Psychedelic Shirt">
            <a:extLst>
              <a:ext uri="{FF2B5EF4-FFF2-40B4-BE49-F238E27FC236}">
                <a16:creationId xmlns:a16="http://schemas.microsoft.com/office/drawing/2014/main" id="{E196C3B8-2EC3-30EC-3807-6AC0FC2199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9320044" y="2675322"/>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45" name="Picture 4" descr="Military Beret Cap With Star PNG &amp; SVG Design For T-Shirts">
            <a:extLst>
              <a:ext uri="{FF2B5EF4-FFF2-40B4-BE49-F238E27FC236}">
                <a16:creationId xmlns:a16="http://schemas.microsoft.com/office/drawing/2014/main" id="{73B6CA64-60FE-1CCB-7DB9-FFD17B095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2969" y="2575249"/>
            <a:ext cx="599974" cy="599974"/>
          </a:xfrm>
          <a:prstGeom prst="rect">
            <a:avLst/>
          </a:prstGeom>
          <a:extLst>
            <a:ext uri="{909E8E84-426E-40DD-AFC4-6F175D3DCCD1}">
              <a14:hiddenFill xmlns:a14="http://schemas.microsoft.com/office/drawing/2010/main">
                <a:solidFill>
                  <a:srgbClr val="FFFFFF"/>
                </a:solidFill>
              </a14:hiddenFill>
            </a:ext>
          </a:extLst>
        </p:spPr>
      </p:pic>
      <p:sp>
        <p:nvSpPr>
          <p:cNvPr id="56" name="TextBox 55">
            <a:extLst>
              <a:ext uri="{FF2B5EF4-FFF2-40B4-BE49-F238E27FC236}">
                <a16:creationId xmlns:a16="http://schemas.microsoft.com/office/drawing/2014/main" id="{08D6760F-5B1A-9B74-D700-3AB1A55D3430}"/>
              </a:ext>
            </a:extLst>
          </p:cNvPr>
          <p:cNvSpPr txBox="1"/>
          <p:nvPr/>
        </p:nvSpPr>
        <p:spPr>
          <a:xfrm>
            <a:off x="1432773" y="3285030"/>
            <a:ext cx="869828" cy="369332"/>
          </a:xfrm>
          <a:prstGeom prst="rect">
            <a:avLst/>
          </a:prstGeom>
          <a:noFill/>
        </p:spPr>
        <p:txBody>
          <a:bodyPr wrap="square" rtlCol="0">
            <a:spAutoFit/>
          </a:bodyPr>
          <a:lstStyle/>
          <a:p>
            <a:r>
              <a:rPr lang="en-US" dirty="0"/>
              <a:t>$1</a:t>
            </a:r>
          </a:p>
        </p:txBody>
      </p:sp>
      <p:sp>
        <p:nvSpPr>
          <p:cNvPr id="57" name="TextBox 56">
            <a:extLst>
              <a:ext uri="{FF2B5EF4-FFF2-40B4-BE49-F238E27FC236}">
                <a16:creationId xmlns:a16="http://schemas.microsoft.com/office/drawing/2014/main" id="{FFBBD74D-C949-4617-3BCF-0D8A8F47D002}"/>
              </a:ext>
            </a:extLst>
          </p:cNvPr>
          <p:cNvSpPr txBox="1"/>
          <p:nvPr/>
        </p:nvSpPr>
        <p:spPr>
          <a:xfrm>
            <a:off x="4397422" y="3236294"/>
            <a:ext cx="869828" cy="369332"/>
          </a:xfrm>
          <a:prstGeom prst="rect">
            <a:avLst/>
          </a:prstGeom>
          <a:noFill/>
        </p:spPr>
        <p:txBody>
          <a:bodyPr wrap="square" rtlCol="0">
            <a:spAutoFit/>
          </a:bodyPr>
          <a:lstStyle/>
          <a:p>
            <a:r>
              <a:rPr lang="en-US" dirty="0"/>
              <a:t>$2</a:t>
            </a:r>
          </a:p>
        </p:txBody>
      </p:sp>
      <p:sp>
        <p:nvSpPr>
          <p:cNvPr id="58" name="TextBox 57">
            <a:extLst>
              <a:ext uri="{FF2B5EF4-FFF2-40B4-BE49-F238E27FC236}">
                <a16:creationId xmlns:a16="http://schemas.microsoft.com/office/drawing/2014/main" id="{888880A4-3B0D-C091-28E1-B677FB9381DF}"/>
              </a:ext>
            </a:extLst>
          </p:cNvPr>
          <p:cNvSpPr txBox="1"/>
          <p:nvPr/>
        </p:nvSpPr>
        <p:spPr>
          <a:xfrm>
            <a:off x="2331015" y="3279740"/>
            <a:ext cx="869828" cy="369332"/>
          </a:xfrm>
          <a:prstGeom prst="rect">
            <a:avLst/>
          </a:prstGeom>
          <a:noFill/>
        </p:spPr>
        <p:txBody>
          <a:bodyPr wrap="square" rtlCol="0">
            <a:spAutoFit/>
          </a:bodyPr>
          <a:lstStyle/>
          <a:p>
            <a:r>
              <a:rPr lang="en-US" dirty="0"/>
              <a:t>$8</a:t>
            </a:r>
          </a:p>
        </p:txBody>
      </p:sp>
      <p:sp>
        <p:nvSpPr>
          <p:cNvPr id="59" name="TextBox 58">
            <a:extLst>
              <a:ext uri="{FF2B5EF4-FFF2-40B4-BE49-F238E27FC236}">
                <a16:creationId xmlns:a16="http://schemas.microsoft.com/office/drawing/2014/main" id="{E93AFF4B-3E34-F99D-CEC4-6DD35AD6ADC8}"/>
              </a:ext>
            </a:extLst>
          </p:cNvPr>
          <p:cNvSpPr txBox="1"/>
          <p:nvPr/>
        </p:nvSpPr>
        <p:spPr>
          <a:xfrm>
            <a:off x="10342969" y="3240873"/>
            <a:ext cx="869828" cy="369332"/>
          </a:xfrm>
          <a:prstGeom prst="rect">
            <a:avLst/>
          </a:prstGeom>
          <a:noFill/>
        </p:spPr>
        <p:txBody>
          <a:bodyPr wrap="square" rtlCol="0">
            <a:spAutoFit/>
          </a:bodyPr>
          <a:lstStyle/>
          <a:p>
            <a:r>
              <a:rPr lang="en-US" dirty="0"/>
              <a:t>$8</a:t>
            </a:r>
          </a:p>
        </p:txBody>
      </p:sp>
      <p:sp>
        <p:nvSpPr>
          <p:cNvPr id="60" name="TextBox 59">
            <a:extLst>
              <a:ext uri="{FF2B5EF4-FFF2-40B4-BE49-F238E27FC236}">
                <a16:creationId xmlns:a16="http://schemas.microsoft.com/office/drawing/2014/main" id="{13212F5D-F77E-C4B4-0DE2-685CCB05878B}"/>
              </a:ext>
            </a:extLst>
          </p:cNvPr>
          <p:cNvSpPr txBox="1"/>
          <p:nvPr/>
        </p:nvSpPr>
        <p:spPr>
          <a:xfrm>
            <a:off x="3343293" y="3236294"/>
            <a:ext cx="540348" cy="369332"/>
          </a:xfrm>
          <a:prstGeom prst="rect">
            <a:avLst/>
          </a:prstGeom>
          <a:noFill/>
        </p:spPr>
        <p:txBody>
          <a:bodyPr wrap="square" rtlCol="0">
            <a:spAutoFit/>
          </a:bodyPr>
          <a:lstStyle/>
          <a:p>
            <a:r>
              <a:rPr lang="en-US" dirty="0"/>
              <a:t>$4</a:t>
            </a:r>
          </a:p>
        </p:txBody>
      </p:sp>
      <p:sp>
        <p:nvSpPr>
          <p:cNvPr id="61" name="TextBox 60">
            <a:extLst>
              <a:ext uri="{FF2B5EF4-FFF2-40B4-BE49-F238E27FC236}">
                <a16:creationId xmlns:a16="http://schemas.microsoft.com/office/drawing/2014/main" id="{0A8BED70-546F-1F50-ED57-83B717518394}"/>
              </a:ext>
            </a:extLst>
          </p:cNvPr>
          <p:cNvSpPr txBox="1"/>
          <p:nvPr/>
        </p:nvSpPr>
        <p:spPr>
          <a:xfrm>
            <a:off x="8519313" y="3224638"/>
            <a:ext cx="540348" cy="369332"/>
          </a:xfrm>
          <a:prstGeom prst="rect">
            <a:avLst/>
          </a:prstGeom>
          <a:noFill/>
        </p:spPr>
        <p:txBody>
          <a:bodyPr wrap="square" rtlCol="0">
            <a:spAutoFit/>
          </a:bodyPr>
          <a:lstStyle/>
          <a:p>
            <a:r>
              <a:rPr lang="en-US" dirty="0"/>
              <a:t>$4</a:t>
            </a:r>
          </a:p>
        </p:txBody>
      </p:sp>
      <p:sp>
        <p:nvSpPr>
          <p:cNvPr id="62" name="TextBox 61">
            <a:extLst>
              <a:ext uri="{FF2B5EF4-FFF2-40B4-BE49-F238E27FC236}">
                <a16:creationId xmlns:a16="http://schemas.microsoft.com/office/drawing/2014/main" id="{86E11CC3-DBCB-8759-3DD1-74115F025C9F}"/>
              </a:ext>
            </a:extLst>
          </p:cNvPr>
          <p:cNvSpPr txBox="1"/>
          <p:nvPr/>
        </p:nvSpPr>
        <p:spPr>
          <a:xfrm>
            <a:off x="7479790" y="3288774"/>
            <a:ext cx="869828" cy="369332"/>
          </a:xfrm>
          <a:prstGeom prst="rect">
            <a:avLst/>
          </a:prstGeom>
          <a:noFill/>
        </p:spPr>
        <p:txBody>
          <a:bodyPr wrap="square" rtlCol="0">
            <a:spAutoFit/>
          </a:bodyPr>
          <a:lstStyle/>
          <a:p>
            <a:r>
              <a:rPr lang="en-US" dirty="0"/>
              <a:t>$5</a:t>
            </a:r>
          </a:p>
        </p:txBody>
      </p:sp>
      <p:sp>
        <p:nvSpPr>
          <p:cNvPr id="63" name="TextBox 62">
            <a:extLst>
              <a:ext uri="{FF2B5EF4-FFF2-40B4-BE49-F238E27FC236}">
                <a16:creationId xmlns:a16="http://schemas.microsoft.com/office/drawing/2014/main" id="{1DB49533-E4D0-F8FC-A818-EB028ABB837B}"/>
              </a:ext>
            </a:extLst>
          </p:cNvPr>
          <p:cNvSpPr txBox="1"/>
          <p:nvPr/>
        </p:nvSpPr>
        <p:spPr>
          <a:xfrm>
            <a:off x="9432738" y="3232699"/>
            <a:ext cx="869828" cy="369332"/>
          </a:xfrm>
          <a:prstGeom prst="rect">
            <a:avLst/>
          </a:prstGeom>
          <a:noFill/>
        </p:spPr>
        <p:txBody>
          <a:bodyPr wrap="square" rtlCol="0">
            <a:spAutoFit/>
          </a:bodyPr>
          <a:lstStyle/>
          <a:p>
            <a:r>
              <a:rPr lang="en-US" dirty="0"/>
              <a:t>$6</a:t>
            </a:r>
          </a:p>
        </p:txBody>
      </p:sp>
      <p:sp>
        <p:nvSpPr>
          <p:cNvPr id="89" name="TextBox 88">
            <a:extLst>
              <a:ext uri="{FF2B5EF4-FFF2-40B4-BE49-F238E27FC236}">
                <a16:creationId xmlns:a16="http://schemas.microsoft.com/office/drawing/2014/main" id="{2BD80FFA-F5DB-3F1E-6040-0DD3F2A93153}"/>
              </a:ext>
            </a:extLst>
          </p:cNvPr>
          <p:cNvSpPr txBox="1"/>
          <p:nvPr/>
        </p:nvSpPr>
        <p:spPr>
          <a:xfrm>
            <a:off x="-30498" y="2980151"/>
            <a:ext cx="1320821" cy="923330"/>
          </a:xfrm>
          <a:prstGeom prst="rect">
            <a:avLst/>
          </a:prstGeom>
          <a:solidFill>
            <a:schemeClr val="bg1"/>
          </a:solidFill>
        </p:spPr>
        <p:txBody>
          <a:bodyPr wrap="square" rtlCol="0">
            <a:spAutoFit/>
          </a:bodyPr>
          <a:lstStyle/>
          <a:p>
            <a:r>
              <a:rPr lang="en-US" dirty="0"/>
              <a:t>Hourly Wage in 1980</a:t>
            </a:r>
          </a:p>
        </p:txBody>
      </p:sp>
      <p:pic>
        <p:nvPicPr>
          <p:cNvPr id="4" name="Picture 6" descr="Tie Dye T-Shirt - Classic Rainbow Spiral - Psychedelic Shirt">
            <a:extLst>
              <a:ext uri="{FF2B5EF4-FFF2-40B4-BE49-F238E27FC236}">
                <a16:creationId xmlns:a16="http://schemas.microsoft.com/office/drawing/2014/main" id="{71CD50DD-366C-6B04-AB09-69A4924A9B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8444687" y="2677599"/>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5" name="Picture 6" descr="Tie Dye T-Shirt - Classic Rainbow Spiral - Psychedelic Shirt">
            <a:extLst>
              <a:ext uri="{FF2B5EF4-FFF2-40B4-BE49-F238E27FC236}">
                <a16:creationId xmlns:a16="http://schemas.microsoft.com/office/drawing/2014/main" id="{34C68875-0A97-24A9-4D50-BCB5F6C76D4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7472989" y="2684683"/>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6" name="Picture 6" descr="Tie Dye T-Shirt - Classic Rainbow Spiral - Psychedelic Shirt">
            <a:extLst>
              <a:ext uri="{FF2B5EF4-FFF2-40B4-BE49-F238E27FC236}">
                <a16:creationId xmlns:a16="http://schemas.microsoft.com/office/drawing/2014/main" id="{094003FE-C310-690C-25BF-6EDC2116358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3200843" y="2575249"/>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7" name="Picture 4" descr="Military Beret Cap With Star PNG &amp; SVG Design For T-Shirts">
            <a:extLst>
              <a:ext uri="{FF2B5EF4-FFF2-40B4-BE49-F238E27FC236}">
                <a16:creationId xmlns:a16="http://schemas.microsoft.com/office/drawing/2014/main" id="{30E5D163-269E-3610-BD1F-CDFD254C35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7611" y="2648930"/>
            <a:ext cx="515023" cy="515023"/>
          </a:xfrm>
          <a:prstGeom prst="rect">
            <a:avLst/>
          </a:prstGeom>
          <a:extLst>
            <a:ext uri="{909E8E84-426E-40DD-AFC4-6F175D3DCCD1}">
              <a14:hiddenFill xmlns:a14="http://schemas.microsoft.com/office/drawing/2010/main">
                <a:solidFill>
                  <a:srgbClr val="FFFFFF"/>
                </a:solidFill>
              </a14:hiddenFill>
            </a:ext>
          </a:extLst>
        </p:spPr>
      </p:pic>
      <p:pic>
        <p:nvPicPr>
          <p:cNvPr id="8" name="Picture 4" descr="Military Beret Cap With Star PNG &amp; SVG Design For T-Shirts">
            <a:extLst>
              <a:ext uri="{FF2B5EF4-FFF2-40B4-BE49-F238E27FC236}">
                <a16:creationId xmlns:a16="http://schemas.microsoft.com/office/drawing/2014/main" id="{984800D0-47CB-8F86-2150-EC9CCB698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044" y="2671599"/>
            <a:ext cx="515023" cy="515023"/>
          </a:xfrm>
          <a:prstGeom prst="rect">
            <a:avLst/>
          </a:prstGeom>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839169-294E-1F47-FA25-DE7DB4C00907}"/>
                  </a:ext>
                </a:extLst>
              </p:cNvPr>
              <p:cNvSpPr txBox="1"/>
              <p:nvPr/>
            </p:nvSpPr>
            <p:spPr>
              <a:xfrm>
                <a:off x="3883641" y="4485530"/>
                <a:ext cx="4913974" cy="619913"/>
              </a:xfrm>
              <a:prstGeom prst="rect">
                <a:avLst/>
              </a:prstGeom>
              <a:noFill/>
            </p:spPr>
            <p:txBody>
              <a:bodyPr wrap="none" rtlCol="0">
                <a:spAutoFit/>
              </a:bodyPr>
              <a:lstStyle/>
              <a:p>
                <a:r>
                  <a:rPr lang="en-US" sz="2400" dirty="0"/>
                  <a:t>Estimate: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1+8+4+2</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5+4+6+8</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=−$2</m:t>
                    </m:r>
                  </m:oMath>
                </a14:m>
                <a:endParaRPr lang="en-US" sz="2400" dirty="0"/>
              </a:p>
            </p:txBody>
          </p:sp>
        </mc:Choice>
        <mc:Fallback xmlns="">
          <p:sp>
            <p:nvSpPr>
              <p:cNvPr id="9" name="TextBox 8">
                <a:extLst>
                  <a:ext uri="{FF2B5EF4-FFF2-40B4-BE49-F238E27FC236}">
                    <a16:creationId xmlns:a16="http://schemas.microsoft.com/office/drawing/2014/main" id="{29839169-294E-1F47-FA25-DE7DB4C00907}"/>
                  </a:ext>
                </a:extLst>
              </p:cNvPr>
              <p:cNvSpPr txBox="1">
                <a:spLocks noRot="1" noChangeAspect="1" noMove="1" noResize="1" noEditPoints="1" noAdjustHandles="1" noChangeArrowheads="1" noChangeShapeType="1" noTextEdit="1"/>
              </p:cNvSpPr>
              <p:nvPr/>
            </p:nvSpPr>
            <p:spPr>
              <a:xfrm>
                <a:off x="3883641" y="4485530"/>
                <a:ext cx="4913974" cy="619913"/>
              </a:xfrm>
              <a:prstGeom prst="rect">
                <a:avLst/>
              </a:prstGeom>
              <a:blipFill>
                <a:blip r:embed="rId5"/>
                <a:stretch>
                  <a:fillRect l="-1804" b="-10000"/>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D2883F34-05F8-DDE4-5037-285D679B57BD}"/>
              </a:ext>
            </a:extLst>
          </p:cNvPr>
          <p:cNvSpPr txBox="1"/>
          <p:nvPr/>
        </p:nvSpPr>
        <p:spPr>
          <a:xfrm>
            <a:off x="1618395" y="3864202"/>
            <a:ext cx="8955208" cy="523220"/>
          </a:xfrm>
          <a:prstGeom prst="rect">
            <a:avLst/>
          </a:prstGeom>
          <a:noFill/>
        </p:spPr>
        <p:txBody>
          <a:bodyPr wrap="none" rtlCol="0">
            <a:spAutoFit/>
          </a:bodyPr>
          <a:lstStyle/>
          <a:p>
            <a:r>
              <a:rPr lang="en-US" sz="2800" dirty="0">
                <a:solidFill>
                  <a:schemeClr val="accent1"/>
                </a:solidFill>
              </a:rPr>
              <a:t>What is the ATE of </a:t>
            </a:r>
            <a:r>
              <a:rPr lang="en-US" sz="2800" i="1" dirty="0">
                <a:solidFill>
                  <a:schemeClr val="accent1"/>
                </a:solidFill>
              </a:rPr>
              <a:t>being drafted </a:t>
            </a:r>
            <a:r>
              <a:rPr lang="en-US" sz="2800" dirty="0">
                <a:solidFill>
                  <a:schemeClr val="accent1"/>
                </a:solidFill>
              </a:rPr>
              <a:t>on wages, </a:t>
            </a:r>
            <a:r>
              <a:rPr lang="en-US" sz="2800" b="1" dirty="0">
                <a:solidFill>
                  <a:schemeClr val="accent1"/>
                </a:solidFill>
              </a:rPr>
              <a:t>for everyone</a:t>
            </a:r>
            <a:r>
              <a:rPr lang="en-US" sz="2800" dirty="0">
                <a:solidFill>
                  <a:schemeClr val="accent1"/>
                </a:solidFill>
              </a:rPr>
              <a:t>?</a:t>
            </a:r>
          </a:p>
        </p:txBody>
      </p:sp>
      <p:sp>
        <p:nvSpPr>
          <p:cNvPr id="14" name="TextBox 13">
            <a:extLst>
              <a:ext uri="{FF2B5EF4-FFF2-40B4-BE49-F238E27FC236}">
                <a16:creationId xmlns:a16="http://schemas.microsoft.com/office/drawing/2014/main" id="{6CE693C0-9DB4-0039-3AF7-B08FDF3B44FE}"/>
              </a:ext>
            </a:extLst>
          </p:cNvPr>
          <p:cNvSpPr txBox="1"/>
          <p:nvPr/>
        </p:nvSpPr>
        <p:spPr>
          <a:xfrm>
            <a:off x="9078975" y="4432120"/>
            <a:ext cx="3019523" cy="646331"/>
          </a:xfrm>
          <a:prstGeom prst="rect">
            <a:avLst/>
          </a:prstGeom>
          <a:noFill/>
        </p:spPr>
        <p:txBody>
          <a:bodyPr wrap="square" rtlCol="0">
            <a:spAutoFit/>
          </a:bodyPr>
          <a:lstStyle/>
          <a:p>
            <a:pPr algn="r"/>
            <a:r>
              <a:rPr lang="en-US" dirty="0">
                <a:solidFill>
                  <a:schemeClr val="accent2"/>
                </a:solidFill>
              </a:rPr>
              <a:t>But this doesn’t tell us about the effect of </a:t>
            </a:r>
            <a:r>
              <a:rPr lang="en-US" b="1" dirty="0">
                <a:solidFill>
                  <a:schemeClr val="accent2"/>
                </a:solidFill>
              </a:rPr>
              <a:t>serving</a:t>
            </a:r>
            <a:r>
              <a:rPr lang="en-US" dirty="0">
                <a:solidFill>
                  <a:schemeClr val="accent2"/>
                </a:solidFill>
              </a:rPr>
              <a:t>…</a:t>
            </a:r>
          </a:p>
        </p:txBody>
      </p:sp>
      <p:sp>
        <p:nvSpPr>
          <p:cNvPr id="18" name="Title 1">
            <a:extLst>
              <a:ext uri="{FF2B5EF4-FFF2-40B4-BE49-F238E27FC236}">
                <a16:creationId xmlns:a16="http://schemas.microsoft.com/office/drawing/2014/main" id="{6F3C9FCF-2FC1-C6DC-31CB-80EF751CEF70}"/>
              </a:ext>
            </a:extLst>
          </p:cNvPr>
          <p:cNvSpPr>
            <a:spLocks noGrp="1"/>
          </p:cNvSpPr>
          <p:nvPr>
            <p:ph type="title"/>
          </p:nvPr>
        </p:nvSpPr>
        <p:spPr>
          <a:xfrm>
            <a:off x="817123" y="79394"/>
            <a:ext cx="10515600" cy="1325563"/>
          </a:xfrm>
        </p:spPr>
        <p:txBody>
          <a:bodyPr>
            <a:normAutofit/>
          </a:bodyPr>
          <a:lstStyle/>
          <a:p>
            <a:r>
              <a:rPr lang="en-US" dirty="0"/>
              <a:t>Let’s compute LATE!</a:t>
            </a:r>
            <a:br>
              <a:rPr lang="en-US" dirty="0"/>
            </a:br>
            <a:r>
              <a:rPr lang="en-US" sz="2800" dirty="0"/>
              <a:t>What is the ATE of serving for the compliers?</a:t>
            </a:r>
            <a:endParaRPr lang="en-US" dirty="0"/>
          </a:p>
        </p:txBody>
      </p:sp>
    </p:spTree>
    <p:extLst>
      <p:ext uri="{BB962C8B-B14F-4D97-AF65-F5344CB8AC3E}">
        <p14:creationId xmlns:p14="http://schemas.microsoft.com/office/powerpoint/2010/main" val="115955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5B861-87D8-6484-E396-5ABB3BD7AC2E}"/>
              </a:ext>
            </a:extLst>
          </p:cNvPr>
          <p:cNvSpPr>
            <a:spLocks noGrp="1"/>
          </p:cNvSpPr>
          <p:nvPr>
            <p:ph idx="1"/>
          </p:nvPr>
        </p:nvSpPr>
        <p:spPr>
          <a:xfrm>
            <a:off x="817123" y="1511484"/>
            <a:ext cx="10515600" cy="2385542"/>
          </a:xfrm>
        </p:spPr>
        <p:txBody>
          <a:bodyPr>
            <a:normAutofit/>
          </a:bodyPr>
          <a:lstStyle/>
          <a:p>
            <a:r>
              <a:rPr lang="en-US" dirty="0"/>
              <a:t>Suppose we see:</a:t>
            </a:r>
          </a:p>
        </p:txBody>
      </p:sp>
      <p:sp>
        <p:nvSpPr>
          <p:cNvPr id="28" name="TextBox 27">
            <a:extLst>
              <a:ext uri="{FF2B5EF4-FFF2-40B4-BE49-F238E27FC236}">
                <a16:creationId xmlns:a16="http://schemas.microsoft.com/office/drawing/2014/main" id="{F9983627-4970-F5C9-E3EB-CD1D4D2C2F89}"/>
              </a:ext>
            </a:extLst>
          </p:cNvPr>
          <p:cNvSpPr txBox="1"/>
          <p:nvPr/>
        </p:nvSpPr>
        <p:spPr>
          <a:xfrm>
            <a:off x="1364106" y="2117826"/>
            <a:ext cx="3444789" cy="461665"/>
          </a:xfrm>
          <a:prstGeom prst="rect">
            <a:avLst/>
          </a:prstGeom>
          <a:noFill/>
        </p:spPr>
        <p:txBody>
          <a:bodyPr wrap="none" rtlCol="0">
            <a:spAutoFit/>
          </a:bodyPr>
          <a:lstStyle/>
          <a:p>
            <a:r>
              <a:rPr lang="en-US" sz="2400" dirty="0"/>
              <a:t>People who were drafted</a:t>
            </a:r>
          </a:p>
        </p:txBody>
      </p:sp>
      <p:sp>
        <p:nvSpPr>
          <p:cNvPr id="31" name="TextBox 30">
            <a:extLst>
              <a:ext uri="{FF2B5EF4-FFF2-40B4-BE49-F238E27FC236}">
                <a16:creationId xmlns:a16="http://schemas.microsoft.com/office/drawing/2014/main" id="{D39088F0-DBAC-D428-6FD8-ED1865D27348}"/>
              </a:ext>
            </a:extLst>
          </p:cNvPr>
          <p:cNvSpPr txBox="1"/>
          <p:nvPr/>
        </p:nvSpPr>
        <p:spPr>
          <a:xfrm>
            <a:off x="7221301" y="2152806"/>
            <a:ext cx="3946530" cy="461665"/>
          </a:xfrm>
          <a:prstGeom prst="rect">
            <a:avLst/>
          </a:prstGeom>
          <a:noFill/>
        </p:spPr>
        <p:txBody>
          <a:bodyPr wrap="none" rtlCol="0">
            <a:spAutoFit/>
          </a:bodyPr>
          <a:lstStyle/>
          <a:p>
            <a:r>
              <a:rPr lang="en-US" sz="2400" dirty="0"/>
              <a:t>People who were not drafted</a:t>
            </a:r>
          </a:p>
        </p:txBody>
      </p:sp>
      <p:pic>
        <p:nvPicPr>
          <p:cNvPr id="37" name="Picture 4" descr="Military Beret Cap With Star PNG &amp; SVG Design For T-Shirts">
            <a:extLst>
              <a:ext uri="{FF2B5EF4-FFF2-40B4-BE49-F238E27FC236}">
                <a16:creationId xmlns:a16="http://schemas.microsoft.com/office/drawing/2014/main" id="{04940D3C-3DE5-CC31-D256-B9529B98E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8245" y="2567386"/>
            <a:ext cx="515023" cy="515023"/>
          </a:xfrm>
          <a:prstGeom prst="rect">
            <a:avLst/>
          </a:prstGeom>
          <a:extLst>
            <a:ext uri="{909E8E84-426E-40DD-AFC4-6F175D3DCCD1}">
              <a14:hiddenFill xmlns:a14="http://schemas.microsoft.com/office/drawing/2010/main">
                <a:solidFill>
                  <a:srgbClr val="FFFFFF"/>
                </a:solidFill>
              </a14:hiddenFill>
            </a:ext>
          </a:extLst>
        </p:spPr>
      </p:pic>
      <p:pic>
        <p:nvPicPr>
          <p:cNvPr id="43" name="Picture 6" descr="Tie Dye T-Shirt - Classic Rainbow Spiral - Psychedelic Shirt">
            <a:extLst>
              <a:ext uri="{FF2B5EF4-FFF2-40B4-BE49-F238E27FC236}">
                <a16:creationId xmlns:a16="http://schemas.microsoft.com/office/drawing/2014/main" id="{E196C3B8-2EC3-30EC-3807-6AC0FC2199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9320044" y="2675322"/>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45" name="Picture 4" descr="Military Beret Cap With Star PNG &amp; SVG Design For T-Shirts">
            <a:extLst>
              <a:ext uri="{FF2B5EF4-FFF2-40B4-BE49-F238E27FC236}">
                <a16:creationId xmlns:a16="http://schemas.microsoft.com/office/drawing/2014/main" id="{73B6CA64-60FE-1CCB-7DB9-FFD17B095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2969" y="2575249"/>
            <a:ext cx="599974" cy="599974"/>
          </a:xfrm>
          <a:prstGeom prst="rect">
            <a:avLst/>
          </a:prstGeom>
          <a:extLst>
            <a:ext uri="{909E8E84-426E-40DD-AFC4-6F175D3DCCD1}">
              <a14:hiddenFill xmlns:a14="http://schemas.microsoft.com/office/drawing/2010/main">
                <a:solidFill>
                  <a:srgbClr val="FFFFFF"/>
                </a:solidFill>
              </a14:hiddenFill>
            </a:ext>
          </a:extLst>
        </p:spPr>
      </p:pic>
      <p:sp>
        <p:nvSpPr>
          <p:cNvPr id="56" name="TextBox 55">
            <a:extLst>
              <a:ext uri="{FF2B5EF4-FFF2-40B4-BE49-F238E27FC236}">
                <a16:creationId xmlns:a16="http://schemas.microsoft.com/office/drawing/2014/main" id="{08D6760F-5B1A-9B74-D700-3AB1A55D3430}"/>
              </a:ext>
            </a:extLst>
          </p:cNvPr>
          <p:cNvSpPr txBox="1"/>
          <p:nvPr/>
        </p:nvSpPr>
        <p:spPr>
          <a:xfrm>
            <a:off x="1432773" y="3285030"/>
            <a:ext cx="869828" cy="369332"/>
          </a:xfrm>
          <a:prstGeom prst="rect">
            <a:avLst/>
          </a:prstGeom>
          <a:noFill/>
        </p:spPr>
        <p:txBody>
          <a:bodyPr wrap="square" rtlCol="0">
            <a:spAutoFit/>
          </a:bodyPr>
          <a:lstStyle/>
          <a:p>
            <a:r>
              <a:rPr lang="en-US" dirty="0"/>
              <a:t>$1</a:t>
            </a:r>
          </a:p>
        </p:txBody>
      </p:sp>
      <p:sp>
        <p:nvSpPr>
          <p:cNvPr id="57" name="TextBox 56">
            <a:extLst>
              <a:ext uri="{FF2B5EF4-FFF2-40B4-BE49-F238E27FC236}">
                <a16:creationId xmlns:a16="http://schemas.microsoft.com/office/drawing/2014/main" id="{FFBBD74D-C949-4617-3BCF-0D8A8F47D002}"/>
              </a:ext>
            </a:extLst>
          </p:cNvPr>
          <p:cNvSpPr txBox="1"/>
          <p:nvPr/>
        </p:nvSpPr>
        <p:spPr>
          <a:xfrm>
            <a:off x="4397422" y="3236294"/>
            <a:ext cx="869828" cy="369332"/>
          </a:xfrm>
          <a:prstGeom prst="rect">
            <a:avLst/>
          </a:prstGeom>
          <a:noFill/>
        </p:spPr>
        <p:txBody>
          <a:bodyPr wrap="square" rtlCol="0">
            <a:spAutoFit/>
          </a:bodyPr>
          <a:lstStyle/>
          <a:p>
            <a:r>
              <a:rPr lang="en-US" dirty="0"/>
              <a:t>$2</a:t>
            </a:r>
          </a:p>
        </p:txBody>
      </p:sp>
      <p:sp>
        <p:nvSpPr>
          <p:cNvPr id="58" name="TextBox 57">
            <a:extLst>
              <a:ext uri="{FF2B5EF4-FFF2-40B4-BE49-F238E27FC236}">
                <a16:creationId xmlns:a16="http://schemas.microsoft.com/office/drawing/2014/main" id="{888880A4-3B0D-C091-28E1-B677FB9381DF}"/>
              </a:ext>
            </a:extLst>
          </p:cNvPr>
          <p:cNvSpPr txBox="1"/>
          <p:nvPr/>
        </p:nvSpPr>
        <p:spPr>
          <a:xfrm>
            <a:off x="2331015" y="3279740"/>
            <a:ext cx="869828" cy="369332"/>
          </a:xfrm>
          <a:prstGeom prst="rect">
            <a:avLst/>
          </a:prstGeom>
          <a:noFill/>
        </p:spPr>
        <p:txBody>
          <a:bodyPr wrap="square" rtlCol="0">
            <a:spAutoFit/>
          </a:bodyPr>
          <a:lstStyle/>
          <a:p>
            <a:r>
              <a:rPr lang="en-US" dirty="0"/>
              <a:t>$8</a:t>
            </a:r>
          </a:p>
        </p:txBody>
      </p:sp>
      <p:sp>
        <p:nvSpPr>
          <p:cNvPr id="59" name="TextBox 58">
            <a:extLst>
              <a:ext uri="{FF2B5EF4-FFF2-40B4-BE49-F238E27FC236}">
                <a16:creationId xmlns:a16="http://schemas.microsoft.com/office/drawing/2014/main" id="{E93AFF4B-3E34-F99D-CEC4-6DD35AD6ADC8}"/>
              </a:ext>
            </a:extLst>
          </p:cNvPr>
          <p:cNvSpPr txBox="1"/>
          <p:nvPr/>
        </p:nvSpPr>
        <p:spPr>
          <a:xfrm>
            <a:off x="10342969" y="3240873"/>
            <a:ext cx="869828" cy="369332"/>
          </a:xfrm>
          <a:prstGeom prst="rect">
            <a:avLst/>
          </a:prstGeom>
          <a:noFill/>
        </p:spPr>
        <p:txBody>
          <a:bodyPr wrap="square" rtlCol="0">
            <a:spAutoFit/>
          </a:bodyPr>
          <a:lstStyle/>
          <a:p>
            <a:r>
              <a:rPr lang="en-US" dirty="0"/>
              <a:t>$8</a:t>
            </a:r>
          </a:p>
        </p:txBody>
      </p:sp>
      <p:sp>
        <p:nvSpPr>
          <p:cNvPr id="60" name="TextBox 59">
            <a:extLst>
              <a:ext uri="{FF2B5EF4-FFF2-40B4-BE49-F238E27FC236}">
                <a16:creationId xmlns:a16="http://schemas.microsoft.com/office/drawing/2014/main" id="{13212F5D-F77E-C4B4-0DE2-685CCB05878B}"/>
              </a:ext>
            </a:extLst>
          </p:cNvPr>
          <p:cNvSpPr txBox="1"/>
          <p:nvPr/>
        </p:nvSpPr>
        <p:spPr>
          <a:xfrm>
            <a:off x="3343293" y="3236294"/>
            <a:ext cx="540348" cy="369332"/>
          </a:xfrm>
          <a:prstGeom prst="rect">
            <a:avLst/>
          </a:prstGeom>
          <a:noFill/>
        </p:spPr>
        <p:txBody>
          <a:bodyPr wrap="square" rtlCol="0">
            <a:spAutoFit/>
          </a:bodyPr>
          <a:lstStyle/>
          <a:p>
            <a:r>
              <a:rPr lang="en-US" dirty="0"/>
              <a:t>$4</a:t>
            </a:r>
          </a:p>
        </p:txBody>
      </p:sp>
      <p:sp>
        <p:nvSpPr>
          <p:cNvPr id="61" name="TextBox 60">
            <a:extLst>
              <a:ext uri="{FF2B5EF4-FFF2-40B4-BE49-F238E27FC236}">
                <a16:creationId xmlns:a16="http://schemas.microsoft.com/office/drawing/2014/main" id="{0A8BED70-546F-1F50-ED57-83B717518394}"/>
              </a:ext>
            </a:extLst>
          </p:cNvPr>
          <p:cNvSpPr txBox="1"/>
          <p:nvPr/>
        </p:nvSpPr>
        <p:spPr>
          <a:xfrm>
            <a:off x="8519313" y="3224638"/>
            <a:ext cx="540348" cy="369332"/>
          </a:xfrm>
          <a:prstGeom prst="rect">
            <a:avLst/>
          </a:prstGeom>
          <a:noFill/>
        </p:spPr>
        <p:txBody>
          <a:bodyPr wrap="square" rtlCol="0">
            <a:spAutoFit/>
          </a:bodyPr>
          <a:lstStyle/>
          <a:p>
            <a:r>
              <a:rPr lang="en-US" dirty="0"/>
              <a:t>$4</a:t>
            </a:r>
          </a:p>
        </p:txBody>
      </p:sp>
      <p:sp>
        <p:nvSpPr>
          <p:cNvPr id="62" name="TextBox 61">
            <a:extLst>
              <a:ext uri="{FF2B5EF4-FFF2-40B4-BE49-F238E27FC236}">
                <a16:creationId xmlns:a16="http://schemas.microsoft.com/office/drawing/2014/main" id="{86E11CC3-DBCB-8759-3DD1-74115F025C9F}"/>
              </a:ext>
            </a:extLst>
          </p:cNvPr>
          <p:cNvSpPr txBox="1"/>
          <p:nvPr/>
        </p:nvSpPr>
        <p:spPr>
          <a:xfrm>
            <a:off x="7479790" y="3288774"/>
            <a:ext cx="869828" cy="369332"/>
          </a:xfrm>
          <a:prstGeom prst="rect">
            <a:avLst/>
          </a:prstGeom>
          <a:noFill/>
        </p:spPr>
        <p:txBody>
          <a:bodyPr wrap="square" rtlCol="0">
            <a:spAutoFit/>
          </a:bodyPr>
          <a:lstStyle/>
          <a:p>
            <a:r>
              <a:rPr lang="en-US" dirty="0"/>
              <a:t>$5</a:t>
            </a:r>
          </a:p>
        </p:txBody>
      </p:sp>
      <p:sp>
        <p:nvSpPr>
          <p:cNvPr id="63" name="TextBox 62">
            <a:extLst>
              <a:ext uri="{FF2B5EF4-FFF2-40B4-BE49-F238E27FC236}">
                <a16:creationId xmlns:a16="http://schemas.microsoft.com/office/drawing/2014/main" id="{1DB49533-E4D0-F8FC-A818-EB028ABB837B}"/>
              </a:ext>
            </a:extLst>
          </p:cNvPr>
          <p:cNvSpPr txBox="1"/>
          <p:nvPr/>
        </p:nvSpPr>
        <p:spPr>
          <a:xfrm>
            <a:off x="9432738" y="3232699"/>
            <a:ext cx="869828" cy="369332"/>
          </a:xfrm>
          <a:prstGeom prst="rect">
            <a:avLst/>
          </a:prstGeom>
          <a:noFill/>
        </p:spPr>
        <p:txBody>
          <a:bodyPr wrap="square" rtlCol="0">
            <a:spAutoFit/>
          </a:bodyPr>
          <a:lstStyle/>
          <a:p>
            <a:r>
              <a:rPr lang="en-US" dirty="0"/>
              <a:t>$6</a:t>
            </a:r>
          </a:p>
        </p:txBody>
      </p:sp>
      <p:sp>
        <p:nvSpPr>
          <p:cNvPr id="89" name="TextBox 88">
            <a:extLst>
              <a:ext uri="{FF2B5EF4-FFF2-40B4-BE49-F238E27FC236}">
                <a16:creationId xmlns:a16="http://schemas.microsoft.com/office/drawing/2014/main" id="{2BD80FFA-F5DB-3F1E-6040-0DD3F2A93153}"/>
              </a:ext>
            </a:extLst>
          </p:cNvPr>
          <p:cNvSpPr txBox="1"/>
          <p:nvPr/>
        </p:nvSpPr>
        <p:spPr>
          <a:xfrm>
            <a:off x="-30498" y="2980151"/>
            <a:ext cx="1320821" cy="923330"/>
          </a:xfrm>
          <a:prstGeom prst="rect">
            <a:avLst/>
          </a:prstGeom>
          <a:solidFill>
            <a:schemeClr val="bg1"/>
          </a:solidFill>
        </p:spPr>
        <p:txBody>
          <a:bodyPr wrap="square" rtlCol="0">
            <a:spAutoFit/>
          </a:bodyPr>
          <a:lstStyle/>
          <a:p>
            <a:r>
              <a:rPr lang="en-US" dirty="0"/>
              <a:t>Hourly Wage in 1980</a:t>
            </a:r>
          </a:p>
        </p:txBody>
      </p:sp>
      <p:pic>
        <p:nvPicPr>
          <p:cNvPr id="4" name="Picture 6" descr="Tie Dye T-Shirt - Classic Rainbow Spiral - Psychedelic Shirt">
            <a:extLst>
              <a:ext uri="{FF2B5EF4-FFF2-40B4-BE49-F238E27FC236}">
                <a16:creationId xmlns:a16="http://schemas.microsoft.com/office/drawing/2014/main" id="{71CD50DD-366C-6B04-AB09-69A4924A9B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8444687" y="2677599"/>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5" name="Picture 6" descr="Tie Dye T-Shirt - Classic Rainbow Spiral - Psychedelic Shirt">
            <a:extLst>
              <a:ext uri="{FF2B5EF4-FFF2-40B4-BE49-F238E27FC236}">
                <a16:creationId xmlns:a16="http://schemas.microsoft.com/office/drawing/2014/main" id="{34C68875-0A97-24A9-4D50-BCB5F6C76D4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7472989" y="2684683"/>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6" name="Picture 6" descr="Tie Dye T-Shirt - Classic Rainbow Spiral - Psychedelic Shirt">
            <a:extLst>
              <a:ext uri="{FF2B5EF4-FFF2-40B4-BE49-F238E27FC236}">
                <a16:creationId xmlns:a16="http://schemas.microsoft.com/office/drawing/2014/main" id="{094003FE-C310-690C-25BF-6EDC2116358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3200843" y="2575249"/>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7" name="Picture 4" descr="Military Beret Cap With Star PNG &amp; SVG Design For T-Shirts">
            <a:extLst>
              <a:ext uri="{FF2B5EF4-FFF2-40B4-BE49-F238E27FC236}">
                <a16:creationId xmlns:a16="http://schemas.microsoft.com/office/drawing/2014/main" id="{30E5D163-269E-3610-BD1F-CDFD254C35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7611" y="2648930"/>
            <a:ext cx="515023" cy="515023"/>
          </a:xfrm>
          <a:prstGeom prst="rect">
            <a:avLst/>
          </a:prstGeom>
          <a:extLst>
            <a:ext uri="{909E8E84-426E-40DD-AFC4-6F175D3DCCD1}">
              <a14:hiddenFill xmlns:a14="http://schemas.microsoft.com/office/drawing/2010/main">
                <a:solidFill>
                  <a:srgbClr val="FFFFFF"/>
                </a:solidFill>
              </a14:hiddenFill>
            </a:ext>
          </a:extLst>
        </p:spPr>
      </p:pic>
      <p:pic>
        <p:nvPicPr>
          <p:cNvPr id="8" name="Picture 4" descr="Military Beret Cap With Star PNG &amp; SVG Design For T-Shirts">
            <a:extLst>
              <a:ext uri="{FF2B5EF4-FFF2-40B4-BE49-F238E27FC236}">
                <a16:creationId xmlns:a16="http://schemas.microsoft.com/office/drawing/2014/main" id="{984800D0-47CB-8F86-2150-EC9CCB698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044" y="2671599"/>
            <a:ext cx="515023" cy="515023"/>
          </a:xfrm>
          <a:prstGeom prst="rect">
            <a:avLst/>
          </a:prstGeom>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839169-294E-1F47-FA25-DE7DB4C00907}"/>
                  </a:ext>
                </a:extLst>
              </p:cNvPr>
              <p:cNvSpPr txBox="1"/>
              <p:nvPr/>
            </p:nvSpPr>
            <p:spPr>
              <a:xfrm>
                <a:off x="3883641" y="4485530"/>
                <a:ext cx="4913974" cy="619913"/>
              </a:xfrm>
              <a:prstGeom prst="rect">
                <a:avLst/>
              </a:prstGeom>
              <a:noFill/>
            </p:spPr>
            <p:txBody>
              <a:bodyPr wrap="none" rtlCol="0">
                <a:spAutoFit/>
              </a:bodyPr>
              <a:lstStyle/>
              <a:p>
                <a:r>
                  <a:rPr lang="en-US" sz="2400" dirty="0"/>
                  <a:t>Estimate: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1+8+4+2</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5+4+6+8</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=−$2</m:t>
                    </m:r>
                  </m:oMath>
                </a14:m>
                <a:endParaRPr lang="en-US" sz="2400" dirty="0"/>
              </a:p>
            </p:txBody>
          </p:sp>
        </mc:Choice>
        <mc:Fallback xmlns="">
          <p:sp>
            <p:nvSpPr>
              <p:cNvPr id="9" name="TextBox 8">
                <a:extLst>
                  <a:ext uri="{FF2B5EF4-FFF2-40B4-BE49-F238E27FC236}">
                    <a16:creationId xmlns:a16="http://schemas.microsoft.com/office/drawing/2014/main" id="{29839169-294E-1F47-FA25-DE7DB4C00907}"/>
                  </a:ext>
                </a:extLst>
              </p:cNvPr>
              <p:cNvSpPr txBox="1">
                <a:spLocks noRot="1" noChangeAspect="1" noMove="1" noResize="1" noEditPoints="1" noAdjustHandles="1" noChangeArrowheads="1" noChangeShapeType="1" noTextEdit="1"/>
              </p:cNvSpPr>
              <p:nvPr/>
            </p:nvSpPr>
            <p:spPr>
              <a:xfrm>
                <a:off x="3883641" y="4485530"/>
                <a:ext cx="4913974" cy="619913"/>
              </a:xfrm>
              <a:prstGeom prst="rect">
                <a:avLst/>
              </a:prstGeom>
              <a:blipFill>
                <a:blip r:embed="rId5"/>
                <a:stretch>
                  <a:fillRect l="-1804" b="-10000"/>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D2883F34-05F8-DDE4-5037-285D679B57BD}"/>
              </a:ext>
            </a:extLst>
          </p:cNvPr>
          <p:cNvSpPr txBox="1"/>
          <p:nvPr/>
        </p:nvSpPr>
        <p:spPr>
          <a:xfrm>
            <a:off x="1618395" y="3864202"/>
            <a:ext cx="8955208" cy="523220"/>
          </a:xfrm>
          <a:prstGeom prst="rect">
            <a:avLst/>
          </a:prstGeom>
          <a:noFill/>
        </p:spPr>
        <p:txBody>
          <a:bodyPr wrap="none" rtlCol="0">
            <a:spAutoFit/>
          </a:bodyPr>
          <a:lstStyle/>
          <a:p>
            <a:r>
              <a:rPr lang="en-US" sz="2800" dirty="0">
                <a:solidFill>
                  <a:schemeClr val="accent1"/>
                </a:solidFill>
              </a:rPr>
              <a:t>What is the ATE of </a:t>
            </a:r>
            <a:r>
              <a:rPr lang="en-US" sz="2800" i="1" dirty="0">
                <a:solidFill>
                  <a:schemeClr val="accent1"/>
                </a:solidFill>
              </a:rPr>
              <a:t>being drafted </a:t>
            </a:r>
            <a:r>
              <a:rPr lang="en-US" sz="2800" dirty="0">
                <a:solidFill>
                  <a:schemeClr val="accent1"/>
                </a:solidFill>
              </a:rPr>
              <a:t>on wages, </a:t>
            </a:r>
            <a:r>
              <a:rPr lang="en-US" sz="2800" b="1" dirty="0">
                <a:solidFill>
                  <a:schemeClr val="accent1"/>
                </a:solidFill>
              </a:rPr>
              <a:t>for everyone</a:t>
            </a:r>
            <a:r>
              <a:rPr lang="en-US" sz="2800" dirty="0">
                <a:solidFill>
                  <a:schemeClr val="accent1"/>
                </a:solidFill>
              </a:rPr>
              <a: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17C46C9-35F4-5032-7F91-F81D0D3A139A}"/>
                  </a:ext>
                </a:extLst>
              </p:cNvPr>
              <p:cNvSpPr txBox="1"/>
              <p:nvPr/>
            </p:nvSpPr>
            <p:spPr>
              <a:xfrm>
                <a:off x="2339771" y="6022571"/>
                <a:ext cx="7092967" cy="619913"/>
              </a:xfrm>
              <a:prstGeom prst="rect">
                <a:avLst/>
              </a:prstGeom>
              <a:noFill/>
            </p:spPr>
            <p:txBody>
              <a:bodyPr wrap="none" rtlCol="0">
                <a:spAutoFit/>
              </a:bodyPr>
              <a:lstStyle/>
              <a:p>
                <a:r>
                  <a:rPr lang="en-US" sz="2400" dirty="0"/>
                  <a:t>Observational Comparison: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1+8+8+2</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5+4+6+4</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=$0</m:t>
                    </m:r>
                  </m:oMath>
                </a14:m>
                <a:endParaRPr lang="en-US" sz="2400" dirty="0"/>
              </a:p>
            </p:txBody>
          </p:sp>
        </mc:Choice>
        <mc:Fallback xmlns="">
          <p:sp>
            <p:nvSpPr>
              <p:cNvPr id="12" name="TextBox 11">
                <a:extLst>
                  <a:ext uri="{FF2B5EF4-FFF2-40B4-BE49-F238E27FC236}">
                    <a16:creationId xmlns:a16="http://schemas.microsoft.com/office/drawing/2014/main" id="{E17C46C9-35F4-5032-7F91-F81D0D3A139A}"/>
                  </a:ext>
                </a:extLst>
              </p:cNvPr>
              <p:cNvSpPr txBox="1">
                <a:spLocks noRot="1" noChangeAspect="1" noMove="1" noResize="1" noEditPoints="1" noAdjustHandles="1" noChangeArrowheads="1" noChangeShapeType="1" noTextEdit="1"/>
              </p:cNvSpPr>
              <p:nvPr/>
            </p:nvSpPr>
            <p:spPr>
              <a:xfrm>
                <a:off x="2339771" y="6022571"/>
                <a:ext cx="7092967" cy="619913"/>
              </a:xfrm>
              <a:prstGeom prst="rect">
                <a:avLst/>
              </a:prstGeom>
              <a:blipFill>
                <a:blip r:embed="rId6"/>
                <a:stretch>
                  <a:fillRect l="-1431" b="-100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18BD904A-BBB0-16B7-560D-77E5AB443450}"/>
              </a:ext>
            </a:extLst>
          </p:cNvPr>
          <p:cNvSpPr txBox="1"/>
          <p:nvPr/>
        </p:nvSpPr>
        <p:spPr>
          <a:xfrm>
            <a:off x="2048801" y="5371463"/>
            <a:ext cx="8094395" cy="523220"/>
          </a:xfrm>
          <a:prstGeom prst="rect">
            <a:avLst/>
          </a:prstGeom>
          <a:noFill/>
        </p:spPr>
        <p:txBody>
          <a:bodyPr wrap="none" rtlCol="0">
            <a:spAutoFit/>
          </a:bodyPr>
          <a:lstStyle/>
          <a:p>
            <a:r>
              <a:rPr lang="en-US" sz="2800" dirty="0">
                <a:solidFill>
                  <a:schemeClr val="accent1"/>
                </a:solidFill>
              </a:rPr>
              <a:t>What is the ATE of </a:t>
            </a:r>
            <a:r>
              <a:rPr lang="en-US" sz="2800" i="1" dirty="0">
                <a:solidFill>
                  <a:schemeClr val="accent1"/>
                </a:solidFill>
              </a:rPr>
              <a:t>serving</a:t>
            </a:r>
            <a:r>
              <a:rPr lang="en-US" sz="2800" dirty="0">
                <a:solidFill>
                  <a:schemeClr val="accent1"/>
                </a:solidFill>
              </a:rPr>
              <a:t> on wages, </a:t>
            </a:r>
            <a:r>
              <a:rPr lang="en-US" sz="2800" b="1" dirty="0">
                <a:solidFill>
                  <a:schemeClr val="accent1"/>
                </a:solidFill>
              </a:rPr>
              <a:t>for everyone</a:t>
            </a:r>
            <a:r>
              <a:rPr lang="en-US" sz="2800" dirty="0">
                <a:solidFill>
                  <a:schemeClr val="accent1"/>
                </a:solidFill>
              </a:rPr>
              <a:t>?</a:t>
            </a:r>
          </a:p>
        </p:txBody>
      </p:sp>
      <p:sp>
        <p:nvSpPr>
          <p:cNvPr id="14" name="TextBox 13">
            <a:extLst>
              <a:ext uri="{FF2B5EF4-FFF2-40B4-BE49-F238E27FC236}">
                <a16:creationId xmlns:a16="http://schemas.microsoft.com/office/drawing/2014/main" id="{6CE693C0-9DB4-0039-3AF7-B08FDF3B44FE}"/>
              </a:ext>
            </a:extLst>
          </p:cNvPr>
          <p:cNvSpPr txBox="1"/>
          <p:nvPr/>
        </p:nvSpPr>
        <p:spPr>
          <a:xfrm>
            <a:off x="9078975" y="4432120"/>
            <a:ext cx="3019523" cy="646331"/>
          </a:xfrm>
          <a:prstGeom prst="rect">
            <a:avLst/>
          </a:prstGeom>
          <a:noFill/>
        </p:spPr>
        <p:txBody>
          <a:bodyPr wrap="square" rtlCol="0">
            <a:spAutoFit/>
          </a:bodyPr>
          <a:lstStyle/>
          <a:p>
            <a:pPr algn="r"/>
            <a:r>
              <a:rPr lang="en-US" dirty="0">
                <a:solidFill>
                  <a:schemeClr val="accent2"/>
                </a:solidFill>
              </a:rPr>
              <a:t>But this doesn’t tell us about the effect of </a:t>
            </a:r>
            <a:r>
              <a:rPr lang="en-US" b="1" dirty="0">
                <a:solidFill>
                  <a:schemeClr val="accent2"/>
                </a:solidFill>
              </a:rPr>
              <a:t>serving</a:t>
            </a:r>
            <a:r>
              <a:rPr lang="en-US" dirty="0">
                <a:solidFill>
                  <a:schemeClr val="accent2"/>
                </a:solidFill>
              </a:rPr>
              <a:t>…</a:t>
            </a:r>
          </a:p>
        </p:txBody>
      </p:sp>
      <p:sp>
        <p:nvSpPr>
          <p:cNvPr id="15" name="TextBox 14">
            <a:extLst>
              <a:ext uri="{FF2B5EF4-FFF2-40B4-BE49-F238E27FC236}">
                <a16:creationId xmlns:a16="http://schemas.microsoft.com/office/drawing/2014/main" id="{29D021CF-98F4-9973-62B8-5EB73959914A}"/>
              </a:ext>
            </a:extLst>
          </p:cNvPr>
          <p:cNvSpPr txBox="1"/>
          <p:nvPr/>
        </p:nvSpPr>
        <p:spPr>
          <a:xfrm>
            <a:off x="9752599" y="5966718"/>
            <a:ext cx="2345899" cy="923330"/>
          </a:xfrm>
          <a:prstGeom prst="rect">
            <a:avLst/>
          </a:prstGeom>
          <a:solidFill>
            <a:schemeClr val="bg1"/>
          </a:solidFill>
        </p:spPr>
        <p:txBody>
          <a:bodyPr wrap="square" rtlCol="0">
            <a:spAutoFit/>
          </a:bodyPr>
          <a:lstStyle/>
          <a:p>
            <a:pPr algn="r"/>
            <a:r>
              <a:rPr lang="en-US" dirty="0">
                <a:solidFill>
                  <a:schemeClr val="accent2"/>
                </a:solidFill>
              </a:rPr>
              <a:t>This doesn’t seem causal at all!</a:t>
            </a:r>
          </a:p>
          <a:p>
            <a:pPr algn="r"/>
            <a:r>
              <a:rPr lang="en-US" dirty="0">
                <a:solidFill>
                  <a:schemeClr val="accent2"/>
                </a:solidFill>
              </a:rPr>
              <a:t> </a:t>
            </a:r>
          </a:p>
        </p:txBody>
      </p:sp>
      <p:sp>
        <p:nvSpPr>
          <p:cNvPr id="18" name="Title 1">
            <a:extLst>
              <a:ext uri="{FF2B5EF4-FFF2-40B4-BE49-F238E27FC236}">
                <a16:creationId xmlns:a16="http://schemas.microsoft.com/office/drawing/2014/main" id="{6F3C9FCF-2FC1-C6DC-31CB-80EF751CEF70}"/>
              </a:ext>
            </a:extLst>
          </p:cNvPr>
          <p:cNvSpPr>
            <a:spLocks noGrp="1"/>
          </p:cNvSpPr>
          <p:nvPr>
            <p:ph type="title"/>
          </p:nvPr>
        </p:nvSpPr>
        <p:spPr>
          <a:xfrm>
            <a:off x="817123" y="79394"/>
            <a:ext cx="10515600" cy="1325563"/>
          </a:xfrm>
        </p:spPr>
        <p:txBody>
          <a:bodyPr>
            <a:normAutofit/>
          </a:bodyPr>
          <a:lstStyle/>
          <a:p>
            <a:r>
              <a:rPr lang="en-US" dirty="0"/>
              <a:t>Let’s compute LATE!</a:t>
            </a:r>
            <a:br>
              <a:rPr lang="en-US" dirty="0"/>
            </a:br>
            <a:r>
              <a:rPr lang="en-US" sz="2800" dirty="0"/>
              <a:t>What is the ATE of serving for the compliers?</a:t>
            </a:r>
            <a:endParaRPr lang="en-US" dirty="0"/>
          </a:p>
        </p:txBody>
      </p:sp>
    </p:spTree>
    <p:extLst>
      <p:ext uri="{BB962C8B-B14F-4D97-AF65-F5344CB8AC3E}">
        <p14:creationId xmlns:p14="http://schemas.microsoft.com/office/powerpoint/2010/main" val="61366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5B861-87D8-6484-E396-5ABB3BD7AC2E}"/>
              </a:ext>
            </a:extLst>
          </p:cNvPr>
          <p:cNvSpPr>
            <a:spLocks noGrp="1"/>
          </p:cNvSpPr>
          <p:nvPr>
            <p:ph idx="1"/>
          </p:nvPr>
        </p:nvSpPr>
        <p:spPr>
          <a:xfrm>
            <a:off x="817123" y="1511484"/>
            <a:ext cx="10515600" cy="2385542"/>
          </a:xfrm>
        </p:spPr>
        <p:txBody>
          <a:bodyPr>
            <a:normAutofit/>
          </a:bodyPr>
          <a:lstStyle/>
          <a:p>
            <a:r>
              <a:rPr lang="en-US" dirty="0"/>
              <a:t>Suppose we see:</a:t>
            </a:r>
          </a:p>
        </p:txBody>
      </p:sp>
      <p:sp>
        <p:nvSpPr>
          <p:cNvPr id="28" name="TextBox 27">
            <a:extLst>
              <a:ext uri="{FF2B5EF4-FFF2-40B4-BE49-F238E27FC236}">
                <a16:creationId xmlns:a16="http://schemas.microsoft.com/office/drawing/2014/main" id="{F9983627-4970-F5C9-E3EB-CD1D4D2C2F89}"/>
              </a:ext>
            </a:extLst>
          </p:cNvPr>
          <p:cNvSpPr txBox="1"/>
          <p:nvPr/>
        </p:nvSpPr>
        <p:spPr>
          <a:xfrm>
            <a:off x="1364106" y="2117826"/>
            <a:ext cx="3444789" cy="461665"/>
          </a:xfrm>
          <a:prstGeom prst="rect">
            <a:avLst/>
          </a:prstGeom>
          <a:noFill/>
        </p:spPr>
        <p:txBody>
          <a:bodyPr wrap="none" rtlCol="0">
            <a:spAutoFit/>
          </a:bodyPr>
          <a:lstStyle/>
          <a:p>
            <a:r>
              <a:rPr lang="en-US" sz="2400" dirty="0"/>
              <a:t>People who were drafted</a:t>
            </a:r>
          </a:p>
        </p:txBody>
      </p:sp>
      <p:sp>
        <p:nvSpPr>
          <p:cNvPr id="31" name="TextBox 30">
            <a:extLst>
              <a:ext uri="{FF2B5EF4-FFF2-40B4-BE49-F238E27FC236}">
                <a16:creationId xmlns:a16="http://schemas.microsoft.com/office/drawing/2014/main" id="{D39088F0-DBAC-D428-6FD8-ED1865D27348}"/>
              </a:ext>
            </a:extLst>
          </p:cNvPr>
          <p:cNvSpPr txBox="1"/>
          <p:nvPr/>
        </p:nvSpPr>
        <p:spPr>
          <a:xfrm>
            <a:off x="7221301" y="2152806"/>
            <a:ext cx="3946530" cy="461665"/>
          </a:xfrm>
          <a:prstGeom prst="rect">
            <a:avLst/>
          </a:prstGeom>
          <a:noFill/>
        </p:spPr>
        <p:txBody>
          <a:bodyPr wrap="none" rtlCol="0">
            <a:spAutoFit/>
          </a:bodyPr>
          <a:lstStyle/>
          <a:p>
            <a:r>
              <a:rPr lang="en-US" sz="2400" dirty="0"/>
              <a:t>People who were not drafted</a:t>
            </a:r>
          </a:p>
        </p:txBody>
      </p:sp>
      <p:pic>
        <p:nvPicPr>
          <p:cNvPr id="37" name="Picture 4" descr="Military Beret Cap With Star PNG &amp; SVG Design For T-Shirts">
            <a:extLst>
              <a:ext uri="{FF2B5EF4-FFF2-40B4-BE49-F238E27FC236}">
                <a16:creationId xmlns:a16="http://schemas.microsoft.com/office/drawing/2014/main" id="{04940D3C-3DE5-CC31-D256-B9529B98E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8245" y="2567386"/>
            <a:ext cx="515023" cy="515023"/>
          </a:xfrm>
          <a:prstGeom prst="rect">
            <a:avLst/>
          </a:prstGeom>
          <a:extLst>
            <a:ext uri="{909E8E84-426E-40DD-AFC4-6F175D3DCCD1}">
              <a14:hiddenFill xmlns:a14="http://schemas.microsoft.com/office/drawing/2010/main">
                <a:solidFill>
                  <a:srgbClr val="FFFFFF"/>
                </a:solidFill>
              </a14:hiddenFill>
            </a:ext>
          </a:extLst>
        </p:spPr>
      </p:pic>
      <p:pic>
        <p:nvPicPr>
          <p:cNvPr id="43" name="Picture 6" descr="Tie Dye T-Shirt - Classic Rainbow Spiral - Psychedelic Shirt">
            <a:extLst>
              <a:ext uri="{FF2B5EF4-FFF2-40B4-BE49-F238E27FC236}">
                <a16:creationId xmlns:a16="http://schemas.microsoft.com/office/drawing/2014/main" id="{E196C3B8-2EC3-30EC-3807-6AC0FC2199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9320044" y="2675322"/>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45" name="Picture 4" descr="Military Beret Cap With Star PNG &amp; SVG Design For T-Shirts">
            <a:extLst>
              <a:ext uri="{FF2B5EF4-FFF2-40B4-BE49-F238E27FC236}">
                <a16:creationId xmlns:a16="http://schemas.microsoft.com/office/drawing/2014/main" id="{73B6CA64-60FE-1CCB-7DB9-FFD17B095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2969" y="2575249"/>
            <a:ext cx="599974" cy="599974"/>
          </a:xfrm>
          <a:prstGeom prst="rect">
            <a:avLst/>
          </a:prstGeom>
          <a:extLst>
            <a:ext uri="{909E8E84-426E-40DD-AFC4-6F175D3DCCD1}">
              <a14:hiddenFill xmlns:a14="http://schemas.microsoft.com/office/drawing/2010/main">
                <a:solidFill>
                  <a:srgbClr val="FFFFFF"/>
                </a:solidFill>
              </a14:hiddenFill>
            </a:ext>
          </a:extLst>
        </p:spPr>
      </p:pic>
      <p:sp>
        <p:nvSpPr>
          <p:cNvPr id="56" name="TextBox 55">
            <a:extLst>
              <a:ext uri="{FF2B5EF4-FFF2-40B4-BE49-F238E27FC236}">
                <a16:creationId xmlns:a16="http://schemas.microsoft.com/office/drawing/2014/main" id="{08D6760F-5B1A-9B74-D700-3AB1A55D3430}"/>
              </a:ext>
            </a:extLst>
          </p:cNvPr>
          <p:cNvSpPr txBox="1"/>
          <p:nvPr/>
        </p:nvSpPr>
        <p:spPr>
          <a:xfrm>
            <a:off x="1432773" y="3285030"/>
            <a:ext cx="869828" cy="369332"/>
          </a:xfrm>
          <a:prstGeom prst="rect">
            <a:avLst/>
          </a:prstGeom>
          <a:noFill/>
        </p:spPr>
        <p:txBody>
          <a:bodyPr wrap="square" rtlCol="0">
            <a:spAutoFit/>
          </a:bodyPr>
          <a:lstStyle/>
          <a:p>
            <a:r>
              <a:rPr lang="en-US" dirty="0"/>
              <a:t>$1</a:t>
            </a:r>
          </a:p>
        </p:txBody>
      </p:sp>
      <p:sp>
        <p:nvSpPr>
          <p:cNvPr id="57" name="TextBox 56">
            <a:extLst>
              <a:ext uri="{FF2B5EF4-FFF2-40B4-BE49-F238E27FC236}">
                <a16:creationId xmlns:a16="http://schemas.microsoft.com/office/drawing/2014/main" id="{FFBBD74D-C949-4617-3BCF-0D8A8F47D002}"/>
              </a:ext>
            </a:extLst>
          </p:cNvPr>
          <p:cNvSpPr txBox="1"/>
          <p:nvPr/>
        </p:nvSpPr>
        <p:spPr>
          <a:xfrm>
            <a:off x="4397422" y="3236294"/>
            <a:ext cx="869828" cy="369332"/>
          </a:xfrm>
          <a:prstGeom prst="rect">
            <a:avLst/>
          </a:prstGeom>
          <a:noFill/>
        </p:spPr>
        <p:txBody>
          <a:bodyPr wrap="square" rtlCol="0">
            <a:spAutoFit/>
          </a:bodyPr>
          <a:lstStyle/>
          <a:p>
            <a:r>
              <a:rPr lang="en-US" dirty="0"/>
              <a:t>$2</a:t>
            </a:r>
          </a:p>
        </p:txBody>
      </p:sp>
      <p:sp>
        <p:nvSpPr>
          <p:cNvPr id="58" name="TextBox 57">
            <a:extLst>
              <a:ext uri="{FF2B5EF4-FFF2-40B4-BE49-F238E27FC236}">
                <a16:creationId xmlns:a16="http://schemas.microsoft.com/office/drawing/2014/main" id="{888880A4-3B0D-C091-28E1-B677FB9381DF}"/>
              </a:ext>
            </a:extLst>
          </p:cNvPr>
          <p:cNvSpPr txBox="1"/>
          <p:nvPr/>
        </p:nvSpPr>
        <p:spPr>
          <a:xfrm>
            <a:off x="2331015" y="3279740"/>
            <a:ext cx="869828" cy="369332"/>
          </a:xfrm>
          <a:prstGeom prst="rect">
            <a:avLst/>
          </a:prstGeom>
          <a:noFill/>
        </p:spPr>
        <p:txBody>
          <a:bodyPr wrap="square" rtlCol="0">
            <a:spAutoFit/>
          </a:bodyPr>
          <a:lstStyle/>
          <a:p>
            <a:r>
              <a:rPr lang="en-US" dirty="0"/>
              <a:t>$8</a:t>
            </a:r>
          </a:p>
        </p:txBody>
      </p:sp>
      <p:sp>
        <p:nvSpPr>
          <p:cNvPr id="59" name="TextBox 58">
            <a:extLst>
              <a:ext uri="{FF2B5EF4-FFF2-40B4-BE49-F238E27FC236}">
                <a16:creationId xmlns:a16="http://schemas.microsoft.com/office/drawing/2014/main" id="{E93AFF4B-3E34-F99D-CEC4-6DD35AD6ADC8}"/>
              </a:ext>
            </a:extLst>
          </p:cNvPr>
          <p:cNvSpPr txBox="1"/>
          <p:nvPr/>
        </p:nvSpPr>
        <p:spPr>
          <a:xfrm>
            <a:off x="10342969" y="3240873"/>
            <a:ext cx="869828" cy="369332"/>
          </a:xfrm>
          <a:prstGeom prst="rect">
            <a:avLst/>
          </a:prstGeom>
          <a:noFill/>
        </p:spPr>
        <p:txBody>
          <a:bodyPr wrap="square" rtlCol="0">
            <a:spAutoFit/>
          </a:bodyPr>
          <a:lstStyle/>
          <a:p>
            <a:r>
              <a:rPr lang="en-US" dirty="0"/>
              <a:t>$8</a:t>
            </a:r>
          </a:p>
        </p:txBody>
      </p:sp>
      <p:sp>
        <p:nvSpPr>
          <p:cNvPr id="60" name="TextBox 59">
            <a:extLst>
              <a:ext uri="{FF2B5EF4-FFF2-40B4-BE49-F238E27FC236}">
                <a16:creationId xmlns:a16="http://schemas.microsoft.com/office/drawing/2014/main" id="{13212F5D-F77E-C4B4-0DE2-685CCB05878B}"/>
              </a:ext>
            </a:extLst>
          </p:cNvPr>
          <p:cNvSpPr txBox="1"/>
          <p:nvPr/>
        </p:nvSpPr>
        <p:spPr>
          <a:xfrm>
            <a:off x="3343293" y="3236294"/>
            <a:ext cx="540348" cy="369332"/>
          </a:xfrm>
          <a:prstGeom prst="rect">
            <a:avLst/>
          </a:prstGeom>
          <a:noFill/>
        </p:spPr>
        <p:txBody>
          <a:bodyPr wrap="square" rtlCol="0">
            <a:spAutoFit/>
          </a:bodyPr>
          <a:lstStyle/>
          <a:p>
            <a:r>
              <a:rPr lang="en-US" dirty="0"/>
              <a:t>$4</a:t>
            </a:r>
          </a:p>
        </p:txBody>
      </p:sp>
      <p:sp>
        <p:nvSpPr>
          <p:cNvPr id="61" name="TextBox 60">
            <a:extLst>
              <a:ext uri="{FF2B5EF4-FFF2-40B4-BE49-F238E27FC236}">
                <a16:creationId xmlns:a16="http://schemas.microsoft.com/office/drawing/2014/main" id="{0A8BED70-546F-1F50-ED57-83B717518394}"/>
              </a:ext>
            </a:extLst>
          </p:cNvPr>
          <p:cNvSpPr txBox="1"/>
          <p:nvPr/>
        </p:nvSpPr>
        <p:spPr>
          <a:xfrm>
            <a:off x="8519313" y="3224638"/>
            <a:ext cx="540348" cy="369332"/>
          </a:xfrm>
          <a:prstGeom prst="rect">
            <a:avLst/>
          </a:prstGeom>
          <a:noFill/>
        </p:spPr>
        <p:txBody>
          <a:bodyPr wrap="square" rtlCol="0">
            <a:spAutoFit/>
          </a:bodyPr>
          <a:lstStyle/>
          <a:p>
            <a:r>
              <a:rPr lang="en-US" dirty="0"/>
              <a:t>$4</a:t>
            </a:r>
          </a:p>
        </p:txBody>
      </p:sp>
      <p:sp>
        <p:nvSpPr>
          <p:cNvPr id="62" name="TextBox 61">
            <a:extLst>
              <a:ext uri="{FF2B5EF4-FFF2-40B4-BE49-F238E27FC236}">
                <a16:creationId xmlns:a16="http://schemas.microsoft.com/office/drawing/2014/main" id="{86E11CC3-DBCB-8759-3DD1-74115F025C9F}"/>
              </a:ext>
            </a:extLst>
          </p:cNvPr>
          <p:cNvSpPr txBox="1"/>
          <p:nvPr/>
        </p:nvSpPr>
        <p:spPr>
          <a:xfrm>
            <a:off x="7479790" y="3288774"/>
            <a:ext cx="869828" cy="369332"/>
          </a:xfrm>
          <a:prstGeom prst="rect">
            <a:avLst/>
          </a:prstGeom>
          <a:noFill/>
        </p:spPr>
        <p:txBody>
          <a:bodyPr wrap="square" rtlCol="0">
            <a:spAutoFit/>
          </a:bodyPr>
          <a:lstStyle/>
          <a:p>
            <a:r>
              <a:rPr lang="en-US" dirty="0"/>
              <a:t>$5</a:t>
            </a:r>
          </a:p>
        </p:txBody>
      </p:sp>
      <p:sp>
        <p:nvSpPr>
          <p:cNvPr id="63" name="TextBox 62">
            <a:extLst>
              <a:ext uri="{FF2B5EF4-FFF2-40B4-BE49-F238E27FC236}">
                <a16:creationId xmlns:a16="http://schemas.microsoft.com/office/drawing/2014/main" id="{1DB49533-E4D0-F8FC-A818-EB028ABB837B}"/>
              </a:ext>
            </a:extLst>
          </p:cNvPr>
          <p:cNvSpPr txBox="1"/>
          <p:nvPr/>
        </p:nvSpPr>
        <p:spPr>
          <a:xfrm>
            <a:off x="9432738" y="3232699"/>
            <a:ext cx="869828" cy="369332"/>
          </a:xfrm>
          <a:prstGeom prst="rect">
            <a:avLst/>
          </a:prstGeom>
          <a:noFill/>
        </p:spPr>
        <p:txBody>
          <a:bodyPr wrap="square" rtlCol="0">
            <a:spAutoFit/>
          </a:bodyPr>
          <a:lstStyle/>
          <a:p>
            <a:r>
              <a:rPr lang="en-US" dirty="0"/>
              <a:t>$6</a:t>
            </a:r>
          </a:p>
        </p:txBody>
      </p:sp>
      <p:sp>
        <p:nvSpPr>
          <p:cNvPr id="89" name="TextBox 88">
            <a:extLst>
              <a:ext uri="{FF2B5EF4-FFF2-40B4-BE49-F238E27FC236}">
                <a16:creationId xmlns:a16="http://schemas.microsoft.com/office/drawing/2014/main" id="{2BD80FFA-F5DB-3F1E-6040-0DD3F2A93153}"/>
              </a:ext>
            </a:extLst>
          </p:cNvPr>
          <p:cNvSpPr txBox="1"/>
          <p:nvPr/>
        </p:nvSpPr>
        <p:spPr>
          <a:xfrm>
            <a:off x="-30498" y="2980151"/>
            <a:ext cx="1320821" cy="923330"/>
          </a:xfrm>
          <a:prstGeom prst="rect">
            <a:avLst/>
          </a:prstGeom>
          <a:solidFill>
            <a:schemeClr val="bg1"/>
          </a:solidFill>
        </p:spPr>
        <p:txBody>
          <a:bodyPr wrap="square" rtlCol="0">
            <a:spAutoFit/>
          </a:bodyPr>
          <a:lstStyle/>
          <a:p>
            <a:r>
              <a:rPr lang="en-US" dirty="0"/>
              <a:t>Hourly Wage in 1980</a:t>
            </a:r>
          </a:p>
        </p:txBody>
      </p:sp>
      <p:pic>
        <p:nvPicPr>
          <p:cNvPr id="4" name="Picture 6" descr="Tie Dye T-Shirt - Classic Rainbow Spiral - Psychedelic Shirt">
            <a:extLst>
              <a:ext uri="{FF2B5EF4-FFF2-40B4-BE49-F238E27FC236}">
                <a16:creationId xmlns:a16="http://schemas.microsoft.com/office/drawing/2014/main" id="{71CD50DD-366C-6B04-AB09-69A4924A9B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8444687" y="2677599"/>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5" name="Picture 6" descr="Tie Dye T-Shirt - Classic Rainbow Spiral - Psychedelic Shirt">
            <a:extLst>
              <a:ext uri="{FF2B5EF4-FFF2-40B4-BE49-F238E27FC236}">
                <a16:creationId xmlns:a16="http://schemas.microsoft.com/office/drawing/2014/main" id="{34C68875-0A97-24A9-4D50-BCB5F6C76D4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7472989" y="2684683"/>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6" name="Picture 6" descr="Tie Dye T-Shirt - Classic Rainbow Spiral - Psychedelic Shirt">
            <a:extLst>
              <a:ext uri="{FF2B5EF4-FFF2-40B4-BE49-F238E27FC236}">
                <a16:creationId xmlns:a16="http://schemas.microsoft.com/office/drawing/2014/main" id="{094003FE-C310-690C-25BF-6EDC2116358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3200843" y="2575249"/>
            <a:ext cx="727790" cy="523220"/>
          </a:xfrm>
          <a:prstGeom prst="rect">
            <a:avLst/>
          </a:prstGeom>
          <a:extLst>
            <a:ext uri="{909E8E84-426E-40DD-AFC4-6F175D3DCCD1}">
              <a14:hiddenFill xmlns:a14="http://schemas.microsoft.com/office/drawing/2010/main">
                <a:solidFill>
                  <a:srgbClr val="FFFFFF"/>
                </a:solidFill>
              </a14:hiddenFill>
            </a:ext>
          </a:extLst>
        </p:spPr>
      </p:pic>
      <p:pic>
        <p:nvPicPr>
          <p:cNvPr id="7" name="Picture 4" descr="Military Beret Cap With Star PNG &amp; SVG Design For T-Shirts">
            <a:extLst>
              <a:ext uri="{FF2B5EF4-FFF2-40B4-BE49-F238E27FC236}">
                <a16:creationId xmlns:a16="http://schemas.microsoft.com/office/drawing/2014/main" id="{30E5D163-269E-3610-BD1F-CDFD254C35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7611" y="2648930"/>
            <a:ext cx="515023" cy="515023"/>
          </a:xfrm>
          <a:prstGeom prst="rect">
            <a:avLst/>
          </a:prstGeom>
          <a:extLst>
            <a:ext uri="{909E8E84-426E-40DD-AFC4-6F175D3DCCD1}">
              <a14:hiddenFill xmlns:a14="http://schemas.microsoft.com/office/drawing/2010/main">
                <a:solidFill>
                  <a:srgbClr val="FFFFFF"/>
                </a:solidFill>
              </a14:hiddenFill>
            </a:ext>
          </a:extLst>
        </p:spPr>
      </p:pic>
      <p:pic>
        <p:nvPicPr>
          <p:cNvPr id="8" name="Picture 4" descr="Military Beret Cap With Star PNG &amp; SVG Design For T-Shirts">
            <a:extLst>
              <a:ext uri="{FF2B5EF4-FFF2-40B4-BE49-F238E27FC236}">
                <a16:creationId xmlns:a16="http://schemas.microsoft.com/office/drawing/2014/main" id="{984800D0-47CB-8F86-2150-EC9CCB698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044" y="2671599"/>
            <a:ext cx="515023" cy="515023"/>
          </a:xfrm>
          <a:prstGeom prst="rect">
            <a:avLst/>
          </a:prstGeom>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839169-294E-1F47-FA25-DE7DB4C00907}"/>
                  </a:ext>
                </a:extLst>
              </p:cNvPr>
              <p:cNvSpPr txBox="1"/>
              <p:nvPr/>
            </p:nvSpPr>
            <p:spPr>
              <a:xfrm>
                <a:off x="3883641" y="4485530"/>
                <a:ext cx="4913974" cy="619913"/>
              </a:xfrm>
              <a:prstGeom prst="rect">
                <a:avLst/>
              </a:prstGeom>
              <a:noFill/>
            </p:spPr>
            <p:txBody>
              <a:bodyPr wrap="none" rtlCol="0">
                <a:spAutoFit/>
              </a:bodyPr>
              <a:lstStyle/>
              <a:p>
                <a:r>
                  <a:rPr lang="en-US" sz="2400" dirty="0"/>
                  <a:t>Estimate: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1+8+4+2</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5+4+6+8</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=−$2</m:t>
                    </m:r>
                  </m:oMath>
                </a14:m>
                <a:endParaRPr lang="en-US" sz="2400" dirty="0"/>
              </a:p>
            </p:txBody>
          </p:sp>
        </mc:Choice>
        <mc:Fallback xmlns="">
          <p:sp>
            <p:nvSpPr>
              <p:cNvPr id="9" name="TextBox 8">
                <a:extLst>
                  <a:ext uri="{FF2B5EF4-FFF2-40B4-BE49-F238E27FC236}">
                    <a16:creationId xmlns:a16="http://schemas.microsoft.com/office/drawing/2014/main" id="{29839169-294E-1F47-FA25-DE7DB4C00907}"/>
                  </a:ext>
                </a:extLst>
              </p:cNvPr>
              <p:cNvSpPr txBox="1">
                <a:spLocks noRot="1" noChangeAspect="1" noMove="1" noResize="1" noEditPoints="1" noAdjustHandles="1" noChangeArrowheads="1" noChangeShapeType="1" noTextEdit="1"/>
              </p:cNvSpPr>
              <p:nvPr/>
            </p:nvSpPr>
            <p:spPr>
              <a:xfrm>
                <a:off x="3883641" y="4485530"/>
                <a:ext cx="4913974" cy="619913"/>
              </a:xfrm>
              <a:prstGeom prst="rect">
                <a:avLst/>
              </a:prstGeom>
              <a:blipFill>
                <a:blip r:embed="rId5"/>
                <a:stretch>
                  <a:fillRect l="-1804" b="-10000"/>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D2883F34-05F8-DDE4-5037-285D679B57BD}"/>
              </a:ext>
            </a:extLst>
          </p:cNvPr>
          <p:cNvSpPr txBox="1"/>
          <p:nvPr/>
        </p:nvSpPr>
        <p:spPr>
          <a:xfrm>
            <a:off x="1618395" y="3864202"/>
            <a:ext cx="8955208" cy="523220"/>
          </a:xfrm>
          <a:prstGeom prst="rect">
            <a:avLst/>
          </a:prstGeom>
          <a:noFill/>
        </p:spPr>
        <p:txBody>
          <a:bodyPr wrap="none" rtlCol="0">
            <a:spAutoFit/>
          </a:bodyPr>
          <a:lstStyle/>
          <a:p>
            <a:r>
              <a:rPr lang="en-US" sz="2800" dirty="0">
                <a:solidFill>
                  <a:schemeClr val="accent1"/>
                </a:solidFill>
              </a:rPr>
              <a:t>What is the ATE of </a:t>
            </a:r>
            <a:r>
              <a:rPr lang="en-US" sz="2800" i="1" dirty="0">
                <a:solidFill>
                  <a:schemeClr val="accent1"/>
                </a:solidFill>
              </a:rPr>
              <a:t>being drafted </a:t>
            </a:r>
            <a:r>
              <a:rPr lang="en-US" sz="2800" dirty="0">
                <a:solidFill>
                  <a:schemeClr val="accent1"/>
                </a:solidFill>
              </a:rPr>
              <a:t>on wages, </a:t>
            </a:r>
            <a:r>
              <a:rPr lang="en-US" sz="2800" b="1" dirty="0">
                <a:solidFill>
                  <a:schemeClr val="accent1"/>
                </a:solidFill>
              </a:rPr>
              <a:t>for everyone</a:t>
            </a:r>
            <a:r>
              <a:rPr lang="en-US" sz="2800" dirty="0">
                <a:solidFill>
                  <a:schemeClr val="accent1"/>
                </a:solidFill>
              </a:rPr>
              <a:t>?</a:t>
            </a:r>
          </a:p>
        </p:txBody>
      </p:sp>
      <p:sp>
        <p:nvSpPr>
          <p:cNvPr id="14" name="TextBox 13">
            <a:extLst>
              <a:ext uri="{FF2B5EF4-FFF2-40B4-BE49-F238E27FC236}">
                <a16:creationId xmlns:a16="http://schemas.microsoft.com/office/drawing/2014/main" id="{6CE693C0-9DB4-0039-3AF7-B08FDF3B44FE}"/>
              </a:ext>
            </a:extLst>
          </p:cNvPr>
          <p:cNvSpPr txBox="1"/>
          <p:nvPr/>
        </p:nvSpPr>
        <p:spPr>
          <a:xfrm>
            <a:off x="9078975" y="4432120"/>
            <a:ext cx="3019523" cy="646331"/>
          </a:xfrm>
          <a:prstGeom prst="rect">
            <a:avLst/>
          </a:prstGeom>
          <a:noFill/>
        </p:spPr>
        <p:txBody>
          <a:bodyPr wrap="square" rtlCol="0">
            <a:spAutoFit/>
          </a:bodyPr>
          <a:lstStyle/>
          <a:p>
            <a:pPr algn="r"/>
            <a:r>
              <a:rPr lang="en-US" dirty="0">
                <a:solidFill>
                  <a:schemeClr val="accent2"/>
                </a:solidFill>
              </a:rPr>
              <a:t>But this doesn’t tell us about the effect of </a:t>
            </a:r>
            <a:r>
              <a:rPr lang="en-US" b="1" dirty="0">
                <a:solidFill>
                  <a:schemeClr val="accent2"/>
                </a:solidFill>
              </a:rPr>
              <a:t>serving</a:t>
            </a:r>
            <a:r>
              <a:rPr lang="en-US" dirty="0">
                <a:solidFill>
                  <a:schemeClr val="accent2"/>
                </a:solidFill>
              </a:rPr>
              <a:t>…</a:t>
            </a:r>
          </a:p>
        </p:txBody>
      </p:sp>
      <p:sp>
        <p:nvSpPr>
          <p:cNvPr id="18" name="Title 1">
            <a:extLst>
              <a:ext uri="{FF2B5EF4-FFF2-40B4-BE49-F238E27FC236}">
                <a16:creationId xmlns:a16="http://schemas.microsoft.com/office/drawing/2014/main" id="{6F3C9FCF-2FC1-C6DC-31CB-80EF751CEF70}"/>
              </a:ext>
            </a:extLst>
          </p:cNvPr>
          <p:cNvSpPr>
            <a:spLocks noGrp="1"/>
          </p:cNvSpPr>
          <p:nvPr>
            <p:ph type="title"/>
          </p:nvPr>
        </p:nvSpPr>
        <p:spPr>
          <a:xfrm>
            <a:off x="817123" y="79394"/>
            <a:ext cx="10515600" cy="1325563"/>
          </a:xfrm>
        </p:spPr>
        <p:txBody>
          <a:bodyPr>
            <a:normAutofit/>
          </a:bodyPr>
          <a:lstStyle/>
          <a:p>
            <a:r>
              <a:rPr lang="en-US" dirty="0"/>
              <a:t>Let’s compute LATE!</a:t>
            </a:r>
            <a:br>
              <a:rPr lang="en-US" dirty="0"/>
            </a:br>
            <a:r>
              <a:rPr lang="en-US" sz="2800" dirty="0"/>
              <a:t>What is the ATE of serving for the compliers?</a:t>
            </a: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A993027-8B11-2742-57CB-79278D548D94}"/>
                  </a:ext>
                </a:extLst>
              </p:cNvPr>
              <p:cNvSpPr txBox="1"/>
              <p:nvPr/>
            </p:nvSpPr>
            <p:spPr>
              <a:xfrm>
                <a:off x="4556648" y="5635089"/>
                <a:ext cx="2729080" cy="614655"/>
              </a:xfrm>
              <a:prstGeom prst="rect">
                <a:avLst/>
              </a:prstGeom>
              <a:noFill/>
            </p:spPr>
            <p:txBody>
              <a:bodyPr wrap="none" rtlCol="0">
                <a:spAutoFit/>
              </a:bodyPr>
              <a:lstStyle/>
              <a:p>
                <a:r>
                  <a:rPr lang="en-US" sz="2400" dirty="0"/>
                  <a:t>Estimate: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a14:m>
                <a:endParaRPr lang="en-US" sz="2400" dirty="0"/>
              </a:p>
            </p:txBody>
          </p:sp>
        </mc:Choice>
        <mc:Fallback xmlns="">
          <p:sp>
            <p:nvSpPr>
              <p:cNvPr id="2" name="TextBox 1">
                <a:extLst>
                  <a:ext uri="{FF2B5EF4-FFF2-40B4-BE49-F238E27FC236}">
                    <a16:creationId xmlns:a16="http://schemas.microsoft.com/office/drawing/2014/main" id="{DA993027-8B11-2742-57CB-79278D548D94}"/>
                  </a:ext>
                </a:extLst>
              </p:cNvPr>
              <p:cNvSpPr txBox="1">
                <a:spLocks noRot="1" noChangeAspect="1" noMove="1" noResize="1" noEditPoints="1" noAdjustHandles="1" noChangeArrowheads="1" noChangeShapeType="1" noTextEdit="1"/>
              </p:cNvSpPr>
              <p:nvPr/>
            </p:nvSpPr>
            <p:spPr>
              <a:xfrm>
                <a:off x="4556648" y="5635089"/>
                <a:ext cx="2729080" cy="614655"/>
              </a:xfrm>
              <a:prstGeom prst="rect">
                <a:avLst/>
              </a:prstGeom>
              <a:blipFill>
                <a:blip r:embed="rId6"/>
                <a:stretch>
                  <a:fillRect l="-3241" b="-12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5DA02CBC-1EBE-D6D6-F044-3779D312D103}"/>
              </a:ext>
            </a:extLst>
          </p:cNvPr>
          <p:cNvSpPr txBox="1"/>
          <p:nvPr/>
        </p:nvSpPr>
        <p:spPr>
          <a:xfrm>
            <a:off x="1618395" y="5204278"/>
            <a:ext cx="9080050" cy="523220"/>
          </a:xfrm>
          <a:prstGeom prst="rect">
            <a:avLst/>
          </a:prstGeom>
          <a:noFill/>
        </p:spPr>
        <p:txBody>
          <a:bodyPr wrap="none" rtlCol="0">
            <a:spAutoFit/>
          </a:bodyPr>
          <a:lstStyle/>
          <a:p>
            <a:r>
              <a:rPr lang="en-US" sz="2800" dirty="0">
                <a:solidFill>
                  <a:schemeClr val="accent1"/>
                </a:solidFill>
              </a:rPr>
              <a:t>What is the ATE of </a:t>
            </a:r>
            <a:r>
              <a:rPr lang="en-US" sz="2800" i="1" dirty="0">
                <a:solidFill>
                  <a:schemeClr val="accent1"/>
                </a:solidFill>
              </a:rPr>
              <a:t>being drafted</a:t>
            </a:r>
            <a:r>
              <a:rPr lang="en-US" sz="2800" dirty="0">
                <a:solidFill>
                  <a:schemeClr val="accent1"/>
                </a:solidFill>
              </a:rPr>
              <a:t> on </a:t>
            </a:r>
            <a:r>
              <a:rPr lang="en-US" sz="2800" i="1" dirty="0">
                <a:solidFill>
                  <a:schemeClr val="accent1"/>
                </a:solidFill>
              </a:rPr>
              <a:t>serving</a:t>
            </a:r>
            <a:r>
              <a:rPr lang="en-US" sz="2800" dirty="0">
                <a:solidFill>
                  <a:schemeClr val="accent1"/>
                </a:solidFill>
              </a:rPr>
              <a:t>, </a:t>
            </a:r>
            <a:r>
              <a:rPr lang="en-US" sz="2800" b="1" dirty="0">
                <a:solidFill>
                  <a:schemeClr val="accent1"/>
                </a:solidFill>
              </a:rPr>
              <a:t>for everyone</a:t>
            </a:r>
            <a:r>
              <a:rPr lang="en-US" sz="2800" dirty="0">
                <a:solidFill>
                  <a:schemeClr val="accent1"/>
                </a:solidFill>
              </a:rPr>
              <a:t>?</a:t>
            </a:r>
          </a:p>
        </p:txBody>
      </p:sp>
      <p:sp>
        <p:nvSpPr>
          <p:cNvPr id="16" name="TextBox 15">
            <a:extLst>
              <a:ext uri="{FF2B5EF4-FFF2-40B4-BE49-F238E27FC236}">
                <a16:creationId xmlns:a16="http://schemas.microsoft.com/office/drawing/2014/main" id="{4C72C490-F554-1717-14DD-F30C933B1A82}"/>
              </a:ext>
            </a:extLst>
          </p:cNvPr>
          <p:cNvSpPr txBox="1"/>
          <p:nvPr/>
        </p:nvSpPr>
        <p:spPr>
          <a:xfrm>
            <a:off x="1644883" y="6282744"/>
            <a:ext cx="6465744" cy="523220"/>
          </a:xfrm>
          <a:prstGeom prst="rect">
            <a:avLst/>
          </a:prstGeom>
          <a:noFill/>
        </p:spPr>
        <p:txBody>
          <a:bodyPr wrap="none" rtlCol="0">
            <a:spAutoFit/>
          </a:bodyPr>
          <a:lstStyle/>
          <a:p>
            <a:r>
              <a:rPr lang="en-US" sz="2800" dirty="0">
                <a:solidFill>
                  <a:schemeClr val="accent1"/>
                </a:solidFill>
              </a:rPr>
              <a:t>What is the first divided by the second?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FE6BDA3-73EF-A04F-F765-940786EE95F3}"/>
                  </a:ext>
                </a:extLst>
              </p:cNvPr>
              <p:cNvSpPr txBox="1"/>
              <p:nvPr/>
            </p:nvSpPr>
            <p:spPr>
              <a:xfrm>
                <a:off x="7935841" y="6282744"/>
                <a:ext cx="2286267" cy="523220"/>
              </a:xfrm>
              <a:prstGeom prst="rect">
                <a:avLst/>
              </a:prstGeom>
              <a:noFill/>
            </p:spPr>
            <p:txBody>
              <a:bodyPr wrap="square">
                <a:spAutoFit/>
              </a:bodyPr>
              <a:lstStyle/>
              <a:p>
                <a14:m>
                  <m:oMath xmlns:m="http://schemas.openxmlformats.org/officeDocument/2006/math">
                    <m:r>
                      <a:rPr lang="en-US" sz="2800" b="0" i="1" smtClean="0">
                        <a:latin typeface="Cambria Math" panose="02040503050406030204" pitchFamily="18" charset="0"/>
                      </a:rPr>
                      <m:t>−$4</m:t>
                    </m:r>
                  </m:oMath>
                </a14:m>
                <a:r>
                  <a:rPr lang="en-US" sz="2800" dirty="0"/>
                  <a:t> = LATE!</a:t>
                </a:r>
              </a:p>
            </p:txBody>
          </p:sp>
        </mc:Choice>
        <mc:Fallback xmlns="">
          <p:sp>
            <p:nvSpPr>
              <p:cNvPr id="19" name="TextBox 18">
                <a:extLst>
                  <a:ext uri="{FF2B5EF4-FFF2-40B4-BE49-F238E27FC236}">
                    <a16:creationId xmlns:a16="http://schemas.microsoft.com/office/drawing/2014/main" id="{1FE6BDA3-73EF-A04F-F765-940786EE95F3}"/>
                  </a:ext>
                </a:extLst>
              </p:cNvPr>
              <p:cNvSpPr txBox="1">
                <a:spLocks noRot="1" noChangeAspect="1" noMove="1" noResize="1" noEditPoints="1" noAdjustHandles="1" noChangeArrowheads="1" noChangeShapeType="1" noTextEdit="1"/>
              </p:cNvSpPr>
              <p:nvPr/>
            </p:nvSpPr>
            <p:spPr>
              <a:xfrm>
                <a:off x="7935841" y="6282744"/>
                <a:ext cx="2286267" cy="523220"/>
              </a:xfrm>
              <a:prstGeom prst="rect">
                <a:avLst/>
              </a:prstGeom>
              <a:blipFill>
                <a:blip r:embed="rId7"/>
                <a:stretch>
                  <a:fillRect t="-11905" b="-33333"/>
                </a:stretch>
              </a:blipFill>
            </p:spPr>
            <p:txBody>
              <a:bodyPr/>
              <a:lstStyle/>
              <a:p>
                <a:r>
                  <a:rPr lang="en-US">
                    <a:noFill/>
                  </a:rPr>
                  <a:t> </a:t>
                </a:r>
              </a:p>
            </p:txBody>
          </p:sp>
        </mc:Fallback>
      </mc:AlternateContent>
    </p:spTree>
    <p:extLst>
      <p:ext uri="{BB962C8B-B14F-4D97-AF65-F5344CB8AC3E}">
        <p14:creationId xmlns:p14="http://schemas.microsoft.com/office/powerpoint/2010/main" val="110107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6" grpId="0"/>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angle 101">
            <a:extLst>
              <a:ext uri="{FF2B5EF4-FFF2-40B4-BE49-F238E27FC236}">
                <a16:creationId xmlns:a16="http://schemas.microsoft.com/office/drawing/2014/main" id="{F05D0732-C0FF-4A3C-599C-3293D66C2FE4}"/>
              </a:ext>
            </a:extLst>
          </p:cNvPr>
          <p:cNvSpPr/>
          <p:nvPr/>
        </p:nvSpPr>
        <p:spPr>
          <a:xfrm>
            <a:off x="7600013" y="4137285"/>
            <a:ext cx="4606977" cy="273570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DC5B861-87D8-6484-E396-5ABB3BD7AC2E}"/>
              </a:ext>
            </a:extLst>
          </p:cNvPr>
          <p:cNvSpPr>
            <a:spLocks noGrp="1"/>
          </p:cNvSpPr>
          <p:nvPr>
            <p:ph idx="1"/>
          </p:nvPr>
        </p:nvSpPr>
        <p:spPr>
          <a:xfrm>
            <a:off x="817123" y="1931208"/>
            <a:ext cx="10515600" cy="2385542"/>
          </a:xfrm>
        </p:spPr>
        <p:txBody>
          <a:bodyPr>
            <a:normAutofit/>
          </a:bodyPr>
          <a:lstStyle/>
          <a:p>
            <a:pPr marL="0" indent="0">
              <a:buNone/>
            </a:pPr>
            <a:r>
              <a:rPr lang="en-US" dirty="0">
                <a:solidFill>
                  <a:schemeClr val="bg2">
                    <a:lumMod val="75000"/>
                  </a:schemeClr>
                </a:solidFill>
              </a:rPr>
              <a:t>0.  Assume there are no defiers in the population.</a:t>
            </a:r>
          </a:p>
          <a:p>
            <a:pPr marL="514350" indent="-514350">
              <a:buFont typeface="+mj-lt"/>
              <a:buAutoNum type="arabicPeriod"/>
            </a:pPr>
            <a:r>
              <a:rPr lang="en-US" dirty="0"/>
              <a:t>Estimate the ATE of being drafted on wages (for everyone)</a:t>
            </a:r>
          </a:p>
          <a:p>
            <a:pPr marL="514350" indent="-514350">
              <a:buFont typeface="+mj-lt"/>
              <a:buAutoNum type="arabicPeriod"/>
            </a:pPr>
            <a:r>
              <a:rPr lang="en-US" dirty="0"/>
              <a:t>Estimate the ATE of being drafted on serving (for everyone)</a:t>
            </a:r>
          </a:p>
          <a:p>
            <a:pPr marL="514350" indent="-514350">
              <a:buFont typeface="+mj-lt"/>
              <a:buAutoNum type="arabicPeriod"/>
            </a:pPr>
            <a:r>
              <a:rPr lang="en-US" dirty="0"/>
              <a:t>Divide (1) by (2) and assert that this is the LATE! </a:t>
            </a:r>
          </a:p>
        </p:txBody>
      </p:sp>
      <p:sp>
        <p:nvSpPr>
          <p:cNvPr id="18" name="Title 1">
            <a:extLst>
              <a:ext uri="{FF2B5EF4-FFF2-40B4-BE49-F238E27FC236}">
                <a16:creationId xmlns:a16="http://schemas.microsoft.com/office/drawing/2014/main" id="{6F3C9FCF-2FC1-C6DC-31CB-80EF751CEF70}"/>
              </a:ext>
            </a:extLst>
          </p:cNvPr>
          <p:cNvSpPr>
            <a:spLocks noGrp="1"/>
          </p:cNvSpPr>
          <p:nvPr>
            <p:ph type="title"/>
          </p:nvPr>
        </p:nvSpPr>
        <p:spPr>
          <a:xfrm>
            <a:off x="817123" y="319237"/>
            <a:ext cx="10515600" cy="1325563"/>
          </a:xfrm>
        </p:spPr>
        <p:txBody>
          <a:bodyPr>
            <a:normAutofit/>
          </a:bodyPr>
          <a:lstStyle/>
          <a:p>
            <a:r>
              <a:rPr lang="en-US" dirty="0"/>
              <a:t>Computing LATE</a:t>
            </a:r>
            <a:br>
              <a:rPr lang="en-US" dirty="0"/>
            </a:br>
            <a:r>
              <a:rPr lang="en-US" sz="2800" dirty="0"/>
              <a:t>The ATE of serving on wages, for the compliers</a:t>
            </a:r>
            <a:endParaRPr lang="en-US" dirty="0"/>
          </a:p>
        </p:txBody>
      </p:sp>
      <p:grpSp>
        <p:nvGrpSpPr>
          <p:cNvPr id="12" name="Group 11">
            <a:extLst>
              <a:ext uri="{FF2B5EF4-FFF2-40B4-BE49-F238E27FC236}">
                <a16:creationId xmlns:a16="http://schemas.microsoft.com/office/drawing/2014/main" id="{8DFBB3BF-0C79-F560-CEF3-75B25DBA6CA7}"/>
              </a:ext>
            </a:extLst>
          </p:cNvPr>
          <p:cNvGrpSpPr/>
          <p:nvPr/>
        </p:nvGrpSpPr>
        <p:grpSpPr>
          <a:xfrm>
            <a:off x="643359" y="4502080"/>
            <a:ext cx="7604163" cy="1852991"/>
            <a:chOff x="-2149960" y="2530116"/>
            <a:chExt cx="7604163" cy="1852991"/>
          </a:xfrm>
        </p:grpSpPr>
        <p:sp>
          <p:nvSpPr>
            <p:cNvPr id="13" name="TextBox 12">
              <a:extLst>
                <a:ext uri="{FF2B5EF4-FFF2-40B4-BE49-F238E27FC236}">
                  <a16:creationId xmlns:a16="http://schemas.microsoft.com/office/drawing/2014/main" id="{C62092B0-B1B0-426A-EB95-B75F293ACEA6}"/>
                </a:ext>
              </a:extLst>
            </p:cNvPr>
            <p:cNvSpPr txBox="1"/>
            <p:nvPr/>
          </p:nvSpPr>
          <p:spPr>
            <a:xfrm>
              <a:off x="81074" y="2736856"/>
              <a:ext cx="5373129" cy="954107"/>
            </a:xfrm>
            <a:prstGeom prst="rect">
              <a:avLst/>
            </a:prstGeom>
            <a:noFill/>
          </p:spPr>
          <p:txBody>
            <a:bodyPr wrap="square">
              <a:spAutoFit/>
            </a:bodyPr>
            <a:lstStyle/>
            <a:p>
              <a:r>
                <a:rPr lang="en-US" sz="2800" b="1" dirty="0">
                  <a:solidFill>
                    <a:schemeClr val="accent1"/>
                  </a:solidFill>
                </a:rPr>
                <a:t>Discuss: </a:t>
              </a:r>
            </a:p>
            <a:p>
              <a:r>
                <a:rPr lang="en-US" sz="2800" dirty="0">
                  <a:solidFill>
                    <a:schemeClr val="accent1"/>
                  </a:solidFill>
                </a:rPr>
                <a:t>Why does this work???</a:t>
              </a:r>
            </a:p>
          </p:txBody>
        </p:sp>
        <p:pic>
          <p:nvPicPr>
            <p:cNvPr id="15" name="Picture 14">
              <a:extLst>
                <a:ext uri="{FF2B5EF4-FFF2-40B4-BE49-F238E27FC236}">
                  <a16:creationId xmlns:a16="http://schemas.microsoft.com/office/drawing/2014/main" id="{8E068D22-5C27-3B47-9E0B-30A2C7ABF67A}"/>
                </a:ext>
              </a:extLst>
            </p:cNvPr>
            <p:cNvPicPr>
              <a:picLocks noChangeAspect="1"/>
            </p:cNvPicPr>
            <p:nvPr/>
          </p:nvPicPr>
          <p:blipFill>
            <a:blip r:embed="rId3"/>
            <a:stretch>
              <a:fillRect/>
            </a:stretch>
          </p:blipFill>
          <p:spPr>
            <a:xfrm>
              <a:off x="-2149960" y="2530116"/>
              <a:ext cx="2090000" cy="1852991"/>
            </a:xfrm>
            <a:prstGeom prst="rect">
              <a:avLst/>
            </a:prstGeom>
          </p:spPr>
        </p:pic>
      </p:grpSp>
      <p:grpSp>
        <p:nvGrpSpPr>
          <p:cNvPr id="98" name="Group 97">
            <a:extLst>
              <a:ext uri="{FF2B5EF4-FFF2-40B4-BE49-F238E27FC236}">
                <a16:creationId xmlns:a16="http://schemas.microsoft.com/office/drawing/2014/main" id="{D6C8B901-FDA4-9B3F-49F1-5B10517DA6B8}"/>
              </a:ext>
            </a:extLst>
          </p:cNvPr>
          <p:cNvGrpSpPr/>
          <p:nvPr/>
        </p:nvGrpSpPr>
        <p:grpSpPr>
          <a:xfrm>
            <a:off x="9303802" y="4261773"/>
            <a:ext cx="2425013" cy="1069285"/>
            <a:chOff x="1236312" y="7159020"/>
            <a:chExt cx="4019406" cy="1772315"/>
          </a:xfrm>
        </p:grpSpPr>
        <p:grpSp>
          <p:nvGrpSpPr>
            <p:cNvPr id="65" name="Group 64">
              <a:extLst>
                <a:ext uri="{FF2B5EF4-FFF2-40B4-BE49-F238E27FC236}">
                  <a16:creationId xmlns:a16="http://schemas.microsoft.com/office/drawing/2014/main" id="{F2A96020-B904-F9F6-332A-F7EF7AC0F035}"/>
                </a:ext>
              </a:extLst>
            </p:cNvPr>
            <p:cNvGrpSpPr/>
            <p:nvPr/>
          </p:nvGrpSpPr>
          <p:grpSpPr>
            <a:xfrm>
              <a:off x="1236312" y="7159020"/>
              <a:ext cx="869829" cy="1364322"/>
              <a:chOff x="8012095" y="8705"/>
              <a:chExt cx="869829" cy="1364322"/>
            </a:xfrm>
          </p:grpSpPr>
          <p:pic>
            <p:nvPicPr>
              <p:cNvPr id="66" name="Picture 65">
                <a:extLst>
                  <a:ext uri="{FF2B5EF4-FFF2-40B4-BE49-F238E27FC236}">
                    <a16:creationId xmlns:a16="http://schemas.microsoft.com/office/drawing/2014/main" id="{95E0A86D-C918-815D-AF00-1D292B65D980}"/>
                  </a:ext>
                </a:extLst>
              </p:cNvPr>
              <p:cNvPicPr>
                <a:picLocks noChangeAspect="1"/>
              </p:cNvPicPr>
              <p:nvPr/>
            </p:nvPicPr>
            <p:blipFill>
              <a:blip r:embed="rId4"/>
              <a:stretch>
                <a:fillRect/>
              </a:stretch>
            </p:blipFill>
            <p:spPr>
              <a:xfrm>
                <a:off x="8012095" y="59679"/>
                <a:ext cx="869829" cy="1313348"/>
              </a:xfrm>
              <a:prstGeom prst="rect">
                <a:avLst/>
              </a:prstGeom>
            </p:spPr>
          </p:pic>
          <p:pic>
            <p:nvPicPr>
              <p:cNvPr id="67" name="Picture 4" descr="Military Beret Cap With Star PNG &amp; SVG Design For T-Shirts">
                <a:extLst>
                  <a:ext uri="{FF2B5EF4-FFF2-40B4-BE49-F238E27FC236}">
                    <a16:creationId xmlns:a16="http://schemas.microsoft.com/office/drawing/2014/main" id="{5BBB1F38-089C-2410-55C4-31086D9B6F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nvGrpSpPr>
            <p:cNvPr id="68" name="Group 67">
              <a:extLst>
                <a:ext uri="{FF2B5EF4-FFF2-40B4-BE49-F238E27FC236}">
                  <a16:creationId xmlns:a16="http://schemas.microsoft.com/office/drawing/2014/main" id="{D004EBF2-8592-6B1E-FA11-ADAD0781F645}"/>
                </a:ext>
              </a:extLst>
            </p:cNvPr>
            <p:cNvGrpSpPr/>
            <p:nvPr/>
          </p:nvGrpSpPr>
          <p:grpSpPr>
            <a:xfrm>
              <a:off x="2129784" y="7216268"/>
              <a:ext cx="869829" cy="1364322"/>
              <a:chOff x="5977847" y="52988"/>
              <a:chExt cx="869829" cy="1364322"/>
            </a:xfrm>
          </p:grpSpPr>
          <p:pic>
            <p:nvPicPr>
              <p:cNvPr id="69" name="Picture 68">
                <a:extLst>
                  <a:ext uri="{FF2B5EF4-FFF2-40B4-BE49-F238E27FC236}">
                    <a16:creationId xmlns:a16="http://schemas.microsoft.com/office/drawing/2014/main" id="{F206186F-58EC-F429-48DF-2A002232953C}"/>
                  </a:ext>
                </a:extLst>
              </p:cNvPr>
              <p:cNvPicPr>
                <a:picLocks noChangeAspect="1"/>
              </p:cNvPicPr>
              <p:nvPr/>
            </p:nvPicPr>
            <p:blipFill>
              <a:blip r:embed="rId4"/>
              <a:stretch>
                <a:fillRect/>
              </a:stretch>
            </p:blipFill>
            <p:spPr>
              <a:xfrm>
                <a:off x="5977847" y="103962"/>
                <a:ext cx="869829" cy="1313348"/>
              </a:xfrm>
              <a:prstGeom prst="rect">
                <a:avLst/>
              </a:prstGeom>
            </p:spPr>
          </p:pic>
          <p:pic>
            <p:nvPicPr>
              <p:cNvPr id="70" name="Picture 4" descr="Military Beret Cap With Star PNG &amp; SVG Design For T-Shirts">
                <a:extLst>
                  <a:ext uri="{FF2B5EF4-FFF2-40B4-BE49-F238E27FC236}">
                    <a16:creationId xmlns:a16="http://schemas.microsoft.com/office/drawing/2014/main" id="{E247AC68-04FF-B929-908B-EF907CB2A8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6219" y="52988"/>
                <a:ext cx="515023" cy="515023"/>
              </a:xfrm>
              <a:prstGeom prst="rect">
                <a:avLst/>
              </a:prstGeom>
              <a:extLst>
                <a:ext uri="{909E8E84-426E-40DD-AFC4-6F175D3DCCD1}">
                  <a14:hiddenFill xmlns:a14="http://schemas.microsoft.com/office/drawing/2010/main">
                    <a:solidFill>
                      <a:srgbClr val="FFFFFF"/>
                    </a:solidFill>
                  </a14:hiddenFill>
                </a:ext>
              </a:extLst>
            </p:spPr>
          </p:pic>
        </p:grpSp>
        <p:grpSp>
          <p:nvGrpSpPr>
            <p:cNvPr id="80" name="Group 79">
              <a:extLst>
                <a:ext uri="{FF2B5EF4-FFF2-40B4-BE49-F238E27FC236}">
                  <a16:creationId xmlns:a16="http://schemas.microsoft.com/office/drawing/2014/main" id="{58D68305-0F16-A89B-2A5E-CBEF6253A1C7}"/>
                </a:ext>
              </a:extLst>
            </p:cNvPr>
            <p:cNvGrpSpPr/>
            <p:nvPr/>
          </p:nvGrpSpPr>
          <p:grpSpPr>
            <a:xfrm>
              <a:off x="4324422" y="7355382"/>
              <a:ext cx="713276" cy="1243964"/>
              <a:chOff x="10892325" y="4649891"/>
              <a:chExt cx="713276" cy="1243964"/>
            </a:xfrm>
          </p:grpSpPr>
          <p:pic>
            <p:nvPicPr>
              <p:cNvPr id="81" name="Picture 7" descr="Adoptable Rabbits | morabbit">
                <a:extLst>
                  <a:ext uri="{FF2B5EF4-FFF2-40B4-BE49-F238E27FC236}">
                    <a16:creationId xmlns:a16="http://schemas.microsoft.com/office/drawing/2014/main" id="{1007AC58-A19F-6424-64A2-D7C9A8386C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0892325" y="4719510"/>
                <a:ext cx="713276" cy="1174345"/>
              </a:xfrm>
              <a:prstGeom prst="rect">
                <a:avLst/>
              </a:prstGeom>
              <a:extLst>
                <a:ext uri="{909E8E84-426E-40DD-AFC4-6F175D3DCCD1}">
                  <a14:hiddenFill xmlns:a14="http://schemas.microsoft.com/office/drawing/2010/main">
                    <a:solidFill>
                      <a:srgbClr val="FFFFFF"/>
                    </a:solidFill>
                  </a14:hiddenFill>
                </a:ext>
              </a:extLst>
            </p:spPr>
          </p:pic>
          <p:pic>
            <p:nvPicPr>
              <p:cNvPr id="82" name="Picture 4" descr="Military Beret Cap With Star PNG &amp; SVG Design For T-Shirts">
                <a:extLst>
                  <a:ext uri="{FF2B5EF4-FFF2-40B4-BE49-F238E27FC236}">
                    <a16:creationId xmlns:a16="http://schemas.microsoft.com/office/drawing/2014/main" id="{45B07796-C1D8-4F08-12CA-D5B304F6E0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96355" y="4649891"/>
                <a:ext cx="419009" cy="419009"/>
              </a:xfrm>
              <a:prstGeom prst="rect">
                <a:avLst/>
              </a:prstGeom>
              <a:extLst>
                <a:ext uri="{909E8E84-426E-40DD-AFC4-6F175D3DCCD1}">
                  <a14:hiddenFill xmlns:a14="http://schemas.microsoft.com/office/drawing/2010/main">
                    <a:solidFill>
                      <a:srgbClr val="FFFFFF"/>
                    </a:solidFill>
                  </a14:hiddenFill>
                </a:ext>
              </a:extLst>
            </p:spPr>
          </p:pic>
        </p:grpSp>
        <p:grpSp>
          <p:nvGrpSpPr>
            <p:cNvPr id="86" name="Group 85">
              <a:extLst>
                <a:ext uri="{FF2B5EF4-FFF2-40B4-BE49-F238E27FC236}">
                  <a16:creationId xmlns:a16="http://schemas.microsoft.com/office/drawing/2014/main" id="{4C6C57E7-59A9-F9E4-BDE3-A658C5751C92}"/>
                </a:ext>
              </a:extLst>
            </p:cNvPr>
            <p:cNvGrpSpPr/>
            <p:nvPr/>
          </p:nvGrpSpPr>
          <p:grpSpPr>
            <a:xfrm>
              <a:off x="3240767" y="7501091"/>
              <a:ext cx="837121" cy="871095"/>
              <a:chOff x="11049043" y="1529688"/>
              <a:chExt cx="837121" cy="871095"/>
            </a:xfrm>
          </p:grpSpPr>
          <p:pic>
            <p:nvPicPr>
              <p:cNvPr id="87" name="Picture 86">
                <a:extLst>
                  <a:ext uri="{FF2B5EF4-FFF2-40B4-BE49-F238E27FC236}">
                    <a16:creationId xmlns:a16="http://schemas.microsoft.com/office/drawing/2014/main" id="{233B53DA-EF9B-4798-D2DE-C5B158D24D21}"/>
                  </a:ext>
                </a:extLst>
              </p:cNvPr>
              <p:cNvPicPr>
                <a:picLocks noChangeAspect="1"/>
              </p:cNvPicPr>
              <p:nvPr/>
            </p:nvPicPr>
            <p:blipFill>
              <a:blip r:embed="rId7"/>
              <a:stretch>
                <a:fillRect/>
              </a:stretch>
            </p:blipFill>
            <p:spPr>
              <a:xfrm>
                <a:off x="11049043" y="1529688"/>
                <a:ext cx="687021" cy="871095"/>
              </a:xfrm>
              <a:prstGeom prst="rect">
                <a:avLst/>
              </a:prstGeom>
            </p:spPr>
          </p:pic>
          <p:pic>
            <p:nvPicPr>
              <p:cNvPr id="88" name="Picture 6" descr="Tie Dye T-Shirt - Classic Rainbow Spiral - Psychedelic Shirt">
                <a:extLst>
                  <a:ext uri="{FF2B5EF4-FFF2-40B4-BE49-F238E27FC236}">
                    <a16:creationId xmlns:a16="http://schemas.microsoft.com/office/drawing/2014/main" id="{B477F776-467A-CD4A-C228-4C29B330810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 b="44407"/>
              <a:stretch/>
            </p:blipFill>
            <p:spPr bwMode="auto">
              <a:xfrm>
                <a:off x="11051733" y="1824982"/>
                <a:ext cx="834431" cy="431332"/>
              </a:xfrm>
              <a:prstGeom prst="rect">
                <a:avLst/>
              </a:prstGeom>
              <a:extLst>
                <a:ext uri="{909E8E84-426E-40DD-AFC4-6F175D3DCCD1}">
                  <a14:hiddenFill xmlns:a14="http://schemas.microsoft.com/office/drawing/2010/main">
                    <a:solidFill>
                      <a:srgbClr val="FFFFFF"/>
                    </a:solidFill>
                  </a14:hiddenFill>
                </a:ext>
              </a:extLst>
            </p:spPr>
          </p:pic>
        </p:grpSp>
        <p:sp>
          <p:nvSpPr>
            <p:cNvPr id="90" name="TextBox 89">
              <a:extLst>
                <a:ext uri="{FF2B5EF4-FFF2-40B4-BE49-F238E27FC236}">
                  <a16:creationId xmlns:a16="http://schemas.microsoft.com/office/drawing/2014/main" id="{55AC1C59-45C1-9732-146E-5C8DEC4068C6}"/>
                </a:ext>
              </a:extLst>
            </p:cNvPr>
            <p:cNvSpPr txBox="1"/>
            <p:nvPr/>
          </p:nvSpPr>
          <p:spPr>
            <a:xfrm>
              <a:off x="1470073" y="8452288"/>
              <a:ext cx="869828" cy="369332"/>
            </a:xfrm>
            <a:prstGeom prst="rect">
              <a:avLst/>
            </a:prstGeom>
            <a:noFill/>
          </p:spPr>
          <p:txBody>
            <a:bodyPr wrap="square" rtlCol="0">
              <a:spAutoFit/>
            </a:bodyPr>
            <a:lstStyle/>
            <a:p>
              <a:r>
                <a:rPr lang="en-US" dirty="0"/>
                <a:t>$1</a:t>
              </a:r>
            </a:p>
          </p:txBody>
        </p:sp>
        <p:sp>
          <p:nvSpPr>
            <p:cNvPr id="91" name="TextBox 90">
              <a:extLst>
                <a:ext uri="{FF2B5EF4-FFF2-40B4-BE49-F238E27FC236}">
                  <a16:creationId xmlns:a16="http://schemas.microsoft.com/office/drawing/2014/main" id="{AC35CB93-DB85-19D0-C28E-D06CF201E978}"/>
                </a:ext>
              </a:extLst>
            </p:cNvPr>
            <p:cNvSpPr txBox="1"/>
            <p:nvPr/>
          </p:nvSpPr>
          <p:spPr>
            <a:xfrm>
              <a:off x="2312450" y="8462329"/>
              <a:ext cx="869828" cy="369332"/>
            </a:xfrm>
            <a:prstGeom prst="rect">
              <a:avLst/>
            </a:prstGeom>
            <a:noFill/>
          </p:spPr>
          <p:txBody>
            <a:bodyPr wrap="square" rtlCol="0">
              <a:spAutoFit/>
            </a:bodyPr>
            <a:lstStyle/>
            <a:p>
              <a:r>
                <a:rPr lang="en-US" dirty="0"/>
                <a:t>$2</a:t>
              </a:r>
            </a:p>
          </p:txBody>
        </p:sp>
        <p:sp>
          <p:nvSpPr>
            <p:cNvPr id="92" name="TextBox 91">
              <a:extLst>
                <a:ext uri="{FF2B5EF4-FFF2-40B4-BE49-F238E27FC236}">
                  <a16:creationId xmlns:a16="http://schemas.microsoft.com/office/drawing/2014/main" id="{FECAB209-8A8C-C1D5-9D54-44B25783F17D}"/>
                </a:ext>
              </a:extLst>
            </p:cNvPr>
            <p:cNvSpPr txBox="1"/>
            <p:nvPr/>
          </p:nvSpPr>
          <p:spPr>
            <a:xfrm>
              <a:off x="4385890" y="8474970"/>
              <a:ext cx="869828" cy="369332"/>
            </a:xfrm>
            <a:prstGeom prst="rect">
              <a:avLst/>
            </a:prstGeom>
            <a:noFill/>
          </p:spPr>
          <p:txBody>
            <a:bodyPr wrap="square" rtlCol="0">
              <a:spAutoFit/>
            </a:bodyPr>
            <a:lstStyle/>
            <a:p>
              <a:r>
                <a:rPr lang="en-US" dirty="0"/>
                <a:t>$8</a:t>
              </a:r>
            </a:p>
          </p:txBody>
        </p:sp>
        <p:sp>
          <p:nvSpPr>
            <p:cNvPr id="94" name="TextBox 93">
              <a:extLst>
                <a:ext uri="{FF2B5EF4-FFF2-40B4-BE49-F238E27FC236}">
                  <a16:creationId xmlns:a16="http://schemas.microsoft.com/office/drawing/2014/main" id="{371520E8-4A08-497A-D181-526B1375C494}"/>
                </a:ext>
              </a:extLst>
            </p:cNvPr>
            <p:cNvSpPr txBox="1"/>
            <p:nvPr/>
          </p:nvSpPr>
          <p:spPr>
            <a:xfrm>
              <a:off x="3380594" y="8403550"/>
              <a:ext cx="834432" cy="527785"/>
            </a:xfrm>
            <a:prstGeom prst="rect">
              <a:avLst/>
            </a:prstGeom>
            <a:noFill/>
          </p:spPr>
          <p:txBody>
            <a:bodyPr wrap="square" rtlCol="0">
              <a:spAutoFit/>
            </a:bodyPr>
            <a:lstStyle/>
            <a:p>
              <a:r>
                <a:rPr lang="en-US" dirty="0"/>
                <a:t>$4</a:t>
              </a:r>
            </a:p>
          </p:txBody>
        </p:sp>
      </p:grpSp>
      <p:grpSp>
        <p:nvGrpSpPr>
          <p:cNvPr id="99" name="Group 98">
            <a:extLst>
              <a:ext uri="{FF2B5EF4-FFF2-40B4-BE49-F238E27FC236}">
                <a16:creationId xmlns:a16="http://schemas.microsoft.com/office/drawing/2014/main" id="{C6E80CBD-C74E-047D-464E-33E43940666F}"/>
              </a:ext>
            </a:extLst>
          </p:cNvPr>
          <p:cNvGrpSpPr/>
          <p:nvPr/>
        </p:nvGrpSpPr>
        <p:grpSpPr>
          <a:xfrm>
            <a:off x="9205833" y="5499083"/>
            <a:ext cx="2615764" cy="1194363"/>
            <a:chOff x="7328356" y="7170551"/>
            <a:chExt cx="3921742" cy="1790675"/>
          </a:xfrm>
        </p:grpSpPr>
        <p:grpSp>
          <p:nvGrpSpPr>
            <p:cNvPr id="71" name="Group 70">
              <a:extLst>
                <a:ext uri="{FF2B5EF4-FFF2-40B4-BE49-F238E27FC236}">
                  <a16:creationId xmlns:a16="http://schemas.microsoft.com/office/drawing/2014/main" id="{23C39AE8-ACED-C23E-CB0A-96A76B7A9379}"/>
                </a:ext>
              </a:extLst>
            </p:cNvPr>
            <p:cNvGrpSpPr/>
            <p:nvPr/>
          </p:nvGrpSpPr>
          <p:grpSpPr>
            <a:xfrm>
              <a:off x="7328356" y="7209072"/>
              <a:ext cx="869829" cy="1313348"/>
              <a:chOff x="7999130" y="1323857"/>
              <a:chExt cx="869829" cy="1313348"/>
            </a:xfrm>
          </p:grpSpPr>
          <p:pic>
            <p:nvPicPr>
              <p:cNvPr id="72" name="Picture 71">
                <a:extLst>
                  <a:ext uri="{FF2B5EF4-FFF2-40B4-BE49-F238E27FC236}">
                    <a16:creationId xmlns:a16="http://schemas.microsoft.com/office/drawing/2014/main" id="{CA0025E2-3345-12CC-64EB-8B99C2BEEE4B}"/>
                  </a:ext>
                </a:extLst>
              </p:cNvPr>
              <p:cNvPicPr>
                <a:picLocks noChangeAspect="1"/>
              </p:cNvPicPr>
              <p:nvPr/>
            </p:nvPicPr>
            <p:blipFill>
              <a:blip r:embed="rId4"/>
              <a:stretch>
                <a:fillRect/>
              </a:stretch>
            </p:blipFill>
            <p:spPr>
              <a:xfrm>
                <a:off x="7999130" y="1323857"/>
                <a:ext cx="869829" cy="1313348"/>
              </a:xfrm>
              <a:prstGeom prst="rect">
                <a:avLst/>
              </a:prstGeom>
            </p:spPr>
          </p:pic>
          <p:pic>
            <p:nvPicPr>
              <p:cNvPr id="73" name="Picture 6" descr="Tie Dye T-Shirt - Classic Rainbow Spiral - Psychedelic Shirt">
                <a:extLst>
                  <a:ext uri="{FF2B5EF4-FFF2-40B4-BE49-F238E27FC236}">
                    <a16:creationId xmlns:a16="http://schemas.microsoft.com/office/drawing/2014/main" id="{6BC828DB-A064-10E1-FD6D-B7A962C3D04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74" name="Group 73">
              <a:extLst>
                <a:ext uri="{FF2B5EF4-FFF2-40B4-BE49-F238E27FC236}">
                  <a16:creationId xmlns:a16="http://schemas.microsoft.com/office/drawing/2014/main" id="{04334C0E-35F6-2190-611E-4609E8A03279}"/>
                </a:ext>
              </a:extLst>
            </p:cNvPr>
            <p:cNvGrpSpPr/>
            <p:nvPr/>
          </p:nvGrpSpPr>
          <p:grpSpPr>
            <a:xfrm>
              <a:off x="8314446" y="7170551"/>
              <a:ext cx="869830" cy="1313348"/>
              <a:chOff x="7103113" y="1297068"/>
              <a:chExt cx="869830" cy="1313348"/>
            </a:xfrm>
          </p:grpSpPr>
          <p:pic>
            <p:nvPicPr>
              <p:cNvPr id="75" name="Picture 74">
                <a:extLst>
                  <a:ext uri="{FF2B5EF4-FFF2-40B4-BE49-F238E27FC236}">
                    <a16:creationId xmlns:a16="http://schemas.microsoft.com/office/drawing/2014/main" id="{A1F6B7D7-77F3-A828-12A3-7FCC88D28D16}"/>
                  </a:ext>
                </a:extLst>
              </p:cNvPr>
              <p:cNvPicPr>
                <a:picLocks noChangeAspect="1"/>
              </p:cNvPicPr>
              <p:nvPr/>
            </p:nvPicPr>
            <p:blipFill>
              <a:blip r:embed="rId4"/>
              <a:stretch>
                <a:fillRect/>
              </a:stretch>
            </p:blipFill>
            <p:spPr>
              <a:xfrm>
                <a:off x="7103113" y="1297068"/>
                <a:ext cx="869830" cy="1313348"/>
              </a:xfrm>
              <a:prstGeom prst="rect">
                <a:avLst/>
              </a:prstGeom>
            </p:spPr>
          </p:pic>
          <p:pic>
            <p:nvPicPr>
              <p:cNvPr id="76" name="Picture 6" descr="Tie Dye T-Shirt - Classic Rainbow Spiral - Psychedelic Shirt">
                <a:extLst>
                  <a:ext uri="{FF2B5EF4-FFF2-40B4-BE49-F238E27FC236}">
                    <a16:creationId xmlns:a16="http://schemas.microsoft.com/office/drawing/2014/main" id="{6AD2BCD1-625C-447C-6A08-6999254AE24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22682"/>
              <a:stretch/>
            </p:blipFill>
            <p:spPr bwMode="auto">
              <a:xfrm>
                <a:off x="7249997" y="1826731"/>
                <a:ext cx="599974" cy="431330"/>
              </a:xfrm>
              <a:prstGeom prst="rect">
                <a:avLst/>
              </a:prstGeom>
              <a:extLst>
                <a:ext uri="{909E8E84-426E-40DD-AFC4-6F175D3DCCD1}">
                  <a14:hiddenFill xmlns:a14="http://schemas.microsoft.com/office/drawing/2010/main">
                    <a:solidFill>
                      <a:srgbClr val="FFFFFF"/>
                    </a:solidFill>
                  </a14:hiddenFill>
                </a:ext>
              </a:extLst>
            </p:spPr>
          </p:pic>
        </p:grpSp>
        <p:grpSp>
          <p:nvGrpSpPr>
            <p:cNvPr id="77" name="Group 76">
              <a:extLst>
                <a:ext uri="{FF2B5EF4-FFF2-40B4-BE49-F238E27FC236}">
                  <a16:creationId xmlns:a16="http://schemas.microsoft.com/office/drawing/2014/main" id="{1FC4B05A-D0BF-37B7-34B7-B221780B0C7B}"/>
                </a:ext>
              </a:extLst>
            </p:cNvPr>
            <p:cNvGrpSpPr/>
            <p:nvPr/>
          </p:nvGrpSpPr>
          <p:grpSpPr>
            <a:xfrm>
              <a:off x="10217309" y="7266705"/>
              <a:ext cx="713277" cy="1233066"/>
              <a:chOff x="8802420" y="4582488"/>
              <a:chExt cx="713277" cy="1233066"/>
            </a:xfrm>
          </p:grpSpPr>
          <p:pic>
            <p:nvPicPr>
              <p:cNvPr id="78" name="Picture 7" descr="Adoptable Rabbits | morabbit">
                <a:extLst>
                  <a:ext uri="{FF2B5EF4-FFF2-40B4-BE49-F238E27FC236}">
                    <a16:creationId xmlns:a16="http://schemas.microsoft.com/office/drawing/2014/main" id="{39EE9855-CFAA-951D-156C-CD7564E61D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802420" y="4641210"/>
                <a:ext cx="713277" cy="1174344"/>
              </a:xfrm>
              <a:prstGeom prst="rect">
                <a:avLst/>
              </a:prstGeom>
              <a:extLst>
                <a:ext uri="{909E8E84-426E-40DD-AFC4-6F175D3DCCD1}">
                  <a14:hiddenFill xmlns:a14="http://schemas.microsoft.com/office/drawing/2010/main">
                    <a:solidFill>
                      <a:srgbClr val="FFFFFF"/>
                    </a:solidFill>
                  </a14:hiddenFill>
                </a:ext>
              </a:extLst>
            </p:spPr>
          </p:pic>
          <p:pic>
            <p:nvPicPr>
              <p:cNvPr id="79" name="Picture 4" descr="Military Beret Cap With Star PNG &amp; SVG Design For T-Shirts">
                <a:extLst>
                  <a:ext uri="{FF2B5EF4-FFF2-40B4-BE49-F238E27FC236}">
                    <a16:creationId xmlns:a16="http://schemas.microsoft.com/office/drawing/2014/main" id="{C14F6C88-84BE-8548-4A63-93CB91432F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nvGrpSpPr>
            <p:cNvPr id="83" name="Group 82">
              <a:extLst>
                <a:ext uri="{FF2B5EF4-FFF2-40B4-BE49-F238E27FC236}">
                  <a16:creationId xmlns:a16="http://schemas.microsoft.com/office/drawing/2014/main" id="{2DD493C7-7E79-5012-029F-14CB508F2D3C}"/>
                </a:ext>
              </a:extLst>
            </p:cNvPr>
            <p:cNvGrpSpPr/>
            <p:nvPr/>
          </p:nvGrpSpPr>
          <p:grpSpPr>
            <a:xfrm>
              <a:off x="9336611" y="7454333"/>
              <a:ext cx="837122" cy="871095"/>
              <a:chOff x="11930122" y="1522469"/>
              <a:chExt cx="837122" cy="871095"/>
            </a:xfrm>
          </p:grpSpPr>
          <p:pic>
            <p:nvPicPr>
              <p:cNvPr id="84" name="Picture 83">
                <a:extLst>
                  <a:ext uri="{FF2B5EF4-FFF2-40B4-BE49-F238E27FC236}">
                    <a16:creationId xmlns:a16="http://schemas.microsoft.com/office/drawing/2014/main" id="{0D975B0D-CCF7-CA1C-1BFA-84F9A1045243}"/>
                  </a:ext>
                </a:extLst>
              </p:cNvPr>
              <p:cNvPicPr>
                <a:picLocks noChangeAspect="1"/>
              </p:cNvPicPr>
              <p:nvPr/>
            </p:nvPicPr>
            <p:blipFill>
              <a:blip r:embed="rId7"/>
              <a:stretch>
                <a:fillRect/>
              </a:stretch>
            </p:blipFill>
            <p:spPr>
              <a:xfrm>
                <a:off x="11930122" y="1522469"/>
                <a:ext cx="687021" cy="871095"/>
              </a:xfrm>
              <a:prstGeom prst="rect">
                <a:avLst/>
              </a:prstGeom>
            </p:spPr>
          </p:pic>
          <p:pic>
            <p:nvPicPr>
              <p:cNvPr id="85" name="Picture 6" descr="Tie Dye T-Shirt - Classic Rainbow Spiral - Psychedelic Shirt">
                <a:extLst>
                  <a:ext uri="{FF2B5EF4-FFF2-40B4-BE49-F238E27FC236}">
                    <a16:creationId xmlns:a16="http://schemas.microsoft.com/office/drawing/2014/main" id="{DF56B08C-A4AF-554C-91AC-B82DB0E132E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 b="44407"/>
              <a:stretch/>
            </p:blipFill>
            <p:spPr bwMode="auto">
              <a:xfrm>
                <a:off x="11932812" y="1817764"/>
                <a:ext cx="834432" cy="431330"/>
              </a:xfrm>
              <a:prstGeom prst="rect">
                <a:avLst/>
              </a:prstGeom>
              <a:extLst>
                <a:ext uri="{909E8E84-426E-40DD-AFC4-6F175D3DCCD1}">
                  <a14:hiddenFill xmlns:a14="http://schemas.microsoft.com/office/drawing/2010/main">
                    <a:solidFill>
                      <a:srgbClr val="FFFFFF"/>
                    </a:solidFill>
                  </a14:hiddenFill>
                </a:ext>
              </a:extLst>
            </p:spPr>
          </p:pic>
        </p:grpSp>
        <p:sp>
          <p:nvSpPr>
            <p:cNvPr id="93" name="TextBox 92">
              <a:extLst>
                <a:ext uri="{FF2B5EF4-FFF2-40B4-BE49-F238E27FC236}">
                  <a16:creationId xmlns:a16="http://schemas.microsoft.com/office/drawing/2014/main" id="{6C05A37B-06E5-47F6-FDA5-E3F80E62F8BA}"/>
                </a:ext>
              </a:extLst>
            </p:cNvPr>
            <p:cNvSpPr txBox="1"/>
            <p:nvPr/>
          </p:nvSpPr>
          <p:spPr>
            <a:xfrm>
              <a:off x="10380270" y="8442460"/>
              <a:ext cx="869828" cy="369332"/>
            </a:xfrm>
            <a:prstGeom prst="rect">
              <a:avLst/>
            </a:prstGeom>
            <a:noFill/>
          </p:spPr>
          <p:txBody>
            <a:bodyPr wrap="square" rtlCol="0">
              <a:spAutoFit/>
            </a:bodyPr>
            <a:lstStyle/>
            <a:p>
              <a:r>
                <a:rPr lang="en-US" dirty="0"/>
                <a:t>$8</a:t>
              </a:r>
            </a:p>
          </p:txBody>
        </p:sp>
        <p:sp>
          <p:nvSpPr>
            <p:cNvPr id="95" name="TextBox 94">
              <a:extLst>
                <a:ext uri="{FF2B5EF4-FFF2-40B4-BE49-F238E27FC236}">
                  <a16:creationId xmlns:a16="http://schemas.microsoft.com/office/drawing/2014/main" id="{BEFD39D8-9D54-2902-72DC-8C895C83C05C}"/>
                </a:ext>
              </a:extLst>
            </p:cNvPr>
            <p:cNvSpPr txBox="1"/>
            <p:nvPr/>
          </p:nvSpPr>
          <p:spPr>
            <a:xfrm>
              <a:off x="9510016" y="8407497"/>
              <a:ext cx="869828" cy="553729"/>
            </a:xfrm>
            <a:prstGeom prst="rect">
              <a:avLst/>
            </a:prstGeom>
            <a:noFill/>
          </p:spPr>
          <p:txBody>
            <a:bodyPr wrap="square" rtlCol="0">
              <a:spAutoFit/>
            </a:bodyPr>
            <a:lstStyle/>
            <a:p>
              <a:r>
                <a:rPr lang="en-US" dirty="0"/>
                <a:t>$4</a:t>
              </a:r>
            </a:p>
          </p:txBody>
        </p:sp>
        <p:sp>
          <p:nvSpPr>
            <p:cNvPr id="96" name="TextBox 95">
              <a:extLst>
                <a:ext uri="{FF2B5EF4-FFF2-40B4-BE49-F238E27FC236}">
                  <a16:creationId xmlns:a16="http://schemas.microsoft.com/office/drawing/2014/main" id="{C6A3952F-DFE7-9849-5914-A956A9F8075F}"/>
                </a:ext>
              </a:extLst>
            </p:cNvPr>
            <p:cNvSpPr txBox="1"/>
            <p:nvPr/>
          </p:nvSpPr>
          <p:spPr>
            <a:xfrm>
              <a:off x="7517091" y="8490361"/>
              <a:ext cx="869828" cy="369332"/>
            </a:xfrm>
            <a:prstGeom prst="rect">
              <a:avLst/>
            </a:prstGeom>
            <a:noFill/>
          </p:spPr>
          <p:txBody>
            <a:bodyPr wrap="square" rtlCol="0">
              <a:spAutoFit/>
            </a:bodyPr>
            <a:lstStyle/>
            <a:p>
              <a:r>
                <a:rPr lang="en-US" dirty="0"/>
                <a:t>$5</a:t>
              </a:r>
            </a:p>
          </p:txBody>
        </p:sp>
        <p:sp>
          <p:nvSpPr>
            <p:cNvPr id="97" name="TextBox 96">
              <a:extLst>
                <a:ext uri="{FF2B5EF4-FFF2-40B4-BE49-F238E27FC236}">
                  <a16:creationId xmlns:a16="http://schemas.microsoft.com/office/drawing/2014/main" id="{7DFBA384-1FA4-AA0A-BE3D-44FB8F7806BF}"/>
                </a:ext>
              </a:extLst>
            </p:cNvPr>
            <p:cNvSpPr txBox="1"/>
            <p:nvPr/>
          </p:nvSpPr>
          <p:spPr>
            <a:xfrm>
              <a:off x="8574023" y="8407497"/>
              <a:ext cx="869828" cy="369332"/>
            </a:xfrm>
            <a:prstGeom prst="rect">
              <a:avLst/>
            </a:prstGeom>
            <a:noFill/>
          </p:spPr>
          <p:txBody>
            <a:bodyPr wrap="square" rtlCol="0">
              <a:spAutoFit/>
            </a:bodyPr>
            <a:lstStyle/>
            <a:p>
              <a:r>
                <a:rPr lang="en-US" dirty="0"/>
                <a:t>$6</a:t>
              </a:r>
            </a:p>
          </p:txBody>
        </p:sp>
      </p:grpSp>
      <p:sp>
        <p:nvSpPr>
          <p:cNvPr id="100" name="TextBox 99">
            <a:extLst>
              <a:ext uri="{FF2B5EF4-FFF2-40B4-BE49-F238E27FC236}">
                <a16:creationId xmlns:a16="http://schemas.microsoft.com/office/drawing/2014/main" id="{5B932E57-BCB8-868B-4607-ACB83FDF29D0}"/>
              </a:ext>
            </a:extLst>
          </p:cNvPr>
          <p:cNvSpPr txBox="1"/>
          <p:nvPr/>
        </p:nvSpPr>
        <p:spPr>
          <a:xfrm>
            <a:off x="8127454" y="4696533"/>
            <a:ext cx="998735" cy="369332"/>
          </a:xfrm>
          <a:prstGeom prst="rect">
            <a:avLst/>
          </a:prstGeom>
          <a:noFill/>
        </p:spPr>
        <p:txBody>
          <a:bodyPr wrap="none" rtlCol="0">
            <a:spAutoFit/>
          </a:bodyPr>
          <a:lstStyle/>
          <a:p>
            <a:r>
              <a:rPr lang="en-US" dirty="0"/>
              <a:t>Drafted:</a:t>
            </a:r>
          </a:p>
        </p:txBody>
      </p:sp>
      <p:sp>
        <p:nvSpPr>
          <p:cNvPr id="101" name="TextBox 100">
            <a:extLst>
              <a:ext uri="{FF2B5EF4-FFF2-40B4-BE49-F238E27FC236}">
                <a16:creationId xmlns:a16="http://schemas.microsoft.com/office/drawing/2014/main" id="{7DEB7C99-41C8-14DF-BCEB-B897831066CB}"/>
              </a:ext>
            </a:extLst>
          </p:cNvPr>
          <p:cNvSpPr txBox="1"/>
          <p:nvPr/>
        </p:nvSpPr>
        <p:spPr>
          <a:xfrm>
            <a:off x="7738971" y="6021900"/>
            <a:ext cx="1410707" cy="369332"/>
          </a:xfrm>
          <a:prstGeom prst="rect">
            <a:avLst/>
          </a:prstGeom>
          <a:noFill/>
        </p:spPr>
        <p:txBody>
          <a:bodyPr wrap="none" rtlCol="0">
            <a:spAutoFit/>
          </a:bodyPr>
          <a:lstStyle/>
          <a:p>
            <a:r>
              <a:rPr lang="en-US" dirty="0"/>
              <a:t>Not Drafted:</a:t>
            </a:r>
          </a:p>
        </p:txBody>
      </p:sp>
    </p:spTree>
    <p:extLst>
      <p:ext uri="{BB962C8B-B14F-4D97-AF65-F5344CB8AC3E}">
        <p14:creationId xmlns:p14="http://schemas.microsoft.com/office/powerpoint/2010/main" val="133571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F444-D168-5113-6D9B-AC17AF72A18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E5994AB-75BA-8DFC-16C3-8FF27EA9395C}"/>
              </a:ext>
            </a:extLst>
          </p:cNvPr>
          <p:cNvSpPr>
            <a:spLocks noGrp="1"/>
          </p:cNvSpPr>
          <p:nvPr>
            <p:ph type="subTitle" idx="1"/>
          </p:nvPr>
        </p:nvSpPr>
        <p:spPr/>
        <p:txBody>
          <a:bodyPr/>
          <a:lstStyle/>
          <a:p>
            <a:endParaRPr lang="en-US"/>
          </a:p>
        </p:txBody>
      </p:sp>
      <p:pic>
        <p:nvPicPr>
          <p:cNvPr id="5" name="slide.url=https://www.polleverywhere.com/multiple_choice_polls/l93AAMCDpo3b5PH40n0ve?display_state=instructions&amp;activity_state=opened&amp;state=opened&amp;flow=Engagement&amp;onscreen=persist">
            <a:extLst>
              <a:ext uri="{FF2B5EF4-FFF2-40B4-BE49-F238E27FC236}">
                <a16:creationId xmlns:a16="http://schemas.microsoft.com/office/drawing/2014/main" id="{0CFB5786-BD5F-4A78-5277-6F1CAE64476D}"/>
              </a:ext>
            </a:extLst>
          </p:cNvPr>
          <p:cNvPicPr>
            <a:picLocks/>
          </p:cNvPicPr>
          <p:nvPr>
            <p:custDataLst>
              <p:tags r:id="rId1"/>
            </p:custDataLst>
          </p:nvPr>
        </p:nvPicPr>
        <p:blipFill>
          <a:blip r:embed="rId4"/>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496441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BA70C-69F2-358A-E121-63F53DE70BA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A16787D-D397-F380-0E56-A6111333D459}"/>
              </a:ext>
            </a:extLst>
          </p:cNvPr>
          <p:cNvSpPr>
            <a:spLocks noGrp="1"/>
          </p:cNvSpPr>
          <p:nvPr>
            <p:ph type="subTitle" idx="1"/>
          </p:nvPr>
        </p:nvSpPr>
        <p:spPr/>
        <p:txBody>
          <a:bodyPr/>
          <a:lstStyle/>
          <a:p>
            <a:endParaRPr lang="en-US"/>
          </a:p>
        </p:txBody>
      </p:sp>
      <p:pic>
        <p:nvPicPr>
          <p:cNvPr id="5" name="slide.url=https://www.polleverywhere.com/multiple_choice_polls/l93AAMCDpo3b5PH40n0ve?display_state=chart&amp;activity_state=opened&amp;state=opened&amp;flow=Engagement&amp;onscreen=persist">
            <a:extLst>
              <a:ext uri="{FF2B5EF4-FFF2-40B4-BE49-F238E27FC236}">
                <a16:creationId xmlns:a16="http://schemas.microsoft.com/office/drawing/2014/main" id="{5F1C860B-D642-5E2F-AF68-5A7B253A971B}"/>
              </a:ext>
            </a:extLst>
          </p:cNvPr>
          <p:cNvPicPr>
            <a:picLocks/>
          </p:cNvPicPr>
          <p:nvPr>
            <p:custDataLst>
              <p:tags r:id="rId1"/>
            </p:custDataLst>
          </p:nvPr>
        </p:nvPicPr>
        <p:blipFill>
          <a:blip r:embed="rId4"/>
          <a:stretch>
            <a:fillRect/>
          </a:stretch>
        </p:blipFill>
        <p:spPr>
          <a:xfrm>
            <a:off x="63500" y="63500"/>
            <a:ext cx="12065000" cy="6731000"/>
          </a:xfrm>
          <a:prstGeom prst="rect">
            <a:avLst/>
          </a:prstGeom>
        </p:spPr>
      </p:pic>
    </p:spTree>
    <p:extLst>
      <p:ext uri="{BB962C8B-B14F-4D97-AF65-F5344CB8AC3E}">
        <p14:creationId xmlns:p14="http://schemas.microsoft.com/office/powerpoint/2010/main" val="974554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D7CF1-1916-EB02-4A0B-8AF7DF9F459F}"/>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FE187F9-602F-0E41-DF67-A6CC8B747A3C}"/>
              </a:ext>
            </a:extLst>
          </p:cNvPr>
          <p:cNvSpPr>
            <a:spLocks noGrp="1"/>
          </p:cNvSpPr>
          <p:nvPr>
            <p:ph type="subTitle" idx="1"/>
          </p:nvPr>
        </p:nvSpPr>
        <p:spPr/>
        <p:txBody>
          <a:bodyPr/>
          <a:lstStyle/>
          <a:p>
            <a:endParaRPr lang="en-US"/>
          </a:p>
        </p:txBody>
      </p:sp>
      <p:pic>
        <p:nvPicPr>
          <p:cNvPr id="5" name="slide.url=https://www.polleverywhere.com/multiple_choice_polls/l93AAMCDpo3b5PH40n0ve?display_state=chart&amp;activity_state=closed&amp;state=closed&amp;flow=Engagement&amp;onscreen=persist">
            <a:extLst>
              <a:ext uri="{FF2B5EF4-FFF2-40B4-BE49-F238E27FC236}">
                <a16:creationId xmlns:a16="http://schemas.microsoft.com/office/drawing/2014/main" id="{74944556-2D08-E6D9-70D2-BA36F7216935}"/>
              </a:ext>
            </a:extLst>
          </p:cNvPr>
          <p:cNvPicPr>
            <a:picLocks/>
          </p:cNvPicPr>
          <p:nvPr>
            <p:custDataLst>
              <p:tags r:id="rId1"/>
            </p:custDataLst>
          </p:nvPr>
        </p:nvPicPr>
        <p:blipFill>
          <a:blip r:embed="rId4"/>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630188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6827-FA61-799C-8D69-F3189A87DFAB}"/>
              </a:ext>
            </a:extLst>
          </p:cNvPr>
          <p:cNvSpPr>
            <a:spLocks noGrp="1"/>
          </p:cNvSpPr>
          <p:nvPr>
            <p:ph type="title"/>
          </p:nvPr>
        </p:nvSpPr>
        <p:spPr>
          <a:xfrm>
            <a:off x="613348" y="-66370"/>
            <a:ext cx="10515600" cy="1325563"/>
          </a:xfrm>
        </p:spPr>
        <p:txBody>
          <a:bodyPr/>
          <a:lstStyle/>
          <a:p>
            <a:r>
              <a:rPr lang="en-US" dirty="0"/>
              <a:t>Explanation 1</a:t>
            </a:r>
          </a:p>
        </p:txBody>
      </p:sp>
      <p:grpSp>
        <p:nvGrpSpPr>
          <p:cNvPr id="3" name="Group 2">
            <a:extLst>
              <a:ext uri="{FF2B5EF4-FFF2-40B4-BE49-F238E27FC236}">
                <a16:creationId xmlns:a16="http://schemas.microsoft.com/office/drawing/2014/main" id="{D02C819E-52CB-60B1-E0B2-6AA87A526149}"/>
              </a:ext>
            </a:extLst>
          </p:cNvPr>
          <p:cNvGrpSpPr/>
          <p:nvPr/>
        </p:nvGrpSpPr>
        <p:grpSpPr>
          <a:xfrm>
            <a:off x="270033" y="1076254"/>
            <a:ext cx="3229394" cy="3703518"/>
            <a:chOff x="270033" y="1076254"/>
            <a:chExt cx="3229394" cy="3703518"/>
          </a:xfrm>
        </p:grpSpPr>
        <p:grpSp>
          <p:nvGrpSpPr>
            <p:cNvPr id="73" name="Group 72">
              <a:extLst>
                <a:ext uri="{FF2B5EF4-FFF2-40B4-BE49-F238E27FC236}">
                  <a16:creationId xmlns:a16="http://schemas.microsoft.com/office/drawing/2014/main" id="{9ED98D3F-A9FD-D89B-1D77-F9D542C29B3B}"/>
                </a:ext>
              </a:extLst>
            </p:cNvPr>
            <p:cNvGrpSpPr/>
            <p:nvPr/>
          </p:nvGrpSpPr>
          <p:grpSpPr>
            <a:xfrm>
              <a:off x="980737" y="1472468"/>
              <a:ext cx="2248657" cy="929259"/>
              <a:chOff x="1967125" y="1663441"/>
              <a:chExt cx="2899376" cy="1198169"/>
            </a:xfrm>
          </p:grpSpPr>
          <p:pic>
            <p:nvPicPr>
              <p:cNvPr id="5" name="Picture 4">
                <a:extLst>
                  <a:ext uri="{FF2B5EF4-FFF2-40B4-BE49-F238E27FC236}">
                    <a16:creationId xmlns:a16="http://schemas.microsoft.com/office/drawing/2014/main" id="{699C28B0-89BB-3681-2B0F-C2610EA5627D}"/>
                  </a:ext>
                </a:extLst>
              </p:cNvPr>
              <p:cNvPicPr>
                <a:picLocks noChangeAspect="1"/>
              </p:cNvPicPr>
              <p:nvPr/>
            </p:nvPicPr>
            <p:blipFill>
              <a:blip r:embed="rId3"/>
              <a:stretch>
                <a:fillRect/>
              </a:stretch>
            </p:blipFill>
            <p:spPr>
              <a:xfrm>
                <a:off x="1967125" y="1686112"/>
                <a:ext cx="773714" cy="1168224"/>
              </a:xfrm>
              <a:prstGeom prst="rect">
                <a:avLst/>
              </a:prstGeom>
            </p:spPr>
          </p:pic>
          <p:pic>
            <p:nvPicPr>
              <p:cNvPr id="8" name="Picture 7">
                <a:extLst>
                  <a:ext uri="{FF2B5EF4-FFF2-40B4-BE49-F238E27FC236}">
                    <a16:creationId xmlns:a16="http://schemas.microsoft.com/office/drawing/2014/main" id="{0F247375-D064-0FAA-86D8-20EAD1F36A7B}"/>
                  </a:ext>
                </a:extLst>
              </p:cNvPr>
              <p:cNvPicPr>
                <a:picLocks noChangeAspect="1"/>
              </p:cNvPicPr>
              <p:nvPr/>
            </p:nvPicPr>
            <p:blipFill>
              <a:blip r:embed="rId3"/>
              <a:stretch>
                <a:fillRect/>
              </a:stretch>
            </p:blipFill>
            <p:spPr>
              <a:xfrm>
                <a:off x="2673522" y="1663441"/>
                <a:ext cx="773714" cy="1168224"/>
              </a:xfrm>
              <a:prstGeom prst="rect">
                <a:avLst/>
              </a:prstGeom>
            </p:spPr>
          </p:pic>
          <p:pic>
            <p:nvPicPr>
              <p:cNvPr id="11" name="Picture 10">
                <a:extLst>
                  <a:ext uri="{FF2B5EF4-FFF2-40B4-BE49-F238E27FC236}">
                    <a16:creationId xmlns:a16="http://schemas.microsoft.com/office/drawing/2014/main" id="{3ABE2215-B867-B12B-D1A0-D578B6F29FB1}"/>
                  </a:ext>
                </a:extLst>
              </p:cNvPr>
              <p:cNvPicPr>
                <a:picLocks noChangeAspect="1"/>
              </p:cNvPicPr>
              <p:nvPr/>
            </p:nvPicPr>
            <p:blipFill>
              <a:blip r:embed="rId3"/>
              <a:stretch>
                <a:fillRect/>
              </a:stretch>
            </p:blipFill>
            <p:spPr>
              <a:xfrm>
                <a:off x="3379919" y="1689312"/>
                <a:ext cx="773714" cy="1168224"/>
              </a:xfrm>
              <a:prstGeom prst="rect">
                <a:avLst/>
              </a:prstGeom>
            </p:spPr>
          </p:pic>
          <p:pic>
            <p:nvPicPr>
              <p:cNvPr id="14" name="Picture 13">
                <a:extLst>
                  <a:ext uri="{FF2B5EF4-FFF2-40B4-BE49-F238E27FC236}">
                    <a16:creationId xmlns:a16="http://schemas.microsoft.com/office/drawing/2014/main" id="{BC6A3DD4-C833-1A1D-614B-56C5F67595B1}"/>
                  </a:ext>
                </a:extLst>
              </p:cNvPr>
              <p:cNvPicPr>
                <a:picLocks noChangeAspect="1"/>
              </p:cNvPicPr>
              <p:nvPr/>
            </p:nvPicPr>
            <p:blipFill>
              <a:blip r:embed="rId3"/>
              <a:stretch>
                <a:fillRect/>
              </a:stretch>
            </p:blipFill>
            <p:spPr>
              <a:xfrm>
                <a:off x="4092787" y="1693386"/>
                <a:ext cx="773714" cy="1168224"/>
              </a:xfrm>
              <a:prstGeom prst="rect">
                <a:avLst/>
              </a:prstGeom>
            </p:spPr>
          </p:pic>
        </p:grpSp>
        <p:sp>
          <p:nvSpPr>
            <p:cNvPr id="28" name="TextBox 27">
              <a:extLst>
                <a:ext uri="{FF2B5EF4-FFF2-40B4-BE49-F238E27FC236}">
                  <a16:creationId xmlns:a16="http://schemas.microsoft.com/office/drawing/2014/main" id="{C4D63F03-D6D5-EE40-313F-C7A2C4BA65E6}"/>
                </a:ext>
              </a:extLst>
            </p:cNvPr>
            <p:cNvSpPr txBox="1"/>
            <p:nvPr/>
          </p:nvSpPr>
          <p:spPr>
            <a:xfrm>
              <a:off x="1376276" y="1076254"/>
              <a:ext cx="1337930" cy="400110"/>
            </a:xfrm>
            <a:prstGeom prst="rect">
              <a:avLst/>
            </a:prstGeom>
            <a:noFill/>
          </p:spPr>
          <p:txBody>
            <a:bodyPr wrap="none" rtlCol="0">
              <a:spAutoFit/>
            </a:bodyPr>
            <a:lstStyle/>
            <a:p>
              <a:pPr algn="ctr"/>
              <a:r>
                <a:rPr lang="en-US" sz="2000" dirty="0"/>
                <a:t>Compliers</a:t>
              </a:r>
            </a:p>
          </p:txBody>
        </p:sp>
        <p:grpSp>
          <p:nvGrpSpPr>
            <p:cNvPr id="86" name="Group 85">
              <a:extLst>
                <a:ext uri="{FF2B5EF4-FFF2-40B4-BE49-F238E27FC236}">
                  <a16:creationId xmlns:a16="http://schemas.microsoft.com/office/drawing/2014/main" id="{BC17CC1B-A7FB-0FC4-03CC-5857E55F256B}"/>
                </a:ext>
              </a:extLst>
            </p:cNvPr>
            <p:cNvGrpSpPr/>
            <p:nvPr/>
          </p:nvGrpSpPr>
          <p:grpSpPr>
            <a:xfrm>
              <a:off x="270033" y="3147953"/>
              <a:ext cx="3229394" cy="1631819"/>
              <a:chOff x="547531" y="2454017"/>
              <a:chExt cx="3229394" cy="1631819"/>
            </a:xfrm>
          </p:grpSpPr>
          <p:grpSp>
            <p:nvGrpSpPr>
              <p:cNvPr id="74" name="Group 73">
                <a:extLst>
                  <a:ext uri="{FF2B5EF4-FFF2-40B4-BE49-F238E27FC236}">
                    <a16:creationId xmlns:a16="http://schemas.microsoft.com/office/drawing/2014/main" id="{7CED7D0E-C993-2D42-1762-983D2E7D2208}"/>
                  </a:ext>
                </a:extLst>
              </p:cNvPr>
              <p:cNvGrpSpPr/>
              <p:nvPr/>
            </p:nvGrpSpPr>
            <p:grpSpPr>
              <a:xfrm>
                <a:off x="1108412" y="3205133"/>
                <a:ext cx="2306722" cy="880703"/>
                <a:chOff x="7456650" y="1706889"/>
                <a:chExt cx="2758953" cy="1053365"/>
              </a:xfrm>
            </p:grpSpPr>
            <p:pic>
              <p:nvPicPr>
                <p:cNvPr id="17" name="Picture 7" descr="Adoptable Rabbits | morabbit">
                  <a:extLst>
                    <a:ext uri="{FF2B5EF4-FFF2-40B4-BE49-F238E27FC236}">
                      <a16:creationId xmlns:a16="http://schemas.microsoft.com/office/drawing/2014/main" id="{3F4CDC45-83E6-48A0-9022-0A20D78FA1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581142" y="1715673"/>
                  <a:ext cx="634461" cy="1044581"/>
                </a:xfrm>
                <a:prstGeom prst="rect">
                  <a:avLst/>
                </a:prstGeom>
                <a:extLst>
                  <a:ext uri="{909E8E84-426E-40DD-AFC4-6F175D3DCCD1}">
                    <a14:hiddenFill xmlns:a14="http://schemas.microsoft.com/office/drawing/2010/main">
                      <a:solidFill>
                        <a:srgbClr val="FFFFFF"/>
                      </a:solidFill>
                    </a14:hiddenFill>
                  </a:ext>
                </a:extLst>
              </p:spPr>
            </p:pic>
            <p:pic>
              <p:nvPicPr>
                <p:cNvPr id="20" name="Picture 7" descr="Adoptable Rabbits | morabbit">
                  <a:extLst>
                    <a:ext uri="{FF2B5EF4-FFF2-40B4-BE49-F238E27FC236}">
                      <a16:creationId xmlns:a16="http://schemas.microsoft.com/office/drawing/2014/main" id="{64F443EB-276F-9E0B-FDA4-A7BE14084C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929754" y="1706889"/>
                  <a:ext cx="634461" cy="1044581"/>
                </a:xfrm>
                <a:prstGeom prst="rect">
                  <a:avLst/>
                </a:prstGeom>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5F4259CD-753C-1E8E-C072-A589382EEAAC}"/>
                    </a:ext>
                  </a:extLst>
                </p:cNvPr>
                <p:cNvPicPr>
                  <a:picLocks noChangeAspect="1"/>
                </p:cNvPicPr>
                <p:nvPr/>
              </p:nvPicPr>
              <p:blipFill>
                <a:blip r:embed="rId5"/>
                <a:stretch>
                  <a:fillRect/>
                </a:stretch>
              </p:blipFill>
              <p:spPr>
                <a:xfrm>
                  <a:off x="7456650" y="1820517"/>
                  <a:ext cx="611106" cy="774840"/>
                </a:xfrm>
                <a:prstGeom prst="rect">
                  <a:avLst/>
                </a:prstGeom>
              </p:spPr>
            </p:pic>
            <p:pic>
              <p:nvPicPr>
                <p:cNvPr id="26" name="Picture 25">
                  <a:extLst>
                    <a:ext uri="{FF2B5EF4-FFF2-40B4-BE49-F238E27FC236}">
                      <a16:creationId xmlns:a16="http://schemas.microsoft.com/office/drawing/2014/main" id="{5F3B27CB-68F2-C5E4-0F5A-633E28DA2192}"/>
                    </a:ext>
                  </a:extLst>
                </p:cNvPr>
                <p:cNvPicPr>
                  <a:picLocks noChangeAspect="1"/>
                </p:cNvPicPr>
                <p:nvPr/>
              </p:nvPicPr>
              <p:blipFill>
                <a:blip r:embed="rId5"/>
                <a:stretch>
                  <a:fillRect/>
                </a:stretch>
              </p:blipFill>
              <p:spPr>
                <a:xfrm>
                  <a:off x="8089400" y="1824429"/>
                  <a:ext cx="611106" cy="774840"/>
                </a:xfrm>
                <a:prstGeom prst="rect">
                  <a:avLst/>
                </a:prstGeom>
              </p:spPr>
            </p:pic>
          </p:grpSp>
          <p:sp>
            <p:nvSpPr>
              <p:cNvPr id="29" name="TextBox 28">
                <a:extLst>
                  <a:ext uri="{FF2B5EF4-FFF2-40B4-BE49-F238E27FC236}">
                    <a16:creationId xmlns:a16="http://schemas.microsoft.com/office/drawing/2014/main" id="{5BB322DB-3329-961B-91BC-B838E8CE7B7C}"/>
                  </a:ext>
                </a:extLst>
              </p:cNvPr>
              <p:cNvSpPr txBox="1"/>
              <p:nvPr/>
            </p:nvSpPr>
            <p:spPr>
              <a:xfrm>
                <a:off x="547531" y="2454017"/>
                <a:ext cx="3229394" cy="707886"/>
              </a:xfrm>
              <a:prstGeom prst="rect">
                <a:avLst/>
              </a:prstGeom>
              <a:noFill/>
            </p:spPr>
            <p:txBody>
              <a:bodyPr wrap="square" rtlCol="0">
                <a:spAutoFit/>
              </a:bodyPr>
              <a:lstStyle/>
              <a:p>
                <a:pPr algn="ctr"/>
                <a:r>
                  <a:rPr lang="en-US" sz="2000" dirty="0"/>
                  <a:t>Never-Takers / </a:t>
                </a:r>
              </a:p>
              <a:p>
                <a:pPr algn="ctr"/>
                <a:r>
                  <a:rPr lang="en-US" sz="2000" dirty="0"/>
                  <a:t>Always-Takers</a:t>
                </a:r>
              </a:p>
            </p:txBody>
          </p:sp>
        </p:grpSp>
      </p:grpSp>
      <p:grpSp>
        <p:nvGrpSpPr>
          <p:cNvPr id="4" name="Group 3">
            <a:extLst>
              <a:ext uri="{FF2B5EF4-FFF2-40B4-BE49-F238E27FC236}">
                <a16:creationId xmlns:a16="http://schemas.microsoft.com/office/drawing/2014/main" id="{73F206FE-E907-6116-3C83-411C38B3C688}"/>
              </a:ext>
            </a:extLst>
          </p:cNvPr>
          <p:cNvGrpSpPr/>
          <p:nvPr/>
        </p:nvGrpSpPr>
        <p:grpSpPr>
          <a:xfrm>
            <a:off x="3229394" y="696183"/>
            <a:ext cx="2792628" cy="2113821"/>
            <a:chOff x="3229394" y="696183"/>
            <a:chExt cx="2792628" cy="2113821"/>
          </a:xfrm>
        </p:grpSpPr>
        <p:grpSp>
          <p:nvGrpSpPr>
            <p:cNvPr id="42" name="Group 41">
              <a:extLst>
                <a:ext uri="{FF2B5EF4-FFF2-40B4-BE49-F238E27FC236}">
                  <a16:creationId xmlns:a16="http://schemas.microsoft.com/office/drawing/2014/main" id="{111970DF-634D-91B0-EE03-898EE0890611}"/>
                </a:ext>
              </a:extLst>
            </p:cNvPr>
            <p:cNvGrpSpPr/>
            <p:nvPr/>
          </p:nvGrpSpPr>
          <p:grpSpPr>
            <a:xfrm>
              <a:off x="3229394" y="1117981"/>
              <a:ext cx="1568146" cy="1448508"/>
              <a:chOff x="600413" y="3066688"/>
              <a:chExt cx="1762950" cy="1628451"/>
            </a:xfrm>
          </p:grpSpPr>
          <p:cxnSp>
            <p:nvCxnSpPr>
              <p:cNvPr id="32" name="Straight Arrow Connector 31">
                <a:extLst>
                  <a:ext uri="{FF2B5EF4-FFF2-40B4-BE49-F238E27FC236}">
                    <a16:creationId xmlns:a16="http://schemas.microsoft.com/office/drawing/2014/main" id="{C30F12B3-38AC-806E-5D11-23AAF9333675}"/>
                  </a:ext>
                </a:extLst>
              </p:cNvPr>
              <p:cNvCxnSpPr>
                <a:cxnSpLocks/>
                <a:stCxn id="14" idx="3"/>
              </p:cNvCxnSpPr>
              <p:nvPr/>
            </p:nvCxnSpPr>
            <p:spPr>
              <a:xfrm>
                <a:off x="600413" y="4000616"/>
                <a:ext cx="1762950" cy="449049"/>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0EDFB29-95B5-D152-A701-AB376FA965B0}"/>
                  </a:ext>
                </a:extLst>
              </p:cNvPr>
              <p:cNvCxnSpPr>
                <a:cxnSpLocks/>
                <a:stCxn id="14" idx="3"/>
              </p:cNvCxnSpPr>
              <p:nvPr/>
            </p:nvCxnSpPr>
            <p:spPr>
              <a:xfrm flipV="1">
                <a:off x="600413" y="3426503"/>
                <a:ext cx="1640600" cy="57411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13C1456B-B4D3-561E-0E08-8882345A4FC4}"/>
                  </a:ext>
                </a:extLst>
              </p:cNvPr>
              <p:cNvSpPr txBox="1"/>
              <p:nvPr/>
            </p:nvSpPr>
            <p:spPr>
              <a:xfrm>
                <a:off x="994941" y="4325807"/>
                <a:ext cx="933012" cy="369332"/>
              </a:xfrm>
              <a:prstGeom prst="rect">
                <a:avLst/>
              </a:prstGeom>
              <a:noFill/>
            </p:spPr>
            <p:txBody>
              <a:bodyPr wrap="none" rtlCol="0">
                <a:spAutoFit/>
              </a:bodyPr>
              <a:lstStyle/>
              <a:p>
                <a:r>
                  <a:rPr lang="en-US" dirty="0">
                    <a:solidFill>
                      <a:schemeClr val="accent1"/>
                    </a:solidFill>
                  </a:rPr>
                  <a:t>Drafted</a:t>
                </a:r>
              </a:p>
            </p:txBody>
          </p:sp>
          <p:sp>
            <p:nvSpPr>
              <p:cNvPr id="39" name="TextBox 38">
                <a:extLst>
                  <a:ext uri="{FF2B5EF4-FFF2-40B4-BE49-F238E27FC236}">
                    <a16:creationId xmlns:a16="http://schemas.microsoft.com/office/drawing/2014/main" id="{26B894FB-216B-B4A6-5B90-A8839FC985DE}"/>
                  </a:ext>
                </a:extLst>
              </p:cNvPr>
              <p:cNvSpPr txBox="1"/>
              <p:nvPr/>
            </p:nvSpPr>
            <p:spPr>
              <a:xfrm>
                <a:off x="809395" y="3066688"/>
                <a:ext cx="1344984" cy="369332"/>
              </a:xfrm>
              <a:prstGeom prst="rect">
                <a:avLst/>
              </a:prstGeom>
              <a:noFill/>
            </p:spPr>
            <p:txBody>
              <a:bodyPr wrap="none" rtlCol="0">
                <a:spAutoFit/>
              </a:bodyPr>
              <a:lstStyle/>
              <a:p>
                <a:r>
                  <a:rPr lang="en-US" dirty="0">
                    <a:solidFill>
                      <a:schemeClr val="accent1"/>
                    </a:solidFill>
                  </a:rPr>
                  <a:t>Not Drafted</a:t>
                </a:r>
              </a:p>
            </p:txBody>
          </p:sp>
        </p:grpSp>
        <p:grpSp>
          <p:nvGrpSpPr>
            <p:cNvPr id="84" name="Group 83">
              <a:extLst>
                <a:ext uri="{FF2B5EF4-FFF2-40B4-BE49-F238E27FC236}">
                  <a16:creationId xmlns:a16="http://schemas.microsoft.com/office/drawing/2014/main" id="{C13795FA-7628-5FDF-D4A9-BFC76DC3D47D}"/>
                </a:ext>
              </a:extLst>
            </p:cNvPr>
            <p:cNvGrpSpPr/>
            <p:nvPr/>
          </p:nvGrpSpPr>
          <p:grpSpPr>
            <a:xfrm>
              <a:off x="4676961" y="696183"/>
              <a:ext cx="1345061" cy="1096813"/>
              <a:chOff x="4247661" y="3742545"/>
              <a:chExt cx="1451454" cy="1183570"/>
            </a:xfrm>
          </p:grpSpPr>
          <p:grpSp>
            <p:nvGrpSpPr>
              <p:cNvPr id="48" name="Group 47">
                <a:extLst>
                  <a:ext uri="{FF2B5EF4-FFF2-40B4-BE49-F238E27FC236}">
                    <a16:creationId xmlns:a16="http://schemas.microsoft.com/office/drawing/2014/main" id="{B2DF984D-0B5C-4179-0CFC-4F3EB8F9E774}"/>
                  </a:ext>
                </a:extLst>
              </p:cNvPr>
              <p:cNvGrpSpPr/>
              <p:nvPr/>
            </p:nvGrpSpPr>
            <p:grpSpPr>
              <a:xfrm>
                <a:off x="4247661" y="3757891"/>
                <a:ext cx="773714" cy="1168224"/>
                <a:chOff x="7999130" y="1323857"/>
                <a:chExt cx="869829" cy="1313348"/>
              </a:xfrm>
            </p:grpSpPr>
            <p:pic>
              <p:nvPicPr>
                <p:cNvPr id="49" name="Picture 48">
                  <a:extLst>
                    <a:ext uri="{FF2B5EF4-FFF2-40B4-BE49-F238E27FC236}">
                      <a16:creationId xmlns:a16="http://schemas.microsoft.com/office/drawing/2014/main" id="{8A3B73CF-AF7F-3459-8B91-2CF9C68F7979}"/>
                    </a:ext>
                  </a:extLst>
                </p:cNvPr>
                <p:cNvPicPr>
                  <a:picLocks noChangeAspect="1"/>
                </p:cNvPicPr>
                <p:nvPr/>
              </p:nvPicPr>
              <p:blipFill>
                <a:blip r:embed="rId3"/>
                <a:stretch>
                  <a:fillRect/>
                </a:stretch>
              </p:blipFill>
              <p:spPr>
                <a:xfrm>
                  <a:off x="7999130" y="1323857"/>
                  <a:ext cx="869829" cy="1313348"/>
                </a:xfrm>
                <a:prstGeom prst="rect">
                  <a:avLst/>
                </a:prstGeom>
              </p:spPr>
            </p:pic>
            <p:pic>
              <p:nvPicPr>
                <p:cNvPr id="50" name="Picture 6" descr="Tie Dye T-Shirt - Classic Rainbow Spiral - Psychedelic Shirt">
                  <a:extLst>
                    <a:ext uri="{FF2B5EF4-FFF2-40B4-BE49-F238E27FC236}">
                      <a16:creationId xmlns:a16="http://schemas.microsoft.com/office/drawing/2014/main" id="{467CBEF3-6E3B-70B6-38C1-D1B7257922D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51" name="Group 50">
                <a:extLst>
                  <a:ext uri="{FF2B5EF4-FFF2-40B4-BE49-F238E27FC236}">
                    <a16:creationId xmlns:a16="http://schemas.microsoft.com/office/drawing/2014/main" id="{E1485445-7641-6CA9-9D9F-80140AF84163}"/>
                  </a:ext>
                </a:extLst>
              </p:cNvPr>
              <p:cNvGrpSpPr/>
              <p:nvPr/>
            </p:nvGrpSpPr>
            <p:grpSpPr>
              <a:xfrm>
                <a:off x="4925401" y="3742545"/>
                <a:ext cx="773714" cy="1168224"/>
                <a:chOff x="7999130" y="1323857"/>
                <a:chExt cx="869829" cy="1313348"/>
              </a:xfrm>
            </p:grpSpPr>
            <p:pic>
              <p:nvPicPr>
                <p:cNvPr id="52" name="Picture 51">
                  <a:extLst>
                    <a:ext uri="{FF2B5EF4-FFF2-40B4-BE49-F238E27FC236}">
                      <a16:creationId xmlns:a16="http://schemas.microsoft.com/office/drawing/2014/main" id="{7F67B015-FF6E-2A40-67FC-7D3A2E5F876A}"/>
                    </a:ext>
                  </a:extLst>
                </p:cNvPr>
                <p:cNvPicPr>
                  <a:picLocks noChangeAspect="1"/>
                </p:cNvPicPr>
                <p:nvPr/>
              </p:nvPicPr>
              <p:blipFill>
                <a:blip r:embed="rId3"/>
                <a:stretch>
                  <a:fillRect/>
                </a:stretch>
              </p:blipFill>
              <p:spPr>
                <a:xfrm>
                  <a:off x="7999130" y="1323857"/>
                  <a:ext cx="869829" cy="1313348"/>
                </a:xfrm>
                <a:prstGeom prst="rect">
                  <a:avLst/>
                </a:prstGeom>
              </p:spPr>
            </p:pic>
            <p:pic>
              <p:nvPicPr>
                <p:cNvPr id="53" name="Picture 6" descr="Tie Dye T-Shirt - Classic Rainbow Spiral - Psychedelic Shirt">
                  <a:extLst>
                    <a:ext uri="{FF2B5EF4-FFF2-40B4-BE49-F238E27FC236}">
                      <a16:creationId xmlns:a16="http://schemas.microsoft.com/office/drawing/2014/main" id="{A2A665D4-43EA-674D-7A91-27B0B9388C5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grpSp>
          <p:nvGrpSpPr>
            <p:cNvPr id="83" name="Group 82">
              <a:extLst>
                <a:ext uri="{FF2B5EF4-FFF2-40B4-BE49-F238E27FC236}">
                  <a16:creationId xmlns:a16="http://schemas.microsoft.com/office/drawing/2014/main" id="{8DC2EB41-E27A-E089-7376-6CF41AF45C6C}"/>
                </a:ext>
              </a:extLst>
            </p:cNvPr>
            <p:cNvGrpSpPr/>
            <p:nvPr/>
          </p:nvGrpSpPr>
          <p:grpSpPr>
            <a:xfrm>
              <a:off x="4781990" y="1872544"/>
              <a:ext cx="1122394" cy="937460"/>
              <a:chOff x="1097390" y="3763115"/>
              <a:chExt cx="1480111" cy="1236237"/>
            </a:xfrm>
          </p:grpSpPr>
          <p:grpSp>
            <p:nvGrpSpPr>
              <p:cNvPr id="54" name="Group 53">
                <a:extLst>
                  <a:ext uri="{FF2B5EF4-FFF2-40B4-BE49-F238E27FC236}">
                    <a16:creationId xmlns:a16="http://schemas.microsoft.com/office/drawing/2014/main" id="{AA11CF46-9CC0-CA06-F320-80F700DDA9C8}"/>
                  </a:ext>
                </a:extLst>
              </p:cNvPr>
              <p:cNvGrpSpPr/>
              <p:nvPr/>
            </p:nvGrpSpPr>
            <p:grpSpPr>
              <a:xfrm>
                <a:off x="1097390" y="3785786"/>
                <a:ext cx="773714" cy="1213566"/>
                <a:chOff x="8012095" y="8705"/>
                <a:chExt cx="869829" cy="1364322"/>
              </a:xfrm>
            </p:grpSpPr>
            <p:pic>
              <p:nvPicPr>
                <p:cNvPr id="55" name="Picture 54">
                  <a:extLst>
                    <a:ext uri="{FF2B5EF4-FFF2-40B4-BE49-F238E27FC236}">
                      <a16:creationId xmlns:a16="http://schemas.microsoft.com/office/drawing/2014/main" id="{41EED978-3C78-F156-0272-C9C205B60197}"/>
                    </a:ext>
                  </a:extLst>
                </p:cNvPr>
                <p:cNvPicPr>
                  <a:picLocks noChangeAspect="1"/>
                </p:cNvPicPr>
                <p:nvPr/>
              </p:nvPicPr>
              <p:blipFill>
                <a:blip r:embed="rId3"/>
                <a:stretch>
                  <a:fillRect/>
                </a:stretch>
              </p:blipFill>
              <p:spPr>
                <a:xfrm>
                  <a:off x="8012095" y="59679"/>
                  <a:ext cx="869829" cy="1313348"/>
                </a:xfrm>
                <a:prstGeom prst="rect">
                  <a:avLst/>
                </a:prstGeom>
              </p:spPr>
            </p:pic>
            <p:pic>
              <p:nvPicPr>
                <p:cNvPr id="56" name="Picture 4" descr="Military Beret Cap With Star PNG &amp; SVG Design For T-Shirts">
                  <a:extLst>
                    <a:ext uri="{FF2B5EF4-FFF2-40B4-BE49-F238E27FC236}">
                      <a16:creationId xmlns:a16="http://schemas.microsoft.com/office/drawing/2014/main" id="{B9801571-1C7F-9CAA-0963-1BBD7441DB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nvGrpSpPr>
              <p:cNvPr id="57" name="Group 56">
                <a:extLst>
                  <a:ext uri="{FF2B5EF4-FFF2-40B4-BE49-F238E27FC236}">
                    <a16:creationId xmlns:a16="http://schemas.microsoft.com/office/drawing/2014/main" id="{15A508C7-F5D4-E87D-C806-9D7F217CE527}"/>
                  </a:ext>
                </a:extLst>
              </p:cNvPr>
              <p:cNvGrpSpPr/>
              <p:nvPr/>
            </p:nvGrpSpPr>
            <p:grpSpPr>
              <a:xfrm>
                <a:off x="1803787" y="3763115"/>
                <a:ext cx="773714" cy="1213566"/>
                <a:chOff x="8012095" y="8705"/>
                <a:chExt cx="869829" cy="1364322"/>
              </a:xfrm>
            </p:grpSpPr>
            <p:pic>
              <p:nvPicPr>
                <p:cNvPr id="58" name="Picture 57">
                  <a:extLst>
                    <a:ext uri="{FF2B5EF4-FFF2-40B4-BE49-F238E27FC236}">
                      <a16:creationId xmlns:a16="http://schemas.microsoft.com/office/drawing/2014/main" id="{D50EFCC6-F71B-52AB-A582-4ADE18EC252D}"/>
                    </a:ext>
                  </a:extLst>
                </p:cNvPr>
                <p:cNvPicPr>
                  <a:picLocks noChangeAspect="1"/>
                </p:cNvPicPr>
                <p:nvPr/>
              </p:nvPicPr>
              <p:blipFill>
                <a:blip r:embed="rId3"/>
                <a:stretch>
                  <a:fillRect/>
                </a:stretch>
              </p:blipFill>
              <p:spPr>
                <a:xfrm>
                  <a:off x="8012095" y="59679"/>
                  <a:ext cx="869829" cy="1313348"/>
                </a:xfrm>
                <a:prstGeom prst="rect">
                  <a:avLst/>
                </a:prstGeom>
              </p:spPr>
            </p:pic>
            <p:pic>
              <p:nvPicPr>
                <p:cNvPr id="59" name="Picture 4" descr="Military Beret Cap With Star PNG &amp; SVG Design For T-Shirts">
                  <a:extLst>
                    <a:ext uri="{FF2B5EF4-FFF2-40B4-BE49-F238E27FC236}">
                      <a16:creationId xmlns:a16="http://schemas.microsoft.com/office/drawing/2014/main" id="{690B4710-EEDA-82B5-AE4E-AC359E48E8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grpSp>
      <p:grpSp>
        <p:nvGrpSpPr>
          <p:cNvPr id="6" name="Group 5">
            <a:extLst>
              <a:ext uri="{FF2B5EF4-FFF2-40B4-BE49-F238E27FC236}">
                <a16:creationId xmlns:a16="http://schemas.microsoft.com/office/drawing/2014/main" id="{9666FE3E-E909-E442-8AA6-B4CC6627DFCB}"/>
              </a:ext>
            </a:extLst>
          </p:cNvPr>
          <p:cNvGrpSpPr/>
          <p:nvPr/>
        </p:nvGrpSpPr>
        <p:grpSpPr>
          <a:xfrm>
            <a:off x="3168538" y="3263022"/>
            <a:ext cx="2752118" cy="1850106"/>
            <a:chOff x="3168538" y="3263022"/>
            <a:chExt cx="2752118" cy="1850106"/>
          </a:xfrm>
        </p:grpSpPr>
        <p:grpSp>
          <p:nvGrpSpPr>
            <p:cNvPr id="92" name="Group 91">
              <a:extLst>
                <a:ext uri="{FF2B5EF4-FFF2-40B4-BE49-F238E27FC236}">
                  <a16:creationId xmlns:a16="http://schemas.microsoft.com/office/drawing/2014/main" id="{10D3F87D-B1CB-744E-5335-C143CBD27633}"/>
                </a:ext>
              </a:extLst>
            </p:cNvPr>
            <p:cNvGrpSpPr/>
            <p:nvPr/>
          </p:nvGrpSpPr>
          <p:grpSpPr>
            <a:xfrm>
              <a:off x="4794985" y="3263022"/>
              <a:ext cx="1125671" cy="872087"/>
              <a:chOff x="6627634" y="3829302"/>
              <a:chExt cx="1415743" cy="1096813"/>
            </a:xfrm>
          </p:grpSpPr>
          <p:grpSp>
            <p:nvGrpSpPr>
              <p:cNvPr id="60" name="Group 59">
                <a:extLst>
                  <a:ext uri="{FF2B5EF4-FFF2-40B4-BE49-F238E27FC236}">
                    <a16:creationId xmlns:a16="http://schemas.microsoft.com/office/drawing/2014/main" id="{812EBD2F-9A15-62C5-D0C2-F682435B9C7F}"/>
                  </a:ext>
                </a:extLst>
              </p:cNvPr>
              <p:cNvGrpSpPr/>
              <p:nvPr/>
            </p:nvGrpSpPr>
            <p:grpSpPr>
              <a:xfrm>
                <a:off x="6627634" y="3990289"/>
                <a:ext cx="744620" cy="774840"/>
                <a:chOff x="10976721" y="1541196"/>
                <a:chExt cx="837121" cy="871095"/>
              </a:xfrm>
            </p:grpSpPr>
            <p:pic>
              <p:nvPicPr>
                <p:cNvPr id="61" name="Picture 60">
                  <a:extLst>
                    <a:ext uri="{FF2B5EF4-FFF2-40B4-BE49-F238E27FC236}">
                      <a16:creationId xmlns:a16="http://schemas.microsoft.com/office/drawing/2014/main" id="{3D8803F8-1514-B5A6-9171-690ED298FEBB}"/>
                    </a:ext>
                  </a:extLst>
                </p:cNvPr>
                <p:cNvPicPr>
                  <a:picLocks noChangeAspect="1"/>
                </p:cNvPicPr>
                <p:nvPr/>
              </p:nvPicPr>
              <p:blipFill>
                <a:blip r:embed="rId5"/>
                <a:stretch>
                  <a:fillRect/>
                </a:stretch>
              </p:blipFill>
              <p:spPr>
                <a:xfrm>
                  <a:off x="10976721" y="1541196"/>
                  <a:ext cx="687021" cy="871095"/>
                </a:xfrm>
                <a:prstGeom prst="rect">
                  <a:avLst/>
                </a:prstGeom>
              </p:spPr>
            </p:pic>
            <p:pic>
              <p:nvPicPr>
                <p:cNvPr id="62" name="Picture 6" descr="Tie Dye T-Shirt - Classic Rainbow Spiral - Psychedelic Shirt">
                  <a:extLst>
                    <a:ext uri="{FF2B5EF4-FFF2-40B4-BE49-F238E27FC236}">
                      <a16:creationId xmlns:a16="http://schemas.microsoft.com/office/drawing/2014/main" id="{37DF3EEB-DDBC-D13F-7DF7-E165055B700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b="44407"/>
                <a:stretch/>
              </p:blipFill>
              <p:spPr bwMode="auto">
                <a:xfrm>
                  <a:off x="10979411" y="1836491"/>
                  <a:ext cx="834431"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66" name="Group 65">
                <a:extLst>
                  <a:ext uri="{FF2B5EF4-FFF2-40B4-BE49-F238E27FC236}">
                    <a16:creationId xmlns:a16="http://schemas.microsoft.com/office/drawing/2014/main" id="{2CE0B07C-2BD1-2BC4-A9C1-2983E20AC068}"/>
                  </a:ext>
                </a:extLst>
              </p:cNvPr>
              <p:cNvGrpSpPr/>
              <p:nvPr/>
            </p:nvGrpSpPr>
            <p:grpSpPr>
              <a:xfrm>
                <a:off x="7408916" y="3829302"/>
                <a:ext cx="634461" cy="1096813"/>
                <a:chOff x="8802417" y="4582488"/>
                <a:chExt cx="713277" cy="1233065"/>
              </a:xfrm>
            </p:grpSpPr>
            <p:pic>
              <p:nvPicPr>
                <p:cNvPr id="67" name="Picture 7" descr="Adoptable Rabbits | morabbit">
                  <a:extLst>
                    <a:ext uri="{FF2B5EF4-FFF2-40B4-BE49-F238E27FC236}">
                      <a16:creationId xmlns:a16="http://schemas.microsoft.com/office/drawing/2014/main" id="{46746279-5678-314C-9420-7BF883A666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802417" y="4641208"/>
                  <a:ext cx="713277" cy="1174345"/>
                </a:xfrm>
                <a:prstGeom prst="rect">
                  <a:avLst/>
                </a:prstGeom>
                <a:extLst>
                  <a:ext uri="{909E8E84-426E-40DD-AFC4-6F175D3DCCD1}">
                    <a14:hiddenFill xmlns:a14="http://schemas.microsoft.com/office/drawing/2010/main">
                      <a:solidFill>
                        <a:srgbClr val="FFFFFF"/>
                      </a:solidFill>
                    </a14:hiddenFill>
                  </a:ext>
                </a:extLst>
              </p:spPr>
            </p:pic>
            <p:pic>
              <p:nvPicPr>
                <p:cNvPr id="68" name="Picture 4" descr="Military Beret Cap With Star PNG &amp; SVG Design For T-Shirts">
                  <a:extLst>
                    <a:ext uri="{FF2B5EF4-FFF2-40B4-BE49-F238E27FC236}">
                      <a16:creationId xmlns:a16="http://schemas.microsoft.com/office/drawing/2014/main" id="{205B4226-D9A6-3FCC-317F-6C12653EF1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grpSp>
          <p:nvGrpSpPr>
            <p:cNvPr id="87" name="Group 86">
              <a:extLst>
                <a:ext uri="{FF2B5EF4-FFF2-40B4-BE49-F238E27FC236}">
                  <a16:creationId xmlns:a16="http://schemas.microsoft.com/office/drawing/2014/main" id="{3E507508-1D40-48FD-D55D-09947B1A7E1D}"/>
                </a:ext>
              </a:extLst>
            </p:cNvPr>
            <p:cNvGrpSpPr/>
            <p:nvPr/>
          </p:nvGrpSpPr>
          <p:grpSpPr>
            <a:xfrm>
              <a:off x="3168538" y="3495525"/>
              <a:ext cx="1568146" cy="1448508"/>
              <a:chOff x="600413" y="3066688"/>
              <a:chExt cx="1762950" cy="1628451"/>
            </a:xfrm>
          </p:grpSpPr>
          <p:cxnSp>
            <p:nvCxnSpPr>
              <p:cNvPr id="88" name="Straight Arrow Connector 87">
                <a:extLst>
                  <a:ext uri="{FF2B5EF4-FFF2-40B4-BE49-F238E27FC236}">
                    <a16:creationId xmlns:a16="http://schemas.microsoft.com/office/drawing/2014/main" id="{7F9BD20F-E31F-24A8-BFF8-57838ABD80B8}"/>
                  </a:ext>
                </a:extLst>
              </p:cNvPr>
              <p:cNvCxnSpPr>
                <a:cxnSpLocks/>
              </p:cNvCxnSpPr>
              <p:nvPr/>
            </p:nvCxnSpPr>
            <p:spPr>
              <a:xfrm>
                <a:off x="600413" y="4000616"/>
                <a:ext cx="1762950" cy="449049"/>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0FAA0A99-8699-C6A6-811D-B10BC7FA8436}"/>
                  </a:ext>
                </a:extLst>
              </p:cNvPr>
              <p:cNvCxnSpPr>
                <a:cxnSpLocks/>
              </p:cNvCxnSpPr>
              <p:nvPr/>
            </p:nvCxnSpPr>
            <p:spPr>
              <a:xfrm flipV="1">
                <a:off x="600413" y="3426503"/>
                <a:ext cx="1640600" cy="57411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5D34E09C-BD5C-028A-3998-A64B40797DCF}"/>
                  </a:ext>
                </a:extLst>
              </p:cNvPr>
              <p:cNvSpPr txBox="1"/>
              <p:nvPr/>
            </p:nvSpPr>
            <p:spPr>
              <a:xfrm>
                <a:off x="994941" y="4325807"/>
                <a:ext cx="933012" cy="369332"/>
              </a:xfrm>
              <a:prstGeom prst="rect">
                <a:avLst/>
              </a:prstGeom>
              <a:noFill/>
            </p:spPr>
            <p:txBody>
              <a:bodyPr wrap="none" rtlCol="0">
                <a:spAutoFit/>
              </a:bodyPr>
              <a:lstStyle/>
              <a:p>
                <a:r>
                  <a:rPr lang="en-US" dirty="0">
                    <a:solidFill>
                      <a:schemeClr val="accent1"/>
                    </a:solidFill>
                  </a:rPr>
                  <a:t>Drafted</a:t>
                </a:r>
              </a:p>
            </p:txBody>
          </p:sp>
          <p:sp>
            <p:nvSpPr>
              <p:cNvPr id="91" name="TextBox 90">
                <a:extLst>
                  <a:ext uri="{FF2B5EF4-FFF2-40B4-BE49-F238E27FC236}">
                    <a16:creationId xmlns:a16="http://schemas.microsoft.com/office/drawing/2014/main" id="{AEABD545-DF11-3D45-390C-A7EFC1DEED55}"/>
                  </a:ext>
                </a:extLst>
              </p:cNvPr>
              <p:cNvSpPr txBox="1"/>
              <p:nvPr/>
            </p:nvSpPr>
            <p:spPr>
              <a:xfrm>
                <a:off x="809395" y="3066688"/>
                <a:ext cx="1344984" cy="369332"/>
              </a:xfrm>
              <a:prstGeom prst="rect">
                <a:avLst/>
              </a:prstGeom>
              <a:noFill/>
            </p:spPr>
            <p:txBody>
              <a:bodyPr wrap="none" rtlCol="0">
                <a:spAutoFit/>
              </a:bodyPr>
              <a:lstStyle/>
              <a:p>
                <a:r>
                  <a:rPr lang="en-US" dirty="0">
                    <a:solidFill>
                      <a:schemeClr val="accent1"/>
                    </a:solidFill>
                  </a:rPr>
                  <a:t>Not Drafted</a:t>
                </a:r>
              </a:p>
            </p:txBody>
          </p:sp>
        </p:grpSp>
        <p:grpSp>
          <p:nvGrpSpPr>
            <p:cNvPr id="93" name="Group 92">
              <a:extLst>
                <a:ext uri="{FF2B5EF4-FFF2-40B4-BE49-F238E27FC236}">
                  <a16:creationId xmlns:a16="http://schemas.microsoft.com/office/drawing/2014/main" id="{621E27AC-D1B2-9A4B-9A7D-B87155DC15BF}"/>
                </a:ext>
              </a:extLst>
            </p:cNvPr>
            <p:cNvGrpSpPr/>
            <p:nvPr/>
          </p:nvGrpSpPr>
          <p:grpSpPr>
            <a:xfrm>
              <a:off x="4794985" y="4241041"/>
              <a:ext cx="1125671" cy="872087"/>
              <a:chOff x="6627634" y="3829302"/>
              <a:chExt cx="1415743" cy="1096813"/>
            </a:xfrm>
          </p:grpSpPr>
          <p:grpSp>
            <p:nvGrpSpPr>
              <p:cNvPr id="94" name="Group 93">
                <a:extLst>
                  <a:ext uri="{FF2B5EF4-FFF2-40B4-BE49-F238E27FC236}">
                    <a16:creationId xmlns:a16="http://schemas.microsoft.com/office/drawing/2014/main" id="{95E859F3-C718-B7A6-5561-6927748526FA}"/>
                  </a:ext>
                </a:extLst>
              </p:cNvPr>
              <p:cNvGrpSpPr/>
              <p:nvPr/>
            </p:nvGrpSpPr>
            <p:grpSpPr>
              <a:xfrm>
                <a:off x="6627634" y="3990289"/>
                <a:ext cx="744620" cy="774840"/>
                <a:chOff x="10976721" y="1541196"/>
                <a:chExt cx="837121" cy="871095"/>
              </a:xfrm>
            </p:grpSpPr>
            <p:pic>
              <p:nvPicPr>
                <p:cNvPr id="98" name="Picture 97">
                  <a:extLst>
                    <a:ext uri="{FF2B5EF4-FFF2-40B4-BE49-F238E27FC236}">
                      <a16:creationId xmlns:a16="http://schemas.microsoft.com/office/drawing/2014/main" id="{39C95822-4A0A-8745-2B37-1263BF1B713D}"/>
                    </a:ext>
                  </a:extLst>
                </p:cNvPr>
                <p:cNvPicPr>
                  <a:picLocks noChangeAspect="1"/>
                </p:cNvPicPr>
                <p:nvPr/>
              </p:nvPicPr>
              <p:blipFill>
                <a:blip r:embed="rId5"/>
                <a:stretch>
                  <a:fillRect/>
                </a:stretch>
              </p:blipFill>
              <p:spPr>
                <a:xfrm>
                  <a:off x="10976721" y="1541196"/>
                  <a:ext cx="687021" cy="871095"/>
                </a:xfrm>
                <a:prstGeom prst="rect">
                  <a:avLst/>
                </a:prstGeom>
              </p:spPr>
            </p:pic>
            <p:pic>
              <p:nvPicPr>
                <p:cNvPr id="99" name="Picture 6" descr="Tie Dye T-Shirt - Classic Rainbow Spiral - Psychedelic Shirt">
                  <a:extLst>
                    <a:ext uri="{FF2B5EF4-FFF2-40B4-BE49-F238E27FC236}">
                      <a16:creationId xmlns:a16="http://schemas.microsoft.com/office/drawing/2014/main" id="{B54ED7FB-ABD6-5314-DBEE-6178A508694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b="44407"/>
                <a:stretch/>
              </p:blipFill>
              <p:spPr bwMode="auto">
                <a:xfrm>
                  <a:off x="10979411" y="1836491"/>
                  <a:ext cx="834431"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95" name="Group 94">
                <a:extLst>
                  <a:ext uri="{FF2B5EF4-FFF2-40B4-BE49-F238E27FC236}">
                    <a16:creationId xmlns:a16="http://schemas.microsoft.com/office/drawing/2014/main" id="{1AD2195E-F1F1-CD03-ADBC-4889A957E4F2}"/>
                  </a:ext>
                </a:extLst>
              </p:cNvPr>
              <p:cNvGrpSpPr/>
              <p:nvPr/>
            </p:nvGrpSpPr>
            <p:grpSpPr>
              <a:xfrm>
                <a:off x="7408916" y="3829302"/>
                <a:ext cx="634461" cy="1096813"/>
                <a:chOff x="8802417" y="4582488"/>
                <a:chExt cx="713277" cy="1233065"/>
              </a:xfrm>
            </p:grpSpPr>
            <p:pic>
              <p:nvPicPr>
                <p:cNvPr id="96" name="Picture 7" descr="Adoptable Rabbits | morabbit">
                  <a:extLst>
                    <a:ext uri="{FF2B5EF4-FFF2-40B4-BE49-F238E27FC236}">
                      <a16:creationId xmlns:a16="http://schemas.microsoft.com/office/drawing/2014/main" id="{62A4A921-3C7D-9D99-3631-6C3B4A10F2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802417" y="4641208"/>
                  <a:ext cx="713277" cy="1174345"/>
                </a:xfrm>
                <a:prstGeom prst="rect">
                  <a:avLst/>
                </a:prstGeom>
                <a:extLst>
                  <a:ext uri="{909E8E84-426E-40DD-AFC4-6F175D3DCCD1}">
                    <a14:hiddenFill xmlns:a14="http://schemas.microsoft.com/office/drawing/2010/main">
                      <a:solidFill>
                        <a:srgbClr val="FFFFFF"/>
                      </a:solidFill>
                    </a14:hiddenFill>
                  </a:ext>
                </a:extLst>
              </p:spPr>
            </p:pic>
            <p:pic>
              <p:nvPicPr>
                <p:cNvPr id="97" name="Picture 4" descr="Military Beret Cap With Star PNG &amp; SVG Design For T-Shirts">
                  <a:extLst>
                    <a:ext uri="{FF2B5EF4-FFF2-40B4-BE49-F238E27FC236}">
                      <a16:creationId xmlns:a16="http://schemas.microsoft.com/office/drawing/2014/main" id="{B7F9EA1F-6EDC-F9C1-ECC0-7DDDBB0960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grpSp>
      <p:grpSp>
        <p:nvGrpSpPr>
          <p:cNvPr id="7" name="Group 6">
            <a:extLst>
              <a:ext uri="{FF2B5EF4-FFF2-40B4-BE49-F238E27FC236}">
                <a16:creationId xmlns:a16="http://schemas.microsoft.com/office/drawing/2014/main" id="{85DDC2A9-3E51-85EF-EDAA-220328EBD658}"/>
              </a:ext>
            </a:extLst>
          </p:cNvPr>
          <p:cNvGrpSpPr/>
          <p:nvPr/>
        </p:nvGrpSpPr>
        <p:grpSpPr>
          <a:xfrm>
            <a:off x="5945500" y="774962"/>
            <a:ext cx="3411144" cy="2037831"/>
            <a:chOff x="5945500" y="774962"/>
            <a:chExt cx="3411144" cy="2037831"/>
          </a:xfrm>
        </p:grpSpPr>
        <p:sp>
          <p:nvSpPr>
            <p:cNvPr id="76" name="TextBox 75">
              <a:extLst>
                <a:ext uri="{FF2B5EF4-FFF2-40B4-BE49-F238E27FC236}">
                  <a16:creationId xmlns:a16="http://schemas.microsoft.com/office/drawing/2014/main" id="{930FC141-6C79-715E-0314-9BB7DADE4C96}"/>
                </a:ext>
              </a:extLst>
            </p:cNvPr>
            <p:cNvSpPr txBox="1"/>
            <p:nvPr/>
          </p:nvSpPr>
          <p:spPr>
            <a:xfrm>
              <a:off x="7048020" y="1076254"/>
              <a:ext cx="2308624" cy="1446550"/>
            </a:xfrm>
            <a:prstGeom prst="rect">
              <a:avLst/>
            </a:prstGeom>
            <a:noFill/>
          </p:spPr>
          <p:txBody>
            <a:bodyPr wrap="square" rtlCol="0">
              <a:spAutoFit/>
            </a:bodyPr>
            <a:lstStyle/>
            <a:p>
              <a:pPr algn="ctr"/>
              <a:r>
                <a:rPr lang="en-US" sz="2000" dirty="0">
                  <a:solidFill>
                    <a:schemeClr val="accent2"/>
                  </a:solidFill>
                </a:rPr>
                <a:t>ATE of being drafted on earnings in this group: </a:t>
              </a:r>
            </a:p>
            <a:p>
              <a:pPr algn="ctr"/>
              <a:r>
                <a:rPr lang="en-US" sz="2800" dirty="0">
                  <a:solidFill>
                    <a:schemeClr val="accent2"/>
                  </a:solidFill>
                </a:rPr>
                <a:t>LATE. </a:t>
              </a:r>
              <a:endParaRPr lang="en-US" sz="2000" dirty="0">
                <a:solidFill>
                  <a:schemeClr val="accent2"/>
                </a:solidFill>
              </a:endParaRPr>
            </a:p>
          </p:txBody>
        </p:sp>
        <p:sp>
          <p:nvSpPr>
            <p:cNvPr id="100" name="Right Brace 99">
              <a:extLst>
                <a:ext uri="{FF2B5EF4-FFF2-40B4-BE49-F238E27FC236}">
                  <a16:creationId xmlns:a16="http://schemas.microsoft.com/office/drawing/2014/main" id="{04646A69-6537-AA5A-AD7C-AA7E51E3CB9E}"/>
                </a:ext>
              </a:extLst>
            </p:cNvPr>
            <p:cNvSpPr/>
            <p:nvPr/>
          </p:nvSpPr>
          <p:spPr>
            <a:xfrm>
              <a:off x="5945500" y="774962"/>
              <a:ext cx="1102519" cy="2037831"/>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EC1F1C1-D0CD-4351-303D-53849FEDD5EA}"/>
              </a:ext>
            </a:extLst>
          </p:cNvPr>
          <p:cNvGrpSpPr/>
          <p:nvPr/>
        </p:nvGrpSpPr>
        <p:grpSpPr>
          <a:xfrm>
            <a:off x="5937409" y="3168381"/>
            <a:ext cx="3419235" cy="2001716"/>
            <a:chOff x="5937409" y="3168381"/>
            <a:chExt cx="3419235" cy="2001716"/>
          </a:xfrm>
        </p:grpSpPr>
        <p:sp>
          <p:nvSpPr>
            <p:cNvPr id="75" name="TextBox 74">
              <a:extLst>
                <a:ext uri="{FF2B5EF4-FFF2-40B4-BE49-F238E27FC236}">
                  <a16:creationId xmlns:a16="http://schemas.microsoft.com/office/drawing/2014/main" id="{CC441702-4FE9-2584-19EE-2023297C5C0C}"/>
                </a:ext>
              </a:extLst>
            </p:cNvPr>
            <p:cNvSpPr txBox="1"/>
            <p:nvPr/>
          </p:nvSpPr>
          <p:spPr>
            <a:xfrm>
              <a:off x="7021266" y="3446386"/>
              <a:ext cx="2335378" cy="1446550"/>
            </a:xfrm>
            <a:prstGeom prst="rect">
              <a:avLst/>
            </a:prstGeom>
            <a:noFill/>
          </p:spPr>
          <p:txBody>
            <a:bodyPr wrap="square" rtlCol="0">
              <a:spAutoFit/>
            </a:bodyPr>
            <a:lstStyle/>
            <a:p>
              <a:pPr algn="ctr"/>
              <a:r>
                <a:rPr lang="en-US" sz="2000" dirty="0">
                  <a:solidFill>
                    <a:schemeClr val="accent5"/>
                  </a:solidFill>
                </a:rPr>
                <a:t>ATE of being drafted on earnings in this group: </a:t>
              </a:r>
            </a:p>
            <a:p>
              <a:pPr algn="ctr"/>
              <a:r>
                <a:rPr lang="en-US" sz="2800" dirty="0">
                  <a:solidFill>
                    <a:schemeClr val="accent5"/>
                  </a:solidFill>
                </a:rPr>
                <a:t>Zero.</a:t>
              </a:r>
              <a:endParaRPr lang="en-US" sz="2000" dirty="0">
                <a:solidFill>
                  <a:schemeClr val="accent5"/>
                </a:solidFill>
              </a:endParaRPr>
            </a:p>
          </p:txBody>
        </p:sp>
        <p:sp>
          <p:nvSpPr>
            <p:cNvPr id="101" name="Right Brace 100">
              <a:extLst>
                <a:ext uri="{FF2B5EF4-FFF2-40B4-BE49-F238E27FC236}">
                  <a16:creationId xmlns:a16="http://schemas.microsoft.com/office/drawing/2014/main" id="{7ACC5CDC-7AAB-CA8D-8C9B-36C64C2BF01F}"/>
                </a:ext>
              </a:extLst>
            </p:cNvPr>
            <p:cNvSpPr/>
            <p:nvPr/>
          </p:nvSpPr>
          <p:spPr>
            <a:xfrm>
              <a:off x="5937409" y="3168381"/>
              <a:ext cx="1102519" cy="2001716"/>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93091172-3A67-07DA-5A69-36FDAEFF1B29}"/>
              </a:ext>
            </a:extLst>
          </p:cNvPr>
          <p:cNvGrpSpPr/>
          <p:nvPr/>
        </p:nvGrpSpPr>
        <p:grpSpPr>
          <a:xfrm>
            <a:off x="9342855" y="1799529"/>
            <a:ext cx="2756646" cy="2147104"/>
            <a:chOff x="9342855" y="1799529"/>
            <a:chExt cx="2756646" cy="2147104"/>
          </a:xfrm>
        </p:grpSpPr>
        <p:cxnSp>
          <p:nvCxnSpPr>
            <p:cNvPr id="102" name="Straight Arrow Connector 101">
              <a:extLst>
                <a:ext uri="{FF2B5EF4-FFF2-40B4-BE49-F238E27FC236}">
                  <a16:creationId xmlns:a16="http://schemas.microsoft.com/office/drawing/2014/main" id="{5E891EC0-8164-771E-BED0-6FDBD24DD037}"/>
                </a:ext>
              </a:extLst>
            </p:cNvPr>
            <p:cNvCxnSpPr>
              <a:cxnSpLocks/>
              <a:stCxn id="76" idx="3"/>
            </p:cNvCxnSpPr>
            <p:nvPr/>
          </p:nvCxnSpPr>
          <p:spPr>
            <a:xfrm>
              <a:off x="9356644" y="1799529"/>
              <a:ext cx="956589" cy="75243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437E2E53-6190-652E-4C9F-6ECBEB2EF038}"/>
                </a:ext>
              </a:extLst>
            </p:cNvPr>
            <p:cNvCxnSpPr>
              <a:cxnSpLocks/>
            </p:cNvCxnSpPr>
            <p:nvPr/>
          </p:nvCxnSpPr>
          <p:spPr>
            <a:xfrm flipV="1">
              <a:off x="9342855" y="3476256"/>
              <a:ext cx="836247" cy="47037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92F9C2E4-FA7A-A54C-BE53-6DA74202B9D9}"/>
                </a:ext>
              </a:extLst>
            </p:cNvPr>
            <p:cNvSpPr txBox="1"/>
            <p:nvPr/>
          </p:nvSpPr>
          <p:spPr>
            <a:xfrm>
              <a:off x="10160773" y="2151708"/>
              <a:ext cx="1938728" cy="1569660"/>
            </a:xfrm>
            <a:prstGeom prst="rect">
              <a:avLst/>
            </a:prstGeom>
            <a:noFill/>
          </p:spPr>
          <p:txBody>
            <a:bodyPr wrap="square" rtlCol="0">
              <a:spAutoFit/>
            </a:bodyPr>
            <a:lstStyle/>
            <a:p>
              <a:pPr algn="ctr"/>
              <a:r>
                <a:rPr lang="en-US" sz="2400" dirty="0">
                  <a:solidFill>
                    <a:schemeClr val="accent1"/>
                  </a:solidFill>
                </a:rPr>
                <a:t>Average of both: ATE of being drafted on earnings.</a:t>
              </a:r>
            </a:p>
          </p:txBody>
        </p:sp>
      </p:grpSp>
      <p:sp>
        <p:nvSpPr>
          <p:cNvPr id="108" name="TextBox 107">
            <a:extLst>
              <a:ext uri="{FF2B5EF4-FFF2-40B4-BE49-F238E27FC236}">
                <a16:creationId xmlns:a16="http://schemas.microsoft.com/office/drawing/2014/main" id="{85094E2F-56DD-1060-7ADB-77D63ABFA9D1}"/>
              </a:ext>
            </a:extLst>
          </p:cNvPr>
          <p:cNvSpPr txBox="1"/>
          <p:nvPr/>
        </p:nvSpPr>
        <p:spPr>
          <a:xfrm>
            <a:off x="-6744" y="5281980"/>
            <a:ext cx="3829933" cy="1569660"/>
          </a:xfrm>
          <a:prstGeom prst="rect">
            <a:avLst/>
          </a:prstGeom>
          <a:solidFill>
            <a:schemeClr val="bg1"/>
          </a:solidFill>
        </p:spPr>
        <p:txBody>
          <a:bodyPr wrap="square" rtlCol="0">
            <a:spAutoFit/>
          </a:bodyPr>
          <a:lstStyle/>
          <a:p>
            <a:pPr algn="ctr"/>
            <a:r>
              <a:rPr lang="en-US" sz="2400" dirty="0"/>
              <a:t>If we compute ATE of being drafted on earnings, we are averaging in a bunch of zeros we don’t want!</a:t>
            </a:r>
          </a:p>
        </p:txBody>
      </p:sp>
      <p:sp>
        <p:nvSpPr>
          <p:cNvPr id="109" name="TextBox 108">
            <a:extLst>
              <a:ext uri="{FF2B5EF4-FFF2-40B4-BE49-F238E27FC236}">
                <a16:creationId xmlns:a16="http://schemas.microsoft.com/office/drawing/2014/main" id="{6833B34C-CFB5-1547-9CD0-7873BD99CF4D}"/>
              </a:ext>
            </a:extLst>
          </p:cNvPr>
          <p:cNvSpPr txBox="1"/>
          <p:nvPr/>
        </p:nvSpPr>
        <p:spPr>
          <a:xfrm>
            <a:off x="4177644" y="5435845"/>
            <a:ext cx="2076665" cy="830997"/>
          </a:xfrm>
          <a:prstGeom prst="rect">
            <a:avLst/>
          </a:prstGeom>
          <a:noFill/>
        </p:spPr>
        <p:txBody>
          <a:bodyPr wrap="square" rtlCol="0">
            <a:spAutoFit/>
          </a:bodyPr>
          <a:lstStyle/>
          <a:p>
            <a:r>
              <a:rPr lang="en-US" sz="2400" dirty="0"/>
              <a:t>To fix it, renormalize:</a:t>
            </a:r>
          </a:p>
        </p:txBody>
      </p:sp>
      <p:grpSp>
        <p:nvGrpSpPr>
          <p:cNvPr id="25" name="Group 24">
            <a:extLst>
              <a:ext uri="{FF2B5EF4-FFF2-40B4-BE49-F238E27FC236}">
                <a16:creationId xmlns:a16="http://schemas.microsoft.com/office/drawing/2014/main" id="{8A31F7F1-14E2-76B5-240A-178FF8E7EE92}"/>
              </a:ext>
            </a:extLst>
          </p:cNvPr>
          <p:cNvGrpSpPr/>
          <p:nvPr/>
        </p:nvGrpSpPr>
        <p:grpSpPr>
          <a:xfrm>
            <a:off x="6096000" y="5054501"/>
            <a:ext cx="5958275" cy="1778627"/>
            <a:chOff x="6096000" y="5054501"/>
            <a:chExt cx="5958275" cy="1778627"/>
          </a:xfrm>
        </p:grpSpPr>
        <p:sp>
          <p:nvSpPr>
            <p:cNvPr id="110" name="TextBox 109">
              <a:extLst>
                <a:ext uri="{FF2B5EF4-FFF2-40B4-BE49-F238E27FC236}">
                  <a16:creationId xmlns:a16="http://schemas.microsoft.com/office/drawing/2014/main" id="{1DFDE7D4-029F-D4A4-1BEC-75EEBE980F88}"/>
                </a:ext>
              </a:extLst>
            </p:cNvPr>
            <p:cNvSpPr txBox="1"/>
            <p:nvPr/>
          </p:nvSpPr>
          <p:spPr>
            <a:xfrm>
              <a:off x="6096000" y="5787361"/>
              <a:ext cx="1275414" cy="523220"/>
            </a:xfrm>
            <a:prstGeom prst="rect">
              <a:avLst/>
            </a:prstGeom>
            <a:noFill/>
          </p:spPr>
          <p:txBody>
            <a:bodyPr wrap="none" rtlCol="0">
              <a:spAutoFit/>
            </a:bodyPr>
            <a:lstStyle/>
            <a:p>
              <a:r>
                <a:rPr lang="en-US" sz="2800" dirty="0"/>
                <a:t>LATE = </a:t>
              </a:r>
            </a:p>
          </p:txBody>
        </p:sp>
        <p:sp>
          <p:nvSpPr>
            <p:cNvPr id="111" name="TextBox 110">
              <a:extLst>
                <a:ext uri="{FF2B5EF4-FFF2-40B4-BE49-F238E27FC236}">
                  <a16:creationId xmlns:a16="http://schemas.microsoft.com/office/drawing/2014/main" id="{23583B02-E439-1446-7164-C5452561B590}"/>
                </a:ext>
              </a:extLst>
            </p:cNvPr>
            <p:cNvSpPr txBox="1"/>
            <p:nvPr/>
          </p:nvSpPr>
          <p:spPr>
            <a:xfrm>
              <a:off x="7755618" y="5054501"/>
              <a:ext cx="3682439" cy="830997"/>
            </a:xfrm>
            <a:prstGeom prst="rect">
              <a:avLst/>
            </a:prstGeom>
            <a:noFill/>
            <a:ln>
              <a:noFill/>
            </a:ln>
          </p:spPr>
          <p:txBody>
            <a:bodyPr wrap="square" rtlCol="0">
              <a:spAutoFit/>
            </a:bodyPr>
            <a:lstStyle/>
            <a:p>
              <a:pPr algn="ctr"/>
              <a:r>
                <a:rPr lang="en-US" sz="2400" dirty="0">
                  <a:solidFill>
                    <a:schemeClr val="accent1"/>
                  </a:solidFill>
                </a:rPr>
                <a:t>ATE of being drafted </a:t>
              </a:r>
            </a:p>
            <a:p>
              <a:pPr algn="ctr"/>
              <a:r>
                <a:rPr lang="en-US" sz="2400" dirty="0">
                  <a:solidFill>
                    <a:schemeClr val="accent1"/>
                  </a:solidFill>
                </a:rPr>
                <a:t>on earnings.</a:t>
              </a:r>
            </a:p>
          </p:txBody>
        </p:sp>
        <p:sp>
          <p:nvSpPr>
            <p:cNvPr id="114" name="TextBox 113">
              <a:extLst>
                <a:ext uri="{FF2B5EF4-FFF2-40B4-BE49-F238E27FC236}">
                  <a16:creationId xmlns:a16="http://schemas.microsoft.com/office/drawing/2014/main" id="{EEB443F5-BA5E-72E5-04C0-7C288A8E0303}"/>
                </a:ext>
              </a:extLst>
            </p:cNvPr>
            <p:cNvSpPr txBox="1"/>
            <p:nvPr/>
          </p:nvSpPr>
          <p:spPr>
            <a:xfrm>
              <a:off x="7215312" y="6002131"/>
              <a:ext cx="4838963" cy="830997"/>
            </a:xfrm>
            <a:prstGeom prst="rect">
              <a:avLst/>
            </a:prstGeom>
            <a:solidFill>
              <a:schemeClr val="bg1"/>
            </a:solidFill>
            <a:ln>
              <a:noFill/>
            </a:ln>
          </p:spPr>
          <p:txBody>
            <a:bodyPr wrap="square" rtlCol="0">
              <a:spAutoFit/>
            </a:bodyPr>
            <a:lstStyle/>
            <a:p>
              <a:pPr algn="ctr"/>
              <a:r>
                <a:rPr lang="en-US" sz="2400" dirty="0">
                  <a:solidFill>
                    <a:schemeClr val="accent1"/>
                  </a:solidFill>
                </a:rPr>
                <a:t>Fraction of people</a:t>
              </a:r>
            </a:p>
            <a:p>
              <a:pPr algn="ctr"/>
              <a:r>
                <a:rPr lang="en-US" sz="2400" dirty="0">
                  <a:solidFill>
                    <a:schemeClr val="accent1"/>
                  </a:solidFill>
                </a:rPr>
                <a:t> who are compliers</a:t>
              </a:r>
            </a:p>
          </p:txBody>
        </p:sp>
        <p:cxnSp>
          <p:nvCxnSpPr>
            <p:cNvPr id="113" name="Straight Connector 112">
              <a:extLst>
                <a:ext uri="{FF2B5EF4-FFF2-40B4-BE49-F238E27FC236}">
                  <a16:creationId xmlns:a16="http://schemas.microsoft.com/office/drawing/2014/main" id="{81C97CA0-FD48-34F8-8D32-652B278B5549}"/>
                </a:ext>
              </a:extLst>
            </p:cNvPr>
            <p:cNvCxnSpPr>
              <a:cxnSpLocks/>
            </p:cNvCxnSpPr>
            <p:nvPr/>
          </p:nvCxnSpPr>
          <p:spPr>
            <a:xfrm flipH="1">
              <a:off x="7529073" y="5915894"/>
              <a:ext cx="4226735" cy="0"/>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42085144-C58E-53E9-1525-30BCF7BE1996}"/>
              </a:ext>
            </a:extLst>
          </p:cNvPr>
          <p:cNvGrpSpPr/>
          <p:nvPr/>
        </p:nvGrpSpPr>
        <p:grpSpPr>
          <a:xfrm>
            <a:off x="-6744" y="4577891"/>
            <a:ext cx="12198744" cy="704089"/>
            <a:chOff x="-6744" y="4577891"/>
            <a:chExt cx="12198744" cy="704089"/>
          </a:xfrm>
        </p:grpSpPr>
        <p:cxnSp>
          <p:nvCxnSpPr>
            <p:cNvPr id="13" name="Straight Connector 12">
              <a:extLst>
                <a:ext uri="{FF2B5EF4-FFF2-40B4-BE49-F238E27FC236}">
                  <a16:creationId xmlns:a16="http://schemas.microsoft.com/office/drawing/2014/main" id="{8B5A1177-E3C2-EFDD-7DAB-2D4818E9A149}"/>
                </a:ext>
              </a:extLst>
            </p:cNvPr>
            <p:cNvCxnSpPr/>
            <p:nvPr/>
          </p:nvCxnSpPr>
          <p:spPr>
            <a:xfrm>
              <a:off x="-6744" y="5281980"/>
              <a:ext cx="7054763" cy="0"/>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25DA15E-B009-2658-D74D-C4DACE7E000D}"/>
                </a:ext>
              </a:extLst>
            </p:cNvPr>
            <p:cNvCxnSpPr>
              <a:cxnSpLocks/>
            </p:cNvCxnSpPr>
            <p:nvPr/>
          </p:nvCxnSpPr>
          <p:spPr>
            <a:xfrm flipV="1">
              <a:off x="7039928" y="4644950"/>
              <a:ext cx="2556909" cy="637030"/>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94C05FF-B41F-9E58-B08F-5B7ABD2972A1}"/>
                </a:ext>
              </a:extLst>
            </p:cNvPr>
            <p:cNvCxnSpPr>
              <a:cxnSpLocks/>
            </p:cNvCxnSpPr>
            <p:nvPr/>
          </p:nvCxnSpPr>
          <p:spPr>
            <a:xfrm flipV="1">
              <a:off x="9584828" y="4577891"/>
              <a:ext cx="2607172" cy="50710"/>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6742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6827-FA61-799C-8D69-F3189A87DFAB}"/>
              </a:ext>
            </a:extLst>
          </p:cNvPr>
          <p:cNvSpPr>
            <a:spLocks noGrp="1"/>
          </p:cNvSpPr>
          <p:nvPr>
            <p:ph type="title"/>
          </p:nvPr>
        </p:nvSpPr>
        <p:spPr>
          <a:xfrm>
            <a:off x="613348" y="-66370"/>
            <a:ext cx="10515600" cy="1325563"/>
          </a:xfrm>
        </p:spPr>
        <p:txBody>
          <a:bodyPr/>
          <a:lstStyle/>
          <a:p>
            <a:r>
              <a:rPr lang="en-US" dirty="0"/>
              <a:t>Explanation 1</a:t>
            </a:r>
          </a:p>
        </p:txBody>
      </p:sp>
      <p:grpSp>
        <p:nvGrpSpPr>
          <p:cNvPr id="3" name="Group 2">
            <a:extLst>
              <a:ext uri="{FF2B5EF4-FFF2-40B4-BE49-F238E27FC236}">
                <a16:creationId xmlns:a16="http://schemas.microsoft.com/office/drawing/2014/main" id="{D02C819E-52CB-60B1-E0B2-6AA87A526149}"/>
              </a:ext>
            </a:extLst>
          </p:cNvPr>
          <p:cNvGrpSpPr/>
          <p:nvPr/>
        </p:nvGrpSpPr>
        <p:grpSpPr>
          <a:xfrm>
            <a:off x="270033" y="1076254"/>
            <a:ext cx="3229394" cy="3703518"/>
            <a:chOff x="270033" y="1076254"/>
            <a:chExt cx="3229394" cy="3703518"/>
          </a:xfrm>
        </p:grpSpPr>
        <p:grpSp>
          <p:nvGrpSpPr>
            <p:cNvPr id="73" name="Group 72">
              <a:extLst>
                <a:ext uri="{FF2B5EF4-FFF2-40B4-BE49-F238E27FC236}">
                  <a16:creationId xmlns:a16="http://schemas.microsoft.com/office/drawing/2014/main" id="{9ED98D3F-A9FD-D89B-1D77-F9D542C29B3B}"/>
                </a:ext>
              </a:extLst>
            </p:cNvPr>
            <p:cNvGrpSpPr/>
            <p:nvPr/>
          </p:nvGrpSpPr>
          <p:grpSpPr>
            <a:xfrm>
              <a:off x="980737" y="1472468"/>
              <a:ext cx="2248657" cy="929259"/>
              <a:chOff x="1967125" y="1663441"/>
              <a:chExt cx="2899376" cy="1198169"/>
            </a:xfrm>
          </p:grpSpPr>
          <p:pic>
            <p:nvPicPr>
              <p:cNvPr id="5" name="Picture 4">
                <a:extLst>
                  <a:ext uri="{FF2B5EF4-FFF2-40B4-BE49-F238E27FC236}">
                    <a16:creationId xmlns:a16="http://schemas.microsoft.com/office/drawing/2014/main" id="{699C28B0-89BB-3681-2B0F-C2610EA5627D}"/>
                  </a:ext>
                </a:extLst>
              </p:cNvPr>
              <p:cNvPicPr>
                <a:picLocks noChangeAspect="1"/>
              </p:cNvPicPr>
              <p:nvPr/>
            </p:nvPicPr>
            <p:blipFill>
              <a:blip r:embed="rId3"/>
              <a:stretch>
                <a:fillRect/>
              </a:stretch>
            </p:blipFill>
            <p:spPr>
              <a:xfrm>
                <a:off x="1967125" y="1686112"/>
                <a:ext cx="773714" cy="1168224"/>
              </a:xfrm>
              <a:prstGeom prst="rect">
                <a:avLst/>
              </a:prstGeom>
            </p:spPr>
          </p:pic>
          <p:pic>
            <p:nvPicPr>
              <p:cNvPr id="8" name="Picture 7">
                <a:extLst>
                  <a:ext uri="{FF2B5EF4-FFF2-40B4-BE49-F238E27FC236}">
                    <a16:creationId xmlns:a16="http://schemas.microsoft.com/office/drawing/2014/main" id="{0F247375-D064-0FAA-86D8-20EAD1F36A7B}"/>
                  </a:ext>
                </a:extLst>
              </p:cNvPr>
              <p:cNvPicPr>
                <a:picLocks noChangeAspect="1"/>
              </p:cNvPicPr>
              <p:nvPr/>
            </p:nvPicPr>
            <p:blipFill>
              <a:blip r:embed="rId3"/>
              <a:stretch>
                <a:fillRect/>
              </a:stretch>
            </p:blipFill>
            <p:spPr>
              <a:xfrm>
                <a:off x="2673522" y="1663441"/>
                <a:ext cx="773714" cy="1168224"/>
              </a:xfrm>
              <a:prstGeom prst="rect">
                <a:avLst/>
              </a:prstGeom>
            </p:spPr>
          </p:pic>
          <p:pic>
            <p:nvPicPr>
              <p:cNvPr id="11" name="Picture 10">
                <a:extLst>
                  <a:ext uri="{FF2B5EF4-FFF2-40B4-BE49-F238E27FC236}">
                    <a16:creationId xmlns:a16="http://schemas.microsoft.com/office/drawing/2014/main" id="{3ABE2215-B867-B12B-D1A0-D578B6F29FB1}"/>
                  </a:ext>
                </a:extLst>
              </p:cNvPr>
              <p:cNvPicPr>
                <a:picLocks noChangeAspect="1"/>
              </p:cNvPicPr>
              <p:nvPr/>
            </p:nvPicPr>
            <p:blipFill>
              <a:blip r:embed="rId3"/>
              <a:stretch>
                <a:fillRect/>
              </a:stretch>
            </p:blipFill>
            <p:spPr>
              <a:xfrm>
                <a:off x="3379919" y="1689312"/>
                <a:ext cx="773714" cy="1168224"/>
              </a:xfrm>
              <a:prstGeom prst="rect">
                <a:avLst/>
              </a:prstGeom>
            </p:spPr>
          </p:pic>
          <p:pic>
            <p:nvPicPr>
              <p:cNvPr id="14" name="Picture 13">
                <a:extLst>
                  <a:ext uri="{FF2B5EF4-FFF2-40B4-BE49-F238E27FC236}">
                    <a16:creationId xmlns:a16="http://schemas.microsoft.com/office/drawing/2014/main" id="{BC6A3DD4-C833-1A1D-614B-56C5F67595B1}"/>
                  </a:ext>
                </a:extLst>
              </p:cNvPr>
              <p:cNvPicPr>
                <a:picLocks noChangeAspect="1"/>
              </p:cNvPicPr>
              <p:nvPr/>
            </p:nvPicPr>
            <p:blipFill>
              <a:blip r:embed="rId3"/>
              <a:stretch>
                <a:fillRect/>
              </a:stretch>
            </p:blipFill>
            <p:spPr>
              <a:xfrm>
                <a:off x="4092787" y="1693386"/>
                <a:ext cx="773714" cy="1168224"/>
              </a:xfrm>
              <a:prstGeom prst="rect">
                <a:avLst/>
              </a:prstGeom>
            </p:spPr>
          </p:pic>
        </p:grpSp>
        <p:sp>
          <p:nvSpPr>
            <p:cNvPr id="28" name="TextBox 27">
              <a:extLst>
                <a:ext uri="{FF2B5EF4-FFF2-40B4-BE49-F238E27FC236}">
                  <a16:creationId xmlns:a16="http://schemas.microsoft.com/office/drawing/2014/main" id="{C4D63F03-D6D5-EE40-313F-C7A2C4BA65E6}"/>
                </a:ext>
              </a:extLst>
            </p:cNvPr>
            <p:cNvSpPr txBox="1"/>
            <p:nvPr/>
          </p:nvSpPr>
          <p:spPr>
            <a:xfrm>
              <a:off x="1376276" y="1076254"/>
              <a:ext cx="1337930" cy="400110"/>
            </a:xfrm>
            <a:prstGeom prst="rect">
              <a:avLst/>
            </a:prstGeom>
            <a:noFill/>
          </p:spPr>
          <p:txBody>
            <a:bodyPr wrap="none" rtlCol="0">
              <a:spAutoFit/>
            </a:bodyPr>
            <a:lstStyle/>
            <a:p>
              <a:pPr algn="ctr"/>
              <a:r>
                <a:rPr lang="en-US" sz="2000" dirty="0"/>
                <a:t>Compliers</a:t>
              </a:r>
            </a:p>
          </p:txBody>
        </p:sp>
        <p:grpSp>
          <p:nvGrpSpPr>
            <p:cNvPr id="86" name="Group 85">
              <a:extLst>
                <a:ext uri="{FF2B5EF4-FFF2-40B4-BE49-F238E27FC236}">
                  <a16:creationId xmlns:a16="http://schemas.microsoft.com/office/drawing/2014/main" id="{BC17CC1B-A7FB-0FC4-03CC-5857E55F256B}"/>
                </a:ext>
              </a:extLst>
            </p:cNvPr>
            <p:cNvGrpSpPr/>
            <p:nvPr/>
          </p:nvGrpSpPr>
          <p:grpSpPr>
            <a:xfrm>
              <a:off x="270033" y="3147953"/>
              <a:ext cx="3229394" cy="1631819"/>
              <a:chOff x="547531" y="2454017"/>
              <a:chExt cx="3229394" cy="1631819"/>
            </a:xfrm>
          </p:grpSpPr>
          <p:grpSp>
            <p:nvGrpSpPr>
              <p:cNvPr id="74" name="Group 73">
                <a:extLst>
                  <a:ext uri="{FF2B5EF4-FFF2-40B4-BE49-F238E27FC236}">
                    <a16:creationId xmlns:a16="http://schemas.microsoft.com/office/drawing/2014/main" id="{7CED7D0E-C993-2D42-1762-983D2E7D2208}"/>
                  </a:ext>
                </a:extLst>
              </p:cNvPr>
              <p:cNvGrpSpPr/>
              <p:nvPr/>
            </p:nvGrpSpPr>
            <p:grpSpPr>
              <a:xfrm>
                <a:off x="1108412" y="3205133"/>
                <a:ext cx="2306722" cy="880703"/>
                <a:chOff x="7456650" y="1706889"/>
                <a:chExt cx="2758953" cy="1053365"/>
              </a:xfrm>
            </p:grpSpPr>
            <p:pic>
              <p:nvPicPr>
                <p:cNvPr id="17" name="Picture 7" descr="Adoptable Rabbits | morabbit">
                  <a:extLst>
                    <a:ext uri="{FF2B5EF4-FFF2-40B4-BE49-F238E27FC236}">
                      <a16:creationId xmlns:a16="http://schemas.microsoft.com/office/drawing/2014/main" id="{3F4CDC45-83E6-48A0-9022-0A20D78FA1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581142" y="1715673"/>
                  <a:ext cx="634461" cy="1044581"/>
                </a:xfrm>
                <a:prstGeom prst="rect">
                  <a:avLst/>
                </a:prstGeom>
                <a:extLst>
                  <a:ext uri="{909E8E84-426E-40DD-AFC4-6F175D3DCCD1}">
                    <a14:hiddenFill xmlns:a14="http://schemas.microsoft.com/office/drawing/2010/main">
                      <a:solidFill>
                        <a:srgbClr val="FFFFFF"/>
                      </a:solidFill>
                    </a14:hiddenFill>
                  </a:ext>
                </a:extLst>
              </p:spPr>
            </p:pic>
            <p:pic>
              <p:nvPicPr>
                <p:cNvPr id="20" name="Picture 7" descr="Adoptable Rabbits | morabbit">
                  <a:extLst>
                    <a:ext uri="{FF2B5EF4-FFF2-40B4-BE49-F238E27FC236}">
                      <a16:creationId xmlns:a16="http://schemas.microsoft.com/office/drawing/2014/main" id="{64F443EB-276F-9E0B-FDA4-A7BE14084C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929754" y="1706889"/>
                  <a:ext cx="634461" cy="1044581"/>
                </a:xfrm>
                <a:prstGeom prst="rect">
                  <a:avLst/>
                </a:prstGeom>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5F4259CD-753C-1E8E-C072-A589382EEAAC}"/>
                    </a:ext>
                  </a:extLst>
                </p:cNvPr>
                <p:cNvPicPr>
                  <a:picLocks noChangeAspect="1"/>
                </p:cNvPicPr>
                <p:nvPr/>
              </p:nvPicPr>
              <p:blipFill>
                <a:blip r:embed="rId5"/>
                <a:stretch>
                  <a:fillRect/>
                </a:stretch>
              </p:blipFill>
              <p:spPr>
                <a:xfrm>
                  <a:off x="7456650" y="1820517"/>
                  <a:ext cx="611106" cy="774840"/>
                </a:xfrm>
                <a:prstGeom prst="rect">
                  <a:avLst/>
                </a:prstGeom>
              </p:spPr>
            </p:pic>
            <p:pic>
              <p:nvPicPr>
                <p:cNvPr id="26" name="Picture 25">
                  <a:extLst>
                    <a:ext uri="{FF2B5EF4-FFF2-40B4-BE49-F238E27FC236}">
                      <a16:creationId xmlns:a16="http://schemas.microsoft.com/office/drawing/2014/main" id="{5F3B27CB-68F2-C5E4-0F5A-633E28DA2192}"/>
                    </a:ext>
                  </a:extLst>
                </p:cNvPr>
                <p:cNvPicPr>
                  <a:picLocks noChangeAspect="1"/>
                </p:cNvPicPr>
                <p:nvPr/>
              </p:nvPicPr>
              <p:blipFill>
                <a:blip r:embed="rId5"/>
                <a:stretch>
                  <a:fillRect/>
                </a:stretch>
              </p:blipFill>
              <p:spPr>
                <a:xfrm>
                  <a:off x="8089400" y="1824429"/>
                  <a:ext cx="611106" cy="774840"/>
                </a:xfrm>
                <a:prstGeom prst="rect">
                  <a:avLst/>
                </a:prstGeom>
              </p:spPr>
            </p:pic>
          </p:grpSp>
          <p:sp>
            <p:nvSpPr>
              <p:cNvPr id="29" name="TextBox 28">
                <a:extLst>
                  <a:ext uri="{FF2B5EF4-FFF2-40B4-BE49-F238E27FC236}">
                    <a16:creationId xmlns:a16="http://schemas.microsoft.com/office/drawing/2014/main" id="{5BB322DB-3329-961B-91BC-B838E8CE7B7C}"/>
                  </a:ext>
                </a:extLst>
              </p:cNvPr>
              <p:cNvSpPr txBox="1"/>
              <p:nvPr/>
            </p:nvSpPr>
            <p:spPr>
              <a:xfrm>
                <a:off x="547531" y="2454017"/>
                <a:ext cx="3229394" cy="707886"/>
              </a:xfrm>
              <a:prstGeom prst="rect">
                <a:avLst/>
              </a:prstGeom>
              <a:noFill/>
            </p:spPr>
            <p:txBody>
              <a:bodyPr wrap="square" rtlCol="0">
                <a:spAutoFit/>
              </a:bodyPr>
              <a:lstStyle/>
              <a:p>
                <a:pPr algn="ctr"/>
                <a:r>
                  <a:rPr lang="en-US" sz="2000" dirty="0"/>
                  <a:t>Never-Takers / </a:t>
                </a:r>
              </a:p>
              <a:p>
                <a:pPr algn="ctr"/>
                <a:r>
                  <a:rPr lang="en-US" sz="2000" dirty="0"/>
                  <a:t>Always-Takers</a:t>
                </a:r>
              </a:p>
            </p:txBody>
          </p:sp>
        </p:grpSp>
      </p:grpSp>
      <p:grpSp>
        <p:nvGrpSpPr>
          <p:cNvPr id="4" name="Group 3">
            <a:extLst>
              <a:ext uri="{FF2B5EF4-FFF2-40B4-BE49-F238E27FC236}">
                <a16:creationId xmlns:a16="http://schemas.microsoft.com/office/drawing/2014/main" id="{73F206FE-E907-6116-3C83-411C38B3C688}"/>
              </a:ext>
            </a:extLst>
          </p:cNvPr>
          <p:cNvGrpSpPr/>
          <p:nvPr/>
        </p:nvGrpSpPr>
        <p:grpSpPr>
          <a:xfrm>
            <a:off x="3229394" y="696183"/>
            <a:ext cx="2792628" cy="2113821"/>
            <a:chOff x="3229394" y="696183"/>
            <a:chExt cx="2792628" cy="2113821"/>
          </a:xfrm>
        </p:grpSpPr>
        <p:grpSp>
          <p:nvGrpSpPr>
            <p:cNvPr id="42" name="Group 41">
              <a:extLst>
                <a:ext uri="{FF2B5EF4-FFF2-40B4-BE49-F238E27FC236}">
                  <a16:creationId xmlns:a16="http://schemas.microsoft.com/office/drawing/2014/main" id="{111970DF-634D-91B0-EE03-898EE0890611}"/>
                </a:ext>
              </a:extLst>
            </p:cNvPr>
            <p:cNvGrpSpPr/>
            <p:nvPr/>
          </p:nvGrpSpPr>
          <p:grpSpPr>
            <a:xfrm>
              <a:off x="3229394" y="1117981"/>
              <a:ext cx="1568146" cy="1448508"/>
              <a:chOff x="600413" y="3066688"/>
              <a:chExt cx="1762950" cy="1628451"/>
            </a:xfrm>
          </p:grpSpPr>
          <p:cxnSp>
            <p:nvCxnSpPr>
              <p:cNvPr id="32" name="Straight Arrow Connector 31">
                <a:extLst>
                  <a:ext uri="{FF2B5EF4-FFF2-40B4-BE49-F238E27FC236}">
                    <a16:creationId xmlns:a16="http://schemas.microsoft.com/office/drawing/2014/main" id="{C30F12B3-38AC-806E-5D11-23AAF9333675}"/>
                  </a:ext>
                </a:extLst>
              </p:cNvPr>
              <p:cNvCxnSpPr>
                <a:cxnSpLocks/>
                <a:stCxn id="14" idx="3"/>
              </p:cNvCxnSpPr>
              <p:nvPr/>
            </p:nvCxnSpPr>
            <p:spPr>
              <a:xfrm>
                <a:off x="600413" y="4000616"/>
                <a:ext cx="1762950" cy="449049"/>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0EDFB29-95B5-D152-A701-AB376FA965B0}"/>
                  </a:ext>
                </a:extLst>
              </p:cNvPr>
              <p:cNvCxnSpPr>
                <a:cxnSpLocks/>
                <a:stCxn id="14" idx="3"/>
              </p:cNvCxnSpPr>
              <p:nvPr/>
            </p:nvCxnSpPr>
            <p:spPr>
              <a:xfrm flipV="1">
                <a:off x="600413" y="3426503"/>
                <a:ext cx="1640600" cy="57411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13C1456B-B4D3-561E-0E08-8882345A4FC4}"/>
                  </a:ext>
                </a:extLst>
              </p:cNvPr>
              <p:cNvSpPr txBox="1"/>
              <p:nvPr/>
            </p:nvSpPr>
            <p:spPr>
              <a:xfrm>
                <a:off x="994941" y="4325807"/>
                <a:ext cx="933012" cy="369332"/>
              </a:xfrm>
              <a:prstGeom prst="rect">
                <a:avLst/>
              </a:prstGeom>
              <a:noFill/>
            </p:spPr>
            <p:txBody>
              <a:bodyPr wrap="none" rtlCol="0">
                <a:spAutoFit/>
              </a:bodyPr>
              <a:lstStyle/>
              <a:p>
                <a:r>
                  <a:rPr lang="en-US" dirty="0">
                    <a:solidFill>
                      <a:schemeClr val="accent1"/>
                    </a:solidFill>
                  </a:rPr>
                  <a:t>Drafted</a:t>
                </a:r>
              </a:p>
            </p:txBody>
          </p:sp>
          <p:sp>
            <p:nvSpPr>
              <p:cNvPr id="39" name="TextBox 38">
                <a:extLst>
                  <a:ext uri="{FF2B5EF4-FFF2-40B4-BE49-F238E27FC236}">
                    <a16:creationId xmlns:a16="http://schemas.microsoft.com/office/drawing/2014/main" id="{26B894FB-216B-B4A6-5B90-A8839FC985DE}"/>
                  </a:ext>
                </a:extLst>
              </p:cNvPr>
              <p:cNvSpPr txBox="1"/>
              <p:nvPr/>
            </p:nvSpPr>
            <p:spPr>
              <a:xfrm>
                <a:off x="809395" y="3066688"/>
                <a:ext cx="1344984" cy="369332"/>
              </a:xfrm>
              <a:prstGeom prst="rect">
                <a:avLst/>
              </a:prstGeom>
              <a:noFill/>
            </p:spPr>
            <p:txBody>
              <a:bodyPr wrap="none" rtlCol="0">
                <a:spAutoFit/>
              </a:bodyPr>
              <a:lstStyle/>
              <a:p>
                <a:r>
                  <a:rPr lang="en-US" dirty="0">
                    <a:solidFill>
                      <a:schemeClr val="accent1"/>
                    </a:solidFill>
                  </a:rPr>
                  <a:t>Not Drafted</a:t>
                </a:r>
              </a:p>
            </p:txBody>
          </p:sp>
        </p:grpSp>
        <p:grpSp>
          <p:nvGrpSpPr>
            <p:cNvPr id="84" name="Group 83">
              <a:extLst>
                <a:ext uri="{FF2B5EF4-FFF2-40B4-BE49-F238E27FC236}">
                  <a16:creationId xmlns:a16="http://schemas.microsoft.com/office/drawing/2014/main" id="{C13795FA-7628-5FDF-D4A9-BFC76DC3D47D}"/>
                </a:ext>
              </a:extLst>
            </p:cNvPr>
            <p:cNvGrpSpPr/>
            <p:nvPr/>
          </p:nvGrpSpPr>
          <p:grpSpPr>
            <a:xfrm>
              <a:off x="4676961" y="696183"/>
              <a:ext cx="1345061" cy="1096813"/>
              <a:chOff x="4247661" y="3742545"/>
              <a:chExt cx="1451454" cy="1183570"/>
            </a:xfrm>
          </p:grpSpPr>
          <p:grpSp>
            <p:nvGrpSpPr>
              <p:cNvPr id="48" name="Group 47">
                <a:extLst>
                  <a:ext uri="{FF2B5EF4-FFF2-40B4-BE49-F238E27FC236}">
                    <a16:creationId xmlns:a16="http://schemas.microsoft.com/office/drawing/2014/main" id="{B2DF984D-0B5C-4179-0CFC-4F3EB8F9E774}"/>
                  </a:ext>
                </a:extLst>
              </p:cNvPr>
              <p:cNvGrpSpPr/>
              <p:nvPr/>
            </p:nvGrpSpPr>
            <p:grpSpPr>
              <a:xfrm>
                <a:off x="4247661" y="3757891"/>
                <a:ext cx="773714" cy="1168224"/>
                <a:chOff x="7999130" y="1323857"/>
                <a:chExt cx="869829" cy="1313348"/>
              </a:xfrm>
            </p:grpSpPr>
            <p:pic>
              <p:nvPicPr>
                <p:cNvPr id="49" name="Picture 48">
                  <a:extLst>
                    <a:ext uri="{FF2B5EF4-FFF2-40B4-BE49-F238E27FC236}">
                      <a16:creationId xmlns:a16="http://schemas.microsoft.com/office/drawing/2014/main" id="{8A3B73CF-AF7F-3459-8B91-2CF9C68F7979}"/>
                    </a:ext>
                  </a:extLst>
                </p:cNvPr>
                <p:cNvPicPr>
                  <a:picLocks noChangeAspect="1"/>
                </p:cNvPicPr>
                <p:nvPr/>
              </p:nvPicPr>
              <p:blipFill>
                <a:blip r:embed="rId3"/>
                <a:stretch>
                  <a:fillRect/>
                </a:stretch>
              </p:blipFill>
              <p:spPr>
                <a:xfrm>
                  <a:off x="7999130" y="1323857"/>
                  <a:ext cx="869829" cy="1313348"/>
                </a:xfrm>
                <a:prstGeom prst="rect">
                  <a:avLst/>
                </a:prstGeom>
              </p:spPr>
            </p:pic>
            <p:pic>
              <p:nvPicPr>
                <p:cNvPr id="50" name="Picture 6" descr="Tie Dye T-Shirt - Classic Rainbow Spiral - Psychedelic Shirt">
                  <a:extLst>
                    <a:ext uri="{FF2B5EF4-FFF2-40B4-BE49-F238E27FC236}">
                      <a16:creationId xmlns:a16="http://schemas.microsoft.com/office/drawing/2014/main" id="{467CBEF3-6E3B-70B6-38C1-D1B7257922D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51" name="Group 50">
                <a:extLst>
                  <a:ext uri="{FF2B5EF4-FFF2-40B4-BE49-F238E27FC236}">
                    <a16:creationId xmlns:a16="http://schemas.microsoft.com/office/drawing/2014/main" id="{E1485445-7641-6CA9-9D9F-80140AF84163}"/>
                  </a:ext>
                </a:extLst>
              </p:cNvPr>
              <p:cNvGrpSpPr/>
              <p:nvPr/>
            </p:nvGrpSpPr>
            <p:grpSpPr>
              <a:xfrm>
                <a:off x="4925401" y="3742545"/>
                <a:ext cx="773714" cy="1168224"/>
                <a:chOff x="7999130" y="1323857"/>
                <a:chExt cx="869829" cy="1313348"/>
              </a:xfrm>
            </p:grpSpPr>
            <p:pic>
              <p:nvPicPr>
                <p:cNvPr id="52" name="Picture 51">
                  <a:extLst>
                    <a:ext uri="{FF2B5EF4-FFF2-40B4-BE49-F238E27FC236}">
                      <a16:creationId xmlns:a16="http://schemas.microsoft.com/office/drawing/2014/main" id="{7F67B015-FF6E-2A40-67FC-7D3A2E5F876A}"/>
                    </a:ext>
                  </a:extLst>
                </p:cNvPr>
                <p:cNvPicPr>
                  <a:picLocks noChangeAspect="1"/>
                </p:cNvPicPr>
                <p:nvPr/>
              </p:nvPicPr>
              <p:blipFill>
                <a:blip r:embed="rId3"/>
                <a:stretch>
                  <a:fillRect/>
                </a:stretch>
              </p:blipFill>
              <p:spPr>
                <a:xfrm>
                  <a:off x="7999130" y="1323857"/>
                  <a:ext cx="869829" cy="1313348"/>
                </a:xfrm>
                <a:prstGeom prst="rect">
                  <a:avLst/>
                </a:prstGeom>
              </p:spPr>
            </p:pic>
            <p:pic>
              <p:nvPicPr>
                <p:cNvPr id="53" name="Picture 6" descr="Tie Dye T-Shirt - Classic Rainbow Spiral - Psychedelic Shirt">
                  <a:extLst>
                    <a:ext uri="{FF2B5EF4-FFF2-40B4-BE49-F238E27FC236}">
                      <a16:creationId xmlns:a16="http://schemas.microsoft.com/office/drawing/2014/main" id="{A2A665D4-43EA-674D-7A91-27B0B9388C5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grpSp>
          <p:nvGrpSpPr>
            <p:cNvPr id="83" name="Group 82">
              <a:extLst>
                <a:ext uri="{FF2B5EF4-FFF2-40B4-BE49-F238E27FC236}">
                  <a16:creationId xmlns:a16="http://schemas.microsoft.com/office/drawing/2014/main" id="{8DC2EB41-E27A-E089-7376-6CF41AF45C6C}"/>
                </a:ext>
              </a:extLst>
            </p:cNvPr>
            <p:cNvGrpSpPr/>
            <p:nvPr/>
          </p:nvGrpSpPr>
          <p:grpSpPr>
            <a:xfrm>
              <a:off x="4781990" y="1872544"/>
              <a:ext cx="1122394" cy="937460"/>
              <a:chOff x="1097390" y="3763115"/>
              <a:chExt cx="1480111" cy="1236237"/>
            </a:xfrm>
          </p:grpSpPr>
          <p:grpSp>
            <p:nvGrpSpPr>
              <p:cNvPr id="54" name="Group 53">
                <a:extLst>
                  <a:ext uri="{FF2B5EF4-FFF2-40B4-BE49-F238E27FC236}">
                    <a16:creationId xmlns:a16="http://schemas.microsoft.com/office/drawing/2014/main" id="{AA11CF46-9CC0-CA06-F320-80F700DDA9C8}"/>
                  </a:ext>
                </a:extLst>
              </p:cNvPr>
              <p:cNvGrpSpPr/>
              <p:nvPr/>
            </p:nvGrpSpPr>
            <p:grpSpPr>
              <a:xfrm>
                <a:off x="1097390" y="3785786"/>
                <a:ext cx="773714" cy="1213566"/>
                <a:chOff x="8012095" y="8705"/>
                <a:chExt cx="869829" cy="1364322"/>
              </a:xfrm>
            </p:grpSpPr>
            <p:pic>
              <p:nvPicPr>
                <p:cNvPr id="55" name="Picture 54">
                  <a:extLst>
                    <a:ext uri="{FF2B5EF4-FFF2-40B4-BE49-F238E27FC236}">
                      <a16:creationId xmlns:a16="http://schemas.microsoft.com/office/drawing/2014/main" id="{41EED978-3C78-F156-0272-C9C205B60197}"/>
                    </a:ext>
                  </a:extLst>
                </p:cNvPr>
                <p:cNvPicPr>
                  <a:picLocks noChangeAspect="1"/>
                </p:cNvPicPr>
                <p:nvPr/>
              </p:nvPicPr>
              <p:blipFill>
                <a:blip r:embed="rId3"/>
                <a:stretch>
                  <a:fillRect/>
                </a:stretch>
              </p:blipFill>
              <p:spPr>
                <a:xfrm>
                  <a:off x="8012095" y="59679"/>
                  <a:ext cx="869829" cy="1313348"/>
                </a:xfrm>
                <a:prstGeom prst="rect">
                  <a:avLst/>
                </a:prstGeom>
              </p:spPr>
            </p:pic>
            <p:pic>
              <p:nvPicPr>
                <p:cNvPr id="56" name="Picture 4" descr="Military Beret Cap With Star PNG &amp; SVG Design For T-Shirts">
                  <a:extLst>
                    <a:ext uri="{FF2B5EF4-FFF2-40B4-BE49-F238E27FC236}">
                      <a16:creationId xmlns:a16="http://schemas.microsoft.com/office/drawing/2014/main" id="{B9801571-1C7F-9CAA-0963-1BBD7441DB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nvGrpSpPr>
              <p:cNvPr id="57" name="Group 56">
                <a:extLst>
                  <a:ext uri="{FF2B5EF4-FFF2-40B4-BE49-F238E27FC236}">
                    <a16:creationId xmlns:a16="http://schemas.microsoft.com/office/drawing/2014/main" id="{15A508C7-F5D4-E87D-C806-9D7F217CE527}"/>
                  </a:ext>
                </a:extLst>
              </p:cNvPr>
              <p:cNvGrpSpPr/>
              <p:nvPr/>
            </p:nvGrpSpPr>
            <p:grpSpPr>
              <a:xfrm>
                <a:off x="1803787" y="3763115"/>
                <a:ext cx="773714" cy="1213566"/>
                <a:chOff x="8012095" y="8705"/>
                <a:chExt cx="869829" cy="1364322"/>
              </a:xfrm>
            </p:grpSpPr>
            <p:pic>
              <p:nvPicPr>
                <p:cNvPr id="58" name="Picture 57">
                  <a:extLst>
                    <a:ext uri="{FF2B5EF4-FFF2-40B4-BE49-F238E27FC236}">
                      <a16:creationId xmlns:a16="http://schemas.microsoft.com/office/drawing/2014/main" id="{D50EFCC6-F71B-52AB-A582-4ADE18EC252D}"/>
                    </a:ext>
                  </a:extLst>
                </p:cNvPr>
                <p:cNvPicPr>
                  <a:picLocks noChangeAspect="1"/>
                </p:cNvPicPr>
                <p:nvPr/>
              </p:nvPicPr>
              <p:blipFill>
                <a:blip r:embed="rId3"/>
                <a:stretch>
                  <a:fillRect/>
                </a:stretch>
              </p:blipFill>
              <p:spPr>
                <a:xfrm>
                  <a:off x="8012095" y="59679"/>
                  <a:ext cx="869829" cy="1313348"/>
                </a:xfrm>
                <a:prstGeom prst="rect">
                  <a:avLst/>
                </a:prstGeom>
              </p:spPr>
            </p:pic>
            <p:pic>
              <p:nvPicPr>
                <p:cNvPr id="59" name="Picture 4" descr="Military Beret Cap With Star PNG &amp; SVG Design For T-Shirts">
                  <a:extLst>
                    <a:ext uri="{FF2B5EF4-FFF2-40B4-BE49-F238E27FC236}">
                      <a16:creationId xmlns:a16="http://schemas.microsoft.com/office/drawing/2014/main" id="{690B4710-EEDA-82B5-AE4E-AC359E48E8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grpSp>
      <p:grpSp>
        <p:nvGrpSpPr>
          <p:cNvPr id="6" name="Group 5">
            <a:extLst>
              <a:ext uri="{FF2B5EF4-FFF2-40B4-BE49-F238E27FC236}">
                <a16:creationId xmlns:a16="http://schemas.microsoft.com/office/drawing/2014/main" id="{9666FE3E-E909-E442-8AA6-B4CC6627DFCB}"/>
              </a:ext>
            </a:extLst>
          </p:cNvPr>
          <p:cNvGrpSpPr/>
          <p:nvPr/>
        </p:nvGrpSpPr>
        <p:grpSpPr>
          <a:xfrm>
            <a:off x="3168538" y="3263022"/>
            <a:ext cx="2752118" cy="1850106"/>
            <a:chOff x="3168538" y="3263022"/>
            <a:chExt cx="2752118" cy="1850106"/>
          </a:xfrm>
        </p:grpSpPr>
        <p:grpSp>
          <p:nvGrpSpPr>
            <p:cNvPr id="92" name="Group 91">
              <a:extLst>
                <a:ext uri="{FF2B5EF4-FFF2-40B4-BE49-F238E27FC236}">
                  <a16:creationId xmlns:a16="http://schemas.microsoft.com/office/drawing/2014/main" id="{10D3F87D-B1CB-744E-5335-C143CBD27633}"/>
                </a:ext>
              </a:extLst>
            </p:cNvPr>
            <p:cNvGrpSpPr/>
            <p:nvPr/>
          </p:nvGrpSpPr>
          <p:grpSpPr>
            <a:xfrm>
              <a:off x="4794985" y="3263022"/>
              <a:ext cx="1125671" cy="872087"/>
              <a:chOff x="6627634" y="3829302"/>
              <a:chExt cx="1415743" cy="1096813"/>
            </a:xfrm>
          </p:grpSpPr>
          <p:grpSp>
            <p:nvGrpSpPr>
              <p:cNvPr id="60" name="Group 59">
                <a:extLst>
                  <a:ext uri="{FF2B5EF4-FFF2-40B4-BE49-F238E27FC236}">
                    <a16:creationId xmlns:a16="http://schemas.microsoft.com/office/drawing/2014/main" id="{812EBD2F-9A15-62C5-D0C2-F682435B9C7F}"/>
                  </a:ext>
                </a:extLst>
              </p:cNvPr>
              <p:cNvGrpSpPr/>
              <p:nvPr/>
            </p:nvGrpSpPr>
            <p:grpSpPr>
              <a:xfrm>
                <a:off x="6627634" y="3990289"/>
                <a:ext cx="744620" cy="774840"/>
                <a:chOff x="10976721" y="1541196"/>
                <a:chExt cx="837121" cy="871095"/>
              </a:xfrm>
            </p:grpSpPr>
            <p:pic>
              <p:nvPicPr>
                <p:cNvPr id="61" name="Picture 60">
                  <a:extLst>
                    <a:ext uri="{FF2B5EF4-FFF2-40B4-BE49-F238E27FC236}">
                      <a16:creationId xmlns:a16="http://schemas.microsoft.com/office/drawing/2014/main" id="{3D8803F8-1514-B5A6-9171-690ED298FEBB}"/>
                    </a:ext>
                  </a:extLst>
                </p:cNvPr>
                <p:cNvPicPr>
                  <a:picLocks noChangeAspect="1"/>
                </p:cNvPicPr>
                <p:nvPr/>
              </p:nvPicPr>
              <p:blipFill>
                <a:blip r:embed="rId5"/>
                <a:stretch>
                  <a:fillRect/>
                </a:stretch>
              </p:blipFill>
              <p:spPr>
                <a:xfrm>
                  <a:off x="10976721" y="1541196"/>
                  <a:ext cx="687021" cy="871095"/>
                </a:xfrm>
                <a:prstGeom prst="rect">
                  <a:avLst/>
                </a:prstGeom>
              </p:spPr>
            </p:pic>
            <p:pic>
              <p:nvPicPr>
                <p:cNvPr id="62" name="Picture 6" descr="Tie Dye T-Shirt - Classic Rainbow Spiral - Psychedelic Shirt">
                  <a:extLst>
                    <a:ext uri="{FF2B5EF4-FFF2-40B4-BE49-F238E27FC236}">
                      <a16:creationId xmlns:a16="http://schemas.microsoft.com/office/drawing/2014/main" id="{37DF3EEB-DDBC-D13F-7DF7-E165055B700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b="44407"/>
                <a:stretch/>
              </p:blipFill>
              <p:spPr bwMode="auto">
                <a:xfrm>
                  <a:off x="10979411" y="1836491"/>
                  <a:ext cx="834431"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66" name="Group 65">
                <a:extLst>
                  <a:ext uri="{FF2B5EF4-FFF2-40B4-BE49-F238E27FC236}">
                    <a16:creationId xmlns:a16="http://schemas.microsoft.com/office/drawing/2014/main" id="{2CE0B07C-2BD1-2BC4-A9C1-2983E20AC068}"/>
                  </a:ext>
                </a:extLst>
              </p:cNvPr>
              <p:cNvGrpSpPr/>
              <p:nvPr/>
            </p:nvGrpSpPr>
            <p:grpSpPr>
              <a:xfrm>
                <a:off x="7408916" y="3829302"/>
                <a:ext cx="634461" cy="1096813"/>
                <a:chOff x="8802417" y="4582488"/>
                <a:chExt cx="713277" cy="1233065"/>
              </a:xfrm>
            </p:grpSpPr>
            <p:pic>
              <p:nvPicPr>
                <p:cNvPr id="67" name="Picture 7" descr="Adoptable Rabbits | morabbit">
                  <a:extLst>
                    <a:ext uri="{FF2B5EF4-FFF2-40B4-BE49-F238E27FC236}">
                      <a16:creationId xmlns:a16="http://schemas.microsoft.com/office/drawing/2014/main" id="{46746279-5678-314C-9420-7BF883A666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802417" y="4641208"/>
                  <a:ext cx="713277" cy="1174345"/>
                </a:xfrm>
                <a:prstGeom prst="rect">
                  <a:avLst/>
                </a:prstGeom>
                <a:extLst>
                  <a:ext uri="{909E8E84-426E-40DD-AFC4-6F175D3DCCD1}">
                    <a14:hiddenFill xmlns:a14="http://schemas.microsoft.com/office/drawing/2010/main">
                      <a:solidFill>
                        <a:srgbClr val="FFFFFF"/>
                      </a:solidFill>
                    </a14:hiddenFill>
                  </a:ext>
                </a:extLst>
              </p:spPr>
            </p:pic>
            <p:pic>
              <p:nvPicPr>
                <p:cNvPr id="68" name="Picture 4" descr="Military Beret Cap With Star PNG &amp; SVG Design For T-Shirts">
                  <a:extLst>
                    <a:ext uri="{FF2B5EF4-FFF2-40B4-BE49-F238E27FC236}">
                      <a16:creationId xmlns:a16="http://schemas.microsoft.com/office/drawing/2014/main" id="{205B4226-D9A6-3FCC-317F-6C12653EF1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grpSp>
          <p:nvGrpSpPr>
            <p:cNvPr id="87" name="Group 86">
              <a:extLst>
                <a:ext uri="{FF2B5EF4-FFF2-40B4-BE49-F238E27FC236}">
                  <a16:creationId xmlns:a16="http://schemas.microsoft.com/office/drawing/2014/main" id="{3E507508-1D40-48FD-D55D-09947B1A7E1D}"/>
                </a:ext>
              </a:extLst>
            </p:cNvPr>
            <p:cNvGrpSpPr/>
            <p:nvPr/>
          </p:nvGrpSpPr>
          <p:grpSpPr>
            <a:xfrm>
              <a:off x="3168538" y="3495525"/>
              <a:ext cx="1568146" cy="1448508"/>
              <a:chOff x="600413" y="3066688"/>
              <a:chExt cx="1762950" cy="1628451"/>
            </a:xfrm>
          </p:grpSpPr>
          <p:cxnSp>
            <p:nvCxnSpPr>
              <p:cNvPr id="88" name="Straight Arrow Connector 87">
                <a:extLst>
                  <a:ext uri="{FF2B5EF4-FFF2-40B4-BE49-F238E27FC236}">
                    <a16:creationId xmlns:a16="http://schemas.microsoft.com/office/drawing/2014/main" id="{7F9BD20F-E31F-24A8-BFF8-57838ABD80B8}"/>
                  </a:ext>
                </a:extLst>
              </p:cNvPr>
              <p:cNvCxnSpPr>
                <a:cxnSpLocks/>
              </p:cNvCxnSpPr>
              <p:nvPr/>
            </p:nvCxnSpPr>
            <p:spPr>
              <a:xfrm>
                <a:off x="600413" y="4000616"/>
                <a:ext cx="1762950" cy="449049"/>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0FAA0A99-8699-C6A6-811D-B10BC7FA8436}"/>
                  </a:ext>
                </a:extLst>
              </p:cNvPr>
              <p:cNvCxnSpPr>
                <a:cxnSpLocks/>
              </p:cNvCxnSpPr>
              <p:nvPr/>
            </p:nvCxnSpPr>
            <p:spPr>
              <a:xfrm flipV="1">
                <a:off x="600413" y="3426503"/>
                <a:ext cx="1640600" cy="57411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5D34E09C-BD5C-028A-3998-A64B40797DCF}"/>
                  </a:ext>
                </a:extLst>
              </p:cNvPr>
              <p:cNvSpPr txBox="1"/>
              <p:nvPr/>
            </p:nvSpPr>
            <p:spPr>
              <a:xfrm>
                <a:off x="994941" y="4325807"/>
                <a:ext cx="933012" cy="369332"/>
              </a:xfrm>
              <a:prstGeom prst="rect">
                <a:avLst/>
              </a:prstGeom>
              <a:noFill/>
            </p:spPr>
            <p:txBody>
              <a:bodyPr wrap="none" rtlCol="0">
                <a:spAutoFit/>
              </a:bodyPr>
              <a:lstStyle/>
              <a:p>
                <a:r>
                  <a:rPr lang="en-US" dirty="0">
                    <a:solidFill>
                      <a:schemeClr val="accent1"/>
                    </a:solidFill>
                  </a:rPr>
                  <a:t>Drafted</a:t>
                </a:r>
              </a:p>
            </p:txBody>
          </p:sp>
          <p:sp>
            <p:nvSpPr>
              <p:cNvPr id="91" name="TextBox 90">
                <a:extLst>
                  <a:ext uri="{FF2B5EF4-FFF2-40B4-BE49-F238E27FC236}">
                    <a16:creationId xmlns:a16="http://schemas.microsoft.com/office/drawing/2014/main" id="{AEABD545-DF11-3D45-390C-A7EFC1DEED55}"/>
                  </a:ext>
                </a:extLst>
              </p:cNvPr>
              <p:cNvSpPr txBox="1"/>
              <p:nvPr/>
            </p:nvSpPr>
            <p:spPr>
              <a:xfrm>
                <a:off x="809395" y="3066688"/>
                <a:ext cx="1344984" cy="369332"/>
              </a:xfrm>
              <a:prstGeom prst="rect">
                <a:avLst/>
              </a:prstGeom>
              <a:noFill/>
            </p:spPr>
            <p:txBody>
              <a:bodyPr wrap="none" rtlCol="0">
                <a:spAutoFit/>
              </a:bodyPr>
              <a:lstStyle/>
              <a:p>
                <a:r>
                  <a:rPr lang="en-US" dirty="0">
                    <a:solidFill>
                      <a:schemeClr val="accent1"/>
                    </a:solidFill>
                  </a:rPr>
                  <a:t>Not Drafted</a:t>
                </a:r>
              </a:p>
            </p:txBody>
          </p:sp>
        </p:grpSp>
        <p:grpSp>
          <p:nvGrpSpPr>
            <p:cNvPr id="93" name="Group 92">
              <a:extLst>
                <a:ext uri="{FF2B5EF4-FFF2-40B4-BE49-F238E27FC236}">
                  <a16:creationId xmlns:a16="http://schemas.microsoft.com/office/drawing/2014/main" id="{621E27AC-D1B2-9A4B-9A7D-B87155DC15BF}"/>
                </a:ext>
              </a:extLst>
            </p:cNvPr>
            <p:cNvGrpSpPr/>
            <p:nvPr/>
          </p:nvGrpSpPr>
          <p:grpSpPr>
            <a:xfrm>
              <a:off x="4794985" y="4241041"/>
              <a:ext cx="1125671" cy="872087"/>
              <a:chOff x="6627634" y="3829302"/>
              <a:chExt cx="1415743" cy="1096813"/>
            </a:xfrm>
          </p:grpSpPr>
          <p:grpSp>
            <p:nvGrpSpPr>
              <p:cNvPr id="94" name="Group 93">
                <a:extLst>
                  <a:ext uri="{FF2B5EF4-FFF2-40B4-BE49-F238E27FC236}">
                    <a16:creationId xmlns:a16="http://schemas.microsoft.com/office/drawing/2014/main" id="{95E859F3-C718-B7A6-5561-6927748526FA}"/>
                  </a:ext>
                </a:extLst>
              </p:cNvPr>
              <p:cNvGrpSpPr/>
              <p:nvPr/>
            </p:nvGrpSpPr>
            <p:grpSpPr>
              <a:xfrm>
                <a:off x="6627634" y="3990289"/>
                <a:ext cx="744620" cy="774840"/>
                <a:chOff x="10976721" y="1541196"/>
                <a:chExt cx="837121" cy="871095"/>
              </a:xfrm>
            </p:grpSpPr>
            <p:pic>
              <p:nvPicPr>
                <p:cNvPr id="98" name="Picture 97">
                  <a:extLst>
                    <a:ext uri="{FF2B5EF4-FFF2-40B4-BE49-F238E27FC236}">
                      <a16:creationId xmlns:a16="http://schemas.microsoft.com/office/drawing/2014/main" id="{39C95822-4A0A-8745-2B37-1263BF1B713D}"/>
                    </a:ext>
                  </a:extLst>
                </p:cNvPr>
                <p:cNvPicPr>
                  <a:picLocks noChangeAspect="1"/>
                </p:cNvPicPr>
                <p:nvPr/>
              </p:nvPicPr>
              <p:blipFill>
                <a:blip r:embed="rId5"/>
                <a:stretch>
                  <a:fillRect/>
                </a:stretch>
              </p:blipFill>
              <p:spPr>
                <a:xfrm>
                  <a:off x="10976721" y="1541196"/>
                  <a:ext cx="687021" cy="871095"/>
                </a:xfrm>
                <a:prstGeom prst="rect">
                  <a:avLst/>
                </a:prstGeom>
              </p:spPr>
            </p:pic>
            <p:pic>
              <p:nvPicPr>
                <p:cNvPr id="99" name="Picture 6" descr="Tie Dye T-Shirt - Classic Rainbow Spiral - Psychedelic Shirt">
                  <a:extLst>
                    <a:ext uri="{FF2B5EF4-FFF2-40B4-BE49-F238E27FC236}">
                      <a16:creationId xmlns:a16="http://schemas.microsoft.com/office/drawing/2014/main" id="{B54ED7FB-ABD6-5314-DBEE-6178A508694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b="44407"/>
                <a:stretch/>
              </p:blipFill>
              <p:spPr bwMode="auto">
                <a:xfrm>
                  <a:off x="10979411" y="1836491"/>
                  <a:ext cx="834431"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95" name="Group 94">
                <a:extLst>
                  <a:ext uri="{FF2B5EF4-FFF2-40B4-BE49-F238E27FC236}">
                    <a16:creationId xmlns:a16="http://schemas.microsoft.com/office/drawing/2014/main" id="{1AD2195E-F1F1-CD03-ADBC-4889A957E4F2}"/>
                  </a:ext>
                </a:extLst>
              </p:cNvPr>
              <p:cNvGrpSpPr/>
              <p:nvPr/>
            </p:nvGrpSpPr>
            <p:grpSpPr>
              <a:xfrm>
                <a:off x="7408916" y="3829302"/>
                <a:ext cx="634461" cy="1096813"/>
                <a:chOff x="8802417" y="4582488"/>
                <a:chExt cx="713277" cy="1233065"/>
              </a:xfrm>
            </p:grpSpPr>
            <p:pic>
              <p:nvPicPr>
                <p:cNvPr id="96" name="Picture 7" descr="Adoptable Rabbits | morabbit">
                  <a:extLst>
                    <a:ext uri="{FF2B5EF4-FFF2-40B4-BE49-F238E27FC236}">
                      <a16:creationId xmlns:a16="http://schemas.microsoft.com/office/drawing/2014/main" id="{62A4A921-3C7D-9D99-3631-6C3B4A10F2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802417" y="4641208"/>
                  <a:ext cx="713277" cy="1174345"/>
                </a:xfrm>
                <a:prstGeom prst="rect">
                  <a:avLst/>
                </a:prstGeom>
                <a:extLst>
                  <a:ext uri="{909E8E84-426E-40DD-AFC4-6F175D3DCCD1}">
                    <a14:hiddenFill xmlns:a14="http://schemas.microsoft.com/office/drawing/2010/main">
                      <a:solidFill>
                        <a:srgbClr val="FFFFFF"/>
                      </a:solidFill>
                    </a14:hiddenFill>
                  </a:ext>
                </a:extLst>
              </p:spPr>
            </p:pic>
            <p:pic>
              <p:nvPicPr>
                <p:cNvPr id="97" name="Picture 4" descr="Military Beret Cap With Star PNG &amp; SVG Design For T-Shirts">
                  <a:extLst>
                    <a:ext uri="{FF2B5EF4-FFF2-40B4-BE49-F238E27FC236}">
                      <a16:creationId xmlns:a16="http://schemas.microsoft.com/office/drawing/2014/main" id="{B7F9EA1F-6EDC-F9C1-ECC0-7DDDBB0960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grpSp>
      <p:grpSp>
        <p:nvGrpSpPr>
          <p:cNvPr id="7" name="Group 6">
            <a:extLst>
              <a:ext uri="{FF2B5EF4-FFF2-40B4-BE49-F238E27FC236}">
                <a16:creationId xmlns:a16="http://schemas.microsoft.com/office/drawing/2014/main" id="{85DDC2A9-3E51-85EF-EDAA-220328EBD658}"/>
              </a:ext>
            </a:extLst>
          </p:cNvPr>
          <p:cNvGrpSpPr/>
          <p:nvPr/>
        </p:nvGrpSpPr>
        <p:grpSpPr>
          <a:xfrm>
            <a:off x="5945500" y="774962"/>
            <a:ext cx="3411144" cy="2037831"/>
            <a:chOff x="5945500" y="774962"/>
            <a:chExt cx="3411144" cy="2037831"/>
          </a:xfrm>
        </p:grpSpPr>
        <p:sp>
          <p:nvSpPr>
            <p:cNvPr id="76" name="TextBox 75">
              <a:extLst>
                <a:ext uri="{FF2B5EF4-FFF2-40B4-BE49-F238E27FC236}">
                  <a16:creationId xmlns:a16="http://schemas.microsoft.com/office/drawing/2014/main" id="{930FC141-6C79-715E-0314-9BB7DADE4C96}"/>
                </a:ext>
              </a:extLst>
            </p:cNvPr>
            <p:cNvSpPr txBox="1"/>
            <p:nvPr/>
          </p:nvSpPr>
          <p:spPr>
            <a:xfrm>
              <a:off x="7048020" y="1076254"/>
              <a:ext cx="2308624" cy="1446550"/>
            </a:xfrm>
            <a:prstGeom prst="rect">
              <a:avLst/>
            </a:prstGeom>
            <a:noFill/>
          </p:spPr>
          <p:txBody>
            <a:bodyPr wrap="square" rtlCol="0">
              <a:spAutoFit/>
            </a:bodyPr>
            <a:lstStyle/>
            <a:p>
              <a:pPr algn="ctr"/>
              <a:r>
                <a:rPr lang="en-US" sz="2000" dirty="0">
                  <a:solidFill>
                    <a:schemeClr val="accent2"/>
                  </a:solidFill>
                </a:rPr>
                <a:t>ATE of being drafted on earnings in this group: </a:t>
              </a:r>
            </a:p>
            <a:p>
              <a:pPr algn="ctr"/>
              <a:r>
                <a:rPr lang="en-US" sz="2800" dirty="0">
                  <a:solidFill>
                    <a:schemeClr val="accent2"/>
                  </a:solidFill>
                </a:rPr>
                <a:t>LATE. </a:t>
              </a:r>
              <a:endParaRPr lang="en-US" sz="2000" dirty="0">
                <a:solidFill>
                  <a:schemeClr val="accent2"/>
                </a:solidFill>
              </a:endParaRPr>
            </a:p>
          </p:txBody>
        </p:sp>
        <p:sp>
          <p:nvSpPr>
            <p:cNvPr id="100" name="Right Brace 99">
              <a:extLst>
                <a:ext uri="{FF2B5EF4-FFF2-40B4-BE49-F238E27FC236}">
                  <a16:creationId xmlns:a16="http://schemas.microsoft.com/office/drawing/2014/main" id="{04646A69-6537-AA5A-AD7C-AA7E51E3CB9E}"/>
                </a:ext>
              </a:extLst>
            </p:cNvPr>
            <p:cNvSpPr/>
            <p:nvPr/>
          </p:nvSpPr>
          <p:spPr>
            <a:xfrm>
              <a:off x="5945500" y="774962"/>
              <a:ext cx="1102519" cy="2037831"/>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EC1F1C1-D0CD-4351-303D-53849FEDD5EA}"/>
              </a:ext>
            </a:extLst>
          </p:cNvPr>
          <p:cNvGrpSpPr/>
          <p:nvPr/>
        </p:nvGrpSpPr>
        <p:grpSpPr>
          <a:xfrm>
            <a:off x="5937409" y="3168381"/>
            <a:ext cx="3419235" cy="2001716"/>
            <a:chOff x="5937409" y="3168381"/>
            <a:chExt cx="3419235" cy="2001716"/>
          </a:xfrm>
        </p:grpSpPr>
        <p:sp>
          <p:nvSpPr>
            <p:cNvPr id="75" name="TextBox 74">
              <a:extLst>
                <a:ext uri="{FF2B5EF4-FFF2-40B4-BE49-F238E27FC236}">
                  <a16:creationId xmlns:a16="http://schemas.microsoft.com/office/drawing/2014/main" id="{CC441702-4FE9-2584-19EE-2023297C5C0C}"/>
                </a:ext>
              </a:extLst>
            </p:cNvPr>
            <p:cNvSpPr txBox="1"/>
            <p:nvPr/>
          </p:nvSpPr>
          <p:spPr>
            <a:xfrm>
              <a:off x="7021266" y="3446386"/>
              <a:ext cx="2335378" cy="1446550"/>
            </a:xfrm>
            <a:prstGeom prst="rect">
              <a:avLst/>
            </a:prstGeom>
            <a:noFill/>
          </p:spPr>
          <p:txBody>
            <a:bodyPr wrap="square" rtlCol="0">
              <a:spAutoFit/>
            </a:bodyPr>
            <a:lstStyle/>
            <a:p>
              <a:pPr algn="ctr"/>
              <a:r>
                <a:rPr lang="en-US" sz="2000" dirty="0">
                  <a:solidFill>
                    <a:schemeClr val="accent5"/>
                  </a:solidFill>
                </a:rPr>
                <a:t>ATE of being drafted on earnings in this group: </a:t>
              </a:r>
            </a:p>
            <a:p>
              <a:pPr algn="ctr"/>
              <a:r>
                <a:rPr lang="en-US" sz="2800" dirty="0">
                  <a:solidFill>
                    <a:schemeClr val="accent5"/>
                  </a:solidFill>
                </a:rPr>
                <a:t>Zero.</a:t>
              </a:r>
              <a:endParaRPr lang="en-US" sz="2000" dirty="0">
                <a:solidFill>
                  <a:schemeClr val="accent5"/>
                </a:solidFill>
              </a:endParaRPr>
            </a:p>
          </p:txBody>
        </p:sp>
        <p:sp>
          <p:nvSpPr>
            <p:cNvPr id="101" name="Right Brace 100">
              <a:extLst>
                <a:ext uri="{FF2B5EF4-FFF2-40B4-BE49-F238E27FC236}">
                  <a16:creationId xmlns:a16="http://schemas.microsoft.com/office/drawing/2014/main" id="{7ACC5CDC-7AAB-CA8D-8C9B-36C64C2BF01F}"/>
                </a:ext>
              </a:extLst>
            </p:cNvPr>
            <p:cNvSpPr/>
            <p:nvPr/>
          </p:nvSpPr>
          <p:spPr>
            <a:xfrm>
              <a:off x="5937409" y="3168381"/>
              <a:ext cx="1102519" cy="2001716"/>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93091172-3A67-07DA-5A69-36FDAEFF1B29}"/>
              </a:ext>
            </a:extLst>
          </p:cNvPr>
          <p:cNvGrpSpPr/>
          <p:nvPr/>
        </p:nvGrpSpPr>
        <p:grpSpPr>
          <a:xfrm>
            <a:off x="9342855" y="1799529"/>
            <a:ext cx="2756646" cy="2147104"/>
            <a:chOff x="9342855" y="1799529"/>
            <a:chExt cx="2756646" cy="2147104"/>
          </a:xfrm>
        </p:grpSpPr>
        <p:cxnSp>
          <p:nvCxnSpPr>
            <p:cNvPr id="102" name="Straight Arrow Connector 101">
              <a:extLst>
                <a:ext uri="{FF2B5EF4-FFF2-40B4-BE49-F238E27FC236}">
                  <a16:creationId xmlns:a16="http://schemas.microsoft.com/office/drawing/2014/main" id="{5E891EC0-8164-771E-BED0-6FDBD24DD037}"/>
                </a:ext>
              </a:extLst>
            </p:cNvPr>
            <p:cNvCxnSpPr>
              <a:cxnSpLocks/>
              <a:stCxn id="76" idx="3"/>
            </p:cNvCxnSpPr>
            <p:nvPr/>
          </p:nvCxnSpPr>
          <p:spPr>
            <a:xfrm>
              <a:off x="9356644" y="1799529"/>
              <a:ext cx="956589" cy="75243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437E2E53-6190-652E-4C9F-6ECBEB2EF038}"/>
                </a:ext>
              </a:extLst>
            </p:cNvPr>
            <p:cNvCxnSpPr>
              <a:cxnSpLocks/>
            </p:cNvCxnSpPr>
            <p:nvPr/>
          </p:nvCxnSpPr>
          <p:spPr>
            <a:xfrm flipV="1">
              <a:off x="9342855" y="3476256"/>
              <a:ext cx="836247" cy="47037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92F9C2E4-FA7A-A54C-BE53-6DA74202B9D9}"/>
                </a:ext>
              </a:extLst>
            </p:cNvPr>
            <p:cNvSpPr txBox="1"/>
            <p:nvPr/>
          </p:nvSpPr>
          <p:spPr>
            <a:xfrm>
              <a:off x="10160773" y="2151708"/>
              <a:ext cx="1938728" cy="1569660"/>
            </a:xfrm>
            <a:prstGeom prst="rect">
              <a:avLst/>
            </a:prstGeom>
            <a:noFill/>
          </p:spPr>
          <p:txBody>
            <a:bodyPr wrap="square" rtlCol="0">
              <a:spAutoFit/>
            </a:bodyPr>
            <a:lstStyle/>
            <a:p>
              <a:pPr algn="ctr"/>
              <a:r>
                <a:rPr lang="en-US" sz="2400" dirty="0">
                  <a:solidFill>
                    <a:schemeClr val="accent1"/>
                  </a:solidFill>
                </a:rPr>
                <a:t>Average of both: ATE of being drafted on earnings.</a:t>
              </a:r>
            </a:p>
          </p:txBody>
        </p:sp>
      </p:grpSp>
      <p:sp>
        <p:nvSpPr>
          <p:cNvPr id="108" name="TextBox 107">
            <a:extLst>
              <a:ext uri="{FF2B5EF4-FFF2-40B4-BE49-F238E27FC236}">
                <a16:creationId xmlns:a16="http://schemas.microsoft.com/office/drawing/2014/main" id="{85094E2F-56DD-1060-7ADB-77D63ABFA9D1}"/>
              </a:ext>
            </a:extLst>
          </p:cNvPr>
          <p:cNvSpPr txBox="1"/>
          <p:nvPr/>
        </p:nvSpPr>
        <p:spPr>
          <a:xfrm>
            <a:off x="-6744" y="5281980"/>
            <a:ext cx="3829933" cy="1569660"/>
          </a:xfrm>
          <a:prstGeom prst="rect">
            <a:avLst/>
          </a:prstGeom>
          <a:solidFill>
            <a:schemeClr val="bg1"/>
          </a:solidFill>
        </p:spPr>
        <p:txBody>
          <a:bodyPr wrap="square" rtlCol="0">
            <a:spAutoFit/>
          </a:bodyPr>
          <a:lstStyle/>
          <a:p>
            <a:pPr algn="ctr"/>
            <a:r>
              <a:rPr lang="en-US" sz="2400" dirty="0"/>
              <a:t>If we compute ATE of being drafted on earnings, we are averaging in a bunch of zeros we don’t want!</a:t>
            </a:r>
          </a:p>
        </p:txBody>
      </p:sp>
      <p:sp>
        <p:nvSpPr>
          <p:cNvPr id="109" name="TextBox 108">
            <a:extLst>
              <a:ext uri="{FF2B5EF4-FFF2-40B4-BE49-F238E27FC236}">
                <a16:creationId xmlns:a16="http://schemas.microsoft.com/office/drawing/2014/main" id="{6833B34C-CFB5-1547-9CD0-7873BD99CF4D}"/>
              </a:ext>
            </a:extLst>
          </p:cNvPr>
          <p:cNvSpPr txBox="1"/>
          <p:nvPr/>
        </p:nvSpPr>
        <p:spPr>
          <a:xfrm>
            <a:off x="4177644" y="5435845"/>
            <a:ext cx="2076665" cy="830997"/>
          </a:xfrm>
          <a:prstGeom prst="rect">
            <a:avLst/>
          </a:prstGeom>
          <a:noFill/>
        </p:spPr>
        <p:txBody>
          <a:bodyPr wrap="square" rtlCol="0">
            <a:spAutoFit/>
          </a:bodyPr>
          <a:lstStyle/>
          <a:p>
            <a:r>
              <a:rPr lang="en-US" sz="2400" dirty="0"/>
              <a:t>To fix it, renormalize:</a:t>
            </a:r>
          </a:p>
        </p:txBody>
      </p:sp>
      <p:grpSp>
        <p:nvGrpSpPr>
          <p:cNvPr id="25" name="Group 24">
            <a:extLst>
              <a:ext uri="{FF2B5EF4-FFF2-40B4-BE49-F238E27FC236}">
                <a16:creationId xmlns:a16="http://schemas.microsoft.com/office/drawing/2014/main" id="{8A31F7F1-14E2-76B5-240A-178FF8E7EE92}"/>
              </a:ext>
            </a:extLst>
          </p:cNvPr>
          <p:cNvGrpSpPr/>
          <p:nvPr/>
        </p:nvGrpSpPr>
        <p:grpSpPr>
          <a:xfrm>
            <a:off x="6096000" y="5054501"/>
            <a:ext cx="5659808" cy="1256080"/>
            <a:chOff x="6096000" y="5054501"/>
            <a:chExt cx="5659808" cy="1256080"/>
          </a:xfrm>
        </p:grpSpPr>
        <p:sp>
          <p:nvSpPr>
            <p:cNvPr id="110" name="TextBox 109">
              <a:extLst>
                <a:ext uri="{FF2B5EF4-FFF2-40B4-BE49-F238E27FC236}">
                  <a16:creationId xmlns:a16="http://schemas.microsoft.com/office/drawing/2014/main" id="{1DFDE7D4-029F-D4A4-1BEC-75EEBE980F88}"/>
                </a:ext>
              </a:extLst>
            </p:cNvPr>
            <p:cNvSpPr txBox="1"/>
            <p:nvPr/>
          </p:nvSpPr>
          <p:spPr>
            <a:xfrm>
              <a:off x="6096000" y="5787361"/>
              <a:ext cx="1275414" cy="523220"/>
            </a:xfrm>
            <a:prstGeom prst="rect">
              <a:avLst/>
            </a:prstGeom>
            <a:noFill/>
          </p:spPr>
          <p:txBody>
            <a:bodyPr wrap="none" rtlCol="0">
              <a:spAutoFit/>
            </a:bodyPr>
            <a:lstStyle/>
            <a:p>
              <a:r>
                <a:rPr lang="en-US" sz="2800" dirty="0"/>
                <a:t>LATE = </a:t>
              </a:r>
            </a:p>
          </p:txBody>
        </p:sp>
        <p:sp>
          <p:nvSpPr>
            <p:cNvPr id="111" name="TextBox 110">
              <a:extLst>
                <a:ext uri="{FF2B5EF4-FFF2-40B4-BE49-F238E27FC236}">
                  <a16:creationId xmlns:a16="http://schemas.microsoft.com/office/drawing/2014/main" id="{23583B02-E439-1446-7164-C5452561B590}"/>
                </a:ext>
              </a:extLst>
            </p:cNvPr>
            <p:cNvSpPr txBox="1"/>
            <p:nvPr/>
          </p:nvSpPr>
          <p:spPr>
            <a:xfrm>
              <a:off x="7755618" y="5054501"/>
              <a:ext cx="3682439" cy="830997"/>
            </a:xfrm>
            <a:prstGeom prst="rect">
              <a:avLst/>
            </a:prstGeom>
            <a:noFill/>
            <a:ln>
              <a:noFill/>
            </a:ln>
          </p:spPr>
          <p:txBody>
            <a:bodyPr wrap="square" rtlCol="0">
              <a:spAutoFit/>
            </a:bodyPr>
            <a:lstStyle/>
            <a:p>
              <a:pPr algn="ctr"/>
              <a:r>
                <a:rPr lang="en-US" sz="2400" dirty="0">
                  <a:solidFill>
                    <a:schemeClr val="accent1"/>
                  </a:solidFill>
                </a:rPr>
                <a:t>ATE of being drafted </a:t>
              </a:r>
            </a:p>
            <a:p>
              <a:pPr algn="ctr"/>
              <a:r>
                <a:rPr lang="en-US" sz="2400" dirty="0">
                  <a:solidFill>
                    <a:schemeClr val="accent1"/>
                  </a:solidFill>
                </a:rPr>
                <a:t>on earnings.</a:t>
              </a:r>
            </a:p>
          </p:txBody>
        </p:sp>
        <p:cxnSp>
          <p:nvCxnSpPr>
            <p:cNvPr id="113" name="Straight Connector 112">
              <a:extLst>
                <a:ext uri="{FF2B5EF4-FFF2-40B4-BE49-F238E27FC236}">
                  <a16:creationId xmlns:a16="http://schemas.microsoft.com/office/drawing/2014/main" id="{81C97CA0-FD48-34F8-8D32-652B278B5549}"/>
                </a:ext>
              </a:extLst>
            </p:cNvPr>
            <p:cNvCxnSpPr>
              <a:cxnSpLocks/>
            </p:cNvCxnSpPr>
            <p:nvPr/>
          </p:nvCxnSpPr>
          <p:spPr>
            <a:xfrm flipH="1">
              <a:off x="7529073" y="5915894"/>
              <a:ext cx="4226735" cy="0"/>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42085144-C58E-53E9-1525-30BCF7BE1996}"/>
              </a:ext>
            </a:extLst>
          </p:cNvPr>
          <p:cNvGrpSpPr/>
          <p:nvPr/>
        </p:nvGrpSpPr>
        <p:grpSpPr>
          <a:xfrm>
            <a:off x="-6744" y="4577891"/>
            <a:ext cx="12198744" cy="704089"/>
            <a:chOff x="-6744" y="4577891"/>
            <a:chExt cx="12198744" cy="704089"/>
          </a:xfrm>
        </p:grpSpPr>
        <p:cxnSp>
          <p:nvCxnSpPr>
            <p:cNvPr id="13" name="Straight Connector 12">
              <a:extLst>
                <a:ext uri="{FF2B5EF4-FFF2-40B4-BE49-F238E27FC236}">
                  <a16:creationId xmlns:a16="http://schemas.microsoft.com/office/drawing/2014/main" id="{8B5A1177-E3C2-EFDD-7DAB-2D4818E9A149}"/>
                </a:ext>
              </a:extLst>
            </p:cNvPr>
            <p:cNvCxnSpPr/>
            <p:nvPr/>
          </p:nvCxnSpPr>
          <p:spPr>
            <a:xfrm>
              <a:off x="-6744" y="5281980"/>
              <a:ext cx="7054763" cy="0"/>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25DA15E-B009-2658-D74D-C4DACE7E000D}"/>
                </a:ext>
              </a:extLst>
            </p:cNvPr>
            <p:cNvCxnSpPr>
              <a:cxnSpLocks/>
            </p:cNvCxnSpPr>
            <p:nvPr/>
          </p:nvCxnSpPr>
          <p:spPr>
            <a:xfrm flipV="1">
              <a:off x="7039928" y="4644950"/>
              <a:ext cx="2556909" cy="637030"/>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94C05FF-B41F-9E58-B08F-5B7ABD2972A1}"/>
                </a:ext>
              </a:extLst>
            </p:cNvPr>
            <p:cNvCxnSpPr>
              <a:cxnSpLocks/>
            </p:cNvCxnSpPr>
            <p:nvPr/>
          </p:nvCxnSpPr>
          <p:spPr>
            <a:xfrm flipV="1">
              <a:off x="9584828" y="4577891"/>
              <a:ext cx="2607172" cy="50710"/>
            </a:xfrm>
            <a:prstGeom prst="line">
              <a:avLst/>
            </a:prstGeom>
            <a:ln>
              <a:solidFill>
                <a:schemeClr val="bg2">
                  <a:lumMod val="75000"/>
                </a:schemeClr>
              </a:solidFill>
              <a:prstDash val="dash"/>
            </a:ln>
          </p:spPr>
          <p:style>
            <a:lnRef idx="2">
              <a:schemeClr val="accent1"/>
            </a:lnRef>
            <a:fillRef idx="0">
              <a:schemeClr val="accent1"/>
            </a:fillRef>
            <a:effectRef idx="1">
              <a:schemeClr val="accent1"/>
            </a:effectRef>
            <a:fontRef idx="minor">
              <a:schemeClr val="tx1"/>
            </a:fontRef>
          </p:style>
        </p:cxnSp>
      </p:grpSp>
      <p:sp>
        <p:nvSpPr>
          <p:cNvPr id="12" name="TextBox 11">
            <a:extLst>
              <a:ext uri="{FF2B5EF4-FFF2-40B4-BE49-F238E27FC236}">
                <a16:creationId xmlns:a16="http://schemas.microsoft.com/office/drawing/2014/main" id="{B8BB4123-3EA4-2218-22B4-CB8DED7EA4D9}"/>
              </a:ext>
            </a:extLst>
          </p:cNvPr>
          <p:cNvSpPr txBox="1"/>
          <p:nvPr/>
        </p:nvSpPr>
        <p:spPr>
          <a:xfrm>
            <a:off x="7215312" y="6002131"/>
            <a:ext cx="4838963" cy="830997"/>
          </a:xfrm>
          <a:prstGeom prst="rect">
            <a:avLst/>
          </a:prstGeom>
          <a:solidFill>
            <a:schemeClr val="bg1"/>
          </a:solidFill>
          <a:ln>
            <a:noFill/>
          </a:ln>
        </p:spPr>
        <p:txBody>
          <a:bodyPr wrap="square" rtlCol="0">
            <a:spAutoFit/>
          </a:bodyPr>
          <a:lstStyle/>
          <a:p>
            <a:pPr algn="ctr"/>
            <a:r>
              <a:rPr lang="en-US" sz="2400" dirty="0">
                <a:solidFill>
                  <a:schemeClr val="accent1"/>
                </a:solidFill>
              </a:rPr>
              <a:t>ATE of being drafted </a:t>
            </a:r>
          </a:p>
          <a:p>
            <a:pPr algn="ctr"/>
            <a:r>
              <a:rPr lang="en-US" sz="2400" dirty="0">
                <a:solidFill>
                  <a:schemeClr val="accent1"/>
                </a:solidFill>
              </a:rPr>
              <a:t>on serving</a:t>
            </a:r>
          </a:p>
        </p:txBody>
      </p:sp>
    </p:spTree>
    <p:extLst>
      <p:ext uri="{BB962C8B-B14F-4D97-AF65-F5344CB8AC3E}">
        <p14:creationId xmlns:p14="http://schemas.microsoft.com/office/powerpoint/2010/main" val="37230097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FFB08-53E5-7A9E-AEAE-7CC2DAEB2186}"/>
              </a:ext>
            </a:extLst>
          </p:cNvPr>
          <p:cNvSpPr>
            <a:spLocks noGrp="1"/>
          </p:cNvSpPr>
          <p:nvPr>
            <p:ph type="title"/>
          </p:nvPr>
        </p:nvSpPr>
        <p:spPr/>
        <p:txBody>
          <a:bodyPr/>
          <a:lstStyle/>
          <a:p>
            <a:r>
              <a:rPr lang="en-US" dirty="0"/>
              <a:t>Explanation 2</a:t>
            </a:r>
          </a:p>
        </p:txBody>
      </p:sp>
      <p:sp>
        <p:nvSpPr>
          <p:cNvPr id="3" name="Content Placeholder 2">
            <a:extLst>
              <a:ext uri="{FF2B5EF4-FFF2-40B4-BE49-F238E27FC236}">
                <a16:creationId xmlns:a16="http://schemas.microsoft.com/office/drawing/2014/main" id="{DCB9BE38-27B4-A992-1C90-CBBF60C6BC80}"/>
              </a:ext>
            </a:extLst>
          </p:cNvPr>
          <p:cNvSpPr>
            <a:spLocks noGrp="1"/>
          </p:cNvSpPr>
          <p:nvPr>
            <p:ph idx="1"/>
          </p:nvPr>
        </p:nvSpPr>
        <p:spPr/>
        <p:txBody>
          <a:bodyPr/>
          <a:lstStyle/>
          <a:p>
            <a:r>
              <a:rPr lang="en-US" dirty="0"/>
              <a:t>Chain rule type argument:</a:t>
            </a:r>
          </a:p>
        </p:txBody>
      </p:sp>
      <p:sp>
        <p:nvSpPr>
          <p:cNvPr id="4" name="TextBox 3">
            <a:extLst>
              <a:ext uri="{FF2B5EF4-FFF2-40B4-BE49-F238E27FC236}">
                <a16:creationId xmlns:a16="http://schemas.microsoft.com/office/drawing/2014/main" id="{70D5F808-C111-62CE-53D5-C1C62784217D}"/>
              </a:ext>
            </a:extLst>
          </p:cNvPr>
          <p:cNvSpPr txBox="1"/>
          <p:nvPr/>
        </p:nvSpPr>
        <p:spPr>
          <a:xfrm>
            <a:off x="909039" y="2827639"/>
            <a:ext cx="3159904" cy="830997"/>
          </a:xfrm>
          <a:prstGeom prst="rect">
            <a:avLst/>
          </a:prstGeom>
          <a:noFill/>
        </p:spPr>
        <p:txBody>
          <a:bodyPr wrap="none" rtlCol="0">
            <a:spAutoFit/>
          </a:bodyPr>
          <a:lstStyle/>
          <a:p>
            <a:r>
              <a:rPr lang="en-US" sz="2400" dirty="0">
                <a:solidFill>
                  <a:schemeClr val="accent6"/>
                </a:solidFill>
              </a:rPr>
              <a:t>Effect of being drafted </a:t>
            </a:r>
          </a:p>
          <a:p>
            <a:pPr algn="ctr"/>
            <a:r>
              <a:rPr lang="en-US" sz="2400" dirty="0">
                <a:solidFill>
                  <a:schemeClr val="accent6"/>
                </a:solidFill>
              </a:rPr>
              <a:t>on serving</a:t>
            </a:r>
          </a:p>
        </p:txBody>
      </p:sp>
      <p:sp>
        <p:nvSpPr>
          <p:cNvPr id="5" name="TextBox 4">
            <a:extLst>
              <a:ext uri="{FF2B5EF4-FFF2-40B4-BE49-F238E27FC236}">
                <a16:creationId xmlns:a16="http://schemas.microsoft.com/office/drawing/2014/main" id="{44D3AFAE-C706-013C-2957-E1E9966BEC84}"/>
              </a:ext>
            </a:extLst>
          </p:cNvPr>
          <p:cNvSpPr txBox="1"/>
          <p:nvPr/>
        </p:nvSpPr>
        <p:spPr>
          <a:xfrm>
            <a:off x="4821836" y="2827639"/>
            <a:ext cx="2299797" cy="830997"/>
          </a:xfrm>
          <a:prstGeom prst="rect">
            <a:avLst/>
          </a:prstGeom>
          <a:noFill/>
        </p:spPr>
        <p:txBody>
          <a:bodyPr wrap="none" rtlCol="0">
            <a:spAutoFit/>
          </a:bodyPr>
          <a:lstStyle/>
          <a:p>
            <a:r>
              <a:rPr lang="en-US" sz="2400" dirty="0">
                <a:solidFill>
                  <a:schemeClr val="accent1"/>
                </a:solidFill>
              </a:rPr>
              <a:t>Effect of serving</a:t>
            </a:r>
          </a:p>
          <a:p>
            <a:pPr algn="ctr"/>
            <a:r>
              <a:rPr lang="en-US" sz="2400" dirty="0">
                <a:solidFill>
                  <a:schemeClr val="accent1"/>
                </a:solidFill>
              </a:rPr>
              <a:t>on earnings</a:t>
            </a:r>
          </a:p>
        </p:txBody>
      </p:sp>
      <p:sp>
        <p:nvSpPr>
          <p:cNvPr id="6" name="TextBox 5">
            <a:extLst>
              <a:ext uri="{FF2B5EF4-FFF2-40B4-BE49-F238E27FC236}">
                <a16:creationId xmlns:a16="http://schemas.microsoft.com/office/drawing/2014/main" id="{148F4D09-3546-8DF6-D470-9BD843A6057F}"/>
              </a:ext>
            </a:extLst>
          </p:cNvPr>
          <p:cNvSpPr txBox="1"/>
          <p:nvPr/>
        </p:nvSpPr>
        <p:spPr>
          <a:xfrm>
            <a:off x="8087044" y="2858655"/>
            <a:ext cx="3097386" cy="830997"/>
          </a:xfrm>
          <a:prstGeom prst="rect">
            <a:avLst/>
          </a:prstGeom>
          <a:noFill/>
        </p:spPr>
        <p:txBody>
          <a:bodyPr wrap="none" rtlCol="0">
            <a:spAutoFit/>
          </a:bodyPr>
          <a:lstStyle/>
          <a:p>
            <a:r>
              <a:rPr lang="en-US" sz="2400" dirty="0">
                <a:solidFill>
                  <a:schemeClr val="accent5"/>
                </a:solidFill>
              </a:rPr>
              <a:t>Effect of being drafted</a:t>
            </a:r>
          </a:p>
          <a:p>
            <a:pPr algn="ctr"/>
            <a:r>
              <a:rPr lang="en-US" sz="2400" dirty="0">
                <a:solidFill>
                  <a:schemeClr val="accent5"/>
                </a:solidFill>
              </a:rPr>
              <a:t>on earnings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693289-0F00-9665-4AFC-3D2826416B11}"/>
                  </a:ext>
                </a:extLst>
              </p:cNvPr>
              <p:cNvSpPr txBox="1"/>
              <p:nvPr/>
            </p:nvSpPr>
            <p:spPr>
              <a:xfrm>
                <a:off x="4068943" y="2935359"/>
                <a:ext cx="682053"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m:t>
                      </m:r>
                    </m:oMath>
                  </m:oMathPara>
                </a14:m>
                <a:endParaRPr lang="en-US" sz="4000" dirty="0"/>
              </a:p>
            </p:txBody>
          </p:sp>
        </mc:Choice>
        <mc:Fallback xmlns="">
          <p:sp>
            <p:nvSpPr>
              <p:cNvPr id="7" name="TextBox 6">
                <a:extLst>
                  <a:ext uri="{FF2B5EF4-FFF2-40B4-BE49-F238E27FC236}">
                    <a16:creationId xmlns:a16="http://schemas.microsoft.com/office/drawing/2014/main" id="{03693289-0F00-9665-4AFC-3D2826416B11}"/>
                  </a:ext>
                </a:extLst>
              </p:cNvPr>
              <p:cNvSpPr txBox="1">
                <a:spLocks noRot="1" noChangeAspect="1" noMove="1" noResize="1" noEditPoints="1" noAdjustHandles="1" noChangeArrowheads="1" noChangeShapeType="1" noTextEdit="1"/>
              </p:cNvSpPr>
              <p:nvPr/>
            </p:nvSpPr>
            <p:spPr>
              <a:xfrm>
                <a:off x="4068943" y="2935359"/>
                <a:ext cx="682053" cy="61555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FB7075A-5F57-250B-408D-40478EFD89AC}"/>
                  </a:ext>
                </a:extLst>
              </p:cNvPr>
              <p:cNvSpPr txBox="1"/>
              <p:nvPr/>
            </p:nvSpPr>
            <p:spPr>
              <a:xfrm>
                <a:off x="7263312" y="2933628"/>
                <a:ext cx="682053"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m:t>
                      </m:r>
                    </m:oMath>
                  </m:oMathPara>
                </a14:m>
                <a:endParaRPr lang="en-US" sz="4000" dirty="0"/>
              </a:p>
            </p:txBody>
          </p:sp>
        </mc:Choice>
        <mc:Fallback xmlns="">
          <p:sp>
            <p:nvSpPr>
              <p:cNvPr id="8" name="TextBox 7">
                <a:extLst>
                  <a:ext uri="{FF2B5EF4-FFF2-40B4-BE49-F238E27FC236}">
                    <a16:creationId xmlns:a16="http://schemas.microsoft.com/office/drawing/2014/main" id="{1FB7075A-5F57-250B-408D-40478EFD89AC}"/>
                  </a:ext>
                </a:extLst>
              </p:cNvPr>
              <p:cNvSpPr txBox="1">
                <a:spLocks noRot="1" noChangeAspect="1" noMove="1" noResize="1" noEditPoints="1" noAdjustHandles="1" noChangeArrowheads="1" noChangeShapeType="1" noTextEdit="1"/>
              </p:cNvSpPr>
              <p:nvPr/>
            </p:nvSpPr>
            <p:spPr>
              <a:xfrm>
                <a:off x="7263312" y="2933628"/>
                <a:ext cx="682053" cy="615553"/>
              </a:xfrm>
              <a:prstGeom prst="rect">
                <a:avLst/>
              </a:prstGeom>
              <a:blipFill>
                <a:blip r:embed="rId4"/>
                <a:stretch>
                  <a:fillRect/>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1E2458FA-E3A6-88C3-0636-18B52BF723E0}"/>
              </a:ext>
            </a:extLst>
          </p:cNvPr>
          <p:cNvGrpSpPr/>
          <p:nvPr/>
        </p:nvGrpSpPr>
        <p:grpSpPr>
          <a:xfrm>
            <a:off x="2408914" y="4337265"/>
            <a:ext cx="6744437" cy="1922661"/>
            <a:chOff x="2408914" y="4337265"/>
            <a:chExt cx="6744437" cy="1922661"/>
          </a:xfrm>
        </p:grpSpPr>
        <p:sp>
          <p:nvSpPr>
            <p:cNvPr id="9" name="TextBox 8">
              <a:extLst>
                <a:ext uri="{FF2B5EF4-FFF2-40B4-BE49-F238E27FC236}">
                  <a16:creationId xmlns:a16="http://schemas.microsoft.com/office/drawing/2014/main" id="{B186F160-0F57-F9C5-66E8-7C6C96063A3A}"/>
                </a:ext>
              </a:extLst>
            </p:cNvPr>
            <p:cNvSpPr txBox="1"/>
            <p:nvPr/>
          </p:nvSpPr>
          <p:spPr>
            <a:xfrm>
              <a:off x="5714619" y="4337265"/>
              <a:ext cx="3097386" cy="830997"/>
            </a:xfrm>
            <a:prstGeom prst="rect">
              <a:avLst/>
            </a:prstGeom>
            <a:noFill/>
          </p:spPr>
          <p:txBody>
            <a:bodyPr wrap="none" rtlCol="0">
              <a:spAutoFit/>
            </a:bodyPr>
            <a:lstStyle/>
            <a:p>
              <a:r>
                <a:rPr lang="en-US" sz="2400" dirty="0">
                  <a:solidFill>
                    <a:schemeClr val="accent5"/>
                  </a:solidFill>
                </a:rPr>
                <a:t>Effect of being drafted</a:t>
              </a:r>
            </a:p>
            <a:p>
              <a:pPr algn="ctr"/>
              <a:r>
                <a:rPr lang="en-US" sz="2400" dirty="0">
                  <a:solidFill>
                    <a:schemeClr val="accent5"/>
                  </a:solidFill>
                </a:rPr>
                <a:t>on earnings</a:t>
              </a:r>
            </a:p>
          </p:txBody>
        </p:sp>
        <p:sp>
          <p:nvSpPr>
            <p:cNvPr id="10" name="TextBox 9">
              <a:extLst>
                <a:ext uri="{FF2B5EF4-FFF2-40B4-BE49-F238E27FC236}">
                  <a16:creationId xmlns:a16="http://schemas.microsoft.com/office/drawing/2014/main" id="{64779315-B89C-0D4F-72CB-EF92926920AA}"/>
                </a:ext>
              </a:extLst>
            </p:cNvPr>
            <p:cNvSpPr txBox="1"/>
            <p:nvPr/>
          </p:nvSpPr>
          <p:spPr>
            <a:xfrm>
              <a:off x="2408914" y="4768370"/>
              <a:ext cx="2299797" cy="830997"/>
            </a:xfrm>
            <a:prstGeom prst="rect">
              <a:avLst/>
            </a:prstGeom>
            <a:noFill/>
          </p:spPr>
          <p:txBody>
            <a:bodyPr wrap="none" rtlCol="0">
              <a:spAutoFit/>
            </a:bodyPr>
            <a:lstStyle/>
            <a:p>
              <a:r>
                <a:rPr lang="en-US" sz="2400" dirty="0">
                  <a:solidFill>
                    <a:schemeClr val="accent1"/>
                  </a:solidFill>
                </a:rPr>
                <a:t>Effect of serving</a:t>
              </a:r>
            </a:p>
            <a:p>
              <a:pPr algn="ctr"/>
              <a:r>
                <a:rPr lang="en-US" sz="2400" dirty="0">
                  <a:solidFill>
                    <a:schemeClr val="accent1"/>
                  </a:solidFill>
                </a:rPr>
                <a:t>on earnings</a:t>
              </a:r>
            </a:p>
          </p:txBody>
        </p:sp>
        <p:sp>
          <p:nvSpPr>
            <p:cNvPr id="11" name="TextBox 10">
              <a:extLst>
                <a:ext uri="{FF2B5EF4-FFF2-40B4-BE49-F238E27FC236}">
                  <a16:creationId xmlns:a16="http://schemas.microsoft.com/office/drawing/2014/main" id="{3656270F-6110-69C3-F727-064C31949478}"/>
                </a:ext>
              </a:extLst>
            </p:cNvPr>
            <p:cNvSpPr txBox="1"/>
            <p:nvPr/>
          </p:nvSpPr>
          <p:spPr>
            <a:xfrm>
              <a:off x="5714618" y="5428929"/>
              <a:ext cx="3159904" cy="830997"/>
            </a:xfrm>
            <a:prstGeom prst="rect">
              <a:avLst/>
            </a:prstGeom>
            <a:noFill/>
          </p:spPr>
          <p:txBody>
            <a:bodyPr wrap="none" rtlCol="0">
              <a:spAutoFit/>
            </a:bodyPr>
            <a:lstStyle/>
            <a:p>
              <a:r>
                <a:rPr lang="en-US" sz="2400" dirty="0">
                  <a:solidFill>
                    <a:schemeClr val="accent6"/>
                  </a:solidFill>
                </a:rPr>
                <a:t>Effect of being drafted </a:t>
              </a:r>
            </a:p>
            <a:p>
              <a:pPr algn="ctr"/>
              <a:r>
                <a:rPr lang="en-US" sz="2400" dirty="0">
                  <a:solidFill>
                    <a:schemeClr val="accent6"/>
                  </a:solidFill>
                </a:rPr>
                <a:t>on serving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BBE2033-4C2B-901B-0521-D2E92456DAD0}"/>
                    </a:ext>
                  </a:extLst>
                </p:cNvPr>
                <p:cNvSpPr txBox="1"/>
                <p:nvPr/>
              </p:nvSpPr>
              <p:spPr>
                <a:xfrm>
                  <a:off x="4669753" y="4891501"/>
                  <a:ext cx="682053"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m:t>
                        </m:r>
                      </m:oMath>
                    </m:oMathPara>
                  </a14:m>
                  <a:endParaRPr lang="en-US" sz="4000" dirty="0"/>
                </a:p>
              </p:txBody>
            </p:sp>
          </mc:Choice>
          <mc:Fallback xmlns="">
            <p:sp>
              <p:nvSpPr>
                <p:cNvPr id="12" name="TextBox 11">
                  <a:extLst>
                    <a:ext uri="{FF2B5EF4-FFF2-40B4-BE49-F238E27FC236}">
                      <a16:creationId xmlns:a16="http://schemas.microsoft.com/office/drawing/2014/main" id="{6BBE2033-4C2B-901B-0521-D2E92456DAD0}"/>
                    </a:ext>
                  </a:extLst>
                </p:cNvPr>
                <p:cNvSpPr txBox="1">
                  <a:spLocks noRot="1" noChangeAspect="1" noMove="1" noResize="1" noEditPoints="1" noAdjustHandles="1" noChangeArrowheads="1" noChangeShapeType="1" noTextEdit="1"/>
                </p:cNvSpPr>
                <p:nvPr/>
              </p:nvSpPr>
              <p:spPr>
                <a:xfrm>
                  <a:off x="4669753" y="4891501"/>
                  <a:ext cx="682053" cy="615553"/>
                </a:xfrm>
                <a:prstGeom prst="rect">
                  <a:avLst/>
                </a:prstGeom>
                <a:blipFill>
                  <a:blip r:embed="rId5"/>
                  <a:stretch>
                    <a:fillRect/>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AC51A963-77B2-0271-F1C9-B9BF01A325C6}"/>
                </a:ext>
              </a:extLst>
            </p:cNvPr>
            <p:cNvCxnSpPr/>
            <p:nvPr/>
          </p:nvCxnSpPr>
          <p:spPr>
            <a:xfrm>
              <a:off x="5435790" y="5334188"/>
              <a:ext cx="3717561" cy="0"/>
            </a:xfrm>
            <a:prstGeom prst="line">
              <a:avLst/>
            </a:prstGeom>
            <a:ln w="38100"/>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885643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2583-6BC8-DBA3-4270-FB66E211653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6D227AE-EF04-191F-10DC-3F0DF279320D}"/>
              </a:ext>
            </a:extLst>
          </p:cNvPr>
          <p:cNvSpPr>
            <a:spLocks noGrp="1"/>
          </p:cNvSpPr>
          <p:nvPr>
            <p:ph type="subTitle" idx="1"/>
          </p:nvPr>
        </p:nvSpPr>
        <p:spPr/>
        <p:txBody>
          <a:bodyPr/>
          <a:lstStyle/>
          <a:p>
            <a:endParaRPr lang="en-US"/>
          </a:p>
        </p:txBody>
      </p:sp>
      <p:pic>
        <p:nvPicPr>
          <p:cNvPr id="5" name="slide.url=https://www.polleverywhere.com/multiple_choice_polls/kjVqKBh2bxRbY4ZkyOVJC?display_state=instructions&amp;activity_state=opened&amp;state=opened&amp;flow=Engagement&amp;onscreen=persist">
            <a:extLst>
              <a:ext uri="{FF2B5EF4-FFF2-40B4-BE49-F238E27FC236}">
                <a16:creationId xmlns:a16="http://schemas.microsoft.com/office/drawing/2014/main" id="{9C73B125-392A-9B5E-01D1-8A45C6BF053F}"/>
              </a:ext>
            </a:extLst>
          </p:cNvPr>
          <p:cNvPicPr>
            <a:picLocks/>
          </p:cNvPicPr>
          <p:nvPr>
            <p:custDataLst>
              <p:tags r:id="rId1"/>
            </p:custDataLst>
          </p:nvPr>
        </p:nvPicPr>
        <p:blipFill>
          <a:blip r:embed="rId4"/>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553051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93D52-DD68-BB34-4BEB-68630C5095EF}"/>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36F65F8E-81E3-4201-E9D7-C891B74FCB8A}"/>
              </a:ext>
            </a:extLst>
          </p:cNvPr>
          <p:cNvSpPr>
            <a:spLocks noGrp="1"/>
          </p:cNvSpPr>
          <p:nvPr>
            <p:ph type="subTitle" idx="1"/>
          </p:nvPr>
        </p:nvSpPr>
        <p:spPr/>
        <p:txBody>
          <a:bodyPr/>
          <a:lstStyle/>
          <a:p>
            <a:endParaRPr lang="en-US"/>
          </a:p>
        </p:txBody>
      </p:sp>
      <p:pic>
        <p:nvPicPr>
          <p:cNvPr id="5" name="slide.url=https://www.polleverywhere.com/multiple_choice_polls/kjVqKBh2bxRbY4ZkyOVJC?display_state=chart&amp;activity_state=opened&amp;state=opened&amp;flow=Engagement&amp;onscreen=persist">
            <a:extLst>
              <a:ext uri="{FF2B5EF4-FFF2-40B4-BE49-F238E27FC236}">
                <a16:creationId xmlns:a16="http://schemas.microsoft.com/office/drawing/2014/main" id="{0C91753F-9859-51C5-5BB5-B895F1B12B47}"/>
              </a:ext>
            </a:extLst>
          </p:cNvPr>
          <p:cNvPicPr>
            <a:picLocks/>
          </p:cNvPicPr>
          <p:nvPr>
            <p:custDataLst>
              <p:tags r:id="rId1"/>
            </p:custDataLst>
          </p:nvPr>
        </p:nvPicPr>
        <p:blipFill>
          <a:blip r:embed="rId4"/>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646256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091B5-301A-9362-5BB1-33BD198CA27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F6164BC-A9CF-51FB-F2E5-94BA1EA4E514}"/>
              </a:ext>
            </a:extLst>
          </p:cNvPr>
          <p:cNvSpPr>
            <a:spLocks noGrp="1"/>
          </p:cNvSpPr>
          <p:nvPr>
            <p:ph type="subTitle" idx="1"/>
          </p:nvPr>
        </p:nvSpPr>
        <p:spPr/>
        <p:txBody>
          <a:bodyPr/>
          <a:lstStyle/>
          <a:p>
            <a:endParaRPr lang="en-US"/>
          </a:p>
        </p:txBody>
      </p:sp>
      <p:pic>
        <p:nvPicPr>
          <p:cNvPr id="5" name="slide.url=https://www.polleverywhere.com/multiple_choice_polls/kjVqKBh2bxRbY4ZkyOVJC?display_state=chart&amp;activity_state=closed&amp;state=closed&amp;flow=Engagement&amp;onscreen=persist">
            <a:extLst>
              <a:ext uri="{FF2B5EF4-FFF2-40B4-BE49-F238E27FC236}">
                <a16:creationId xmlns:a16="http://schemas.microsoft.com/office/drawing/2014/main" id="{AF04ADD9-475B-3004-7DEB-8AF10A8FE3CF}"/>
              </a:ext>
            </a:extLst>
          </p:cNvPr>
          <p:cNvPicPr>
            <a:picLocks/>
          </p:cNvPicPr>
          <p:nvPr>
            <p:custDataLst>
              <p:tags r:id="rId1"/>
            </p:custDataLst>
          </p:nvPr>
        </p:nvPicPr>
        <p:blipFill>
          <a:blip r:embed="rId4"/>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493174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13659-4ED8-ABFF-A56C-747110ADE412}"/>
              </a:ext>
            </a:extLst>
          </p:cNvPr>
          <p:cNvSpPr>
            <a:spLocks noGrp="1"/>
          </p:cNvSpPr>
          <p:nvPr>
            <p:ph type="title"/>
          </p:nvPr>
        </p:nvSpPr>
        <p:spPr>
          <a:xfrm>
            <a:off x="838200" y="365125"/>
            <a:ext cx="10515600" cy="1735138"/>
          </a:xfrm>
        </p:spPr>
        <p:txBody>
          <a:bodyPr>
            <a:normAutofit/>
          </a:bodyPr>
          <a:lstStyle/>
          <a:p>
            <a:r>
              <a:rPr lang="en-US" dirty="0"/>
              <a:t>LATE in this example</a:t>
            </a:r>
            <a:br>
              <a:rPr lang="en-US" dirty="0"/>
            </a:br>
            <a:r>
              <a:rPr lang="en-US" sz="2800" dirty="0"/>
              <a:t>ATE among the compliers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67E3F4-C606-4C50-4109-78CCD5A8EDD8}"/>
                  </a:ext>
                </a:extLst>
              </p:cNvPr>
              <p:cNvSpPr>
                <a:spLocks noGrp="1"/>
              </p:cNvSpPr>
              <p:nvPr>
                <p:ph idx="1"/>
              </p:nvPr>
            </p:nvSpPr>
            <p:spPr>
              <a:xfrm>
                <a:off x="838200" y="2100263"/>
                <a:ext cx="10515600" cy="4351338"/>
              </a:xfrm>
            </p:spPr>
            <p:txBody>
              <a:bodyPr/>
              <a:lstStyle/>
              <a:p>
                <a14:m>
                  <m:oMath xmlns:m="http://schemas.openxmlformats.org/officeDocument/2006/math">
                    <m:r>
                      <m:rPr>
                        <m:sty m:val="p"/>
                      </m:rPr>
                      <a:rPr lang="en-US" sz="2400" smtClean="0">
                        <a:latin typeface="Cambria Math" panose="02040503050406030204" pitchFamily="18" charset="0"/>
                      </a:rPr>
                      <m:t>LATE</m:t>
                    </m:r>
                    <m:r>
                      <a:rPr lang="en-US" sz="2400" i="1">
                        <a:latin typeface="Cambria Math" panose="02040503050406030204" pitchFamily="18" charset="0"/>
                      </a:rPr>
                      <m:t>=</m:t>
                    </m:r>
                    <m:f>
                      <m:fPr>
                        <m:ctrlPr>
                          <a:rPr lang="en-US" sz="2400" i="1">
                            <a:latin typeface="Cambria Math" panose="02040503050406030204" pitchFamily="18" charset="0"/>
                          </a:rPr>
                        </m:ctrlPr>
                      </m:fPr>
                      <m:num>
                        <m:r>
                          <m:rPr>
                            <m:sty m:val="p"/>
                          </m:rPr>
                          <a:rPr lang="en-US" sz="2400">
                            <a:latin typeface="Cambria Math" panose="02040503050406030204" pitchFamily="18" charset="0"/>
                          </a:rPr>
                          <m:t>ATE</m:t>
                        </m:r>
                        <m:r>
                          <a:rPr lang="en-US" sz="2400">
                            <a:latin typeface="Cambria Math" panose="02040503050406030204" pitchFamily="18" charset="0"/>
                          </a:rPr>
                          <m:t> </m:t>
                        </m:r>
                        <m:r>
                          <m:rPr>
                            <m:sty m:val="p"/>
                          </m:rPr>
                          <a:rPr lang="en-US" sz="2400">
                            <a:latin typeface="Cambria Math" panose="02040503050406030204" pitchFamily="18" charset="0"/>
                          </a:rPr>
                          <m:t>of</m:t>
                        </m:r>
                        <m:r>
                          <a:rPr lang="en-US" sz="2400">
                            <a:latin typeface="Cambria Math" panose="02040503050406030204" pitchFamily="18" charset="0"/>
                          </a:rPr>
                          <m:t> </m:t>
                        </m:r>
                        <m:r>
                          <a:rPr lang="en-US" sz="2400" i="1">
                            <a:latin typeface="Cambria Math" panose="02040503050406030204" pitchFamily="18" charset="0"/>
                          </a:rPr>
                          <m:t>𝑍</m:t>
                        </m:r>
                        <m:r>
                          <a:rPr lang="en-US" sz="2400">
                            <a:latin typeface="Cambria Math" panose="02040503050406030204" pitchFamily="18" charset="0"/>
                          </a:rPr>
                          <m:t> </m:t>
                        </m:r>
                        <m:r>
                          <m:rPr>
                            <m:sty m:val="p"/>
                          </m:rPr>
                          <a:rPr lang="en-US" sz="2400">
                            <a:latin typeface="Cambria Math" panose="02040503050406030204" pitchFamily="18" charset="0"/>
                          </a:rPr>
                          <m:t>on</m:t>
                        </m:r>
                        <m:r>
                          <a:rPr lang="en-US" sz="2400">
                            <a:latin typeface="Cambria Math" panose="02040503050406030204" pitchFamily="18" charset="0"/>
                          </a:rPr>
                          <m:t> </m:t>
                        </m:r>
                        <m:r>
                          <a:rPr lang="en-US" sz="2400" i="1">
                            <a:latin typeface="Cambria Math" panose="02040503050406030204" pitchFamily="18" charset="0"/>
                          </a:rPr>
                          <m:t>𝑌</m:t>
                        </m:r>
                      </m:num>
                      <m:den>
                        <m:r>
                          <m:rPr>
                            <m:sty m:val="p"/>
                          </m:rPr>
                          <a:rPr lang="en-US" sz="2400">
                            <a:latin typeface="Cambria Math" panose="02040503050406030204" pitchFamily="18" charset="0"/>
                          </a:rPr>
                          <m:t>ATE</m:t>
                        </m:r>
                        <m:r>
                          <a:rPr lang="en-US" sz="2400">
                            <a:latin typeface="Cambria Math" panose="02040503050406030204" pitchFamily="18" charset="0"/>
                          </a:rPr>
                          <m:t> </m:t>
                        </m:r>
                        <m:r>
                          <m:rPr>
                            <m:sty m:val="p"/>
                          </m:rPr>
                          <a:rPr lang="en-US" sz="2400">
                            <a:latin typeface="Cambria Math" panose="02040503050406030204" pitchFamily="18" charset="0"/>
                          </a:rPr>
                          <m:t>of</m:t>
                        </m:r>
                        <m:r>
                          <a:rPr lang="en-US" sz="2400">
                            <a:latin typeface="Cambria Math" panose="02040503050406030204" pitchFamily="18" charset="0"/>
                          </a:rPr>
                          <m:t> </m:t>
                        </m:r>
                        <m:r>
                          <a:rPr lang="en-US" sz="2400" i="1">
                            <a:latin typeface="Cambria Math" panose="02040503050406030204" pitchFamily="18" charset="0"/>
                          </a:rPr>
                          <m:t>𝑍</m:t>
                        </m:r>
                        <m:r>
                          <a:rPr lang="en-US" sz="2400">
                            <a:latin typeface="Cambria Math" panose="02040503050406030204" pitchFamily="18" charset="0"/>
                          </a:rPr>
                          <m:t> </m:t>
                        </m:r>
                        <m:r>
                          <m:rPr>
                            <m:sty m:val="p"/>
                          </m:rPr>
                          <a:rPr lang="en-US" sz="2400">
                            <a:latin typeface="Cambria Math" panose="02040503050406030204" pitchFamily="18" charset="0"/>
                          </a:rPr>
                          <m:t>on</m:t>
                        </m:r>
                        <m:r>
                          <a:rPr lang="en-US" sz="2400">
                            <a:latin typeface="Cambria Math" panose="02040503050406030204" pitchFamily="18" charset="0"/>
                          </a:rPr>
                          <m:t> </m:t>
                        </m:r>
                        <m:r>
                          <a:rPr lang="en-US" sz="2400" i="1">
                            <a:latin typeface="Cambria Math" panose="02040503050406030204" pitchFamily="18" charset="0"/>
                          </a:rPr>
                          <m:t>𝑋</m:t>
                        </m:r>
                      </m:den>
                    </m:f>
                  </m:oMath>
                </a14:m>
                <a:endParaRPr lang="en-US" dirty="0"/>
              </a:p>
              <a:p>
                <a:endParaRPr lang="en-US" dirty="0"/>
              </a:p>
              <a:p>
                <a:r>
                  <a:rPr lang="en-US" dirty="0"/>
                  <a:t>Angrist (1990) found that serving in Vietnam was responsible for about 15% lower earnings among white men by the early 1980s.</a:t>
                </a:r>
              </a:p>
              <a:p>
                <a:pPr lvl="1"/>
                <a:r>
                  <a:rPr lang="en-US" dirty="0">
                    <a:solidFill>
                      <a:schemeClr val="accent1"/>
                    </a:solidFill>
                  </a:rPr>
                  <a:t>The findings were less conclusive for nonwhite men.</a:t>
                </a:r>
              </a:p>
            </p:txBody>
          </p:sp>
        </mc:Choice>
        <mc:Fallback xmlns="">
          <p:sp>
            <p:nvSpPr>
              <p:cNvPr id="3" name="Content Placeholder 2">
                <a:extLst>
                  <a:ext uri="{FF2B5EF4-FFF2-40B4-BE49-F238E27FC236}">
                    <a16:creationId xmlns:a16="http://schemas.microsoft.com/office/drawing/2014/main" id="{C167E3F4-C606-4C50-4109-78CCD5A8EDD8}"/>
                  </a:ext>
                </a:extLst>
              </p:cNvPr>
              <p:cNvSpPr>
                <a:spLocks noGrp="1" noRot="1" noChangeAspect="1" noMove="1" noResize="1" noEditPoints="1" noAdjustHandles="1" noChangeArrowheads="1" noChangeShapeType="1" noTextEdit="1"/>
              </p:cNvSpPr>
              <p:nvPr>
                <p:ph idx="1"/>
              </p:nvPr>
            </p:nvSpPr>
            <p:spPr>
              <a:xfrm>
                <a:off x="838200" y="2100263"/>
                <a:ext cx="10515600" cy="4351338"/>
              </a:xfrm>
              <a:blipFill>
                <a:blip r:embed="rId3"/>
                <a:stretch>
                  <a:fillRect l="-1086" t="-583"/>
                </a:stretch>
              </a:blipFill>
            </p:spPr>
            <p:txBody>
              <a:bodyPr/>
              <a:lstStyle/>
              <a:p>
                <a:r>
                  <a:rPr lang="en-US">
                    <a:noFill/>
                  </a:rPr>
                  <a:t> </a:t>
                </a:r>
              </a:p>
            </p:txBody>
          </p:sp>
        </mc:Fallback>
      </mc:AlternateContent>
    </p:spTree>
    <p:extLst>
      <p:ext uri="{BB962C8B-B14F-4D97-AF65-F5344CB8AC3E}">
        <p14:creationId xmlns:p14="http://schemas.microsoft.com/office/powerpoint/2010/main" val="243828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ounder Black Red Honey Burst with Stiletto Hard Case">
            <a:extLst>
              <a:ext uri="{FF2B5EF4-FFF2-40B4-BE49-F238E27FC236}">
                <a16:creationId xmlns:a16="http://schemas.microsoft.com/office/drawing/2014/main" id="{3A124A62-44A7-74BA-65FF-957D1FDB3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4738" y="3954909"/>
            <a:ext cx="2386706" cy="2386706"/>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C1901C5-2A4D-DD11-FA90-410FF6CD37C7}"/>
              </a:ext>
            </a:extLst>
          </p:cNvPr>
          <p:cNvSpPr>
            <a:spLocks noGrp="1"/>
          </p:cNvSpPr>
          <p:nvPr>
            <p:ph type="title"/>
          </p:nvPr>
        </p:nvSpPr>
        <p:spPr>
          <a:effectLst>
            <a:glow rad="101600">
              <a:schemeClr val="accent4">
                <a:satMod val="175000"/>
                <a:alpha val="40000"/>
              </a:schemeClr>
            </a:glow>
          </a:effectLst>
        </p:spPr>
        <p:txBody>
          <a:bodyPr/>
          <a:lstStyle/>
          <a:p>
            <a:r>
              <a:rPr lang="en-US" dirty="0"/>
              <a:t>Back to Instrumental Variables</a:t>
            </a:r>
          </a:p>
        </p:txBody>
      </p:sp>
      <p:sp>
        <p:nvSpPr>
          <p:cNvPr id="3" name="Text Placeholder 2">
            <a:extLst>
              <a:ext uri="{FF2B5EF4-FFF2-40B4-BE49-F238E27FC236}">
                <a16:creationId xmlns:a16="http://schemas.microsoft.com/office/drawing/2014/main" id="{3FE9B622-E42B-A04E-105C-E64A96162EC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94031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E16F-2103-765D-2191-B8CAA9A301F0}"/>
              </a:ext>
            </a:extLst>
          </p:cNvPr>
          <p:cNvSpPr>
            <a:spLocks noGrp="1"/>
          </p:cNvSpPr>
          <p:nvPr>
            <p:ph type="title"/>
          </p:nvPr>
        </p:nvSpPr>
        <p:spPr/>
        <p:txBody>
          <a:bodyPr/>
          <a:lstStyle/>
          <a:p>
            <a:r>
              <a:rPr lang="en-US" dirty="0"/>
              <a:t>Instrumental Variables</a:t>
            </a:r>
          </a:p>
        </p:txBody>
      </p:sp>
      <p:sp>
        <p:nvSpPr>
          <p:cNvPr id="3" name="Content Placeholder 2">
            <a:extLst>
              <a:ext uri="{FF2B5EF4-FFF2-40B4-BE49-F238E27FC236}">
                <a16:creationId xmlns:a16="http://schemas.microsoft.com/office/drawing/2014/main" id="{F3F40BA4-BB06-A21B-F94A-8B4D041B259D}"/>
              </a:ext>
            </a:extLst>
          </p:cNvPr>
          <p:cNvSpPr>
            <a:spLocks noGrp="1"/>
          </p:cNvSpPr>
          <p:nvPr>
            <p:ph idx="1"/>
          </p:nvPr>
        </p:nvSpPr>
        <p:spPr>
          <a:xfrm>
            <a:off x="853880" y="1690688"/>
            <a:ext cx="10515600" cy="4351338"/>
          </a:xfrm>
        </p:spPr>
        <p:txBody>
          <a:bodyPr/>
          <a:lstStyle/>
          <a:p>
            <a:r>
              <a:rPr lang="en-US" dirty="0"/>
              <a:t>In the example we just saw:</a:t>
            </a:r>
          </a:p>
          <a:p>
            <a:pPr lvl="1"/>
            <a:r>
              <a:rPr lang="en-US" dirty="0">
                <a:solidFill>
                  <a:schemeClr val="accent1"/>
                </a:solidFill>
              </a:rPr>
              <a:t>Z = being drafted</a:t>
            </a:r>
          </a:p>
          <a:p>
            <a:pPr lvl="1"/>
            <a:r>
              <a:rPr lang="en-US" dirty="0">
                <a:solidFill>
                  <a:schemeClr val="accent1"/>
                </a:solidFill>
              </a:rPr>
              <a:t>X = serving in the military</a:t>
            </a:r>
          </a:p>
          <a:p>
            <a:pPr lvl="1"/>
            <a:r>
              <a:rPr lang="en-US" dirty="0">
                <a:solidFill>
                  <a:schemeClr val="accent1"/>
                </a:solidFill>
              </a:rPr>
              <a:t>Y = log(earnings)</a:t>
            </a:r>
          </a:p>
          <a:p>
            <a:r>
              <a:rPr lang="en-US" dirty="0"/>
              <a:t>But this framework is very general!</a:t>
            </a:r>
          </a:p>
          <a:p>
            <a:pPr lvl="1"/>
            <a:r>
              <a:rPr lang="en-US" dirty="0">
                <a:solidFill>
                  <a:schemeClr val="accent1"/>
                </a:solidFill>
              </a:rPr>
              <a:t>For today, suppose Z and X are binary – we’ll generalize next time.</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92750062-C85F-573A-2967-1ABF4EEEE472}"/>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𝑋</m:t>
                      </m:r>
                    </m:oMath>
                  </m:oMathPara>
                </a14:m>
                <a:endParaRPr lang="en-US" sz="4000" dirty="0"/>
              </a:p>
            </p:txBody>
          </p:sp>
        </mc:Choice>
        <mc:Fallback xmlns="">
          <p:sp>
            <p:nvSpPr>
              <p:cNvPr id="4" name="Oval 3">
                <a:extLst>
                  <a:ext uri="{FF2B5EF4-FFF2-40B4-BE49-F238E27FC236}">
                    <a16:creationId xmlns:a16="http://schemas.microsoft.com/office/drawing/2014/main" id="{92750062-C85F-573A-2967-1ABF4EEEE472}"/>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D5CB0E05-3727-A94A-3516-D28B3F6833B8}"/>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𝑌</m:t>
                      </m:r>
                    </m:oMath>
                  </m:oMathPara>
                </a14:m>
                <a:endParaRPr lang="en-US" sz="4000" dirty="0"/>
              </a:p>
            </p:txBody>
          </p:sp>
        </mc:Choice>
        <mc:Fallback xmlns="">
          <p:sp>
            <p:nvSpPr>
              <p:cNvPr id="5" name="Oval 4">
                <a:extLst>
                  <a:ext uri="{FF2B5EF4-FFF2-40B4-BE49-F238E27FC236}">
                    <a16:creationId xmlns:a16="http://schemas.microsoft.com/office/drawing/2014/main" id="{D5CB0E05-3727-A94A-3516-D28B3F6833B8}"/>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DC147965-078B-355F-850B-285FAF6483C9}"/>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6" name="Oval 5">
                <a:extLst>
                  <a:ext uri="{FF2B5EF4-FFF2-40B4-BE49-F238E27FC236}">
                    <a16:creationId xmlns:a16="http://schemas.microsoft.com/office/drawing/2014/main" id="{DC147965-078B-355F-850B-285FAF6483C9}"/>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5"/>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ABB8D034-F5F2-47C6-8F13-594419F05E1C}"/>
              </a:ext>
            </a:extLst>
          </p:cNvPr>
          <p:cNvCxnSpPr>
            <a:endCxn id="5"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55FB0360-8C1A-8A73-85EE-5617D3876769}"/>
              </a:ext>
            </a:extLst>
          </p:cNvPr>
          <p:cNvCxnSpPr>
            <a:cxnSpLocks/>
            <a:stCxn id="6" idx="6"/>
            <a:endCxn id="4"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27B00DDD-881C-59FF-1A3D-4BB9BFD71164}"/>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0" name="&quot;No&quot; Symbol 9">
            <a:extLst>
              <a:ext uri="{FF2B5EF4-FFF2-40B4-BE49-F238E27FC236}">
                <a16:creationId xmlns:a16="http://schemas.microsoft.com/office/drawing/2014/main" id="{5889674A-E265-8B27-F247-5D8D166227BE}"/>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2" descr="Hounder Black Red Honey Burst with Stiletto Hard Case">
            <a:extLst>
              <a:ext uri="{FF2B5EF4-FFF2-40B4-BE49-F238E27FC236}">
                <a16:creationId xmlns:a16="http://schemas.microsoft.com/office/drawing/2014/main" id="{6C937818-805E-140D-CE7B-F971DFCCCB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E7CAAE3-6252-F99E-CF99-06F5BF2143D0}"/>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spTree>
    <p:extLst>
      <p:ext uri="{BB962C8B-B14F-4D97-AF65-F5344CB8AC3E}">
        <p14:creationId xmlns:p14="http://schemas.microsoft.com/office/powerpoint/2010/main" val="3057080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E16F-2103-765D-2191-B8CAA9A301F0}"/>
              </a:ext>
            </a:extLst>
          </p:cNvPr>
          <p:cNvSpPr>
            <a:spLocks noGrp="1"/>
          </p:cNvSpPr>
          <p:nvPr>
            <p:ph type="title"/>
          </p:nvPr>
        </p:nvSpPr>
        <p:spPr>
          <a:xfrm>
            <a:off x="670774" y="10289"/>
            <a:ext cx="11628549" cy="1325563"/>
          </a:xfrm>
        </p:spPr>
        <p:txBody>
          <a:bodyPr/>
          <a:lstStyle/>
          <a:p>
            <a:r>
              <a:rPr lang="en-US" dirty="0"/>
              <a:t>What do we need in an IV </a:t>
            </a:r>
            <a:br>
              <a:rPr lang="en-US" dirty="0"/>
            </a:br>
            <a:r>
              <a:rPr lang="en-US" sz="3200" dirty="0"/>
              <a:t>if we want to interpret the result as a LATE?</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3F40BA4-BB06-A21B-F94A-8B4D041B259D}"/>
                  </a:ext>
                </a:extLst>
              </p:cNvPr>
              <p:cNvSpPr>
                <a:spLocks noGrp="1"/>
              </p:cNvSpPr>
              <p:nvPr>
                <p:ph idx="1"/>
              </p:nvPr>
            </p:nvSpPr>
            <p:spPr>
              <a:xfrm>
                <a:off x="1005626" y="1266755"/>
                <a:ext cx="10515600" cy="4922319"/>
              </a:xfrm>
            </p:spPr>
            <p:txBody>
              <a:bodyPr>
                <a:normAutofit/>
              </a:bodyPr>
              <a:lstStyle/>
              <a:p>
                <a:endParaRPr lang="en-US" sz="300" dirty="0">
                  <a:solidFill>
                    <a:schemeClr val="tx1"/>
                  </a:solidFill>
                </a:endParaRPr>
              </a:p>
              <a:p>
                <a:r>
                  <a:rPr lang="en-US" b="1" dirty="0">
                    <a:solidFill>
                      <a:schemeClr val="tx1"/>
                    </a:solidFill>
                  </a:rPr>
                  <a:t>Relevance: </a:t>
                </a:r>
                <a:r>
                  <a:rPr lang="en-US" dirty="0">
                    <a:solidFill>
                      <a:schemeClr val="tx1"/>
                    </a:solidFill>
                  </a:rPr>
                  <a:t>Changing </a:t>
                </a:r>
                <a14:m>
                  <m:oMath xmlns:m="http://schemas.openxmlformats.org/officeDocument/2006/math">
                    <m:r>
                      <a:rPr lang="en-US" i="1" smtClean="0">
                        <a:solidFill>
                          <a:schemeClr val="tx1"/>
                        </a:solidFill>
                        <a:latin typeface="Cambria Math" panose="02040503050406030204" pitchFamily="18" charset="0"/>
                      </a:rPr>
                      <m:t>𝑍</m:t>
                    </m:r>
                  </m:oMath>
                </a14:m>
                <a:r>
                  <a:rPr lang="en-US" dirty="0">
                    <a:solidFill>
                      <a:schemeClr val="tx1"/>
                    </a:solidFill>
                  </a:rPr>
                  <a:t> should change </a:t>
                </a:r>
                <a14:m>
                  <m:oMath xmlns:m="http://schemas.openxmlformats.org/officeDocument/2006/math">
                    <m:r>
                      <a:rPr lang="en-US" b="0" i="1" smtClean="0">
                        <a:solidFill>
                          <a:schemeClr val="tx1"/>
                        </a:solidFill>
                        <a:latin typeface="Cambria Math" panose="02040503050406030204" pitchFamily="18" charset="0"/>
                      </a:rPr>
                      <m:t>𝑋</m:t>
                    </m:r>
                  </m:oMath>
                </a14:m>
                <a:r>
                  <a:rPr lang="en-US" dirty="0">
                    <a:solidFill>
                      <a:schemeClr val="tx1"/>
                    </a:solidFill>
                  </a:rPr>
                  <a:t>.</a:t>
                </a:r>
              </a:p>
              <a:p>
                <a:pPr lvl="1"/>
                <a:r>
                  <a:rPr lang="en-US" dirty="0">
                    <a:solidFill>
                      <a:schemeClr val="accent1"/>
                    </a:solidFill>
                  </a:rPr>
                  <a:t>Otherwise, what’s the point?</a:t>
                </a:r>
              </a:p>
              <a:p>
                <a:r>
                  <a:rPr lang="en-US" b="1" dirty="0">
                    <a:solidFill>
                      <a:schemeClr val="tx1"/>
                    </a:solidFill>
                  </a:rPr>
                  <a:t>Independence</a:t>
                </a:r>
                <a:r>
                  <a:rPr lang="en-US" dirty="0">
                    <a:solidFill>
                      <a:schemeClr val="tx1"/>
                    </a:solidFill>
                  </a:rPr>
                  <a:t>: </a:t>
                </a:r>
                <a14:m>
                  <m:oMath xmlns:m="http://schemas.openxmlformats.org/officeDocument/2006/math">
                    <m:r>
                      <a:rPr lang="en-US" b="0" i="1" smtClean="0">
                        <a:solidFill>
                          <a:schemeClr val="tx1"/>
                        </a:solidFill>
                        <a:latin typeface="Cambria Math" panose="02040503050406030204" pitchFamily="18" charset="0"/>
                      </a:rPr>
                      <m:t>𝑍</m:t>
                    </m:r>
                  </m:oMath>
                </a14:m>
                <a:r>
                  <a:rPr lang="en-US" dirty="0">
                    <a:solidFill>
                      <a:schemeClr val="tx1"/>
                    </a:solidFill>
                  </a:rPr>
                  <a:t> is “random” with respect to </a:t>
                </a:r>
                <a14:m>
                  <m:oMath xmlns:m="http://schemas.openxmlformats.org/officeDocument/2006/math">
                    <m:r>
                      <a:rPr lang="en-US" i="1" smtClean="0">
                        <a:solidFill>
                          <a:schemeClr val="tx1"/>
                        </a:solidFill>
                        <a:latin typeface="Cambria Math" panose="02040503050406030204" pitchFamily="18" charset="0"/>
                      </a:rPr>
                      <m:t>𝑌</m:t>
                    </m:r>
                  </m:oMath>
                </a14:m>
                <a:endParaRPr lang="en-US" b="1" dirty="0">
                  <a:solidFill>
                    <a:schemeClr val="tx1"/>
                  </a:solidFill>
                </a:endParaRP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𝑍</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 </m:t>
                    </m:r>
                  </m:oMath>
                </a14:m>
                <a:r>
                  <a:rPr lang="en-US" dirty="0">
                    <a:solidFill>
                      <a:schemeClr val="accent1"/>
                    </a:solidFill>
                  </a:rPr>
                  <a:t>shouldn’t tell you anything about the potential outcomes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𝑌</m:t>
                        </m:r>
                      </m:e>
                      <m:sub>
                        <m:r>
                          <a:rPr lang="en-US" b="0" i="1" smtClean="0">
                            <a:solidFill>
                              <a:schemeClr val="accent1"/>
                            </a:solidFill>
                            <a:latin typeface="Cambria Math" panose="02040503050406030204" pitchFamily="18" charset="0"/>
                          </a:rPr>
                          <m:t>𝑖</m:t>
                        </m:r>
                      </m:sub>
                    </m:sSub>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0</m:t>
                        </m:r>
                      </m:e>
                    </m:d>
                    <m:r>
                      <a:rPr lang="en-US" b="0" i="1" smtClean="0">
                        <a:solidFill>
                          <a:schemeClr val="accent1"/>
                        </a:solidFill>
                        <a:latin typeface="Cambria Math" panose="02040503050406030204" pitchFamily="18" charset="0"/>
                      </a:rPr>
                      <m:t>, </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𝑌</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(1)</m:t>
                    </m:r>
                  </m:oMath>
                </a14:m>
                <a:endParaRPr lang="en-US" dirty="0">
                  <a:solidFill>
                    <a:schemeClr val="accent1"/>
                  </a:solidFill>
                </a:endParaRPr>
              </a:p>
              <a:p>
                <a:r>
                  <a:rPr lang="en-US" b="1" dirty="0">
                    <a:solidFill>
                      <a:schemeClr val="tx1"/>
                    </a:solidFill>
                  </a:rPr>
                  <a:t>Exclusion</a:t>
                </a:r>
                <a:r>
                  <a:rPr lang="en-US" dirty="0">
                    <a:solidFill>
                      <a:schemeClr val="tx1"/>
                    </a:solidFill>
                  </a:rPr>
                  <a:t>: </a:t>
                </a:r>
                <a14:m>
                  <m:oMath xmlns:m="http://schemas.openxmlformats.org/officeDocument/2006/math">
                    <m:r>
                      <a:rPr lang="en-US" b="0" i="1" smtClean="0">
                        <a:solidFill>
                          <a:schemeClr val="tx1"/>
                        </a:solidFill>
                        <a:latin typeface="Cambria Math" panose="02040503050406030204" pitchFamily="18" charset="0"/>
                      </a:rPr>
                      <m:t>𝑍</m:t>
                    </m:r>
                  </m:oMath>
                </a14:m>
                <a:r>
                  <a:rPr lang="en-US" dirty="0">
                    <a:solidFill>
                      <a:schemeClr val="tx1"/>
                    </a:solidFill>
                  </a:rPr>
                  <a:t> shouldn’t affect </a:t>
                </a:r>
                <a14:m>
                  <m:oMath xmlns:m="http://schemas.openxmlformats.org/officeDocument/2006/math">
                    <m:r>
                      <a:rPr lang="en-US" b="0" i="1" smtClean="0">
                        <a:solidFill>
                          <a:schemeClr val="tx1"/>
                        </a:solidFill>
                        <a:latin typeface="Cambria Math" panose="02040503050406030204" pitchFamily="18" charset="0"/>
                      </a:rPr>
                      <m:t>𝑌</m:t>
                    </m:r>
                  </m:oMath>
                </a14:m>
                <a:r>
                  <a:rPr lang="en-US" dirty="0">
                    <a:solidFill>
                      <a:schemeClr val="tx1"/>
                    </a:solidFill>
                  </a:rPr>
                  <a:t> except through </a:t>
                </a:r>
                <a14:m>
                  <m:oMath xmlns:m="http://schemas.openxmlformats.org/officeDocument/2006/math">
                    <m:r>
                      <a:rPr lang="en-US" b="0" i="1" smtClean="0">
                        <a:solidFill>
                          <a:schemeClr val="tx1"/>
                        </a:solidFill>
                        <a:latin typeface="Cambria Math" panose="02040503050406030204" pitchFamily="18" charset="0"/>
                      </a:rPr>
                      <m:t>𝑋</m:t>
                    </m:r>
                  </m:oMath>
                </a14:m>
                <a:endParaRPr lang="en-US" dirty="0">
                  <a:solidFill>
                    <a:schemeClr val="tx1"/>
                  </a:solidFill>
                </a:endParaRPr>
              </a:p>
              <a:p>
                <a:pPr lvl="1"/>
                <a14:m>
                  <m:oMath xmlns:m="http://schemas.openxmlformats.org/officeDocument/2006/math">
                    <m:r>
                      <a:rPr lang="en-US" i="1" dirty="0" smtClean="0">
                        <a:solidFill>
                          <a:schemeClr val="accent1"/>
                        </a:solidFill>
                        <a:latin typeface="Cambria Math" panose="02040503050406030204" pitchFamily="18" charset="0"/>
                      </a:rPr>
                      <m:t>𝑌</m:t>
                    </m:r>
                  </m:oMath>
                </a14:m>
                <a:r>
                  <a:rPr lang="en-US" dirty="0">
                    <a:solidFill>
                      <a:schemeClr val="accent1"/>
                    </a:solidFill>
                  </a:rPr>
                  <a:t> should be a function of </a:t>
                </a:r>
                <a14:m>
                  <m:oMath xmlns:m="http://schemas.openxmlformats.org/officeDocument/2006/math">
                    <m:r>
                      <a:rPr lang="en-US" i="1" dirty="0" smtClean="0">
                        <a:solidFill>
                          <a:schemeClr val="accent1"/>
                        </a:solidFill>
                        <a:latin typeface="Cambria Math" panose="02040503050406030204" pitchFamily="18" charset="0"/>
                      </a:rPr>
                      <m:t>𝑋</m:t>
                    </m:r>
                  </m:oMath>
                </a14:m>
                <a:r>
                  <a:rPr lang="en-US" dirty="0">
                    <a:solidFill>
                      <a:schemeClr val="accent1"/>
                    </a:solidFill>
                  </a:rPr>
                  <a:t>, not of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 </a:t>
                </a:r>
                <a:r>
                  <a:rPr lang="en-US" i="1" dirty="0">
                    <a:solidFill>
                      <a:schemeClr val="accent1"/>
                    </a:solidFill>
                  </a:rPr>
                  <a:t>and</a:t>
                </a:r>
                <a:r>
                  <a:rPr lang="en-US" dirty="0">
                    <a:solidFill>
                      <a:schemeClr val="accent1"/>
                    </a:solidFill>
                  </a:rPr>
                  <a:t> </a:t>
                </a:r>
                <a14:m>
                  <m:oMath xmlns:m="http://schemas.openxmlformats.org/officeDocument/2006/math">
                    <m:r>
                      <a:rPr lang="en-US" i="1" dirty="0" smtClean="0">
                        <a:solidFill>
                          <a:schemeClr val="accent1"/>
                        </a:solidFill>
                        <a:latin typeface="Cambria Math" panose="02040503050406030204" pitchFamily="18" charset="0"/>
                      </a:rPr>
                      <m:t>𝑍</m:t>
                    </m:r>
                  </m:oMath>
                </a14:m>
                <a:endParaRPr lang="en-US" dirty="0">
                  <a:solidFill>
                    <a:schemeClr val="accent1"/>
                  </a:solidFill>
                </a:endParaRPr>
              </a:p>
              <a:p>
                <a:r>
                  <a:rPr lang="en-US" dirty="0">
                    <a:solidFill>
                      <a:schemeClr val="accent1"/>
                    </a:solidFill>
                  </a:rPr>
                  <a:t> </a:t>
                </a:r>
                <a:r>
                  <a:rPr lang="en-US" b="1" dirty="0">
                    <a:solidFill>
                      <a:schemeClr val="tx1"/>
                    </a:solidFill>
                  </a:rPr>
                  <a:t>Monotonicity</a:t>
                </a:r>
                <a:r>
                  <a:rPr lang="en-US" dirty="0">
                    <a:solidFill>
                      <a:schemeClr val="tx1"/>
                    </a:solidFill>
                  </a:rPr>
                  <a:t>: No defiers! </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 shouldn’t increase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 for some people and decrease it for others.</a:t>
                </a:r>
              </a:p>
              <a:p>
                <a:endParaRPr lang="en-US" dirty="0">
                  <a:solidFill>
                    <a:schemeClr val="accent1"/>
                  </a:solidFill>
                </a:endParaRPr>
              </a:p>
            </p:txBody>
          </p:sp>
        </mc:Choice>
        <mc:Fallback>
          <p:sp>
            <p:nvSpPr>
              <p:cNvPr id="3" name="Content Placeholder 2">
                <a:extLst>
                  <a:ext uri="{FF2B5EF4-FFF2-40B4-BE49-F238E27FC236}">
                    <a16:creationId xmlns:a16="http://schemas.microsoft.com/office/drawing/2014/main" id="{F3F40BA4-BB06-A21B-F94A-8B4D041B259D}"/>
                  </a:ext>
                </a:extLst>
              </p:cNvPr>
              <p:cNvSpPr>
                <a:spLocks noGrp="1" noRot="1" noChangeAspect="1" noMove="1" noResize="1" noEditPoints="1" noAdjustHandles="1" noChangeArrowheads="1" noChangeShapeType="1" noTextEdit="1"/>
              </p:cNvSpPr>
              <p:nvPr>
                <p:ph idx="1"/>
              </p:nvPr>
            </p:nvSpPr>
            <p:spPr>
              <a:xfrm>
                <a:off x="1005626" y="1266755"/>
                <a:ext cx="10515600" cy="4922319"/>
              </a:xfrm>
              <a:blipFill>
                <a:blip r:embed="rId3"/>
                <a:stretch>
                  <a:fillRect l="-1086"/>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5C4E3301-2EBB-ED8D-964B-558ADEA4D24A}"/>
              </a:ext>
            </a:extLst>
          </p:cNvPr>
          <p:cNvGrpSpPr/>
          <p:nvPr/>
        </p:nvGrpSpPr>
        <p:grpSpPr>
          <a:xfrm>
            <a:off x="2404533" y="4975401"/>
            <a:ext cx="7001850" cy="1686983"/>
            <a:chOff x="838200" y="4327742"/>
            <a:chExt cx="10041383" cy="2419310"/>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92750062-C85F-573A-2967-1ABF4EEEE472}"/>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𝑋</m:t>
                        </m:r>
                      </m:oMath>
                    </m:oMathPara>
                  </a14:m>
                  <a:endParaRPr lang="en-US" sz="4000" dirty="0"/>
                </a:p>
              </p:txBody>
            </p:sp>
          </mc:Choice>
          <mc:Fallback xmlns="">
            <p:sp>
              <p:nvSpPr>
                <p:cNvPr id="4" name="Oval 3">
                  <a:extLst>
                    <a:ext uri="{FF2B5EF4-FFF2-40B4-BE49-F238E27FC236}">
                      <a16:creationId xmlns:a16="http://schemas.microsoft.com/office/drawing/2014/main" id="{92750062-C85F-573A-2967-1ABF4EEEE472}"/>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D5CB0E05-3727-A94A-3516-D28B3F6833B8}"/>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𝑌</m:t>
                        </m:r>
                      </m:oMath>
                    </m:oMathPara>
                  </a14:m>
                  <a:endParaRPr lang="en-US" sz="4000" dirty="0"/>
                </a:p>
              </p:txBody>
            </p:sp>
          </mc:Choice>
          <mc:Fallback xmlns="">
            <p:sp>
              <p:nvSpPr>
                <p:cNvPr id="5" name="Oval 4">
                  <a:extLst>
                    <a:ext uri="{FF2B5EF4-FFF2-40B4-BE49-F238E27FC236}">
                      <a16:creationId xmlns:a16="http://schemas.microsoft.com/office/drawing/2014/main" id="{D5CB0E05-3727-A94A-3516-D28B3F6833B8}"/>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DC147965-078B-355F-850B-285FAF6483C9}"/>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6" name="Oval 5">
                  <a:extLst>
                    <a:ext uri="{FF2B5EF4-FFF2-40B4-BE49-F238E27FC236}">
                      <a16:creationId xmlns:a16="http://schemas.microsoft.com/office/drawing/2014/main" id="{DC147965-078B-355F-850B-285FAF6483C9}"/>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ABB8D034-F5F2-47C6-8F13-594419F05E1C}"/>
                </a:ext>
              </a:extLst>
            </p:cNvPr>
            <p:cNvCxnSpPr>
              <a:endCxn id="5"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55FB0360-8C1A-8A73-85EE-5617D3876769}"/>
                </a:ext>
              </a:extLst>
            </p:cNvPr>
            <p:cNvCxnSpPr>
              <a:cxnSpLocks/>
              <a:stCxn id="6" idx="6"/>
              <a:endCxn id="4"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9" name="Freeform 8">
              <a:extLst>
                <a:ext uri="{FF2B5EF4-FFF2-40B4-BE49-F238E27FC236}">
                  <a16:creationId xmlns:a16="http://schemas.microsoft.com/office/drawing/2014/main" id="{27B00DDD-881C-59FF-1A3D-4BB9BFD71164}"/>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0" name="&quot;No&quot; Symbol 9">
              <a:extLst>
                <a:ext uri="{FF2B5EF4-FFF2-40B4-BE49-F238E27FC236}">
                  <a16:creationId xmlns:a16="http://schemas.microsoft.com/office/drawing/2014/main" id="{5889674A-E265-8B27-F247-5D8D166227BE}"/>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2" descr="Hounder Black Red Honey Burst with Stiletto Hard Case">
              <a:extLst>
                <a:ext uri="{FF2B5EF4-FFF2-40B4-BE49-F238E27FC236}">
                  <a16:creationId xmlns:a16="http://schemas.microsoft.com/office/drawing/2014/main" id="{6C937818-805E-140D-CE7B-F971DFCCCB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E7CAAE3-6252-F99E-CF99-06F5BF2143D0}"/>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spTree>
    <p:extLst>
      <p:ext uri="{BB962C8B-B14F-4D97-AF65-F5344CB8AC3E}">
        <p14:creationId xmlns:p14="http://schemas.microsoft.com/office/powerpoint/2010/main" val="2053874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596D7-E85F-9151-400D-86907D2C474D}"/>
              </a:ext>
            </a:extLst>
          </p:cNvPr>
          <p:cNvSpPr>
            <a:spLocks noGrp="1"/>
          </p:cNvSpPr>
          <p:nvPr>
            <p:ph type="title"/>
          </p:nvPr>
        </p:nvSpPr>
        <p:spPr/>
        <p:txBody>
          <a:bodyPr/>
          <a:lstStyle/>
          <a:p>
            <a:r>
              <a:rPr lang="en-US" dirty="0"/>
              <a:t>If those things* hold…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87C3F3-B2BA-C82E-28B9-C39B3B409FD6}"/>
                  </a:ext>
                </a:extLst>
              </p:cNvPr>
              <p:cNvSpPr>
                <a:spLocks noGrp="1"/>
              </p:cNvSpPr>
              <p:nvPr>
                <p:ph idx="1"/>
              </p:nvPr>
            </p:nvSpPr>
            <p:spPr/>
            <p:txBody>
              <a:bodyPr/>
              <a:lstStyle/>
              <a:p>
                <a:r>
                  <a:rPr lang="en-US" dirty="0"/>
                  <a:t>Define LATE as ATE of X on Y among the compliers.</a:t>
                </a:r>
              </a:p>
              <a:p>
                <a:endParaRPr lang="en-US" dirty="0"/>
              </a:p>
              <a:p>
                <a:r>
                  <a:rPr lang="en-US" dirty="0"/>
                  <a:t>We can estimate LATE by:</a:t>
                </a:r>
              </a:p>
              <a:p>
                <a:endParaRPr lang="en-US" sz="1050" dirty="0"/>
              </a:p>
              <a:p>
                <a:pPr marL="0" indent="0">
                  <a:buNone/>
                </a:pPr>
                <a14:m>
                  <m:oMathPara xmlns:m="http://schemas.openxmlformats.org/officeDocument/2006/math">
                    <m:oMathParaPr>
                      <m:jc m:val="center"/>
                    </m:oMathParaPr>
                    <m:oMath xmlns:m="http://schemas.openxmlformats.org/officeDocument/2006/math">
                      <m:r>
                        <m:rPr>
                          <m:sty m:val="p"/>
                        </m:rPr>
                        <a:rPr lang="en-US" b="0" i="0" smtClean="0">
                          <a:latin typeface="Cambria Math" panose="02040503050406030204" pitchFamily="18" charset="0"/>
                        </a:rPr>
                        <m:t>LATE</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ATE</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a:rPr lang="en-US" b="0" i="1" smtClean="0">
                              <a:latin typeface="Cambria Math" panose="02040503050406030204" pitchFamily="18" charset="0"/>
                            </a:rPr>
                            <m:t>𝑍</m:t>
                          </m:r>
                          <m:r>
                            <a:rPr lang="en-US" b="0" i="0" smtClean="0">
                              <a:latin typeface="Cambria Math" panose="02040503050406030204" pitchFamily="18" charset="0"/>
                            </a:rPr>
                            <m:t> </m:t>
                          </m:r>
                          <m:r>
                            <m:rPr>
                              <m:sty m:val="p"/>
                            </m:rPr>
                            <a:rPr lang="en-US" b="0" i="0" smtClean="0">
                              <a:latin typeface="Cambria Math" panose="02040503050406030204" pitchFamily="18" charset="0"/>
                            </a:rPr>
                            <m:t>on</m:t>
                          </m:r>
                          <m:r>
                            <a:rPr lang="en-US" b="0" i="0" smtClean="0">
                              <a:latin typeface="Cambria Math" panose="02040503050406030204" pitchFamily="18" charset="0"/>
                            </a:rPr>
                            <m:t> </m:t>
                          </m:r>
                          <m:r>
                            <a:rPr lang="en-US" b="0" i="1" smtClean="0">
                              <a:latin typeface="Cambria Math" panose="02040503050406030204" pitchFamily="18" charset="0"/>
                            </a:rPr>
                            <m:t>𝑌</m:t>
                          </m:r>
                        </m:num>
                        <m:den>
                          <m:r>
                            <m:rPr>
                              <m:sty m:val="p"/>
                            </m:rPr>
                            <a:rPr lang="en-US" b="0" i="0" smtClean="0">
                              <a:latin typeface="Cambria Math" panose="02040503050406030204" pitchFamily="18" charset="0"/>
                            </a:rPr>
                            <m:t>ATE</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a:rPr lang="en-US" b="0" i="1" smtClean="0">
                              <a:latin typeface="Cambria Math" panose="02040503050406030204" pitchFamily="18" charset="0"/>
                            </a:rPr>
                            <m:t>𝑍</m:t>
                          </m:r>
                          <m:r>
                            <a:rPr lang="en-US" b="0" i="0" smtClean="0">
                              <a:latin typeface="Cambria Math" panose="02040503050406030204" pitchFamily="18" charset="0"/>
                            </a:rPr>
                            <m:t> </m:t>
                          </m:r>
                          <m:r>
                            <m:rPr>
                              <m:sty m:val="p"/>
                            </m:rPr>
                            <a:rPr lang="en-US" b="0" i="0" smtClean="0">
                              <a:latin typeface="Cambria Math" panose="02040503050406030204" pitchFamily="18" charset="0"/>
                            </a:rPr>
                            <m:t>on</m:t>
                          </m:r>
                          <m:r>
                            <a:rPr lang="en-US" b="0" i="0" smtClean="0">
                              <a:latin typeface="Cambria Math" panose="02040503050406030204" pitchFamily="18" charset="0"/>
                            </a:rPr>
                            <m:t> </m:t>
                          </m:r>
                          <m:r>
                            <a:rPr lang="en-US" b="0" i="1" smtClean="0">
                              <a:latin typeface="Cambria Math" panose="02040503050406030204" pitchFamily="18" charset="0"/>
                            </a:rPr>
                            <m:t>𝑋</m:t>
                          </m:r>
                        </m:den>
                      </m:f>
                    </m:oMath>
                  </m:oMathPara>
                </a14:m>
                <a:endParaRPr lang="en-US" dirty="0"/>
              </a:p>
            </p:txBody>
          </p:sp>
        </mc:Choice>
        <mc:Fallback xmlns="">
          <p:sp>
            <p:nvSpPr>
              <p:cNvPr id="3" name="Content Placeholder 2">
                <a:extLst>
                  <a:ext uri="{FF2B5EF4-FFF2-40B4-BE49-F238E27FC236}">
                    <a16:creationId xmlns:a16="http://schemas.microsoft.com/office/drawing/2014/main" id="{5587C3F3-B2BA-C82E-28B9-C39B3B409FD6}"/>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A418B7FC-2687-C865-6C0B-7DCFDB45E076}"/>
              </a:ext>
            </a:extLst>
          </p:cNvPr>
          <p:cNvGrpSpPr/>
          <p:nvPr/>
        </p:nvGrpSpPr>
        <p:grpSpPr>
          <a:xfrm>
            <a:off x="7112224" y="184361"/>
            <a:ext cx="4880624" cy="1175908"/>
            <a:chOff x="838200" y="4327742"/>
            <a:chExt cx="10041383" cy="241931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A4AA8F7E-5B9E-8EAB-829A-92A16EC821F2}"/>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𝑋</m:t>
                        </m:r>
                      </m:oMath>
                    </m:oMathPara>
                  </a14:m>
                  <a:endParaRPr lang="en-US" sz="2800" dirty="0"/>
                </a:p>
              </p:txBody>
            </p:sp>
          </mc:Choice>
          <mc:Fallback xmlns="">
            <p:sp>
              <p:nvSpPr>
                <p:cNvPr id="5" name="Oval 4">
                  <a:extLst>
                    <a:ext uri="{FF2B5EF4-FFF2-40B4-BE49-F238E27FC236}">
                      <a16:creationId xmlns:a16="http://schemas.microsoft.com/office/drawing/2014/main" id="{A4AA8F7E-5B9E-8EAB-829A-92A16EC821F2}"/>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BE72470B-4440-338B-A1FD-942C43E21BB5}"/>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𝑌</m:t>
                        </m:r>
                      </m:oMath>
                    </m:oMathPara>
                  </a14:m>
                  <a:endParaRPr lang="en-US" sz="2800" dirty="0"/>
                </a:p>
              </p:txBody>
            </p:sp>
          </mc:Choice>
          <mc:Fallback xmlns="">
            <p:sp>
              <p:nvSpPr>
                <p:cNvPr id="6" name="Oval 5">
                  <a:extLst>
                    <a:ext uri="{FF2B5EF4-FFF2-40B4-BE49-F238E27FC236}">
                      <a16:creationId xmlns:a16="http://schemas.microsoft.com/office/drawing/2014/main" id="{BE72470B-4440-338B-A1FD-942C43E21BB5}"/>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B032F855-7915-C88C-DF4D-E7BF4F308AE1}"/>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𝑍</m:t>
                        </m:r>
                      </m:oMath>
                    </m:oMathPara>
                  </a14:m>
                  <a:endParaRPr lang="en-US" sz="2800" dirty="0"/>
                </a:p>
              </p:txBody>
            </p:sp>
          </mc:Choice>
          <mc:Fallback xmlns="">
            <p:sp>
              <p:nvSpPr>
                <p:cNvPr id="7" name="Oval 6">
                  <a:extLst>
                    <a:ext uri="{FF2B5EF4-FFF2-40B4-BE49-F238E27FC236}">
                      <a16:creationId xmlns:a16="http://schemas.microsoft.com/office/drawing/2014/main" id="{B032F855-7915-C88C-DF4D-E7BF4F308AE1}"/>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E3EC23FA-7DB8-234A-1C2E-B5A13F34C7DA}"/>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BCFA317-B8D0-6350-3B93-4A852987067A}"/>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4D2B97EA-528D-02F7-789D-BB5294CA9C32}"/>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C0F29BF0-7C75-730D-7AE4-63581365687B}"/>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FA8D1674-4D0E-77D6-B077-8C4C0BF7BE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B79D8F7-D6A3-7860-C1A3-221AF864D9FD}"/>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grpSp>
        <p:nvGrpSpPr>
          <p:cNvPr id="14" name="Group 13">
            <a:extLst>
              <a:ext uri="{FF2B5EF4-FFF2-40B4-BE49-F238E27FC236}">
                <a16:creationId xmlns:a16="http://schemas.microsoft.com/office/drawing/2014/main" id="{DDC6CC31-3BF6-B38C-065B-55A678A015BC}"/>
              </a:ext>
            </a:extLst>
          </p:cNvPr>
          <p:cNvGrpSpPr/>
          <p:nvPr/>
        </p:nvGrpSpPr>
        <p:grpSpPr>
          <a:xfrm>
            <a:off x="7230533" y="3186372"/>
            <a:ext cx="4650089" cy="1495295"/>
            <a:chOff x="7230533" y="3186372"/>
            <a:chExt cx="4650089" cy="1495295"/>
          </a:xfrm>
        </p:grpSpPr>
        <p:sp>
          <p:nvSpPr>
            <p:cNvPr id="15" name="TextBox 14">
              <a:extLst>
                <a:ext uri="{FF2B5EF4-FFF2-40B4-BE49-F238E27FC236}">
                  <a16:creationId xmlns:a16="http://schemas.microsoft.com/office/drawing/2014/main" id="{10E9EFCC-A748-F358-04B9-B03592642F87}"/>
                </a:ext>
              </a:extLst>
            </p:cNvPr>
            <p:cNvSpPr txBox="1"/>
            <p:nvPr/>
          </p:nvSpPr>
          <p:spPr>
            <a:xfrm>
              <a:off x="9306756" y="3280452"/>
              <a:ext cx="2573866" cy="1200329"/>
            </a:xfrm>
            <a:prstGeom prst="rect">
              <a:avLst/>
            </a:prstGeom>
            <a:noFill/>
          </p:spPr>
          <p:txBody>
            <a:bodyPr wrap="square" rtlCol="0">
              <a:spAutoFit/>
            </a:bodyPr>
            <a:lstStyle/>
            <a:p>
              <a:r>
                <a:rPr lang="en-US" sz="2400" dirty="0">
                  <a:solidFill>
                    <a:schemeClr val="accent5"/>
                  </a:solidFill>
                </a:rPr>
                <a:t>We can estimate each of these from our data!</a:t>
              </a:r>
            </a:p>
          </p:txBody>
        </p:sp>
        <p:sp>
          <p:nvSpPr>
            <p:cNvPr id="16" name="Freeform 15">
              <a:extLst>
                <a:ext uri="{FF2B5EF4-FFF2-40B4-BE49-F238E27FC236}">
                  <a16:creationId xmlns:a16="http://schemas.microsoft.com/office/drawing/2014/main" id="{3505E6CE-C62C-CC76-7A82-8C466C84E2A4}"/>
                </a:ext>
              </a:extLst>
            </p:cNvPr>
            <p:cNvSpPr/>
            <p:nvPr/>
          </p:nvSpPr>
          <p:spPr>
            <a:xfrm>
              <a:off x="7230533" y="3186372"/>
              <a:ext cx="2032000" cy="251095"/>
            </a:xfrm>
            <a:custGeom>
              <a:avLst/>
              <a:gdLst>
                <a:gd name="connsiteX0" fmla="*/ 2032000 w 2032000"/>
                <a:gd name="connsiteY0" fmla="*/ 251095 h 251095"/>
                <a:gd name="connsiteX1" fmla="*/ 1286934 w 2032000"/>
                <a:gd name="connsiteY1" fmla="*/ 14028 h 251095"/>
                <a:gd name="connsiteX2" fmla="*/ 440267 w 2032000"/>
                <a:gd name="connsiteY2" fmla="*/ 47895 h 251095"/>
                <a:gd name="connsiteX3" fmla="*/ 0 w 2032000"/>
                <a:gd name="connsiteY3" fmla="*/ 217228 h 251095"/>
              </a:gdLst>
              <a:ahLst/>
              <a:cxnLst>
                <a:cxn ang="0">
                  <a:pos x="connsiteX0" y="connsiteY0"/>
                </a:cxn>
                <a:cxn ang="0">
                  <a:pos x="connsiteX1" y="connsiteY1"/>
                </a:cxn>
                <a:cxn ang="0">
                  <a:pos x="connsiteX2" y="connsiteY2"/>
                </a:cxn>
                <a:cxn ang="0">
                  <a:pos x="connsiteX3" y="connsiteY3"/>
                </a:cxn>
              </a:cxnLst>
              <a:rect l="l" t="t" r="r" b="b"/>
              <a:pathLst>
                <a:path w="2032000" h="251095">
                  <a:moveTo>
                    <a:pt x="2032000" y="251095"/>
                  </a:moveTo>
                  <a:cubicBezTo>
                    <a:pt x="1792111" y="149495"/>
                    <a:pt x="1552223" y="47895"/>
                    <a:pt x="1286934" y="14028"/>
                  </a:cubicBezTo>
                  <a:cubicBezTo>
                    <a:pt x="1021645" y="-19839"/>
                    <a:pt x="654756" y="14028"/>
                    <a:pt x="440267" y="47895"/>
                  </a:cubicBezTo>
                  <a:cubicBezTo>
                    <a:pt x="225778" y="81762"/>
                    <a:pt x="112889" y="149495"/>
                    <a:pt x="0" y="217228"/>
                  </a:cubicBezTo>
                </a:path>
              </a:pathLst>
            </a:custGeom>
            <a:noFill/>
            <a:ln>
              <a:solidFill>
                <a:schemeClr val="accent5"/>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139AA2D7-56CE-E772-773A-2F26BBBDFCAD}"/>
                </a:ext>
              </a:extLst>
            </p:cNvPr>
            <p:cNvSpPr/>
            <p:nvPr/>
          </p:nvSpPr>
          <p:spPr>
            <a:xfrm flipV="1">
              <a:off x="7274756" y="4430572"/>
              <a:ext cx="2032000" cy="251095"/>
            </a:xfrm>
            <a:custGeom>
              <a:avLst/>
              <a:gdLst>
                <a:gd name="connsiteX0" fmla="*/ 2032000 w 2032000"/>
                <a:gd name="connsiteY0" fmla="*/ 251095 h 251095"/>
                <a:gd name="connsiteX1" fmla="*/ 1286934 w 2032000"/>
                <a:gd name="connsiteY1" fmla="*/ 14028 h 251095"/>
                <a:gd name="connsiteX2" fmla="*/ 440267 w 2032000"/>
                <a:gd name="connsiteY2" fmla="*/ 47895 h 251095"/>
                <a:gd name="connsiteX3" fmla="*/ 0 w 2032000"/>
                <a:gd name="connsiteY3" fmla="*/ 217228 h 251095"/>
              </a:gdLst>
              <a:ahLst/>
              <a:cxnLst>
                <a:cxn ang="0">
                  <a:pos x="connsiteX0" y="connsiteY0"/>
                </a:cxn>
                <a:cxn ang="0">
                  <a:pos x="connsiteX1" y="connsiteY1"/>
                </a:cxn>
                <a:cxn ang="0">
                  <a:pos x="connsiteX2" y="connsiteY2"/>
                </a:cxn>
                <a:cxn ang="0">
                  <a:pos x="connsiteX3" y="connsiteY3"/>
                </a:cxn>
              </a:cxnLst>
              <a:rect l="l" t="t" r="r" b="b"/>
              <a:pathLst>
                <a:path w="2032000" h="251095">
                  <a:moveTo>
                    <a:pt x="2032000" y="251095"/>
                  </a:moveTo>
                  <a:cubicBezTo>
                    <a:pt x="1792111" y="149495"/>
                    <a:pt x="1552223" y="47895"/>
                    <a:pt x="1286934" y="14028"/>
                  </a:cubicBezTo>
                  <a:cubicBezTo>
                    <a:pt x="1021645" y="-19839"/>
                    <a:pt x="654756" y="14028"/>
                    <a:pt x="440267" y="47895"/>
                  </a:cubicBezTo>
                  <a:cubicBezTo>
                    <a:pt x="225778" y="81762"/>
                    <a:pt x="112889" y="149495"/>
                    <a:pt x="0" y="217228"/>
                  </a:cubicBezTo>
                </a:path>
              </a:pathLst>
            </a:custGeom>
            <a:noFill/>
            <a:ln>
              <a:solidFill>
                <a:schemeClr val="accent5"/>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Content Placeholder 2">
            <a:extLst>
              <a:ext uri="{FF2B5EF4-FFF2-40B4-BE49-F238E27FC236}">
                <a16:creationId xmlns:a16="http://schemas.microsoft.com/office/drawing/2014/main" id="{7CCD4B1A-229E-6927-1BDD-EC6652936D7B}"/>
              </a:ext>
            </a:extLst>
          </p:cNvPr>
          <p:cNvSpPr txBox="1">
            <a:spLocks/>
          </p:cNvSpPr>
          <p:nvPr/>
        </p:nvSpPr>
        <p:spPr>
          <a:xfrm>
            <a:off x="465041" y="4556119"/>
            <a:ext cx="3591437" cy="24423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00" dirty="0">
              <a:solidFill>
                <a:srgbClr val="8C1516"/>
              </a:solidFill>
            </a:endParaRPr>
          </a:p>
          <a:p>
            <a:endParaRPr lang="en-US" sz="100" dirty="0">
              <a:solidFill>
                <a:srgbClr val="8C1516"/>
              </a:solidFill>
            </a:endParaRPr>
          </a:p>
          <a:p>
            <a:pPr marL="0" indent="0">
              <a:buNone/>
            </a:pPr>
            <a:r>
              <a:rPr lang="en-US" sz="1800" dirty="0">
                <a:solidFill>
                  <a:srgbClr val="8C1516"/>
                </a:solidFill>
              </a:rPr>
              <a:t>*Those things:</a:t>
            </a:r>
          </a:p>
          <a:p>
            <a:r>
              <a:rPr lang="en-US" sz="1800" dirty="0">
                <a:solidFill>
                  <a:srgbClr val="8C1516"/>
                </a:solidFill>
              </a:rPr>
              <a:t>Relevance</a:t>
            </a:r>
          </a:p>
          <a:p>
            <a:r>
              <a:rPr lang="en-US" sz="1800" dirty="0">
                <a:solidFill>
                  <a:srgbClr val="8C1516"/>
                </a:solidFill>
              </a:rPr>
              <a:t>Independence</a:t>
            </a:r>
          </a:p>
          <a:p>
            <a:r>
              <a:rPr lang="en-US" sz="1800" dirty="0">
                <a:solidFill>
                  <a:srgbClr val="8C1516"/>
                </a:solidFill>
              </a:rPr>
              <a:t>Exclusion</a:t>
            </a:r>
          </a:p>
          <a:p>
            <a:r>
              <a:rPr lang="en-US" sz="1800" dirty="0">
                <a:solidFill>
                  <a:srgbClr val="8C1516"/>
                </a:solidFill>
              </a:rPr>
              <a:t>Monotonicity</a:t>
            </a:r>
          </a:p>
        </p:txBody>
      </p:sp>
    </p:spTree>
    <p:extLst>
      <p:ext uri="{BB962C8B-B14F-4D97-AF65-F5344CB8AC3E}">
        <p14:creationId xmlns:p14="http://schemas.microsoft.com/office/powerpoint/2010/main" val="345445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EA5CE00-C450-4B96-00A8-71ECE63C300F}"/>
              </a:ext>
            </a:extLst>
          </p:cNvPr>
          <p:cNvSpPr/>
          <p:nvPr/>
        </p:nvSpPr>
        <p:spPr>
          <a:xfrm>
            <a:off x="6788258" y="5036949"/>
            <a:ext cx="5403742" cy="18210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C08E65-88CA-ADC5-A1BF-5EAD92640C2A}"/>
              </a:ext>
            </a:extLst>
          </p:cNvPr>
          <p:cNvSpPr>
            <a:spLocks noGrp="1"/>
          </p:cNvSpPr>
          <p:nvPr>
            <p:ph type="title"/>
          </p:nvPr>
        </p:nvSpPr>
        <p:spPr>
          <a:xfrm>
            <a:off x="838199" y="365125"/>
            <a:ext cx="11126441" cy="1325563"/>
          </a:xfrm>
        </p:spPr>
        <p:txBody>
          <a:bodyPr/>
          <a:lstStyle/>
          <a:p>
            <a:r>
              <a:rPr lang="en-US" dirty="0"/>
              <a:t>What does independence/exclusion mean?</a:t>
            </a:r>
            <a:br>
              <a:rPr lang="en-US" dirty="0"/>
            </a:br>
            <a:r>
              <a:rPr lang="en-US" sz="2400" dirty="0"/>
              <a:t>Formally?</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88BB68D-B184-3A9C-B871-6A9E611CB53A}"/>
                  </a:ext>
                </a:extLst>
              </p:cNvPr>
              <p:cNvSpPr>
                <a:spLocks noGrp="1"/>
              </p:cNvSpPr>
              <p:nvPr>
                <p:ph idx="1"/>
              </p:nvPr>
            </p:nvSpPr>
            <p:spPr>
              <a:xfrm>
                <a:off x="838202" y="1825625"/>
                <a:ext cx="6895010" cy="4351338"/>
              </a:xfrm>
            </p:spPr>
            <p:txBody>
              <a:bodyPr/>
              <a:lstStyle/>
              <a:p>
                <a:r>
                  <a:rPr lang="en-US" dirty="0"/>
                  <a:t>Independence:</a:t>
                </a:r>
              </a:p>
              <a:p>
                <a:pPr lvl="1"/>
                <a14:m>
                  <m:oMath xmlns:m="http://schemas.openxmlformats.org/officeDocument/2006/math">
                    <m:r>
                      <a:rPr lang="en-US" i="1" dirty="0" smtClean="0">
                        <a:solidFill>
                          <a:schemeClr val="accent1"/>
                        </a:solidFill>
                        <a:latin typeface="Cambria Math" panose="02040503050406030204" pitchFamily="18" charset="0"/>
                      </a:rPr>
                      <m:t>𝑍</m:t>
                    </m:r>
                  </m:oMath>
                </a14:m>
                <a:r>
                  <a:rPr lang="en-US" dirty="0">
                    <a:solidFill>
                      <a:schemeClr val="accent1"/>
                    </a:solidFill>
                  </a:rPr>
                  <a:t> is independent of</a:t>
                </a:r>
              </a:p>
              <a:p>
                <a:pPr marL="457200" lvl="1" indent="0">
                  <a:buNone/>
                </a:pPr>
                <a:r>
                  <a:rPr lang="en-US" dirty="0">
                    <a:solidFill>
                      <a:schemeClr val="accent1"/>
                    </a:solidFill>
                  </a:rPr>
                  <a:t>     the potential outcomes </a:t>
                </a:r>
                <a14:m>
                  <m:oMath xmlns:m="http://schemas.openxmlformats.org/officeDocument/2006/math">
                    <m:r>
                      <a:rPr lang="en-US" b="0" i="1" smtClean="0">
                        <a:solidFill>
                          <a:schemeClr val="accent1"/>
                        </a:solidFill>
                        <a:latin typeface="Cambria Math" panose="02040503050406030204" pitchFamily="18" charset="0"/>
                      </a:rPr>
                      <m:t>𝑌</m:t>
                    </m:r>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𝑥</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𝑧</m:t>
                        </m:r>
                      </m:e>
                    </m:d>
                  </m:oMath>
                </a14:m>
                <a:r>
                  <a:rPr lang="en-US" dirty="0">
                    <a:solidFill>
                      <a:schemeClr val="accent1"/>
                    </a:solidFill>
                  </a:rPr>
                  <a:t> and </a:t>
                </a:r>
                <a14:m>
                  <m:oMath xmlns:m="http://schemas.openxmlformats.org/officeDocument/2006/math">
                    <m:r>
                      <a:rPr lang="en-US" b="0" i="1" smtClean="0">
                        <a:solidFill>
                          <a:schemeClr val="accent1"/>
                        </a:solidFill>
                        <a:latin typeface="Cambria Math" panose="02040503050406030204" pitchFamily="18" charset="0"/>
                      </a:rPr>
                      <m:t>𝑋</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𝑧</m:t>
                    </m:r>
                    <m:r>
                      <a:rPr lang="en-US" b="0" i="1" smtClean="0">
                        <a:solidFill>
                          <a:schemeClr val="accent1"/>
                        </a:solidFill>
                        <a:latin typeface="Cambria Math" panose="02040503050406030204" pitchFamily="18" charset="0"/>
                      </a:rPr>
                      <m:t>)</m:t>
                    </m:r>
                  </m:oMath>
                </a14:m>
                <a:r>
                  <a:rPr lang="en-US" dirty="0">
                    <a:solidFill>
                      <a:schemeClr val="accent1"/>
                    </a:solidFill>
                  </a:rPr>
                  <a:t>, </a:t>
                </a:r>
              </a:p>
              <a:p>
                <a:pPr marL="457200" lvl="1" indent="0">
                  <a:buNone/>
                </a:pPr>
                <a:r>
                  <a:rPr lang="en-US" dirty="0">
                    <a:solidFill>
                      <a:schemeClr val="accent1"/>
                    </a:solidFill>
                  </a:rPr>
                  <a:t>         for all values </a:t>
                </a:r>
                <a14:m>
                  <m:oMath xmlns:m="http://schemas.openxmlformats.org/officeDocument/2006/math">
                    <m:r>
                      <a:rPr lang="en-US" b="0" i="1" smtClean="0">
                        <a:solidFill>
                          <a:schemeClr val="accent1"/>
                        </a:solidFill>
                        <a:latin typeface="Cambria Math" panose="02040503050406030204" pitchFamily="18" charset="0"/>
                      </a:rPr>
                      <m:t>𝑥</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𝑧</m:t>
                    </m:r>
                  </m:oMath>
                </a14:m>
                <a:r>
                  <a:rPr lang="en-US" dirty="0">
                    <a:solidFill>
                      <a:schemeClr val="accent1"/>
                    </a:solidFill>
                  </a:rPr>
                  <a:t> for </a:t>
                </a:r>
                <a14:m>
                  <m:oMath xmlns:m="http://schemas.openxmlformats.org/officeDocument/2006/math">
                    <m:r>
                      <a:rPr lang="en-US" b="0" i="1" smtClean="0">
                        <a:solidFill>
                          <a:schemeClr val="accent1"/>
                        </a:solidFill>
                        <a:latin typeface="Cambria Math" panose="02040503050406030204" pitchFamily="18" charset="0"/>
                      </a:rPr>
                      <m:t>𝑋</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𝑍</m:t>
                    </m:r>
                  </m:oMath>
                </a14:m>
                <a:endParaRPr lang="en-US" dirty="0">
                  <a:solidFill>
                    <a:schemeClr val="accent1"/>
                  </a:solidFill>
                </a:endParaRPr>
              </a:p>
              <a:p>
                <a:pPr lvl="1"/>
                <a:endParaRPr lang="en-US" dirty="0"/>
              </a:p>
              <a:p>
                <a:r>
                  <a:rPr lang="en-US" dirty="0"/>
                  <a:t>Exclusion:</a:t>
                </a:r>
              </a:p>
              <a:p>
                <a:pPr lvl="1"/>
                <a:r>
                  <a:rPr lang="en-US" dirty="0">
                    <a:solidFill>
                      <a:schemeClr val="accent1"/>
                    </a:solidFill>
                  </a:rPr>
                  <a:t>For each person, the potential outcome </a:t>
                </a:r>
                <a14:m>
                  <m:oMath xmlns:m="http://schemas.openxmlformats.org/officeDocument/2006/math">
                    <m:r>
                      <a:rPr lang="en-US" b="0" i="1" smtClean="0">
                        <a:solidFill>
                          <a:schemeClr val="accent1"/>
                        </a:solidFill>
                        <a:latin typeface="Cambria Math" panose="02040503050406030204" pitchFamily="18" charset="0"/>
                      </a:rPr>
                      <m:t>𝑌</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𝑥</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𝑧</m:t>
                    </m:r>
                    <m:r>
                      <a:rPr lang="en-US" b="0" i="1" smtClean="0">
                        <a:solidFill>
                          <a:schemeClr val="accent1"/>
                        </a:solidFill>
                        <a:latin typeface="Cambria Math" panose="02040503050406030204" pitchFamily="18" charset="0"/>
                      </a:rPr>
                      <m:t>)</m:t>
                    </m:r>
                  </m:oMath>
                </a14:m>
                <a:r>
                  <a:rPr lang="en-US" dirty="0">
                    <a:solidFill>
                      <a:schemeClr val="accent1"/>
                    </a:solidFill>
                  </a:rPr>
                  <a:t> is just a function of </a:t>
                </a:r>
                <a14:m>
                  <m:oMath xmlns:m="http://schemas.openxmlformats.org/officeDocument/2006/math">
                    <m:r>
                      <a:rPr lang="en-US" b="0" i="1" smtClean="0">
                        <a:solidFill>
                          <a:schemeClr val="accent1"/>
                        </a:solidFill>
                        <a:latin typeface="Cambria Math" panose="02040503050406030204" pitchFamily="18" charset="0"/>
                      </a:rPr>
                      <m:t>𝑥</m:t>
                    </m:r>
                  </m:oMath>
                </a14:m>
                <a:r>
                  <a:rPr lang="en-US" dirty="0">
                    <a:solidFill>
                      <a:schemeClr val="accent1"/>
                    </a:solidFill>
                  </a:rPr>
                  <a:t>:</a:t>
                </a:r>
              </a:p>
              <a:p>
                <a:pPr marL="457200" lvl="1" indent="0">
                  <a:buNone/>
                </a:pPr>
                <a14:m>
                  <m:oMath xmlns:m="http://schemas.openxmlformats.org/officeDocument/2006/math">
                    <m:r>
                      <a:rPr lang="en-US" b="0" i="1" smtClean="0">
                        <a:solidFill>
                          <a:schemeClr val="accent1"/>
                        </a:solidFill>
                        <a:latin typeface="Cambria Math" panose="02040503050406030204" pitchFamily="18" charset="0"/>
                      </a:rPr>
                      <m:t>       </m:t>
                    </m:r>
                    <m:r>
                      <a:rPr lang="en-US" b="0" i="1" smtClean="0">
                        <a:solidFill>
                          <a:schemeClr val="accent1"/>
                        </a:solidFill>
                        <a:latin typeface="Cambria Math" panose="02040503050406030204" pitchFamily="18" charset="0"/>
                      </a:rPr>
                      <m:t>𝑌</m:t>
                    </m:r>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𝑥</m:t>
                        </m:r>
                        <m:r>
                          <a:rPr lang="en-US" b="0" i="1" smtClean="0">
                            <a:solidFill>
                              <a:schemeClr val="accent1"/>
                            </a:solidFill>
                            <a:latin typeface="Cambria Math" panose="02040503050406030204" pitchFamily="18" charset="0"/>
                          </a:rPr>
                          <m:t>,0</m:t>
                        </m:r>
                      </m:e>
                    </m:d>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𝑌</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𝑥</m:t>
                    </m:r>
                    <m:r>
                      <a:rPr lang="en-US" b="0" i="1" smtClean="0">
                        <a:solidFill>
                          <a:schemeClr val="accent1"/>
                        </a:solidFill>
                        <a:latin typeface="Cambria Math" panose="02040503050406030204" pitchFamily="18" charset="0"/>
                      </a:rPr>
                      <m:t>,1)</m:t>
                    </m:r>
                  </m:oMath>
                </a14:m>
                <a:r>
                  <a:rPr lang="en-US" dirty="0">
                    <a:solidFill>
                      <a:schemeClr val="accent1"/>
                    </a:solidFill>
                  </a:rPr>
                  <a:t> for all </a:t>
                </a:r>
                <a14:m>
                  <m:oMath xmlns:m="http://schemas.openxmlformats.org/officeDocument/2006/math">
                    <m:r>
                      <a:rPr lang="en-US" b="0" i="1" smtClean="0">
                        <a:solidFill>
                          <a:schemeClr val="accent1"/>
                        </a:solidFill>
                        <a:latin typeface="Cambria Math" panose="02040503050406030204" pitchFamily="18" charset="0"/>
                      </a:rPr>
                      <m:t>𝑥</m:t>
                    </m:r>
                  </m:oMath>
                </a14:m>
                <a:r>
                  <a:rPr lang="en-US" dirty="0">
                    <a:solidFill>
                      <a:schemeClr val="accent1"/>
                    </a:solidFill>
                  </a:rPr>
                  <a:t>.</a:t>
                </a:r>
              </a:p>
            </p:txBody>
          </p:sp>
        </mc:Choice>
        <mc:Fallback>
          <p:sp>
            <p:nvSpPr>
              <p:cNvPr id="3" name="Content Placeholder 2">
                <a:extLst>
                  <a:ext uri="{FF2B5EF4-FFF2-40B4-BE49-F238E27FC236}">
                    <a16:creationId xmlns:a16="http://schemas.microsoft.com/office/drawing/2014/main" id="{088BB68D-B184-3A9C-B871-6A9E611CB53A}"/>
                  </a:ext>
                </a:extLst>
              </p:cNvPr>
              <p:cNvSpPr>
                <a:spLocks noGrp="1" noRot="1" noChangeAspect="1" noMove="1" noResize="1" noEditPoints="1" noAdjustHandles="1" noChangeArrowheads="1" noChangeShapeType="1" noTextEdit="1"/>
              </p:cNvSpPr>
              <p:nvPr>
                <p:ph idx="1"/>
              </p:nvPr>
            </p:nvSpPr>
            <p:spPr>
              <a:xfrm>
                <a:off x="838202" y="1825625"/>
                <a:ext cx="6895010" cy="4351338"/>
              </a:xfrm>
              <a:blipFill>
                <a:blip r:embed="rId3"/>
                <a:stretch>
                  <a:fillRect l="-1654" t="-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Rounded Rectangle 16">
                <a:extLst>
                  <a:ext uri="{FF2B5EF4-FFF2-40B4-BE49-F238E27FC236}">
                    <a16:creationId xmlns:a16="http://schemas.microsoft.com/office/drawing/2014/main" id="{CF60A53B-9B28-F1F0-B190-543199BB12F8}"/>
                  </a:ext>
                </a:extLst>
              </p:cNvPr>
              <p:cNvSpPr/>
              <p:nvPr/>
            </p:nvSpPr>
            <p:spPr>
              <a:xfrm>
                <a:off x="7442136" y="1252479"/>
                <a:ext cx="4095986" cy="25749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Think of independence as:</a:t>
                </a:r>
              </a:p>
              <a:p>
                <a:pPr algn="ctr"/>
                <a:r>
                  <a:rPr lang="en-US" sz="2400" dirty="0"/>
                  <a:t>If you consider a </a:t>
                </a:r>
                <a:r>
                  <a:rPr lang="en-US" sz="2400" i="1" dirty="0"/>
                  <a:t>whole population </a:t>
                </a:r>
                <a:r>
                  <a:rPr lang="en-US" sz="2400" dirty="0"/>
                  <a:t>and condition on </a:t>
                </a:r>
                <a14:m>
                  <m:oMath xmlns:m="http://schemas.openxmlformats.org/officeDocument/2006/math">
                    <m:r>
                      <a:rPr lang="en-US" sz="2400" i="1" dirty="0" smtClean="0">
                        <a:latin typeface="Cambria Math" panose="02040503050406030204" pitchFamily="18" charset="0"/>
                      </a:rPr>
                      <m:t>𝑍</m:t>
                    </m:r>
                  </m:oMath>
                </a14:m>
                <a:r>
                  <a:rPr lang="en-US" sz="2400" dirty="0"/>
                  <a:t> being one way or the other, does that change the </a:t>
                </a:r>
                <a:r>
                  <a:rPr lang="en-US" sz="2400" i="1" dirty="0"/>
                  <a:t>distribution</a:t>
                </a:r>
                <a:r>
                  <a:rPr lang="en-US" sz="2400" dirty="0"/>
                  <a:t> of, say, </a:t>
                </a:r>
                <a14:m>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(0)</m:t>
                    </m:r>
                  </m:oMath>
                </a14:m>
                <a:r>
                  <a:rPr lang="en-US" sz="2400" dirty="0"/>
                  <a:t>?</a:t>
                </a:r>
              </a:p>
            </p:txBody>
          </p:sp>
        </mc:Choice>
        <mc:Fallback>
          <p:sp>
            <p:nvSpPr>
              <p:cNvPr id="17" name="Rounded Rectangle 16">
                <a:extLst>
                  <a:ext uri="{FF2B5EF4-FFF2-40B4-BE49-F238E27FC236}">
                    <a16:creationId xmlns:a16="http://schemas.microsoft.com/office/drawing/2014/main" id="{CF60A53B-9B28-F1F0-B190-543199BB12F8}"/>
                  </a:ext>
                </a:extLst>
              </p:cNvPr>
              <p:cNvSpPr>
                <a:spLocks noRot="1" noChangeAspect="1" noMove="1" noResize="1" noEditPoints="1" noAdjustHandles="1" noChangeArrowheads="1" noChangeShapeType="1" noTextEdit="1"/>
              </p:cNvSpPr>
              <p:nvPr/>
            </p:nvSpPr>
            <p:spPr>
              <a:xfrm>
                <a:off x="7442136" y="1252479"/>
                <a:ext cx="4095986" cy="2574937"/>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ounded Rectangle 19">
                <a:extLst>
                  <a:ext uri="{FF2B5EF4-FFF2-40B4-BE49-F238E27FC236}">
                    <a16:creationId xmlns:a16="http://schemas.microsoft.com/office/drawing/2014/main" id="{4EE22A50-0135-2741-1F6D-C223B9280A78}"/>
                  </a:ext>
                </a:extLst>
              </p:cNvPr>
              <p:cNvSpPr/>
              <p:nvPr/>
            </p:nvSpPr>
            <p:spPr>
              <a:xfrm>
                <a:off x="7442136" y="4167934"/>
                <a:ext cx="4095986" cy="23495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Think of exclusion as:</a:t>
                </a:r>
              </a:p>
              <a:p>
                <a:pPr algn="ctr"/>
                <a:r>
                  <a:rPr lang="en-US" sz="2400" dirty="0"/>
                  <a:t>If you consider a </a:t>
                </a:r>
                <a:r>
                  <a:rPr lang="en-US" sz="2400" i="1" dirty="0"/>
                  <a:t>particular person </a:t>
                </a:r>
                <a14:m>
                  <m:oMath xmlns:m="http://schemas.openxmlformats.org/officeDocument/2006/math">
                    <m:r>
                      <a:rPr lang="en-US" sz="2400" i="1" dirty="0" smtClean="0">
                        <a:latin typeface="Cambria Math" panose="02040503050406030204" pitchFamily="18" charset="0"/>
                      </a:rPr>
                      <m:t>𝑖</m:t>
                    </m:r>
                  </m:oMath>
                </a14:m>
                <a:r>
                  <a:rPr lang="en-US" sz="2400" i="1" dirty="0"/>
                  <a:t> </a:t>
                </a:r>
                <a:r>
                  <a:rPr lang="en-US" sz="2400" dirty="0"/>
                  <a:t>and fiddle with </a:t>
                </a:r>
                <a14:m>
                  <m:oMath xmlns:m="http://schemas.openxmlformats.org/officeDocument/2006/math">
                    <m:sSub>
                      <m:sSubPr>
                        <m:ctrlPr>
                          <a:rPr lang="en-US" sz="2400" b="0" i="1" dirty="0" smtClean="0">
                            <a:latin typeface="Cambria Math" panose="02040503050406030204" pitchFamily="18" charset="0"/>
                          </a:rPr>
                        </m:ctrlPr>
                      </m:sSubPr>
                      <m:e>
                        <m:r>
                          <a:rPr lang="en-US" sz="2400" i="1" dirty="0" smtClean="0">
                            <a:latin typeface="Cambria Math" panose="02040503050406030204" pitchFamily="18" charset="0"/>
                          </a:rPr>
                          <m:t>𝑍</m:t>
                        </m:r>
                      </m:e>
                      <m:sub>
                        <m:r>
                          <a:rPr lang="en-US" sz="2400" b="0" i="1" dirty="0" smtClean="0">
                            <a:latin typeface="Cambria Math" panose="02040503050406030204" pitchFamily="18" charset="0"/>
                          </a:rPr>
                          <m:t>𝑖</m:t>
                        </m:r>
                      </m:sub>
                    </m:sSub>
                  </m:oMath>
                </a14:m>
                <a:r>
                  <a:rPr lang="en-US" sz="2400" dirty="0"/>
                  <a:t>, does that change, say, </a:t>
                </a:r>
                <a14:m>
                  <m:oMath xmlns:m="http://schemas.openxmlformats.org/officeDocument/2006/math">
                    <m:sSub>
                      <m:sSubPr>
                        <m:ctrlPr>
                          <a:rPr lang="en-US" sz="2400" b="0" i="1" dirty="0" smtClean="0">
                            <a:latin typeface="Cambria Math" panose="02040503050406030204" pitchFamily="18" charset="0"/>
                          </a:rPr>
                        </m:ctrlPr>
                      </m:sSubPr>
                      <m:e>
                        <m:r>
                          <a:rPr lang="en-US" sz="2400" i="1" dirty="0" smtClean="0">
                            <a:latin typeface="Cambria Math" panose="02040503050406030204" pitchFamily="18" charset="0"/>
                          </a:rPr>
                          <m:t>𝑌</m:t>
                        </m:r>
                      </m:e>
                      <m:sub>
                        <m:r>
                          <a:rPr lang="en-US" sz="2400" b="0" i="1" dirty="0" smtClean="0">
                            <a:latin typeface="Cambria Math" panose="02040503050406030204" pitchFamily="18" charset="0"/>
                          </a:rPr>
                          <m:t>𝑖</m:t>
                        </m:r>
                      </m:sub>
                    </m:sSub>
                    <m:r>
                      <a:rPr lang="en-US" sz="2400" i="1" dirty="0" smtClean="0">
                        <a:latin typeface="Cambria Math" panose="02040503050406030204" pitchFamily="18" charset="0"/>
                      </a:rPr>
                      <m:t>(0) </m:t>
                    </m:r>
                  </m:oMath>
                </a14:m>
                <a:r>
                  <a:rPr lang="en-US" sz="2400" dirty="0"/>
                  <a:t>for </a:t>
                </a:r>
                <a:r>
                  <a:rPr lang="en-US" sz="2400" i="1" dirty="0"/>
                  <a:t>that person</a:t>
                </a:r>
                <a:r>
                  <a:rPr lang="en-US" sz="2400" dirty="0"/>
                  <a:t>?</a:t>
                </a:r>
              </a:p>
            </p:txBody>
          </p:sp>
        </mc:Choice>
        <mc:Fallback>
          <p:sp>
            <p:nvSpPr>
              <p:cNvPr id="20" name="Rounded Rectangle 19">
                <a:extLst>
                  <a:ext uri="{FF2B5EF4-FFF2-40B4-BE49-F238E27FC236}">
                    <a16:creationId xmlns:a16="http://schemas.microsoft.com/office/drawing/2014/main" id="{4EE22A50-0135-2741-1F6D-C223B9280A78}"/>
                  </a:ext>
                </a:extLst>
              </p:cNvPr>
              <p:cNvSpPr>
                <a:spLocks noRot="1" noChangeAspect="1" noMove="1" noResize="1" noEditPoints="1" noAdjustHandles="1" noChangeArrowheads="1" noChangeShapeType="1" noTextEdit="1"/>
              </p:cNvSpPr>
              <p:nvPr/>
            </p:nvSpPr>
            <p:spPr>
              <a:xfrm>
                <a:off x="7442136" y="4167934"/>
                <a:ext cx="4095986" cy="2349547"/>
              </a:xfrm>
              <a:prstGeom prst="round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87145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E041A-BF69-855E-47A4-4086AD002E57}"/>
              </a:ext>
            </a:extLst>
          </p:cNvPr>
          <p:cNvSpPr>
            <a:spLocks noGrp="1"/>
          </p:cNvSpPr>
          <p:nvPr>
            <p:ph type="title"/>
          </p:nvPr>
        </p:nvSpPr>
        <p:spPr/>
        <p:txBody>
          <a:bodyPr/>
          <a:lstStyle/>
          <a:p>
            <a:r>
              <a:rPr lang="en-US" dirty="0"/>
              <a:t>Difference between </a:t>
            </a:r>
            <a:br>
              <a:rPr lang="en-US" dirty="0"/>
            </a:br>
            <a:r>
              <a:rPr lang="en-US" dirty="0"/>
              <a:t>independence and exclusion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E8A3A0C-FE6B-DBFA-8204-2A5036642E1C}"/>
                  </a:ext>
                </a:extLst>
              </p:cNvPr>
              <p:cNvSpPr>
                <a:spLocks noGrp="1"/>
              </p:cNvSpPr>
              <p:nvPr>
                <p:ph idx="1"/>
              </p:nvPr>
            </p:nvSpPr>
            <p:spPr/>
            <p:txBody>
              <a:bodyPr/>
              <a:lstStyle/>
              <a:p>
                <a:r>
                  <a:rPr lang="en-US" dirty="0"/>
                  <a:t>Example that satisfies independence but not exclusion:</a:t>
                </a:r>
              </a:p>
              <a:p>
                <a:pPr lvl="1"/>
                <a:r>
                  <a:rPr lang="en-US" dirty="0">
                    <a:solidFill>
                      <a:schemeClr val="accent1"/>
                    </a:solidFill>
                  </a:rPr>
                  <a:t>Arguably </a:t>
                </a:r>
                <a:r>
                  <a:rPr lang="en-US" b="1" dirty="0">
                    <a:solidFill>
                      <a:schemeClr val="accent1"/>
                    </a:solidFill>
                  </a:rPr>
                  <a:t>this</a:t>
                </a:r>
                <a:r>
                  <a:rPr lang="en-US" dirty="0">
                    <a:solidFill>
                      <a:schemeClr val="accent1"/>
                    </a:solidFill>
                  </a:rPr>
                  <a:t> example (</a:t>
                </a:r>
                <a14:m>
                  <m:oMath xmlns:m="http://schemas.openxmlformats.org/officeDocument/2006/math">
                    <m:r>
                      <a:rPr lang="en-US" i="1" dirty="0" smtClean="0">
                        <a:solidFill>
                          <a:schemeClr val="accent1"/>
                        </a:solidFill>
                        <a:latin typeface="Cambria Math" panose="02040503050406030204" pitchFamily="18" charset="0"/>
                      </a:rPr>
                      <m:t>𝑍</m:t>
                    </m:r>
                  </m:oMath>
                </a14:m>
                <a:r>
                  <a:rPr lang="en-US" dirty="0">
                    <a:solidFill>
                      <a:schemeClr val="accent1"/>
                    </a:solidFill>
                  </a:rPr>
                  <a:t> = were you drafted?).</a:t>
                </a:r>
              </a:p>
              <a:p>
                <a:pPr lvl="1"/>
                <a:r>
                  <a:rPr lang="en-US" b="1" dirty="0"/>
                  <a:t>It satisfies independence</a:t>
                </a:r>
                <a:r>
                  <a:rPr lang="en-US" dirty="0"/>
                  <a:t>: </a:t>
                </a:r>
              </a:p>
              <a:p>
                <a:pPr lvl="2"/>
                <a:r>
                  <a:rPr lang="en-US" dirty="0"/>
                  <a:t>Whether you are drafted is completely random</a:t>
                </a:r>
              </a:p>
              <a:p>
                <a:pPr lvl="2"/>
                <a14:m>
                  <m:oMath xmlns:m="http://schemas.openxmlformats.org/officeDocument/2006/math">
                    <m:r>
                      <a:rPr lang="en-US" b="0" i="1" smtClean="0">
                        <a:latin typeface="Cambria Math" panose="02040503050406030204" pitchFamily="18" charset="0"/>
                      </a:rPr>
                      <m:t>𝑍</m:t>
                    </m:r>
                  </m:oMath>
                </a14:m>
                <a:r>
                  <a:rPr lang="en-US" dirty="0"/>
                  <a:t> is independent of </a:t>
                </a:r>
                <a14:m>
                  <m:oMath xmlns:m="http://schemas.openxmlformats.org/officeDocument/2006/math">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0,0</m:t>
                        </m:r>
                      </m:e>
                    </m:d>
                    <m:r>
                      <a:rPr lang="en-US" b="0" i="1" smtClean="0">
                        <a:latin typeface="Cambria Math" panose="02040503050406030204" pitchFamily="18" charset="0"/>
                      </a:rPr>
                      <m:t>, </m:t>
                    </m:r>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 </m:t>
                    </m:r>
                    <m:r>
                      <a:rPr lang="en-US" b="0" i="1" smtClean="0">
                        <a:latin typeface="Cambria Math" panose="02040503050406030204" pitchFamily="18" charset="0"/>
                      </a:rPr>
                      <m:t>𝑌</m:t>
                    </m:r>
                    <m:d>
                      <m:dPr>
                        <m:ctrlPr>
                          <a:rPr lang="en-US" b="0" i="1" smtClean="0">
                            <a:latin typeface="Cambria Math" panose="02040503050406030204" pitchFamily="18" charset="0"/>
                          </a:rPr>
                        </m:ctrlPr>
                      </m:dPr>
                      <m:e>
                        <m:r>
                          <a:rPr lang="en-US" b="0" i="1" smtClean="0">
                            <a:latin typeface="Cambria Math" panose="02040503050406030204" pitchFamily="18" charset="0"/>
                          </a:rPr>
                          <m:t>1,0</m:t>
                        </m:r>
                      </m:e>
                    </m:d>
                    <m:r>
                      <a:rPr lang="en-US" b="0" i="1"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(1,1)</m:t>
                    </m:r>
                  </m:oMath>
                </a14:m>
                <a:endParaRPr lang="en-US" dirty="0"/>
              </a:p>
              <a:p>
                <a:pPr lvl="1"/>
                <a:r>
                  <a:rPr lang="en-US" b="1" dirty="0"/>
                  <a:t>It (arguably) doesn’t satisfy exclusion</a:t>
                </a:r>
                <a:r>
                  <a:rPr lang="en-US" dirty="0"/>
                  <a:t>: </a:t>
                </a:r>
              </a:p>
              <a:p>
                <a:pPr lvl="2"/>
                <a:r>
                  <a:rPr lang="en-US" dirty="0">
                    <a:solidFill>
                      <a:schemeClr val="accent1"/>
                    </a:solidFill>
                  </a:rPr>
                  <a:t>Suppose that, if you are not drafted, you will not go to college and also not serve.</a:t>
                </a:r>
              </a:p>
              <a:p>
                <a:pPr lvl="2"/>
                <a:r>
                  <a:rPr lang="en-US" dirty="0">
                    <a:solidFill>
                      <a:schemeClr val="accent1"/>
                    </a:solidFill>
                  </a:rPr>
                  <a:t>If you are drafted, you will go to college in order to avoid serving, and then also make more money.</a:t>
                </a:r>
              </a:p>
              <a:p>
                <a:pPr lvl="2"/>
                <a14:m>
                  <m:oMath xmlns:m="http://schemas.openxmlformats.org/officeDocument/2006/math">
                    <m:r>
                      <a:rPr lang="en-US" b="0" i="1" smtClean="0">
                        <a:solidFill>
                          <a:schemeClr val="accent1"/>
                        </a:solidFill>
                        <a:latin typeface="Cambria Math" panose="02040503050406030204" pitchFamily="18" charset="0"/>
                      </a:rPr>
                      <m:t>𝑌</m:t>
                    </m:r>
                    <m:d>
                      <m:dPr>
                        <m:ctrlPr>
                          <a:rPr lang="en-US" b="0" i="1" smtClean="0">
                            <a:solidFill>
                              <a:schemeClr val="accent1"/>
                            </a:solidFill>
                            <a:latin typeface="Cambria Math" panose="02040503050406030204" pitchFamily="18" charset="0"/>
                          </a:rPr>
                        </m:ctrlPr>
                      </m:dPr>
                      <m:e>
                        <m:r>
                          <m:rPr>
                            <m:sty m:val="p"/>
                          </m:rPr>
                          <a:rPr lang="en-US" b="0" i="0" smtClean="0">
                            <a:solidFill>
                              <a:schemeClr val="accent1"/>
                            </a:solidFill>
                            <a:latin typeface="Cambria Math" panose="02040503050406030204" pitchFamily="18" charset="0"/>
                          </a:rPr>
                          <m:t>not</m:t>
                        </m:r>
                        <m:r>
                          <a:rPr lang="en-US" b="0" i="0" smtClean="0">
                            <a:solidFill>
                              <a:schemeClr val="accent1"/>
                            </a:solidFill>
                            <a:latin typeface="Cambria Math" panose="02040503050406030204" pitchFamily="18" charset="0"/>
                          </a:rPr>
                          <m:t> </m:t>
                        </m:r>
                        <m:r>
                          <m:rPr>
                            <m:sty m:val="p"/>
                          </m:rPr>
                          <a:rPr lang="en-US" b="0" i="0" smtClean="0">
                            <a:solidFill>
                              <a:schemeClr val="accent1"/>
                            </a:solidFill>
                            <a:latin typeface="Cambria Math" panose="02040503050406030204" pitchFamily="18" charset="0"/>
                          </a:rPr>
                          <m:t>serving</m:t>
                        </m:r>
                        <m:r>
                          <a:rPr lang="en-US" b="0" i="0" smtClean="0">
                            <a:solidFill>
                              <a:schemeClr val="accent1"/>
                            </a:solidFill>
                            <a:latin typeface="Cambria Math" panose="02040503050406030204" pitchFamily="18" charset="0"/>
                          </a:rPr>
                          <m:t>, </m:t>
                        </m:r>
                        <m:r>
                          <m:rPr>
                            <m:sty m:val="p"/>
                          </m:rPr>
                          <a:rPr lang="en-US" b="0" i="0" smtClean="0">
                            <a:solidFill>
                              <a:schemeClr val="accent1"/>
                            </a:solidFill>
                            <a:latin typeface="Cambria Math" panose="02040503050406030204" pitchFamily="18" charset="0"/>
                          </a:rPr>
                          <m:t>not</m:t>
                        </m:r>
                        <m:r>
                          <a:rPr lang="en-US" b="0" i="0" smtClean="0">
                            <a:solidFill>
                              <a:schemeClr val="accent1"/>
                            </a:solidFill>
                            <a:latin typeface="Cambria Math" panose="02040503050406030204" pitchFamily="18" charset="0"/>
                          </a:rPr>
                          <m:t> </m:t>
                        </m:r>
                        <m:r>
                          <m:rPr>
                            <m:sty m:val="p"/>
                          </m:rPr>
                          <a:rPr lang="en-US" b="0" i="0" smtClean="0">
                            <a:solidFill>
                              <a:schemeClr val="accent1"/>
                            </a:solidFill>
                            <a:latin typeface="Cambria Math" panose="02040503050406030204" pitchFamily="18" charset="0"/>
                          </a:rPr>
                          <m:t>drafted</m:t>
                        </m:r>
                      </m:e>
                    </m:d>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𝑌</m:t>
                    </m:r>
                    <m:r>
                      <a:rPr lang="en-US" b="0" i="1" smtClean="0">
                        <a:solidFill>
                          <a:schemeClr val="accent1"/>
                        </a:solidFill>
                        <a:latin typeface="Cambria Math" panose="02040503050406030204" pitchFamily="18" charset="0"/>
                      </a:rPr>
                      <m:t>(</m:t>
                    </m:r>
                    <m:r>
                      <m:rPr>
                        <m:sty m:val="p"/>
                      </m:rPr>
                      <a:rPr lang="en-US" b="0" i="0" smtClean="0">
                        <a:solidFill>
                          <a:schemeClr val="accent1"/>
                        </a:solidFill>
                        <a:latin typeface="Cambria Math" panose="02040503050406030204" pitchFamily="18" charset="0"/>
                      </a:rPr>
                      <m:t>not</m:t>
                    </m:r>
                    <m:r>
                      <a:rPr lang="en-US" b="0" i="0" smtClean="0">
                        <a:solidFill>
                          <a:schemeClr val="accent1"/>
                        </a:solidFill>
                        <a:latin typeface="Cambria Math" panose="02040503050406030204" pitchFamily="18" charset="0"/>
                      </a:rPr>
                      <m:t> </m:t>
                    </m:r>
                    <m:r>
                      <m:rPr>
                        <m:sty m:val="p"/>
                      </m:rPr>
                      <a:rPr lang="en-US" b="0" i="0" smtClean="0">
                        <a:solidFill>
                          <a:schemeClr val="accent1"/>
                        </a:solidFill>
                        <a:latin typeface="Cambria Math" panose="02040503050406030204" pitchFamily="18" charset="0"/>
                      </a:rPr>
                      <m:t>serving</m:t>
                    </m:r>
                    <m:r>
                      <a:rPr lang="en-US" b="0" i="0" smtClean="0">
                        <a:solidFill>
                          <a:schemeClr val="accent1"/>
                        </a:solidFill>
                        <a:latin typeface="Cambria Math" panose="02040503050406030204" pitchFamily="18" charset="0"/>
                      </a:rPr>
                      <m:t>, </m:t>
                    </m:r>
                    <m:r>
                      <m:rPr>
                        <m:sty m:val="p"/>
                      </m:rPr>
                      <a:rPr lang="en-US" b="0" i="0" smtClean="0">
                        <a:solidFill>
                          <a:schemeClr val="accent1"/>
                        </a:solidFill>
                        <a:latin typeface="Cambria Math" panose="02040503050406030204" pitchFamily="18" charset="0"/>
                      </a:rPr>
                      <m:t>drafted</m:t>
                    </m:r>
                    <m:r>
                      <a:rPr lang="en-US" b="0" i="1" smtClean="0">
                        <a:solidFill>
                          <a:schemeClr val="accent1"/>
                        </a:solidFill>
                        <a:latin typeface="Cambria Math" panose="02040503050406030204" pitchFamily="18" charset="0"/>
                      </a:rPr>
                      <m:t>)</m:t>
                    </m:r>
                  </m:oMath>
                </a14:m>
                <a:endParaRPr lang="en-US" dirty="0">
                  <a:solidFill>
                    <a:schemeClr val="accent1"/>
                  </a:solidFill>
                </a:endParaRPr>
              </a:p>
              <a:p>
                <a:pPr lvl="2"/>
                <a:r>
                  <a:rPr lang="en-US" dirty="0">
                    <a:solidFill>
                      <a:schemeClr val="accent1"/>
                    </a:solidFill>
                  </a:rPr>
                  <a:t>So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 depends on </a:t>
                </a:r>
                <a14:m>
                  <m:oMath xmlns:m="http://schemas.openxmlformats.org/officeDocument/2006/math">
                    <m:r>
                      <a:rPr lang="en-US" i="1" dirty="0" smtClean="0">
                        <a:solidFill>
                          <a:schemeClr val="accent1"/>
                        </a:solidFill>
                        <a:latin typeface="Cambria Math" panose="02040503050406030204" pitchFamily="18" charset="0"/>
                      </a:rPr>
                      <m:t>𝑍</m:t>
                    </m:r>
                  </m:oMath>
                </a14:m>
                <a:r>
                  <a:rPr lang="en-US" dirty="0">
                    <a:solidFill>
                      <a:schemeClr val="accent1"/>
                    </a:solidFill>
                  </a:rPr>
                  <a:t> even if </a:t>
                </a:r>
                <a14:m>
                  <m:oMath xmlns:m="http://schemas.openxmlformats.org/officeDocument/2006/math">
                    <m:r>
                      <a:rPr lang="en-US" i="1" dirty="0" smtClean="0">
                        <a:solidFill>
                          <a:schemeClr val="accent1"/>
                        </a:solidFill>
                        <a:latin typeface="Cambria Math" panose="02040503050406030204" pitchFamily="18" charset="0"/>
                      </a:rPr>
                      <m:t>𝑋</m:t>
                    </m:r>
                  </m:oMath>
                </a14:m>
                <a:r>
                  <a:rPr lang="en-US" dirty="0">
                    <a:solidFill>
                      <a:schemeClr val="accent1"/>
                    </a:solidFill>
                  </a:rPr>
                  <a:t> is fixed.</a:t>
                </a:r>
              </a:p>
            </p:txBody>
          </p:sp>
        </mc:Choice>
        <mc:Fallback>
          <p:sp>
            <p:nvSpPr>
              <p:cNvPr id="3" name="Content Placeholder 2">
                <a:extLst>
                  <a:ext uri="{FF2B5EF4-FFF2-40B4-BE49-F238E27FC236}">
                    <a16:creationId xmlns:a16="http://schemas.microsoft.com/office/drawing/2014/main" id="{0E8A3A0C-FE6B-DBFA-8204-2A5036642E1C}"/>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902704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966D78-FA8F-9952-3915-2789E4FD4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22D80-8CD9-18F4-6601-5C99A9A56CF7}"/>
              </a:ext>
            </a:extLst>
          </p:cNvPr>
          <p:cNvSpPr>
            <a:spLocks noGrp="1"/>
          </p:cNvSpPr>
          <p:nvPr>
            <p:ph type="title"/>
          </p:nvPr>
        </p:nvSpPr>
        <p:spPr/>
        <p:txBody>
          <a:bodyPr/>
          <a:lstStyle/>
          <a:p>
            <a:r>
              <a:rPr lang="en-US" dirty="0"/>
              <a:t>Difference between </a:t>
            </a:r>
            <a:br>
              <a:rPr lang="en-US" dirty="0"/>
            </a:br>
            <a:r>
              <a:rPr lang="en-US" dirty="0"/>
              <a:t>independence and exclusion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6C23FB3-8663-39A1-865C-7BDE9046AD8C}"/>
                  </a:ext>
                </a:extLst>
              </p:cNvPr>
              <p:cNvSpPr>
                <a:spLocks noGrp="1"/>
              </p:cNvSpPr>
              <p:nvPr>
                <p:ph idx="1"/>
              </p:nvPr>
            </p:nvSpPr>
            <p:spPr>
              <a:xfrm>
                <a:off x="838200" y="1825624"/>
                <a:ext cx="10515600" cy="5032375"/>
              </a:xfrm>
            </p:spPr>
            <p:txBody>
              <a:bodyPr>
                <a:normAutofit/>
              </a:bodyPr>
              <a:lstStyle/>
              <a:p>
                <a:r>
                  <a:rPr lang="en-US" dirty="0"/>
                  <a:t>Example that satisfies exclusion but not independence:</a:t>
                </a:r>
              </a:p>
              <a:p>
                <a:pPr lvl="1"/>
                <a:r>
                  <a:rPr lang="en-US" dirty="0"/>
                  <a:t>Imagine a different version of the draft, where:</a:t>
                </a:r>
              </a:p>
              <a:p>
                <a:pPr lvl="2"/>
                <a:r>
                  <a:rPr lang="en-US" dirty="0">
                    <a:solidFill>
                      <a:schemeClr val="accent1"/>
                    </a:solidFill>
                  </a:rPr>
                  <a:t>Only people who perform very well on a “business acumen” test are drafted</a:t>
                </a:r>
              </a:p>
              <a:p>
                <a:pPr lvl="2"/>
                <a:r>
                  <a:rPr lang="en-US" dirty="0">
                    <a:solidFill>
                      <a:schemeClr val="accent1"/>
                    </a:solidFill>
                  </a:rPr>
                  <a:t>There’s no way to get out of the draft: everyone is a complier</a:t>
                </a:r>
              </a:p>
              <a:p>
                <a:pPr lvl="1"/>
                <a:r>
                  <a:rPr lang="en-US" b="1" dirty="0"/>
                  <a:t>It doesn’t satisfy independence</a:t>
                </a:r>
                <a:r>
                  <a:rPr lang="en-US" dirty="0"/>
                  <a:t>: </a:t>
                </a:r>
              </a:p>
              <a:p>
                <a:pPr lvl="2"/>
                <a:r>
                  <a:rPr lang="en-US" dirty="0">
                    <a:solidFill>
                      <a:schemeClr val="accent1"/>
                    </a:solidFill>
                  </a:rPr>
                  <a:t>The population of drafted people are better at business than the population of un-drafted people.</a:t>
                </a:r>
                <a:endParaRPr lang="en-US" b="0" dirty="0">
                  <a:solidFill>
                    <a:schemeClr val="accent1"/>
                  </a:solidFill>
                </a:endParaRPr>
              </a:p>
              <a:p>
                <a:pPr lvl="2"/>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 is NOT independent of </a:t>
                </a:r>
                <a14:m>
                  <m:oMath xmlns:m="http://schemas.openxmlformats.org/officeDocument/2006/math">
                    <m:r>
                      <a:rPr lang="en-US" b="0" i="1" smtClean="0">
                        <a:solidFill>
                          <a:schemeClr val="accent1"/>
                        </a:solidFill>
                        <a:latin typeface="Cambria Math" panose="02040503050406030204" pitchFamily="18" charset="0"/>
                      </a:rPr>
                      <m:t>𝑌</m:t>
                    </m:r>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0</m:t>
                        </m:r>
                      </m:e>
                    </m:d>
                  </m:oMath>
                </a14:m>
                <a:r>
                  <a:rPr lang="en-US" b="0" dirty="0">
                    <a:solidFill>
                      <a:schemeClr val="accent1"/>
                    </a:solidFill>
                  </a:rPr>
                  <a:t> (how much $ you make if you don’t serve), since folks who are drafted probably have higher </a:t>
                </a:r>
                <a14:m>
                  <m:oMath xmlns:m="http://schemas.openxmlformats.org/officeDocument/2006/math">
                    <m:r>
                      <a:rPr lang="en-US" b="0" i="1" dirty="0" smtClean="0">
                        <a:solidFill>
                          <a:schemeClr val="accent1"/>
                        </a:solidFill>
                        <a:latin typeface="Cambria Math" panose="02040503050406030204" pitchFamily="18" charset="0"/>
                      </a:rPr>
                      <m:t>𝑌</m:t>
                    </m:r>
                    <m:r>
                      <a:rPr lang="en-US" b="0" i="1" dirty="0" smtClean="0">
                        <a:solidFill>
                          <a:schemeClr val="accent1"/>
                        </a:solidFill>
                        <a:latin typeface="Cambria Math" panose="02040503050406030204" pitchFamily="18" charset="0"/>
                      </a:rPr>
                      <m:t>(0)</m:t>
                    </m:r>
                  </m:oMath>
                </a14:m>
                <a:r>
                  <a:rPr lang="en-US" b="0" dirty="0">
                    <a:solidFill>
                      <a:schemeClr val="accent1"/>
                    </a:solidFill>
                  </a:rPr>
                  <a:t>.</a:t>
                </a:r>
              </a:p>
              <a:p>
                <a:pPr lvl="1"/>
                <a:r>
                  <a:rPr lang="en-US" b="1" dirty="0"/>
                  <a:t>It does satisfy exclusion</a:t>
                </a:r>
                <a:r>
                  <a:rPr lang="en-US" dirty="0"/>
                  <a:t>: </a:t>
                </a:r>
              </a:p>
              <a:p>
                <a:pPr lvl="2"/>
                <a:r>
                  <a:rPr lang="en-US" dirty="0">
                    <a:solidFill>
                      <a:schemeClr val="accent1"/>
                    </a:solidFill>
                  </a:rPr>
                  <a:t>For an individual person, I already know how good they are at business, so being drafted or not doesn’t change that (it just tells me what I already knew).</a:t>
                </a:r>
              </a:p>
              <a:p>
                <a:pPr lvl="2"/>
                <a:r>
                  <a:rPr lang="en-US" dirty="0">
                    <a:solidFill>
                      <a:schemeClr val="accent1"/>
                    </a:solidFill>
                  </a:rPr>
                  <a:t>Being drafted doesn’t change anything else about their behavior other than whether or not they serve.</a:t>
                </a:r>
              </a:p>
            </p:txBody>
          </p:sp>
        </mc:Choice>
        <mc:Fallback>
          <p:sp>
            <p:nvSpPr>
              <p:cNvPr id="3" name="Content Placeholder 2">
                <a:extLst>
                  <a:ext uri="{FF2B5EF4-FFF2-40B4-BE49-F238E27FC236}">
                    <a16:creationId xmlns:a16="http://schemas.microsoft.com/office/drawing/2014/main" id="{F6C23FB3-8663-39A1-865C-7BDE9046AD8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86" t="-2015" r="-362"/>
                </a:stretch>
              </a:blipFill>
            </p:spPr>
            <p:txBody>
              <a:bodyPr/>
              <a:lstStyle/>
              <a:p>
                <a:r>
                  <a:rPr lang="en-US">
                    <a:noFill/>
                  </a:rPr>
                  <a:t> </a:t>
                </a:r>
              </a:p>
            </p:txBody>
          </p:sp>
        </mc:Fallback>
      </mc:AlternateContent>
    </p:spTree>
    <p:extLst>
      <p:ext uri="{BB962C8B-B14F-4D97-AF65-F5344CB8AC3E}">
        <p14:creationId xmlns:p14="http://schemas.microsoft.com/office/powerpoint/2010/main" val="1886478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AE790-F675-51B3-2624-E0AE22C988B7}"/>
              </a:ext>
            </a:extLst>
          </p:cNvPr>
          <p:cNvSpPr>
            <a:spLocks noGrp="1"/>
          </p:cNvSpPr>
          <p:nvPr>
            <p:ph type="title"/>
          </p:nvPr>
        </p:nvSpPr>
        <p:spPr/>
        <p:txBody>
          <a:bodyPr/>
          <a:lstStyle/>
          <a:p>
            <a:r>
              <a:rPr lang="en-US" dirty="0"/>
              <a:t>Proof Sketch</a:t>
            </a:r>
            <a:br>
              <a:rPr lang="en-US" dirty="0"/>
            </a:br>
            <a:r>
              <a:rPr lang="en-US" sz="2400" dirty="0"/>
              <a:t>Where do those 4 things come into it?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A83369-40C3-50FE-026E-9103CC0BFE70}"/>
                  </a:ext>
                </a:extLst>
              </p:cNvPr>
              <p:cNvSpPr>
                <a:spLocks noGrp="1"/>
              </p:cNvSpPr>
              <p:nvPr>
                <p:ph idx="1"/>
              </p:nvPr>
            </p:nvSpPr>
            <p:spPr>
              <a:xfrm>
                <a:off x="838200" y="1825626"/>
                <a:ext cx="4478867" cy="477308"/>
              </a:xfrm>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𝑍</m:t>
                      </m:r>
                      <m:r>
                        <a:rPr lang="en-US" i="1">
                          <a:latin typeface="Cambria Math" panose="02040503050406030204" pitchFamily="18" charset="0"/>
                          <a:ea typeface="Cambria Math" panose="02040503050406030204" pitchFamily="18" charset="0"/>
                        </a:rPr>
                        <m:t>=0]</m:t>
                      </m:r>
                    </m:oMath>
                  </m:oMathPara>
                </a14:m>
                <a:endParaRPr lang="en-US" dirty="0">
                  <a:ea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85A83369-40C3-50FE-026E-9103CC0BFE70}"/>
                  </a:ext>
                </a:extLst>
              </p:cNvPr>
              <p:cNvSpPr>
                <a:spLocks noGrp="1" noRot="1" noChangeAspect="1" noMove="1" noResize="1" noEditPoints="1" noAdjustHandles="1" noChangeArrowheads="1" noChangeShapeType="1" noTextEdit="1"/>
              </p:cNvSpPr>
              <p:nvPr>
                <p:ph idx="1"/>
              </p:nvPr>
            </p:nvSpPr>
            <p:spPr>
              <a:xfrm>
                <a:off x="838200" y="1825626"/>
                <a:ext cx="4478867" cy="477308"/>
              </a:xfrm>
              <a:blipFill>
                <a:blip r:embed="rId2"/>
                <a:stretch>
                  <a:fillRect t="-2564" b="-2564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2DA23D4E-414D-1E1D-DDBD-8C4BFCBE0617}"/>
              </a:ext>
            </a:extLst>
          </p:cNvPr>
          <p:cNvGrpSpPr/>
          <p:nvPr/>
        </p:nvGrpSpPr>
        <p:grpSpPr>
          <a:xfrm>
            <a:off x="7112224" y="184361"/>
            <a:ext cx="4880624" cy="1175908"/>
            <a:chOff x="838200" y="4327742"/>
            <a:chExt cx="10041383" cy="241931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BCD23B4C-4179-7D97-F581-127ADB023139}"/>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𝑋</m:t>
                        </m:r>
                      </m:oMath>
                    </m:oMathPara>
                  </a14:m>
                  <a:endParaRPr lang="en-US" sz="2800" dirty="0"/>
                </a:p>
              </p:txBody>
            </p:sp>
          </mc:Choice>
          <mc:Fallback xmlns="">
            <p:sp>
              <p:nvSpPr>
                <p:cNvPr id="5" name="Oval 4">
                  <a:extLst>
                    <a:ext uri="{FF2B5EF4-FFF2-40B4-BE49-F238E27FC236}">
                      <a16:creationId xmlns:a16="http://schemas.microsoft.com/office/drawing/2014/main" id="{BCD23B4C-4179-7D97-F581-127ADB023139}"/>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63959693-0487-B697-61C7-9ECD4FBBE479}"/>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𝑌</m:t>
                        </m:r>
                      </m:oMath>
                    </m:oMathPara>
                  </a14:m>
                  <a:endParaRPr lang="en-US" sz="2800" dirty="0"/>
                </a:p>
              </p:txBody>
            </p:sp>
          </mc:Choice>
          <mc:Fallback xmlns="">
            <p:sp>
              <p:nvSpPr>
                <p:cNvPr id="6" name="Oval 5">
                  <a:extLst>
                    <a:ext uri="{FF2B5EF4-FFF2-40B4-BE49-F238E27FC236}">
                      <a16:creationId xmlns:a16="http://schemas.microsoft.com/office/drawing/2014/main" id="{63959693-0487-B697-61C7-9ECD4FBBE479}"/>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0D624A17-06F4-2D05-6AAC-BF28CC7677DF}"/>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𝑍</m:t>
                        </m:r>
                      </m:oMath>
                    </m:oMathPara>
                  </a14:m>
                  <a:endParaRPr lang="en-US" sz="2800" dirty="0"/>
                </a:p>
              </p:txBody>
            </p:sp>
          </mc:Choice>
          <mc:Fallback xmlns="">
            <p:sp>
              <p:nvSpPr>
                <p:cNvPr id="7" name="Oval 6">
                  <a:extLst>
                    <a:ext uri="{FF2B5EF4-FFF2-40B4-BE49-F238E27FC236}">
                      <a16:creationId xmlns:a16="http://schemas.microsoft.com/office/drawing/2014/main" id="{0D624A17-06F4-2D05-6AAC-BF28CC7677DF}"/>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5"/>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7FA67D46-558E-7847-DBA6-EAC08E7B5303}"/>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BADBDFE-5181-3AA6-DC5F-B16FC934E576}"/>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6EB9A0F8-FF41-F98C-F610-D35EE07E29FB}"/>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8BDBAA15-F964-DA50-C6BD-8261A52BE4B5}"/>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1981FDAD-7A44-A240-9073-BC00FA3395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5E40880-C4FB-B527-BB5D-EA6142856A03}"/>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30AB582-D6CE-85D3-EE03-9BFC0C56ED5E}"/>
                  </a:ext>
                </a:extLst>
              </p:cNvPr>
              <p:cNvSpPr txBox="1"/>
              <p:nvPr/>
            </p:nvSpPr>
            <p:spPr>
              <a:xfrm>
                <a:off x="5513371" y="1968279"/>
                <a:ext cx="5080000" cy="860748"/>
              </a:xfrm>
              <a:prstGeom prst="rect">
                <a:avLst/>
              </a:prstGeom>
              <a:noFill/>
            </p:spPr>
            <p:txBody>
              <a:bodyPr wrap="square" rtlCol="0">
                <a:spAutoFit/>
              </a:bodyPr>
              <a:lstStyle/>
              <a:p>
                <a:r>
                  <a:rPr lang="en-US" sz="2400" dirty="0">
                    <a:solidFill>
                      <a:schemeClr val="accent6"/>
                    </a:solidFill>
                  </a:rPr>
                  <a:t>Write </a:t>
                </a:r>
                <a14:m>
                  <m:oMath xmlns:m="http://schemas.openxmlformats.org/officeDocument/2006/math">
                    <m:r>
                      <a:rPr lang="en-US" sz="2400" b="0" i="1" smtClean="0">
                        <a:solidFill>
                          <a:schemeClr val="accent6"/>
                        </a:solidFill>
                        <a:latin typeface="Cambria Math" panose="02040503050406030204" pitchFamily="18" charset="0"/>
                      </a:rPr>
                      <m:t>𝑌</m:t>
                    </m:r>
                    <m:r>
                      <a:rPr lang="en-US" sz="2400" b="0" i="1" smtClean="0">
                        <a:solidFill>
                          <a:schemeClr val="accent6"/>
                        </a:solidFill>
                        <a:latin typeface="Cambria Math" panose="02040503050406030204" pitchFamily="18" charset="0"/>
                      </a:rPr>
                      <m:t>=</m:t>
                    </m:r>
                    <m:sSub>
                      <m:sSubPr>
                        <m:ctrlPr>
                          <a:rPr lang="en-US" sz="2400" b="0" i="1" smtClean="0">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𝑌</m:t>
                        </m:r>
                      </m:e>
                      <m:sub>
                        <m:r>
                          <a:rPr lang="en-US" sz="2400" b="0" i="1" smtClean="0">
                            <a:solidFill>
                              <a:schemeClr val="accent6"/>
                            </a:solidFill>
                            <a:latin typeface="Cambria Math" panose="02040503050406030204" pitchFamily="18" charset="0"/>
                          </a:rPr>
                          <m:t>0</m:t>
                        </m:r>
                      </m:sub>
                    </m:sSub>
                    <m:r>
                      <a:rPr lang="en-US" sz="2400" b="0" i="1" smtClean="0">
                        <a:solidFill>
                          <a:schemeClr val="accent6"/>
                        </a:solidFill>
                        <a:latin typeface="Cambria Math" panose="02040503050406030204" pitchFamily="18" charset="0"/>
                      </a:rPr>
                      <m:t>+</m:t>
                    </m:r>
                    <m:d>
                      <m:dPr>
                        <m:ctrlPr>
                          <a:rPr lang="en-US" sz="2400" b="0" i="1" smtClean="0">
                            <a:solidFill>
                              <a:schemeClr val="accent6"/>
                            </a:solidFill>
                            <a:latin typeface="Cambria Math" panose="02040503050406030204" pitchFamily="18" charset="0"/>
                          </a:rPr>
                        </m:ctrlPr>
                      </m:dPr>
                      <m:e>
                        <m:sSub>
                          <m:sSubPr>
                            <m:ctrlPr>
                              <a:rPr lang="en-US" sz="2400" b="0" i="1" smtClean="0">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𝑌</m:t>
                            </m:r>
                          </m:e>
                          <m:sub>
                            <m:r>
                              <a:rPr lang="en-US" sz="2400" b="0" i="1" smtClean="0">
                                <a:solidFill>
                                  <a:schemeClr val="accent6"/>
                                </a:solidFill>
                                <a:latin typeface="Cambria Math" panose="02040503050406030204" pitchFamily="18" charset="0"/>
                              </a:rPr>
                              <m:t>1</m:t>
                            </m:r>
                          </m:sub>
                        </m:sSub>
                        <m:r>
                          <a:rPr lang="en-US" sz="2400" b="0" i="1" smtClean="0">
                            <a:solidFill>
                              <a:schemeClr val="accent6"/>
                            </a:solidFill>
                            <a:latin typeface="Cambria Math" panose="02040503050406030204" pitchFamily="18" charset="0"/>
                          </a:rPr>
                          <m:t>−</m:t>
                        </m:r>
                        <m:sSub>
                          <m:sSubPr>
                            <m:ctrlPr>
                              <a:rPr lang="en-US" sz="2400" b="0" i="1" smtClean="0">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𝑌</m:t>
                            </m:r>
                          </m:e>
                          <m:sub>
                            <m:r>
                              <a:rPr lang="en-US" sz="2400" b="0" i="1" smtClean="0">
                                <a:solidFill>
                                  <a:schemeClr val="accent6"/>
                                </a:solidFill>
                                <a:latin typeface="Cambria Math" panose="02040503050406030204" pitchFamily="18" charset="0"/>
                              </a:rPr>
                              <m:t>0</m:t>
                            </m:r>
                          </m:sub>
                        </m:sSub>
                      </m:e>
                    </m:d>
                    <m:r>
                      <a:rPr lang="en-US" sz="2400" b="0" i="1" smtClean="0">
                        <a:solidFill>
                          <a:schemeClr val="accent6"/>
                        </a:solidFill>
                        <a:latin typeface="Cambria Math" panose="02040503050406030204" pitchFamily="18" charset="0"/>
                      </a:rPr>
                      <m:t>𝑋</m:t>
                    </m:r>
                  </m:oMath>
                </a14:m>
                <a:r>
                  <a:rPr lang="en-US" sz="2400" dirty="0">
                    <a:solidFill>
                      <a:schemeClr val="accent6"/>
                    </a:solidFill>
                  </a:rPr>
                  <a:t>, </a:t>
                </a:r>
              </a:p>
              <a:p>
                <a:r>
                  <a:rPr lang="en-US" sz="2400" dirty="0">
                    <a:solidFill>
                      <a:schemeClr val="accent6"/>
                    </a:solidFill>
                  </a:rPr>
                  <a:t>where </a:t>
                </a:r>
                <a14:m>
                  <m:oMath xmlns:m="http://schemas.openxmlformats.org/officeDocument/2006/math">
                    <m:sSub>
                      <m:sSubPr>
                        <m:ctrlPr>
                          <a:rPr lang="en-US" sz="2400" b="0" i="1" smtClean="0">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𝑌</m:t>
                        </m:r>
                      </m:e>
                      <m:sub>
                        <m:r>
                          <a:rPr lang="en-US" sz="2400" b="0" i="1" smtClean="0">
                            <a:solidFill>
                              <a:schemeClr val="accent6"/>
                            </a:solidFill>
                            <a:latin typeface="Cambria Math" panose="02040503050406030204" pitchFamily="18" charset="0"/>
                          </a:rPr>
                          <m:t>𝑗</m:t>
                        </m:r>
                      </m:sub>
                    </m:sSub>
                  </m:oMath>
                </a14:m>
                <a:r>
                  <a:rPr lang="en-US" sz="2400" dirty="0">
                    <a:solidFill>
                      <a:schemeClr val="accent6"/>
                    </a:solidFill>
                  </a:rPr>
                  <a:t> is the value of </a:t>
                </a:r>
                <a14:m>
                  <m:oMath xmlns:m="http://schemas.openxmlformats.org/officeDocument/2006/math">
                    <m:r>
                      <a:rPr lang="en-US" sz="2400" b="0" i="1" smtClean="0">
                        <a:solidFill>
                          <a:schemeClr val="accent6"/>
                        </a:solidFill>
                        <a:latin typeface="Cambria Math" panose="02040503050406030204" pitchFamily="18" charset="0"/>
                      </a:rPr>
                      <m:t>𝑌</m:t>
                    </m:r>
                  </m:oMath>
                </a14:m>
                <a:r>
                  <a:rPr lang="en-US" sz="2400" dirty="0">
                    <a:solidFill>
                      <a:schemeClr val="accent6"/>
                    </a:solidFill>
                  </a:rPr>
                  <a:t> when </a:t>
                </a:r>
                <a14:m>
                  <m:oMath xmlns:m="http://schemas.openxmlformats.org/officeDocument/2006/math">
                    <m:r>
                      <a:rPr lang="en-US" sz="2400" b="0" i="1" smtClean="0">
                        <a:solidFill>
                          <a:schemeClr val="accent6"/>
                        </a:solidFill>
                        <a:latin typeface="Cambria Math" panose="02040503050406030204" pitchFamily="18" charset="0"/>
                      </a:rPr>
                      <m:t>𝑋</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𝑗</m:t>
                    </m:r>
                  </m:oMath>
                </a14:m>
                <a:endParaRPr lang="en-US" sz="2400" dirty="0">
                  <a:solidFill>
                    <a:schemeClr val="accent6"/>
                  </a:solidFill>
                </a:endParaRPr>
              </a:p>
            </p:txBody>
          </p:sp>
        </mc:Choice>
        <mc:Fallback xmlns="">
          <p:sp>
            <p:nvSpPr>
              <p:cNvPr id="24" name="TextBox 23">
                <a:extLst>
                  <a:ext uri="{FF2B5EF4-FFF2-40B4-BE49-F238E27FC236}">
                    <a16:creationId xmlns:a16="http://schemas.microsoft.com/office/drawing/2014/main" id="{330AB582-D6CE-85D3-EE03-9BFC0C56ED5E}"/>
                  </a:ext>
                </a:extLst>
              </p:cNvPr>
              <p:cNvSpPr txBox="1">
                <a:spLocks noRot="1" noChangeAspect="1" noMove="1" noResize="1" noEditPoints="1" noAdjustHandles="1" noChangeArrowheads="1" noChangeShapeType="1" noTextEdit="1"/>
              </p:cNvSpPr>
              <p:nvPr/>
            </p:nvSpPr>
            <p:spPr>
              <a:xfrm>
                <a:off x="5513371" y="1968279"/>
                <a:ext cx="5080000" cy="860748"/>
              </a:xfrm>
              <a:prstGeom prst="rect">
                <a:avLst/>
              </a:prstGeom>
              <a:blipFill>
                <a:blip r:embed="rId7"/>
                <a:stretch>
                  <a:fillRect l="-1741" t="-5882" b="-1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FC2C407E-3F58-E329-3B1B-949959843D10}"/>
                  </a:ext>
                </a:extLst>
              </p:cNvPr>
              <p:cNvSpPr txBox="1">
                <a:spLocks/>
              </p:cNvSpPr>
              <p:nvPr/>
            </p:nvSpPr>
            <p:spPr>
              <a:xfrm>
                <a:off x="690033" y="3437467"/>
                <a:ext cx="447886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i="1" smtClean="0">
                              <a:solidFill>
                                <a:schemeClr val="tx1"/>
                              </a:solidFill>
                              <a:latin typeface="Cambria Math" panose="02040503050406030204" pitchFamily="18" charset="0"/>
                              <a:ea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𝑌</m:t>
                              </m:r>
                            </m:e>
                            <m:sub>
                              <m:r>
                                <a:rPr lang="en-US" b="0" i="1" smtClean="0">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𝑌</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𝑌</m:t>
                                  </m:r>
                                </m:e>
                                <m:sub>
                                  <m:r>
                                    <a:rPr lang="en-US" i="1">
                                      <a:solidFill>
                                        <a:schemeClr val="tx1"/>
                                      </a:solidFill>
                                      <a:latin typeface="Cambria Math" panose="02040503050406030204" pitchFamily="18" charset="0"/>
                                    </a:rPr>
                                    <m:t>0</m:t>
                                  </m:r>
                                </m:sub>
                              </m:sSub>
                            </m:e>
                          </m:d>
                          <m:r>
                            <a:rPr lang="en-US" i="1">
                              <a:solidFill>
                                <a:schemeClr val="tx1"/>
                              </a:solidFill>
                              <a:latin typeface="Cambria Math" panose="02040503050406030204" pitchFamily="18" charset="0"/>
                            </a:rPr>
                            <m:t>𝑋</m:t>
                          </m:r>
                        </m:e>
                      </m:d>
                      <m:r>
                        <a:rPr lang="en-US" i="1" smtClean="0">
                          <a:solidFill>
                            <a:schemeClr val="tx1"/>
                          </a:solidFill>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𝑍</m:t>
                      </m:r>
                      <m:r>
                        <a:rPr lang="en-US" i="1" smtClean="0">
                          <a:latin typeface="Cambria Math" panose="02040503050406030204" pitchFamily="18" charset="0"/>
                          <a:ea typeface="Cambria Math" panose="02040503050406030204" pitchFamily="18" charset="0"/>
                        </a:rPr>
                        <m:t>=1]</m:t>
                      </m:r>
                    </m:oMath>
                  </m:oMathPara>
                </a14:m>
                <a:endParaRPr lang="en-US" dirty="0"/>
              </a:p>
            </p:txBody>
          </p:sp>
        </mc:Choice>
        <mc:Fallback xmlns="">
          <p:sp>
            <p:nvSpPr>
              <p:cNvPr id="25" name="Content Placeholder 2">
                <a:extLst>
                  <a:ext uri="{FF2B5EF4-FFF2-40B4-BE49-F238E27FC236}">
                    <a16:creationId xmlns:a16="http://schemas.microsoft.com/office/drawing/2014/main" id="{FC2C407E-3F58-E329-3B1B-949959843D10}"/>
                  </a:ext>
                </a:extLst>
              </p:cNvPr>
              <p:cNvSpPr txBox="1">
                <a:spLocks noRot="1" noChangeAspect="1" noMove="1" noResize="1" noEditPoints="1" noAdjustHandles="1" noChangeArrowheads="1" noChangeShapeType="1" noTextEdit="1"/>
              </p:cNvSpPr>
              <p:nvPr/>
            </p:nvSpPr>
            <p:spPr>
              <a:xfrm>
                <a:off x="690033" y="3437467"/>
                <a:ext cx="4478867" cy="477308"/>
              </a:xfrm>
              <a:prstGeom prst="rect">
                <a:avLst/>
              </a:prstGeom>
              <a:blipFill>
                <a:blip r:embed="rId8"/>
                <a:stretch>
                  <a:fillRect t="-2564" b="-25641"/>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9FD4D9D7-9968-164A-B6AA-77508E63F203}"/>
              </a:ext>
            </a:extLst>
          </p:cNvPr>
          <p:cNvGrpSpPr/>
          <p:nvPr/>
        </p:nvGrpSpPr>
        <p:grpSpPr>
          <a:xfrm>
            <a:off x="547885" y="2267524"/>
            <a:ext cx="2381582" cy="1463687"/>
            <a:chOff x="547885" y="2267524"/>
            <a:chExt cx="2381582" cy="1463687"/>
          </a:xfrm>
        </p:grpSpPr>
        <p:sp>
          <p:nvSpPr>
            <p:cNvPr id="26" name="Right Brace 25">
              <a:extLst>
                <a:ext uri="{FF2B5EF4-FFF2-40B4-BE49-F238E27FC236}">
                  <a16:creationId xmlns:a16="http://schemas.microsoft.com/office/drawing/2014/main" id="{AC28F816-31E5-8970-F33E-EAFA721943B5}"/>
                </a:ext>
              </a:extLst>
            </p:cNvPr>
            <p:cNvSpPr/>
            <p:nvPr/>
          </p:nvSpPr>
          <p:spPr>
            <a:xfrm rot="5400000">
              <a:off x="1743332" y="1558696"/>
              <a:ext cx="477307" cy="189496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Freeform 26">
              <a:extLst>
                <a:ext uri="{FF2B5EF4-FFF2-40B4-BE49-F238E27FC236}">
                  <a16:creationId xmlns:a16="http://schemas.microsoft.com/office/drawing/2014/main" id="{10D0F469-3106-492C-E20E-4AB0561DD66C}"/>
                </a:ext>
              </a:extLst>
            </p:cNvPr>
            <p:cNvSpPr/>
            <p:nvPr/>
          </p:nvSpPr>
          <p:spPr>
            <a:xfrm>
              <a:off x="547885" y="2692400"/>
              <a:ext cx="1433315" cy="1038811"/>
            </a:xfrm>
            <a:custGeom>
              <a:avLst/>
              <a:gdLst>
                <a:gd name="connsiteX0" fmla="*/ 1433315 w 1433315"/>
                <a:gd name="connsiteY0" fmla="*/ 0 h 1038811"/>
                <a:gd name="connsiteX1" fmla="*/ 1348648 w 1433315"/>
                <a:gd name="connsiteY1" fmla="*/ 186267 h 1038811"/>
                <a:gd name="connsiteX2" fmla="*/ 1196248 w 1433315"/>
                <a:gd name="connsiteY2" fmla="*/ 321733 h 1038811"/>
                <a:gd name="connsiteX3" fmla="*/ 603582 w 1433315"/>
                <a:gd name="connsiteY3" fmla="*/ 508000 h 1038811"/>
                <a:gd name="connsiteX4" fmla="*/ 44782 w 1433315"/>
                <a:gd name="connsiteY4" fmla="*/ 778933 h 1038811"/>
                <a:gd name="connsiteX5" fmla="*/ 61715 w 1433315"/>
                <a:gd name="connsiteY5" fmla="*/ 1016000 h 1038811"/>
                <a:gd name="connsiteX6" fmla="*/ 281848 w 1433315"/>
                <a:gd name="connsiteY6" fmla="*/ 1016000 h 1038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3315" h="1038811">
                  <a:moveTo>
                    <a:pt x="1433315" y="0"/>
                  </a:moveTo>
                  <a:cubicBezTo>
                    <a:pt x="1410737" y="66322"/>
                    <a:pt x="1388159" y="132645"/>
                    <a:pt x="1348648" y="186267"/>
                  </a:cubicBezTo>
                  <a:cubicBezTo>
                    <a:pt x="1309137" y="239889"/>
                    <a:pt x="1320426" y="268111"/>
                    <a:pt x="1196248" y="321733"/>
                  </a:cubicBezTo>
                  <a:cubicBezTo>
                    <a:pt x="1072070" y="375355"/>
                    <a:pt x="795493" y="431800"/>
                    <a:pt x="603582" y="508000"/>
                  </a:cubicBezTo>
                  <a:cubicBezTo>
                    <a:pt x="411671" y="584200"/>
                    <a:pt x="135093" y="694266"/>
                    <a:pt x="44782" y="778933"/>
                  </a:cubicBezTo>
                  <a:cubicBezTo>
                    <a:pt x="-45529" y="863600"/>
                    <a:pt x="22204" y="976489"/>
                    <a:pt x="61715" y="1016000"/>
                  </a:cubicBezTo>
                  <a:cubicBezTo>
                    <a:pt x="101226" y="1055511"/>
                    <a:pt x="191537" y="1035755"/>
                    <a:pt x="281848" y="1016000"/>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C2D1DC68-CA21-CD18-875A-9EC28C315216}"/>
                  </a:ext>
                </a:extLst>
              </p:cNvPr>
              <p:cNvSpPr txBox="1">
                <a:spLocks/>
              </p:cNvSpPr>
              <p:nvPr/>
            </p:nvSpPr>
            <p:spPr>
              <a:xfrm>
                <a:off x="4462921" y="3470174"/>
                <a:ext cx="447886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0</m:t>
                          </m:r>
                        </m:sub>
                      </m:sSub>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8" name="Content Placeholder 2">
                <a:extLst>
                  <a:ext uri="{FF2B5EF4-FFF2-40B4-BE49-F238E27FC236}">
                    <a16:creationId xmlns:a16="http://schemas.microsoft.com/office/drawing/2014/main" id="{C2D1DC68-CA21-CD18-875A-9EC28C315216}"/>
                  </a:ext>
                </a:extLst>
              </p:cNvPr>
              <p:cNvSpPr txBox="1">
                <a:spLocks noRot="1" noChangeAspect="1" noMove="1" noResize="1" noEditPoints="1" noAdjustHandles="1" noChangeArrowheads="1" noChangeShapeType="1" noTextEdit="1"/>
              </p:cNvSpPr>
              <p:nvPr/>
            </p:nvSpPr>
            <p:spPr>
              <a:xfrm>
                <a:off x="4462921" y="3470174"/>
                <a:ext cx="4478867" cy="477308"/>
              </a:xfrm>
              <a:prstGeom prst="rect">
                <a:avLst/>
              </a:prstGeom>
              <a:blipFill>
                <a:blip r:embed="rId9"/>
                <a:stretch>
                  <a:fillRect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DCA9354-7825-9E38-C8B4-33D59D5588C0}"/>
                  </a:ext>
                </a:extLst>
              </p:cNvPr>
              <p:cNvSpPr txBox="1"/>
              <p:nvPr/>
            </p:nvSpPr>
            <p:spPr>
              <a:xfrm>
                <a:off x="8853621" y="3040754"/>
                <a:ext cx="2790494" cy="830997"/>
              </a:xfrm>
              <a:prstGeom prst="rect">
                <a:avLst/>
              </a:prstGeom>
              <a:noFill/>
            </p:spPr>
            <p:txBody>
              <a:bodyPr wrap="square" rtlCol="0">
                <a:spAutoFit/>
              </a:bodyPr>
              <a:lstStyle/>
              <a:p>
                <a14:m>
                  <m:oMath xmlns:m="http://schemas.openxmlformats.org/officeDocument/2006/math">
                    <m:sSub>
                      <m:sSubPr>
                        <m:ctrlPr>
                          <a:rPr lang="en-US" sz="2400" b="0" i="1" smtClean="0">
                            <a:solidFill>
                              <a:schemeClr val="accent6"/>
                            </a:solidFill>
                            <a:latin typeface="Cambria Math" panose="02040503050406030204" pitchFamily="18" charset="0"/>
                          </a:rPr>
                        </m:ctrlPr>
                      </m:sSubPr>
                      <m:e>
                        <m:r>
                          <a:rPr lang="en-US" sz="2400" b="0" i="1" smtClean="0">
                            <a:solidFill>
                              <a:schemeClr val="accent6"/>
                            </a:solidFill>
                            <a:latin typeface="Cambria Math" panose="02040503050406030204" pitchFamily="18" charset="0"/>
                          </a:rPr>
                          <m:t>𝑋</m:t>
                        </m:r>
                      </m:e>
                      <m:sub>
                        <m:r>
                          <a:rPr lang="en-US" sz="2400" b="0" i="1" smtClean="0">
                            <a:solidFill>
                              <a:schemeClr val="accent6"/>
                            </a:solidFill>
                            <a:latin typeface="Cambria Math" panose="02040503050406030204" pitchFamily="18" charset="0"/>
                          </a:rPr>
                          <m:t>1</m:t>
                        </m:r>
                      </m:sub>
                    </m:sSub>
                  </m:oMath>
                </a14:m>
                <a:r>
                  <a:rPr lang="en-US" sz="2400" dirty="0">
                    <a:solidFill>
                      <a:schemeClr val="accent6"/>
                    </a:solidFill>
                  </a:rPr>
                  <a:t> is the value of </a:t>
                </a:r>
                <a14:m>
                  <m:oMath xmlns:m="http://schemas.openxmlformats.org/officeDocument/2006/math">
                    <m:r>
                      <a:rPr lang="en-US" sz="2400" i="1" dirty="0" smtClean="0">
                        <a:solidFill>
                          <a:schemeClr val="accent6"/>
                        </a:solidFill>
                        <a:latin typeface="Cambria Math" panose="02040503050406030204" pitchFamily="18" charset="0"/>
                      </a:rPr>
                      <m:t>𝑋</m:t>
                    </m:r>
                  </m:oMath>
                </a14:m>
                <a:r>
                  <a:rPr lang="en-US" sz="2400" dirty="0">
                    <a:solidFill>
                      <a:schemeClr val="accent6"/>
                    </a:solidFill>
                  </a:rPr>
                  <a:t> when </a:t>
                </a:r>
                <a14:m>
                  <m:oMath xmlns:m="http://schemas.openxmlformats.org/officeDocument/2006/math">
                    <m:r>
                      <a:rPr lang="en-US" sz="2400" i="1" dirty="0" smtClean="0">
                        <a:solidFill>
                          <a:schemeClr val="accent6"/>
                        </a:solidFill>
                        <a:latin typeface="Cambria Math" panose="02040503050406030204" pitchFamily="18" charset="0"/>
                      </a:rPr>
                      <m:t>𝑍</m:t>
                    </m:r>
                    <m:r>
                      <a:rPr lang="en-US" sz="2400" i="1" dirty="0" smtClean="0">
                        <a:solidFill>
                          <a:schemeClr val="accent6"/>
                        </a:solidFill>
                        <a:latin typeface="Cambria Math" panose="02040503050406030204" pitchFamily="18" charset="0"/>
                      </a:rPr>
                      <m:t>=1</m:t>
                    </m:r>
                  </m:oMath>
                </a14:m>
                <a:endParaRPr lang="en-US" sz="2400" dirty="0">
                  <a:solidFill>
                    <a:schemeClr val="accent6"/>
                  </a:solidFill>
                </a:endParaRPr>
              </a:p>
            </p:txBody>
          </p:sp>
        </mc:Choice>
        <mc:Fallback xmlns="">
          <p:sp>
            <p:nvSpPr>
              <p:cNvPr id="29" name="TextBox 28">
                <a:extLst>
                  <a:ext uri="{FF2B5EF4-FFF2-40B4-BE49-F238E27FC236}">
                    <a16:creationId xmlns:a16="http://schemas.microsoft.com/office/drawing/2014/main" id="{BDCA9354-7825-9E38-C8B4-33D59D5588C0}"/>
                  </a:ext>
                </a:extLst>
              </p:cNvPr>
              <p:cNvSpPr txBox="1">
                <a:spLocks noRot="1" noChangeAspect="1" noMove="1" noResize="1" noEditPoints="1" noAdjustHandles="1" noChangeArrowheads="1" noChangeShapeType="1" noTextEdit="1"/>
              </p:cNvSpPr>
              <p:nvPr/>
            </p:nvSpPr>
            <p:spPr>
              <a:xfrm>
                <a:off x="8853621" y="3040754"/>
                <a:ext cx="2790494" cy="830997"/>
              </a:xfrm>
              <a:prstGeom prst="rect">
                <a:avLst/>
              </a:prstGeom>
              <a:blipFill>
                <a:blip r:embed="rId10"/>
                <a:stretch>
                  <a:fillRect l="-3167" t="-6061" b="-16667"/>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0ABDEDDC-F421-BF70-532B-D3A5BF23BC53}"/>
              </a:ext>
            </a:extLst>
          </p:cNvPr>
          <p:cNvGrpSpPr/>
          <p:nvPr/>
        </p:nvGrpSpPr>
        <p:grpSpPr>
          <a:xfrm>
            <a:off x="5145879" y="3875314"/>
            <a:ext cx="6542132" cy="1239408"/>
            <a:chOff x="5145879" y="3875314"/>
            <a:chExt cx="6542132" cy="1239408"/>
          </a:xfrm>
        </p:grpSpPr>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09A962A-497C-041E-FC44-44CF577D7540}"/>
                    </a:ext>
                  </a:extLst>
                </p:cNvPr>
                <p:cNvSpPr txBox="1"/>
                <p:nvPr/>
              </p:nvSpPr>
              <p:spPr>
                <a:xfrm>
                  <a:off x="6702354" y="4099059"/>
                  <a:ext cx="4985657" cy="1015663"/>
                </a:xfrm>
                <a:prstGeom prst="rect">
                  <a:avLst/>
                </a:prstGeom>
                <a:noFill/>
              </p:spPr>
              <p:txBody>
                <a:bodyPr wrap="square" rtlCol="0">
                  <a:spAutoFit/>
                </a:bodyPr>
                <a:lstStyle/>
                <a:p>
                  <a:pPr algn="ctr"/>
                  <a:r>
                    <a:rPr lang="en-US" sz="2000" dirty="0">
                      <a:solidFill>
                        <a:schemeClr val="accent5"/>
                      </a:solidFill>
                    </a:rPr>
                    <a:t>This  is true because </a:t>
                  </a:r>
                  <a14:m>
                    <m:oMath xmlns:m="http://schemas.openxmlformats.org/officeDocument/2006/math">
                      <m:r>
                        <a:rPr lang="en-US" sz="2000" b="0" i="1" smtClean="0">
                          <a:solidFill>
                            <a:schemeClr val="accent5"/>
                          </a:solidFill>
                          <a:latin typeface="Cambria Math" panose="02040503050406030204" pitchFamily="18" charset="0"/>
                        </a:rPr>
                        <m:t>𝑍</m:t>
                      </m:r>
                    </m:oMath>
                  </a14:m>
                  <a:r>
                    <a:rPr lang="en-US" sz="2000" dirty="0">
                      <a:solidFill>
                        <a:schemeClr val="accent5"/>
                      </a:solidFill>
                    </a:rPr>
                    <a:t> only affects </a:t>
                  </a:r>
                  <a14:m>
                    <m:oMath xmlns:m="http://schemas.openxmlformats.org/officeDocument/2006/math">
                      <m:r>
                        <a:rPr lang="en-US" sz="2000" b="0" i="1" smtClean="0">
                          <a:solidFill>
                            <a:schemeClr val="accent5"/>
                          </a:solidFill>
                          <a:latin typeface="Cambria Math" panose="02040503050406030204" pitchFamily="18" charset="0"/>
                        </a:rPr>
                        <m:t>𝑌</m:t>
                      </m:r>
                    </m:oMath>
                  </a14:m>
                  <a:r>
                    <a:rPr lang="en-US" sz="2000" dirty="0">
                      <a:solidFill>
                        <a:schemeClr val="accent5"/>
                      </a:solidFill>
                    </a:rPr>
                    <a:t> through </a:t>
                  </a:r>
                  <a14:m>
                    <m:oMath xmlns:m="http://schemas.openxmlformats.org/officeDocument/2006/math">
                      <m:r>
                        <a:rPr lang="en-US" sz="2000" i="1" dirty="0" smtClean="0">
                          <a:solidFill>
                            <a:schemeClr val="accent5"/>
                          </a:solidFill>
                          <a:latin typeface="Cambria Math" panose="02040503050406030204" pitchFamily="18" charset="0"/>
                        </a:rPr>
                        <m:t>𝑋</m:t>
                      </m:r>
                    </m:oMath>
                  </a14:m>
                  <a:r>
                    <a:rPr lang="en-US" sz="2000" dirty="0">
                      <a:solidFill>
                        <a:schemeClr val="accent5"/>
                      </a:solidFill>
                    </a:rPr>
                    <a:t>!  In particular, it doesn’t tell me anything about the values of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𝑌</m:t>
                          </m:r>
                        </m:e>
                        <m:sub>
                          <m:r>
                            <a:rPr lang="en-US" sz="2000" b="0" i="1" smtClean="0">
                              <a:solidFill>
                                <a:schemeClr val="accent5"/>
                              </a:solidFill>
                              <a:latin typeface="Cambria Math" panose="02040503050406030204" pitchFamily="18" charset="0"/>
                            </a:rPr>
                            <m:t>0</m:t>
                          </m:r>
                        </m:sub>
                      </m:sSub>
                    </m:oMath>
                  </a14:m>
                  <a:r>
                    <a:rPr lang="en-US" sz="2000" dirty="0">
                      <a:solidFill>
                        <a:schemeClr val="accent5"/>
                      </a:solidFill>
                    </a:rPr>
                    <a:t> or </a:t>
                  </a:r>
                  <a14:m>
                    <m:oMath xmlns:m="http://schemas.openxmlformats.org/officeDocument/2006/math">
                      <m:sSub>
                        <m:sSubPr>
                          <m:ctrlPr>
                            <a:rPr lang="en-US" sz="2000" b="0" i="1" smtClean="0">
                              <a:solidFill>
                                <a:schemeClr val="accent5"/>
                              </a:solidFill>
                              <a:latin typeface="Cambria Math" panose="02040503050406030204" pitchFamily="18" charset="0"/>
                            </a:rPr>
                          </m:ctrlPr>
                        </m:sSubPr>
                        <m:e>
                          <m:r>
                            <a:rPr lang="en-US" sz="2000" b="0" i="1" smtClean="0">
                              <a:solidFill>
                                <a:schemeClr val="accent5"/>
                              </a:solidFill>
                              <a:latin typeface="Cambria Math" panose="02040503050406030204" pitchFamily="18" charset="0"/>
                            </a:rPr>
                            <m:t>𝑌</m:t>
                          </m:r>
                        </m:e>
                        <m:sub>
                          <m:r>
                            <a:rPr lang="en-US" sz="2000" b="0" i="1" smtClean="0">
                              <a:solidFill>
                                <a:schemeClr val="accent5"/>
                              </a:solidFill>
                              <a:latin typeface="Cambria Math" panose="02040503050406030204" pitchFamily="18" charset="0"/>
                            </a:rPr>
                            <m:t>1</m:t>
                          </m:r>
                        </m:sub>
                      </m:sSub>
                    </m:oMath>
                  </a14:m>
                  <a:r>
                    <a:rPr lang="en-US" sz="2000" dirty="0">
                      <a:solidFill>
                        <a:schemeClr val="accent5"/>
                      </a:solidFill>
                    </a:rPr>
                    <a:t>.</a:t>
                  </a:r>
                </a:p>
              </p:txBody>
            </p:sp>
          </mc:Choice>
          <mc:Fallback xmlns="">
            <p:sp>
              <p:nvSpPr>
                <p:cNvPr id="30" name="TextBox 29">
                  <a:extLst>
                    <a:ext uri="{FF2B5EF4-FFF2-40B4-BE49-F238E27FC236}">
                      <a16:creationId xmlns:a16="http://schemas.microsoft.com/office/drawing/2014/main" id="{709A962A-497C-041E-FC44-44CF577D7540}"/>
                    </a:ext>
                  </a:extLst>
                </p:cNvPr>
                <p:cNvSpPr txBox="1">
                  <a:spLocks noRot="1" noChangeAspect="1" noMove="1" noResize="1" noEditPoints="1" noAdjustHandles="1" noChangeArrowheads="1" noChangeShapeType="1" noTextEdit="1"/>
                </p:cNvSpPr>
                <p:nvPr/>
              </p:nvSpPr>
              <p:spPr>
                <a:xfrm>
                  <a:off x="6702354" y="4099059"/>
                  <a:ext cx="4985657" cy="1015663"/>
                </a:xfrm>
                <a:prstGeom prst="rect">
                  <a:avLst/>
                </a:prstGeom>
                <a:blipFill>
                  <a:blip r:embed="rId11"/>
                  <a:stretch>
                    <a:fillRect t="-1235" b="-11111"/>
                  </a:stretch>
                </a:blipFill>
              </p:spPr>
              <p:txBody>
                <a:bodyPr/>
                <a:lstStyle/>
                <a:p>
                  <a:r>
                    <a:rPr lang="en-US">
                      <a:noFill/>
                    </a:rPr>
                    <a:t> </a:t>
                  </a:r>
                </a:p>
              </p:txBody>
            </p:sp>
          </mc:Fallback>
        </mc:AlternateContent>
        <p:sp>
          <p:nvSpPr>
            <p:cNvPr id="31" name="Freeform 30">
              <a:extLst>
                <a:ext uri="{FF2B5EF4-FFF2-40B4-BE49-F238E27FC236}">
                  <a16:creationId xmlns:a16="http://schemas.microsoft.com/office/drawing/2014/main" id="{BF9608E8-FE95-2075-3E8D-0052427DC60F}"/>
                </a:ext>
              </a:extLst>
            </p:cNvPr>
            <p:cNvSpPr/>
            <p:nvPr/>
          </p:nvSpPr>
          <p:spPr>
            <a:xfrm>
              <a:off x="5145879" y="3875314"/>
              <a:ext cx="1701235" cy="796056"/>
            </a:xfrm>
            <a:custGeom>
              <a:avLst/>
              <a:gdLst>
                <a:gd name="connsiteX0" fmla="*/ 1701235 w 1701235"/>
                <a:gd name="connsiteY0" fmla="*/ 718457 h 796056"/>
                <a:gd name="connsiteX1" fmla="*/ 863035 w 1701235"/>
                <a:gd name="connsiteY1" fmla="*/ 783772 h 796056"/>
                <a:gd name="connsiteX2" fmla="*/ 90150 w 1701235"/>
                <a:gd name="connsiteY2" fmla="*/ 500743 h 796056"/>
                <a:gd name="connsiteX3" fmla="*/ 46607 w 1701235"/>
                <a:gd name="connsiteY3" fmla="*/ 0 h 796056"/>
              </a:gdLst>
              <a:ahLst/>
              <a:cxnLst>
                <a:cxn ang="0">
                  <a:pos x="connsiteX0" y="connsiteY0"/>
                </a:cxn>
                <a:cxn ang="0">
                  <a:pos x="connsiteX1" y="connsiteY1"/>
                </a:cxn>
                <a:cxn ang="0">
                  <a:pos x="connsiteX2" y="connsiteY2"/>
                </a:cxn>
                <a:cxn ang="0">
                  <a:pos x="connsiteX3" y="connsiteY3"/>
                </a:cxn>
              </a:cxnLst>
              <a:rect l="l" t="t" r="r" b="b"/>
              <a:pathLst>
                <a:path w="1701235" h="796056">
                  <a:moveTo>
                    <a:pt x="1701235" y="718457"/>
                  </a:moveTo>
                  <a:cubicBezTo>
                    <a:pt x="1416392" y="769257"/>
                    <a:pt x="1131549" y="820058"/>
                    <a:pt x="863035" y="783772"/>
                  </a:cubicBezTo>
                  <a:cubicBezTo>
                    <a:pt x="594521" y="747486"/>
                    <a:pt x="226221" y="631372"/>
                    <a:pt x="90150" y="500743"/>
                  </a:cubicBezTo>
                  <a:cubicBezTo>
                    <a:pt x="-45921" y="370114"/>
                    <a:pt x="343" y="185057"/>
                    <a:pt x="46607" y="0"/>
                  </a:cubicBezTo>
                </a:path>
              </a:pathLst>
            </a:custGeom>
            <a:noFill/>
            <a:ln>
              <a:solidFill>
                <a:schemeClr val="accent5"/>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4822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4" grpId="0"/>
      <p:bldP spid="25" grpId="0"/>
      <p:bldP spid="28" grpId="0"/>
      <p:bldP spid="29"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AE790-F675-51B3-2624-E0AE22C988B7}"/>
              </a:ext>
            </a:extLst>
          </p:cNvPr>
          <p:cNvSpPr>
            <a:spLocks noGrp="1"/>
          </p:cNvSpPr>
          <p:nvPr>
            <p:ph type="title"/>
          </p:nvPr>
        </p:nvSpPr>
        <p:spPr/>
        <p:txBody>
          <a:bodyPr/>
          <a:lstStyle/>
          <a:p>
            <a:r>
              <a:rPr lang="en-US" dirty="0"/>
              <a:t>Proof Sketch</a:t>
            </a:r>
            <a:br>
              <a:rPr lang="en-US" dirty="0"/>
            </a:br>
            <a:r>
              <a:rPr lang="en-US" sz="2400" dirty="0"/>
              <a:t>Where do those 4 things come into it?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A83369-40C3-50FE-026E-9103CC0BFE70}"/>
                  </a:ext>
                </a:extLst>
              </p:cNvPr>
              <p:cNvSpPr>
                <a:spLocks noGrp="1"/>
              </p:cNvSpPr>
              <p:nvPr>
                <p:ph idx="1"/>
              </p:nvPr>
            </p:nvSpPr>
            <p:spPr>
              <a:xfrm>
                <a:off x="838200" y="1825626"/>
                <a:ext cx="4478867" cy="477308"/>
              </a:xfrm>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𝑍</m:t>
                      </m:r>
                      <m:r>
                        <a:rPr lang="en-US" i="1">
                          <a:latin typeface="Cambria Math" panose="02040503050406030204" pitchFamily="18" charset="0"/>
                          <a:ea typeface="Cambria Math" panose="02040503050406030204" pitchFamily="18" charset="0"/>
                        </a:rPr>
                        <m:t>=0]</m:t>
                      </m:r>
                    </m:oMath>
                  </m:oMathPara>
                </a14:m>
                <a:endParaRPr lang="en-US" dirty="0">
                  <a:ea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85A83369-40C3-50FE-026E-9103CC0BFE70}"/>
                  </a:ext>
                </a:extLst>
              </p:cNvPr>
              <p:cNvSpPr>
                <a:spLocks noGrp="1" noRot="1" noChangeAspect="1" noMove="1" noResize="1" noEditPoints="1" noAdjustHandles="1" noChangeArrowheads="1" noChangeShapeType="1" noTextEdit="1"/>
              </p:cNvSpPr>
              <p:nvPr>
                <p:ph idx="1"/>
              </p:nvPr>
            </p:nvSpPr>
            <p:spPr>
              <a:xfrm>
                <a:off x="838200" y="1825626"/>
                <a:ext cx="4478867" cy="477308"/>
              </a:xfrm>
              <a:blipFill>
                <a:blip r:embed="rId2"/>
                <a:stretch>
                  <a:fillRect t="-2564" b="-2564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2DA23D4E-414D-1E1D-DDBD-8C4BFCBE0617}"/>
              </a:ext>
            </a:extLst>
          </p:cNvPr>
          <p:cNvGrpSpPr/>
          <p:nvPr/>
        </p:nvGrpSpPr>
        <p:grpSpPr>
          <a:xfrm>
            <a:off x="7112224" y="184361"/>
            <a:ext cx="4880624" cy="1175908"/>
            <a:chOff x="838200" y="4327742"/>
            <a:chExt cx="10041383" cy="241931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BCD23B4C-4179-7D97-F581-127ADB023139}"/>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𝑋</m:t>
                        </m:r>
                      </m:oMath>
                    </m:oMathPara>
                  </a14:m>
                  <a:endParaRPr lang="en-US" sz="2800" dirty="0"/>
                </a:p>
              </p:txBody>
            </p:sp>
          </mc:Choice>
          <mc:Fallback xmlns="">
            <p:sp>
              <p:nvSpPr>
                <p:cNvPr id="5" name="Oval 4">
                  <a:extLst>
                    <a:ext uri="{FF2B5EF4-FFF2-40B4-BE49-F238E27FC236}">
                      <a16:creationId xmlns:a16="http://schemas.microsoft.com/office/drawing/2014/main" id="{BCD23B4C-4179-7D97-F581-127ADB023139}"/>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63959693-0487-B697-61C7-9ECD4FBBE479}"/>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𝑌</m:t>
                        </m:r>
                      </m:oMath>
                    </m:oMathPara>
                  </a14:m>
                  <a:endParaRPr lang="en-US" sz="2800" dirty="0"/>
                </a:p>
              </p:txBody>
            </p:sp>
          </mc:Choice>
          <mc:Fallback xmlns="">
            <p:sp>
              <p:nvSpPr>
                <p:cNvPr id="6" name="Oval 5">
                  <a:extLst>
                    <a:ext uri="{FF2B5EF4-FFF2-40B4-BE49-F238E27FC236}">
                      <a16:creationId xmlns:a16="http://schemas.microsoft.com/office/drawing/2014/main" id="{63959693-0487-B697-61C7-9ECD4FBBE479}"/>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0D624A17-06F4-2D05-6AAC-BF28CC7677DF}"/>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𝑍</m:t>
                        </m:r>
                      </m:oMath>
                    </m:oMathPara>
                  </a14:m>
                  <a:endParaRPr lang="en-US" sz="2800" dirty="0"/>
                </a:p>
              </p:txBody>
            </p:sp>
          </mc:Choice>
          <mc:Fallback xmlns="">
            <p:sp>
              <p:nvSpPr>
                <p:cNvPr id="7" name="Oval 6">
                  <a:extLst>
                    <a:ext uri="{FF2B5EF4-FFF2-40B4-BE49-F238E27FC236}">
                      <a16:creationId xmlns:a16="http://schemas.microsoft.com/office/drawing/2014/main" id="{0D624A17-06F4-2D05-6AAC-BF28CC7677DF}"/>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5"/>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7FA67D46-558E-7847-DBA6-EAC08E7B5303}"/>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BADBDFE-5181-3AA6-DC5F-B16FC934E576}"/>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6EB9A0F8-FF41-F98C-F610-D35EE07E29FB}"/>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8BDBAA15-F964-DA50-C6BD-8261A52BE4B5}"/>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1981FDAD-7A44-A240-9073-BC00FA3395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5E40880-C4FB-B527-BB5D-EA6142856A03}"/>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30AB582-D6CE-85D3-EE03-9BFC0C56ED5E}"/>
                  </a:ext>
                </a:extLst>
              </p:cNvPr>
              <p:cNvSpPr txBox="1"/>
              <p:nvPr/>
            </p:nvSpPr>
            <p:spPr>
              <a:xfrm>
                <a:off x="7715023" y="1853538"/>
                <a:ext cx="4274691" cy="732573"/>
              </a:xfrm>
              <a:prstGeom prst="rect">
                <a:avLst/>
              </a:prstGeom>
              <a:noFill/>
            </p:spPr>
            <p:txBody>
              <a:bodyPr wrap="square" rtlCol="0">
                <a:spAutoFit/>
              </a:bodyPr>
              <a:lstStyle/>
              <a:p>
                <a:pPr algn="r"/>
                <a:r>
                  <a:rPr lang="en-US" sz="2000" dirty="0">
                    <a:solidFill>
                      <a:schemeClr val="accent6"/>
                    </a:solidFill>
                  </a:rPr>
                  <a:t>Write </a:t>
                </a:r>
                <a14:m>
                  <m:oMath xmlns:m="http://schemas.openxmlformats.org/officeDocument/2006/math">
                    <m:r>
                      <a:rPr lang="en-US" sz="2000" b="0" i="1" smtClean="0">
                        <a:solidFill>
                          <a:schemeClr val="accent6"/>
                        </a:solidFill>
                        <a:latin typeface="Cambria Math" panose="02040503050406030204" pitchFamily="18" charset="0"/>
                      </a:rPr>
                      <m:t>𝑌</m:t>
                    </m:r>
                    <m:r>
                      <a:rPr lang="en-US" sz="2000" b="0" i="1" smtClean="0">
                        <a:solidFill>
                          <a:schemeClr val="accent6"/>
                        </a:solidFill>
                        <a:latin typeface="Cambria Math" panose="02040503050406030204" pitchFamily="18" charset="0"/>
                      </a:rPr>
                      <m:t>=</m:t>
                    </m:r>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𝑌</m:t>
                        </m:r>
                      </m:e>
                      <m:sub>
                        <m:r>
                          <a:rPr lang="en-US" sz="2000" b="0" i="1" smtClean="0">
                            <a:solidFill>
                              <a:schemeClr val="accent6"/>
                            </a:solidFill>
                            <a:latin typeface="Cambria Math" panose="02040503050406030204" pitchFamily="18" charset="0"/>
                          </a:rPr>
                          <m:t>0</m:t>
                        </m:r>
                      </m:sub>
                    </m:sSub>
                    <m:r>
                      <a:rPr lang="en-US" sz="2000" b="0" i="1" smtClean="0">
                        <a:solidFill>
                          <a:schemeClr val="accent6"/>
                        </a:solidFill>
                        <a:latin typeface="Cambria Math" panose="02040503050406030204" pitchFamily="18" charset="0"/>
                      </a:rPr>
                      <m:t>+</m:t>
                    </m:r>
                    <m:d>
                      <m:dPr>
                        <m:ctrlPr>
                          <a:rPr lang="en-US" sz="2000" b="0" i="1" smtClean="0">
                            <a:solidFill>
                              <a:schemeClr val="accent6"/>
                            </a:solidFill>
                            <a:latin typeface="Cambria Math" panose="02040503050406030204" pitchFamily="18" charset="0"/>
                          </a:rPr>
                        </m:ctrlPr>
                      </m:dPr>
                      <m:e>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𝑌</m:t>
                            </m:r>
                          </m:e>
                          <m:sub>
                            <m:r>
                              <a:rPr lang="en-US" sz="2000" b="0" i="1" smtClean="0">
                                <a:solidFill>
                                  <a:schemeClr val="accent6"/>
                                </a:solidFill>
                                <a:latin typeface="Cambria Math" panose="02040503050406030204" pitchFamily="18" charset="0"/>
                              </a:rPr>
                              <m:t>1</m:t>
                            </m:r>
                          </m:sub>
                        </m:sSub>
                        <m:r>
                          <a:rPr lang="en-US" sz="2000" b="0" i="1" smtClean="0">
                            <a:solidFill>
                              <a:schemeClr val="accent6"/>
                            </a:solidFill>
                            <a:latin typeface="Cambria Math" panose="02040503050406030204" pitchFamily="18" charset="0"/>
                          </a:rPr>
                          <m:t>−</m:t>
                        </m:r>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𝑌</m:t>
                            </m:r>
                          </m:e>
                          <m:sub>
                            <m:r>
                              <a:rPr lang="en-US" sz="2000" b="0" i="1" smtClean="0">
                                <a:solidFill>
                                  <a:schemeClr val="accent6"/>
                                </a:solidFill>
                                <a:latin typeface="Cambria Math" panose="02040503050406030204" pitchFamily="18" charset="0"/>
                              </a:rPr>
                              <m:t>0</m:t>
                            </m:r>
                          </m:sub>
                        </m:sSub>
                      </m:e>
                    </m:d>
                    <m:r>
                      <a:rPr lang="en-US" sz="2000" b="0" i="1" smtClean="0">
                        <a:solidFill>
                          <a:schemeClr val="accent6"/>
                        </a:solidFill>
                        <a:latin typeface="Cambria Math" panose="02040503050406030204" pitchFamily="18" charset="0"/>
                      </a:rPr>
                      <m:t>𝑋</m:t>
                    </m:r>
                  </m:oMath>
                </a14:m>
                <a:r>
                  <a:rPr lang="en-US" sz="2000" dirty="0">
                    <a:solidFill>
                      <a:schemeClr val="accent6"/>
                    </a:solidFill>
                  </a:rPr>
                  <a:t>, </a:t>
                </a:r>
              </a:p>
              <a:p>
                <a:pPr algn="r"/>
                <a:r>
                  <a:rPr lang="en-US" sz="2000" dirty="0">
                    <a:solidFill>
                      <a:schemeClr val="accent6"/>
                    </a:solidFill>
                  </a:rPr>
                  <a:t>where </a:t>
                </a:r>
                <a14:m>
                  <m:oMath xmlns:m="http://schemas.openxmlformats.org/officeDocument/2006/math">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𝑌</m:t>
                        </m:r>
                      </m:e>
                      <m:sub>
                        <m:r>
                          <a:rPr lang="en-US" sz="2000" b="0" i="1" smtClean="0">
                            <a:solidFill>
                              <a:schemeClr val="accent6"/>
                            </a:solidFill>
                            <a:latin typeface="Cambria Math" panose="02040503050406030204" pitchFamily="18" charset="0"/>
                          </a:rPr>
                          <m:t>𝑗</m:t>
                        </m:r>
                      </m:sub>
                    </m:sSub>
                  </m:oMath>
                </a14:m>
                <a:r>
                  <a:rPr lang="en-US" sz="2000" dirty="0">
                    <a:solidFill>
                      <a:schemeClr val="accent6"/>
                    </a:solidFill>
                  </a:rPr>
                  <a:t> is the value of </a:t>
                </a:r>
                <a14:m>
                  <m:oMath xmlns:m="http://schemas.openxmlformats.org/officeDocument/2006/math">
                    <m:r>
                      <a:rPr lang="en-US" sz="2000" b="0" i="1" smtClean="0">
                        <a:solidFill>
                          <a:schemeClr val="accent6"/>
                        </a:solidFill>
                        <a:latin typeface="Cambria Math" panose="02040503050406030204" pitchFamily="18" charset="0"/>
                      </a:rPr>
                      <m:t>𝑌</m:t>
                    </m:r>
                  </m:oMath>
                </a14:m>
                <a:r>
                  <a:rPr lang="en-US" sz="2000" dirty="0">
                    <a:solidFill>
                      <a:schemeClr val="accent6"/>
                    </a:solidFill>
                  </a:rPr>
                  <a:t> when </a:t>
                </a:r>
                <a14:m>
                  <m:oMath xmlns:m="http://schemas.openxmlformats.org/officeDocument/2006/math">
                    <m:r>
                      <a:rPr lang="en-US" sz="2000" b="0" i="1" smtClean="0">
                        <a:solidFill>
                          <a:schemeClr val="accent6"/>
                        </a:solidFill>
                        <a:latin typeface="Cambria Math" panose="02040503050406030204" pitchFamily="18" charset="0"/>
                      </a:rPr>
                      <m:t>𝑋</m:t>
                    </m:r>
                    <m:r>
                      <a:rPr lang="en-US" sz="2000" b="0" i="1" smtClean="0">
                        <a:solidFill>
                          <a:schemeClr val="accent6"/>
                        </a:solidFill>
                        <a:latin typeface="Cambria Math" panose="02040503050406030204" pitchFamily="18" charset="0"/>
                      </a:rPr>
                      <m:t>=</m:t>
                    </m:r>
                    <m:r>
                      <a:rPr lang="en-US" sz="2000" b="0" i="1" smtClean="0">
                        <a:solidFill>
                          <a:schemeClr val="accent6"/>
                        </a:solidFill>
                        <a:latin typeface="Cambria Math" panose="02040503050406030204" pitchFamily="18" charset="0"/>
                      </a:rPr>
                      <m:t>𝑗</m:t>
                    </m:r>
                  </m:oMath>
                </a14:m>
                <a:endParaRPr lang="en-US" sz="2000" dirty="0">
                  <a:solidFill>
                    <a:schemeClr val="accent6"/>
                  </a:solidFill>
                </a:endParaRPr>
              </a:p>
            </p:txBody>
          </p:sp>
        </mc:Choice>
        <mc:Fallback xmlns="">
          <p:sp>
            <p:nvSpPr>
              <p:cNvPr id="24" name="TextBox 23">
                <a:extLst>
                  <a:ext uri="{FF2B5EF4-FFF2-40B4-BE49-F238E27FC236}">
                    <a16:creationId xmlns:a16="http://schemas.microsoft.com/office/drawing/2014/main" id="{330AB582-D6CE-85D3-EE03-9BFC0C56ED5E}"/>
                  </a:ext>
                </a:extLst>
              </p:cNvPr>
              <p:cNvSpPr txBox="1">
                <a:spLocks noRot="1" noChangeAspect="1" noMove="1" noResize="1" noEditPoints="1" noAdjustHandles="1" noChangeArrowheads="1" noChangeShapeType="1" noTextEdit="1"/>
              </p:cNvSpPr>
              <p:nvPr/>
            </p:nvSpPr>
            <p:spPr>
              <a:xfrm>
                <a:off x="7715023" y="1853538"/>
                <a:ext cx="4274691" cy="732573"/>
              </a:xfrm>
              <a:prstGeom prst="rect">
                <a:avLst/>
              </a:prstGeom>
              <a:blipFill>
                <a:blip r:embed="rId7"/>
                <a:stretch>
                  <a:fillRect t="-1695" r="-2663" b="-118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C2D1DC68-CA21-CD18-875A-9EC28C315216}"/>
                  </a:ext>
                </a:extLst>
              </p:cNvPr>
              <p:cNvSpPr txBox="1">
                <a:spLocks/>
              </p:cNvSpPr>
              <p:nvPr/>
            </p:nvSpPr>
            <p:spPr>
              <a:xfrm>
                <a:off x="-4292" y="2513041"/>
                <a:ext cx="862779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0</m:t>
                              </m:r>
                            </m:sub>
                          </m:sSub>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8" name="Content Placeholder 2">
                <a:extLst>
                  <a:ext uri="{FF2B5EF4-FFF2-40B4-BE49-F238E27FC236}">
                    <a16:creationId xmlns:a16="http://schemas.microsoft.com/office/drawing/2014/main" id="{C2D1DC68-CA21-CD18-875A-9EC28C315216}"/>
                  </a:ext>
                </a:extLst>
              </p:cNvPr>
              <p:cNvSpPr txBox="1">
                <a:spLocks noRot="1" noChangeAspect="1" noMove="1" noResize="1" noEditPoints="1" noAdjustHandles="1" noChangeArrowheads="1" noChangeShapeType="1" noTextEdit="1"/>
              </p:cNvSpPr>
              <p:nvPr/>
            </p:nvSpPr>
            <p:spPr>
              <a:xfrm>
                <a:off x="-4292" y="2513041"/>
                <a:ext cx="8627797" cy="477308"/>
              </a:xfrm>
              <a:prstGeom prst="rect">
                <a:avLst/>
              </a:prstGeom>
              <a:blipFill>
                <a:blip r:embed="rId8"/>
                <a:stretch>
                  <a:fillRect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DCA9354-7825-9E38-C8B4-33D59D5588C0}"/>
                  </a:ext>
                </a:extLst>
              </p:cNvPr>
              <p:cNvSpPr txBox="1"/>
              <p:nvPr/>
            </p:nvSpPr>
            <p:spPr>
              <a:xfrm>
                <a:off x="7257532" y="2820818"/>
                <a:ext cx="4732182" cy="424796"/>
              </a:xfrm>
              <a:prstGeom prst="rect">
                <a:avLst/>
              </a:prstGeom>
              <a:noFill/>
            </p:spPr>
            <p:txBody>
              <a:bodyPr wrap="square" rtlCol="0">
                <a:spAutoFit/>
              </a:bodyPr>
              <a:lstStyle/>
              <a:p>
                <a:pPr algn="r"/>
                <a14:m>
                  <m:oMath xmlns:m="http://schemas.openxmlformats.org/officeDocument/2006/math">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𝑋</m:t>
                        </m:r>
                      </m:e>
                      <m:sub>
                        <m:r>
                          <a:rPr lang="en-US" sz="2000" b="0" i="1" smtClean="0">
                            <a:solidFill>
                              <a:schemeClr val="accent6"/>
                            </a:solidFill>
                            <a:latin typeface="Cambria Math" panose="02040503050406030204" pitchFamily="18" charset="0"/>
                          </a:rPr>
                          <m:t>𝑗</m:t>
                        </m:r>
                      </m:sub>
                    </m:sSub>
                  </m:oMath>
                </a14:m>
                <a:r>
                  <a:rPr lang="en-US" sz="2000" dirty="0">
                    <a:solidFill>
                      <a:schemeClr val="accent6"/>
                    </a:solidFill>
                  </a:rPr>
                  <a:t> is the value of </a:t>
                </a:r>
                <a14:m>
                  <m:oMath xmlns:m="http://schemas.openxmlformats.org/officeDocument/2006/math">
                    <m:r>
                      <a:rPr lang="en-US" sz="2000" i="1" dirty="0" smtClean="0">
                        <a:solidFill>
                          <a:schemeClr val="accent6"/>
                        </a:solidFill>
                        <a:latin typeface="Cambria Math" panose="02040503050406030204" pitchFamily="18" charset="0"/>
                      </a:rPr>
                      <m:t>𝑋</m:t>
                    </m:r>
                  </m:oMath>
                </a14:m>
                <a:r>
                  <a:rPr lang="en-US" sz="2000" dirty="0">
                    <a:solidFill>
                      <a:schemeClr val="accent6"/>
                    </a:solidFill>
                  </a:rPr>
                  <a:t> when </a:t>
                </a:r>
                <a14:m>
                  <m:oMath xmlns:m="http://schemas.openxmlformats.org/officeDocument/2006/math">
                    <m:r>
                      <a:rPr lang="en-US" sz="2000" i="1" dirty="0" smtClean="0">
                        <a:solidFill>
                          <a:schemeClr val="accent6"/>
                        </a:solidFill>
                        <a:latin typeface="Cambria Math" panose="02040503050406030204" pitchFamily="18" charset="0"/>
                      </a:rPr>
                      <m:t>𝑍</m:t>
                    </m:r>
                    <m:r>
                      <a:rPr lang="en-US" sz="2000" i="1" dirty="0" smtClean="0">
                        <a:solidFill>
                          <a:schemeClr val="accent6"/>
                        </a:solidFill>
                        <a:latin typeface="Cambria Math" panose="02040503050406030204" pitchFamily="18" charset="0"/>
                      </a:rPr>
                      <m:t>=</m:t>
                    </m:r>
                    <m:r>
                      <a:rPr lang="en-US" sz="2000" b="0" i="1" dirty="0" smtClean="0">
                        <a:solidFill>
                          <a:schemeClr val="accent6"/>
                        </a:solidFill>
                        <a:latin typeface="Cambria Math" panose="02040503050406030204" pitchFamily="18" charset="0"/>
                      </a:rPr>
                      <m:t>𝑗</m:t>
                    </m:r>
                  </m:oMath>
                </a14:m>
                <a:endParaRPr lang="en-US" sz="2000" dirty="0">
                  <a:solidFill>
                    <a:schemeClr val="accent6"/>
                  </a:solidFill>
                </a:endParaRPr>
              </a:p>
            </p:txBody>
          </p:sp>
        </mc:Choice>
        <mc:Fallback xmlns="">
          <p:sp>
            <p:nvSpPr>
              <p:cNvPr id="29" name="TextBox 28">
                <a:extLst>
                  <a:ext uri="{FF2B5EF4-FFF2-40B4-BE49-F238E27FC236}">
                    <a16:creationId xmlns:a16="http://schemas.microsoft.com/office/drawing/2014/main" id="{BDCA9354-7825-9E38-C8B4-33D59D5588C0}"/>
                  </a:ext>
                </a:extLst>
              </p:cNvPr>
              <p:cNvSpPr txBox="1">
                <a:spLocks noRot="1" noChangeAspect="1" noMove="1" noResize="1" noEditPoints="1" noAdjustHandles="1" noChangeArrowheads="1" noChangeShapeType="1" noTextEdit="1"/>
              </p:cNvSpPr>
              <p:nvPr/>
            </p:nvSpPr>
            <p:spPr>
              <a:xfrm>
                <a:off x="7257532" y="2820818"/>
                <a:ext cx="4732182" cy="424796"/>
              </a:xfrm>
              <a:prstGeom prst="rect">
                <a:avLst/>
              </a:prstGeom>
              <a:blipFill>
                <a:blip r:embed="rId9"/>
                <a:stretch>
                  <a:fillRect t="-5882" r="-267" b="-23529"/>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1D06B405-4BD7-A7CF-42F1-2538EC10621C}"/>
              </a:ext>
            </a:extLst>
          </p:cNvPr>
          <p:cNvGrpSpPr/>
          <p:nvPr/>
        </p:nvGrpSpPr>
        <p:grpSpPr>
          <a:xfrm>
            <a:off x="-967312" y="3314737"/>
            <a:ext cx="12022254" cy="528482"/>
            <a:chOff x="-967312" y="3314737"/>
            <a:chExt cx="12022254" cy="528482"/>
          </a:xfrm>
        </p:grpSpPr>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4C605B95-CE0B-5665-89D9-84EA25562416}"/>
                    </a:ext>
                  </a:extLst>
                </p:cNvPr>
                <p:cNvSpPr txBox="1">
                  <a:spLocks/>
                </p:cNvSpPr>
                <p:nvPr/>
              </p:nvSpPr>
              <p:spPr>
                <a:xfrm>
                  <a:off x="-967312" y="3314737"/>
                  <a:ext cx="862779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b="0" i="1" smtClean="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4" name="Content Placeholder 2">
                  <a:extLst>
                    <a:ext uri="{FF2B5EF4-FFF2-40B4-BE49-F238E27FC236}">
                      <a16:creationId xmlns:a16="http://schemas.microsoft.com/office/drawing/2014/main" id="{4C605B95-CE0B-5665-89D9-84EA25562416}"/>
                    </a:ext>
                  </a:extLst>
                </p:cNvPr>
                <p:cNvSpPr txBox="1">
                  <a:spLocks noRot="1" noChangeAspect="1" noMove="1" noResize="1" noEditPoints="1" noAdjustHandles="1" noChangeArrowheads="1" noChangeShapeType="1" noTextEdit="1"/>
                </p:cNvSpPr>
                <p:nvPr/>
              </p:nvSpPr>
              <p:spPr>
                <a:xfrm>
                  <a:off x="-967312" y="3314737"/>
                  <a:ext cx="8627797" cy="477308"/>
                </a:xfrm>
                <a:prstGeom prst="rect">
                  <a:avLst/>
                </a:prstGeom>
                <a:blipFill>
                  <a:blip r:embed="rId10"/>
                  <a:stretch>
                    <a:fillRect b="-2368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B94F8F85-3D0B-EE37-123F-2BE532D4D18D}"/>
                </a:ext>
              </a:extLst>
            </p:cNvPr>
            <p:cNvSpPr txBox="1"/>
            <p:nvPr/>
          </p:nvSpPr>
          <p:spPr>
            <a:xfrm>
              <a:off x="6069285" y="3381554"/>
              <a:ext cx="4985657" cy="461665"/>
            </a:xfrm>
            <a:prstGeom prst="rect">
              <a:avLst/>
            </a:prstGeom>
            <a:noFill/>
          </p:spPr>
          <p:txBody>
            <a:bodyPr wrap="square" rtlCol="0">
              <a:spAutoFit/>
            </a:bodyPr>
            <a:lstStyle/>
            <a:p>
              <a:r>
                <a:rPr lang="en-US" sz="2400" dirty="0">
                  <a:solidFill>
                    <a:schemeClr val="accent5"/>
                  </a:solidFill>
                </a:rPr>
                <a:t>Linearity of expectation!</a:t>
              </a:r>
            </a:p>
          </p:txBody>
        </p:sp>
      </p:grp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3C27AFB7-A41F-58D8-508B-488DD8C49C1D}"/>
                  </a:ext>
                </a:extLst>
              </p:cNvPr>
              <p:cNvSpPr txBox="1">
                <a:spLocks/>
              </p:cNvSpPr>
              <p:nvPr/>
            </p:nvSpPr>
            <p:spPr>
              <a:xfrm>
                <a:off x="-1509753" y="4116433"/>
                <a:ext cx="862779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d>
                        <m:dPr>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0</m:t>
                              </m:r>
                            </m:sub>
                          </m:sSub>
                        </m:e>
                      </m:d>
                      <m:r>
                        <a:rPr lang="en-US" i="1">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6" name="Content Placeholder 2">
                <a:extLst>
                  <a:ext uri="{FF2B5EF4-FFF2-40B4-BE49-F238E27FC236}">
                    <a16:creationId xmlns:a16="http://schemas.microsoft.com/office/drawing/2014/main" id="{3C27AFB7-A41F-58D8-508B-488DD8C49C1D}"/>
                  </a:ext>
                </a:extLst>
              </p:cNvPr>
              <p:cNvSpPr txBox="1">
                <a:spLocks noRot="1" noChangeAspect="1" noMove="1" noResize="1" noEditPoints="1" noAdjustHandles="1" noChangeArrowheads="1" noChangeShapeType="1" noTextEdit="1"/>
              </p:cNvSpPr>
              <p:nvPr/>
            </p:nvSpPr>
            <p:spPr>
              <a:xfrm>
                <a:off x="-1509753" y="4116433"/>
                <a:ext cx="8627797" cy="477308"/>
              </a:xfrm>
              <a:prstGeom prst="rect">
                <a:avLst/>
              </a:prstGeom>
              <a:blipFill>
                <a:blip r:embed="rId11"/>
                <a:stretch>
                  <a:fillRect b="-26316"/>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79ED9BC0-39E6-B7B4-6EE4-AE7CB43D8E79}"/>
              </a:ext>
            </a:extLst>
          </p:cNvPr>
          <p:cNvGrpSpPr/>
          <p:nvPr/>
        </p:nvGrpSpPr>
        <p:grpSpPr>
          <a:xfrm>
            <a:off x="3077632" y="4582185"/>
            <a:ext cx="7183420" cy="1640770"/>
            <a:chOff x="3077632" y="4582185"/>
            <a:chExt cx="7183420" cy="1640770"/>
          </a:xfrm>
        </p:grpSpPr>
        <p:sp>
          <p:nvSpPr>
            <p:cNvPr id="17" name="Right Brace 16">
              <a:extLst>
                <a:ext uri="{FF2B5EF4-FFF2-40B4-BE49-F238E27FC236}">
                  <a16:creationId xmlns:a16="http://schemas.microsoft.com/office/drawing/2014/main" id="{90CCA057-84F2-4BA7-06DB-8DDD01BA2486}"/>
                </a:ext>
              </a:extLst>
            </p:cNvPr>
            <p:cNvSpPr/>
            <p:nvPr/>
          </p:nvSpPr>
          <p:spPr>
            <a:xfrm rot="5400000">
              <a:off x="3617285" y="4056405"/>
              <a:ext cx="322072" cy="1401377"/>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319A1A2-C67D-5317-7F85-8F3284BCAA80}"/>
                    </a:ext>
                  </a:extLst>
                </p:cNvPr>
                <p:cNvSpPr txBox="1"/>
                <p:nvPr/>
              </p:nvSpPr>
              <p:spPr>
                <a:xfrm>
                  <a:off x="3743972" y="4582185"/>
                  <a:ext cx="6517080" cy="1640770"/>
                </a:xfrm>
                <a:prstGeom prst="rect">
                  <a:avLst/>
                </a:prstGeom>
                <a:noFill/>
              </p:spPr>
              <p:txBody>
                <a:bodyPr wrap="square" rtlCol="0">
                  <a:spAutoFit/>
                </a:bodyPr>
                <a:lstStyle/>
                <a:p>
                  <a:r>
                    <a:rPr lang="en-US" sz="2400" dirty="0">
                      <a:solidFill>
                        <a:schemeClr val="accent5"/>
                      </a:solidFill>
                    </a:rPr>
                    <a:t>This is </a:t>
                  </a:r>
                  <a14:m>
                    <m:oMath xmlns:m="http://schemas.openxmlformats.org/officeDocument/2006/math">
                      <m:d>
                        <m:dPr>
                          <m:begChr m:val="{"/>
                          <m:endChr m:val=""/>
                          <m:ctrlPr>
                            <a:rPr lang="en-US" sz="2400" i="1" smtClean="0">
                              <a:solidFill>
                                <a:schemeClr val="accent5"/>
                              </a:solidFill>
                              <a:latin typeface="Cambria Math" panose="02040503050406030204" pitchFamily="18" charset="0"/>
                            </a:rPr>
                          </m:ctrlPr>
                        </m:dPr>
                        <m:e>
                          <m:eqArr>
                            <m:eqArrPr>
                              <m:ctrlPr>
                                <a:rPr lang="en-US" sz="2400" b="0" i="1" smtClean="0">
                                  <a:solidFill>
                                    <a:schemeClr val="accent5"/>
                                  </a:solidFill>
                                  <a:latin typeface="Cambria Math" panose="02040503050406030204" pitchFamily="18" charset="0"/>
                                </a:rPr>
                              </m:ctrlPr>
                            </m:eqArrPr>
                            <m:e>
                              <m:r>
                                <a:rPr lang="en-US" sz="2400" b="0" i="1" smtClean="0">
                                  <a:solidFill>
                                    <a:schemeClr val="accent5"/>
                                  </a:solidFill>
                                  <a:latin typeface="Cambria Math" panose="02040503050406030204" pitchFamily="18" charset="0"/>
                                </a:rPr>
                                <m:t>+1 </m:t>
                              </m:r>
                              <m:r>
                                <a:rPr lang="en-US" sz="2400" b="0" i="0" smtClean="0">
                                  <a:solidFill>
                                    <a:schemeClr val="accent5"/>
                                  </a:solidFill>
                                  <a:latin typeface="Cambria Math" panose="02040503050406030204" pitchFamily="18" charset="0"/>
                                </a:rPr>
                                <m:t>                               </m:t>
                              </m:r>
                              <m:r>
                                <m:rPr>
                                  <m:sty m:val="p"/>
                                </m:rPr>
                                <a:rPr lang="en-US" sz="2400" b="0" i="0" smtClean="0">
                                  <a:solidFill>
                                    <a:schemeClr val="accent5"/>
                                  </a:solidFill>
                                  <a:latin typeface="Cambria Math" panose="02040503050406030204" pitchFamily="18" charset="0"/>
                                </a:rPr>
                                <m:t>if</m:t>
                              </m:r>
                              <m:r>
                                <a:rPr lang="en-US" sz="2400" b="0" i="0" smtClean="0">
                                  <a:solidFill>
                                    <a:schemeClr val="accent5"/>
                                  </a:solidFill>
                                  <a:latin typeface="Cambria Math" panose="02040503050406030204" pitchFamily="18" charset="0"/>
                                </a:rPr>
                                <m:t> </m:t>
                              </m:r>
                              <m:r>
                                <m:rPr>
                                  <m:sty m:val="p"/>
                                </m:rPr>
                                <a:rPr lang="en-US" sz="2400" b="0" i="0" smtClean="0">
                                  <a:solidFill>
                                    <a:schemeClr val="accent5"/>
                                  </a:solidFill>
                                  <a:latin typeface="Cambria Math" panose="02040503050406030204" pitchFamily="18" charset="0"/>
                                </a:rPr>
                                <m:t>complier</m:t>
                              </m:r>
                            </m:e>
                            <m:e>
                              <m:r>
                                <a:rPr lang="en-US" sz="2400" b="0" i="1" smtClean="0">
                                  <a:solidFill>
                                    <a:schemeClr val="accent5"/>
                                  </a:solidFill>
                                  <a:latin typeface="Cambria Math" panose="02040503050406030204" pitchFamily="18" charset="0"/>
                                </a:rPr>
                                <m:t>0              </m:t>
                              </m:r>
                              <m:r>
                                <m:rPr>
                                  <m:sty m:val="p"/>
                                </m:rPr>
                                <a:rPr lang="en-US" sz="2400" b="0" i="0" smtClean="0">
                                  <a:solidFill>
                                    <a:schemeClr val="accent5"/>
                                  </a:solidFill>
                                  <a:latin typeface="Cambria Math" panose="02040503050406030204" pitchFamily="18" charset="0"/>
                                </a:rPr>
                                <m:t>if</m:t>
                              </m:r>
                              <m:r>
                                <a:rPr lang="en-US" sz="2400" b="0" i="0" smtClean="0">
                                  <a:solidFill>
                                    <a:schemeClr val="accent5"/>
                                  </a:solidFill>
                                  <a:latin typeface="Cambria Math" panose="02040503050406030204" pitchFamily="18" charset="0"/>
                                </a:rPr>
                                <m:t> </m:t>
                              </m:r>
                              <m:r>
                                <m:rPr>
                                  <m:sty m:val="p"/>
                                </m:rPr>
                                <a:rPr lang="en-US" sz="2400" b="0" i="0" smtClean="0">
                                  <a:solidFill>
                                    <a:schemeClr val="accent5"/>
                                  </a:solidFill>
                                  <a:latin typeface="Cambria Math" panose="02040503050406030204" pitchFamily="18" charset="0"/>
                                </a:rPr>
                                <m:t>never</m:t>
                              </m:r>
                              <m:r>
                                <a:rPr lang="en-US" sz="2400" b="0" i="0" smtClean="0">
                                  <a:solidFill>
                                    <a:schemeClr val="accent5"/>
                                  </a:solidFill>
                                  <a:latin typeface="Cambria Math" panose="02040503050406030204" pitchFamily="18" charset="0"/>
                                </a:rPr>
                                <m:t> </m:t>
                              </m:r>
                              <m:r>
                                <m:rPr>
                                  <m:sty m:val="p"/>
                                </m:rPr>
                                <a:rPr lang="en-US" sz="2400" b="0" i="0" smtClean="0">
                                  <a:solidFill>
                                    <a:schemeClr val="accent5"/>
                                  </a:solidFill>
                                  <a:latin typeface="Cambria Math" panose="02040503050406030204" pitchFamily="18" charset="0"/>
                                </a:rPr>
                                <m:t>or</m:t>
                              </m:r>
                              <m:r>
                                <a:rPr lang="en-US" sz="2400" b="0" i="0" smtClean="0">
                                  <a:solidFill>
                                    <a:schemeClr val="accent5"/>
                                  </a:solidFill>
                                  <a:latin typeface="Cambria Math" panose="02040503050406030204" pitchFamily="18" charset="0"/>
                                </a:rPr>
                                <m:t> </m:t>
                              </m:r>
                              <m:r>
                                <m:rPr>
                                  <m:sty m:val="p"/>
                                </m:rPr>
                                <a:rPr lang="en-US" sz="2400" b="0" i="0" smtClean="0">
                                  <a:solidFill>
                                    <a:schemeClr val="accent5"/>
                                  </a:solidFill>
                                  <a:latin typeface="Cambria Math" panose="02040503050406030204" pitchFamily="18" charset="0"/>
                                </a:rPr>
                                <m:t>always</m:t>
                              </m:r>
                              <m:r>
                                <a:rPr lang="en-US" sz="2400" b="0" i="0" smtClean="0">
                                  <a:solidFill>
                                    <a:schemeClr val="accent5"/>
                                  </a:solidFill>
                                  <a:latin typeface="Cambria Math" panose="02040503050406030204" pitchFamily="18" charset="0"/>
                                </a:rPr>
                                <m:t> </m:t>
                              </m:r>
                              <m:r>
                                <m:rPr>
                                  <m:sty m:val="p"/>
                                </m:rPr>
                                <a:rPr lang="en-US" sz="2400" b="0" i="0" smtClean="0">
                                  <a:solidFill>
                                    <a:schemeClr val="accent5"/>
                                  </a:solidFill>
                                  <a:latin typeface="Cambria Math" panose="02040503050406030204" pitchFamily="18" charset="0"/>
                                </a:rPr>
                                <m:t>taker</m:t>
                              </m:r>
                            </m:e>
                            <m:e>
                              <m:r>
                                <a:rPr lang="en-US" sz="2400" b="0" i="1" smtClean="0">
                                  <a:solidFill>
                                    <a:schemeClr val="accent5"/>
                                  </a:solidFill>
                                  <a:latin typeface="Cambria Math" panose="02040503050406030204" pitchFamily="18" charset="0"/>
                                </a:rPr>
                                <m:t>−1                                      </m:t>
                              </m:r>
                              <m:r>
                                <m:rPr>
                                  <m:sty m:val="p"/>
                                </m:rPr>
                                <a:rPr lang="en-US" sz="2400" b="0" i="0" smtClean="0">
                                  <a:solidFill>
                                    <a:schemeClr val="accent5"/>
                                  </a:solidFill>
                                  <a:latin typeface="Cambria Math" panose="02040503050406030204" pitchFamily="18" charset="0"/>
                                </a:rPr>
                                <m:t>if</m:t>
                              </m:r>
                              <m:r>
                                <a:rPr lang="en-US" sz="2400" b="0" i="0" smtClean="0">
                                  <a:solidFill>
                                    <a:schemeClr val="accent5"/>
                                  </a:solidFill>
                                  <a:latin typeface="Cambria Math" panose="02040503050406030204" pitchFamily="18" charset="0"/>
                                </a:rPr>
                                <m:t> </m:t>
                              </m:r>
                              <m:r>
                                <m:rPr>
                                  <m:sty m:val="p"/>
                                </m:rPr>
                                <a:rPr lang="en-US" sz="2400" b="0" i="0" smtClean="0">
                                  <a:solidFill>
                                    <a:schemeClr val="accent5"/>
                                  </a:solidFill>
                                  <a:latin typeface="Cambria Math" panose="02040503050406030204" pitchFamily="18" charset="0"/>
                                </a:rPr>
                                <m:t>defier</m:t>
                              </m:r>
                            </m:e>
                          </m:eqArr>
                        </m:e>
                      </m:d>
                      <m:r>
                        <a:rPr lang="en-US" sz="2400" b="0" i="1" smtClean="0">
                          <a:solidFill>
                            <a:schemeClr val="accent5"/>
                          </a:solidFill>
                          <a:latin typeface="Cambria Math" panose="02040503050406030204" pitchFamily="18" charset="0"/>
                        </a:rPr>
                        <m:t> </m:t>
                      </m:r>
                    </m:oMath>
                  </a14:m>
                  <a:endParaRPr lang="en-US" sz="2400" b="0" dirty="0">
                    <a:solidFill>
                      <a:schemeClr val="accent5"/>
                    </a:solidFill>
                  </a:endParaRPr>
                </a:p>
                <a:p>
                  <a:endParaRPr lang="en-US" sz="2400" dirty="0">
                    <a:solidFill>
                      <a:schemeClr val="accent5"/>
                    </a:solidFill>
                  </a:endParaRPr>
                </a:p>
              </p:txBody>
            </p:sp>
          </mc:Choice>
          <mc:Fallback xmlns="">
            <p:sp>
              <p:nvSpPr>
                <p:cNvPr id="18" name="TextBox 17">
                  <a:extLst>
                    <a:ext uri="{FF2B5EF4-FFF2-40B4-BE49-F238E27FC236}">
                      <a16:creationId xmlns:a16="http://schemas.microsoft.com/office/drawing/2014/main" id="{B319A1A2-C67D-5317-7F85-8F3284BCAA80}"/>
                    </a:ext>
                  </a:extLst>
                </p:cNvPr>
                <p:cNvSpPr txBox="1">
                  <a:spLocks noRot="1" noChangeAspect="1" noMove="1" noResize="1" noEditPoints="1" noAdjustHandles="1" noChangeArrowheads="1" noChangeShapeType="1" noTextEdit="1"/>
                </p:cNvSpPr>
                <p:nvPr/>
              </p:nvSpPr>
              <p:spPr>
                <a:xfrm>
                  <a:off x="3743972" y="4582185"/>
                  <a:ext cx="6517080" cy="1640770"/>
                </a:xfrm>
                <a:prstGeom prst="rect">
                  <a:avLst/>
                </a:prstGeom>
                <a:blipFill>
                  <a:blip r:embed="rId12"/>
                  <a:stretch>
                    <a:fillRect l="-19455" t="-161832" b="-209160"/>
                  </a:stretch>
                </a:blipFill>
              </p:spPr>
              <p:txBody>
                <a:bodyPr/>
                <a:lstStyle/>
                <a:p>
                  <a:r>
                    <a:rPr lang="en-US">
                      <a:noFill/>
                    </a:rPr>
                    <a:t> </a:t>
                  </a:r>
                </a:p>
              </p:txBody>
            </p:sp>
          </mc:Fallback>
        </mc:AlternateContent>
      </p:grpSp>
      <p:grpSp>
        <p:nvGrpSpPr>
          <p:cNvPr id="23" name="Group 22">
            <a:extLst>
              <a:ext uri="{FF2B5EF4-FFF2-40B4-BE49-F238E27FC236}">
                <a16:creationId xmlns:a16="http://schemas.microsoft.com/office/drawing/2014/main" id="{EB334ABF-790D-8B4E-F8C3-F77758651D67}"/>
              </a:ext>
            </a:extLst>
          </p:cNvPr>
          <p:cNvGrpSpPr/>
          <p:nvPr/>
        </p:nvGrpSpPr>
        <p:grpSpPr>
          <a:xfrm>
            <a:off x="4479010" y="5348776"/>
            <a:ext cx="6722203" cy="523220"/>
            <a:chOff x="4479010" y="5348776"/>
            <a:chExt cx="6722203" cy="523220"/>
          </a:xfrm>
        </p:grpSpPr>
        <p:cxnSp>
          <p:nvCxnSpPr>
            <p:cNvPr id="20" name="Straight Connector 19">
              <a:extLst>
                <a:ext uri="{FF2B5EF4-FFF2-40B4-BE49-F238E27FC236}">
                  <a16:creationId xmlns:a16="http://schemas.microsoft.com/office/drawing/2014/main" id="{AFB27796-AABF-3911-8965-57C00B9A468B}"/>
                </a:ext>
              </a:extLst>
            </p:cNvPr>
            <p:cNvCxnSpPr>
              <a:cxnSpLocks/>
            </p:cNvCxnSpPr>
            <p:nvPr/>
          </p:nvCxnSpPr>
          <p:spPr>
            <a:xfrm>
              <a:off x="4479010" y="5610386"/>
              <a:ext cx="4832119" cy="0"/>
            </a:xfrm>
            <a:prstGeom prst="line">
              <a:avLst/>
            </a:prstGeom>
            <a:ln w="571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2556893C-0213-C5C1-951C-00303872D75B}"/>
                </a:ext>
              </a:extLst>
            </p:cNvPr>
            <p:cNvSpPr txBox="1"/>
            <p:nvPr/>
          </p:nvSpPr>
          <p:spPr>
            <a:xfrm>
              <a:off x="9320890" y="5348776"/>
              <a:ext cx="1880323" cy="523220"/>
            </a:xfrm>
            <a:prstGeom prst="rect">
              <a:avLst/>
            </a:prstGeom>
            <a:noFill/>
          </p:spPr>
          <p:txBody>
            <a:bodyPr wrap="none" rtlCol="0">
              <a:spAutoFit/>
            </a:bodyPr>
            <a:lstStyle/>
            <a:p>
              <a:r>
                <a:rPr lang="en-US" sz="2800" dirty="0">
                  <a:solidFill>
                    <a:schemeClr val="accent2"/>
                  </a:solidFill>
                </a:rPr>
                <a:t>No defiers!</a:t>
              </a:r>
            </a:p>
          </p:txBody>
        </p:sp>
      </p:grpSp>
    </p:spTree>
    <p:extLst>
      <p:ext uri="{BB962C8B-B14F-4D97-AF65-F5344CB8AC3E}">
        <p14:creationId xmlns:p14="http://schemas.microsoft.com/office/powerpoint/2010/main" val="271102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AE790-F675-51B3-2624-E0AE22C988B7}"/>
              </a:ext>
            </a:extLst>
          </p:cNvPr>
          <p:cNvSpPr>
            <a:spLocks noGrp="1"/>
          </p:cNvSpPr>
          <p:nvPr>
            <p:ph type="title"/>
          </p:nvPr>
        </p:nvSpPr>
        <p:spPr/>
        <p:txBody>
          <a:bodyPr/>
          <a:lstStyle/>
          <a:p>
            <a:r>
              <a:rPr lang="en-US" dirty="0"/>
              <a:t>Proof Sketch</a:t>
            </a:r>
            <a:br>
              <a:rPr lang="en-US" dirty="0"/>
            </a:br>
            <a:r>
              <a:rPr lang="en-US" sz="2400" dirty="0"/>
              <a:t>Where do those 4 things come into it?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A83369-40C3-50FE-026E-9103CC0BFE70}"/>
                  </a:ext>
                </a:extLst>
              </p:cNvPr>
              <p:cNvSpPr>
                <a:spLocks noGrp="1"/>
              </p:cNvSpPr>
              <p:nvPr>
                <p:ph idx="1"/>
              </p:nvPr>
            </p:nvSpPr>
            <p:spPr>
              <a:xfrm>
                <a:off x="838200" y="1825626"/>
                <a:ext cx="4478867" cy="477308"/>
              </a:xfrm>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𝑍</m:t>
                      </m:r>
                      <m:r>
                        <a:rPr lang="en-US" i="1">
                          <a:latin typeface="Cambria Math" panose="02040503050406030204" pitchFamily="18" charset="0"/>
                          <a:ea typeface="Cambria Math" panose="02040503050406030204" pitchFamily="18" charset="0"/>
                        </a:rPr>
                        <m:t>=0]</m:t>
                      </m:r>
                    </m:oMath>
                  </m:oMathPara>
                </a14:m>
                <a:endParaRPr lang="en-US" dirty="0">
                  <a:ea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85A83369-40C3-50FE-026E-9103CC0BFE70}"/>
                  </a:ext>
                </a:extLst>
              </p:cNvPr>
              <p:cNvSpPr>
                <a:spLocks noGrp="1" noRot="1" noChangeAspect="1" noMove="1" noResize="1" noEditPoints="1" noAdjustHandles="1" noChangeArrowheads="1" noChangeShapeType="1" noTextEdit="1"/>
              </p:cNvSpPr>
              <p:nvPr>
                <p:ph idx="1"/>
              </p:nvPr>
            </p:nvSpPr>
            <p:spPr>
              <a:xfrm>
                <a:off x="838200" y="1825626"/>
                <a:ext cx="4478867" cy="477308"/>
              </a:xfrm>
              <a:blipFill>
                <a:blip r:embed="rId2"/>
                <a:stretch>
                  <a:fillRect t="-2564" b="-2564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2DA23D4E-414D-1E1D-DDBD-8C4BFCBE0617}"/>
              </a:ext>
            </a:extLst>
          </p:cNvPr>
          <p:cNvGrpSpPr/>
          <p:nvPr/>
        </p:nvGrpSpPr>
        <p:grpSpPr>
          <a:xfrm>
            <a:off x="7112224" y="184361"/>
            <a:ext cx="4880624" cy="1175908"/>
            <a:chOff x="838200" y="4327742"/>
            <a:chExt cx="10041383" cy="241931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BCD23B4C-4179-7D97-F581-127ADB023139}"/>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𝑋</m:t>
                        </m:r>
                      </m:oMath>
                    </m:oMathPara>
                  </a14:m>
                  <a:endParaRPr lang="en-US" sz="2800" dirty="0"/>
                </a:p>
              </p:txBody>
            </p:sp>
          </mc:Choice>
          <mc:Fallback xmlns="">
            <p:sp>
              <p:nvSpPr>
                <p:cNvPr id="5" name="Oval 4">
                  <a:extLst>
                    <a:ext uri="{FF2B5EF4-FFF2-40B4-BE49-F238E27FC236}">
                      <a16:creationId xmlns:a16="http://schemas.microsoft.com/office/drawing/2014/main" id="{BCD23B4C-4179-7D97-F581-127ADB023139}"/>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63959693-0487-B697-61C7-9ECD4FBBE479}"/>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𝑌</m:t>
                        </m:r>
                      </m:oMath>
                    </m:oMathPara>
                  </a14:m>
                  <a:endParaRPr lang="en-US" sz="2800" dirty="0"/>
                </a:p>
              </p:txBody>
            </p:sp>
          </mc:Choice>
          <mc:Fallback xmlns="">
            <p:sp>
              <p:nvSpPr>
                <p:cNvPr id="6" name="Oval 5">
                  <a:extLst>
                    <a:ext uri="{FF2B5EF4-FFF2-40B4-BE49-F238E27FC236}">
                      <a16:creationId xmlns:a16="http://schemas.microsoft.com/office/drawing/2014/main" id="{63959693-0487-B697-61C7-9ECD4FBBE479}"/>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0D624A17-06F4-2D05-6AAC-BF28CC7677DF}"/>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𝑍</m:t>
                        </m:r>
                      </m:oMath>
                    </m:oMathPara>
                  </a14:m>
                  <a:endParaRPr lang="en-US" sz="2800" dirty="0"/>
                </a:p>
              </p:txBody>
            </p:sp>
          </mc:Choice>
          <mc:Fallback xmlns="">
            <p:sp>
              <p:nvSpPr>
                <p:cNvPr id="7" name="Oval 6">
                  <a:extLst>
                    <a:ext uri="{FF2B5EF4-FFF2-40B4-BE49-F238E27FC236}">
                      <a16:creationId xmlns:a16="http://schemas.microsoft.com/office/drawing/2014/main" id="{0D624A17-06F4-2D05-6AAC-BF28CC7677DF}"/>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5"/>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7FA67D46-558E-7847-DBA6-EAC08E7B5303}"/>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BADBDFE-5181-3AA6-DC5F-B16FC934E576}"/>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6EB9A0F8-FF41-F98C-F610-D35EE07E29FB}"/>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8BDBAA15-F964-DA50-C6BD-8261A52BE4B5}"/>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1981FDAD-7A44-A240-9073-BC00FA3395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5E40880-C4FB-B527-BB5D-EA6142856A03}"/>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30AB582-D6CE-85D3-EE03-9BFC0C56ED5E}"/>
                  </a:ext>
                </a:extLst>
              </p:cNvPr>
              <p:cNvSpPr txBox="1"/>
              <p:nvPr/>
            </p:nvSpPr>
            <p:spPr>
              <a:xfrm>
                <a:off x="7715023" y="1853538"/>
                <a:ext cx="4274691" cy="732573"/>
              </a:xfrm>
              <a:prstGeom prst="rect">
                <a:avLst/>
              </a:prstGeom>
              <a:noFill/>
            </p:spPr>
            <p:txBody>
              <a:bodyPr wrap="square" rtlCol="0">
                <a:spAutoFit/>
              </a:bodyPr>
              <a:lstStyle/>
              <a:p>
                <a:pPr algn="r"/>
                <a:r>
                  <a:rPr lang="en-US" sz="2000" dirty="0">
                    <a:solidFill>
                      <a:schemeClr val="accent6"/>
                    </a:solidFill>
                  </a:rPr>
                  <a:t>Write </a:t>
                </a:r>
                <a14:m>
                  <m:oMath xmlns:m="http://schemas.openxmlformats.org/officeDocument/2006/math">
                    <m:r>
                      <a:rPr lang="en-US" sz="2000" b="0" i="1" smtClean="0">
                        <a:solidFill>
                          <a:schemeClr val="accent6"/>
                        </a:solidFill>
                        <a:latin typeface="Cambria Math" panose="02040503050406030204" pitchFamily="18" charset="0"/>
                      </a:rPr>
                      <m:t>𝑌</m:t>
                    </m:r>
                    <m:r>
                      <a:rPr lang="en-US" sz="2000" b="0" i="1" smtClean="0">
                        <a:solidFill>
                          <a:schemeClr val="accent6"/>
                        </a:solidFill>
                        <a:latin typeface="Cambria Math" panose="02040503050406030204" pitchFamily="18" charset="0"/>
                      </a:rPr>
                      <m:t>=</m:t>
                    </m:r>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𝑌</m:t>
                        </m:r>
                      </m:e>
                      <m:sub>
                        <m:r>
                          <a:rPr lang="en-US" sz="2000" b="0" i="1" smtClean="0">
                            <a:solidFill>
                              <a:schemeClr val="accent6"/>
                            </a:solidFill>
                            <a:latin typeface="Cambria Math" panose="02040503050406030204" pitchFamily="18" charset="0"/>
                          </a:rPr>
                          <m:t>0</m:t>
                        </m:r>
                      </m:sub>
                    </m:sSub>
                    <m:r>
                      <a:rPr lang="en-US" sz="2000" b="0" i="1" smtClean="0">
                        <a:solidFill>
                          <a:schemeClr val="accent6"/>
                        </a:solidFill>
                        <a:latin typeface="Cambria Math" panose="02040503050406030204" pitchFamily="18" charset="0"/>
                      </a:rPr>
                      <m:t>+</m:t>
                    </m:r>
                    <m:d>
                      <m:dPr>
                        <m:ctrlPr>
                          <a:rPr lang="en-US" sz="2000" b="0" i="1" smtClean="0">
                            <a:solidFill>
                              <a:schemeClr val="accent6"/>
                            </a:solidFill>
                            <a:latin typeface="Cambria Math" panose="02040503050406030204" pitchFamily="18" charset="0"/>
                          </a:rPr>
                        </m:ctrlPr>
                      </m:dPr>
                      <m:e>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𝑌</m:t>
                            </m:r>
                          </m:e>
                          <m:sub>
                            <m:r>
                              <a:rPr lang="en-US" sz="2000" b="0" i="1" smtClean="0">
                                <a:solidFill>
                                  <a:schemeClr val="accent6"/>
                                </a:solidFill>
                                <a:latin typeface="Cambria Math" panose="02040503050406030204" pitchFamily="18" charset="0"/>
                              </a:rPr>
                              <m:t>1</m:t>
                            </m:r>
                          </m:sub>
                        </m:sSub>
                        <m:r>
                          <a:rPr lang="en-US" sz="2000" b="0" i="1" smtClean="0">
                            <a:solidFill>
                              <a:schemeClr val="accent6"/>
                            </a:solidFill>
                            <a:latin typeface="Cambria Math" panose="02040503050406030204" pitchFamily="18" charset="0"/>
                          </a:rPr>
                          <m:t>−</m:t>
                        </m:r>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𝑌</m:t>
                            </m:r>
                          </m:e>
                          <m:sub>
                            <m:r>
                              <a:rPr lang="en-US" sz="2000" b="0" i="1" smtClean="0">
                                <a:solidFill>
                                  <a:schemeClr val="accent6"/>
                                </a:solidFill>
                                <a:latin typeface="Cambria Math" panose="02040503050406030204" pitchFamily="18" charset="0"/>
                              </a:rPr>
                              <m:t>0</m:t>
                            </m:r>
                          </m:sub>
                        </m:sSub>
                      </m:e>
                    </m:d>
                    <m:r>
                      <a:rPr lang="en-US" sz="2000" b="0" i="1" smtClean="0">
                        <a:solidFill>
                          <a:schemeClr val="accent6"/>
                        </a:solidFill>
                        <a:latin typeface="Cambria Math" panose="02040503050406030204" pitchFamily="18" charset="0"/>
                      </a:rPr>
                      <m:t>𝑋</m:t>
                    </m:r>
                  </m:oMath>
                </a14:m>
                <a:r>
                  <a:rPr lang="en-US" sz="2000" dirty="0">
                    <a:solidFill>
                      <a:schemeClr val="accent6"/>
                    </a:solidFill>
                  </a:rPr>
                  <a:t>, </a:t>
                </a:r>
              </a:p>
              <a:p>
                <a:pPr algn="r"/>
                <a:r>
                  <a:rPr lang="en-US" sz="2000" dirty="0">
                    <a:solidFill>
                      <a:schemeClr val="accent6"/>
                    </a:solidFill>
                  </a:rPr>
                  <a:t>where </a:t>
                </a:r>
                <a14:m>
                  <m:oMath xmlns:m="http://schemas.openxmlformats.org/officeDocument/2006/math">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𝑌</m:t>
                        </m:r>
                      </m:e>
                      <m:sub>
                        <m:r>
                          <a:rPr lang="en-US" sz="2000" b="0" i="1" smtClean="0">
                            <a:solidFill>
                              <a:schemeClr val="accent6"/>
                            </a:solidFill>
                            <a:latin typeface="Cambria Math" panose="02040503050406030204" pitchFamily="18" charset="0"/>
                          </a:rPr>
                          <m:t>𝑗</m:t>
                        </m:r>
                      </m:sub>
                    </m:sSub>
                  </m:oMath>
                </a14:m>
                <a:r>
                  <a:rPr lang="en-US" sz="2000" dirty="0">
                    <a:solidFill>
                      <a:schemeClr val="accent6"/>
                    </a:solidFill>
                  </a:rPr>
                  <a:t> is the value of </a:t>
                </a:r>
                <a14:m>
                  <m:oMath xmlns:m="http://schemas.openxmlformats.org/officeDocument/2006/math">
                    <m:r>
                      <a:rPr lang="en-US" sz="2000" b="0" i="1" smtClean="0">
                        <a:solidFill>
                          <a:schemeClr val="accent6"/>
                        </a:solidFill>
                        <a:latin typeface="Cambria Math" panose="02040503050406030204" pitchFamily="18" charset="0"/>
                      </a:rPr>
                      <m:t>𝑌</m:t>
                    </m:r>
                  </m:oMath>
                </a14:m>
                <a:r>
                  <a:rPr lang="en-US" sz="2000" dirty="0">
                    <a:solidFill>
                      <a:schemeClr val="accent6"/>
                    </a:solidFill>
                  </a:rPr>
                  <a:t> when </a:t>
                </a:r>
                <a14:m>
                  <m:oMath xmlns:m="http://schemas.openxmlformats.org/officeDocument/2006/math">
                    <m:r>
                      <a:rPr lang="en-US" sz="2000" b="0" i="1" smtClean="0">
                        <a:solidFill>
                          <a:schemeClr val="accent6"/>
                        </a:solidFill>
                        <a:latin typeface="Cambria Math" panose="02040503050406030204" pitchFamily="18" charset="0"/>
                      </a:rPr>
                      <m:t>𝑋</m:t>
                    </m:r>
                    <m:r>
                      <a:rPr lang="en-US" sz="2000" b="0" i="1" smtClean="0">
                        <a:solidFill>
                          <a:schemeClr val="accent6"/>
                        </a:solidFill>
                        <a:latin typeface="Cambria Math" panose="02040503050406030204" pitchFamily="18" charset="0"/>
                      </a:rPr>
                      <m:t>=</m:t>
                    </m:r>
                    <m:r>
                      <a:rPr lang="en-US" sz="2000" b="0" i="1" smtClean="0">
                        <a:solidFill>
                          <a:schemeClr val="accent6"/>
                        </a:solidFill>
                        <a:latin typeface="Cambria Math" panose="02040503050406030204" pitchFamily="18" charset="0"/>
                      </a:rPr>
                      <m:t>𝑗</m:t>
                    </m:r>
                  </m:oMath>
                </a14:m>
                <a:endParaRPr lang="en-US" sz="2000" dirty="0">
                  <a:solidFill>
                    <a:schemeClr val="accent6"/>
                  </a:solidFill>
                </a:endParaRPr>
              </a:p>
            </p:txBody>
          </p:sp>
        </mc:Choice>
        <mc:Fallback xmlns="">
          <p:sp>
            <p:nvSpPr>
              <p:cNvPr id="24" name="TextBox 23">
                <a:extLst>
                  <a:ext uri="{FF2B5EF4-FFF2-40B4-BE49-F238E27FC236}">
                    <a16:creationId xmlns:a16="http://schemas.microsoft.com/office/drawing/2014/main" id="{330AB582-D6CE-85D3-EE03-9BFC0C56ED5E}"/>
                  </a:ext>
                </a:extLst>
              </p:cNvPr>
              <p:cNvSpPr txBox="1">
                <a:spLocks noRot="1" noChangeAspect="1" noMove="1" noResize="1" noEditPoints="1" noAdjustHandles="1" noChangeArrowheads="1" noChangeShapeType="1" noTextEdit="1"/>
              </p:cNvSpPr>
              <p:nvPr/>
            </p:nvSpPr>
            <p:spPr>
              <a:xfrm>
                <a:off x="7715023" y="1853538"/>
                <a:ext cx="4274691" cy="732573"/>
              </a:xfrm>
              <a:prstGeom prst="rect">
                <a:avLst/>
              </a:prstGeom>
              <a:blipFill>
                <a:blip r:embed="rId7"/>
                <a:stretch>
                  <a:fillRect t="-1695" r="-2663" b="-118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C2D1DC68-CA21-CD18-875A-9EC28C315216}"/>
                  </a:ext>
                </a:extLst>
              </p:cNvPr>
              <p:cNvSpPr txBox="1">
                <a:spLocks/>
              </p:cNvSpPr>
              <p:nvPr/>
            </p:nvSpPr>
            <p:spPr>
              <a:xfrm>
                <a:off x="-4292" y="2513041"/>
                <a:ext cx="862779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b="0" i="1" smtClean="0">
                                  <a:latin typeface="Cambria Math" panose="02040503050406030204" pitchFamily="18" charset="0"/>
                                </a:rPr>
                                <m:t>0</m:t>
                              </m:r>
                            </m:sub>
                          </m:sSub>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8" name="Content Placeholder 2">
                <a:extLst>
                  <a:ext uri="{FF2B5EF4-FFF2-40B4-BE49-F238E27FC236}">
                    <a16:creationId xmlns:a16="http://schemas.microsoft.com/office/drawing/2014/main" id="{C2D1DC68-CA21-CD18-875A-9EC28C315216}"/>
                  </a:ext>
                </a:extLst>
              </p:cNvPr>
              <p:cNvSpPr txBox="1">
                <a:spLocks noRot="1" noChangeAspect="1" noMove="1" noResize="1" noEditPoints="1" noAdjustHandles="1" noChangeArrowheads="1" noChangeShapeType="1" noTextEdit="1"/>
              </p:cNvSpPr>
              <p:nvPr/>
            </p:nvSpPr>
            <p:spPr>
              <a:xfrm>
                <a:off x="-4292" y="2513041"/>
                <a:ext cx="8627797" cy="477308"/>
              </a:xfrm>
              <a:prstGeom prst="rect">
                <a:avLst/>
              </a:prstGeom>
              <a:blipFill>
                <a:blip r:embed="rId8"/>
                <a:stretch>
                  <a:fillRect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DCA9354-7825-9E38-C8B4-33D59D5588C0}"/>
                  </a:ext>
                </a:extLst>
              </p:cNvPr>
              <p:cNvSpPr txBox="1"/>
              <p:nvPr/>
            </p:nvSpPr>
            <p:spPr>
              <a:xfrm>
                <a:off x="7257532" y="2820818"/>
                <a:ext cx="4732182" cy="424796"/>
              </a:xfrm>
              <a:prstGeom prst="rect">
                <a:avLst/>
              </a:prstGeom>
              <a:noFill/>
            </p:spPr>
            <p:txBody>
              <a:bodyPr wrap="square" rtlCol="0">
                <a:spAutoFit/>
              </a:bodyPr>
              <a:lstStyle/>
              <a:p>
                <a:pPr algn="r"/>
                <a14:m>
                  <m:oMath xmlns:m="http://schemas.openxmlformats.org/officeDocument/2006/math">
                    <m:sSub>
                      <m:sSubPr>
                        <m:ctrlPr>
                          <a:rPr lang="en-US" sz="2000" b="0" i="1" smtClean="0">
                            <a:solidFill>
                              <a:schemeClr val="accent6"/>
                            </a:solidFill>
                            <a:latin typeface="Cambria Math" panose="02040503050406030204" pitchFamily="18" charset="0"/>
                          </a:rPr>
                        </m:ctrlPr>
                      </m:sSubPr>
                      <m:e>
                        <m:r>
                          <a:rPr lang="en-US" sz="2000" b="0" i="1" smtClean="0">
                            <a:solidFill>
                              <a:schemeClr val="accent6"/>
                            </a:solidFill>
                            <a:latin typeface="Cambria Math" panose="02040503050406030204" pitchFamily="18" charset="0"/>
                          </a:rPr>
                          <m:t>𝑋</m:t>
                        </m:r>
                      </m:e>
                      <m:sub>
                        <m:r>
                          <a:rPr lang="en-US" sz="2000" b="0" i="1" smtClean="0">
                            <a:solidFill>
                              <a:schemeClr val="accent6"/>
                            </a:solidFill>
                            <a:latin typeface="Cambria Math" panose="02040503050406030204" pitchFamily="18" charset="0"/>
                          </a:rPr>
                          <m:t>𝑗</m:t>
                        </m:r>
                      </m:sub>
                    </m:sSub>
                  </m:oMath>
                </a14:m>
                <a:r>
                  <a:rPr lang="en-US" sz="2000" dirty="0">
                    <a:solidFill>
                      <a:schemeClr val="accent6"/>
                    </a:solidFill>
                  </a:rPr>
                  <a:t> is the value of </a:t>
                </a:r>
                <a14:m>
                  <m:oMath xmlns:m="http://schemas.openxmlformats.org/officeDocument/2006/math">
                    <m:r>
                      <a:rPr lang="en-US" sz="2000" i="1" dirty="0" smtClean="0">
                        <a:solidFill>
                          <a:schemeClr val="accent6"/>
                        </a:solidFill>
                        <a:latin typeface="Cambria Math" panose="02040503050406030204" pitchFamily="18" charset="0"/>
                      </a:rPr>
                      <m:t>𝑋</m:t>
                    </m:r>
                  </m:oMath>
                </a14:m>
                <a:r>
                  <a:rPr lang="en-US" sz="2000" dirty="0">
                    <a:solidFill>
                      <a:schemeClr val="accent6"/>
                    </a:solidFill>
                  </a:rPr>
                  <a:t> when </a:t>
                </a:r>
                <a14:m>
                  <m:oMath xmlns:m="http://schemas.openxmlformats.org/officeDocument/2006/math">
                    <m:r>
                      <a:rPr lang="en-US" sz="2000" i="1" dirty="0" smtClean="0">
                        <a:solidFill>
                          <a:schemeClr val="accent6"/>
                        </a:solidFill>
                        <a:latin typeface="Cambria Math" panose="02040503050406030204" pitchFamily="18" charset="0"/>
                      </a:rPr>
                      <m:t>𝑍</m:t>
                    </m:r>
                    <m:r>
                      <a:rPr lang="en-US" sz="2000" i="1" dirty="0" smtClean="0">
                        <a:solidFill>
                          <a:schemeClr val="accent6"/>
                        </a:solidFill>
                        <a:latin typeface="Cambria Math" panose="02040503050406030204" pitchFamily="18" charset="0"/>
                      </a:rPr>
                      <m:t>=</m:t>
                    </m:r>
                    <m:r>
                      <a:rPr lang="en-US" sz="2000" b="0" i="1" dirty="0" smtClean="0">
                        <a:solidFill>
                          <a:schemeClr val="accent6"/>
                        </a:solidFill>
                        <a:latin typeface="Cambria Math" panose="02040503050406030204" pitchFamily="18" charset="0"/>
                      </a:rPr>
                      <m:t>𝑗</m:t>
                    </m:r>
                  </m:oMath>
                </a14:m>
                <a:endParaRPr lang="en-US" sz="2000" dirty="0">
                  <a:solidFill>
                    <a:schemeClr val="accent6"/>
                  </a:solidFill>
                </a:endParaRPr>
              </a:p>
            </p:txBody>
          </p:sp>
        </mc:Choice>
        <mc:Fallback xmlns="">
          <p:sp>
            <p:nvSpPr>
              <p:cNvPr id="29" name="TextBox 28">
                <a:extLst>
                  <a:ext uri="{FF2B5EF4-FFF2-40B4-BE49-F238E27FC236}">
                    <a16:creationId xmlns:a16="http://schemas.microsoft.com/office/drawing/2014/main" id="{BDCA9354-7825-9E38-C8B4-33D59D5588C0}"/>
                  </a:ext>
                </a:extLst>
              </p:cNvPr>
              <p:cNvSpPr txBox="1">
                <a:spLocks noRot="1" noChangeAspect="1" noMove="1" noResize="1" noEditPoints="1" noAdjustHandles="1" noChangeArrowheads="1" noChangeShapeType="1" noTextEdit="1"/>
              </p:cNvSpPr>
              <p:nvPr/>
            </p:nvSpPr>
            <p:spPr>
              <a:xfrm>
                <a:off x="7257532" y="2820818"/>
                <a:ext cx="4732182" cy="424796"/>
              </a:xfrm>
              <a:prstGeom prst="rect">
                <a:avLst/>
              </a:prstGeom>
              <a:blipFill>
                <a:blip r:embed="rId9"/>
                <a:stretch>
                  <a:fillRect t="-5882" r="-267"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4C605B95-CE0B-5665-89D9-84EA25562416}"/>
                  </a:ext>
                </a:extLst>
              </p:cNvPr>
              <p:cNvSpPr txBox="1">
                <a:spLocks/>
              </p:cNvSpPr>
              <p:nvPr/>
            </p:nvSpPr>
            <p:spPr>
              <a:xfrm>
                <a:off x="-967312" y="3314737"/>
                <a:ext cx="862779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b="0" i="1" smtClean="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4" name="Content Placeholder 2">
                <a:extLst>
                  <a:ext uri="{FF2B5EF4-FFF2-40B4-BE49-F238E27FC236}">
                    <a16:creationId xmlns:a16="http://schemas.microsoft.com/office/drawing/2014/main" id="{4C605B95-CE0B-5665-89D9-84EA25562416}"/>
                  </a:ext>
                </a:extLst>
              </p:cNvPr>
              <p:cNvSpPr txBox="1">
                <a:spLocks noRot="1" noChangeAspect="1" noMove="1" noResize="1" noEditPoints="1" noAdjustHandles="1" noChangeArrowheads="1" noChangeShapeType="1" noTextEdit="1"/>
              </p:cNvSpPr>
              <p:nvPr/>
            </p:nvSpPr>
            <p:spPr>
              <a:xfrm>
                <a:off x="-967312" y="3314737"/>
                <a:ext cx="8627797" cy="477308"/>
              </a:xfrm>
              <a:prstGeom prst="rect">
                <a:avLst/>
              </a:prstGeom>
              <a:blipFill>
                <a:blip r:embed="rId10"/>
                <a:stretch>
                  <a:fillRect b="-2368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B94F8F85-3D0B-EE37-123F-2BE532D4D18D}"/>
              </a:ext>
            </a:extLst>
          </p:cNvPr>
          <p:cNvSpPr txBox="1"/>
          <p:nvPr/>
        </p:nvSpPr>
        <p:spPr>
          <a:xfrm>
            <a:off x="6069285" y="3381554"/>
            <a:ext cx="4985657" cy="461665"/>
          </a:xfrm>
          <a:prstGeom prst="rect">
            <a:avLst/>
          </a:prstGeom>
          <a:noFill/>
        </p:spPr>
        <p:txBody>
          <a:bodyPr wrap="square" rtlCol="0">
            <a:spAutoFit/>
          </a:bodyPr>
          <a:lstStyle/>
          <a:p>
            <a:r>
              <a:rPr lang="en-US" sz="2400" dirty="0">
                <a:solidFill>
                  <a:schemeClr val="accent5"/>
                </a:solidFill>
              </a:rPr>
              <a:t>Linearity of expectation!</a:t>
            </a:r>
          </a:p>
        </p:txBody>
      </p: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3C27AFB7-A41F-58D8-508B-488DD8C49C1D}"/>
                  </a:ext>
                </a:extLst>
              </p:cNvPr>
              <p:cNvSpPr txBox="1">
                <a:spLocks/>
              </p:cNvSpPr>
              <p:nvPr/>
            </p:nvSpPr>
            <p:spPr>
              <a:xfrm>
                <a:off x="-1123255" y="4116433"/>
                <a:ext cx="862779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𝔼</m:t>
                      </m:r>
                      <m:d>
                        <m:dPr>
                          <m:begChr m:val="["/>
                          <m:endChr m:val="]"/>
                          <m:ctrlPr>
                            <a:rPr lang="en-US" b="0" i="1" smtClean="0">
                              <a:latin typeface="Cambria Math" panose="02040503050406030204" pitchFamily="18" charset="0"/>
                              <a:ea typeface="Cambria Math" panose="02040503050406030204" pitchFamily="18" charset="0"/>
                            </a:rPr>
                          </m:ctrlPr>
                        </m:d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0</m:t>
                                  </m:r>
                                </m:sub>
                              </m:sSub>
                            </m:e>
                          </m:d>
                        </m:e>
                      </m:d>
                      <m:r>
                        <a:rPr lang="en-US" b="0" i="1" smtClean="0">
                          <a:latin typeface="Cambria Math" panose="02040503050406030204" pitchFamily="18" charset="0"/>
                        </a:rPr>
                        <m:t>⋅</m:t>
                      </m:r>
                      <m:r>
                        <a:rPr lang="en-US" b="1" i="1" smtClean="0">
                          <a:latin typeface="Cambria Math" panose="02040503050406030204" pitchFamily="18" charset="0"/>
                        </a:rPr>
                        <m:t>𝟏</m:t>
                      </m:r>
                      <m:r>
                        <a:rPr lang="en-US" b="0" i="1" smtClean="0">
                          <a:latin typeface="Cambria Math" panose="02040503050406030204" pitchFamily="18" charset="0"/>
                        </a:rPr>
                        <m:t>[</m:t>
                      </m:r>
                      <m:r>
                        <m:rPr>
                          <m:sty m:val="p"/>
                        </m:rPr>
                        <a:rPr lang="en-US" b="0" i="0" smtClean="0">
                          <a:latin typeface="Cambria Math" panose="02040503050406030204" pitchFamily="18" charset="0"/>
                        </a:rPr>
                        <m:t>complier</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6" name="Content Placeholder 2">
                <a:extLst>
                  <a:ext uri="{FF2B5EF4-FFF2-40B4-BE49-F238E27FC236}">
                    <a16:creationId xmlns:a16="http://schemas.microsoft.com/office/drawing/2014/main" id="{3C27AFB7-A41F-58D8-508B-488DD8C49C1D}"/>
                  </a:ext>
                </a:extLst>
              </p:cNvPr>
              <p:cNvSpPr txBox="1">
                <a:spLocks noRot="1" noChangeAspect="1" noMove="1" noResize="1" noEditPoints="1" noAdjustHandles="1" noChangeArrowheads="1" noChangeShapeType="1" noTextEdit="1"/>
              </p:cNvSpPr>
              <p:nvPr/>
            </p:nvSpPr>
            <p:spPr>
              <a:xfrm>
                <a:off x="-1123255" y="4116433"/>
                <a:ext cx="8627797" cy="477308"/>
              </a:xfrm>
              <a:prstGeom prst="rect">
                <a:avLst/>
              </a:prstGeom>
              <a:blipFill>
                <a:blip r:embed="rId11"/>
                <a:stretch>
                  <a:fillRect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5C5ABBA2-9D25-0D01-6C98-5A412213FDDD}"/>
                  </a:ext>
                </a:extLst>
              </p:cNvPr>
              <p:cNvSpPr txBox="1">
                <a:spLocks/>
              </p:cNvSpPr>
              <p:nvPr/>
            </p:nvSpPr>
            <p:spPr>
              <a:xfrm>
                <a:off x="-824920" y="4918129"/>
                <a:ext cx="8627797" cy="477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LATE</m:t>
                      </m:r>
                      <m:r>
                        <a:rPr lang="en-US" b="0" i="1" smtClean="0">
                          <a:latin typeface="Cambria Math" panose="02040503050406030204" pitchFamily="18" charset="0"/>
                          <a:ea typeface="Cambria Math" panose="02040503050406030204" pitchFamily="18" charset="0"/>
                        </a:rPr>
                        <m:t> </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fraction</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of</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compliers</m:t>
                      </m:r>
                      <m:r>
                        <a:rPr lang="en-US" b="0" i="0"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9" name="Content Placeholder 2">
                <a:extLst>
                  <a:ext uri="{FF2B5EF4-FFF2-40B4-BE49-F238E27FC236}">
                    <a16:creationId xmlns:a16="http://schemas.microsoft.com/office/drawing/2014/main" id="{5C5ABBA2-9D25-0D01-6C98-5A412213FDDD}"/>
                  </a:ext>
                </a:extLst>
              </p:cNvPr>
              <p:cNvSpPr txBox="1">
                <a:spLocks noRot="1" noChangeAspect="1" noMove="1" noResize="1" noEditPoints="1" noAdjustHandles="1" noChangeArrowheads="1" noChangeShapeType="1" noTextEdit="1"/>
              </p:cNvSpPr>
              <p:nvPr/>
            </p:nvSpPr>
            <p:spPr>
              <a:xfrm>
                <a:off x="-824920" y="4918129"/>
                <a:ext cx="8627797" cy="477308"/>
              </a:xfrm>
              <a:prstGeom prst="rect">
                <a:avLst/>
              </a:prstGeom>
              <a:blipFill>
                <a:blip r:embed="rId12"/>
                <a:stretch>
                  <a:fillRect t="-5263" b="-28947"/>
                </a:stretch>
              </a:blipFill>
            </p:spPr>
            <p:txBody>
              <a:bodyPr/>
              <a:lstStyle/>
              <a:p>
                <a:r>
                  <a:rPr lang="en-US">
                    <a:noFill/>
                  </a:rPr>
                  <a:t> </a:t>
                </a:r>
              </a:p>
            </p:txBody>
          </p:sp>
        </mc:Fallback>
      </mc:AlternateContent>
    </p:spTree>
    <p:extLst>
      <p:ext uri="{BB962C8B-B14F-4D97-AF65-F5344CB8AC3E}">
        <p14:creationId xmlns:p14="http://schemas.microsoft.com/office/powerpoint/2010/main" val="2687026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67C2-68AC-3994-B3B0-17FDB83C0C3F}"/>
              </a:ext>
            </a:extLst>
          </p:cNvPr>
          <p:cNvSpPr>
            <a:spLocks noGrp="1"/>
          </p:cNvSpPr>
          <p:nvPr>
            <p:ph type="title"/>
          </p:nvPr>
        </p:nvSpPr>
        <p:spPr/>
        <p:txBody>
          <a:bodyPr>
            <a:normAutofit/>
          </a:bodyPr>
          <a:lstStyle/>
          <a:p>
            <a:r>
              <a:rPr lang="en-US" dirty="0"/>
              <a:t>Jargon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B39D2E-439E-F9B5-1DFB-C38A2EF6F9ED}"/>
                  </a:ext>
                </a:extLst>
              </p:cNvPr>
              <p:cNvSpPr>
                <a:spLocks noGrp="1"/>
              </p:cNvSpPr>
              <p:nvPr>
                <p:ph idx="1"/>
              </p:nvPr>
            </p:nvSpPr>
            <p:spPr>
              <a:xfrm>
                <a:off x="838199" y="1825625"/>
                <a:ext cx="10909361" cy="4351338"/>
              </a:xfrm>
            </p:spPr>
            <p:txBody>
              <a:bodyPr>
                <a:normAutofit/>
              </a:bodyPr>
              <a:lstStyle/>
              <a:p>
                <a:r>
                  <a:rPr lang="en-US" b="1" dirty="0"/>
                  <a:t>First stage</a:t>
                </a:r>
                <a:r>
                  <a:rPr lang="en-US" dirty="0"/>
                  <a:t>: Estimate the effect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 </m:t>
                        </m:r>
                      </m:sub>
                    </m:sSub>
                  </m:oMath>
                </a14:m>
                <a:r>
                  <a:rPr lang="en-US" dirty="0"/>
                  <a:t> on </a:t>
                </a:r>
                <a14:m>
                  <m:oMath xmlns:m="http://schemas.openxmlformats.org/officeDocument/2006/math">
                    <m:r>
                      <a:rPr lang="en-US" b="0" i="1" smtClean="0">
                        <a:latin typeface="Cambria Math" panose="02040503050406030204" pitchFamily="18" charset="0"/>
                      </a:rPr>
                      <m:t>𝑋</m:t>
                    </m:r>
                  </m:oMath>
                </a14:m>
                <a:endParaRPr lang="en-US" b="0" i="1" dirty="0">
                  <a:latin typeface="Cambria Math" panose="02040503050406030204" pitchFamily="18" charset="0"/>
                </a:endParaRPr>
              </a:p>
              <a:p>
                <a:pPr lvl="1"/>
                <a14:m>
                  <m:oMath xmlns:m="http://schemas.openxmlformats.org/officeDocument/2006/math">
                    <m:r>
                      <a:rPr lang="en-US"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r>
                          <a:rPr lang="en-US" b="0" i="1" smtClean="0">
                            <a:solidFill>
                              <a:schemeClr val="accent1"/>
                            </a:solidFill>
                            <a:latin typeface="Cambria Math" panose="02040503050406030204" pitchFamily="18" charset="0"/>
                          </a:rPr>
                          <m:t>𝑋</m:t>
                        </m:r>
                      </m:e>
                      <m:e>
                        <m:r>
                          <a:rPr lang="en-US" b="0" i="1" smtClean="0">
                            <a:solidFill>
                              <a:schemeClr val="accent1"/>
                            </a:solidFill>
                            <a:latin typeface="Cambria Math" panose="02040503050406030204" pitchFamily="18" charset="0"/>
                          </a:rPr>
                          <m:t>𝑍</m:t>
                        </m:r>
                        <m:r>
                          <a:rPr lang="en-US" i="1">
                            <a:solidFill>
                              <a:schemeClr val="accent1"/>
                            </a:solidFill>
                            <a:latin typeface="Cambria Math" panose="02040503050406030204" pitchFamily="18" charset="0"/>
                          </a:rPr>
                          <m:t>=1</m:t>
                        </m:r>
                      </m:e>
                    </m:d>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r>
                          <a:rPr lang="en-US" b="0" i="1" smtClean="0">
                            <a:solidFill>
                              <a:schemeClr val="accent1"/>
                            </a:solidFill>
                            <a:latin typeface="Cambria Math" panose="02040503050406030204" pitchFamily="18" charset="0"/>
                          </a:rPr>
                          <m:t>𝑋</m:t>
                        </m:r>
                      </m:e>
                      <m:e>
                        <m:r>
                          <a:rPr lang="en-US" b="0" i="1" smtClean="0">
                            <a:solidFill>
                              <a:schemeClr val="accent1"/>
                            </a:solidFill>
                            <a:latin typeface="Cambria Math" panose="02040503050406030204" pitchFamily="18" charset="0"/>
                            <a:ea typeface="Cambria Math" panose="02040503050406030204" pitchFamily="18" charset="0"/>
                          </a:rPr>
                          <m:t>𝑍</m:t>
                        </m:r>
                        <m:r>
                          <a:rPr lang="en-US" i="1">
                            <a:solidFill>
                              <a:schemeClr val="accent1"/>
                            </a:solidFill>
                            <a:latin typeface="Cambria Math" panose="02040503050406030204" pitchFamily="18" charset="0"/>
                            <a:ea typeface="Cambria Math" panose="02040503050406030204" pitchFamily="18" charset="0"/>
                          </a:rPr>
                          <m:t>=0</m:t>
                        </m:r>
                      </m:e>
                    </m:d>
                  </m:oMath>
                </a14:m>
                <a:endParaRPr lang="en-US" dirty="0">
                  <a:solidFill>
                    <a:schemeClr val="accent1"/>
                  </a:solidFill>
                </a:endParaRPr>
              </a:p>
              <a:p>
                <a:r>
                  <a:rPr lang="en-US" b="1" dirty="0"/>
                  <a:t>Reduced form</a:t>
                </a:r>
                <a:r>
                  <a:rPr lang="en-US" dirty="0"/>
                  <a:t>: Estimate the effect of </a:t>
                </a:r>
                <a14:m>
                  <m:oMath xmlns:m="http://schemas.openxmlformats.org/officeDocument/2006/math">
                    <m:r>
                      <a:rPr lang="en-US" b="0" i="1" smtClean="0">
                        <a:latin typeface="Cambria Math" panose="02040503050406030204" pitchFamily="18" charset="0"/>
                      </a:rPr>
                      <m:t>𝑍</m:t>
                    </m:r>
                  </m:oMath>
                </a14:m>
                <a:r>
                  <a:rPr lang="en-US" dirty="0"/>
                  <a:t> on </a:t>
                </a:r>
                <a14:m>
                  <m:oMath xmlns:m="http://schemas.openxmlformats.org/officeDocument/2006/math">
                    <m:r>
                      <a:rPr lang="en-US" b="0" i="1" smtClean="0">
                        <a:latin typeface="Cambria Math" panose="02040503050406030204" pitchFamily="18" charset="0"/>
                      </a:rPr>
                      <m:t>𝑌</m:t>
                    </m:r>
                  </m:oMath>
                </a14:m>
                <a:endParaRPr lang="en-US" dirty="0"/>
              </a:p>
              <a:p>
                <a:pPr lvl="1"/>
                <a14:m>
                  <m:oMath xmlns:m="http://schemas.openxmlformats.org/officeDocument/2006/math">
                    <m:r>
                      <a:rPr lang="en-US"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r>
                          <a:rPr lang="en-US" b="0" i="1" smtClean="0">
                            <a:solidFill>
                              <a:schemeClr val="accent1"/>
                            </a:solidFill>
                            <a:latin typeface="Cambria Math" panose="02040503050406030204" pitchFamily="18" charset="0"/>
                          </a:rPr>
                          <m:t>𝑌</m:t>
                        </m:r>
                      </m:e>
                      <m:e>
                        <m:r>
                          <a:rPr lang="en-US" b="0" i="1" smtClean="0">
                            <a:solidFill>
                              <a:schemeClr val="accent1"/>
                            </a:solidFill>
                            <a:latin typeface="Cambria Math" panose="02040503050406030204" pitchFamily="18" charset="0"/>
                          </a:rPr>
                          <m:t>𝑍</m:t>
                        </m:r>
                        <m:r>
                          <a:rPr lang="en-US" i="1">
                            <a:solidFill>
                              <a:schemeClr val="accent1"/>
                            </a:solidFill>
                            <a:latin typeface="Cambria Math" panose="02040503050406030204" pitchFamily="18" charset="0"/>
                          </a:rPr>
                          <m:t>=1</m:t>
                        </m:r>
                      </m:e>
                    </m:d>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r>
                          <a:rPr lang="en-US" b="0" i="1" smtClean="0">
                            <a:solidFill>
                              <a:schemeClr val="accent1"/>
                            </a:solidFill>
                            <a:latin typeface="Cambria Math" panose="02040503050406030204" pitchFamily="18" charset="0"/>
                          </a:rPr>
                          <m:t>𝑌</m:t>
                        </m:r>
                      </m:e>
                      <m:e>
                        <m:r>
                          <a:rPr lang="en-US" b="0" i="1" smtClean="0">
                            <a:solidFill>
                              <a:schemeClr val="accent1"/>
                            </a:solidFill>
                            <a:latin typeface="Cambria Math" panose="02040503050406030204" pitchFamily="18" charset="0"/>
                            <a:ea typeface="Cambria Math" panose="02040503050406030204" pitchFamily="18" charset="0"/>
                          </a:rPr>
                          <m:t>𝑍</m:t>
                        </m:r>
                        <m:r>
                          <a:rPr lang="en-US" i="1">
                            <a:solidFill>
                              <a:schemeClr val="accent1"/>
                            </a:solidFill>
                            <a:latin typeface="Cambria Math" panose="02040503050406030204" pitchFamily="18" charset="0"/>
                            <a:ea typeface="Cambria Math" panose="02040503050406030204" pitchFamily="18" charset="0"/>
                          </a:rPr>
                          <m:t>=0</m:t>
                        </m:r>
                      </m:e>
                    </m:d>
                  </m:oMath>
                </a14:m>
                <a:endParaRPr lang="en-US" dirty="0"/>
              </a:p>
              <a:p>
                <a:pPr lvl="1"/>
                <a:endParaRPr lang="en-US" dirty="0"/>
              </a:p>
              <a:p>
                <a:r>
                  <a:rPr lang="en-US" b="1" dirty="0"/>
                  <a:t>Wald estimator</a:t>
                </a:r>
                <a:r>
                  <a:rPr lang="en-US" dirty="0"/>
                  <a:t>: Divide the reduced form by the first stage.</a:t>
                </a:r>
              </a:p>
              <a:p>
                <a:pPr lvl="1"/>
                <a:r>
                  <a:rPr lang="en-US" dirty="0">
                    <a:solidFill>
                      <a:schemeClr val="accent1"/>
                    </a:solidFill>
                  </a:rPr>
                  <a:t>If our assumptions hold, this is an estimate of a LATE.</a:t>
                </a:r>
              </a:p>
              <a:p>
                <a:endParaRPr lang="en-US" dirty="0"/>
              </a:p>
            </p:txBody>
          </p:sp>
        </mc:Choice>
        <mc:Fallback xmlns="">
          <p:sp>
            <p:nvSpPr>
              <p:cNvPr id="3" name="Content Placeholder 2">
                <a:extLst>
                  <a:ext uri="{FF2B5EF4-FFF2-40B4-BE49-F238E27FC236}">
                    <a16:creationId xmlns:a16="http://schemas.microsoft.com/office/drawing/2014/main" id="{4AB39D2E-439E-F9B5-1DFB-C38A2EF6F9ED}"/>
                  </a:ext>
                </a:extLst>
              </p:cNvPr>
              <p:cNvSpPr>
                <a:spLocks noGrp="1" noRot="1" noChangeAspect="1" noMove="1" noResize="1" noEditPoints="1" noAdjustHandles="1" noChangeArrowheads="1" noChangeShapeType="1" noTextEdit="1"/>
              </p:cNvSpPr>
              <p:nvPr>
                <p:ph idx="1"/>
              </p:nvPr>
            </p:nvSpPr>
            <p:spPr>
              <a:xfrm>
                <a:off x="838199" y="1825625"/>
                <a:ext cx="10909361" cy="4351338"/>
              </a:xfrm>
              <a:blipFill>
                <a:blip r:embed="rId3"/>
                <a:stretch>
                  <a:fillRect l="-930" t="-2616"/>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F915D5B6-25D7-7164-46A6-FD425C03AF04}"/>
              </a:ext>
            </a:extLst>
          </p:cNvPr>
          <p:cNvGrpSpPr/>
          <p:nvPr/>
        </p:nvGrpSpPr>
        <p:grpSpPr>
          <a:xfrm>
            <a:off x="6121156" y="34706"/>
            <a:ext cx="5923208" cy="1427102"/>
            <a:chOff x="838200" y="4327742"/>
            <a:chExt cx="10041383" cy="241931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C0D79B8-950E-DFF1-4D34-B68E9F8B8564}"/>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𝑋</m:t>
                        </m:r>
                      </m:oMath>
                    </m:oMathPara>
                  </a14:m>
                  <a:endParaRPr lang="en-US" sz="4000" dirty="0"/>
                </a:p>
              </p:txBody>
            </p:sp>
          </mc:Choice>
          <mc:Fallback xmlns="">
            <p:sp>
              <p:nvSpPr>
                <p:cNvPr id="5" name="Oval 4">
                  <a:extLst>
                    <a:ext uri="{FF2B5EF4-FFF2-40B4-BE49-F238E27FC236}">
                      <a16:creationId xmlns:a16="http://schemas.microsoft.com/office/drawing/2014/main" id="{4C0D79B8-950E-DFF1-4D34-B68E9F8B8564}"/>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151AF182-7BA1-E789-318B-46F1D1BB91D3}"/>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𝑌</m:t>
                        </m:r>
                      </m:oMath>
                    </m:oMathPara>
                  </a14:m>
                  <a:endParaRPr lang="en-US" sz="4000" dirty="0"/>
                </a:p>
              </p:txBody>
            </p:sp>
          </mc:Choice>
          <mc:Fallback xmlns="">
            <p:sp>
              <p:nvSpPr>
                <p:cNvPr id="6" name="Oval 5">
                  <a:extLst>
                    <a:ext uri="{FF2B5EF4-FFF2-40B4-BE49-F238E27FC236}">
                      <a16:creationId xmlns:a16="http://schemas.microsoft.com/office/drawing/2014/main" id="{151AF182-7BA1-E789-318B-46F1D1BB91D3}"/>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0474D666-899F-FAC4-8FB6-3079E4AB560C}"/>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7" name="Oval 6">
                  <a:extLst>
                    <a:ext uri="{FF2B5EF4-FFF2-40B4-BE49-F238E27FC236}">
                      <a16:creationId xmlns:a16="http://schemas.microsoft.com/office/drawing/2014/main" id="{0474D666-899F-FAC4-8FB6-3079E4AB560C}"/>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1E98C47A-39F4-F277-18C7-F209040D38BB}"/>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C89BDCD-F9F5-30ED-28A5-F1C15A0FEB08}"/>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EE6D7361-5EE0-7E90-8760-E82DB99AD3AA}"/>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C43A3530-BB64-833E-522D-B0CE6A4F72BC}"/>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22BBF9E1-6255-AEA2-53DF-39D0C1C7AC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7211FFD-E916-D51D-4CB1-4C167693D869}"/>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spTree>
    <p:extLst>
      <p:ext uri="{BB962C8B-B14F-4D97-AF65-F5344CB8AC3E}">
        <p14:creationId xmlns:p14="http://schemas.microsoft.com/office/powerpoint/2010/main" val="262593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67C2-68AC-3994-B3B0-17FDB83C0C3F}"/>
              </a:ext>
            </a:extLst>
          </p:cNvPr>
          <p:cNvSpPr>
            <a:spLocks noGrp="1"/>
          </p:cNvSpPr>
          <p:nvPr>
            <p:ph type="title"/>
          </p:nvPr>
        </p:nvSpPr>
        <p:spPr/>
        <p:txBody>
          <a:bodyPr>
            <a:normAutofit/>
          </a:bodyPr>
          <a:lstStyle/>
          <a:p>
            <a:r>
              <a:rPr lang="en-US" dirty="0"/>
              <a:t>Jargon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B39D2E-439E-F9B5-1DFB-C38A2EF6F9ED}"/>
                  </a:ext>
                </a:extLst>
              </p:cNvPr>
              <p:cNvSpPr>
                <a:spLocks noGrp="1"/>
              </p:cNvSpPr>
              <p:nvPr>
                <p:ph idx="1"/>
              </p:nvPr>
            </p:nvSpPr>
            <p:spPr>
              <a:xfrm>
                <a:off x="838199" y="1825625"/>
                <a:ext cx="10909361" cy="4351338"/>
              </a:xfrm>
            </p:spPr>
            <p:txBody>
              <a:bodyPr>
                <a:normAutofit/>
              </a:bodyPr>
              <a:lstStyle/>
              <a:p>
                <a:r>
                  <a:rPr lang="en-US" b="1" dirty="0"/>
                  <a:t>First stage</a:t>
                </a:r>
                <a:r>
                  <a:rPr lang="en-US" dirty="0"/>
                  <a:t>: Estimate the effect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 </m:t>
                        </m:r>
                      </m:sub>
                    </m:sSub>
                  </m:oMath>
                </a14:m>
                <a:r>
                  <a:rPr lang="en-US" dirty="0"/>
                  <a:t> on </a:t>
                </a:r>
                <a14:m>
                  <m:oMath xmlns:m="http://schemas.openxmlformats.org/officeDocument/2006/math">
                    <m:r>
                      <a:rPr lang="en-US" b="0" i="1" smtClean="0">
                        <a:latin typeface="Cambria Math" panose="02040503050406030204" pitchFamily="18" charset="0"/>
                      </a:rPr>
                      <m:t>𝑋</m:t>
                    </m:r>
                  </m:oMath>
                </a14:m>
                <a:endParaRPr lang="en-US" b="0" i="1" dirty="0">
                  <a:latin typeface="Cambria Math" panose="02040503050406030204" pitchFamily="18" charset="0"/>
                </a:endParaRPr>
              </a:p>
              <a:p>
                <a:pPr lvl="1"/>
                <a14:m>
                  <m:oMath xmlns:m="http://schemas.openxmlformats.org/officeDocument/2006/math">
                    <m:r>
                      <a:rPr lang="en-US"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r>
                          <a:rPr lang="en-US" b="0" i="1" smtClean="0">
                            <a:solidFill>
                              <a:schemeClr val="accent1"/>
                            </a:solidFill>
                            <a:latin typeface="Cambria Math" panose="02040503050406030204" pitchFamily="18" charset="0"/>
                          </a:rPr>
                          <m:t>𝑋</m:t>
                        </m:r>
                      </m:e>
                      <m:e>
                        <m:r>
                          <a:rPr lang="en-US" b="0" i="1" smtClean="0">
                            <a:solidFill>
                              <a:schemeClr val="accent1"/>
                            </a:solidFill>
                            <a:latin typeface="Cambria Math" panose="02040503050406030204" pitchFamily="18" charset="0"/>
                          </a:rPr>
                          <m:t>𝑍</m:t>
                        </m:r>
                        <m:r>
                          <a:rPr lang="en-US" i="1">
                            <a:solidFill>
                              <a:schemeClr val="accent1"/>
                            </a:solidFill>
                            <a:latin typeface="Cambria Math" panose="02040503050406030204" pitchFamily="18" charset="0"/>
                          </a:rPr>
                          <m:t>=1</m:t>
                        </m:r>
                      </m:e>
                    </m:d>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r>
                          <a:rPr lang="en-US" b="0" i="1" smtClean="0">
                            <a:solidFill>
                              <a:schemeClr val="accent1"/>
                            </a:solidFill>
                            <a:latin typeface="Cambria Math" panose="02040503050406030204" pitchFamily="18" charset="0"/>
                          </a:rPr>
                          <m:t>𝑋</m:t>
                        </m:r>
                      </m:e>
                      <m:e>
                        <m:r>
                          <a:rPr lang="en-US" b="0" i="1" smtClean="0">
                            <a:solidFill>
                              <a:schemeClr val="accent1"/>
                            </a:solidFill>
                            <a:latin typeface="Cambria Math" panose="02040503050406030204" pitchFamily="18" charset="0"/>
                            <a:ea typeface="Cambria Math" panose="02040503050406030204" pitchFamily="18" charset="0"/>
                          </a:rPr>
                          <m:t>𝑍</m:t>
                        </m:r>
                        <m:r>
                          <a:rPr lang="en-US" i="1">
                            <a:solidFill>
                              <a:schemeClr val="accent1"/>
                            </a:solidFill>
                            <a:latin typeface="Cambria Math" panose="02040503050406030204" pitchFamily="18" charset="0"/>
                            <a:ea typeface="Cambria Math" panose="02040503050406030204" pitchFamily="18" charset="0"/>
                          </a:rPr>
                          <m:t>=0</m:t>
                        </m:r>
                      </m:e>
                    </m:d>
                  </m:oMath>
                </a14:m>
                <a:endParaRPr lang="en-US" dirty="0">
                  <a:solidFill>
                    <a:schemeClr val="accent1"/>
                  </a:solidFill>
                </a:endParaRPr>
              </a:p>
              <a:p>
                <a:pPr lvl="1"/>
                <a:r>
                  <a:rPr lang="en-US" dirty="0">
                    <a:solidFill>
                      <a:schemeClr val="accent1"/>
                    </a:solidFill>
                  </a:rPr>
                  <a:t>Or we can run a regression*: </a:t>
                </a:r>
                <a14:m>
                  <m:oMath xmlns:m="http://schemas.openxmlformats.org/officeDocument/2006/math">
                    <m:r>
                      <a:rPr lang="en-US" b="0" i="1" smtClean="0">
                        <a:solidFill>
                          <a:schemeClr val="accent1"/>
                        </a:solidFill>
                        <a:latin typeface="Cambria Math" panose="02040503050406030204" pitchFamily="18" charset="0"/>
                      </a:rPr>
                      <m:t>𝑋</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𝛼</m:t>
                    </m:r>
                    <m:r>
                      <a:rPr lang="en-US" b="0" i="1" smtClean="0">
                        <a:solidFill>
                          <a:schemeClr val="accent1"/>
                        </a:solidFill>
                        <a:latin typeface="Cambria Math" panose="02040503050406030204" pitchFamily="18" charset="0"/>
                      </a:rPr>
                      <m:t>+</m:t>
                    </m:r>
                    <m:r>
                      <m:rPr>
                        <m:sty m:val="p"/>
                      </m:rPr>
                      <a:rPr lang="en-US" b="0" i="1" smtClean="0">
                        <a:solidFill>
                          <a:schemeClr val="accent1"/>
                        </a:solidFill>
                        <a:latin typeface="Cambria Math" panose="02040503050406030204" pitchFamily="18" charset="0"/>
                      </a:rPr>
                      <m:t>ϕ</m:t>
                    </m:r>
                    <m:r>
                      <a:rPr lang="en-US" b="0" i="1" smtClean="0">
                        <a:solidFill>
                          <a:schemeClr val="accent1"/>
                        </a:solidFill>
                        <a:latin typeface="Cambria Math" panose="02040503050406030204" pitchFamily="18" charset="0"/>
                      </a:rPr>
                      <m:t>𝑍</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𝛾</m:t>
                    </m:r>
                    <m:d>
                      <m:dPr>
                        <m:begChr m:val="["/>
                        <m:endChr m:val="]"/>
                        <m:ctrlPr>
                          <a:rPr lang="en-US" b="0" i="1" smtClean="0">
                            <a:solidFill>
                              <a:schemeClr val="accent1"/>
                            </a:solidFill>
                            <a:latin typeface="Cambria Math" panose="02040503050406030204" pitchFamily="18" charset="0"/>
                          </a:rPr>
                        </m:ctrlPr>
                      </m:dPr>
                      <m:e>
                        <m:r>
                          <m:rPr>
                            <m:sty m:val="p"/>
                          </m:rPr>
                          <a:rPr lang="en-US" b="0" i="0" smtClean="0">
                            <a:solidFill>
                              <a:schemeClr val="accent1"/>
                            </a:solidFill>
                            <a:latin typeface="Cambria Math" panose="02040503050406030204" pitchFamily="18" charset="0"/>
                          </a:rPr>
                          <m:t>other</m:t>
                        </m:r>
                        <m:r>
                          <a:rPr lang="en-US" b="0" i="0" smtClean="0">
                            <a:solidFill>
                              <a:schemeClr val="accent1"/>
                            </a:solidFill>
                            <a:latin typeface="Cambria Math" panose="02040503050406030204" pitchFamily="18" charset="0"/>
                          </a:rPr>
                          <m:t> </m:t>
                        </m:r>
                        <m:r>
                          <m:rPr>
                            <m:sty m:val="p"/>
                          </m:rPr>
                          <a:rPr lang="en-US" b="0" i="0" smtClean="0">
                            <a:solidFill>
                              <a:schemeClr val="accent1"/>
                            </a:solidFill>
                            <a:latin typeface="Cambria Math" panose="02040503050406030204" pitchFamily="18" charset="0"/>
                          </a:rPr>
                          <m:t>variables</m:t>
                        </m:r>
                      </m:e>
                    </m:d>
                    <m:r>
                      <a:rPr lang="en-US" b="0" i="1" smtClean="0">
                        <a:solidFill>
                          <a:schemeClr val="accent1"/>
                        </a:solidFill>
                        <a:latin typeface="Cambria Math" panose="02040503050406030204" pitchFamily="18" charset="0"/>
                      </a:rPr>
                      <m:t>+</m:t>
                    </m:r>
                    <m:r>
                      <m:rPr>
                        <m:sty m:val="p"/>
                      </m:rPr>
                      <a:rPr lang="en-US" b="0" i="0" smtClean="0">
                        <a:solidFill>
                          <a:schemeClr val="accent1"/>
                        </a:solidFill>
                        <a:latin typeface="Cambria Math" panose="02040503050406030204" pitchFamily="18" charset="0"/>
                      </a:rPr>
                      <m:t>noise</m:t>
                    </m:r>
                  </m:oMath>
                </a14:m>
                <a:endParaRPr lang="en-US" dirty="0">
                  <a:solidFill>
                    <a:schemeClr val="accent1"/>
                  </a:solidFill>
                </a:endParaRPr>
              </a:p>
              <a:p>
                <a:r>
                  <a:rPr lang="en-US" b="1" dirty="0"/>
                  <a:t>Reduced form</a:t>
                </a:r>
                <a:r>
                  <a:rPr lang="en-US" dirty="0"/>
                  <a:t>: Estimate the effect of </a:t>
                </a:r>
                <a14:m>
                  <m:oMath xmlns:m="http://schemas.openxmlformats.org/officeDocument/2006/math">
                    <m:r>
                      <a:rPr lang="en-US" b="0" i="1" smtClean="0">
                        <a:latin typeface="Cambria Math" panose="02040503050406030204" pitchFamily="18" charset="0"/>
                      </a:rPr>
                      <m:t>𝑍</m:t>
                    </m:r>
                  </m:oMath>
                </a14:m>
                <a:r>
                  <a:rPr lang="en-US" dirty="0"/>
                  <a:t> on </a:t>
                </a:r>
                <a14:m>
                  <m:oMath xmlns:m="http://schemas.openxmlformats.org/officeDocument/2006/math">
                    <m:r>
                      <a:rPr lang="en-US" b="0" i="1" smtClean="0">
                        <a:latin typeface="Cambria Math" panose="02040503050406030204" pitchFamily="18" charset="0"/>
                      </a:rPr>
                      <m:t>𝑌</m:t>
                    </m:r>
                  </m:oMath>
                </a14:m>
                <a:endParaRPr lang="en-US" dirty="0"/>
              </a:p>
              <a:p>
                <a:pPr lvl="1"/>
                <a14:m>
                  <m:oMath xmlns:m="http://schemas.openxmlformats.org/officeDocument/2006/math">
                    <m:r>
                      <a:rPr lang="en-US"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r>
                          <a:rPr lang="en-US" b="0" i="1" smtClean="0">
                            <a:solidFill>
                              <a:schemeClr val="accent1"/>
                            </a:solidFill>
                            <a:latin typeface="Cambria Math" panose="02040503050406030204" pitchFamily="18" charset="0"/>
                          </a:rPr>
                          <m:t>𝑌</m:t>
                        </m:r>
                      </m:e>
                      <m:e>
                        <m:r>
                          <a:rPr lang="en-US" b="0" i="1" smtClean="0">
                            <a:solidFill>
                              <a:schemeClr val="accent1"/>
                            </a:solidFill>
                            <a:latin typeface="Cambria Math" panose="02040503050406030204" pitchFamily="18" charset="0"/>
                          </a:rPr>
                          <m:t>𝑍</m:t>
                        </m:r>
                        <m:r>
                          <a:rPr lang="en-US" i="1">
                            <a:solidFill>
                              <a:schemeClr val="accent1"/>
                            </a:solidFill>
                            <a:latin typeface="Cambria Math" panose="02040503050406030204" pitchFamily="18" charset="0"/>
                          </a:rPr>
                          <m:t>=1</m:t>
                        </m:r>
                      </m:e>
                    </m:d>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r>
                          <a:rPr lang="en-US" b="0" i="1" smtClean="0">
                            <a:solidFill>
                              <a:schemeClr val="accent1"/>
                            </a:solidFill>
                            <a:latin typeface="Cambria Math" panose="02040503050406030204" pitchFamily="18" charset="0"/>
                          </a:rPr>
                          <m:t>𝑌</m:t>
                        </m:r>
                      </m:e>
                      <m:e>
                        <m:r>
                          <a:rPr lang="en-US" b="0" i="1" smtClean="0">
                            <a:solidFill>
                              <a:schemeClr val="accent1"/>
                            </a:solidFill>
                            <a:latin typeface="Cambria Math" panose="02040503050406030204" pitchFamily="18" charset="0"/>
                            <a:ea typeface="Cambria Math" panose="02040503050406030204" pitchFamily="18" charset="0"/>
                          </a:rPr>
                          <m:t>𝑍</m:t>
                        </m:r>
                        <m:r>
                          <a:rPr lang="en-US" i="1">
                            <a:solidFill>
                              <a:schemeClr val="accent1"/>
                            </a:solidFill>
                            <a:latin typeface="Cambria Math" panose="02040503050406030204" pitchFamily="18" charset="0"/>
                            <a:ea typeface="Cambria Math" panose="02040503050406030204" pitchFamily="18" charset="0"/>
                          </a:rPr>
                          <m:t>=0</m:t>
                        </m:r>
                      </m:e>
                    </m:d>
                  </m:oMath>
                </a14:m>
                <a:endParaRPr lang="en-US" dirty="0"/>
              </a:p>
              <a:p>
                <a:pPr lvl="1"/>
                <a:r>
                  <a:rPr lang="en-US" dirty="0">
                    <a:solidFill>
                      <a:schemeClr val="accent1"/>
                    </a:solidFill>
                  </a:rPr>
                  <a:t>Or we can run a regression*: </a:t>
                </a:r>
                <a14:m>
                  <m:oMath xmlns:m="http://schemas.openxmlformats.org/officeDocument/2006/math">
                    <m:r>
                      <a:rPr lang="en-US" b="0" i="1" smtClean="0">
                        <a:solidFill>
                          <a:schemeClr val="accent1"/>
                        </a:solidFill>
                        <a:latin typeface="Cambria Math" panose="02040503050406030204" pitchFamily="18" charset="0"/>
                      </a:rPr>
                      <m:t>𝑌</m:t>
                    </m:r>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rPr>
                      <m:t>𝛼</m:t>
                    </m:r>
                    <m:r>
                      <a:rPr lang="en-US" b="0" i="1" smtClean="0">
                        <a:solidFill>
                          <a:schemeClr val="accent1"/>
                        </a:solidFill>
                        <a:latin typeface="Cambria Math" panose="02040503050406030204" pitchFamily="18" charset="0"/>
                      </a:rPr>
                      <m:t>′</m:t>
                    </m:r>
                    <m:r>
                      <a:rPr lang="en-US" i="1">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𝜌</m:t>
                    </m:r>
                    <m:r>
                      <a:rPr lang="en-US" i="1">
                        <a:solidFill>
                          <a:schemeClr val="accent1"/>
                        </a:solidFill>
                        <a:latin typeface="Cambria Math" panose="02040503050406030204" pitchFamily="18" charset="0"/>
                      </a:rPr>
                      <m:t>𝑍</m:t>
                    </m:r>
                    <m:r>
                      <a:rPr lang="en-US" i="1">
                        <a:solidFill>
                          <a:schemeClr val="accent1"/>
                        </a:solidFill>
                        <a:latin typeface="Cambria Math" panose="02040503050406030204" pitchFamily="18" charset="0"/>
                      </a:rPr>
                      <m:t>+</m:t>
                    </m:r>
                    <m:r>
                      <a:rPr lang="en-US" i="1">
                        <a:solidFill>
                          <a:schemeClr val="accent1"/>
                        </a:solidFill>
                        <a:latin typeface="Cambria Math" panose="02040503050406030204" pitchFamily="18" charset="0"/>
                      </a:rPr>
                      <m:t>𝛾</m:t>
                    </m:r>
                    <m:r>
                      <a:rPr lang="en-US" b="0" i="1" smtClean="0">
                        <a:solidFill>
                          <a:schemeClr val="accent1"/>
                        </a:solidFill>
                        <a:latin typeface="Cambria Math" panose="02040503050406030204" pitchFamily="18" charset="0"/>
                      </a:rPr>
                      <m:t>′</m:t>
                    </m:r>
                    <m:d>
                      <m:dPr>
                        <m:begChr m:val="["/>
                        <m:endChr m:val="]"/>
                        <m:ctrlPr>
                          <a:rPr lang="en-US" i="1">
                            <a:solidFill>
                              <a:schemeClr val="accent1"/>
                            </a:solidFill>
                            <a:latin typeface="Cambria Math" panose="02040503050406030204" pitchFamily="18" charset="0"/>
                          </a:rPr>
                        </m:ctrlPr>
                      </m:dPr>
                      <m:e>
                        <m:r>
                          <m:rPr>
                            <m:sty m:val="p"/>
                          </m:rPr>
                          <a:rPr lang="en-US" b="0" i="0" smtClean="0">
                            <a:solidFill>
                              <a:schemeClr val="accent1"/>
                            </a:solidFill>
                            <a:latin typeface="Cambria Math" panose="02040503050406030204" pitchFamily="18" charset="0"/>
                          </a:rPr>
                          <m:t>other</m:t>
                        </m:r>
                        <m:r>
                          <a:rPr lang="en-US" b="0" i="0" smtClean="0">
                            <a:solidFill>
                              <a:schemeClr val="accent1"/>
                            </a:solidFill>
                            <a:latin typeface="Cambria Math" panose="02040503050406030204" pitchFamily="18" charset="0"/>
                          </a:rPr>
                          <m:t> </m:t>
                        </m:r>
                        <m:r>
                          <m:rPr>
                            <m:sty m:val="p"/>
                          </m:rPr>
                          <a:rPr lang="en-US" b="0" i="0" smtClean="0">
                            <a:solidFill>
                              <a:schemeClr val="accent1"/>
                            </a:solidFill>
                            <a:latin typeface="Cambria Math" panose="02040503050406030204" pitchFamily="18" charset="0"/>
                          </a:rPr>
                          <m:t>variables</m:t>
                        </m:r>
                      </m:e>
                    </m:d>
                    <m:r>
                      <a:rPr lang="en-US" i="1">
                        <a:solidFill>
                          <a:schemeClr val="accent1"/>
                        </a:solidFill>
                        <a:latin typeface="Cambria Math" panose="02040503050406030204" pitchFamily="18" charset="0"/>
                      </a:rPr>
                      <m:t>+</m:t>
                    </m:r>
                    <m:r>
                      <m:rPr>
                        <m:sty m:val="p"/>
                      </m:rPr>
                      <a:rPr lang="en-US">
                        <a:solidFill>
                          <a:schemeClr val="accent1"/>
                        </a:solidFill>
                        <a:latin typeface="Cambria Math" panose="02040503050406030204" pitchFamily="18" charset="0"/>
                      </a:rPr>
                      <m:t>noise</m:t>
                    </m:r>
                  </m:oMath>
                </a14:m>
                <a:endParaRPr lang="en-US" dirty="0">
                  <a:solidFill>
                    <a:schemeClr val="accent1"/>
                  </a:solidFill>
                </a:endParaRPr>
              </a:p>
              <a:p>
                <a:pPr lvl="1"/>
                <a:endParaRPr lang="en-US" dirty="0"/>
              </a:p>
              <a:p>
                <a:r>
                  <a:rPr lang="en-US" b="1" dirty="0"/>
                  <a:t>Wald estimator</a:t>
                </a:r>
                <a:r>
                  <a:rPr lang="en-US" dirty="0"/>
                  <a:t>: Divide the reduced form by the first stage to estimate the LATE of this natural experiment.</a:t>
                </a:r>
              </a:p>
              <a:p>
                <a:endParaRPr lang="en-US" dirty="0"/>
              </a:p>
            </p:txBody>
          </p:sp>
        </mc:Choice>
        <mc:Fallback xmlns="">
          <p:sp>
            <p:nvSpPr>
              <p:cNvPr id="3" name="Content Placeholder 2">
                <a:extLst>
                  <a:ext uri="{FF2B5EF4-FFF2-40B4-BE49-F238E27FC236}">
                    <a16:creationId xmlns:a16="http://schemas.microsoft.com/office/drawing/2014/main" id="{4AB39D2E-439E-F9B5-1DFB-C38A2EF6F9ED}"/>
                  </a:ext>
                </a:extLst>
              </p:cNvPr>
              <p:cNvSpPr>
                <a:spLocks noGrp="1" noRot="1" noChangeAspect="1" noMove="1" noResize="1" noEditPoints="1" noAdjustHandles="1" noChangeArrowheads="1" noChangeShapeType="1" noTextEdit="1"/>
              </p:cNvSpPr>
              <p:nvPr>
                <p:ph idx="1"/>
              </p:nvPr>
            </p:nvSpPr>
            <p:spPr>
              <a:xfrm>
                <a:off x="838199" y="1825625"/>
                <a:ext cx="10909361" cy="4351338"/>
              </a:xfrm>
              <a:blipFill>
                <a:blip r:embed="rId3"/>
                <a:stretch>
                  <a:fillRect l="-930" t="-2616"/>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F915D5B6-25D7-7164-46A6-FD425C03AF04}"/>
              </a:ext>
            </a:extLst>
          </p:cNvPr>
          <p:cNvGrpSpPr/>
          <p:nvPr/>
        </p:nvGrpSpPr>
        <p:grpSpPr>
          <a:xfrm>
            <a:off x="6121156" y="34706"/>
            <a:ext cx="5923208" cy="1427102"/>
            <a:chOff x="838200" y="4327742"/>
            <a:chExt cx="10041383" cy="241931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C0D79B8-950E-DFF1-4D34-B68E9F8B8564}"/>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𝑋</m:t>
                        </m:r>
                      </m:oMath>
                    </m:oMathPara>
                  </a14:m>
                  <a:endParaRPr lang="en-US" sz="4000" dirty="0"/>
                </a:p>
              </p:txBody>
            </p:sp>
          </mc:Choice>
          <mc:Fallback xmlns="">
            <p:sp>
              <p:nvSpPr>
                <p:cNvPr id="5" name="Oval 4">
                  <a:extLst>
                    <a:ext uri="{FF2B5EF4-FFF2-40B4-BE49-F238E27FC236}">
                      <a16:creationId xmlns:a16="http://schemas.microsoft.com/office/drawing/2014/main" id="{4C0D79B8-950E-DFF1-4D34-B68E9F8B8564}"/>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151AF182-7BA1-E789-318B-46F1D1BB91D3}"/>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𝑌</m:t>
                        </m:r>
                      </m:oMath>
                    </m:oMathPara>
                  </a14:m>
                  <a:endParaRPr lang="en-US" sz="4000" dirty="0"/>
                </a:p>
              </p:txBody>
            </p:sp>
          </mc:Choice>
          <mc:Fallback xmlns="">
            <p:sp>
              <p:nvSpPr>
                <p:cNvPr id="6" name="Oval 5">
                  <a:extLst>
                    <a:ext uri="{FF2B5EF4-FFF2-40B4-BE49-F238E27FC236}">
                      <a16:creationId xmlns:a16="http://schemas.microsoft.com/office/drawing/2014/main" id="{151AF182-7BA1-E789-318B-46F1D1BB91D3}"/>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0474D666-899F-FAC4-8FB6-3079E4AB560C}"/>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7" name="Oval 6">
                  <a:extLst>
                    <a:ext uri="{FF2B5EF4-FFF2-40B4-BE49-F238E27FC236}">
                      <a16:creationId xmlns:a16="http://schemas.microsoft.com/office/drawing/2014/main" id="{0474D666-899F-FAC4-8FB6-3079E4AB560C}"/>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1E98C47A-39F4-F277-18C7-F209040D38BB}"/>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C89BDCD-F9F5-30ED-28A5-F1C15A0FEB08}"/>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EE6D7361-5EE0-7E90-8760-E82DB99AD3AA}"/>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C43A3530-BB64-833E-522D-B0CE6A4F72BC}"/>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22BBF9E1-6255-AEA2-53DF-39D0C1C7AC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7211FFD-E916-D51D-4CB1-4C167693D869}"/>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sp>
        <p:nvSpPr>
          <p:cNvPr id="4" name="TextBox 3">
            <a:extLst>
              <a:ext uri="{FF2B5EF4-FFF2-40B4-BE49-F238E27FC236}">
                <a16:creationId xmlns:a16="http://schemas.microsoft.com/office/drawing/2014/main" id="{F4D3C087-F779-13E8-A5BF-B38A21F8B2A0}"/>
              </a:ext>
            </a:extLst>
          </p:cNvPr>
          <p:cNvSpPr txBox="1"/>
          <p:nvPr/>
        </p:nvSpPr>
        <p:spPr>
          <a:xfrm>
            <a:off x="400050" y="6452155"/>
            <a:ext cx="2475165" cy="369332"/>
          </a:xfrm>
          <a:prstGeom prst="rect">
            <a:avLst/>
          </a:prstGeom>
          <a:noFill/>
        </p:spPr>
        <p:txBody>
          <a:bodyPr wrap="none" rtlCol="0">
            <a:spAutoFit/>
          </a:bodyPr>
          <a:lstStyle/>
          <a:p>
            <a:r>
              <a:rPr lang="en-US" dirty="0">
                <a:solidFill>
                  <a:schemeClr val="accent1"/>
                </a:solidFill>
              </a:rPr>
              <a:t>*More on this next time</a:t>
            </a:r>
          </a:p>
        </p:txBody>
      </p:sp>
    </p:spTree>
    <p:extLst>
      <p:ext uri="{BB962C8B-B14F-4D97-AF65-F5344CB8AC3E}">
        <p14:creationId xmlns:p14="http://schemas.microsoft.com/office/powerpoint/2010/main" val="194244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7B55-37AC-68CA-B1E2-010E1BD86E5E}"/>
              </a:ext>
            </a:extLst>
          </p:cNvPr>
          <p:cNvSpPr>
            <a:spLocks noGrp="1"/>
          </p:cNvSpPr>
          <p:nvPr>
            <p:ph type="title"/>
          </p:nvPr>
        </p:nvSpPr>
        <p:spPr>
          <a:xfrm>
            <a:off x="838200" y="365126"/>
            <a:ext cx="5434823" cy="1293194"/>
          </a:xfrm>
        </p:spPr>
        <p:txBody>
          <a:bodyPr>
            <a:normAutofit fontScale="90000"/>
          </a:bodyPr>
          <a:lstStyle/>
          <a:p>
            <a:r>
              <a:rPr lang="en-US" dirty="0"/>
              <a:t>Let’s look at each of these assumptions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161852-FC72-D470-CF9A-DAC16F19369D}"/>
                  </a:ext>
                </a:extLst>
              </p:cNvPr>
              <p:cNvSpPr>
                <a:spLocks noGrp="1"/>
              </p:cNvSpPr>
              <p:nvPr>
                <p:ph idx="1"/>
              </p:nvPr>
            </p:nvSpPr>
            <p:spPr>
              <a:xfrm>
                <a:off x="838200" y="1877442"/>
                <a:ext cx="10515600" cy="4351338"/>
              </a:xfrm>
            </p:spPr>
            <p:txBody>
              <a:bodyPr/>
              <a:lstStyle/>
              <a:p>
                <a:r>
                  <a:rPr lang="en-US" b="1" dirty="0"/>
                  <a:t>Relevance: </a:t>
                </a:r>
                <a:r>
                  <a:rPr lang="en-US" dirty="0"/>
                  <a:t>Changing </a:t>
                </a:r>
                <a14:m>
                  <m:oMath xmlns:m="http://schemas.openxmlformats.org/officeDocument/2006/math">
                    <m:r>
                      <a:rPr lang="en-US" i="1">
                        <a:latin typeface="Cambria Math" panose="02040503050406030204" pitchFamily="18" charset="0"/>
                      </a:rPr>
                      <m:t>𝑍</m:t>
                    </m:r>
                  </m:oMath>
                </a14:m>
                <a:r>
                  <a:rPr lang="en-US" dirty="0"/>
                  <a:t> should change </a:t>
                </a:r>
                <a14:m>
                  <m:oMath xmlns:m="http://schemas.openxmlformats.org/officeDocument/2006/math">
                    <m:r>
                      <a:rPr lang="en-US" i="1">
                        <a:latin typeface="Cambria Math" panose="02040503050406030204" pitchFamily="18" charset="0"/>
                      </a:rPr>
                      <m:t>𝑋</m:t>
                    </m:r>
                  </m:oMath>
                </a14:m>
                <a:r>
                  <a:rPr lang="en-US" dirty="0"/>
                  <a:t>.</a:t>
                </a:r>
              </a:p>
              <a:p>
                <a:pPr lvl="1"/>
                <a:r>
                  <a:rPr lang="en-US" dirty="0">
                    <a:solidFill>
                      <a:schemeClr val="accent1"/>
                    </a:solidFill>
                  </a:rPr>
                  <a:t>Otherwise, what’s the point?</a:t>
                </a:r>
              </a:p>
              <a:p>
                <a:r>
                  <a:rPr lang="en-US" b="1" dirty="0"/>
                  <a:t>Independence</a:t>
                </a:r>
                <a:r>
                  <a:rPr lang="en-US" dirty="0"/>
                  <a:t>: </a:t>
                </a:r>
                <a14:m>
                  <m:oMath xmlns:m="http://schemas.openxmlformats.org/officeDocument/2006/math">
                    <m:r>
                      <a:rPr lang="en-US" i="1">
                        <a:latin typeface="Cambria Math" panose="02040503050406030204" pitchFamily="18" charset="0"/>
                      </a:rPr>
                      <m:t>𝑍</m:t>
                    </m:r>
                  </m:oMath>
                </a14:m>
                <a:r>
                  <a:rPr lang="en-US" dirty="0"/>
                  <a:t> is “random” with respect to </a:t>
                </a:r>
                <a14:m>
                  <m:oMath xmlns:m="http://schemas.openxmlformats.org/officeDocument/2006/math">
                    <m:r>
                      <a:rPr lang="en-US" i="1">
                        <a:latin typeface="Cambria Math" panose="02040503050406030204" pitchFamily="18" charset="0"/>
                      </a:rPr>
                      <m:t>𝑌</m:t>
                    </m:r>
                  </m:oMath>
                </a14:m>
                <a:endParaRPr lang="en-US" b="1" dirty="0"/>
              </a:p>
              <a:p>
                <a:pPr lvl="1"/>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𝑍</m:t>
                        </m:r>
                      </m:e>
                      <m:sub>
                        <m:r>
                          <a:rPr lang="en-US" i="1">
                            <a:solidFill>
                              <a:schemeClr val="accent1"/>
                            </a:solidFill>
                            <a:latin typeface="Cambria Math" panose="02040503050406030204" pitchFamily="18" charset="0"/>
                          </a:rPr>
                          <m:t>𝑖</m:t>
                        </m:r>
                      </m:sub>
                    </m:sSub>
                    <m:r>
                      <a:rPr lang="en-US" i="1">
                        <a:solidFill>
                          <a:schemeClr val="accent1"/>
                        </a:solidFill>
                        <a:latin typeface="Cambria Math" panose="02040503050406030204" pitchFamily="18" charset="0"/>
                      </a:rPr>
                      <m:t> </m:t>
                    </m:r>
                  </m:oMath>
                </a14:m>
                <a:r>
                  <a:rPr lang="en-US" dirty="0">
                    <a:solidFill>
                      <a:schemeClr val="accent1"/>
                    </a:solidFill>
                  </a:rPr>
                  <a:t>shouldn’t tell you anything about the potential outcomes </a:t>
                </a: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𝑌</m:t>
                        </m:r>
                      </m:e>
                      <m:sub>
                        <m:r>
                          <a:rPr lang="en-US" i="1">
                            <a:solidFill>
                              <a:schemeClr val="accent1"/>
                            </a:solidFill>
                            <a:latin typeface="Cambria Math" panose="02040503050406030204" pitchFamily="18" charset="0"/>
                          </a:rPr>
                          <m:t>𝑖</m:t>
                        </m:r>
                      </m:sub>
                    </m:sSub>
                    <m:d>
                      <m:dPr>
                        <m:ctrlPr>
                          <a:rPr lang="en-US" i="1">
                            <a:solidFill>
                              <a:schemeClr val="accent1"/>
                            </a:solidFill>
                            <a:latin typeface="Cambria Math" panose="02040503050406030204" pitchFamily="18" charset="0"/>
                          </a:rPr>
                        </m:ctrlPr>
                      </m:dPr>
                      <m:e>
                        <m:r>
                          <a:rPr lang="en-US" i="1">
                            <a:solidFill>
                              <a:schemeClr val="accent1"/>
                            </a:solidFill>
                            <a:latin typeface="Cambria Math" panose="02040503050406030204" pitchFamily="18" charset="0"/>
                          </a:rPr>
                          <m:t>0</m:t>
                        </m:r>
                      </m:e>
                    </m:d>
                    <m:r>
                      <a:rPr lang="en-US" i="1">
                        <a:solidFill>
                          <a:schemeClr val="accent1"/>
                        </a:solidFill>
                        <a:latin typeface="Cambria Math" panose="02040503050406030204" pitchFamily="18" charset="0"/>
                      </a:rPr>
                      <m:t>, </m:t>
                    </m:r>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𝑌</m:t>
                        </m:r>
                      </m:e>
                      <m:sub>
                        <m:r>
                          <a:rPr lang="en-US" i="1">
                            <a:solidFill>
                              <a:schemeClr val="accent1"/>
                            </a:solidFill>
                            <a:latin typeface="Cambria Math" panose="02040503050406030204" pitchFamily="18" charset="0"/>
                          </a:rPr>
                          <m:t>𝑖</m:t>
                        </m:r>
                      </m:sub>
                    </m:sSub>
                    <m:r>
                      <a:rPr lang="en-US" i="1">
                        <a:solidFill>
                          <a:schemeClr val="accent1"/>
                        </a:solidFill>
                        <a:latin typeface="Cambria Math" panose="02040503050406030204" pitchFamily="18" charset="0"/>
                      </a:rPr>
                      <m:t>(1)</m:t>
                    </m:r>
                  </m:oMath>
                </a14:m>
                <a:endParaRPr lang="en-US" dirty="0">
                  <a:solidFill>
                    <a:schemeClr val="accent1"/>
                  </a:solidFill>
                </a:endParaRPr>
              </a:p>
              <a:p>
                <a:r>
                  <a:rPr lang="en-US" b="1" dirty="0"/>
                  <a:t>Exclusion</a:t>
                </a:r>
                <a:r>
                  <a:rPr lang="en-US" dirty="0"/>
                  <a:t>: </a:t>
                </a:r>
                <a14:m>
                  <m:oMath xmlns:m="http://schemas.openxmlformats.org/officeDocument/2006/math">
                    <m:r>
                      <a:rPr lang="en-US" i="1">
                        <a:latin typeface="Cambria Math" panose="02040503050406030204" pitchFamily="18" charset="0"/>
                      </a:rPr>
                      <m:t>𝑍</m:t>
                    </m:r>
                  </m:oMath>
                </a14:m>
                <a:r>
                  <a:rPr lang="en-US" dirty="0"/>
                  <a:t> shouldn’t affect </a:t>
                </a:r>
                <a14:m>
                  <m:oMath xmlns:m="http://schemas.openxmlformats.org/officeDocument/2006/math">
                    <m:r>
                      <a:rPr lang="en-US" i="1">
                        <a:latin typeface="Cambria Math" panose="02040503050406030204" pitchFamily="18" charset="0"/>
                      </a:rPr>
                      <m:t>𝑌</m:t>
                    </m:r>
                  </m:oMath>
                </a14:m>
                <a:r>
                  <a:rPr lang="en-US" dirty="0"/>
                  <a:t> except through </a:t>
                </a:r>
                <a14:m>
                  <m:oMath xmlns:m="http://schemas.openxmlformats.org/officeDocument/2006/math">
                    <m:r>
                      <a:rPr lang="en-US" i="1">
                        <a:latin typeface="Cambria Math" panose="02040503050406030204" pitchFamily="18" charset="0"/>
                      </a:rPr>
                      <m:t>𝑋</m:t>
                    </m:r>
                  </m:oMath>
                </a14:m>
                <a:endParaRPr lang="en-US" dirty="0"/>
              </a:p>
              <a:p>
                <a:pPr lvl="1"/>
                <a14:m>
                  <m:oMath xmlns:m="http://schemas.openxmlformats.org/officeDocument/2006/math">
                    <m:r>
                      <a:rPr lang="en-US" i="1" dirty="0">
                        <a:solidFill>
                          <a:schemeClr val="accent1"/>
                        </a:solidFill>
                        <a:latin typeface="Cambria Math" panose="02040503050406030204" pitchFamily="18" charset="0"/>
                      </a:rPr>
                      <m:t>𝑌</m:t>
                    </m:r>
                  </m:oMath>
                </a14:m>
                <a:r>
                  <a:rPr lang="en-US" dirty="0">
                    <a:solidFill>
                      <a:schemeClr val="accent1"/>
                    </a:solidFill>
                  </a:rPr>
                  <a:t> should be a function of </a:t>
                </a:r>
                <a14:m>
                  <m:oMath xmlns:m="http://schemas.openxmlformats.org/officeDocument/2006/math">
                    <m:r>
                      <a:rPr lang="en-US" i="1" dirty="0">
                        <a:solidFill>
                          <a:schemeClr val="accent1"/>
                        </a:solidFill>
                        <a:latin typeface="Cambria Math" panose="02040503050406030204" pitchFamily="18" charset="0"/>
                      </a:rPr>
                      <m:t>𝑋</m:t>
                    </m:r>
                  </m:oMath>
                </a14:m>
                <a:r>
                  <a:rPr lang="en-US" dirty="0">
                    <a:solidFill>
                      <a:schemeClr val="accent1"/>
                    </a:solidFill>
                  </a:rPr>
                  <a:t>, not of </a:t>
                </a:r>
                <a14:m>
                  <m:oMath xmlns:m="http://schemas.openxmlformats.org/officeDocument/2006/math">
                    <m:r>
                      <a:rPr lang="en-US" i="1">
                        <a:solidFill>
                          <a:schemeClr val="accent1"/>
                        </a:solidFill>
                        <a:latin typeface="Cambria Math" panose="02040503050406030204" pitchFamily="18" charset="0"/>
                      </a:rPr>
                      <m:t>𝑋</m:t>
                    </m:r>
                  </m:oMath>
                </a14:m>
                <a:r>
                  <a:rPr lang="en-US" dirty="0">
                    <a:solidFill>
                      <a:schemeClr val="accent1"/>
                    </a:solidFill>
                  </a:rPr>
                  <a:t> </a:t>
                </a:r>
                <a:r>
                  <a:rPr lang="en-US" i="1" dirty="0">
                    <a:solidFill>
                      <a:schemeClr val="accent1"/>
                    </a:solidFill>
                  </a:rPr>
                  <a:t>and</a:t>
                </a:r>
                <a:r>
                  <a:rPr lang="en-US" dirty="0">
                    <a:solidFill>
                      <a:schemeClr val="accent1"/>
                    </a:solidFill>
                  </a:rPr>
                  <a:t> </a:t>
                </a:r>
                <a14:m>
                  <m:oMath xmlns:m="http://schemas.openxmlformats.org/officeDocument/2006/math">
                    <m:r>
                      <a:rPr lang="en-US" i="1" dirty="0">
                        <a:solidFill>
                          <a:schemeClr val="accent1"/>
                        </a:solidFill>
                        <a:latin typeface="Cambria Math" panose="02040503050406030204" pitchFamily="18" charset="0"/>
                      </a:rPr>
                      <m:t>𝑍</m:t>
                    </m:r>
                  </m:oMath>
                </a14:m>
                <a:endParaRPr lang="en-US" dirty="0">
                  <a:solidFill>
                    <a:schemeClr val="accent1"/>
                  </a:solidFill>
                </a:endParaRPr>
              </a:p>
              <a:p>
                <a:r>
                  <a:rPr lang="en-US" dirty="0">
                    <a:solidFill>
                      <a:schemeClr val="accent1"/>
                    </a:solidFill>
                  </a:rPr>
                  <a:t> </a:t>
                </a:r>
                <a:r>
                  <a:rPr lang="en-US" b="1" dirty="0"/>
                  <a:t>Monotonicity</a:t>
                </a:r>
                <a:r>
                  <a:rPr lang="en-US" dirty="0"/>
                  <a:t>: No defiers! </a:t>
                </a:r>
              </a:p>
              <a:p>
                <a:pPr lvl="1"/>
                <a14:m>
                  <m:oMath xmlns:m="http://schemas.openxmlformats.org/officeDocument/2006/math">
                    <m:r>
                      <a:rPr lang="en-US" i="1">
                        <a:solidFill>
                          <a:schemeClr val="accent1"/>
                        </a:solidFill>
                        <a:latin typeface="Cambria Math" panose="02040503050406030204" pitchFamily="18" charset="0"/>
                      </a:rPr>
                      <m:t>𝑍</m:t>
                    </m:r>
                  </m:oMath>
                </a14:m>
                <a:r>
                  <a:rPr lang="en-US" dirty="0">
                    <a:solidFill>
                      <a:schemeClr val="accent1"/>
                    </a:solidFill>
                  </a:rPr>
                  <a:t> shouldn’t increase </a:t>
                </a:r>
                <a14:m>
                  <m:oMath xmlns:m="http://schemas.openxmlformats.org/officeDocument/2006/math">
                    <m:r>
                      <a:rPr lang="en-US" i="1">
                        <a:solidFill>
                          <a:schemeClr val="accent1"/>
                        </a:solidFill>
                        <a:latin typeface="Cambria Math" panose="02040503050406030204" pitchFamily="18" charset="0"/>
                      </a:rPr>
                      <m:t>𝑋</m:t>
                    </m:r>
                  </m:oMath>
                </a14:m>
                <a:r>
                  <a:rPr lang="en-US" dirty="0">
                    <a:solidFill>
                      <a:schemeClr val="accent1"/>
                    </a:solidFill>
                  </a:rPr>
                  <a:t> for some people and decrease it for others.</a:t>
                </a:r>
              </a:p>
              <a:p>
                <a:endParaRPr lang="en-US" dirty="0"/>
              </a:p>
            </p:txBody>
          </p:sp>
        </mc:Choice>
        <mc:Fallback>
          <p:sp>
            <p:nvSpPr>
              <p:cNvPr id="3" name="Content Placeholder 2">
                <a:extLst>
                  <a:ext uri="{FF2B5EF4-FFF2-40B4-BE49-F238E27FC236}">
                    <a16:creationId xmlns:a16="http://schemas.microsoft.com/office/drawing/2014/main" id="{06161852-FC72-D470-CF9A-DAC16F19369D}"/>
                  </a:ext>
                </a:extLst>
              </p:cNvPr>
              <p:cNvSpPr>
                <a:spLocks noGrp="1" noRot="1" noChangeAspect="1" noMove="1" noResize="1" noEditPoints="1" noAdjustHandles="1" noChangeArrowheads="1" noChangeShapeType="1" noTextEdit="1"/>
              </p:cNvSpPr>
              <p:nvPr>
                <p:ph idx="1"/>
              </p:nvPr>
            </p:nvSpPr>
            <p:spPr>
              <a:xfrm>
                <a:off x="838200" y="1877442"/>
                <a:ext cx="10515600" cy="4351338"/>
              </a:xfrm>
              <a:blipFill>
                <a:blip r:embed="rId3"/>
                <a:stretch>
                  <a:fillRect l="-1086" t="-2326"/>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4D4FAD15-BD21-2781-353B-C60C0E1531AB}"/>
              </a:ext>
            </a:extLst>
          </p:cNvPr>
          <p:cNvGrpSpPr/>
          <p:nvPr/>
        </p:nvGrpSpPr>
        <p:grpSpPr>
          <a:xfrm>
            <a:off x="6121156" y="34706"/>
            <a:ext cx="5923208" cy="1427102"/>
            <a:chOff x="838200" y="4327742"/>
            <a:chExt cx="10041383" cy="241931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FFCF23A9-FD7D-47A5-8113-D269C08D8060}"/>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𝑋</m:t>
                        </m:r>
                      </m:oMath>
                    </m:oMathPara>
                  </a14:m>
                  <a:endParaRPr lang="en-US" sz="4000" dirty="0"/>
                </a:p>
              </p:txBody>
            </p:sp>
          </mc:Choice>
          <mc:Fallback xmlns="">
            <p:sp>
              <p:nvSpPr>
                <p:cNvPr id="5" name="Oval 4">
                  <a:extLst>
                    <a:ext uri="{FF2B5EF4-FFF2-40B4-BE49-F238E27FC236}">
                      <a16:creationId xmlns:a16="http://schemas.microsoft.com/office/drawing/2014/main" id="{FFCF23A9-FD7D-47A5-8113-D269C08D8060}"/>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E18CB7F9-DB1C-EB88-03BB-F13218883447}"/>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𝑌</m:t>
                        </m:r>
                      </m:oMath>
                    </m:oMathPara>
                  </a14:m>
                  <a:endParaRPr lang="en-US" sz="4000" dirty="0"/>
                </a:p>
              </p:txBody>
            </p:sp>
          </mc:Choice>
          <mc:Fallback xmlns="">
            <p:sp>
              <p:nvSpPr>
                <p:cNvPr id="6" name="Oval 5">
                  <a:extLst>
                    <a:ext uri="{FF2B5EF4-FFF2-40B4-BE49-F238E27FC236}">
                      <a16:creationId xmlns:a16="http://schemas.microsoft.com/office/drawing/2014/main" id="{E18CB7F9-DB1C-EB88-03BB-F13218883447}"/>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814BEEC0-8CDD-FF4C-0FD3-8794D6B3F39F}"/>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dirty="0" smtClean="0">
                            <a:latin typeface="Cambria Math" panose="02040503050406030204" pitchFamily="18" charset="0"/>
                          </a:rPr>
                          <m:t>𝑍</m:t>
                        </m:r>
                      </m:oMath>
                    </m:oMathPara>
                  </a14:m>
                  <a:endParaRPr lang="en-US" sz="4000" dirty="0"/>
                </a:p>
              </p:txBody>
            </p:sp>
          </mc:Choice>
          <mc:Fallback xmlns="">
            <p:sp>
              <p:nvSpPr>
                <p:cNvPr id="7" name="Oval 6">
                  <a:extLst>
                    <a:ext uri="{FF2B5EF4-FFF2-40B4-BE49-F238E27FC236}">
                      <a16:creationId xmlns:a16="http://schemas.microsoft.com/office/drawing/2014/main" id="{814BEEC0-8CDD-FF4C-0FD3-8794D6B3F39F}"/>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6DD99F5A-2BE8-1188-0AE9-C2FFEFEFC6EE}"/>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C4DCCC7-1219-C335-E821-B1B12008A847}"/>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A00F7DCA-17E9-CD7C-7065-CE4F20972DE2}"/>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12358F1F-CE9F-D26B-C414-4814D304E11E}"/>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1F56B0BC-3CAB-FE61-64E3-9534277F19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D88869F-E9C2-C0D8-56ED-4EF07FF9E072}"/>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spTree>
    <p:extLst>
      <p:ext uri="{BB962C8B-B14F-4D97-AF65-F5344CB8AC3E}">
        <p14:creationId xmlns:p14="http://schemas.microsoft.com/office/powerpoint/2010/main" val="42467049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A1957-7F24-4D7A-E2E1-3207886039CD}"/>
              </a:ext>
            </a:extLst>
          </p:cNvPr>
          <p:cNvSpPr>
            <a:spLocks noGrp="1"/>
          </p:cNvSpPr>
          <p:nvPr>
            <p:ph type="title"/>
          </p:nvPr>
        </p:nvSpPr>
        <p:spPr>
          <a:xfrm>
            <a:off x="737677" y="286654"/>
            <a:ext cx="9468173" cy="1325563"/>
          </a:xfrm>
        </p:spPr>
        <p:txBody>
          <a:bodyPr>
            <a:normAutofit fontScale="90000"/>
          </a:bodyPr>
          <a:lstStyle/>
          <a:p>
            <a:r>
              <a:rPr lang="en-US" dirty="0"/>
              <a:t>For each of these examples, </a:t>
            </a:r>
            <a:br>
              <a:rPr lang="en-US" dirty="0"/>
            </a:br>
            <a:r>
              <a:rPr lang="en-US" dirty="0"/>
              <a:t>  assess each of the four requirements!</a:t>
            </a:r>
          </a:p>
        </p:txBody>
      </p:sp>
      <p:sp>
        <p:nvSpPr>
          <p:cNvPr id="15" name="Rectangle 14">
            <a:extLst>
              <a:ext uri="{FF2B5EF4-FFF2-40B4-BE49-F238E27FC236}">
                <a16:creationId xmlns:a16="http://schemas.microsoft.com/office/drawing/2014/main" id="{A195315E-E30B-23F9-66CF-E4302A277B9D}"/>
              </a:ext>
            </a:extLst>
          </p:cNvPr>
          <p:cNvSpPr/>
          <p:nvPr/>
        </p:nvSpPr>
        <p:spPr>
          <a:xfrm>
            <a:off x="8460664" y="5610386"/>
            <a:ext cx="3731336" cy="12476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DF915EA-4331-E5DA-7B71-130E6C9B5162}"/>
                  </a:ext>
                </a:extLst>
              </p:cNvPr>
              <p:cNvSpPr>
                <a:spLocks noGrp="1"/>
              </p:cNvSpPr>
              <p:nvPr>
                <p:ph idx="1"/>
              </p:nvPr>
            </p:nvSpPr>
            <p:spPr>
              <a:xfrm>
                <a:off x="737677" y="1821739"/>
                <a:ext cx="10515600" cy="5412025"/>
              </a:xfrm>
            </p:spPr>
            <p:txBody>
              <a:bodyPr>
                <a:normAutofit/>
              </a:bodyPr>
              <a:lstStyle/>
              <a:p>
                <a:r>
                  <a:rPr lang="en-US" b="0" dirty="0">
                    <a:latin typeface="+mn-lt"/>
                  </a:rPr>
                  <a:t>What’s the effect of military service on earnings?</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=draft status;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=serving in the military;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=earnings</a:t>
                </a:r>
              </a:p>
              <a:p>
                <a:r>
                  <a:rPr lang="en-US" b="0" dirty="0">
                    <a:latin typeface="+mn-lt"/>
                  </a:rPr>
                  <a:t>What’s the effect of charitable giving on happiness?</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=truly random payout of $1M;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=giving lots to charity;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=happiness</a:t>
                </a:r>
              </a:p>
              <a:p>
                <a:r>
                  <a:rPr lang="en-US" dirty="0">
                    <a:latin typeface="+mn-lt"/>
                  </a:rPr>
                  <a:t>What’s the effect of education on earnings?</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=zodiac sign;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=education;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=earnings</a:t>
                </a:r>
              </a:p>
              <a:p>
                <a:r>
                  <a:rPr lang="en-US" dirty="0">
                    <a:latin typeface="+mn-lt"/>
                  </a:rPr>
                  <a:t>What’s the effect of education on whether you win a Nobel prize?</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=household chocolate consumption;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=education;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=Nobel prize?</a:t>
                </a:r>
              </a:p>
              <a:p>
                <a:r>
                  <a:rPr lang="en-US" dirty="0">
                    <a:latin typeface="+mn-lt"/>
                  </a:rPr>
                  <a:t>What’s the effect of voting on happiness?</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=door-knocking get-out-the-vote drive;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=did you vote;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=happiness</a:t>
                </a:r>
              </a:p>
              <a:p>
                <a:pPr lvl="1"/>
                <a:endParaRPr lang="en-US" dirty="0">
                  <a:solidFill>
                    <a:schemeClr val="accent1"/>
                  </a:solidFill>
                </a:endParaRPr>
              </a:p>
              <a:p>
                <a:pPr lvl="1"/>
                <a:endParaRPr lang="en-US" dirty="0"/>
              </a:p>
              <a:p>
                <a:pPr lvl="1"/>
                <a:endParaRPr lang="en-US" dirty="0"/>
              </a:p>
            </p:txBody>
          </p:sp>
        </mc:Choice>
        <mc:Fallback>
          <p:sp>
            <p:nvSpPr>
              <p:cNvPr id="3" name="Content Placeholder 2">
                <a:extLst>
                  <a:ext uri="{FF2B5EF4-FFF2-40B4-BE49-F238E27FC236}">
                    <a16:creationId xmlns:a16="http://schemas.microsoft.com/office/drawing/2014/main" id="{5DF915EA-4331-E5DA-7B71-130E6C9B5162}"/>
                  </a:ext>
                </a:extLst>
              </p:cNvPr>
              <p:cNvSpPr>
                <a:spLocks noGrp="1" noRot="1" noChangeAspect="1" noMove="1" noResize="1" noEditPoints="1" noAdjustHandles="1" noChangeArrowheads="1" noChangeShapeType="1" noTextEdit="1"/>
              </p:cNvSpPr>
              <p:nvPr>
                <p:ph idx="1"/>
              </p:nvPr>
            </p:nvSpPr>
            <p:spPr>
              <a:xfrm>
                <a:off x="737677" y="1821739"/>
                <a:ext cx="10515600" cy="5412025"/>
              </a:xfrm>
              <a:blipFill>
                <a:blip r:embed="rId3"/>
                <a:stretch>
                  <a:fillRect l="-1086" t="-1874"/>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E544D78B-3980-2243-A01A-24E904C4380B}"/>
              </a:ext>
            </a:extLst>
          </p:cNvPr>
          <p:cNvSpPr txBox="1">
            <a:spLocks/>
          </p:cNvSpPr>
          <p:nvPr/>
        </p:nvSpPr>
        <p:spPr>
          <a:xfrm>
            <a:off x="10104987" y="-79347"/>
            <a:ext cx="3006579" cy="18375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00" dirty="0">
              <a:solidFill>
                <a:srgbClr val="8C1516"/>
              </a:solidFill>
            </a:endParaRPr>
          </a:p>
          <a:p>
            <a:endParaRPr lang="en-US" sz="100" dirty="0">
              <a:solidFill>
                <a:srgbClr val="8C1516"/>
              </a:solidFill>
            </a:endParaRPr>
          </a:p>
          <a:p>
            <a:r>
              <a:rPr lang="en-US" sz="1800" dirty="0">
                <a:solidFill>
                  <a:srgbClr val="8C1516"/>
                </a:solidFill>
              </a:rPr>
              <a:t>Relevance</a:t>
            </a:r>
          </a:p>
          <a:p>
            <a:r>
              <a:rPr lang="en-US" sz="1800" dirty="0">
                <a:solidFill>
                  <a:srgbClr val="8C1516"/>
                </a:solidFill>
              </a:rPr>
              <a:t>Independence</a:t>
            </a:r>
          </a:p>
          <a:p>
            <a:r>
              <a:rPr lang="en-US" sz="1800" dirty="0">
                <a:solidFill>
                  <a:srgbClr val="8C1516"/>
                </a:solidFill>
              </a:rPr>
              <a:t>Exclusion</a:t>
            </a:r>
          </a:p>
          <a:p>
            <a:r>
              <a:rPr lang="en-US" sz="1800" dirty="0">
                <a:solidFill>
                  <a:srgbClr val="8C1516"/>
                </a:solidFill>
              </a:rPr>
              <a:t>Monotonicity</a:t>
            </a:r>
          </a:p>
        </p:txBody>
      </p:sp>
      <p:grpSp>
        <p:nvGrpSpPr>
          <p:cNvPr id="5" name="Group 4">
            <a:extLst>
              <a:ext uri="{FF2B5EF4-FFF2-40B4-BE49-F238E27FC236}">
                <a16:creationId xmlns:a16="http://schemas.microsoft.com/office/drawing/2014/main" id="{21B2D9DD-BCD7-AB55-4466-B5FC87D7DE48}"/>
              </a:ext>
            </a:extLst>
          </p:cNvPr>
          <p:cNvGrpSpPr/>
          <p:nvPr/>
        </p:nvGrpSpPr>
        <p:grpSpPr>
          <a:xfrm>
            <a:off x="9189564" y="1758157"/>
            <a:ext cx="2637509" cy="960194"/>
            <a:chOff x="838200" y="4327742"/>
            <a:chExt cx="10041383" cy="2709444"/>
          </a:xfrm>
        </p:grpSpPr>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64BE2404-5144-B613-8C63-749DE1B778C3}"/>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𝑋</m:t>
                        </m:r>
                      </m:oMath>
                    </m:oMathPara>
                  </a14:m>
                  <a:endParaRPr lang="en-US" dirty="0"/>
                </a:p>
              </p:txBody>
            </p:sp>
          </mc:Choice>
          <mc:Fallback xmlns="">
            <p:sp>
              <p:nvSpPr>
                <p:cNvPr id="6" name="Oval 5">
                  <a:extLst>
                    <a:ext uri="{FF2B5EF4-FFF2-40B4-BE49-F238E27FC236}">
                      <a16:creationId xmlns:a16="http://schemas.microsoft.com/office/drawing/2014/main" id="{64BE2404-5144-B613-8C63-749DE1B778C3}"/>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F56D6261-0AAC-A546-EBFF-943D6C38786F}"/>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𝑌</m:t>
                        </m:r>
                      </m:oMath>
                    </m:oMathPara>
                  </a14:m>
                  <a:endParaRPr lang="en-US" dirty="0"/>
                </a:p>
              </p:txBody>
            </p:sp>
          </mc:Choice>
          <mc:Fallback xmlns="">
            <p:sp>
              <p:nvSpPr>
                <p:cNvPr id="7" name="Oval 6">
                  <a:extLst>
                    <a:ext uri="{FF2B5EF4-FFF2-40B4-BE49-F238E27FC236}">
                      <a16:creationId xmlns:a16="http://schemas.microsoft.com/office/drawing/2014/main" id="{F56D6261-0AAC-A546-EBFF-943D6C38786F}"/>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19004FAD-7668-50F6-3A33-B1989372CDC1}"/>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𝑍</m:t>
                        </m:r>
                      </m:oMath>
                    </m:oMathPara>
                  </a14:m>
                  <a:endParaRPr lang="en-US" dirty="0"/>
                </a:p>
              </p:txBody>
            </p:sp>
          </mc:Choice>
          <mc:Fallback xmlns="">
            <p:sp>
              <p:nvSpPr>
                <p:cNvPr id="8" name="Oval 7">
                  <a:extLst>
                    <a:ext uri="{FF2B5EF4-FFF2-40B4-BE49-F238E27FC236}">
                      <a16:creationId xmlns:a16="http://schemas.microsoft.com/office/drawing/2014/main" id="{19004FAD-7668-50F6-3A33-B1989372CDC1}"/>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9042DB3C-8AF7-899A-A9A4-9CE9A9694406}"/>
                </a:ext>
              </a:extLst>
            </p:cNvPr>
            <p:cNvCxnSpPr>
              <a:endCxn id="7"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01F63E2-1C4E-7DBA-55C4-6D308A31EAC8}"/>
                </a:ext>
              </a:extLst>
            </p:cNvPr>
            <p:cNvCxnSpPr>
              <a:cxnSpLocks/>
              <a:stCxn id="8" idx="6"/>
              <a:endCxn id="6"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CA75C4E2-98E9-DE45-7303-FC575D3C7F7E}"/>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2" name="&quot;No&quot; Symbol 11">
              <a:extLst>
                <a:ext uri="{FF2B5EF4-FFF2-40B4-BE49-F238E27FC236}">
                  <a16:creationId xmlns:a16="http://schemas.microsoft.com/office/drawing/2014/main" id="{E94D5BA9-87A9-0AA5-A748-D1A7C51838AC}"/>
                </a:ext>
              </a:extLst>
            </p:cNvPr>
            <p:cNvSpPr/>
            <p:nvPr/>
          </p:nvSpPr>
          <p:spPr>
            <a:xfrm>
              <a:off x="7591693" y="5942052"/>
              <a:ext cx="1103364" cy="646072"/>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3" name="Picture 2" descr="Hounder Black Red Honey Burst with Stiletto Hard Case">
              <a:extLst>
                <a:ext uri="{FF2B5EF4-FFF2-40B4-BE49-F238E27FC236}">
                  <a16:creationId xmlns:a16="http://schemas.microsoft.com/office/drawing/2014/main" id="{EEFD8C87-B3FC-0935-81F7-72D21CC964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D9723FC-CF41-CB62-4534-03C9CCC80A16}"/>
                </a:ext>
              </a:extLst>
            </p:cNvPr>
            <p:cNvSpPr txBox="1"/>
            <p:nvPr/>
          </p:nvSpPr>
          <p:spPr>
            <a:xfrm>
              <a:off x="1436220" y="5995017"/>
              <a:ext cx="521268" cy="1042169"/>
            </a:xfrm>
            <a:prstGeom prst="rect">
              <a:avLst/>
            </a:prstGeom>
            <a:noFill/>
          </p:spPr>
          <p:txBody>
            <a:bodyPr wrap="none" rtlCol="0">
              <a:spAutoFit/>
            </a:bodyPr>
            <a:lstStyle/>
            <a:p>
              <a:pPr algn="ctr"/>
              <a:endParaRPr lang="en-US" b="1" i="1" dirty="0">
                <a:solidFill>
                  <a:schemeClr val="accent2"/>
                </a:solidFill>
              </a:endParaRPr>
            </a:p>
          </p:txBody>
        </p:sp>
      </p:grpSp>
      <p:pic>
        <p:nvPicPr>
          <p:cNvPr id="16" name="Picture 15">
            <a:extLst>
              <a:ext uri="{FF2B5EF4-FFF2-40B4-BE49-F238E27FC236}">
                <a16:creationId xmlns:a16="http://schemas.microsoft.com/office/drawing/2014/main" id="{C560AAE2-5D5F-3AA1-684C-2158C9222881}"/>
              </a:ext>
            </a:extLst>
          </p:cNvPr>
          <p:cNvPicPr>
            <a:picLocks noChangeAspect="1"/>
          </p:cNvPicPr>
          <p:nvPr/>
        </p:nvPicPr>
        <p:blipFill>
          <a:blip r:embed="rId8"/>
          <a:stretch>
            <a:fillRect/>
          </a:stretch>
        </p:blipFill>
        <p:spPr>
          <a:xfrm>
            <a:off x="10527462" y="3226761"/>
            <a:ext cx="1605497" cy="1423431"/>
          </a:xfrm>
          <a:prstGeom prst="rect">
            <a:avLst/>
          </a:prstGeom>
        </p:spPr>
      </p:pic>
    </p:spTree>
    <p:extLst>
      <p:ext uri="{BB962C8B-B14F-4D97-AF65-F5344CB8AC3E}">
        <p14:creationId xmlns:p14="http://schemas.microsoft.com/office/powerpoint/2010/main" val="146628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9FAA3-E0DA-B0B9-A64D-FC857386ACB9}"/>
              </a:ext>
            </a:extLst>
          </p:cNvPr>
          <p:cNvSpPr>
            <a:spLocks noGrp="1"/>
          </p:cNvSpPr>
          <p:nvPr>
            <p:ph type="title"/>
          </p:nvPr>
        </p:nvSpPr>
        <p:spPr>
          <a:xfrm>
            <a:off x="838200" y="108126"/>
            <a:ext cx="10515600" cy="1325563"/>
          </a:xfrm>
        </p:spPr>
        <p:txBody>
          <a:bodyPr>
            <a:normAutofit/>
          </a:bodyPr>
          <a:lstStyle/>
          <a:p>
            <a:r>
              <a:rPr lang="en-US" sz="3600" dirty="0"/>
              <a:t>Does “zodiac sign” satisfy the relevance condition?</a:t>
            </a:r>
            <a:br>
              <a:rPr lang="en-US" sz="3600" dirty="0"/>
            </a:br>
            <a:r>
              <a:rPr lang="en-US" sz="2400" dirty="0"/>
              <a:t>aka, does zodiac sign affect education?</a:t>
            </a:r>
            <a:endParaRPr lang="en-US" sz="3600" dirty="0"/>
          </a:p>
        </p:txBody>
      </p:sp>
      <p:pic>
        <p:nvPicPr>
          <p:cNvPr id="4" name="Picture 3">
            <a:extLst>
              <a:ext uri="{FF2B5EF4-FFF2-40B4-BE49-F238E27FC236}">
                <a16:creationId xmlns:a16="http://schemas.microsoft.com/office/drawing/2014/main" id="{13E4048C-B683-1464-E4E7-FAB4A0EC5196}"/>
              </a:ext>
            </a:extLst>
          </p:cNvPr>
          <p:cNvPicPr>
            <a:picLocks noChangeAspect="1"/>
          </p:cNvPicPr>
          <p:nvPr/>
        </p:nvPicPr>
        <p:blipFill>
          <a:blip r:embed="rId2"/>
          <a:stretch>
            <a:fillRect/>
          </a:stretch>
        </p:blipFill>
        <p:spPr>
          <a:xfrm>
            <a:off x="609600" y="1690688"/>
            <a:ext cx="2547374" cy="686932"/>
          </a:xfrm>
          <a:prstGeom prst="rect">
            <a:avLst/>
          </a:prstGeom>
        </p:spPr>
      </p:pic>
      <p:pic>
        <p:nvPicPr>
          <p:cNvPr id="7" name="Picture 6">
            <a:extLst>
              <a:ext uri="{FF2B5EF4-FFF2-40B4-BE49-F238E27FC236}">
                <a16:creationId xmlns:a16="http://schemas.microsoft.com/office/drawing/2014/main" id="{4F836C77-B68C-AB6B-B19F-EC2EADA24CC8}"/>
              </a:ext>
            </a:extLst>
          </p:cNvPr>
          <p:cNvPicPr>
            <a:picLocks noChangeAspect="1"/>
          </p:cNvPicPr>
          <p:nvPr/>
        </p:nvPicPr>
        <p:blipFill>
          <a:blip r:embed="rId3"/>
          <a:stretch>
            <a:fillRect/>
          </a:stretch>
        </p:blipFill>
        <p:spPr>
          <a:xfrm>
            <a:off x="819150" y="2464891"/>
            <a:ext cx="10077450" cy="2015490"/>
          </a:xfrm>
          <a:prstGeom prst="rect">
            <a:avLst/>
          </a:prstGeom>
        </p:spPr>
      </p:pic>
      <p:pic>
        <p:nvPicPr>
          <p:cNvPr id="9" name="Picture 8">
            <a:extLst>
              <a:ext uri="{FF2B5EF4-FFF2-40B4-BE49-F238E27FC236}">
                <a16:creationId xmlns:a16="http://schemas.microsoft.com/office/drawing/2014/main" id="{F519905C-BCD4-9477-DC29-A2B17D539975}"/>
              </a:ext>
            </a:extLst>
          </p:cNvPr>
          <p:cNvPicPr>
            <a:picLocks noChangeAspect="1"/>
          </p:cNvPicPr>
          <p:nvPr/>
        </p:nvPicPr>
        <p:blipFill>
          <a:blip r:embed="rId4"/>
          <a:stretch>
            <a:fillRect/>
          </a:stretch>
        </p:blipFill>
        <p:spPr>
          <a:xfrm>
            <a:off x="11125200" y="1294890"/>
            <a:ext cx="738678" cy="1689623"/>
          </a:xfrm>
          <a:prstGeom prst="rect">
            <a:avLst/>
          </a:prstGeom>
        </p:spPr>
      </p:pic>
      <p:pic>
        <p:nvPicPr>
          <p:cNvPr id="10" name="Picture 9">
            <a:extLst>
              <a:ext uri="{FF2B5EF4-FFF2-40B4-BE49-F238E27FC236}">
                <a16:creationId xmlns:a16="http://schemas.microsoft.com/office/drawing/2014/main" id="{BD8798CE-4E6F-50CD-9CB1-DA50AB7DA344}"/>
              </a:ext>
            </a:extLst>
          </p:cNvPr>
          <p:cNvPicPr>
            <a:picLocks noChangeAspect="1"/>
          </p:cNvPicPr>
          <p:nvPr/>
        </p:nvPicPr>
        <p:blipFill>
          <a:blip r:embed="rId5"/>
          <a:stretch>
            <a:fillRect/>
          </a:stretch>
        </p:blipFill>
        <p:spPr>
          <a:xfrm>
            <a:off x="1295400" y="4452557"/>
            <a:ext cx="7260713" cy="2405443"/>
          </a:xfrm>
          <a:prstGeom prst="rect">
            <a:avLst/>
          </a:prstGeom>
        </p:spPr>
      </p:pic>
      <p:pic>
        <p:nvPicPr>
          <p:cNvPr id="45058" name="Picture 2" descr="ChatGPT - Simple English Wikipedia, the free encyclopedia">
            <a:extLst>
              <a:ext uri="{FF2B5EF4-FFF2-40B4-BE49-F238E27FC236}">
                <a16:creationId xmlns:a16="http://schemas.microsoft.com/office/drawing/2014/main" id="{5E82758B-2DD7-9F1C-27FF-FE180A4798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4247" y="5266415"/>
            <a:ext cx="805551" cy="80555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9253056-AE91-2724-F1E9-4854082D33CD}"/>
              </a:ext>
            </a:extLst>
          </p:cNvPr>
          <p:cNvSpPr txBox="1"/>
          <p:nvPr/>
        </p:nvSpPr>
        <p:spPr>
          <a:xfrm>
            <a:off x="5067300" y="1572489"/>
            <a:ext cx="6057900" cy="1200329"/>
          </a:xfrm>
          <a:prstGeom prst="rect">
            <a:avLst/>
          </a:prstGeom>
          <a:noFill/>
        </p:spPr>
        <p:txBody>
          <a:bodyPr wrap="square" rtlCol="0">
            <a:spAutoFit/>
          </a:bodyPr>
          <a:lstStyle/>
          <a:p>
            <a:pPr algn="r"/>
            <a:r>
              <a:rPr lang="en-US" sz="2400" dirty="0">
                <a:solidFill>
                  <a:srgbClr val="0070C0"/>
                </a:solidFill>
              </a:rPr>
              <a:t>Apparently </a:t>
            </a:r>
            <a:r>
              <a:rPr lang="en-US" sz="2400" dirty="0" err="1">
                <a:solidFill>
                  <a:srgbClr val="0070C0"/>
                </a:solidFill>
              </a:rPr>
              <a:t>virgos</a:t>
            </a:r>
            <a:r>
              <a:rPr lang="en-US" sz="2400" dirty="0">
                <a:solidFill>
                  <a:srgbClr val="0070C0"/>
                </a:solidFill>
              </a:rPr>
              <a:t> are more studious.  We’re still not sure about relevance, but I guess it’s good to keep an open mind…</a:t>
            </a:r>
          </a:p>
        </p:txBody>
      </p:sp>
    </p:spTree>
    <p:extLst>
      <p:ext uri="{BB962C8B-B14F-4D97-AF65-F5344CB8AC3E}">
        <p14:creationId xmlns:p14="http://schemas.microsoft.com/office/powerpoint/2010/main" val="921430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A1957-7F24-4D7A-E2E1-3207886039CD}"/>
              </a:ext>
            </a:extLst>
          </p:cNvPr>
          <p:cNvSpPr>
            <a:spLocks noGrp="1"/>
          </p:cNvSpPr>
          <p:nvPr>
            <p:ph type="title"/>
          </p:nvPr>
        </p:nvSpPr>
        <p:spPr>
          <a:xfrm>
            <a:off x="737677" y="286654"/>
            <a:ext cx="9468173" cy="1325563"/>
          </a:xfrm>
        </p:spPr>
        <p:txBody>
          <a:bodyPr>
            <a:normAutofit fontScale="90000"/>
          </a:bodyPr>
          <a:lstStyle/>
          <a:p>
            <a:r>
              <a:rPr lang="en-US" dirty="0"/>
              <a:t>For each of these examples, </a:t>
            </a:r>
            <a:br>
              <a:rPr lang="en-US" dirty="0"/>
            </a:br>
            <a:r>
              <a:rPr lang="en-US" dirty="0"/>
              <a:t>  assess each of the four requirements!</a:t>
            </a:r>
          </a:p>
        </p:txBody>
      </p:sp>
      <p:sp>
        <p:nvSpPr>
          <p:cNvPr id="15" name="Rectangle 14">
            <a:extLst>
              <a:ext uri="{FF2B5EF4-FFF2-40B4-BE49-F238E27FC236}">
                <a16:creationId xmlns:a16="http://schemas.microsoft.com/office/drawing/2014/main" id="{A195315E-E30B-23F9-66CF-E4302A277B9D}"/>
              </a:ext>
            </a:extLst>
          </p:cNvPr>
          <p:cNvSpPr/>
          <p:nvPr/>
        </p:nvSpPr>
        <p:spPr>
          <a:xfrm>
            <a:off x="8460664" y="5610386"/>
            <a:ext cx="3731336" cy="12476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DF915EA-4331-E5DA-7B71-130E6C9B5162}"/>
                  </a:ext>
                </a:extLst>
              </p:cNvPr>
              <p:cNvSpPr>
                <a:spLocks noGrp="1"/>
              </p:cNvSpPr>
              <p:nvPr>
                <p:ph idx="1"/>
              </p:nvPr>
            </p:nvSpPr>
            <p:spPr>
              <a:xfrm>
                <a:off x="737677" y="1821739"/>
                <a:ext cx="10515600" cy="5412025"/>
              </a:xfrm>
            </p:spPr>
            <p:txBody>
              <a:bodyPr>
                <a:normAutofit/>
              </a:bodyPr>
              <a:lstStyle/>
              <a:p>
                <a:r>
                  <a:rPr lang="en-US" b="0" dirty="0">
                    <a:latin typeface="+mn-lt"/>
                  </a:rPr>
                  <a:t>What’s the effect of military service on earnings?</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=draft status;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=serving in the military;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=earnings</a:t>
                </a:r>
              </a:p>
              <a:p>
                <a:r>
                  <a:rPr lang="en-US" b="0" dirty="0">
                    <a:latin typeface="+mn-lt"/>
                  </a:rPr>
                  <a:t>What’s the effect of charitable giving on happiness?</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=truly random payout of $1M;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=giving lots to charity;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=happiness</a:t>
                </a:r>
              </a:p>
              <a:p>
                <a:r>
                  <a:rPr lang="en-US" dirty="0">
                    <a:latin typeface="+mn-lt"/>
                  </a:rPr>
                  <a:t>What’s the effect of education on earnings?</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=zodiac sign;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=education;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=earnings</a:t>
                </a:r>
              </a:p>
              <a:p>
                <a:r>
                  <a:rPr lang="en-US" dirty="0">
                    <a:latin typeface="+mn-lt"/>
                  </a:rPr>
                  <a:t>What’s the effect of education on whether you win a Nobel prize?</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=chocolate consumption;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=education;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a:t>
                </a:r>
                <a:r>
                  <a:rPr lang="en-US" dirty="0" err="1">
                    <a:solidFill>
                      <a:schemeClr val="accent1"/>
                    </a:solidFill>
                  </a:rPr>
                  <a:t>nobel</a:t>
                </a:r>
                <a:r>
                  <a:rPr lang="en-US" dirty="0">
                    <a:solidFill>
                      <a:schemeClr val="accent1"/>
                    </a:solidFill>
                  </a:rPr>
                  <a:t> prize</a:t>
                </a:r>
              </a:p>
              <a:p>
                <a:r>
                  <a:rPr lang="en-US" dirty="0">
                    <a:latin typeface="+mn-lt"/>
                  </a:rPr>
                  <a:t>What’s the effect of voting on happiness?</a:t>
                </a:r>
              </a:p>
              <a:p>
                <a:pPr lvl="1"/>
                <a14:m>
                  <m:oMath xmlns:m="http://schemas.openxmlformats.org/officeDocument/2006/math">
                    <m:r>
                      <a:rPr lang="en-US" b="0" i="1" smtClean="0">
                        <a:solidFill>
                          <a:schemeClr val="accent1"/>
                        </a:solidFill>
                        <a:latin typeface="Cambria Math" panose="02040503050406030204" pitchFamily="18" charset="0"/>
                      </a:rPr>
                      <m:t>𝑍</m:t>
                    </m:r>
                  </m:oMath>
                </a14:m>
                <a:r>
                  <a:rPr lang="en-US" dirty="0">
                    <a:solidFill>
                      <a:schemeClr val="accent1"/>
                    </a:solidFill>
                  </a:rPr>
                  <a:t>=door-knocking get-out-the-vote drive; </a:t>
                </a:r>
                <a14:m>
                  <m:oMath xmlns:m="http://schemas.openxmlformats.org/officeDocument/2006/math">
                    <m:r>
                      <a:rPr lang="en-US" b="0" i="1" smtClean="0">
                        <a:solidFill>
                          <a:schemeClr val="accent1"/>
                        </a:solidFill>
                        <a:latin typeface="Cambria Math" panose="02040503050406030204" pitchFamily="18" charset="0"/>
                      </a:rPr>
                      <m:t>𝑋</m:t>
                    </m:r>
                  </m:oMath>
                </a14:m>
                <a:r>
                  <a:rPr lang="en-US" dirty="0">
                    <a:solidFill>
                      <a:schemeClr val="accent1"/>
                    </a:solidFill>
                  </a:rPr>
                  <a:t>=did you vote; </a:t>
                </a:r>
                <a14:m>
                  <m:oMath xmlns:m="http://schemas.openxmlformats.org/officeDocument/2006/math">
                    <m:r>
                      <a:rPr lang="en-US" b="0" i="1" smtClean="0">
                        <a:solidFill>
                          <a:schemeClr val="accent1"/>
                        </a:solidFill>
                        <a:latin typeface="Cambria Math" panose="02040503050406030204" pitchFamily="18" charset="0"/>
                      </a:rPr>
                      <m:t>𝑌</m:t>
                    </m:r>
                  </m:oMath>
                </a14:m>
                <a:r>
                  <a:rPr lang="en-US" dirty="0">
                    <a:solidFill>
                      <a:schemeClr val="accent1"/>
                    </a:solidFill>
                  </a:rPr>
                  <a:t>=happiness</a:t>
                </a:r>
              </a:p>
              <a:p>
                <a:pPr lvl="1"/>
                <a:endParaRPr lang="en-US" dirty="0">
                  <a:solidFill>
                    <a:schemeClr val="accent1"/>
                  </a:solidFill>
                </a:endParaRPr>
              </a:p>
              <a:p>
                <a:pPr lvl="1"/>
                <a:endParaRPr lang="en-US" dirty="0"/>
              </a:p>
              <a:p>
                <a:pPr lvl="1"/>
                <a:endParaRPr lang="en-US" dirty="0"/>
              </a:p>
            </p:txBody>
          </p:sp>
        </mc:Choice>
        <mc:Fallback>
          <p:sp>
            <p:nvSpPr>
              <p:cNvPr id="3" name="Content Placeholder 2">
                <a:extLst>
                  <a:ext uri="{FF2B5EF4-FFF2-40B4-BE49-F238E27FC236}">
                    <a16:creationId xmlns:a16="http://schemas.microsoft.com/office/drawing/2014/main" id="{5DF915EA-4331-E5DA-7B71-130E6C9B5162}"/>
                  </a:ext>
                </a:extLst>
              </p:cNvPr>
              <p:cNvSpPr>
                <a:spLocks noGrp="1" noRot="1" noChangeAspect="1" noMove="1" noResize="1" noEditPoints="1" noAdjustHandles="1" noChangeArrowheads="1" noChangeShapeType="1" noTextEdit="1"/>
              </p:cNvSpPr>
              <p:nvPr>
                <p:ph idx="1"/>
              </p:nvPr>
            </p:nvSpPr>
            <p:spPr>
              <a:xfrm>
                <a:off x="737677" y="1821739"/>
                <a:ext cx="10515600" cy="5412025"/>
              </a:xfrm>
              <a:blipFill>
                <a:blip r:embed="rId3"/>
                <a:stretch>
                  <a:fillRect l="-1086" t="-1874"/>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E544D78B-3980-2243-A01A-24E904C4380B}"/>
              </a:ext>
            </a:extLst>
          </p:cNvPr>
          <p:cNvSpPr txBox="1">
            <a:spLocks/>
          </p:cNvSpPr>
          <p:nvPr/>
        </p:nvSpPr>
        <p:spPr>
          <a:xfrm>
            <a:off x="10740316" y="-126510"/>
            <a:ext cx="1722086" cy="18375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00" dirty="0">
              <a:solidFill>
                <a:srgbClr val="8C1516"/>
              </a:solidFill>
            </a:endParaRPr>
          </a:p>
          <a:p>
            <a:endParaRPr lang="en-US" sz="100" dirty="0">
              <a:solidFill>
                <a:srgbClr val="8C1516"/>
              </a:solidFill>
            </a:endParaRPr>
          </a:p>
          <a:p>
            <a:r>
              <a:rPr lang="en-US" sz="1200" dirty="0">
                <a:solidFill>
                  <a:srgbClr val="8C1516"/>
                </a:solidFill>
              </a:rPr>
              <a:t>Relevance</a:t>
            </a:r>
          </a:p>
          <a:p>
            <a:r>
              <a:rPr lang="en-US" sz="1200" dirty="0">
                <a:solidFill>
                  <a:srgbClr val="8C1516"/>
                </a:solidFill>
              </a:rPr>
              <a:t>Independence</a:t>
            </a:r>
          </a:p>
          <a:p>
            <a:r>
              <a:rPr lang="en-US" sz="1200" dirty="0">
                <a:solidFill>
                  <a:srgbClr val="8C1516"/>
                </a:solidFill>
              </a:rPr>
              <a:t>Exclusion</a:t>
            </a:r>
          </a:p>
          <a:p>
            <a:r>
              <a:rPr lang="en-US" sz="1200" dirty="0">
                <a:solidFill>
                  <a:srgbClr val="8C1516"/>
                </a:solidFill>
              </a:rPr>
              <a:t>Monotonicity</a:t>
            </a:r>
          </a:p>
        </p:txBody>
      </p:sp>
      <p:grpSp>
        <p:nvGrpSpPr>
          <p:cNvPr id="5" name="Group 4">
            <a:extLst>
              <a:ext uri="{FF2B5EF4-FFF2-40B4-BE49-F238E27FC236}">
                <a16:creationId xmlns:a16="http://schemas.microsoft.com/office/drawing/2014/main" id="{21B2D9DD-BCD7-AB55-4466-B5FC87D7DE48}"/>
              </a:ext>
            </a:extLst>
          </p:cNvPr>
          <p:cNvGrpSpPr/>
          <p:nvPr/>
        </p:nvGrpSpPr>
        <p:grpSpPr>
          <a:xfrm>
            <a:off x="7949699" y="0"/>
            <a:ext cx="2637509" cy="960194"/>
            <a:chOff x="838200" y="4327742"/>
            <a:chExt cx="10041383" cy="2709444"/>
          </a:xfrm>
        </p:grpSpPr>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64BE2404-5144-B613-8C63-749DE1B778C3}"/>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𝑋</m:t>
                        </m:r>
                      </m:oMath>
                    </m:oMathPara>
                  </a14:m>
                  <a:endParaRPr lang="en-US" dirty="0"/>
                </a:p>
              </p:txBody>
            </p:sp>
          </mc:Choice>
          <mc:Fallback xmlns="">
            <p:sp>
              <p:nvSpPr>
                <p:cNvPr id="6" name="Oval 5">
                  <a:extLst>
                    <a:ext uri="{FF2B5EF4-FFF2-40B4-BE49-F238E27FC236}">
                      <a16:creationId xmlns:a16="http://schemas.microsoft.com/office/drawing/2014/main" id="{64BE2404-5144-B613-8C63-749DE1B778C3}"/>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F56D6261-0AAC-A546-EBFF-943D6C38786F}"/>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𝑌</m:t>
                        </m:r>
                      </m:oMath>
                    </m:oMathPara>
                  </a14:m>
                  <a:endParaRPr lang="en-US" dirty="0"/>
                </a:p>
              </p:txBody>
            </p:sp>
          </mc:Choice>
          <mc:Fallback xmlns="">
            <p:sp>
              <p:nvSpPr>
                <p:cNvPr id="7" name="Oval 6">
                  <a:extLst>
                    <a:ext uri="{FF2B5EF4-FFF2-40B4-BE49-F238E27FC236}">
                      <a16:creationId xmlns:a16="http://schemas.microsoft.com/office/drawing/2014/main" id="{F56D6261-0AAC-A546-EBFF-943D6C38786F}"/>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19004FAD-7668-50F6-3A33-B1989372CDC1}"/>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𝑍</m:t>
                        </m:r>
                      </m:oMath>
                    </m:oMathPara>
                  </a14:m>
                  <a:endParaRPr lang="en-US" dirty="0"/>
                </a:p>
              </p:txBody>
            </p:sp>
          </mc:Choice>
          <mc:Fallback xmlns="">
            <p:sp>
              <p:nvSpPr>
                <p:cNvPr id="8" name="Oval 7">
                  <a:extLst>
                    <a:ext uri="{FF2B5EF4-FFF2-40B4-BE49-F238E27FC236}">
                      <a16:creationId xmlns:a16="http://schemas.microsoft.com/office/drawing/2014/main" id="{19004FAD-7668-50F6-3A33-B1989372CDC1}"/>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9042DB3C-8AF7-899A-A9A4-9CE9A9694406}"/>
                </a:ext>
              </a:extLst>
            </p:cNvPr>
            <p:cNvCxnSpPr>
              <a:endCxn id="7"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01F63E2-1C4E-7DBA-55C4-6D308A31EAC8}"/>
                </a:ext>
              </a:extLst>
            </p:cNvPr>
            <p:cNvCxnSpPr>
              <a:cxnSpLocks/>
              <a:stCxn id="8" idx="6"/>
              <a:endCxn id="6"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CA75C4E2-98E9-DE45-7303-FC575D3C7F7E}"/>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2" name="&quot;No&quot; Symbol 11">
              <a:extLst>
                <a:ext uri="{FF2B5EF4-FFF2-40B4-BE49-F238E27FC236}">
                  <a16:creationId xmlns:a16="http://schemas.microsoft.com/office/drawing/2014/main" id="{E94D5BA9-87A9-0AA5-A748-D1A7C51838AC}"/>
                </a:ext>
              </a:extLst>
            </p:cNvPr>
            <p:cNvSpPr/>
            <p:nvPr/>
          </p:nvSpPr>
          <p:spPr>
            <a:xfrm>
              <a:off x="7591693" y="5942052"/>
              <a:ext cx="1103364" cy="646072"/>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3" name="Picture 2" descr="Hounder Black Red Honey Burst with Stiletto Hard Case">
              <a:extLst>
                <a:ext uri="{FF2B5EF4-FFF2-40B4-BE49-F238E27FC236}">
                  <a16:creationId xmlns:a16="http://schemas.microsoft.com/office/drawing/2014/main" id="{EEFD8C87-B3FC-0935-81F7-72D21CC964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D9723FC-CF41-CB62-4534-03C9CCC80A16}"/>
                </a:ext>
              </a:extLst>
            </p:cNvPr>
            <p:cNvSpPr txBox="1"/>
            <p:nvPr/>
          </p:nvSpPr>
          <p:spPr>
            <a:xfrm>
              <a:off x="1436220" y="5995017"/>
              <a:ext cx="521268" cy="1042169"/>
            </a:xfrm>
            <a:prstGeom prst="rect">
              <a:avLst/>
            </a:prstGeom>
            <a:noFill/>
          </p:spPr>
          <p:txBody>
            <a:bodyPr wrap="none" rtlCol="0">
              <a:spAutoFit/>
            </a:bodyPr>
            <a:lstStyle/>
            <a:p>
              <a:pPr algn="ctr"/>
              <a:endParaRPr lang="en-US" b="1" i="1" dirty="0">
                <a:solidFill>
                  <a:schemeClr val="accent2"/>
                </a:solidFill>
              </a:endParaRPr>
            </a:p>
          </p:txBody>
        </p:sp>
      </p:grpSp>
      <p:sp>
        <p:nvSpPr>
          <p:cNvPr id="16" name="TextBox 15">
            <a:extLst>
              <a:ext uri="{FF2B5EF4-FFF2-40B4-BE49-F238E27FC236}">
                <a16:creationId xmlns:a16="http://schemas.microsoft.com/office/drawing/2014/main" id="{52266FCD-D69C-05AC-094A-7F3BE6306694}"/>
              </a:ext>
            </a:extLst>
          </p:cNvPr>
          <p:cNvSpPr txBox="1"/>
          <p:nvPr/>
        </p:nvSpPr>
        <p:spPr>
          <a:xfrm>
            <a:off x="9185998" y="2331068"/>
            <a:ext cx="3142497" cy="923330"/>
          </a:xfrm>
          <a:prstGeom prst="rect">
            <a:avLst/>
          </a:prstGeom>
          <a:noFill/>
        </p:spPr>
        <p:txBody>
          <a:bodyPr wrap="square" rtlCol="0">
            <a:spAutoFit/>
          </a:bodyPr>
          <a:lstStyle/>
          <a:p>
            <a:r>
              <a:rPr lang="en-US" b="1" dirty="0">
                <a:solidFill>
                  <a:schemeClr val="accent2"/>
                </a:solidFill>
              </a:rPr>
              <a:t>Exclusion fails!  </a:t>
            </a:r>
            <a:r>
              <a:rPr lang="en-US" dirty="0">
                <a:solidFill>
                  <a:schemeClr val="accent2"/>
                </a:solidFill>
              </a:rPr>
              <a:t>I might be happier because I’m rich, not b/c I gave to charity!</a:t>
            </a:r>
          </a:p>
        </p:txBody>
      </p:sp>
      <p:grpSp>
        <p:nvGrpSpPr>
          <p:cNvPr id="22" name="Group 21">
            <a:extLst>
              <a:ext uri="{FF2B5EF4-FFF2-40B4-BE49-F238E27FC236}">
                <a16:creationId xmlns:a16="http://schemas.microsoft.com/office/drawing/2014/main" id="{031EEFC1-9934-CE10-E237-A73EB6200B1A}"/>
              </a:ext>
            </a:extLst>
          </p:cNvPr>
          <p:cNvGrpSpPr/>
          <p:nvPr/>
        </p:nvGrpSpPr>
        <p:grpSpPr>
          <a:xfrm>
            <a:off x="418454" y="3563006"/>
            <a:ext cx="10742217" cy="3294994"/>
            <a:chOff x="418454" y="3563006"/>
            <a:chExt cx="10742217" cy="3294994"/>
          </a:xfrm>
        </p:grpSpPr>
        <p:sp>
          <p:nvSpPr>
            <p:cNvPr id="17" name="TextBox 16">
              <a:extLst>
                <a:ext uri="{FF2B5EF4-FFF2-40B4-BE49-F238E27FC236}">
                  <a16:creationId xmlns:a16="http://schemas.microsoft.com/office/drawing/2014/main" id="{C7F7B08B-5F43-138F-0837-9A5DCFBDE247}"/>
                </a:ext>
              </a:extLst>
            </p:cNvPr>
            <p:cNvSpPr txBox="1"/>
            <p:nvPr/>
          </p:nvSpPr>
          <p:spPr>
            <a:xfrm>
              <a:off x="8018174" y="3563006"/>
              <a:ext cx="3142497" cy="923330"/>
            </a:xfrm>
            <a:prstGeom prst="rect">
              <a:avLst/>
            </a:prstGeom>
            <a:noFill/>
          </p:spPr>
          <p:txBody>
            <a:bodyPr wrap="square" rtlCol="0">
              <a:spAutoFit/>
            </a:bodyPr>
            <a:lstStyle/>
            <a:p>
              <a:r>
                <a:rPr lang="en-US" b="1" dirty="0">
                  <a:solidFill>
                    <a:schemeClr val="accent2"/>
                  </a:solidFill>
                </a:rPr>
                <a:t>Relevance fails!  </a:t>
              </a:r>
              <a:r>
                <a:rPr lang="en-US" dirty="0">
                  <a:solidFill>
                    <a:schemeClr val="accent2"/>
                  </a:solidFill>
                </a:rPr>
                <a:t>Zodiac sign doesn’t have much to do with whether or not I go to college.*</a:t>
              </a:r>
            </a:p>
          </p:txBody>
        </p:sp>
        <p:sp>
          <p:nvSpPr>
            <p:cNvPr id="18" name="TextBox 17">
              <a:extLst>
                <a:ext uri="{FF2B5EF4-FFF2-40B4-BE49-F238E27FC236}">
                  <a16:creationId xmlns:a16="http://schemas.microsoft.com/office/drawing/2014/main" id="{469806F3-1816-B3A1-F6C4-B599929B5367}"/>
                </a:ext>
              </a:extLst>
            </p:cNvPr>
            <p:cNvSpPr txBox="1"/>
            <p:nvPr/>
          </p:nvSpPr>
          <p:spPr>
            <a:xfrm>
              <a:off x="418454" y="6488668"/>
              <a:ext cx="5850319" cy="369332"/>
            </a:xfrm>
            <a:prstGeom prst="rect">
              <a:avLst/>
            </a:prstGeom>
            <a:noFill/>
          </p:spPr>
          <p:txBody>
            <a:bodyPr wrap="none" rtlCol="0">
              <a:spAutoFit/>
            </a:bodyPr>
            <a:lstStyle/>
            <a:p>
              <a:r>
                <a:rPr lang="en-US" dirty="0">
                  <a:solidFill>
                    <a:schemeClr val="accent2"/>
                  </a:solidFill>
                </a:rPr>
                <a:t>*Actually, month of birth is correlated with lots of things…</a:t>
              </a:r>
            </a:p>
          </p:txBody>
        </p:sp>
      </p:grpSp>
      <p:sp>
        <p:nvSpPr>
          <p:cNvPr id="19" name="TextBox 18">
            <a:extLst>
              <a:ext uri="{FF2B5EF4-FFF2-40B4-BE49-F238E27FC236}">
                <a16:creationId xmlns:a16="http://schemas.microsoft.com/office/drawing/2014/main" id="{EC7C7E65-E9D5-5106-EFD6-7E8709572DFD}"/>
              </a:ext>
            </a:extLst>
          </p:cNvPr>
          <p:cNvSpPr txBox="1"/>
          <p:nvPr/>
        </p:nvSpPr>
        <p:spPr>
          <a:xfrm>
            <a:off x="9119704" y="4936498"/>
            <a:ext cx="3142497" cy="923330"/>
          </a:xfrm>
          <a:prstGeom prst="rect">
            <a:avLst/>
          </a:prstGeom>
          <a:noFill/>
        </p:spPr>
        <p:txBody>
          <a:bodyPr wrap="square" rtlCol="0">
            <a:spAutoFit/>
          </a:bodyPr>
          <a:lstStyle/>
          <a:p>
            <a:r>
              <a:rPr lang="en-US" b="1" dirty="0">
                <a:solidFill>
                  <a:schemeClr val="accent2"/>
                </a:solidFill>
              </a:rPr>
              <a:t>Independence fails!  </a:t>
            </a:r>
            <a:r>
              <a:rPr lang="en-US" dirty="0">
                <a:solidFill>
                  <a:schemeClr val="accent2"/>
                </a:solidFill>
              </a:rPr>
              <a:t>Chocolate consumption is correlated with Nobel prizes</a:t>
            </a:r>
          </a:p>
        </p:txBody>
      </p:sp>
      <p:sp>
        <p:nvSpPr>
          <p:cNvPr id="20" name="TextBox 19">
            <a:extLst>
              <a:ext uri="{FF2B5EF4-FFF2-40B4-BE49-F238E27FC236}">
                <a16:creationId xmlns:a16="http://schemas.microsoft.com/office/drawing/2014/main" id="{628FC9F9-FE05-CBC0-CBC0-E9B73CC69D27}"/>
              </a:ext>
            </a:extLst>
          </p:cNvPr>
          <p:cNvSpPr txBox="1"/>
          <p:nvPr/>
        </p:nvSpPr>
        <p:spPr>
          <a:xfrm>
            <a:off x="7451740" y="6227603"/>
            <a:ext cx="4543716" cy="646331"/>
          </a:xfrm>
          <a:prstGeom prst="rect">
            <a:avLst/>
          </a:prstGeom>
          <a:noFill/>
        </p:spPr>
        <p:txBody>
          <a:bodyPr wrap="square" rtlCol="0">
            <a:spAutoFit/>
          </a:bodyPr>
          <a:lstStyle/>
          <a:p>
            <a:r>
              <a:rPr lang="en-US" b="1" dirty="0">
                <a:solidFill>
                  <a:schemeClr val="accent2"/>
                </a:solidFill>
              </a:rPr>
              <a:t>Monotonicity may fail! </a:t>
            </a:r>
            <a:r>
              <a:rPr lang="en-US" dirty="0">
                <a:solidFill>
                  <a:schemeClr val="accent2"/>
                </a:solidFill>
              </a:rPr>
              <a:t>Some people react badly to folks knocking on their door.</a:t>
            </a:r>
          </a:p>
        </p:txBody>
      </p:sp>
      <p:sp>
        <p:nvSpPr>
          <p:cNvPr id="21" name="TextBox 20">
            <a:extLst>
              <a:ext uri="{FF2B5EF4-FFF2-40B4-BE49-F238E27FC236}">
                <a16:creationId xmlns:a16="http://schemas.microsoft.com/office/drawing/2014/main" id="{853CDF0A-5630-D5AA-3034-92D1E3A30C9C}"/>
              </a:ext>
            </a:extLst>
          </p:cNvPr>
          <p:cNvSpPr txBox="1"/>
          <p:nvPr/>
        </p:nvSpPr>
        <p:spPr>
          <a:xfrm>
            <a:off x="8627958" y="1612131"/>
            <a:ext cx="3142497" cy="646331"/>
          </a:xfrm>
          <a:prstGeom prst="rect">
            <a:avLst/>
          </a:prstGeom>
          <a:noFill/>
        </p:spPr>
        <p:txBody>
          <a:bodyPr wrap="square" rtlCol="0">
            <a:spAutoFit/>
          </a:bodyPr>
          <a:lstStyle/>
          <a:p>
            <a:r>
              <a:rPr lang="en-US" b="1" dirty="0">
                <a:solidFill>
                  <a:schemeClr val="accent2"/>
                </a:solidFill>
              </a:rPr>
              <a:t>Pass.  </a:t>
            </a:r>
            <a:r>
              <a:rPr lang="en-US" dirty="0">
                <a:solidFill>
                  <a:schemeClr val="accent2"/>
                </a:solidFill>
              </a:rPr>
              <a:t>(Maybe exclusion is an issue?)</a:t>
            </a:r>
          </a:p>
        </p:txBody>
      </p:sp>
    </p:spTree>
    <p:extLst>
      <p:ext uri="{BB962C8B-B14F-4D97-AF65-F5344CB8AC3E}">
        <p14:creationId xmlns:p14="http://schemas.microsoft.com/office/powerpoint/2010/main" val="381199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3363F-B468-7AE0-34AB-70D82F6DEFB7}"/>
              </a:ext>
            </a:extLst>
          </p:cNvPr>
          <p:cNvSpPr>
            <a:spLocks noGrp="1"/>
          </p:cNvSpPr>
          <p:nvPr>
            <p:ph type="title"/>
          </p:nvPr>
        </p:nvSpPr>
        <p:spPr/>
        <p:txBody>
          <a:bodyPr/>
          <a:lstStyle/>
          <a:p>
            <a:r>
              <a:rPr lang="en-US" dirty="0"/>
              <a:t>Summary: IVs and LATE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8757A1-72F4-5367-BE29-FB2CEA369C2F}"/>
                  </a:ext>
                </a:extLst>
              </p:cNvPr>
              <p:cNvSpPr>
                <a:spLocks noGrp="1"/>
              </p:cNvSpPr>
              <p:nvPr>
                <p:ph idx="1"/>
              </p:nvPr>
            </p:nvSpPr>
            <p:spPr/>
            <p:txBody>
              <a:bodyPr>
                <a:normAutofit/>
              </a:bodyPr>
              <a:lstStyle/>
              <a:p>
                <a:r>
                  <a:rPr lang="en-US" dirty="0"/>
                  <a:t>Instrumental Variables:</a:t>
                </a:r>
              </a:p>
              <a:p>
                <a:endParaRPr lang="en-US" dirty="0"/>
              </a:p>
              <a:p>
                <a:pPr marL="0" indent="0">
                  <a:buNone/>
                </a:pPr>
                <a:endParaRPr lang="en-US" dirty="0"/>
              </a:p>
              <a:p>
                <a:r>
                  <a:rPr lang="en-US" dirty="0"/>
                  <a:t>If an IV satisfies some assumptions*, we can use it to compute </a:t>
                </a:r>
                <a:r>
                  <a:rPr lang="en-US" b="1" dirty="0"/>
                  <a:t>L</a:t>
                </a:r>
                <a:r>
                  <a:rPr lang="en-US" dirty="0"/>
                  <a:t>ocal </a:t>
                </a:r>
                <a:r>
                  <a:rPr lang="en-US" b="1" dirty="0"/>
                  <a:t>A</a:t>
                </a:r>
                <a:r>
                  <a:rPr lang="en-US" dirty="0"/>
                  <a:t>verage </a:t>
                </a:r>
                <a:r>
                  <a:rPr lang="en-US" b="1" dirty="0"/>
                  <a:t>T</a:t>
                </a:r>
                <a:r>
                  <a:rPr lang="en-US" dirty="0"/>
                  <a:t>reatment </a:t>
                </a:r>
                <a:r>
                  <a:rPr lang="en-US" b="1" dirty="0"/>
                  <a:t>E</a:t>
                </a:r>
                <a:r>
                  <a:rPr lang="en-US" dirty="0"/>
                  <a:t>ffects (LATE)</a:t>
                </a:r>
              </a:p>
              <a:p>
                <a:pPr lvl="1"/>
                <a:r>
                  <a:rPr lang="en-US" dirty="0">
                    <a:solidFill>
                      <a:schemeClr val="accent1"/>
                    </a:solidFill>
                  </a:rPr>
                  <a:t>LATE is the ATE among the compliers!</a:t>
                </a:r>
              </a:p>
              <a:p>
                <a:pPr lvl="1"/>
                <a:endParaRPr lang="en-US" dirty="0"/>
              </a:p>
              <a:p>
                <a:r>
                  <a:rPr lang="en-US" dirty="0"/>
                  <a:t>We do that by: LATE = </a:t>
                </a:r>
                <a14:m>
                  <m:oMath xmlns:m="http://schemas.openxmlformats.org/officeDocument/2006/math">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ATE</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Z</m:t>
                        </m:r>
                        <m:r>
                          <a:rPr lang="en-US" b="0" i="0" smtClean="0">
                            <a:latin typeface="Cambria Math" panose="02040503050406030204" pitchFamily="18" charset="0"/>
                          </a:rPr>
                          <m:t> </m:t>
                        </m:r>
                        <m:r>
                          <m:rPr>
                            <m:sty m:val="p"/>
                          </m:rPr>
                          <a:rPr lang="en-US" b="0" i="0" smtClean="0">
                            <a:latin typeface="Cambria Math" panose="02040503050406030204" pitchFamily="18" charset="0"/>
                          </a:rPr>
                          <m:t>on</m:t>
                        </m:r>
                        <m:r>
                          <a:rPr lang="en-US" b="0" i="0" smtClean="0">
                            <a:latin typeface="Cambria Math" panose="02040503050406030204" pitchFamily="18" charset="0"/>
                          </a:rPr>
                          <m:t> </m:t>
                        </m:r>
                        <m:r>
                          <m:rPr>
                            <m:sty m:val="p"/>
                          </m:rPr>
                          <a:rPr lang="en-US" b="0" i="0" smtClean="0">
                            <a:latin typeface="Cambria Math" panose="02040503050406030204" pitchFamily="18" charset="0"/>
                          </a:rPr>
                          <m:t>Y</m:t>
                        </m:r>
                      </m:num>
                      <m:den>
                        <m:r>
                          <m:rPr>
                            <m:sty m:val="p"/>
                          </m:rPr>
                          <a:rPr lang="en-US" b="0" i="0" smtClean="0">
                            <a:latin typeface="Cambria Math" panose="02040503050406030204" pitchFamily="18" charset="0"/>
                          </a:rPr>
                          <m:t>ATE</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Z</m:t>
                        </m:r>
                        <m:r>
                          <a:rPr lang="en-US" b="0" i="0" smtClean="0">
                            <a:latin typeface="Cambria Math" panose="02040503050406030204" pitchFamily="18" charset="0"/>
                          </a:rPr>
                          <m:t> </m:t>
                        </m:r>
                        <m:r>
                          <m:rPr>
                            <m:sty m:val="p"/>
                          </m:rPr>
                          <a:rPr lang="en-US" b="0" i="0" smtClean="0">
                            <a:latin typeface="Cambria Math" panose="02040503050406030204" pitchFamily="18" charset="0"/>
                          </a:rPr>
                          <m:t>on</m:t>
                        </m:r>
                        <m:r>
                          <a:rPr lang="en-US" b="0" i="0" smtClean="0">
                            <a:latin typeface="Cambria Math" panose="02040503050406030204" pitchFamily="18" charset="0"/>
                          </a:rPr>
                          <m:t> </m:t>
                        </m:r>
                        <m:r>
                          <m:rPr>
                            <m:sty m:val="p"/>
                          </m:rPr>
                          <a:rPr lang="en-US" b="0" i="0" smtClean="0">
                            <a:latin typeface="Cambria Math" panose="02040503050406030204" pitchFamily="18" charset="0"/>
                          </a:rPr>
                          <m:t>X</m:t>
                        </m:r>
                      </m:den>
                    </m:f>
                  </m:oMath>
                </a14:m>
                <a:endParaRPr lang="en-US" dirty="0"/>
              </a:p>
            </p:txBody>
          </p:sp>
        </mc:Choice>
        <mc:Fallback xmlns="">
          <p:sp>
            <p:nvSpPr>
              <p:cNvPr id="3" name="Content Placeholder 2">
                <a:extLst>
                  <a:ext uri="{FF2B5EF4-FFF2-40B4-BE49-F238E27FC236}">
                    <a16:creationId xmlns:a16="http://schemas.microsoft.com/office/drawing/2014/main" id="{218757A1-72F4-5367-BE29-FB2CEA369C2F}"/>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43A7D65E-EF7B-08E1-8302-9B2A7B44AC20}"/>
              </a:ext>
            </a:extLst>
          </p:cNvPr>
          <p:cNvGrpSpPr/>
          <p:nvPr/>
        </p:nvGrpSpPr>
        <p:grpSpPr>
          <a:xfrm>
            <a:off x="4934745" y="1446390"/>
            <a:ext cx="4582996" cy="1588884"/>
            <a:chOff x="430627" y="4014444"/>
            <a:chExt cx="10448956" cy="2684957"/>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0E797A81-4BBF-9241-F4CA-B5BD38349062}"/>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oMath>
                    </m:oMathPara>
                  </a14:m>
                  <a:endParaRPr lang="en-US" sz="2400" dirty="0"/>
                </a:p>
              </p:txBody>
            </p:sp>
          </mc:Choice>
          <mc:Fallback xmlns="">
            <p:sp>
              <p:nvSpPr>
                <p:cNvPr id="5" name="Oval 4">
                  <a:extLst>
                    <a:ext uri="{FF2B5EF4-FFF2-40B4-BE49-F238E27FC236}">
                      <a16:creationId xmlns:a16="http://schemas.microsoft.com/office/drawing/2014/main" id="{0E797A81-4BBF-9241-F4CA-B5BD38349062}"/>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161BDC63-04EB-3B45-7416-392863123410}"/>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𝑌</m:t>
                        </m:r>
                      </m:oMath>
                    </m:oMathPara>
                  </a14:m>
                  <a:endParaRPr lang="en-US" sz="2400" dirty="0"/>
                </a:p>
              </p:txBody>
            </p:sp>
          </mc:Choice>
          <mc:Fallback xmlns="">
            <p:sp>
              <p:nvSpPr>
                <p:cNvPr id="6" name="Oval 5">
                  <a:extLst>
                    <a:ext uri="{FF2B5EF4-FFF2-40B4-BE49-F238E27FC236}">
                      <a16:creationId xmlns:a16="http://schemas.microsoft.com/office/drawing/2014/main" id="{161BDC63-04EB-3B45-7416-392863123410}"/>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E63F668C-94A5-5D34-A694-440B0AEF4603}"/>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𝑍</m:t>
                        </m:r>
                      </m:oMath>
                    </m:oMathPara>
                  </a14:m>
                  <a:endParaRPr lang="en-US" sz="2400" dirty="0"/>
                </a:p>
              </p:txBody>
            </p:sp>
          </mc:Choice>
          <mc:Fallback xmlns="">
            <p:sp>
              <p:nvSpPr>
                <p:cNvPr id="7" name="Oval 6">
                  <a:extLst>
                    <a:ext uri="{FF2B5EF4-FFF2-40B4-BE49-F238E27FC236}">
                      <a16:creationId xmlns:a16="http://schemas.microsoft.com/office/drawing/2014/main" id="{E63F668C-94A5-5D34-A694-440B0AEF4603}"/>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6"/>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956B8742-A381-2E38-93D2-FC39E398E49E}"/>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AA6E2B7-8851-89B4-7658-3A43ABB02E4C}"/>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95C0A08E-43E2-50D7-50BC-1BF5673B6256}"/>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C94BC730-3AC0-49FE-DC1C-B10154003988}"/>
                </a:ext>
              </a:extLst>
            </p:cNvPr>
            <p:cNvSpPr/>
            <p:nvPr/>
          </p:nvSpPr>
          <p:spPr>
            <a:xfrm>
              <a:off x="7591693" y="5942051"/>
              <a:ext cx="1103363" cy="757350"/>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765607B1-E67B-1E4A-5E09-69CF83E494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627" y="4014444"/>
              <a:ext cx="2240018" cy="2240017"/>
            </a:xfrm>
            <a:prstGeom prst="rect">
              <a:avLst/>
            </a:prstGeom>
            <a:noFill/>
            <a:effectLst>
              <a:glow rad="50799">
                <a:srgbClr val="FFC000"/>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3DE73DF-14A7-E894-75E0-1FBC749A22DC}"/>
                </a:ext>
              </a:extLst>
            </p:cNvPr>
            <p:cNvSpPr txBox="1"/>
            <p:nvPr/>
          </p:nvSpPr>
          <p:spPr>
            <a:xfrm>
              <a:off x="975208" y="5613616"/>
              <a:ext cx="521267" cy="1042169"/>
            </a:xfrm>
            <a:prstGeom prst="rect">
              <a:avLst/>
            </a:prstGeom>
            <a:noFill/>
          </p:spPr>
          <p:txBody>
            <a:bodyPr wrap="none" rtlCol="0">
              <a:spAutoFit/>
            </a:bodyPr>
            <a:lstStyle/>
            <a:p>
              <a:pPr algn="ctr"/>
              <a:endParaRPr lang="en-US" b="1" i="1" dirty="0">
                <a:solidFill>
                  <a:schemeClr val="accent2"/>
                </a:solidFill>
              </a:endParaRPr>
            </a:p>
          </p:txBody>
        </p:sp>
      </p:grpSp>
      <p:sp>
        <p:nvSpPr>
          <p:cNvPr id="14" name="Content Placeholder 2">
            <a:extLst>
              <a:ext uri="{FF2B5EF4-FFF2-40B4-BE49-F238E27FC236}">
                <a16:creationId xmlns:a16="http://schemas.microsoft.com/office/drawing/2014/main" id="{2A150C95-5F37-C71E-D5FD-DF252E14DD5F}"/>
              </a:ext>
            </a:extLst>
          </p:cNvPr>
          <p:cNvSpPr txBox="1">
            <a:spLocks/>
          </p:cNvSpPr>
          <p:nvPr/>
        </p:nvSpPr>
        <p:spPr>
          <a:xfrm>
            <a:off x="10107389" y="59566"/>
            <a:ext cx="3591437" cy="24423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00" dirty="0">
              <a:solidFill>
                <a:srgbClr val="8C1516"/>
              </a:solidFill>
            </a:endParaRPr>
          </a:p>
          <a:p>
            <a:endParaRPr lang="en-US" sz="100" dirty="0">
              <a:solidFill>
                <a:srgbClr val="8C1516"/>
              </a:solidFill>
            </a:endParaRPr>
          </a:p>
          <a:p>
            <a:pPr marL="0" indent="0">
              <a:buNone/>
            </a:pPr>
            <a:r>
              <a:rPr lang="en-US" sz="1800" dirty="0">
                <a:solidFill>
                  <a:srgbClr val="8C1516"/>
                </a:solidFill>
              </a:rPr>
              <a:t>*Assumptions:</a:t>
            </a:r>
          </a:p>
          <a:p>
            <a:r>
              <a:rPr lang="en-US" sz="1800" dirty="0">
                <a:solidFill>
                  <a:srgbClr val="8C1516"/>
                </a:solidFill>
              </a:rPr>
              <a:t>Relevance</a:t>
            </a:r>
          </a:p>
          <a:p>
            <a:r>
              <a:rPr lang="en-US" sz="1800" dirty="0">
                <a:solidFill>
                  <a:srgbClr val="8C1516"/>
                </a:solidFill>
              </a:rPr>
              <a:t>Independence</a:t>
            </a:r>
          </a:p>
          <a:p>
            <a:r>
              <a:rPr lang="en-US" sz="1800" dirty="0">
                <a:solidFill>
                  <a:srgbClr val="8C1516"/>
                </a:solidFill>
              </a:rPr>
              <a:t>Exclusion</a:t>
            </a:r>
          </a:p>
          <a:p>
            <a:r>
              <a:rPr lang="en-US" sz="1800" dirty="0">
                <a:solidFill>
                  <a:srgbClr val="8C1516"/>
                </a:solidFill>
              </a:rPr>
              <a:t>Monotonicity</a:t>
            </a:r>
          </a:p>
        </p:txBody>
      </p:sp>
    </p:spTree>
    <p:extLst>
      <p:ext uri="{BB962C8B-B14F-4D97-AF65-F5344CB8AC3E}">
        <p14:creationId xmlns:p14="http://schemas.microsoft.com/office/powerpoint/2010/main" val="369061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5209A-0D02-FAB2-04D3-7F6031844C2E}"/>
              </a:ext>
            </a:extLst>
          </p:cNvPr>
          <p:cNvSpPr>
            <a:spLocks noGrp="1"/>
          </p:cNvSpPr>
          <p:nvPr>
            <p:ph type="title"/>
          </p:nvPr>
        </p:nvSpPr>
        <p:spPr/>
        <p:txBody>
          <a:bodyPr/>
          <a:lstStyle/>
          <a:p>
            <a:r>
              <a:rPr lang="en-US" dirty="0"/>
              <a:t>Let’s take a quick break</a:t>
            </a:r>
          </a:p>
        </p:txBody>
      </p:sp>
      <p:sp>
        <p:nvSpPr>
          <p:cNvPr id="3" name="Content Placeholder 2">
            <a:extLst>
              <a:ext uri="{FF2B5EF4-FFF2-40B4-BE49-F238E27FC236}">
                <a16:creationId xmlns:a16="http://schemas.microsoft.com/office/drawing/2014/main" id="{32EA42EE-7EFB-FE80-A71A-8E608563E03D}"/>
              </a:ext>
            </a:extLst>
          </p:cNvPr>
          <p:cNvSpPr>
            <a:spLocks noGrp="1"/>
          </p:cNvSpPr>
          <p:nvPr>
            <p:ph idx="1"/>
          </p:nvPr>
        </p:nvSpPr>
        <p:spPr/>
        <p:txBody>
          <a:bodyPr/>
          <a:lstStyle/>
          <a:p>
            <a:r>
              <a:rPr lang="en-US" dirty="0"/>
              <a:t>During the break, think about:</a:t>
            </a:r>
          </a:p>
          <a:p>
            <a:endParaRPr lang="en-US" dirty="0"/>
          </a:p>
          <a:p>
            <a:pPr marL="0" indent="0" algn="ctr">
              <a:buNone/>
            </a:pPr>
            <a:r>
              <a:rPr lang="en-US" sz="5400" dirty="0"/>
              <a:t>Is being able to estimate</a:t>
            </a:r>
          </a:p>
          <a:p>
            <a:pPr marL="0" indent="0" algn="ctr">
              <a:buNone/>
            </a:pPr>
            <a:r>
              <a:rPr lang="en-US" sz="5400" dirty="0"/>
              <a:t> a LATE useful?</a:t>
            </a:r>
          </a:p>
          <a:p>
            <a:pPr marL="0" indent="0" algn="ctr">
              <a:buNone/>
            </a:pPr>
            <a:r>
              <a:rPr lang="en-US" sz="2400" dirty="0"/>
              <a:t>What does this actually tell us?</a:t>
            </a:r>
          </a:p>
        </p:txBody>
      </p:sp>
    </p:spTree>
    <p:extLst>
      <p:ext uri="{BB962C8B-B14F-4D97-AF65-F5344CB8AC3E}">
        <p14:creationId xmlns:p14="http://schemas.microsoft.com/office/powerpoint/2010/main" val="37633141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A5EAA1A-221D-0ED1-8891-101FEB0753A4}"/>
              </a:ext>
            </a:extLst>
          </p:cNvPr>
          <p:cNvSpPr/>
          <p:nvPr/>
        </p:nvSpPr>
        <p:spPr>
          <a:xfrm>
            <a:off x="10410983" y="6096000"/>
            <a:ext cx="1679417" cy="76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BA80EE-1AC9-7A9A-1FF4-3121D9C79352}"/>
              </a:ext>
            </a:extLst>
          </p:cNvPr>
          <p:cNvSpPr>
            <a:spLocks noGrp="1"/>
          </p:cNvSpPr>
          <p:nvPr>
            <p:ph type="title"/>
          </p:nvPr>
        </p:nvSpPr>
        <p:spPr>
          <a:xfrm>
            <a:off x="851853" y="51503"/>
            <a:ext cx="10515600" cy="1325563"/>
          </a:xfrm>
        </p:spPr>
        <p:txBody>
          <a:bodyPr/>
          <a:lstStyle/>
          <a:p>
            <a:r>
              <a:rPr lang="en-US" dirty="0"/>
              <a:t>Where do we stand?</a:t>
            </a:r>
          </a:p>
        </p:txBody>
      </p:sp>
      <p:sp>
        <p:nvSpPr>
          <p:cNvPr id="7" name="TextBox 6">
            <a:extLst>
              <a:ext uri="{FF2B5EF4-FFF2-40B4-BE49-F238E27FC236}">
                <a16:creationId xmlns:a16="http://schemas.microsoft.com/office/drawing/2014/main" id="{965D1855-267E-9A2E-7000-B16C682E8AFD}"/>
              </a:ext>
            </a:extLst>
          </p:cNvPr>
          <p:cNvSpPr txBox="1"/>
          <p:nvPr/>
        </p:nvSpPr>
        <p:spPr>
          <a:xfrm>
            <a:off x="3169819" y="2614438"/>
            <a:ext cx="6865897" cy="523220"/>
          </a:xfrm>
          <a:prstGeom prst="rect">
            <a:avLst/>
          </a:prstGeom>
          <a:noFill/>
        </p:spPr>
        <p:txBody>
          <a:bodyPr wrap="square" rtlCol="0">
            <a:spAutoFit/>
          </a:bodyPr>
          <a:lstStyle/>
          <a:p>
            <a:pPr algn="r"/>
            <a:r>
              <a:rPr lang="en-US" sz="2800" dirty="0">
                <a:solidFill>
                  <a:schemeClr val="accent5"/>
                </a:solidFill>
              </a:rPr>
              <a:t>Is that a big population?</a:t>
            </a:r>
          </a:p>
        </p:txBody>
      </p:sp>
      <p:sp>
        <p:nvSpPr>
          <p:cNvPr id="9" name="TextBox 8">
            <a:extLst>
              <a:ext uri="{FF2B5EF4-FFF2-40B4-BE49-F238E27FC236}">
                <a16:creationId xmlns:a16="http://schemas.microsoft.com/office/drawing/2014/main" id="{204B4E8A-B9D9-A1B0-AF4C-D1E27BB85730}"/>
              </a:ext>
            </a:extLst>
          </p:cNvPr>
          <p:cNvSpPr txBox="1"/>
          <p:nvPr/>
        </p:nvSpPr>
        <p:spPr>
          <a:xfrm>
            <a:off x="3169818" y="3220499"/>
            <a:ext cx="6865898" cy="954107"/>
          </a:xfrm>
          <a:prstGeom prst="rect">
            <a:avLst/>
          </a:prstGeom>
          <a:noFill/>
        </p:spPr>
        <p:txBody>
          <a:bodyPr wrap="square" rtlCol="0">
            <a:spAutoFit/>
          </a:bodyPr>
          <a:lstStyle/>
          <a:p>
            <a:pPr algn="r"/>
            <a:r>
              <a:rPr lang="en-US" sz="2800" dirty="0">
                <a:solidFill>
                  <a:schemeClr val="accent5"/>
                </a:solidFill>
              </a:rPr>
              <a:t>Is -$4 big or small compared to average earnings in this population?</a:t>
            </a:r>
          </a:p>
        </p:txBody>
      </p:sp>
      <p:sp>
        <p:nvSpPr>
          <p:cNvPr id="11" name="TextBox 10">
            <a:extLst>
              <a:ext uri="{FF2B5EF4-FFF2-40B4-BE49-F238E27FC236}">
                <a16:creationId xmlns:a16="http://schemas.microsoft.com/office/drawing/2014/main" id="{E2427F56-86AD-CDDF-2CC2-41B2FB925C35}"/>
              </a:ext>
            </a:extLst>
          </p:cNvPr>
          <p:cNvSpPr txBox="1"/>
          <p:nvPr/>
        </p:nvSpPr>
        <p:spPr>
          <a:xfrm>
            <a:off x="2649810" y="4243562"/>
            <a:ext cx="7385906" cy="954107"/>
          </a:xfrm>
          <a:prstGeom prst="rect">
            <a:avLst/>
          </a:prstGeom>
          <a:noFill/>
        </p:spPr>
        <p:txBody>
          <a:bodyPr wrap="square" rtlCol="0">
            <a:spAutoFit/>
          </a:bodyPr>
          <a:lstStyle/>
          <a:p>
            <a:pPr algn="r"/>
            <a:r>
              <a:rPr lang="en-US" sz="2800" dirty="0">
                <a:solidFill>
                  <a:schemeClr val="accent5"/>
                </a:solidFill>
              </a:rPr>
              <a:t>Is that population at all representative of the larger population?</a:t>
            </a:r>
          </a:p>
        </p:txBody>
      </p:sp>
      <p:pic>
        <p:nvPicPr>
          <p:cNvPr id="14" name="Picture 13">
            <a:extLst>
              <a:ext uri="{FF2B5EF4-FFF2-40B4-BE49-F238E27FC236}">
                <a16:creationId xmlns:a16="http://schemas.microsoft.com/office/drawing/2014/main" id="{F8347CF1-46C1-9D23-8E97-92A6B56DE256}"/>
              </a:ext>
            </a:extLst>
          </p:cNvPr>
          <p:cNvPicPr>
            <a:picLocks noChangeAspect="1"/>
          </p:cNvPicPr>
          <p:nvPr/>
        </p:nvPicPr>
        <p:blipFill>
          <a:blip r:embed="rId3"/>
          <a:stretch>
            <a:fillRect/>
          </a:stretch>
        </p:blipFill>
        <p:spPr>
          <a:xfrm flipH="1">
            <a:off x="1610854" y="4254525"/>
            <a:ext cx="1170445" cy="2396583"/>
          </a:xfrm>
          <a:prstGeom prst="rect">
            <a:avLst/>
          </a:prstGeom>
        </p:spPr>
      </p:pic>
      <p:pic>
        <p:nvPicPr>
          <p:cNvPr id="15" name="Picture 14">
            <a:extLst>
              <a:ext uri="{FF2B5EF4-FFF2-40B4-BE49-F238E27FC236}">
                <a16:creationId xmlns:a16="http://schemas.microsoft.com/office/drawing/2014/main" id="{C9EECE0F-61BC-86E6-37FA-53DE41274DE2}"/>
              </a:ext>
            </a:extLst>
          </p:cNvPr>
          <p:cNvPicPr>
            <a:picLocks noChangeAspect="1"/>
          </p:cNvPicPr>
          <p:nvPr/>
        </p:nvPicPr>
        <p:blipFill>
          <a:blip r:embed="rId4">
            <a:duotone>
              <a:schemeClr val="accent5">
                <a:shade val="45000"/>
                <a:satMod val="135000"/>
              </a:schemeClr>
              <a:prstClr val="white"/>
            </a:duotone>
          </a:blip>
          <a:stretch>
            <a:fillRect/>
          </a:stretch>
        </p:blipFill>
        <p:spPr>
          <a:xfrm flipH="1">
            <a:off x="10146998" y="3981449"/>
            <a:ext cx="1468749" cy="2673165"/>
          </a:xfrm>
          <a:prstGeom prst="rect">
            <a:avLst/>
          </a:prstGeom>
        </p:spPr>
      </p:pic>
      <p:sp>
        <p:nvSpPr>
          <p:cNvPr id="32" name="TextBox 31">
            <a:extLst>
              <a:ext uri="{FF2B5EF4-FFF2-40B4-BE49-F238E27FC236}">
                <a16:creationId xmlns:a16="http://schemas.microsoft.com/office/drawing/2014/main" id="{DF79D846-1079-CB29-6F89-B9975C0CB59A}"/>
              </a:ext>
            </a:extLst>
          </p:cNvPr>
          <p:cNvSpPr txBox="1"/>
          <p:nvPr/>
        </p:nvSpPr>
        <p:spPr>
          <a:xfrm>
            <a:off x="4572000" y="5257078"/>
            <a:ext cx="5357812" cy="523220"/>
          </a:xfrm>
          <a:prstGeom prst="rect">
            <a:avLst/>
          </a:prstGeom>
          <a:noFill/>
        </p:spPr>
        <p:txBody>
          <a:bodyPr wrap="square" rtlCol="0">
            <a:spAutoFit/>
          </a:bodyPr>
          <a:lstStyle/>
          <a:p>
            <a:pPr algn="r"/>
            <a:r>
              <a:rPr lang="en-US" sz="2800" b="1" dirty="0">
                <a:solidFill>
                  <a:schemeClr val="accent5"/>
                </a:solidFill>
              </a:rPr>
              <a:t>I have so many questions!</a:t>
            </a:r>
          </a:p>
        </p:txBody>
      </p:sp>
      <p:grpSp>
        <p:nvGrpSpPr>
          <p:cNvPr id="3" name="Group 2">
            <a:extLst>
              <a:ext uri="{FF2B5EF4-FFF2-40B4-BE49-F238E27FC236}">
                <a16:creationId xmlns:a16="http://schemas.microsoft.com/office/drawing/2014/main" id="{85FB4C8B-C783-4862-D531-0B0F0D45C872}"/>
              </a:ext>
            </a:extLst>
          </p:cNvPr>
          <p:cNvGrpSpPr/>
          <p:nvPr/>
        </p:nvGrpSpPr>
        <p:grpSpPr>
          <a:xfrm>
            <a:off x="827944" y="1419263"/>
            <a:ext cx="10459300" cy="3743287"/>
            <a:chOff x="827944" y="1419263"/>
            <a:chExt cx="10459300" cy="3743287"/>
          </a:xfrm>
        </p:grpSpPr>
        <p:sp>
          <p:nvSpPr>
            <p:cNvPr id="6" name="TextBox 5">
              <a:extLst>
                <a:ext uri="{FF2B5EF4-FFF2-40B4-BE49-F238E27FC236}">
                  <a16:creationId xmlns:a16="http://schemas.microsoft.com/office/drawing/2014/main" id="{CA2B5E18-12DF-0F1A-F1C1-568DC3067553}"/>
                </a:ext>
              </a:extLst>
            </p:cNvPr>
            <p:cNvSpPr txBox="1"/>
            <p:nvPr/>
          </p:nvSpPr>
          <p:spPr>
            <a:xfrm>
              <a:off x="1017608" y="1419263"/>
              <a:ext cx="10269636" cy="954107"/>
            </a:xfrm>
            <a:prstGeom prst="rect">
              <a:avLst/>
            </a:prstGeom>
            <a:noFill/>
          </p:spPr>
          <p:txBody>
            <a:bodyPr wrap="square" rtlCol="0">
              <a:spAutoFit/>
            </a:bodyPr>
            <a:lstStyle/>
            <a:p>
              <a:r>
                <a:rPr lang="en-US" sz="2800" dirty="0">
                  <a:solidFill>
                    <a:srgbClr val="0070C0"/>
                  </a:solidFill>
                </a:rPr>
                <a:t>Hey, there’s this cool thing called LATE!  We can learn the average treatment effect for the population of compliers!  It’s -$4!</a:t>
              </a:r>
            </a:p>
          </p:txBody>
        </p:sp>
        <p:sp>
          <p:nvSpPr>
            <p:cNvPr id="34" name="Freeform 33">
              <a:extLst>
                <a:ext uri="{FF2B5EF4-FFF2-40B4-BE49-F238E27FC236}">
                  <a16:creationId xmlns:a16="http://schemas.microsoft.com/office/drawing/2014/main" id="{F5546B02-FC2D-86B0-5FF4-B347D29CBC13}"/>
                </a:ext>
              </a:extLst>
            </p:cNvPr>
            <p:cNvSpPr/>
            <p:nvPr/>
          </p:nvSpPr>
          <p:spPr>
            <a:xfrm>
              <a:off x="827944" y="1847850"/>
              <a:ext cx="1038956" cy="3314700"/>
            </a:xfrm>
            <a:custGeom>
              <a:avLst/>
              <a:gdLst>
                <a:gd name="connsiteX0" fmla="*/ 1038956 w 1038956"/>
                <a:gd name="connsiteY0" fmla="*/ 3314700 h 3314700"/>
                <a:gd name="connsiteX1" fmla="*/ 448406 w 1038956"/>
                <a:gd name="connsiteY1" fmla="*/ 2667000 h 3314700"/>
                <a:gd name="connsiteX2" fmla="*/ 10256 w 1038956"/>
                <a:gd name="connsiteY2" fmla="*/ 1371600 h 3314700"/>
                <a:gd name="connsiteX3" fmla="*/ 181706 w 1038956"/>
                <a:gd name="connsiteY3" fmla="*/ 0 h 3314700"/>
              </a:gdLst>
              <a:ahLst/>
              <a:cxnLst>
                <a:cxn ang="0">
                  <a:pos x="connsiteX0" y="connsiteY0"/>
                </a:cxn>
                <a:cxn ang="0">
                  <a:pos x="connsiteX1" y="connsiteY1"/>
                </a:cxn>
                <a:cxn ang="0">
                  <a:pos x="connsiteX2" y="connsiteY2"/>
                </a:cxn>
                <a:cxn ang="0">
                  <a:pos x="connsiteX3" y="connsiteY3"/>
                </a:cxn>
              </a:cxnLst>
              <a:rect l="l" t="t" r="r" b="b"/>
              <a:pathLst>
                <a:path w="1038956" h="3314700">
                  <a:moveTo>
                    <a:pt x="1038956" y="3314700"/>
                  </a:moveTo>
                  <a:cubicBezTo>
                    <a:pt x="829406" y="3152775"/>
                    <a:pt x="619856" y="2990850"/>
                    <a:pt x="448406" y="2667000"/>
                  </a:cubicBezTo>
                  <a:cubicBezTo>
                    <a:pt x="276956" y="2343150"/>
                    <a:pt x="54706" y="1816100"/>
                    <a:pt x="10256" y="1371600"/>
                  </a:cubicBezTo>
                  <a:cubicBezTo>
                    <a:pt x="-34194" y="927100"/>
                    <a:pt x="73756" y="463550"/>
                    <a:pt x="181706" y="0"/>
                  </a:cubicBezTo>
                </a:path>
              </a:pathLst>
            </a:cu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4168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3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F1E3A-C646-E398-B1F7-196CD629C827}"/>
              </a:ext>
            </a:extLst>
          </p:cNvPr>
          <p:cNvSpPr>
            <a:spLocks noGrp="1"/>
          </p:cNvSpPr>
          <p:nvPr>
            <p:ph type="title"/>
          </p:nvPr>
        </p:nvSpPr>
        <p:spPr/>
        <p:txBody>
          <a:bodyPr/>
          <a:lstStyle/>
          <a:p>
            <a:r>
              <a:rPr lang="en-US" dirty="0"/>
              <a:t>We </a:t>
            </a:r>
            <a:r>
              <a:rPr lang="en-US" b="1" dirty="0"/>
              <a:t>can</a:t>
            </a:r>
            <a:r>
              <a:rPr lang="en-US" dirty="0"/>
              <a:t> actually answer these questions!</a:t>
            </a:r>
          </a:p>
        </p:txBody>
      </p:sp>
      <p:sp>
        <p:nvSpPr>
          <p:cNvPr id="3" name="Content Placeholder 2">
            <a:extLst>
              <a:ext uri="{FF2B5EF4-FFF2-40B4-BE49-F238E27FC236}">
                <a16:creationId xmlns:a16="http://schemas.microsoft.com/office/drawing/2014/main" id="{2CD471D0-1FBB-6152-290A-5E50BC2F2C8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520378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ADFEA-D640-4CC9-98D4-8041A4ECEAA5}"/>
              </a:ext>
            </a:extLst>
          </p:cNvPr>
          <p:cNvSpPr>
            <a:spLocks noGrp="1"/>
          </p:cNvSpPr>
          <p:nvPr>
            <p:ph type="title"/>
          </p:nvPr>
        </p:nvSpPr>
        <p:spPr>
          <a:xfrm>
            <a:off x="760611" y="265804"/>
            <a:ext cx="10515600" cy="1325563"/>
          </a:xfrm>
        </p:spPr>
        <p:txBody>
          <a:bodyPr/>
          <a:lstStyle/>
          <a:p>
            <a:r>
              <a:rPr lang="en-US" dirty="0"/>
              <a:t>Q1: How many compliers are there?</a:t>
            </a:r>
            <a:br>
              <a:rPr lang="en-US" dirty="0"/>
            </a:br>
            <a:r>
              <a:rPr lang="en-US" sz="2800" dirty="0"/>
              <a:t>Reprise of our toy example with 8 people; no defiers</a:t>
            </a:r>
            <a:endParaRPr lang="en-US" dirty="0"/>
          </a:p>
        </p:txBody>
      </p:sp>
      <p:grpSp>
        <p:nvGrpSpPr>
          <p:cNvPr id="10" name="Group 9">
            <a:extLst>
              <a:ext uri="{FF2B5EF4-FFF2-40B4-BE49-F238E27FC236}">
                <a16:creationId xmlns:a16="http://schemas.microsoft.com/office/drawing/2014/main" id="{827C66D6-ED7A-E1F5-452E-DF3D16685DA7}"/>
              </a:ext>
            </a:extLst>
          </p:cNvPr>
          <p:cNvGrpSpPr/>
          <p:nvPr/>
        </p:nvGrpSpPr>
        <p:grpSpPr>
          <a:xfrm>
            <a:off x="1615704" y="2019886"/>
            <a:ext cx="4108450" cy="4108450"/>
            <a:chOff x="847725" y="1468437"/>
            <a:chExt cx="5095875" cy="5095875"/>
          </a:xfrm>
        </p:grpSpPr>
        <p:sp>
          <p:nvSpPr>
            <p:cNvPr id="4" name="Rectangle 3">
              <a:extLst>
                <a:ext uri="{FF2B5EF4-FFF2-40B4-BE49-F238E27FC236}">
                  <a16:creationId xmlns:a16="http://schemas.microsoft.com/office/drawing/2014/main" id="{C1C05A97-0205-146E-3C98-AB57099701AD}"/>
                </a:ext>
              </a:extLst>
            </p:cNvPr>
            <p:cNvSpPr/>
            <p:nvPr/>
          </p:nvSpPr>
          <p:spPr>
            <a:xfrm>
              <a:off x="847725" y="1468437"/>
              <a:ext cx="5095875" cy="509587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4D02D748-1B9B-CEF1-7EA1-344B079CF07F}"/>
                </a:ext>
              </a:extLst>
            </p:cNvPr>
            <p:cNvCxnSpPr>
              <a:stCxn id="4" idx="0"/>
            </p:cNvCxnSpPr>
            <p:nvPr/>
          </p:nvCxnSpPr>
          <p:spPr>
            <a:xfrm>
              <a:off x="3395663" y="1468437"/>
              <a:ext cx="4762" cy="5024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86645DD-0254-94FD-6BD4-7B0EDD679909}"/>
                </a:ext>
              </a:extLst>
            </p:cNvPr>
            <p:cNvCxnSpPr>
              <a:cxnSpLocks/>
              <a:endCxn id="4" idx="3"/>
            </p:cNvCxnSpPr>
            <p:nvPr/>
          </p:nvCxnSpPr>
          <p:spPr>
            <a:xfrm>
              <a:off x="847725" y="3980656"/>
              <a:ext cx="5095875" cy="357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D25EA418-CE64-ED09-50CC-84E7BE0FF48E}"/>
              </a:ext>
            </a:extLst>
          </p:cNvPr>
          <p:cNvSpPr txBox="1"/>
          <p:nvPr/>
        </p:nvSpPr>
        <p:spPr>
          <a:xfrm>
            <a:off x="1913570" y="2148617"/>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18" name="TextBox 17">
            <a:extLst>
              <a:ext uri="{FF2B5EF4-FFF2-40B4-BE49-F238E27FC236}">
                <a16:creationId xmlns:a16="http://schemas.microsoft.com/office/drawing/2014/main" id="{F491B898-C45B-8C99-309C-2BBC72FB6E34}"/>
              </a:ext>
            </a:extLst>
          </p:cNvPr>
          <p:cNvSpPr txBox="1"/>
          <p:nvPr/>
        </p:nvSpPr>
        <p:spPr>
          <a:xfrm>
            <a:off x="3930823" y="2149672"/>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19" name="TextBox 18">
            <a:extLst>
              <a:ext uri="{FF2B5EF4-FFF2-40B4-BE49-F238E27FC236}">
                <a16:creationId xmlns:a16="http://schemas.microsoft.com/office/drawing/2014/main" id="{104A3755-DBC0-45B2-BDC0-59516E0775D6}"/>
              </a:ext>
            </a:extLst>
          </p:cNvPr>
          <p:cNvSpPr txBox="1"/>
          <p:nvPr/>
        </p:nvSpPr>
        <p:spPr>
          <a:xfrm>
            <a:off x="3956731" y="4205705"/>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21" name="TextBox 20">
            <a:extLst>
              <a:ext uri="{FF2B5EF4-FFF2-40B4-BE49-F238E27FC236}">
                <a16:creationId xmlns:a16="http://schemas.microsoft.com/office/drawing/2014/main" id="{38AF515A-4F46-27A7-407A-D8C435AF9075}"/>
              </a:ext>
            </a:extLst>
          </p:cNvPr>
          <p:cNvSpPr txBox="1"/>
          <p:nvPr/>
        </p:nvSpPr>
        <p:spPr>
          <a:xfrm>
            <a:off x="1882745" y="4205706"/>
            <a:ext cx="1520144" cy="461665"/>
          </a:xfrm>
          <a:prstGeom prst="rect">
            <a:avLst/>
          </a:prstGeom>
          <a:noFill/>
        </p:spPr>
        <p:txBody>
          <a:bodyPr wrap="square" rtlCol="0">
            <a:spAutoFit/>
          </a:bodyPr>
          <a:lstStyle/>
          <a:p>
            <a:r>
              <a:rPr lang="en-US" sz="2400" dirty="0">
                <a:solidFill>
                  <a:schemeClr val="accent1"/>
                </a:solidFill>
              </a:rPr>
              <a:t>1 person</a:t>
            </a:r>
          </a:p>
        </p:txBody>
      </p:sp>
      <p:grpSp>
        <p:nvGrpSpPr>
          <p:cNvPr id="43" name="Group 42">
            <a:extLst>
              <a:ext uri="{FF2B5EF4-FFF2-40B4-BE49-F238E27FC236}">
                <a16:creationId xmlns:a16="http://schemas.microsoft.com/office/drawing/2014/main" id="{BF0387FD-35FF-52EA-DB10-7F1331E72252}"/>
              </a:ext>
            </a:extLst>
          </p:cNvPr>
          <p:cNvGrpSpPr/>
          <p:nvPr/>
        </p:nvGrpSpPr>
        <p:grpSpPr>
          <a:xfrm>
            <a:off x="5010646" y="1998219"/>
            <a:ext cx="6587232" cy="814067"/>
            <a:chOff x="4857750" y="1789054"/>
            <a:chExt cx="6587232" cy="814067"/>
          </a:xfrm>
        </p:grpSpPr>
        <p:sp>
          <p:nvSpPr>
            <p:cNvPr id="22" name="TextBox 21">
              <a:extLst>
                <a:ext uri="{FF2B5EF4-FFF2-40B4-BE49-F238E27FC236}">
                  <a16:creationId xmlns:a16="http://schemas.microsoft.com/office/drawing/2014/main" id="{BEF7B8D0-4C51-4DD5-7EEC-4ED03C0D69AE}"/>
                </a:ext>
              </a:extLst>
            </p:cNvPr>
            <p:cNvSpPr txBox="1"/>
            <p:nvPr/>
          </p:nvSpPr>
          <p:spPr>
            <a:xfrm>
              <a:off x="6096000" y="1789054"/>
              <a:ext cx="5348982" cy="461665"/>
            </a:xfrm>
            <a:prstGeom prst="rect">
              <a:avLst/>
            </a:prstGeom>
            <a:noFill/>
          </p:spPr>
          <p:txBody>
            <a:bodyPr wrap="square" rtlCol="0">
              <a:spAutoFit/>
            </a:bodyPr>
            <a:lstStyle/>
            <a:p>
              <a:r>
                <a:rPr lang="en-US" sz="2400" dirty="0"/>
                <a:t>What can we say about these people?</a:t>
              </a:r>
            </a:p>
          </p:txBody>
        </p:sp>
        <p:cxnSp>
          <p:nvCxnSpPr>
            <p:cNvPr id="24" name="Straight Arrow Connector 23">
              <a:extLst>
                <a:ext uri="{FF2B5EF4-FFF2-40B4-BE49-F238E27FC236}">
                  <a16:creationId xmlns:a16="http://schemas.microsoft.com/office/drawing/2014/main" id="{3195A64F-F81C-096B-1739-DAA86F1A9EE1}"/>
                </a:ext>
              </a:extLst>
            </p:cNvPr>
            <p:cNvCxnSpPr>
              <a:stCxn id="22" idx="1"/>
            </p:cNvCxnSpPr>
            <p:nvPr/>
          </p:nvCxnSpPr>
          <p:spPr>
            <a:xfrm flipH="1">
              <a:off x="4857750" y="2019887"/>
              <a:ext cx="1238250" cy="583234"/>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p:grpSp>
      <p:sp>
        <p:nvSpPr>
          <p:cNvPr id="27" name="TextBox 26">
            <a:extLst>
              <a:ext uri="{FF2B5EF4-FFF2-40B4-BE49-F238E27FC236}">
                <a16:creationId xmlns:a16="http://schemas.microsoft.com/office/drawing/2014/main" id="{B74E34DC-EEFA-BCBC-5E9B-32AAE2417271}"/>
              </a:ext>
            </a:extLst>
          </p:cNvPr>
          <p:cNvSpPr txBox="1"/>
          <p:nvPr/>
        </p:nvSpPr>
        <p:spPr>
          <a:xfrm>
            <a:off x="9099749" y="2605126"/>
            <a:ext cx="4352924" cy="523220"/>
          </a:xfrm>
          <a:prstGeom prst="rect">
            <a:avLst/>
          </a:prstGeom>
          <a:noFill/>
        </p:spPr>
        <p:txBody>
          <a:bodyPr wrap="square" rtlCol="0">
            <a:spAutoFit/>
          </a:bodyPr>
          <a:lstStyle/>
          <a:p>
            <a:r>
              <a:rPr lang="en-US" sz="2800" dirty="0">
                <a:solidFill>
                  <a:schemeClr val="accent2"/>
                </a:solidFill>
              </a:rPr>
              <a:t>Always-takers!</a:t>
            </a:r>
          </a:p>
        </p:txBody>
      </p:sp>
      <p:grpSp>
        <p:nvGrpSpPr>
          <p:cNvPr id="44" name="Group 43">
            <a:extLst>
              <a:ext uri="{FF2B5EF4-FFF2-40B4-BE49-F238E27FC236}">
                <a16:creationId xmlns:a16="http://schemas.microsoft.com/office/drawing/2014/main" id="{5615BF7E-5F81-A11E-AD16-BB23C1CD4689}"/>
              </a:ext>
            </a:extLst>
          </p:cNvPr>
          <p:cNvGrpSpPr/>
          <p:nvPr/>
        </p:nvGrpSpPr>
        <p:grpSpPr>
          <a:xfrm>
            <a:off x="2554015" y="3052415"/>
            <a:ext cx="8738543" cy="461665"/>
            <a:chOff x="2772420" y="2958605"/>
            <a:chExt cx="8738543" cy="461665"/>
          </a:xfrm>
        </p:grpSpPr>
        <p:sp>
          <p:nvSpPr>
            <p:cNvPr id="28" name="TextBox 27">
              <a:extLst>
                <a:ext uri="{FF2B5EF4-FFF2-40B4-BE49-F238E27FC236}">
                  <a16:creationId xmlns:a16="http://schemas.microsoft.com/office/drawing/2014/main" id="{371BD3A9-F0EB-E82A-7476-EB3A120C7179}"/>
                </a:ext>
              </a:extLst>
            </p:cNvPr>
            <p:cNvSpPr txBox="1"/>
            <p:nvPr/>
          </p:nvSpPr>
          <p:spPr>
            <a:xfrm>
              <a:off x="6161981" y="2958605"/>
              <a:ext cx="5348982" cy="461665"/>
            </a:xfrm>
            <a:prstGeom prst="rect">
              <a:avLst/>
            </a:prstGeom>
            <a:noFill/>
          </p:spPr>
          <p:txBody>
            <a:bodyPr wrap="square" rtlCol="0">
              <a:spAutoFit/>
            </a:bodyPr>
            <a:lstStyle/>
            <a:p>
              <a:r>
                <a:rPr lang="en-US" sz="2400" dirty="0"/>
                <a:t>These people?</a:t>
              </a:r>
            </a:p>
          </p:txBody>
        </p:sp>
        <p:cxnSp>
          <p:nvCxnSpPr>
            <p:cNvPr id="29" name="Straight Arrow Connector 28">
              <a:extLst>
                <a:ext uri="{FF2B5EF4-FFF2-40B4-BE49-F238E27FC236}">
                  <a16:creationId xmlns:a16="http://schemas.microsoft.com/office/drawing/2014/main" id="{865F0A22-2761-998E-6F28-501AA11D88C7}"/>
                </a:ext>
              </a:extLst>
            </p:cNvPr>
            <p:cNvCxnSpPr>
              <a:cxnSpLocks/>
              <a:stCxn id="28" idx="1"/>
            </p:cNvCxnSpPr>
            <p:nvPr/>
          </p:nvCxnSpPr>
          <p:spPr>
            <a:xfrm flipH="1" flipV="1">
              <a:off x="2772420" y="3012403"/>
              <a:ext cx="3389561" cy="177035"/>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p:grpSp>
      <p:sp>
        <p:nvSpPr>
          <p:cNvPr id="32" name="TextBox 31">
            <a:extLst>
              <a:ext uri="{FF2B5EF4-FFF2-40B4-BE49-F238E27FC236}">
                <a16:creationId xmlns:a16="http://schemas.microsoft.com/office/drawing/2014/main" id="{E295CBED-70C5-03CD-42A0-78759E8AE466}"/>
              </a:ext>
            </a:extLst>
          </p:cNvPr>
          <p:cNvSpPr txBox="1"/>
          <p:nvPr/>
        </p:nvSpPr>
        <p:spPr>
          <a:xfrm>
            <a:off x="6923287" y="3436313"/>
            <a:ext cx="5557982" cy="523220"/>
          </a:xfrm>
          <a:prstGeom prst="rect">
            <a:avLst/>
          </a:prstGeom>
          <a:noFill/>
        </p:spPr>
        <p:txBody>
          <a:bodyPr wrap="square" rtlCol="0">
            <a:spAutoFit/>
          </a:bodyPr>
          <a:lstStyle/>
          <a:p>
            <a:r>
              <a:rPr lang="en-US" sz="2800" dirty="0">
                <a:solidFill>
                  <a:schemeClr val="accent2"/>
                </a:solidFill>
              </a:rPr>
              <a:t>Always-takers or compliers!</a:t>
            </a:r>
          </a:p>
        </p:txBody>
      </p:sp>
      <p:grpSp>
        <p:nvGrpSpPr>
          <p:cNvPr id="45" name="Group 44">
            <a:extLst>
              <a:ext uri="{FF2B5EF4-FFF2-40B4-BE49-F238E27FC236}">
                <a16:creationId xmlns:a16="http://schemas.microsoft.com/office/drawing/2014/main" id="{5E97F478-60DE-6BDE-F3EE-E0F7531DEFA1}"/>
              </a:ext>
            </a:extLst>
          </p:cNvPr>
          <p:cNvGrpSpPr/>
          <p:nvPr/>
        </p:nvGrpSpPr>
        <p:grpSpPr>
          <a:xfrm>
            <a:off x="2772420" y="4181954"/>
            <a:ext cx="8738543" cy="759863"/>
            <a:chOff x="2772420" y="4181954"/>
            <a:chExt cx="8738543" cy="759863"/>
          </a:xfrm>
        </p:grpSpPr>
        <p:sp>
          <p:nvSpPr>
            <p:cNvPr id="33" name="TextBox 32">
              <a:extLst>
                <a:ext uri="{FF2B5EF4-FFF2-40B4-BE49-F238E27FC236}">
                  <a16:creationId xmlns:a16="http://schemas.microsoft.com/office/drawing/2014/main" id="{76FE1467-9777-6BD0-3BF1-D66F130177B3}"/>
                </a:ext>
              </a:extLst>
            </p:cNvPr>
            <p:cNvSpPr txBox="1"/>
            <p:nvPr/>
          </p:nvSpPr>
          <p:spPr>
            <a:xfrm>
              <a:off x="6161981" y="4181954"/>
              <a:ext cx="5348982" cy="461665"/>
            </a:xfrm>
            <a:prstGeom prst="rect">
              <a:avLst/>
            </a:prstGeom>
            <a:noFill/>
          </p:spPr>
          <p:txBody>
            <a:bodyPr wrap="square" rtlCol="0">
              <a:spAutoFit/>
            </a:bodyPr>
            <a:lstStyle/>
            <a:p>
              <a:r>
                <a:rPr lang="en-US" sz="2400" dirty="0"/>
                <a:t>These people?</a:t>
              </a:r>
            </a:p>
          </p:txBody>
        </p:sp>
        <p:cxnSp>
          <p:nvCxnSpPr>
            <p:cNvPr id="34" name="Straight Arrow Connector 33">
              <a:extLst>
                <a:ext uri="{FF2B5EF4-FFF2-40B4-BE49-F238E27FC236}">
                  <a16:creationId xmlns:a16="http://schemas.microsoft.com/office/drawing/2014/main" id="{AE3786AA-C7FB-DA8F-8909-DDD6424CEB4F}"/>
                </a:ext>
              </a:extLst>
            </p:cNvPr>
            <p:cNvCxnSpPr>
              <a:cxnSpLocks/>
              <a:stCxn id="33" idx="1"/>
            </p:cNvCxnSpPr>
            <p:nvPr/>
          </p:nvCxnSpPr>
          <p:spPr>
            <a:xfrm flipH="1">
              <a:off x="2772420" y="4412787"/>
              <a:ext cx="3389561" cy="529030"/>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p:grpSp>
      <p:sp>
        <p:nvSpPr>
          <p:cNvPr id="37" name="TextBox 36">
            <a:extLst>
              <a:ext uri="{FF2B5EF4-FFF2-40B4-BE49-F238E27FC236}">
                <a16:creationId xmlns:a16="http://schemas.microsoft.com/office/drawing/2014/main" id="{E8320350-37C5-2AB4-94C9-629E5F905520}"/>
              </a:ext>
            </a:extLst>
          </p:cNvPr>
          <p:cNvSpPr txBox="1"/>
          <p:nvPr/>
        </p:nvSpPr>
        <p:spPr>
          <a:xfrm>
            <a:off x="6923287" y="4577328"/>
            <a:ext cx="4352924" cy="523220"/>
          </a:xfrm>
          <a:prstGeom prst="rect">
            <a:avLst/>
          </a:prstGeom>
          <a:noFill/>
        </p:spPr>
        <p:txBody>
          <a:bodyPr wrap="square" rtlCol="0">
            <a:spAutoFit/>
          </a:bodyPr>
          <a:lstStyle/>
          <a:p>
            <a:r>
              <a:rPr lang="en-US" sz="2800" dirty="0">
                <a:solidFill>
                  <a:schemeClr val="accent2"/>
                </a:solidFill>
              </a:rPr>
              <a:t>Never-takers!</a:t>
            </a:r>
          </a:p>
        </p:txBody>
      </p:sp>
      <p:grpSp>
        <p:nvGrpSpPr>
          <p:cNvPr id="46" name="Group 45">
            <a:extLst>
              <a:ext uri="{FF2B5EF4-FFF2-40B4-BE49-F238E27FC236}">
                <a16:creationId xmlns:a16="http://schemas.microsoft.com/office/drawing/2014/main" id="{F89A12A8-6536-AA47-10C7-DFBB9B885CEB}"/>
              </a:ext>
            </a:extLst>
          </p:cNvPr>
          <p:cNvGrpSpPr/>
          <p:nvPr/>
        </p:nvGrpSpPr>
        <p:grpSpPr>
          <a:xfrm>
            <a:off x="4653038" y="5183814"/>
            <a:ext cx="6944840" cy="542940"/>
            <a:chOff x="4653038" y="5183814"/>
            <a:chExt cx="6944840" cy="542940"/>
          </a:xfrm>
        </p:grpSpPr>
        <p:sp>
          <p:nvSpPr>
            <p:cNvPr id="38" name="TextBox 37">
              <a:extLst>
                <a:ext uri="{FF2B5EF4-FFF2-40B4-BE49-F238E27FC236}">
                  <a16:creationId xmlns:a16="http://schemas.microsoft.com/office/drawing/2014/main" id="{0F7749F1-122B-893F-5FD9-CDA65AF194CD}"/>
                </a:ext>
              </a:extLst>
            </p:cNvPr>
            <p:cNvSpPr txBox="1"/>
            <p:nvPr/>
          </p:nvSpPr>
          <p:spPr>
            <a:xfrm>
              <a:off x="6248896" y="5265089"/>
              <a:ext cx="5348982" cy="461665"/>
            </a:xfrm>
            <a:prstGeom prst="rect">
              <a:avLst/>
            </a:prstGeom>
            <a:noFill/>
          </p:spPr>
          <p:txBody>
            <a:bodyPr wrap="square" rtlCol="0">
              <a:spAutoFit/>
            </a:bodyPr>
            <a:lstStyle/>
            <a:p>
              <a:r>
                <a:rPr lang="en-US" sz="2400" dirty="0"/>
                <a:t>These people?</a:t>
              </a:r>
            </a:p>
          </p:txBody>
        </p:sp>
        <p:cxnSp>
          <p:nvCxnSpPr>
            <p:cNvPr id="39" name="Straight Arrow Connector 38">
              <a:extLst>
                <a:ext uri="{FF2B5EF4-FFF2-40B4-BE49-F238E27FC236}">
                  <a16:creationId xmlns:a16="http://schemas.microsoft.com/office/drawing/2014/main" id="{6873053A-84A7-9157-FD98-524560A61268}"/>
                </a:ext>
              </a:extLst>
            </p:cNvPr>
            <p:cNvCxnSpPr>
              <a:cxnSpLocks/>
              <a:stCxn id="38" idx="1"/>
            </p:cNvCxnSpPr>
            <p:nvPr/>
          </p:nvCxnSpPr>
          <p:spPr>
            <a:xfrm flipH="1" flipV="1">
              <a:off x="4653038" y="5183814"/>
              <a:ext cx="1595858" cy="312108"/>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p:grpSp>
      <p:sp>
        <p:nvSpPr>
          <p:cNvPr id="42" name="TextBox 41">
            <a:extLst>
              <a:ext uri="{FF2B5EF4-FFF2-40B4-BE49-F238E27FC236}">
                <a16:creationId xmlns:a16="http://schemas.microsoft.com/office/drawing/2014/main" id="{8F1DFDB7-2308-7FBD-C837-B86DCBA16A20}"/>
              </a:ext>
            </a:extLst>
          </p:cNvPr>
          <p:cNvSpPr txBox="1"/>
          <p:nvPr/>
        </p:nvSpPr>
        <p:spPr>
          <a:xfrm>
            <a:off x="6834140" y="5709931"/>
            <a:ext cx="4352924" cy="523220"/>
          </a:xfrm>
          <a:prstGeom prst="rect">
            <a:avLst/>
          </a:prstGeom>
          <a:noFill/>
        </p:spPr>
        <p:txBody>
          <a:bodyPr wrap="square" rtlCol="0">
            <a:spAutoFit/>
          </a:bodyPr>
          <a:lstStyle/>
          <a:p>
            <a:r>
              <a:rPr lang="en-US" sz="2800" dirty="0">
                <a:solidFill>
                  <a:schemeClr val="accent2"/>
                </a:solidFill>
              </a:rPr>
              <a:t>Never-takers or compliers!</a:t>
            </a:r>
          </a:p>
        </p:txBody>
      </p:sp>
      <p:sp>
        <p:nvSpPr>
          <p:cNvPr id="47" name="TextBox 46">
            <a:extLst>
              <a:ext uri="{FF2B5EF4-FFF2-40B4-BE49-F238E27FC236}">
                <a16:creationId xmlns:a16="http://schemas.microsoft.com/office/drawing/2014/main" id="{83995833-88AC-41B6-D19E-97EFF933BECA}"/>
              </a:ext>
            </a:extLst>
          </p:cNvPr>
          <p:cNvSpPr txBox="1"/>
          <p:nvPr/>
        </p:nvSpPr>
        <p:spPr>
          <a:xfrm>
            <a:off x="6746924" y="2357782"/>
            <a:ext cx="5183137" cy="369332"/>
          </a:xfrm>
          <a:prstGeom prst="rect">
            <a:avLst/>
          </a:prstGeom>
          <a:noFill/>
        </p:spPr>
        <p:txBody>
          <a:bodyPr wrap="square" rtlCol="0">
            <a:spAutoFit/>
          </a:bodyPr>
          <a:lstStyle/>
          <a:p>
            <a:r>
              <a:rPr lang="en-US" dirty="0">
                <a:solidFill>
                  <a:schemeClr val="tx2"/>
                </a:solidFill>
              </a:rPr>
              <a:t>Compliers?  Always-takers?  Never-takers?</a:t>
            </a:r>
          </a:p>
        </p:txBody>
      </p:sp>
      <p:pic>
        <p:nvPicPr>
          <p:cNvPr id="3" name="Picture 4" descr="Military Beret Cap With Star PNG &amp; SVG Design For T-Shirts">
            <a:extLst>
              <a:ext uri="{FF2B5EF4-FFF2-40B4-BE49-F238E27FC236}">
                <a16:creationId xmlns:a16="http://schemas.microsoft.com/office/drawing/2014/main" id="{1679CCA9-8A07-F15F-5E7F-30A93718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87" y="2375063"/>
            <a:ext cx="873458" cy="87345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Tie Dye T-Shirt - Classic Rainbow Spiral - Psychedelic Shirt">
            <a:extLst>
              <a:ext uri="{FF2B5EF4-FFF2-40B4-BE49-F238E27FC236}">
                <a16:creationId xmlns:a16="http://schemas.microsoft.com/office/drawing/2014/main" id="{3F353D28-6CF8-E6C7-C2DC-0485A285077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505718" y="4672450"/>
            <a:ext cx="1017530" cy="7315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5100D51-597B-8A83-AFD6-140B41855ED9}"/>
              </a:ext>
            </a:extLst>
          </p:cNvPr>
          <p:cNvSpPr txBox="1"/>
          <p:nvPr/>
        </p:nvSpPr>
        <p:spPr>
          <a:xfrm>
            <a:off x="559189" y="3038362"/>
            <a:ext cx="870366" cy="369332"/>
          </a:xfrm>
          <a:prstGeom prst="rect">
            <a:avLst/>
          </a:prstGeom>
          <a:noFill/>
        </p:spPr>
        <p:txBody>
          <a:bodyPr wrap="none" rtlCol="0">
            <a:spAutoFit/>
          </a:bodyPr>
          <a:lstStyle/>
          <a:p>
            <a:r>
              <a:rPr lang="en-US" dirty="0"/>
              <a:t>Served</a:t>
            </a:r>
          </a:p>
        </p:txBody>
      </p:sp>
      <p:sp>
        <p:nvSpPr>
          <p:cNvPr id="9" name="TextBox 8">
            <a:extLst>
              <a:ext uri="{FF2B5EF4-FFF2-40B4-BE49-F238E27FC236}">
                <a16:creationId xmlns:a16="http://schemas.microsoft.com/office/drawing/2014/main" id="{292A7D70-D623-EDC2-92DE-5485A7FF7F9F}"/>
              </a:ext>
            </a:extLst>
          </p:cNvPr>
          <p:cNvSpPr txBox="1"/>
          <p:nvPr/>
        </p:nvSpPr>
        <p:spPr>
          <a:xfrm>
            <a:off x="541087" y="5421978"/>
            <a:ext cx="949299" cy="646331"/>
          </a:xfrm>
          <a:prstGeom prst="rect">
            <a:avLst/>
          </a:prstGeom>
          <a:noFill/>
        </p:spPr>
        <p:txBody>
          <a:bodyPr wrap="none" rtlCol="0">
            <a:spAutoFit/>
          </a:bodyPr>
          <a:lstStyle/>
          <a:p>
            <a:r>
              <a:rPr lang="en-US" dirty="0"/>
              <a:t>Did not </a:t>
            </a:r>
          </a:p>
          <a:p>
            <a:pPr algn="ctr"/>
            <a:r>
              <a:rPr lang="en-US" dirty="0"/>
              <a:t>serve</a:t>
            </a:r>
          </a:p>
        </p:txBody>
      </p:sp>
      <p:sp>
        <p:nvSpPr>
          <p:cNvPr id="15" name="TextBox 14">
            <a:extLst>
              <a:ext uri="{FF2B5EF4-FFF2-40B4-BE49-F238E27FC236}">
                <a16:creationId xmlns:a16="http://schemas.microsoft.com/office/drawing/2014/main" id="{B05D8161-3437-96BC-A502-31F8070F57DB}"/>
              </a:ext>
            </a:extLst>
          </p:cNvPr>
          <p:cNvSpPr txBox="1"/>
          <p:nvPr/>
        </p:nvSpPr>
        <p:spPr>
          <a:xfrm>
            <a:off x="2073898" y="6226143"/>
            <a:ext cx="933012" cy="369332"/>
          </a:xfrm>
          <a:prstGeom prst="rect">
            <a:avLst/>
          </a:prstGeom>
          <a:noFill/>
        </p:spPr>
        <p:txBody>
          <a:bodyPr wrap="none" rtlCol="0">
            <a:spAutoFit/>
          </a:bodyPr>
          <a:lstStyle/>
          <a:p>
            <a:r>
              <a:rPr lang="en-US" dirty="0"/>
              <a:t>Drafted</a:t>
            </a:r>
          </a:p>
        </p:txBody>
      </p:sp>
      <p:sp>
        <p:nvSpPr>
          <p:cNvPr id="16" name="TextBox 15">
            <a:extLst>
              <a:ext uri="{FF2B5EF4-FFF2-40B4-BE49-F238E27FC236}">
                <a16:creationId xmlns:a16="http://schemas.microsoft.com/office/drawing/2014/main" id="{3DE3BF5B-1350-2BBB-2689-4058742CFD4E}"/>
              </a:ext>
            </a:extLst>
          </p:cNvPr>
          <p:cNvSpPr txBox="1"/>
          <p:nvPr/>
        </p:nvSpPr>
        <p:spPr>
          <a:xfrm>
            <a:off x="4015348" y="6235650"/>
            <a:ext cx="1344984" cy="369332"/>
          </a:xfrm>
          <a:prstGeom prst="rect">
            <a:avLst/>
          </a:prstGeom>
          <a:noFill/>
        </p:spPr>
        <p:txBody>
          <a:bodyPr wrap="none" rtlCol="0">
            <a:spAutoFit/>
          </a:bodyPr>
          <a:lstStyle/>
          <a:p>
            <a:r>
              <a:rPr lang="en-US" dirty="0"/>
              <a:t>Not Drafted</a:t>
            </a:r>
          </a:p>
        </p:txBody>
      </p:sp>
    </p:spTree>
    <p:extLst>
      <p:ext uri="{BB962C8B-B14F-4D97-AF65-F5344CB8AC3E}">
        <p14:creationId xmlns:p14="http://schemas.microsoft.com/office/powerpoint/2010/main" val="328705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2" grpId="0"/>
      <p:bldP spid="37" grpId="0"/>
      <p:bldP spid="42" grpId="0"/>
      <p:bldP spid="4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ADFEA-D640-4CC9-98D4-8041A4ECEAA5}"/>
              </a:ext>
            </a:extLst>
          </p:cNvPr>
          <p:cNvSpPr>
            <a:spLocks noGrp="1"/>
          </p:cNvSpPr>
          <p:nvPr>
            <p:ph type="title"/>
          </p:nvPr>
        </p:nvSpPr>
        <p:spPr>
          <a:xfrm>
            <a:off x="760611" y="265804"/>
            <a:ext cx="10515600" cy="1325563"/>
          </a:xfrm>
        </p:spPr>
        <p:txBody>
          <a:bodyPr/>
          <a:lstStyle/>
          <a:p>
            <a:r>
              <a:rPr lang="en-US" dirty="0"/>
              <a:t>Q1: How many compliers are there?</a:t>
            </a:r>
            <a:br>
              <a:rPr lang="en-US" dirty="0"/>
            </a:br>
            <a:r>
              <a:rPr lang="en-US" sz="2800" dirty="0"/>
              <a:t>Reprise of our toy example with 8 people; no defiers</a:t>
            </a:r>
            <a:endParaRPr lang="en-US" dirty="0"/>
          </a:p>
        </p:txBody>
      </p:sp>
      <p:grpSp>
        <p:nvGrpSpPr>
          <p:cNvPr id="10" name="Group 9">
            <a:extLst>
              <a:ext uri="{FF2B5EF4-FFF2-40B4-BE49-F238E27FC236}">
                <a16:creationId xmlns:a16="http://schemas.microsoft.com/office/drawing/2014/main" id="{827C66D6-ED7A-E1F5-452E-DF3D16685DA7}"/>
              </a:ext>
            </a:extLst>
          </p:cNvPr>
          <p:cNvGrpSpPr/>
          <p:nvPr/>
        </p:nvGrpSpPr>
        <p:grpSpPr>
          <a:xfrm>
            <a:off x="1615704" y="2019886"/>
            <a:ext cx="4108450" cy="4108450"/>
            <a:chOff x="847725" y="1468437"/>
            <a:chExt cx="5095875" cy="5095875"/>
          </a:xfrm>
        </p:grpSpPr>
        <p:sp>
          <p:nvSpPr>
            <p:cNvPr id="4" name="Rectangle 3">
              <a:extLst>
                <a:ext uri="{FF2B5EF4-FFF2-40B4-BE49-F238E27FC236}">
                  <a16:creationId xmlns:a16="http://schemas.microsoft.com/office/drawing/2014/main" id="{C1C05A97-0205-146E-3C98-AB57099701AD}"/>
                </a:ext>
              </a:extLst>
            </p:cNvPr>
            <p:cNvSpPr/>
            <p:nvPr/>
          </p:nvSpPr>
          <p:spPr>
            <a:xfrm>
              <a:off x="847725" y="1468437"/>
              <a:ext cx="5095875" cy="509587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4D02D748-1B9B-CEF1-7EA1-344B079CF07F}"/>
                </a:ext>
              </a:extLst>
            </p:cNvPr>
            <p:cNvCxnSpPr>
              <a:stCxn id="4" idx="0"/>
            </p:cNvCxnSpPr>
            <p:nvPr/>
          </p:nvCxnSpPr>
          <p:spPr>
            <a:xfrm>
              <a:off x="3395663" y="1468437"/>
              <a:ext cx="4762" cy="5024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86645DD-0254-94FD-6BD4-7B0EDD679909}"/>
                </a:ext>
              </a:extLst>
            </p:cNvPr>
            <p:cNvCxnSpPr>
              <a:cxnSpLocks/>
              <a:endCxn id="4" idx="3"/>
            </p:cNvCxnSpPr>
            <p:nvPr/>
          </p:nvCxnSpPr>
          <p:spPr>
            <a:xfrm>
              <a:off x="847725" y="3980656"/>
              <a:ext cx="5095875" cy="357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D25EA418-CE64-ED09-50CC-84E7BE0FF48E}"/>
              </a:ext>
            </a:extLst>
          </p:cNvPr>
          <p:cNvSpPr txBox="1"/>
          <p:nvPr/>
        </p:nvSpPr>
        <p:spPr>
          <a:xfrm>
            <a:off x="1913570" y="2148617"/>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18" name="TextBox 17">
            <a:extLst>
              <a:ext uri="{FF2B5EF4-FFF2-40B4-BE49-F238E27FC236}">
                <a16:creationId xmlns:a16="http://schemas.microsoft.com/office/drawing/2014/main" id="{F491B898-C45B-8C99-309C-2BBC72FB6E34}"/>
              </a:ext>
            </a:extLst>
          </p:cNvPr>
          <p:cNvSpPr txBox="1"/>
          <p:nvPr/>
        </p:nvSpPr>
        <p:spPr>
          <a:xfrm>
            <a:off x="3930823" y="2149672"/>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19" name="TextBox 18">
            <a:extLst>
              <a:ext uri="{FF2B5EF4-FFF2-40B4-BE49-F238E27FC236}">
                <a16:creationId xmlns:a16="http://schemas.microsoft.com/office/drawing/2014/main" id="{104A3755-DBC0-45B2-BDC0-59516E0775D6}"/>
              </a:ext>
            </a:extLst>
          </p:cNvPr>
          <p:cNvSpPr txBox="1"/>
          <p:nvPr/>
        </p:nvSpPr>
        <p:spPr>
          <a:xfrm>
            <a:off x="3956731" y="4205705"/>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21" name="TextBox 20">
            <a:extLst>
              <a:ext uri="{FF2B5EF4-FFF2-40B4-BE49-F238E27FC236}">
                <a16:creationId xmlns:a16="http://schemas.microsoft.com/office/drawing/2014/main" id="{38AF515A-4F46-27A7-407A-D8C435AF9075}"/>
              </a:ext>
            </a:extLst>
          </p:cNvPr>
          <p:cNvSpPr txBox="1"/>
          <p:nvPr/>
        </p:nvSpPr>
        <p:spPr>
          <a:xfrm>
            <a:off x="1882745" y="4205706"/>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27" name="TextBox 26">
            <a:extLst>
              <a:ext uri="{FF2B5EF4-FFF2-40B4-BE49-F238E27FC236}">
                <a16:creationId xmlns:a16="http://schemas.microsoft.com/office/drawing/2014/main" id="{B74E34DC-EEFA-BCBC-5E9B-32AAE2417271}"/>
              </a:ext>
            </a:extLst>
          </p:cNvPr>
          <p:cNvSpPr txBox="1"/>
          <p:nvPr/>
        </p:nvSpPr>
        <p:spPr>
          <a:xfrm>
            <a:off x="3467737" y="2756567"/>
            <a:ext cx="2498129" cy="400110"/>
          </a:xfrm>
          <a:prstGeom prst="rect">
            <a:avLst/>
          </a:prstGeom>
          <a:noFill/>
        </p:spPr>
        <p:txBody>
          <a:bodyPr wrap="square" rtlCol="0">
            <a:spAutoFit/>
          </a:bodyPr>
          <a:lstStyle/>
          <a:p>
            <a:pPr algn="ctr"/>
            <a:r>
              <a:rPr lang="en-US" sz="2000" dirty="0">
                <a:solidFill>
                  <a:schemeClr val="accent2"/>
                </a:solidFill>
              </a:rPr>
              <a:t>Always-takers</a:t>
            </a:r>
          </a:p>
        </p:txBody>
      </p:sp>
      <p:sp>
        <p:nvSpPr>
          <p:cNvPr id="32" name="TextBox 31">
            <a:extLst>
              <a:ext uri="{FF2B5EF4-FFF2-40B4-BE49-F238E27FC236}">
                <a16:creationId xmlns:a16="http://schemas.microsoft.com/office/drawing/2014/main" id="{E295CBED-70C5-03CD-42A0-78759E8AE466}"/>
              </a:ext>
            </a:extLst>
          </p:cNvPr>
          <p:cNvSpPr txBox="1"/>
          <p:nvPr/>
        </p:nvSpPr>
        <p:spPr>
          <a:xfrm>
            <a:off x="1407348" y="2635516"/>
            <a:ext cx="2506463" cy="707886"/>
          </a:xfrm>
          <a:prstGeom prst="rect">
            <a:avLst/>
          </a:prstGeom>
          <a:noFill/>
        </p:spPr>
        <p:txBody>
          <a:bodyPr wrap="square" rtlCol="0">
            <a:spAutoFit/>
          </a:bodyPr>
          <a:lstStyle/>
          <a:p>
            <a:pPr algn="ctr"/>
            <a:r>
              <a:rPr lang="en-US" sz="2000" dirty="0">
                <a:solidFill>
                  <a:schemeClr val="accent2"/>
                </a:solidFill>
              </a:rPr>
              <a:t>Always-takers</a:t>
            </a:r>
          </a:p>
          <a:p>
            <a:pPr algn="ctr"/>
            <a:r>
              <a:rPr lang="en-US" sz="2000" dirty="0">
                <a:solidFill>
                  <a:schemeClr val="accent2"/>
                </a:solidFill>
              </a:rPr>
              <a:t> or compliers</a:t>
            </a:r>
          </a:p>
        </p:txBody>
      </p:sp>
      <p:sp>
        <p:nvSpPr>
          <p:cNvPr id="37" name="TextBox 36">
            <a:extLst>
              <a:ext uri="{FF2B5EF4-FFF2-40B4-BE49-F238E27FC236}">
                <a16:creationId xmlns:a16="http://schemas.microsoft.com/office/drawing/2014/main" id="{E8320350-37C5-2AB4-94C9-629E5F905520}"/>
              </a:ext>
            </a:extLst>
          </p:cNvPr>
          <p:cNvSpPr txBox="1"/>
          <p:nvPr/>
        </p:nvSpPr>
        <p:spPr>
          <a:xfrm>
            <a:off x="1838886" y="4922204"/>
            <a:ext cx="4352924" cy="400110"/>
          </a:xfrm>
          <a:prstGeom prst="rect">
            <a:avLst/>
          </a:prstGeom>
          <a:noFill/>
        </p:spPr>
        <p:txBody>
          <a:bodyPr wrap="square" rtlCol="0">
            <a:spAutoFit/>
          </a:bodyPr>
          <a:lstStyle/>
          <a:p>
            <a:r>
              <a:rPr lang="en-US" sz="2000" dirty="0">
                <a:solidFill>
                  <a:schemeClr val="accent2"/>
                </a:solidFill>
              </a:rPr>
              <a:t>Never-takers</a:t>
            </a:r>
          </a:p>
        </p:txBody>
      </p:sp>
      <p:sp>
        <p:nvSpPr>
          <p:cNvPr id="42" name="TextBox 41">
            <a:extLst>
              <a:ext uri="{FF2B5EF4-FFF2-40B4-BE49-F238E27FC236}">
                <a16:creationId xmlns:a16="http://schemas.microsoft.com/office/drawing/2014/main" id="{8F1DFDB7-2308-7FBD-C837-B86DCBA16A20}"/>
              </a:ext>
            </a:extLst>
          </p:cNvPr>
          <p:cNvSpPr txBox="1"/>
          <p:nvPr/>
        </p:nvSpPr>
        <p:spPr>
          <a:xfrm>
            <a:off x="3565912" y="4798963"/>
            <a:ext cx="2301780" cy="707886"/>
          </a:xfrm>
          <a:prstGeom prst="rect">
            <a:avLst/>
          </a:prstGeom>
          <a:noFill/>
        </p:spPr>
        <p:txBody>
          <a:bodyPr wrap="square" rtlCol="0">
            <a:spAutoFit/>
          </a:bodyPr>
          <a:lstStyle/>
          <a:p>
            <a:pPr algn="ctr"/>
            <a:r>
              <a:rPr lang="en-US" sz="2000" dirty="0">
                <a:solidFill>
                  <a:schemeClr val="accent2"/>
                </a:solidFill>
              </a:rPr>
              <a:t>Never-takers </a:t>
            </a:r>
          </a:p>
          <a:p>
            <a:pPr algn="ctr"/>
            <a:r>
              <a:rPr lang="en-US" sz="2000" dirty="0">
                <a:solidFill>
                  <a:schemeClr val="accent2"/>
                </a:solidFill>
              </a:rPr>
              <a:t>or compliers!</a:t>
            </a:r>
          </a:p>
        </p:txBody>
      </p:sp>
      <p:pic>
        <p:nvPicPr>
          <p:cNvPr id="3" name="Picture 4" descr="Military Beret Cap With Star PNG &amp; SVG Design For T-Shirts">
            <a:extLst>
              <a:ext uri="{FF2B5EF4-FFF2-40B4-BE49-F238E27FC236}">
                <a16:creationId xmlns:a16="http://schemas.microsoft.com/office/drawing/2014/main" id="{1679CCA9-8A07-F15F-5E7F-30A93718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87" y="2375063"/>
            <a:ext cx="873458" cy="87345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Tie Dye T-Shirt - Classic Rainbow Spiral - Psychedelic Shirt">
            <a:extLst>
              <a:ext uri="{FF2B5EF4-FFF2-40B4-BE49-F238E27FC236}">
                <a16:creationId xmlns:a16="http://schemas.microsoft.com/office/drawing/2014/main" id="{3F353D28-6CF8-E6C7-C2DC-0485A285077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505718" y="4672450"/>
            <a:ext cx="1017530" cy="7315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5100D51-597B-8A83-AFD6-140B41855ED9}"/>
              </a:ext>
            </a:extLst>
          </p:cNvPr>
          <p:cNvSpPr txBox="1"/>
          <p:nvPr/>
        </p:nvSpPr>
        <p:spPr>
          <a:xfrm>
            <a:off x="559189" y="3038362"/>
            <a:ext cx="870366" cy="369332"/>
          </a:xfrm>
          <a:prstGeom prst="rect">
            <a:avLst/>
          </a:prstGeom>
          <a:noFill/>
        </p:spPr>
        <p:txBody>
          <a:bodyPr wrap="none" rtlCol="0">
            <a:spAutoFit/>
          </a:bodyPr>
          <a:lstStyle/>
          <a:p>
            <a:r>
              <a:rPr lang="en-US" dirty="0"/>
              <a:t>Served</a:t>
            </a:r>
          </a:p>
        </p:txBody>
      </p:sp>
      <p:sp>
        <p:nvSpPr>
          <p:cNvPr id="9" name="TextBox 8">
            <a:extLst>
              <a:ext uri="{FF2B5EF4-FFF2-40B4-BE49-F238E27FC236}">
                <a16:creationId xmlns:a16="http://schemas.microsoft.com/office/drawing/2014/main" id="{292A7D70-D623-EDC2-92DE-5485A7FF7F9F}"/>
              </a:ext>
            </a:extLst>
          </p:cNvPr>
          <p:cNvSpPr txBox="1"/>
          <p:nvPr/>
        </p:nvSpPr>
        <p:spPr>
          <a:xfrm>
            <a:off x="541087" y="5421978"/>
            <a:ext cx="949299" cy="646331"/>
          </a:xfrm>
          <a:prstGeom prst="rect">
            <a:avLst/>
          </a:prstGeom>
          <a:noFill/>
        </p:spPr>
        <p:txBody>
          <a:bodyPr wrap="none" rtlCol="0">
            <a:spAutoFit/>
          </a:bodyPr>
          <a:lstStyle/>
          <a:p>
            <a:r>
              <a:rPr lang="en-US" dirty="0"/>
              <a:t>Did not </a:t>
            </a:r>
          </a:p>
          <a:p>
            <a:pPr algn="ctr"/>
            <a:r>
              <a:rPr lang="en-US" dirty="0"/>
              <a:t>serve</a:t>
            </a:r>
          </a:p>
        </p:txBody>
      </p:sp>
      <p:sp>
        <p:nvSpPr>
          <p:cNvPr id="15" name="TextBox 14">
            <a:extLst>
              <a:ext uri="{FF2B5EF4-FFF2-40B4-BE49-F238E27FC236}">
                <a16:creationId xmlns:a16="http://schemas.microsoft.com/office/drawing/2014/main" id="{B05D8161-3437-96BC-A502-31F8070F57DB}"/>
              </a:ext>
            </a:extLst>
          </p:cNvPr>
          <p:cNvSpPr txBox="1"/>
          <p:nvPr/>
        </p:nvSpPr>
        <p:spPr>
          <a:xfrm>
            <a:off x="2073898" y="6226143"/>
            <a:ext cx="933012" cy="369332"/>
          </a:xfrm>
          <a:prstGeom prst="rect">
            <a:avLst/>
          </a:prstGeom>
          <a:noFill/>
        </p:spPr>
        <p:txBody>
          <a:bodyPr wrap="none" rtlCol="0">
            <a:spAutoFit/>
          </a:bodyPr>
          <a:lstStyle/>
          <a:p>
            <a:r>
              <a:rPr lang="en-US" dirty="0"/>
              <a:t>Drafted</a:t>
            </a:r>
          </a:p>
        </p:txBody>
      </p:sp>
      <p:sp>
        <p:nvSpPr>
          <p:cNvPr id="16" name="TextBox 15">
            <a:extLst>
              <a:ext uri="{FF2B5EF4-FFF2-40B4-BE49-F238E27FC236}">
                <a16:creationId xmlns:a16="http://schemas.microsoft.com/office/drawing/2014/main" id="{3DE3BF5B-1350-2BBB-2689-4058742CFD4E}"/>
              </a:ext>
            </a:extLst>
          </p:cNvPr>
          <p:cNvSpPr txBox="1"/>
          <p:nvPr/>
        </p:nvSpPr>
        <p:spPr>
          <a:xfrm>
            <a:off x="4015348" y="6235650"/>
            <a:ext cx="1344984" cy="369332"/>
          </a:xfrm>
          <a:prstGeom prst="rect">
            <a:avLst/>
          </a:prstGeom>
          <a:noFill/>
        </p:spPr>
        <p:txBody>
          <a:bodyPr wrap="none" rtlCol="0">
            <a:spAutoFit/>
          </a:bodyPr>
          <a:lstStyle/>
          <a:p>
            <a:r>
              <a:rPr lang="en-US" dirty="0"/>
              <a:t>Not Drafted</a:t>
            </a:r>
          </a:p>
        </p:txBody>
      </p:sp>
      <p:sp>
        <p:nvSpPr>
          <p:cNvPr id="20" name="TextBox 19">
            <a:extLst>
              <a:ext uri="{FF2B5EF4-FFF2-40B4-BE49-F238E27FC236}">
                <a16:creationId xmlns:a16="http://schemas.microsoft.com/office/drawing/2014/main" id="{A883D607-3795-AF8A-10C2-EFD0DA0BFECE}"/>
              </a:ext>
            </a:extLst>
          </p:cNvPr>
          <p:cNvSpPr txBox="1"/>
          <p:nvPr/>
        </p:nvSpPr>
        <p:spPr>
          <a:xfrm>
            <a:off x="6059738" y="2226939"/>
            <a:ext cx="5591175" cy="1292662"/>
          </a:xfrm>
          <a:prstGeom prst="rect">
            <a:avLst/>
          </a:prstGeom>
          <a:noFill/>
        </p:spPr>
        <p:txBody>
          <a:bodyPr wrap="square" rtlCol="0">
            <a:spAutoFit/>
          </a:bodyPr>
          <a:lstStyle/>
          <a:p>
            <a:pPr marL="342900" indent="-342900">
              <a:buFont typeface="Arial" panose="020B0604020202020204" pitchFamily="34" charset="0"/>
              <a:buChar char="•"/>
            </a:pPr>
            <a:r>
              <a:rPr lang="en-US" sz="2000" dirty="0"/>
              <a:t>Assume that the always-takers got split evenly into drafted and not-drafted.</a:t>
            </a:r>
          </a:p>
          <a:p>
            <a:pPr marL="800100" lvl="1" indent="-342900">
              <a:buFont typeface="Arial" panose="020B0604020202020204" pitchFamily="34" charset="0"/>
              <a:buChar char="•"/>
            </a:pPr>
            <a:r>
              <a:rPr lang="en-US" dirty="0">
                <a:solidFill>
                  <a:schemeClr val="accent1"/>
                </a:solidFill>
              </a:rPr>
              <a:t>The power of randomness!</a:t>
            </a:r>
          </a:p>
          <a:p>
            <a:pPr marL="342900" indent="-342900">
              <a:buFont typeface="Arial" panose="020B0604020202020204" pitchFamily="34" charset="0"/>
              <a:buChar char="•"/>
            </a:pPr>
            <a:r>
              <a:rPr lang="en-US" sz="2000" dirty="0"/>
              <a:t>How many always-takers here?</a:t>
            </a:r>
          </a:p>
        </p:txBody>
      </p:sp>
      <p:grpSp>
        <p:nvGrpSpPr>
          <p:cNvPr id="25" name="Group 24">
            <a:extLst>
              <a:ext uri="{FF2B5EF4-FFF2-40B4-BE49-F238E27FC236}">
                <a16:creationId xmlns:a16="http://schemas.microsoft.com/office/drawing/2014/main" id="{95811732-75C8-4D31-42D7-F576F5552B55}"/>
              </a:ext>
            </a:extLst>
          </p:cNvPr>
          <p:cNvGrpSpPr/>
          <p:nvPr/>
        </p:nvGrpSpPr>
        <p:grpSpPr>
          <a:xfrm>
            <a:off x="6046656" y="3915622"/>
            <a:ext cx="5591175" cy="917062"/>
            <a:chOff x="6095999" y="4072327"/>
            <a:chExt cx="5591175" cy="944478"/>
          </a:xfrm>
        </p:grpSpPr>
        <p:sp>
          <p:nvSpPr>
            <p:cNvPr id="26" name="TextBox 25">
              <a:extLst>
                <a:ext uri="{FF2B5EF4-FFF2-40B4-BE49-F238E27FC236}">
                  <a16:creationId xmlns:a16="http://schemas.microsoft.com/office/drawing/2014/main" id="{D660F9B0-E6F2-C9CF-7435-10AAD12E8EF5}"/>
                </a:ext>
              </a:extLst>
            </p:cNvPr>
            <p:cNvSpPr txBox="1"/>
            <p:nvPr/>
          </p:nvSpPr>
          <p:spPr>
            <a:xfrm>
              <a:off x="6095999" y="4604733"/>
              <a:ext cx="5591175" cy="412072"/>
            </a:xfrm>
            <a:prstGeom prst="rect">
              <a:avLst/>
            </a:prstGeom>
            <a:noFill/>
          </p:spPr>
          <p:txBody>
            <a:bodyPr wrap="square" rtlCol="0">
              <a:spAutoFit/>
            </a:bodyPr>
            <a:lstStyle/>
            <a:p>
              <a:pPr marL="342900" indent="-342900">
                <a:buFont typeface="Arial" panose="020B0604020202020204" pitchFamily="34" charset="0"/>
                <a:buChar char="•"/>
              </a:pPr>
              <a:r>
                <a:rPr lang="en-US" sz="2000" dirty="0"/>
                <a:t>So how many compliers are here?</a:t>
              </a:r>
            </a:p>
          </p:txBody>
        </p:sp>
        <p:sp>
          <p:nvSpPr>
            <p:cNvPr id="30" name="Freeform 29">
              <a:extLst>
                <a:ext uri="{FF2B5EF4-FFF2-40B4-BE49-F238E27FC236}">
                  <a16:creationId xmlns:a16="http://schemas.microsoft.com/office/drawing/2014/main" id="{1F152396-C9E3-4585-B494-44BA7DCE8C77}"/>
                </a:ext>
              </a:extLst>
            </p:cNvPr>
            <p:cNvSpPr/>
            <p:nvPr/>
          </p:nvSpPr>
          <p:spPr>
            <a:xfrm>
              <a:off x="6536392" y="4072327"/>
              <a:ext cx="1047383" cy="476068"/>
            </a:xfrm>
            <a:custGeom>
              <a:avLst/>
              <a:gdLst>
                <a:gd name="connsiteX0" fmla="*/ 1957387 w 1957387"/>
                <a:gd name="connsiteY0" fmla="*/ 685800 h 685800"/>
                <a:gd name="connsiteX1" fmla="*/ 1157287 w 1957387"/>
                <a:gd name="connsiteY1" fmla="*/ 285750 h 685800"/>
                <a:gd name="connsiteX2" fmla="*/ 0 w 1957387"/>
                <a:gd name="connsiteY2" fmla="*/ 0 h 685800"/>
              </a:gdLst>
              <a:ahLst/>
              <a:cxnLst>
                <a:cxn ang="0">
                  <a:pos x="connsiteX0" y="connsiteY0"/>
                </a:cxn>
                <a:cxn ang="0">
                  <a:pos x="connsiteX1" y="connsiteY1"/>
                </a:cxn>
                <a:cxn ang="0">
                  <a:pos x="connsiteX2" y="connsiteY2"/>
                </a:cxn>
              </a:cxnLst>
              <a:rect l="l" t="t" r="r" b="b"/>
              <a:pathLst>
                <a:path w="1957387" h="685800">
                  <a:moveTo>
                    <a:pt x="1957387" y="685800"/>
                  </a:moveTo>
                  <a:cubicBezTo>
                    <a:pt x="1720452" y="542925"/>
                    <a:pt x="1483518" y="400050"/>
                    <a:pt x="1157287" y="285750"/>
                  </a:cubicBezTo>
                  <a:cubicBezTo>
                    <a:pt x="831056" y="171450"/>
                    <a:pt x="415528" y="85725"/>
                    <a:pt x="0"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grpSp>
        <p:nvGrpSpPr>
          <p:cNvPr id="31" name="Group 30">
            <a:extLst>
              <a:ext uri="{FF2B5EF4-FFF2-40B4-BE49-F238E27FC236}">
                <a16:creationId xmlns:a16="http://schemas.microsoft.com/office/drawing/2014/main" id="{046EC412-711B-3BB7-B816-6D966E6609C4}"/>
              </a:ext>
            </a:extLst>
          </p:cNvPr>
          <p:cNvGrpSpPr/>
          <p:nvPr/>
        </p:nvGrpSpPr>
        <p:grpSpPr>
          <a:xfrm>
            <a:off x="4914010" y="5400686"/>
            <a:ext cx="6772272" cy="1009596"/>
            <a:chOff x="5029201" y="5576153"/>
            <a:chExt cx="6772272" cy="1009596"/>
          </a:xfrm>
        </p:grpSpPr>
        <p:sp>
          <p:nvSpPr>
            <p:cNvPr id="35" name="TextBox 34">
              <a:extLst>
                <a:ext uri="{FF2B5EF4-FFF2-40B4-BE49-F238E27FC236}">
                  <a16:creationId xmlns:a16="http://schemas.microsoft.com/office/drawing/2014/main" id="{17602F84-F0DE-2279-4633-F937DFF70DA1}"/>
                </a:ext>
              </a:extLst>
            </p:cNvPr>
            <p:cNvSpPr txBox="1"/>
            <p:nvPr/>
          </p:nvSpPr>
          <p:spPr>
            <a:xfrm>
              <a:off x="6210298" y="5576153"/>
              <a:ext cx="5591175"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How about here?</a:t>
              </a:r>
            </a:p>
          </p:txBody>
        </p:sp>
        <p:sp>
          <p:nvSpPr>
            <p:cNvPr id="36" name="Freeform 35">
              <a:extLst>
                <a:ext uri="{FF2B5EF4-FFF2-40B4-BE49-F238E27FC236}">
                  <a16:creationId xmlns:a16="http://schemas.microsoft.com/office/drawing/2014/main" id="{8E8D2DC1-D993-5213-7F25-ED48BE3BD88D}"/>
                </a:ext>
              </a:extLst>
            </p:cNvPr>
            <p:cNvSpPr/>
            <p:nvPr/>
          </p:nvSpPr>
          <p:spPr>
            <a:xfrm>
              <a:off x="5029201" y="5972175"/>
              <a:ext cx="2471948" cy="613574"/>
            </a:xfrm>
            <a:custGeom>
              <a:avLst/>
              <a:gdLst>
                <a:gd name="connsiteX0" fmla="*/ 3300413 w 3300413"/>
                <a:gd name="connsiteY0" fmla="*/ 14288 h 613574"/>
                <a:gd name="connsiteX1" fmla="*/ 2786063 w 3300413"/>
                <a:gd name="connsiteY1" fmla="*/ 385763 h 613574"/>
                <a:gd name="connsiteX2" fmla="*/ 1214438 w 3300413"/>
                <a:gd name="connsiteY2" fmla="*/ 600075 h 613574"/>
                <a:gd name="connsiteX3" fmla="*/ 0 w 3300413"/>
                <a:gd name="connsiteY3" fmla="*/ 0 h 613574"/>
              </a:gdLst>
              <a:ahLst/>
              <a:cxnLst>
                <a:cxn ang="0">
                  <a:pos x="connsiteX0" y="connsiteY0"/>
                </a:cxn>
                <a:cxn ang="0">
                  <a:pos x="connsiteX1" y="connsiteY1"/>
                </a:cxn>
                <a:cxn ang="0">
                  <a:pos x="connsiteX2" y="connsiteY2"/>
                </a:cxn>
                <a:cxn ang="0">
                  <a:pos x="connsiteX3" y="connsiteY3"/>
                </a:cxn>
              </a:cxnLst>
              <a:rect l="l" t="t" r="r" b="b"/>
              <a:pathLst>
                <a:path w="3300413" h="613574">
                  <a:moveTo>
                    <a:pt x="3300413" y="14288"/>
                  </a:moveTo>
                  <a:cubicBezTo>
                    <a:pt x="3217069" y="151210"/>
                    <a:pt x="3133725" y="288132"/>
                    <a:pt x="2786063" y="385763"/>
                  </a:cubicBezTo>
                  <a:cubicBezTo>
                    <a:pt x="2438401" y="483394"/>
                    <a:pt x="1678782" y="664369"/>
                    <a:pt x="1214438" y="600075"/>
                  </a:cubicBezTo>
                  <a:cubicBezTo>
                    <a:pt x="750094" y="535781"/>
                    <a:pt x="375047" y="267890"/>
                    <a:pt x="0" y="0"/>
                  </a:cubicBezTo>
                </a:path>
              </a:pathLst>
            </a:custGeom>
            <a:noFill/>
            <a:ln w="19050">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40" name="TextBox 39">
            <a:extLst>
              <a:ext uri="{FF2B5EF4-FFF2-40B4-BE49-F238E27FC236}">
                <a16:creationId xmlns:a16="http://schemas.microsoft.com/office/drawing/2014/main" id="{5EABF716-798C-D468-0F38-E25BC7812602}"/>
              </a:ext>
            </a:extLst>
          </p:cNvPr>
          <p:cNvSpPr txBox="1"/>
          <p:nvPr/>
        </p:nvSpPr>
        <p:spPr>
          <a:xfrm>
            <a:off x="8787672" y="3455697"/>
            <a:ext cx="2340575" cy="646331"/>
          </a:xfrm>
          <a:prstGeom prst="rect">
            <a:avLst/>
          </a:prstGeom>
          <a:noFill/>
        </p:spPr>
        <p:txBody>
          <a:bodyPr wrap="square" rtlCol="0">
            <a:spAutoFit/>
          </a:bodyPr>
          <a:lstStyle/>
          <a:p>
            <a:r>
              <a:rPr lang="en-US" dirty="0">
                <a:solidFill>
                  <a:schemeClr val="accent2"/>
                </a:solidFill>
              </a:rPr>
              <a:t>1 person, same as the not drafted group!</a:t>
            </a:r>
          </a:p>
        </p:txBody>
      </p:sp>
      <p:sp>
        <p:nvSpPr>
          <p:cNvPr id="41" name="TextBox 40">
            <a:extLst>
              <a:ext uri="{FF2B5EF4-FFF2-40B4-BE49-F238E27FC236}">
                <a16:creationId xmlns:a16="http://schemas.microsoft.com/office/drawing/2014/main" id="{F2F19571-D261-8AED-5A95-72E97338B150}"/>
              </a:ext>
            </a:extLst>
          </p:cNvPr>
          <p:cNvSpPr txBox="1"/>
          <p:nvPr/>
        </p:nvSpPr>
        <p:spPr>
          <a:xfrm>
            <a:off x="7462492" y="4752704"/>
            <a:ext cx="2116044" cy="369332"/>
          </a:xfrm>
          <a:prstGeom prst="rect">
            <a:avLst/>
          </a:prstGeom>
          <a:noFill/>
        </p:spPr>
        <p:txBody>
          <a:bodyPr wrap="square" rtlCol="0">
            <a:spAutoFit/>
          </a:bodyPr>
          <a:lstStyle/>
          <a:p>
            <a:r>
              <a:rPr lang="en-US" dirty="0">
                <a:solidFill>
                  <a:schemeClr val="accent2"/>
                </a:solidFill>
              </a:rPr>
              <a:t>3-1=2 people!</a:t>
            </a:r>
          </a:p>
        </p:txBody>
      </p:sp>
      <p:sp>
        <p:nvSpPr>
          <p:cNvPr id="48" name="TextBox 47">
            <a:extLst>
              <a:ext uri="{FF2B5EF4-FFF2-40B4-BE49-F238E27FC236}">
                <a16:creationId xmlns:a16="http://schemas.microsoft.com/office/drawing/2014/main" id="{4B211CDE-355D-5D5A-C9B5-93FB6157E724}"/>
              </a:ext>
            </a:extLst>
          </p:cNvPr>
          <p:cNvSpPr txBox="1"/>
          <p:nvPr/>
        </p:nvSpPr>
        <p:spPr>
          <a:xfrm>
            <a:off x="7369132" y="5866062"/>
            <a:ext cx="2116044" cy="923330"/>
          </a:xfrm>
          <a:prstGeom prst="rect">
            <a:avLst/>
          </a:prstGeom>
          <a:noFill/>
        </p:spPr>
        <p:txBody>
          <a:bodyPr wrap="square" rtlCol="0">
            <a:spAutoFit/>
          </a:bodyPr>
          <a:lstStyle/>
          <a:p>
            <a:r>
              <a:rPr lang="en-US" dirty="0">
                <a:solidFill>
                  <a:schemeClr val="accent2"/>
                </a:solidFill>
              </a:rPr>
              <a:t>1 never-taker and 2 compliers, by the same logic!</a:t>
            </a:r>
          </a:p>
        </p:txBody>
      </p:sp>
      <p:grpSp>
        <p:nvGrpSpPr>
          <p:cNvPr id="81" name="Group 80">
            <a:extLst>
              <a:ext uri="{FF2B5EF4-FFF2-40B4-BE49-F238E27FC236}">
                <a16:creationId xmlns:a16="http://schemas.microsoft.com/office/drawing/2014/main" id="{B71669BA-0927-277B-5EBA-337B3FCBCD49}"/>
              </a:ext>
            </a:extLst>
          </p:cNvPr>
          <p:cNvGrpSpPr/>
          <p:nvPr/>
        </p:nvGrpSpPr>
        <p:grpSpPr>
          <a:xfrm>
            <a:off x="9681272" y="4832037"/>
            <a:ext cx="2444890" cy="1957355"/>
            <a:chOff x="9452919" y="-172995"/>
            <a:chExt cx="2739081" cy="2192881"/>
          </a:xfrm>
          <a:effectLst>
            <a:outerShdw blurRad="50800" dist="38100" dir="8100000" algn="tr" rotWithShape="0">
              <a:prstClr val="black">
                <a:alpha val="40000"/>
              </a:prstClr>
            </a:outerShdw>
          </a:effectLst>
        </p:grpSpPr>
        <p:sp>
          <p:nvSpPr>
            <p:cNvPr id="80" name="Rounded Rectangle 79">
              <a:extLst>
                <a:ext uri="{FF2B5EF4-FFF2-40B4-BE49-F238E27FC236}">
                  <a16:creationId xmlns:a16="http://schemas.microsoft.com/office/drawing/2014/main" id="{064F0C2A-E1E3-4BD7-81EE-C6C043C57218}"/>
                </a:ext>
              </a:extLst>
            </p:cNvPr>
            <p:cNvSpPr/>
            <p:nvPr/>
          </p:nvSpPr>
          <p:spPr>
            <a:xfrm>
              <a:off x="9452919" y="-172995"/>
              <a:ext cx="2739081" cy="2192881"/>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9" name="Group 78">
              <a:extLst>
                <a:ext uri="{FF2B5EF4-FFF2-40B4-BE49-F238E27FC236}">
                  <a16:creationId xmlns:a16="http://schemas.microsoft.com/office/drawing/2014/main" id="{B0A8BCB2-58B8-5256-D4F1-2CBF1F2CAAB1}"/>
                </a:ext>
              </a:extLst>
            </p:cNvPr>
            <p:cNvGrpSpPr/>
            <p:nvPr/>
          </p:nvGrpSpPr>
          <p:grpSpPr>
            <a:xfrm>
              <a:off x="9635628" y="-20719"/>
              <a:ext cx="2416535" cy="1992825"/>
              <a:chOff x="9635628" y="-20719"/>
              <a:chExt cx="2416535" cy="1992825"/>
            </a:xfrm>
          </p:grpSpPr>
          <p:grpSp>
            <p:nvGrpSpPr>
              <p:cNvPr id="49" name="Group 48">
                <a:extLst>
                  <a:ext uri="{FF2B5EF4-FFF2-40B4-BE49-F238E27FC236}">
                    <a16:creationId xmlns:a16="http://schemas.microsoft.com/office/drawing/2014/main" id="{F9A73A6F-62FB-500A-3DA8-6DCFC5B98A8A}"/>
                  </a:ext>
                </a:extLst>
              </p:cNvPr>
              <p:cNvGrpSpPr/>
              <p:nvPr/>
            </p:nvGrpSpPr>
            <p:grpSpPr>
              <a:xfrm>
                <a:off x="9755271" y="-20719"/>
                <a:ext cx="2296892" cy="977215"/>
                <a:chOff x="1199011" y="2468557"/>
                <a:chExt cx="3797549" cy="1615671"/>
              </a:xfrm>
            </p:grpSpPr>
            <p:sp>
              <p:nvSpPr>
                <p:cNvPr id="50" name="TextBox 49">
                  <a:extLst>
                    <a:ext uri="{FF2B5EF4-FFF2-40B4-BE49-F238E27FC236}">
                      <a16:creationId xmlns:a16="http://schemas.microsoft.com/office/drawing/2014/main" id="{A269503F-1FE3-AF5A-BC4B-B56B9E0081A0}"/>
                    </a:ext>
                  </a:extLst>
                </p:cNvPr>
                <p:cNvSpPr txBox="1"/>
                <p:nvPr/>
              </p:nvSpPr>
              <p:spPr>
                <a:xfrm>
                  <a:off x="2481925" y="2468557"/>
                  <a:ext cx="1266745" cy="508861"/>
                </a:xfrm>
                <a:prstGeom prst="rect">
                  <a:avLst/>
                </a:prstGeom>
                <a:noFill/>
              </p:spPr>
              <p:txBody>
                <a:bodyPr wrap="none" rtlCol="0">
                  <a:spAutoFit/>
                </a:bodyPr>
                <a:lstStyle/>
                <a:p>
                  <a:r>
                    <a:rPr lang="en-US" sz="1400" dirty="0"/>
                    <a:t>Drafted</a:t>
                  </a:r>
                </a:p>
              </p:txBody>
            </p:sp>
            <p:grpSp>
              <p:nvGrpSpPr>
                <p:cNvPr id="51" name="Group 50">
                  <a:extLst>
                    <a:ext uri="{FF2B5EF4-FFF2-40B4-BE49-F238E27FC236}">
                      <a16:creationId xmlns:a16="http://schemas.microsoft.com/office/drawing/2014/main" id="{4645E5B2-B75E-B0B2-45AF-508B4D3304A4}"/>
                    </a:ext>
                  </a:extLst>
                </p:cNvPr>
                <p:cNvGrpSpPr/>
                <p:nvPr/>
              </p:nvGrpSpPr>
              <p:grpSpPr>
                <a:xfrm>
                  <a:off x="1199011" y="2706941"/>
                  <a:ext cx="869829" cy="1364322"/>
                  <a:chOff x="8012095" y="8705"/>
                  <a:chExt cx="869829" cy="1364322"/>
                </a:xfrm>
              </p:grpSpPr>
              <p:pic>
                <p:nvPicPr>
                  <p:cNvPr id="61" name="Picture 60">
                    <a:extLst>
                      <a:ext uri="{FF2B5EF4-FFF2-40B4-BE49-F238E27FC236}">
                        <a16:creationId xmlns:a16="http://schemas.microsoft.com/office/drawing/2014/main" id="{FB319E36-71AD-75A7-5C05-EE657AD4DAF5}"/>
                      </a:ext>
                    </a:extLst>
                  </p:cNvPr>
                  <p:cNvPicPr>
                    <a:picLocks noChangeAspect="1"/>
                  </p:cNvPicPr>
                  <p:nvPr/>
                </p:nvPicPr>
                <p:blipFill>
                  <a:blip r:embed="rId5"/>
                  <a:stretch>
                    <a:fillRect/>
                  </a:stretch>
                </p:blipFill>
                <p:spPr>
                  <a:xfrm>
                    <a:off x="8012095" y="59679"/>
                    <a:ext cx="869829" cy="1313348"/>
                  </a:xfrm>
                  <a:prstGeom prst="rect">
                    <a:avLst/>
                  </a:prstGeom>
                </p:spPr>
              </p:pic>
              <p:pic>
                <p:nvPicPr>
                  <p:cNvPr id="62" name="Picture 4" descr="Military Beret Cap With Star PNG &amp; SVG Design For T-Shirts">
                    <a:extLst>
                      <a:ext uri="{FF2B5EF4-FFF2-40B4-BE49-F238E27FC236}">
                        <a16:creationId xmlns:a16="http://schemas.microsoft.com/office/drawing/2014/main" id="{350C0CE6-7F19-8FAF-CA8A-793CF1535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nvGrpSpPr>
                <p:cNvPr id="52" name="Group 51">
                  <a:extLst>
                    <a:ext uri="{FF2B5EF4-FFF2-40B4-BE49-F238E27FC236}">
                      <a16:creationId xmlns:a16="http://schemas.microsoft.com/office/drawing/2014/main" id="{0A5B64A3-B2D9-FC4C-735C-5624F6F96F6C}"/>
                    </a:ext>
                  </a:extLst>
                </p:cNvPr>
                <p:cNvGrpSpPr/>
                <p:nvPr/>
              </p:nvGrpSpPr>
              <p:grpSpPr>
                <a:xfrm>
                  <a:off x="4126731" y="2719906"/>
                  <a:ext cx="869829" cy="1364322"/>
                  <a:chOff x="8012095" y="8705"/>
                  <a:chExt cx="869829" cy="1364322"/>
                </a:xfrm>
              </p:grpSpPr>
              <p:pic>
                <p:nvPicPr>
                  <p:cNvPr id="59" name="Picture 58">
                    <a:extLst>
                      <a:ext uri="{FF2B5EF4-FFF2-40B4-BE49-F238E27FC236}">
                        <a16:creationId xmlns:a16="http://schemas.microsoft.com/office/drawing/2014/main" id="{9753A28F-D4B0-758D-C146-057DAF9352A0}"/>
                      </a:ext>
                    </a:extLst>
                  </p:cNvPr>
                  <p:cNvPicPr>
                    <a:picLocks noChangeAspect="1"/>
                  </p:cNvPicPr>
                  <p:nvPr/>
                </p:nvPicPr>
                <p:blipFill>
                  <a:blip r:embed="rId5"/>
                  <a:stretch>
                    <a:fillRect/>
                  </a:stretch>
                </p:blipFill>
                <p:spPr>
                  <a:xfrm>
                    <a:off x="8012095" y="59679"/>
                    <a:ext cx="869829" cy="1313348"/>
                  </a:xfrm>
                  <a:prstGeom prst="rect">
                    <a:avLst/>
                  </a:prstGeom>
                </p:spPr>
              </p:pic>
              <p:pic>
                <p:nvPicPr>
                  <p:cNvPr id="60" name="Picture 4" descr="Military Beret Cap With Star PNG &amp; SVG Design For T-Shirts">
                    <a:extLst>
                      <a:ext uri="{FF2B5EF4-FFF2-40B4-BE49-F238E27FC236}">
                        <a16:creationId xmlns:a16="http://schemas.microsoft.com/office/drawing/2014/main" id="{457DADD6-D994-D353-092B-6B9194B74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0468" y="8705"/>
                    <a:ext cx="515023" cy="515023"/>
                  </a:xfrm>
                  <a:prstGeom prst="rect">
                    <a:avLst/>
                  </a:prstGeom>
                  <a:extLst>
                    <a:ext uri="{909E8E84-426E-40DD-AFC4-6F175D3DCCD1}">
                      <a14:hiddenFill xmlns:a14="http://schemas.microsoft.com/office/drawing/2010/main">
                        <a:solidFill>
                          <a:srgbClr val="FFFFFF"/>
                        </a:solidFill>
                      </a14:hiddenFill>
                    </a:ext>
                  </a:extLst>
                </p:spPr>
              </p:pic>
            </p:grpSp>
            <p:grpSp>
              <p:nvGrpSpPr>
                <p:cNvPr id="53" name="Group 52">
                  <a:extLst>
                    <a:ext uri="{FF2B5EF4-FFF2-40B4-BE49-F238E27FC236}">
                      <a16:creationId xmlns:a16="http://schemas.microsoft.com/office/drawing/2014/main" id="{C50BAE08-30C0-F0BD-3A94-44AF9A52BCF0}"/>
                    </a:ext>
                  </a:extLst>
                </p:cNvPr>
                <p:cNvGrpSpPr/>
                <p:nvPr/>
              </p:nvGrpSpPr>
              <p:grpSpPr>
                <a:xfrm>
                  <a:off x="2197213" y="2835900"/>
                  <a:ext cx="713277" cy="1233065"/>
                  <a:chOff x="8802417" y="4582488"/>
                  <a:chExt cx="713277" cy="1233065"/>
                </a:xfrm>
              </p:grpSpPr>
              <p:pic>
                <p:nvPicPr>
                  <p:cNvPr id="57" name="Picture 7" descr="Adoptable Rabbits | morabbit">
                    <a:extLst>
                      <a:ext uri="{FF2B5EF4-FFF2-40B4-BE49-F238E27FC236}">
                        <a16:creationId xmlns:a16="http://schemas.microsoft.com/office/drawing/2014/main" id="{F71FD1C7-F7FA-02CC-4AFF-A9BFB83374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802417" y="4641208"/>
                    <a:ext cx="713277" cy="1174345"/>
                  </a:xfrm>
                  <a:prstGeom prst="rect">
                    <a:avLst/>
                  </a:prstGeom>
                  <a:extLst>
                    <a:ext uri="{909E8E84-426E-40DD-AFC4-6F175D3DCCD1}">
                      <a14:hiddenFill xmlns:a14="http://schemas.microsoft.com/office/drawing/2010/main">
                        <a:solidFill>
                          <a:srgbClr val="FFFFFF"/>
                        </a:solidFill>
                      </a14:hiddenFill>
                    </a:ext>
                  </a:extLst>
                </p:spPr>
              </p:pic>
              <p:pic>
                <p:nvPicPr>
                  <p:cNvPr id="58" name="Picture 4" descr="Military Beret Cap With Star PNG &amp; SVG Design For T-Shirts">
                    <a:extLst>
                      <a:ext uri="{FF2B5EF4-FFF2-40B4-BE49-F238E27FC236}">
                        <a16:creationId xmlns:a16="http://schemas.microsoft.com/office/drawing/2014/main" id="{97DB50AC-4084-F013-26BB-900A79CD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nvGrpSpPr>
                <p:cNvPr id="54" name="Group 53">
                  <a:extLst>
                    <a:ext uri="{FF2B5EF4-FFF2-40B4-BE49-F238E27FC236}">
                      <a16:creationId xmlns:a16="http://schemas.microsoft.com/office/drawing/2014/main" id="{E0657040-950E-60BD-22D5-F1FF839DFEA2}"/>
                    </a:ext>
                  </a:extLst>
                </p:cNvPr>
                <p:cNvGrpSpPr/>
                <p:nvPr/>
              </p:nvGrpSpPr>
              <p:grpSpPr>
                <a:xfrm>
                  <a:off x="3131144" y="3060520"/>
                  <a:ext cx="837121" cy="871095"/>
                  <a:chOff x="10976721" y="1541196"/>
                  <a:chExt cx="837121" cy="871095"/>
                </a:xfrm>
              </p:grpSpPr>
              <p:pic>
                <p:nvPicPr>
                  <p:cNvPr id="55" name="Picture 54">
                    <a:extLst>
                      <a:ext uri="{FF2B5EF4-FFF2-40B4-BE49-F238E27FC236}">
                        <a16:creationId xmlns:a16="http://schemas.microsoft.com/office/drawing/2014/main" id="{DD4F2033-2355-8FA0-C65F-FD2B08ABBA4F}"/>
                      </a:ext>
                    </a:extLst>
                  </p:cNvPr>
                  <p:cNvPicPr>
                    <a:picLocks noChangeAspect="1"/>
                  </p:cNvPicPr>
                  <p:nvPr/>
                </p:nvPicPr>
                <p:blipFill>
                  <a:blip r:embed="rId7"/>
                  <a:stretch>
                    <a:fillRect/>
                  </a:stretch>
                </p:blipFill>
                <p:spPr>
                  <a:xfrm>
                    <a:off x="10976721" y="1541196"/>
                    <a:ext cx="687021" cy="871095"/>
                  </a:xfrm>
                  <a:prstGeom prst="rect">
                    <a:avLst/>
                  </a:prstGeom>
                </p:spPr>
              </p:pic>
              <p:pic>
                <p:nvPicPr>
                  <p:cNvPr id="56" name="Picture 6" descr="Tie Dye T-Shirt - Classic Rainbow Spiral - Psychedelic Shirt">
                    <a:extLst>
                      <a:ext uri="{FF2B5EF4-FFF2-40B4-BE49-F238E27FC236}">
                        <a16:creationId xmlns:a16="http://schemas.microsoft.com/office/drawing/2014/main" id="{DC9EE4F4-2B31-A83B-0180-AD78FB0E19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b="44407"/>
                  <a:stretch/>
                </p:blipFill>
                <p:spPr bwMode="auto">
                  <a:xfrm>
                    <a:off x="10979411" y="1836491"/>
                    <a:ext cx="834431" cy="431331"/>
                  </a:xfrm>
                  <a:prstGeom prst="rect">
                    <a:avLst/>
                  </a:prstGeom>
                  <a:extLst>
                    <a:ext uri="{909E8E84-426E-40DD-AFC4-6F175D3DCCD1}">
                      <a14:hiddenFill xmlns:a14="http://schemas.microsoft.com/office/drawing/2010/main">
                        <a:solidFill>
                          <a:srgbClr val="FFFFFF"/>
                        </a:solidFill>
                      </a14:hiddenFill>
                    </a:ext>
                  </a:extLst>
                </p:spPr>
              </p:pic>
            </p:grpSp>
          </p:grpSp>
          <p:grpSp>
            <p:nvGrpSpPr>
              <p:cNvPr id="63" name="Group 62">
                <a:extLst>
                  <a:ext uri="{FF2B5EF4-FFF2-40B4-BE49-F238E27FC236}">
                    <a16:creationId xmlns:a16="http://schemas.microsoft.com/office/drawing/2014/main" id="{094BAA67-0DED-9230-8853-63C6398E47C0}"/>
                  </a:ext>
                </a:extLst>
              </p:cNvPr>
              <p:cNvGrpSpPr/>
              <p:nvPr/>
            </p:nvGrpSpPr>
            <p:grpSpPr>
              <a:xfrm>
                <a:off x="9635628" y="961679"/>
                <a:ext cx="2309611" cy="1010427"/>
                <a:chOff x="7291055" y="2494410"/>
                <a:chExt cx="3602227" cy="1575931"/>
              </a:xfrm>
            </p:grpSpPr>
            <p:sp>
              <p:nvSpPr>
                <p:cNvPr id="64" name="TextBox 63">
                  <a:extLst>
                    <a:ext uri="{FF2B5EF4-FFF2-40B4-BE49-F238E27FC236}">
                      <a16:creationId xmlns:a16="http://schemas.microsoft.com/office/drawing/2014/main" id="{BF09B63E-2365-1C54-2EAC-6D160CC6B8DB}"/>
                    </a:ext>
                  </a:extLst>
                </p:cNvPr>
                <p:cNvSpPr txBox="1"/>
                <p:nvPr/>
              </p:nvSpPr>
              <p:spPr>
                <a:xfrm>
                  <a:off x="8055051" y="2494410"/>
                  <a:ext cx="1853914" cy="528032"/>
                </a:xfrm>
                <a:prstGeom prst="rect">
                  <a:avLst/>
                </a:prstGeom>
                <a:noFill/>
              </p:spPr>
              <p:txBody>
                <a:bodyPr wrap="none" rtlCol="0">
                  <a:spAutoFit/>
                </a:bodyPr>
                <a:lstStyle/>
                <a:p>
                  <a:r>
                    <a:rPr lang="en-US" sz="1600" dirty="0"/>
                    <a:t>Not drafted</a:t>
                  </a:r>
                </a:p>
              </p:txBody>
            </p:sp>
            <p:grpSp>
              <p:nvGrpSpPr>
                <p:cNvPr id="65" name="Group 64">
                  <a:extLst>
                    <a:ext uri="{FF2B5EF4-FFF2-40B4-BE49-F238E27FC236}">
                      <a16:creationId xmlns:a16="http://schemas.microsoft.com/office/drawing/2014/main" id="{1BF36D22-E364-A4E5-4CE2-2F73A244415C}"/>
                    </a:ext>
                  </a:extLst>
                </p:cNvPr>
                <p:cNvGrpSpPr/>
                <p:nvPr/>
              </p:nvGrpSpPr>
              <p:grpSpPr>
                <a:xfrm>
                  <a:off x="7291055" y="2756993"/>
                  <a:ext cx="869829" cy="1313348"/>
                  <a:chOff x="7999130" y="1323857"/>
                  <a:chExt cx="869829" cy="1313348"/>
                </a:xfrm>
              </p:grpSpPr>
              <p:pic>
                <p:nvPicPr>
                  <p:cNvPr id="75" name="Picture 74">
                    <a:extLst>
                      <a:ext uri="{FF2B5EF4-FFF2-40B4-BE49-F238E27FC236}">
                        <a16:creationId xmlns:a16="http://schemas.microsoft.com/office/drawing/2014/main" id="{F4E9BB1A-5D75-1D87-3B95-8213590AC8CF}"/>
                      </a:ext>
                    </a:extLst>
                  </p:cNvPr>
                  <p:cNvPicPr>
                    <a:picLocks noChangeAspect="1"/>
                  </p:cNvPicPr>
                  <p:nvPr/>
                </p:nvPicPr>
                <p:blipFill>
                  <a:blip r:embed="rId5"/>
                  <a:stretch>
                    <a:fillRect/>
                  </a:stretch>
                </p:blipFill>
                <p:spPr>
                  <a:xfrm>
                    <a:off x="7999130" y="1323857"/>
                    <a:ext cx="869829" cy="1313348"/>
                  </a:xfrm>
                  <a:prstGeom prst="rect">
                    <a:avLst/>
                  </a:prstGeom>
                </p:spPr>
              </p:pic>
              <p:pic>
                <p:nvPicPr>
                  <p:cNvPr id="76" name="Picture 6" descr="Tie Dye T-Shirt - Classic Rainbow Spiral - Psychedelic Shirt">
                    <a:extLst>
                      <a:ext uri="{FF2B5EF4-FFF2-40B4-BE49-F238E27FC236}">
                        <a16:creationId xmlns:a16="http://schemas.microsoft.com/office/drawing/2014/main" id="{BC510251-6B98-C139-47BD-C3F179FB04E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66" name="Group 65">
                  <a:extLst>
                    <a:ext uri="{FF2B5EF4-FFF2-40B4-BE49-F238E27FC236}">
                      <a16:creationId xmlns:a16="http://schemas.microsoft.com/office/drawing/2014/main" id="{46C54390-AEBF-61C4-EE44-FA4F1D40737B}"/>
                    </a:ext>
                  </a:extLst>
                </p:cNvPr>
                <p:cNvGrpSpPr/>
                <p:nvPr/>
              </p:nvGrpSpPr>
              <p:grpSpPr>
                <a:xfrm>
                  <a:off x="9173162" y="2745261"/>
                  <a:ext cx="869829" cy="1313348"/>
                  <a:chOff x="7999130" y="1323857"/>
                  <a:chExt cx="869829" cy="1313348"/>
                </a:xfrm>
              </p:grpSpPr>
              <p:pic>
                <p:nvPicPr>
                  <p:cNvPr id="73" name="Picture 72">
                    <a:extLst>
                      <a:ext uri="{FF2B5EF4-FFF2-40B4-BE49-F238E27FC236}">
                        <a16:creationId xmlns:a16="http://schemas.microsoft.com/office/drawing/2014/main" id="{4DF773EC-6D6A-D660-2228-B68B32C523D7}"/>
                      </a:ext>
                    </a:extLst>
                  </p:cNvPr>
                  <p:cNvPicPr>
                    <a:picLocks noChangeAspect="1"/>
                  </p:cNvPicPr>
                  <p:nvPr/>
                </p:nvPicPr>
                <p:blipFill>
                  <a:blip r:embed="rId5"/>
                  <a:stretch>
                    <a:fillRect/>
                  </a:stretch>
                </p:blipFill>
                <p:spPr>
                  <a:xfrm>
                    <a:off x="7999130" y="1323857"/>
                    <a:ext cx="869829" cy="1313348"/>
                  </a:xfrm>
                  <a:prstGeom prst="rect">
                    <a:avLst/>
                  </a:prstGeom>
                </p:spPr>
              </p:pic>
              <p:pic>
                <p:nvPicPr>
                  <p:cNvPr id="74" name="Picture 6" descr="Tie Dye T-Shirt - Classic Rainbow Spiral - Psychedelic Shirt">
                    <a:extLst>
                      <a:ext uri="{FF2B5EF4-FFF2-40B4-BE49-F238E27FC236}">
                        <a16:creationId xmlns:a16="http://schemas.microsoft.com/office/drawing/2014/main" id="{F52D5824-C596-60D5-D2BC-8BD2D0FD243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8146012" y="1853520"/>
                    <a:ext cx="599974" cy="431331"/>
                  </a:xfrm>
                  <a:prstGeom prst="rect">
                    <a:avLst/>
                  </a:prstGeom>
                  <a:extLst>
                    <a:ext uri="{909E8E84-426E-40DD-AFC4-6F175D3DCCD1}">
                      <a14:hiddenFill xmlns:a14="http://schemas.microsoft.com/office/drawing/2010/main">
                        <a:solidFill>
                          <a:srgbClr val="FFFFFF"/>
                        </a:solidFill>
                      </a14:hiddenFill>
                    </a:ext>
                  </a:extLst>
                </p:spPr>
              </p:pic>
            </p:grpSp>
            <p:grpSp>
              <p:nvGrpSpPr>
                <p:cNvPr id="67" name="Group 66">
                  <a:extLst>
                    <a:ext uri="{FF2B5EF4-FFF2-40B4-BE49-F238E27FC236}">
                      <a16:creationId xmlns:a16="http://schemas.microsoft.com/office/drawing/2014/main" id="{DFD9E016-09E6-3DF9-5A8C-B9B0688EC33E}"/>
                    </a:ext>
                  </a:extLst>
                </p:cNvPr>
                <p:cNvGrpSpPr/>
                <p:nvPr/>
              </p:nvGrpSpPr>
              <p:grpSpPr>
                <a:xfrm>
                  <a:off x="10180005" y="2814626"/>
                  <a:ext cx="713277" cy="1233065"/>
                  <a:chOff x="8802417" y="4582488"/>
                  <a:chExt cx="713277" cy="1233065"/>
                </a:xfrm>
              </p:grpSpPr>
              <p:pic>
                <p:nvPicPr>
                  <p:cNvPr id="71" name="Picture 7" descr="Adoptable Rabbits | morabbit">
                    <a:extLst>
                      <a:ext uri="{FF2B5EF4-FFF2-40B4-BE49-F238E27FC236}">
                        <a16:creationId xmlns:a16="http://schemas.microsoft.com/office/drawing/2014/main" id="{C84BF1AB-4B43-0AF7-3778-4C5356D55F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802417" y="4641208"/>
                    <a:ext cx="713277" cy="1174345"/>
                  </a:xfrm>
                  <a:prstGeom prst="rect">
                    <a:avLst/>
                  </a:prstGeom>
                  <a:extLst>
                    <a:ext uri="{909E8E84-426E-40DD-AFC4-6F175D3DCCD1}">
                      <a14:hiddenFill xmlns:a14="http://schemas.microsoft.com/office/drawing/2010/main">
                        <a:solidFill>
                          <a:srgbClr val="FFFFFF"/>
                        </a:solidFill>
                      </a14:hiddenFill>
                    </a:ext>
                  </a:extLst>
                </p:spPr>
              </p:pic>
              <p:pic>
                <p:nvPicPr>
                  <p:cNvPr id="72" name="Picture 4" descr="Military Beret Cap With Star PNG &amp; SVG Design For T-Shirts">
                    <a:extLst>
                      <a:ext uri="{FF2B5EF4-FFF2-40B4-BE49-F238E27FC236}">
                        <a16:creationId xmlns:a16="http://schemas.microsoft.com/office/drawing/2014/main" id="{92C6DBD7-B3FC-A851-2561-E06A1256F1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7805" y="4582488"/>
                    <a:ext cx="419009" cy="419009"/>
                  </a:xfrm>
                  <a:prstGeom prst="rect">
                    <a:avLst/>
                  </a:prstGeom>
                  <a:extLst>
                    <a:ext uri="{909E8E84-426E-40DD-AFC4-6F175D3DCCD1}">
                      <a14:hiddenFill xmlns:a14="http://schemas.microsoft.com/office/drawing/2010/main">
                        <a:solidFill>
                          <a:srgbClr val="FFFFFF"/>
                        </a:solidFill>
                      </a14:hiddenFill>
                    </a:ext>
                  </a:extLst>
                </p:spPr>
              </p:pic>
            </p:grpSp>
            <p:grpSp>
              <p:nvGrpSpPr>
                <p:cNvPr id="68" name="Group 67">
                  <a:extLst>
                    <a:ext uri="{FF2B5EF4-FFF2-40B4-BE49-F238E27FC236}">
                      <a16:creationId xmlns:a16="http://schemas.microsoft.com/office/drawing/2014/main" id="{C429A968-953C-2845-C2A0-D3CFDA9A1A86}"/>
                    </a:ext>
                  </a:extLst>
                </p:cNvPr>
                <p:cNvGrpSpPr/>
                <p:nvPr/>
              </p:nvGrpSpPr>
              <p:grpSpPr>
                <a:xfrm>
                  <a:off x="8345909" y="3020981"/>
                  <a:ext cx="837121" cy="871095"/>
                  <a:chOff x="10976721" y="1541196"/>
                  <a:chExt cx="837121" cy="871095"/>
                </a:xfrm>
              </p:grpSpPr>
              <p:pic>
                <p:nvPicPr>
                  <p:cNvPr id="69" name="Picture 68">
                    <a:extLst>
                      <a:ext uri="{FF2B5EF4-FFF2-40B4-BE49-F238E27FC236}">
                        <a16:creationId xmlns:a16="http://schemas.microsoft.com/office/drawing/2014/main" id="{B86141AF-9B61-0E12-FA03-333FE716025B}"/>
                      </a:ext>
                    </a:extLst>
                  </p:cNvPr>
                  <p:cNvPicPr>
                    <a:picLocks noChangeAspect="1"/>
                  </p:cNvPicPr>
                  <p:nvPr/>
                </p:nvPicPr>
                <p:blipFill>
                  <a:blip r:embed="rId7"/>
                  <a:stretch>
                    <a:fillRect/>
                  </a:stretch>
                </p:blipFill>
                <p:spPr>
                  <a:xfrm>
                    <a:off x="10976721" y="1541196"/>
                    <a:ext cx="687021" cy="871095"/>
                  </a:xfrm>
                  <a:prstGeom prst="rect">
                    <a:avLst/>
                  </a:prstGeom>
                </p:spPr>
              </p:pic>
              <p:pic>
                <p:nvPicPr>
                  <p:cNvPr id="70" name="Picture 6" descr="Tie Dye T-Shirt - Classic Rainbow Spiral - Psychedelic Shirt">
                    <a:extLst>
                      <a:ext uri="{FF2B5EF4-FFF2-40B4-BE49-F238E27FC236}">
                        <a16:creationId xmlns:a16="http://schemas.microsoft.com/office/drawing/2014/main" id="{9BBF31AF-4D72-631B-FAE3-AEBE63E6386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b="44407"/>
                  <a:stretch/>
                </p:blipFill>
                <p:spPr bwMode="auto">
                  <a:xfrm>
                    <a:off x="10979411" y="1836491"/>
                    <a:ext cx="834431" cy="431331"/>
                  </a:xfrm>
                  <a:prstGeom prst="rect">
                    <a:avLst/>
                  </a:prstGeom>
                  <a:extLst>
                    <a:ext uri="{909E8E84-426E-40DD-AFC4-6F175D3DCCD1}">
                      <a14:hiddenFill xmlns:a14="http://schemas.microsoft.com/office/drawing/2010/main">
                        <a:solidFill>
                          <a:srgbClr val="FFFFFF"/>
                        </a:solidFill>
                      </a14:hiddenFill>
                    </a:ext>
                  </a:extLst>
                </p:spPr>
              </p:pic>
            </p:grpSp>
          </p:grpSp>
        </p:grpSp>
      </p:grpSp>
      <p:sp>
        <p:nvSpPr>
          <p:cNvPr id="78" name="Freeform 77">
            <a:extLst>
              <a:ext uri="{FF2B5EF4-FFF2-40B4-BE49-F238E27FC236}">
                <a16:creationId xmlns:a16="http://schemas.microsoft.com/office/drawing/2014/main" id="{232DD434-5BA6-B442-12A4-B375EDA11384}"/>
              </a:ext>
            </a:extLst>
          </p:cNvPr>
          <p:cNvSpPr/>
          <p:nvPr/>
        </p:nvSpPr>
        <p:spPr>
          <a:xfrm>
            <a:off x="3235569" y="1496563"/>
            <a:ext cx="3704493" cy="2465617"/>
          </a:xfrm>
          <a:custGeom>
            <a:avLst/>
            <a:gdLst>
              <a:gd name="connsiteX0" fmla="*/ 3704493 w 3704493"/>
              <a:gd name="connsiteY0" fmla="*/ 1938299 h 2465617"/>
              <a:gd name="connsiteX1" fmla="*/ 3341077 w 3704493"/>
              <a:gd name="connsiteY1" fmla="*/ 2407222 h 2465617"/>
              <a:gd name="connsiteX2" fmla="*/ 2133600 w 3704493"/>
              <a:gd name="connsiteY2" fmla="*/ 2196206 h 2465617"/>
              <a:gd name="connsiteX3" fmla="*/ 445477 w 3704493"/>
              <a:gd name="connsiteY3" fmla="*/ 62606 h 2465617"/>
              <a:gd name="connsiteX4" fmla="*/ 0 w 3704493"/>
              <a:gd name="connsiteY4" fmla="*/ 777714 h 2465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4493" h="2465617">
                <a:moveTo>
                  <a:pt x="3704493" y="1938299"/>
                </a:moveTo>
                <a:cubicBezTo>
                  <a:pt x="3653692" y="2151268"/>
                  <a:pt x="3602892" y="2364238"/>
                  <a:pt x="3341077" y="2407222"/>
                </a:cubicBezTo>
                <a:cubicBezTo>
                  <a:pt x="3079261" y="2450207"/>
                  <a:pt x="2616200" y="2586975"/>
                  <a:pt x="2133600" y="2196206"/>
                </a:cubicBezTo>
                <a:cubicBezTo>
                  <a:pt x="1651000" y="1805437"/>
                  <a:pt x="801077" y="299021"/>
                  <a:pt x="445477" y="62606"/>
                </a:cubicBezTo>
                <a:cubicBezTo>
                  <a:pt x="89877" y="-173809"/>
                  <a:pt x="44938" y="301952"/>
                  <a:pt x="0" y="777714"/>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349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40" grpId="0"/>
      <p:bldP spid="41" grpId="0"/>
      <p:bldP spid="48" grpId="0"/>
      <p:bldP spid="7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AA74B-BD54-A061-EE6C-942B1C3C5B3A}"/>
              </a:ext>
            </a:extLst>
          </p:cNvPr>
          <p:cNvSpPr>
            <a:spLocks noGrp="1"/>
          </p:cNvSpPr>
          <p:nvPr>
            <p:ph type="title"/>
          </p:nvPr>
        </p:nvSpPr>
        <p:spPr/>
        <p:txBody>
          <a:bodyPr/>
          <a:lstStyle/>
          <a:p>
            <a:r>
              <a:rPr lang="en-US" dirty="0"/>
              <a:t>Q2: Is -$4 big or small?</a:t>
            </a:r>
          </a:p>
        </p:txBody>
      </p:sp>
      <p:sp>
        <p:nvSpPr>
          <p:cNvPr id="3" name="Content Placeholder 2">
            <a:extLst>
              <a:ext uri="{FF2B5EF4-FFF2-40B4-BE49-F238E27FC236}">
                <a16:creationId xmlns:a16="http://schemas.microsoft.com/office/drawing/2014/main" id="{E901557B-CE6F-73FE-BB8C-CAD1BB8844FE}"/>
              </a:ext>
            </a:extLst>
          </p:cNvPr>
          <p:cNvSpPr>
            <a:spLocks noGrp="1"/>
          </p:cNvSpPr>
          <p:nvPr>
            <p:ph idx="1"/>
          </p:nvPr>
        </p:nvSpPr>
        <p:spPr>
          <a:xfrm>
            <a:off x="6103906" y="1825625"/>
            <a:ext cx="5249893" cy="970416"/>
          </a:xfrm>
        </p:spPr>
        <p:txBody>
          <a:bodyPr>
            <a:normAutofit/>
          </a:bodyPr>
          <a:lstStyle/>
          <a:p>
            <a:r>
              <a:rPr lang="en-US" sz="2400" dirty="0"/>
              <a:t>What is the average income among the always-takers here?</a:t>
            </a:r>
          </a:p>
        </p:txBody>
      </p:sp>
      <p:grpSp>
        <p:nvGrpSpPr>
          <p:cNvPr id="21" name="Group 20">
            <a:extLst>
              <a:ext uri="{FF2B5EF4-FFF2-40B4-BE49-F238E27FC236}">
                <a16:creationId xmlns:a16="http://schemas.microsoft.com/office/drawing/2014/main" id="{EA9038D8-0022-8FFC-32E5-AAC3CC1655D2}"/>
              </a:ext>
            </a:extLst>
          </p:cNvPr>
          <p:cNvGrpSpPr/>
          <p:nvPr/>
        </p:nvGrpSpPr>
        <p:grpSpPr>
          <a:xfrm>
            <a:off x="505718" y="2019886"/>
            <a:ext cx="5460148" cy="4585096"/>
            <a:chOff x="505718" y="2019886"/>
            <a:chExt cx="5460148" cy="4585096"/>
          </a:xfrm>
        </p:grpSpPr>
        <p:grpSp>
          <p:nvGrpSpPr>
            <p:cNvPr id="4" name="Group 3">
              <a:extLst>
                <a:ext uri="{FF2B5EF4-FFF2-40B4-BE49-F238E27FC236}">
                  <a16:creationId xmlns:a16="http://schemas.microsoft.com/office/drawing/2014/main" id="{184E94FD-3BEA-45B7-6B0B-33F34C40BD41}"/>
                </a:ext>
              </a:extLst>
            </p:cNvPr>
            <p:cNvGrpSpPr/>
            <p:nvPr/>
          </p:nvGrpSpPr>
          <p:grpSpPr>
            <a:xfrm>
              <a:off x="1615704" y="2019886"/>
              <a:ext cx="4108450" cy="4108450"/>
              <a:chOff x="847725" y="1468437"/>
              <a:chExt cx="5095875" cy="5095875"/>
            </a:xfrm>
          </p:grpSpPr>
          <p:sp>
            <p:nvSpPr>
              <p:cNvPr id="5" name="Rectangle 4">
                <a:extLst>
                  <a:ext uri="{FF2B5EF4-FFF2-40B4-BE49-F238E27FC236}">
                    <a16:creationId xmlns:a16="http://schemas.microsoft.com/office/drawing/2014/main" id="{190D9647-017A-08BF-2CC9-7226C194DF49}"/>
                  </a:ext>
                </a:extLst>
              </p:cNvPr>
              <p:cNvSpPr/>
              <p:nvPr/>
            </p:nvSpPr>
            <p:spPr>
              <a:xfrm>
                <a:off x="847725" y="1468437"/>
                <a:ext cx="5095875" cy="509587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F678E96-EFD9-9B1D-7E53-649B9DC42DB5}"/>
                  </a:ext>
                </a:extLst>
              </p:cNvPr>
              <p:cNvCxnSpPr>
                <a:stCxn id="5" idx="0"/>
              </p:cNvCxnSpPr>
              <p:nvPr/>
            </p:nvCxnSpPr>
            <p:spPr>
              <a:xfrm>
                <a:off x="3395663" y="1468437"/>
                <a:ext cx="4762" cy="5024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F56B7A5-B761-7E21-C01A-3649F03A0445}"/>
                  </a:ext>
                </a:extLst>
              </p:cNvPr>
              <p:cNvCxnSpPr>
                <a:cxnSpLocks/>
                <a:endCxn id="5" idx="3"/>
              </p:cNvCxnSpPr>
              <p:nvPr/>
            </p:nvCxnSpPr>
            <p:spPr>
              <a:xfrm>
                <a:off x="847725" y="3980656"/>
                <a:ext cx="5095875" cy="357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A5F0CEFE-7F00-550D-53EA-5F057647C584}"/>
                </a:ext>
              </a:extLst>
            </p:cNvPr>
            <p:cNvSpPr txBox="1"/>
            <p:nvPr/>
          </p:nvSpPr>
          <p:spPr>
            <a:xfrm>
              <a:off x="1913570" y="2148617"/>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9" name="TextBox 8">
              <a:extLst>
                <a:ext uri="{FF2B5EF4-FFF2-40B4-BE49-F238E27FC236}">
                  <a16:creationId xmlns:a16="http://schemas.microsoft.com/office/drawing/2014/main" id="{EBC08F2D-5788-3BF6-FD0D-1BC3D769C3CF}"/>
                </a:ext>
              </a:extLst>
            </p:cNvPr>
            <p:cNvSpPr txBox="1"/>
            <p:nvPr/>
          </p:nvSpPr>
          <p:spPr>
            <a:xfrm>
              <a:off x="3930823" y="2149672"/>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10" name="TextBox 9">
              <a:extLst>
                <a:ext uri="{FF2B5EF4-FFF2-40B4-BE49-F238E27FC236}">
                  <a16:creationId xmlns:a16="http://schemas.microsoft.com/office/drawing/2014/main" id="{65BA6CF5-B82B-927D-10BE-4B48B87844ED}"/>
                </a:ext>
              </a:extLst>
            </p:cNvPr>
            <p:cNvSpPr txBox="1"/>
            <p:nvPr/>
          </p:nvSpPr>
          <p:spPr>
            <a:xfrm>
              <a:off x="3956731" y="4205705"/>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11" name="TextBox 10">
              <a:extLst>
                <a:ext uri="{FF2B5EF4-FFF2-40B4-BE49-F238E27FC236}">
                  <a16:creationId xmlns:a16="http://schemas.microsoft.com/office/drawing/2014/main" id="{76EEF9AC-6451-CD4D-1F34-D41F885459F5}"/>
                </a:ext>
              </a:extLst>
            </p:cNvPr>
            <p:cNvSpPr txBox="1"/>
            <p:nvPr/>
          </p:nvSpPr>
          <p:spPr>
            <a:xfrm>
              <a:off x="1882745" y="4205706"/>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12" name="TextBox 11">
              <a:extLst>
                <a:ext uri="{FF2B5EF4-FFF2-40B4-BE49-F238E27FC236}">
                  <a16:creationId xmlns:a16="http://schemas.microsoft.com/office/drawing/2014/main" id="{A46740EC-CD38-3484-3DAC-D1CB39E0E1FD}"/>
                </a:ext>
              </a:extLst>
            </p:cNvPr>
            <p:cNvSpPr txBox="1"/>
            <p:nvPr/>
          </p:nvSpPr>
          <p:spPr>
            <a:xfrm>
              <a:off x="3467737" y="2683045"/>
              <a:ext cx="2498129" cy="400110"/>
            </a:xfrm>
            <a:prstGeom prst="rect">
              <a:avLst/>
            </a:prstGeom>
            <a:noFill/>
          </p:spPr>
          <p:txBody>
            <a:bodyPr wrap="square" rtlCol="0">
              <a:spAutoFit/>
            </a:bodyPr>
            <a:lstStyle/>
            <a:p>
              <a:pPr algn="ctr"/>
              <a:r>
                <a:rPr lang="en-US" sz="2000" dirty="0">
                  <a:solidFill>
                    <a:schemeClr val="accent2"/>
                  </a:solidFill>
                </a:rPr>
                <a:t>1 Always-taker</a:t>
              </a:r>
            </a:p>
          </p:txBody>
        </p:sp>
        <p:sp>
          <p:nvSpPr>
            <p:cNvPr id="13" name="TextBox 12">
              <a:extLst>
                <a:ext uri="{FF2B5EF4-FFF2-40B4-BE49-F238E27FC236}">
                  <a16:creationId xmlns:a16="http://schemas.microsoft.com/office/drawing/2014/main" id="{8250ED06-1726-6C44-6290-46F8C1DCC866}"/>
                </a:ext>
              </a:extLst>
            </p:cNvPr>
            <p:cNvSpPr txBox="1"/>
            <p:nvPr/>
          </p:nvSpPr>
          <p:spPr>
            <a:xfrm>
              <a:off x="1407348" y="2635516"/>
              <a:ext cx="2506463" cy="707886"/>
            </a:xfrm>
            <a:prstGeom prst="rect">
              <a:avLst/>
            </a:prstGeom>
            <a:noFill/>
          </p:spPr>
          <p:txBody>
            <a:bodyPr wrap="square" rtlCol="0">
              <a:spAutoFit/>
            </a:bodyPr>
            <a:lstStyle/>
            <a:p>
              <a:pPr algn="ctr"/>
              <a:r>
                <a:rPr lang="en-US" sz="2000" dirty="0">
                  <a:solidFill>
                    <a:schemeClr val="accent2"/>
                  </a:solidFill>
                </a:rPr>
                <a:t>1 Always-takers</a:t>
              </a:r>
            </a:p>
            <a:p>
              <a:pPr algn="ctr"/>
              <a:r>
                <a:rPr lang="en-US" sz="2000" dirty="0">
                  <a:solidFill>
                    <a:schemeClr val="accent2"/>
                  </a:solidFill>
                </a:rPr>
                <a:t> 2 Compliers</a:t>
              </a:r>
            </a:p>
          </p:txBody>
        </p:sp>
        <p:sp>
          <p:nvSpPr>
            <p:cNvPr id="14" name="TextBox 13">
              <a:extLst>
                <a:ext uri="{FF2B5EF4-FFF2-40B4-BE49-F238E27FC236}">
                  <a16:creationId xmlns:a16="http://schemas.microsoft.com/office/drawing/2014/main" id="{21E54D05-EE8D-FECD-07D3-FE33D8CE42BA}"/>
                </a:ext>
              </a:extLst>
            </p:cNvPr>
            <p:cNvSpPr txBox="1"/>
            <p:nvPr/>
          </p:nvSpPr>
          <p:spPr>
            <a:xfrm>
              <a:off x="3514830" y="4714092"/>
              <a:ext cx="2301780" cy="707886"/>
            </a:xfrm>
            <a:prstGeom prst="rect">
              <a:avLst/>
            </a:prstGeom>
            <a:noFill/>
          </p:spPr>
          <p:txBody>
            <a:bodyPr wrap="square" rtlCol="0">
              <a:spAutoFit/>
            </a:bodyPr>
            <a:lstStyle/>
            <a:p>
              <a:pPr algn="ctr"/>
              <a:r>
                <a:rPr lang="en-US" sz="2000" dirty="0">
                  <a:solidFill>
                    <a:schemeClr val="accent2"/>
                  </a:solidFill>
                </a:rPr>
                <a:t>1 Never-taker </a:t>
              </a:r>
            </a:p>
            <a:p>
              <a:pPr algn="ctr"/>
              <a:r>
                <a:rPr lang="en-US" sz="2000" dirty="0">
                  <a:solidFill>
                    <a:schemeClr val="accent2"/>
                  </a:solidFill>
                </a:rPr>
                <a:t>2 Compliers</a:t>
              </a:r>
            </a:p>
          </p:txBody>
        </p:sp>
        <p:pic>
          <p:nvPicPr>
            <p:cNvPr id="15" name="Picture 4" descr="Military Beret Cap With Star PNG &amp; SVG Design For T-Shirts">
              <a:extLst>
                <a:ext uri="{FF2B5EF4-FFF2-40B4-BE49-F238E27FC236}">
                  <a16:creationId xmlns:a16="http://schemas.microsoft.com/office/drawing/2014/main" id="{540FA12C-43AC-7974-56DD-07EE95A1F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87" y="2375063"/>
              <a:ext cx="873458" cy="87345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Tie Dye T-Shirt - Classic Rainbow Spiral - Psychedelic Shirt">
              <a:extLst>
                <a:ext uri="{FF2B5EF4-FFF2-40B4-BE49-F238E27FC236}">
                  <a16:creationId xmlns:a16="http://schemas.microsoft.com/office/drawing/2014/main" id="{1C01BAEC-2323-A704-1928-AA337521FA0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505718" y="4672450"/>
              <a:ext cx="1017530" cy="73152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E59FF8C-E853-FE59-4988-EEEB7B535D69}"/>
                </a:ext>
              </a:extLst>
            </p:cNvPr>
            <p:cNvSpPr txBox="1"/>
            <p:nvPr/>
          </p:nvSpPr>
          <p:spPr>
            <a:xfrm>
              <a:off x="559189" y="3038362"/>
              <a:ext cx="870366" cy="369332"/>
            </a:xfrm>
            <a:prstGeom prst="rect">
              <a:avLst/>
            </a:prstGeom>
            <a:noFill/>
          </p:spPr>
          <p:txBody>
            <a:bodyPr wrap="none" rtlCol="0">
              <a:spAutoFit/>
            </a:bodyPr>
            <a:lstStyle/>
            <a:p>
              <a:r>
                <a:rPr lang="en-US" dirty="0"/>
                <a:t>Served</a:t>
              </a:r>
            </a:p>
          </p:txBody>
        </p:sp>
        <p:sp>
          <p:nvSpPr>
            <p:cNvPr id="18" name="TextBox 17">
              <a:extLst>
                <a:ext uri="{FF2B5EF4-FFF2-40B4-BE49-F238E27FC236}">
                  <a16:creationId xmlns:a16="http://schemas.microsoft.com/office/drawing/2014/main" id="{B5914A3F-9228-7883-CFED-BF93175C52B0}"/>
                </a:ext>
              </a:extLst>
            </p:cNvPr>
            <p:cNvSpPr txBox="1"/>
            <p:nvPr/>
          </p:nvSpPr>
          <p:spPr>
            <a:xfrm>
              <a:off x="541087" y="5421978"/>
              <a:ext cx="949299" cy="646331"/>
            </a:xfrm>
            <a:prstGeom prst="rect">
              <a:avLst/>
            </a:prstGeom>
            <a:noFill/>
          </p:spPr>
          <p:txBody>
            <a:bodyPr wrap="none" rtlCol="0">
              <a:spAutoFit/>
            </a:bodyPr>
            <a:lstStyle/>
            <a:p>
              <a:r>
                <a:rPr lang="en-US" dirty="0"/>
                <a:t>Did not </a:t>
              </a:r>
            </a:p>
            <a:p>
              <a:pPr algn="ctr"/>
              <a:r>
                <a:rPr lang="en-US" dirty="0"/>
                <a:t>serve</a:t>
              </a:r>
            </a:p>
          </p:txBody>
        </p:sp>
        <p:sp>
          <p:nvSpPr>
            <p:cNvPr id="19" name="TextBox 18">
              <a:extLst>
                <a:ext uri="{FF2B5EF4-FFF2-40B4-BE49-F238E27FC236}">
                  <a16:creationId xmlns:a16="http://schemas.microsoft.com/office/drawing/2014/main" id="{B8F15817-BF1F-05B7-2731-CAF66479394E}"/>
                </a:ext>
              </a:extLst>
            </p:cNvPr>
            <p:cNvSpPr txBox="1"/>
            <p:nvPr/>
          </p:nvSpPr>
          <p:spPr>
            <a:xfrm>
              <a:off x="2073898" y="6226143"/>
              <a:ext cx="933012" cy="369332"/>
            </a:xfrm>
            <a:prstGeom prst="rect">
              <a:avLst/>
            </a:prstGeom>
            <a:noFill/>
          </p:spPr>
          <p:txBody>
            <a:bodyPr wrap="none" rtlCol="0">
              <a:spAutoFit/>
            </a:bodyPr>
            <a:lstStyle/>
            <a:p>
              <a:r>
                <a:rPr lang="en-US" dirty="0"/>
                <a:t>Drafted</a:t>
              </a:r>
            </a:p>
          </p:txBody>
        </p:sp>
        <p:sp>
          <p:nvSpPr>
            <p:cNvPr id="20" name="TextBox 19">
              <a:extLst>
                <a:ext uri="{FF2B5EF4-FFF2-40B4-BE49-F238E27FC236}">
                  <a16:creationId xmlns:a16="http://schemas.microsoft.com/office/drawing/2014/main" id="{E40EFED5-958A-F135-3F21-0FFE4ABE2706}"/>
                </a:ext>
              </a:extLst>
            </p:cNvPr>
            <p:cNvSpPr txBox="1"/>
            <p:nvPr/>
          </p:nvSpPr>
          <p:spPr>
            <a:xfrm>
              <a:off x="4015348" y="6235650"/>
              <a:ext cx="1344984" cy="369332"/>
            </a:xfrm>
            <a:prstGeom prst="rect">
              <a:avLst/>
            </a:prstGeom>
            <a:noFill/>
          </p:spPr>
          <p:txBody>
            <a:bodyPr wrap="none" rtlCol="0">
              <a:spAutoFit/>
            </a:bodyPr>
            <a:lstStyle/>
            <a:p>
              <a:r>
                <a:rPr lang="en-US" dirty="0"/>
                <a:t>Not Drafted</a:t>
              </a:r>
            </a:p>
          </p:txBody>
        </p:sp>
      </p:grpSp>
      <p:sp>
        <p:nvSpPr>
          <p:cNvPr id="22" name="TextBox 21">
            <a:extLst>
              <a:ext uri="{FF2B5EF4-FFF2-40B4-BE49-F238E27FC236}">
                <a16:creationId xmlns:a16="http://schemas.microsoft.com/office/drawing/2014/main" id="{E3CF023D-39F3-438D-71CF-2387F69DB701}"/>
              </a:ext>
            </a:extLst>
          </p:cNvPr>
          <p:cNvSpPr txBox="1"/>
          <p:nvPr/>
        </p:nvSpPr>
        <p:spPr>
          <a:xfrm>
            <a:off x="1344576" y="4723392"/>
            <a:ext cx="2498129" cy="400110"/>
          </a:xfrm>
          <a:prstGeom prst="rect">
            <a:avLst/>
          </a:prstGeom>
          <a:noFill/>
        </p:spPr>
        <p:txBody>
          <a:bodyPr wrap="square" rtlCol="0">
            <a:spAutoFit/>
          </a:bodyPr>
          <a:lstStyle/>
          <a:p>
            <a:pPr algn="ctr"/>
            <a:r>
              <a:rPr lang="en-US" sz="2000" dirty="0">
                <a:solidFill>
                  <a:schemeClr val="accent2"/>
                </a:solidFill>
              </a:rPr>
              <a:t>1 Never-taker</a:t>
            </a:r>
          </a:p>
        </p:txBody>
      </p:sp>
      <p:grpSp>
        <p:nvGrpSpPr>
          <p:cNvPr id="61" name="Group 60">
            <a:extLst>
              <a:ext uri="{FF2B5EF4-FFF2-40B4-BE49-F238E27FC236}">
                <a16:creationId xmlns:a16="http://schemas.microsoft.com/office/drawing/2014/main" id="{2B58739A-B16E-62E3-8887-B1CE5EB8BCD3}"/>
              </a:ext>
            </a:extLst>
          </p:cNvPr>
          <p:cNvGrpSpPr/>
          <p:nvPr/>
        </p:nvGrpSpPr>
        <p:grpSpPr>
          <a:xfrm>
            <a:off x="9235264" y="4757556"/>
            <a:ext cx="2865282" cy="2053855"/>
            <a:chOff x="8674443" y="4125503"/>
            <a:chExt cx="3532547" cy="2747487"/>
          </a:xfrm>
        </p:grpSpPr>
        <p:sp>
          <p:nvSpPr>
            <p:cNvPr id="24" name="Rounded Rectangle 23">
              <a:extLst>
                <a:ext uri="{FF2B5EF4-FFF2-40B4-BE49-F238E27FC236}">
                  <a16:creationId xmlns:a16="http://schemas.microsoft.com/office/drawing/2014/main" id="{C714414F-31DE-D60C-FFE3-CA8DB75E708D}"/>
                </a:ext>
              </a:extLst>
            </p:cNvPr>
            <p:cNvSpPr/>
            <p:nvPr/>
          </p:nvSpPr>
          <p:spPr>
            <a:xfrm>
              <a:off x="8674443" y="4137285"/>
              <a:ext cx="3532547" cy="2735705"/>
            </a:xfrm>
            <a:prstGeom prst="roundRect">
              <a:avLst/>
            </a:prstGeom>
            <a:solidFill>
              <a:schemeClr val="bg1">
                <a:lumMod val="95000"/>
              </a:schemeClr>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25" name="Group 24">
              <a:extLst>
                <a:ext uri="{FF2B5EF4-FFF2-40B4-BE49-F238E27FC236}">
                  <a16:creationId xmlns:a16="http://schemas.microsoft.com/office/drawing/2014/main" id="{630CBAD3-8B88-83F8-9B35-EF98C7544DDB}"/>
                </a:ext>
              </a:extLst>
            </p:cNvPr>
            <p:cNvGrpSpPr/>
            <p:nvPr/>
          </p:nvGrpSpPr>
          <p:grpSpPr>
            <a:xfrm>
              <a:off x="9303802" y="4353172"/>
              <a:ext cx="2425013" cy="1010315"/>
              <a:chOff x="1236312" y="7310526"/>
              <a:chExt cx="4019406" cy="1674577"/>
            </a:xfrm>
          </p:grpSpPr>
          <p:grpSp>
            <p:nvGrpSpPr>
              <p:cNvPr id="26" name="Group 25">
                <a:extLst>
                  <a:ext uri="{FF2B5EF4-FFF2-40B4-BE49-F238E27FC236}">
                    <a16:creationId xmlns:a16="http://schemas.microsoft.com/office/drawing/2014/main" id="{897BDF7F-2497-F32E-A5F0-C19C41C1FD00}"/>
                  </a:ext>
                </a:extLst>
              </p:cNvPr>
              <p:cNvGrpSpPr/>
              <p:nvPr/>
            </p:nvGrpSpPr>
            <p:grpSpPr>
              <a:xfrm>
                <a:off x="1236312" y="7310526"/>
                <a:ext cx="869829" cy="1364322"/>
                <a:chOff x="8012095" y="160211"/>
                <a:chExt cx="869829" cy="1364322"/>
              </a:xfrm>
            </p:grpSpPr>
            <p:pic>
              <p:nvPicPr>
                <p:cNvPr id="40" name="Picture 39">
                  <a:extLst>
                    <a:ext uri="{FF2B5EF4-FFF2-40B4-BE49-F238E27FC236}">
                      <a16:creationId xmlns:a16="http://schemas.microsoft.com/office/drawing/2014/main" id="{AFF75005-E7A7-2962-6F7D-8D68B47FA934}"/>
                    </a:ext>
                  </a:extLst>
                </p:cNvPr>
                <p:cNvPicPr>
                  <a:picLocks noChangeAspect="1"/>
                </p:cNvPicPr>
                <p:nvPr/>
              </p:nvPicPr>
              <p:blipFill>
                <a:blip r:embed="rId5"/>
                <a:stretch>
                  <a:fillRect/>
                </a:stretch>
              </p:blipFill>
              <p:spPr>
                <a:xfrm>
                  <a:off x="8012095" y="211185"/>
                  <a:ext cx="869829" cy="1313348"/>
                </a:xfrm>
                <a:prstGeom prst="rect">
                  <a:avLst/>
                </a:prstGeom>
              </p:spPr>
            </p:pic>
            <p:pic>
              <p:nvPicPr>
                <p:cNvPr id="41" name="Picture 4" descr="Military Beret Cap With Star PNG &amp; SVG Design For T-Shirts">
                  <a:extLst>
                    <a:ext uri="{FF2B5EF4-FFF2-40B4-BE49-F238E27FC236}">
                      <a16:creationId xmlns:a16="http://schemas.microsoft.com/office/drawing/2014/main" id="{029E91CF-8730-ED23-680A-370CF085C2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0468" y="160211"/>
                  <a:ext cx="515024" cy="515024"/>
                </a:xfrm>
                <a:prstGeom prst="rect">
                  <a:avLst/>
                </a:prstGeom>
                <a:extLst>
                  <a:ext uri="{909E8E84-426E-40DD-AFC4-6F175D3DCCD1}">
                    <a14:hiddenFill xmlns:a14="http://schemas.microsoft.com/office/drawing/2010/main">
                      <a:solidFill>
                        <a:srgbClr val="FFFFFF"/>
                      </a:solidFill>
                    </a14:hiddenFill>
                  </a:ext>
                </a:extLst>
              </p:spPr>
            </p:pic>
          </p:grpSp>
          <p:grpSp>
            <p:nvGrpSpPr>
              <p:cNvPr id="27" name="Group 26">
                <a:extLst>
                  <a:ext uri="{FF2B5EF4-FFF2-40B4-BE49-F238E27FC236}">
                    <a16:creationId xmlns:a16="http://schemas.microsoft.com/office/drawing/2014/main" id="{3AFE71BB-DA6B-F649-581A-7A467FF0E704}"/>
                  </a:ext>
                </a:extLst>
              </p:cNvPr>
              <p:cNvGrpSpPr/>
              <p:nvPr/>
            </p:nvGrpSpPr>
            <p:grpSpPr>
              <a:xfrm>
                <a:off x="2129784" y="7367774"/>
                <a:ext cx="869829" cy="1364322"/>
                <a:chOff x="5977847" y="204494"/>
                <a:chExt cx="869829" cy="1364322"/>
              </a:xfrm>
            </p:grpSpPr>
            <p:pic>
              <p:nvPicPr>
                <p:cNvPr id="38" name="Picture 37">
                  <a:extLst>
                    <a:ext uri="{FF2B5EF4-FFF2-40B4-BE49-F238E27FC236}">
                      <a16:creationId xmlns:a16="http://schemas.microsoft.com/office/drawing/2014/main" id="{862F3CCB-E9F4-D2A7-5096-D383C865AB38}"/>
                    </a:ext>
                  </a:extLst>
                </p:cNvPr>
                <p:cNvPicPr>
                  <a:picLocks noChangeAspect="1"/>
                </p:cNvPicPr>
                <p:nvPr/>
              </p:nvPicPr>
              <p:blipFill>
                <a:blip r:embed="rId5"/>
                <a:stretch>
                  <a:fillRect/>
                </a:stretch>
              </p:blipFill>
              <p:spPr>
                <a:xfrm>
                  <a:off x="5977847" y="255468"/>
                  <a:ext cx="869829" cy="1313348"/>
                </a:xfrm>
                <a:prstGeom prst="rect">
                  <a:avLst/>
                </a:prstGeom>
              </p:spPr>
            </p:pic>
            <p:pic>
              <p:nvPicPr>
                <p:cNvPr id="39" name="Picture 4" descr="Military Beret Cap With Star PNG &amp; SVG Design For T-Shirts">
                  <a:extLst>
                    <a:ext uri="{FF2B5EF4-FFF2-40B4-BE49-F238E27FC236}">
                      <a16:creationId xmlns:a16="http://schemas.microsoft.com/office/drawing/2014/main" id="{265A7BAD-FCC9-838D-3F89-FE5E2B216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6220" y="204494"/>
                  <a:ext cx="515024" cy="515024"/>
                </a:xfrm>
                <a:prstGeom prst="rect">
                  <a:avLst/>
                </a:prstGeom>
                <a:extLst>
                  <a:ext uri="{909E8E84-426E-40DD-AFC4-6F175D3DCCD1}">
                    <a14:hiddenFill xmlns:a14="http://schemas.microsoft.com/office/drawing/2010/main">
                      <a:solidFill>
                        <a:srgbClr val="FFFFFF"/>
                      </a:solidFill>
                    </a14:hiddenFill>
                  </a:ext>
                </a:extLst>
              </p:spPr>
            </p:pic>
          </p:grpSp>
          <p:grpSp>
            <p:nvGrpSpPr>
              <p:cNvPr id="28" name="Group 27">
                <a:extLst>
                  <a:ext uri="{FF2B5EF4-FFF2-40B4-BE49-F238E27FC236}">
                    <a16:creationId xmlns:a16="http://schemas.microsoft.com/office/drawing/2014/main" id="{B4C90589-97DD-2746-E1D7-4C095A450A52}"/>
                  </a:ext>
                </a:extLst>
              </p:cNvPr>
              <p:cNvGrpSpPr/>
              <p:nvPr/>
            </p:nvGrpSpPr>
            <p:grpSpPr>
              <a:xfrm>
                <a:off x="4324422" y="7506888"/>
                <a:ext cx="713276" cy="1243964"/>
                <a:chOff x="10892325" y="4801397"/>
                <a:chExt cx="713276" cy="1243964"/>
              </a:xfrm>
            </p:grpSpPr>
            <p:pic>
              <p:nvPicPr>
                <p:cNvPr id="36" name="Picture 7" descr="Adoptable Rabbits | morabbit">
                  <a:extLst>
                    <a:ext uri="{FF2B5EF4-FFF2-40B4-BE49-F238E27FC236}">
                      <a16:creationId xmlns:a16="http://schemas.microsoft.com/office/drawing/2014/main" id="{161A4AB5-B19E-8E26-FA9D-A41314528E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0892325" y="4871016"/>
                  <a:ext cx="713276" cy="1174345"/>
                </a:xfrm>
                <a:prstGeom prst="rect">
                  <a:avLst/>
                </a:prstGeom>
                <a:extLst>
                  <a:ext uri="{909E8E84-426E-40DD-AFC4-6F175D3DCCD1}">
                    <a14:hiddenFill xmlns:a14="http://schemas.microsoft.com/office/drawing/2010/main">
                      <a:solidFill>
                        <a:srgbClr val="FFFFFF"/>
                      </a:solidFill>
                    </a14:hiddenFill>
                  </a:ext>
                </a:extLst>
              </p:spPr>
            </p:pic>
            <p:pic>
              <p:nvPicPr>
                <p:cNvPr id="37" name="Picture 4" descr="Military Beret Cap With Star PNG &amp; SVG Design For T-Shirts">
                  <a:extLst>
                    <a:ext uri="{FF2B5EF4-FFF2-40B4-BE49-F238E27FC236}">
                      <a16:creationId xmlns:a16="http://schemas.microsoft.com/office/drawing/2014/main" id="{17CC329C-98E8-39D3-F8B3-076CDDEE4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6354" y="4801397"/>
                  <a:ext cx="419010" cy="419010"/>
                </a:xfrm>
                <a:prstGeom prst="rect">
                  <a:avLst/>
                </a:prstGeom>
                <a:extLst>
                  <a:ext uri="{909E8E84-426E-40DD-AFC4-6F175D3DCCD1}">
                    <a14:hiddenFill xmlns:a14="http://schemas.microsoft.com/office/drawing/2010/main">
                      <a:solidFill>
                        <a:srgbClr val="FFFFFF"/>
                      </a:solidFill>
                    </a14:hiddenFill>
                  </a:ext>
                </a:extLst>
              </p:spPr>
            </p:pic>
          </p:grpSp>
          <p:grpSp>
            <p:nvGrpSpPr>
              <p:cNvPr id="29" name="Group 28">
                <a:extLst>
                  <a:ext uri="{FF2B5EF4-FFF2-40B4-BE49-F238E27FC236}">
                    <a16:creationId xmlns:a16="http://schemas.microsoft.com/office/drawing/2014/main" id="{A3154A95-3B76-CFE7-7A01-DCC8F6C92D01}"/>
                  </a:ext>
                </a:extLst>
              </p:cNvPr>
              <p:cNvGrpSpPr/>
              <p:nvPr/>
            </p:nvGrpSpPr>
            <p:grpSpPr>
              <a:xfrm>
                <a:off x="3240767" y="7652597"/>
                <a:ext cx="837121" cy="871095"/>
                <a:chOff x="11049043" y="1681194"/>
                <a:chExt cx="837121" cy="871095"/>
              </a:xfrm>
            </p:grpSpPr>
            <p:pic>
              <p:nvPicPr>
                <p:cNvPr id="34" name="Picture 33">
                  <a:extLst>
                    <a:ext uri="{FF2B5EF4-FFF2-40B4-BE49-F238E27FC236}">
                      <a16:creationId xmlns:a16="http://schemas.microsoft.com/office/drawing/2014/main" id="{BB086741-F0A2-FDF1-BDC4-E99281D60276}"/>
                    </a:ext>
                  </a:extLst>
                </p:cNvPr>
                <p:cNvPicPr>
                  <a:picLocks noChangeAspect="1"/>
                </p:cNvPicPr>
                <p:nvPr/>
              </p:nvPicPr>
              <p:blipFill>
                <a:blip r:embed="rId7"/>
                <a:stretch>
                  <a:fillRect/>
                </a:stretch>
              </p:blipFill>
              <p:spPr>
                <a:xfrm>
                  <a:off x="11049043" y="1681194"/>
                  <a:ext cx="687020" cy="871095"/>
                </a:xfrm>
                <a:prstGeom prst="rect">
                  <a:avLst/>
                </a:prstGeom>
              </p:spPr>
            </p:pic>
            <p:pic>
              <p:nvPicPr>
                <p:cNvPr id="35" name="Picture 6" descr="Tie Dye T-Shirt - Classic Rainbow Spiral - Psychedelic Shirt">
                  <a:extLst>
                    <a:ext uri="{FF2B5EF4-FFF2-40B4-BE49-F238E27FC236}">
                      <a16:creationId xmlns:a16="http://schemas.microsoft.com/office/drawing/2014/main" id="{4BA5AC9A-5818-9B9B-52E5-A5C0938F465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b="44407"/>
                <a:stretch/>
              </p:blipFill>
              <p:spPr bwMode="auto">
                <a:xfrm>
                  <a:off x="11051732" y="1976488"/>
                  <a:ext cx="834432" cy="431332"/>
                </a:xfrm>
                <a:prstGeom prst="rect">
                  <a:avLst/>
                </a:prstGeom>
                <a:extLst>
                  <a:ext uri="{909E8E84-426E-40DD-AFC4-6F175D3DCCD1}">
                    <a14:hiddenFill xmlns:a14="http://schemas.microsoft.com/office/drawing/2010/main">
                      <a:solidFill>
                        <a:srgbClr val="FFFFFF"/>
                      </a:solidFill>
                    </a14:hiddenFill>
                  </a:ext>
                </a:extLst>
              </p:spPr>
            </p:pic>
          </p:grpSp>
          <p:sp>
            <p:nvSpPr>
              <p:cNvPr id="30" name="TextBox 29">
                <a:extLst>
                  <a:ext uri="{FF2B5EF4-FFF2-40B4-BE49-F238E27FC236}">
                    <a16:creationId xmlns:a16="http://schemas.microsoft.com/office/drawing/2014/main" id="{DDCB2965-60A5-5124-1892-15F85445DD18}"/>
                  </a:ext>
                </a:extLst>
              </p:cNvPr>
              <p:cNvSpPr txBox="1"/>
              <p:nvPr/>
            </p:nvSpPr>
            <p:spPr>
              <a:xfrm>
                <a:off x="1470073" y="8452287"/>
                <a:ext cx="869828" cy="510133"/>
              </a:xfrm>
              <a:prstGeom prst="rect">
                <a:avLst/>
              </a:prstGeom>
              <a:noFill/>
            </p:spPr>
            <p:txBody>
              <a:bodyPr wrap="square" rtlCol="0">
                <a:spAutoFit/>
              </a:bodyPr>
              <a:lstStyle/>
              <a:p>
                <a:r>
                  <a:rPr lang="en-US" sz="1400" dirty="0"/>
                  <a:t>$1</a:t>
                </a:r>
              </a:p>
            </p:txBody>
          </p:sp>
          <p:sp>
            <p:nvSpPr>
              <p:cNvPr id="31" name="TextBox 30">
                <a:extLst>
                  <a:ext uri="{FF2B5EF4-FFF2-40B4-BE49-F238E27FC236}">
                    <a16:creationId xmlns:a16="http://schemas.microsoft.com/office/drawing/2014/main" id="{DBEFEEDE-B181-14EF-539C-0A6D75CCD6CB}"/>
                  </a:ext>
                </a:extLst>
              </p:cNvPr>
              <p:cNvSpPr txBox="1"/>
              <p:nvPr/>
            </p:nvSpPr>
            <p:spPr>
              <a:xfrm>
                <a:off x="2312450" y="8462328"/>
                <a:ext cx="869828" cy="510133"/>
              </a:xfrm>
              <a:prstGeom prst="rect">
                <a:avLst/>
              </a:prstGeom>
              <a:noFill/>
            </p:spPr>
            <p:txBody>
              <a:bodyPr wrap="square" rtlCol="0">
                <a:spAutoFit/>
              </a:bodyPr>
              <a:lstStyle/>
              <a:p>
                <a:r>
                  <a:rPr lang="en-US" sz="1400" dirty="0"/>
                  <a:t>$2</a:t>
                </a:r>
              </a:p>
            </p:txBody>
          </p:sp>
          <p:sp>
            <p:nvSpPr>
              <p:cNvPr id="32" name="TextBox 31">
                <a:extLst>
                  <a:ext uri="{FF2B5EF4-FFF2-40B4-BE49-F238E27FC236}">
                    <a16:creationId xmlns:a16="http://schemas.microsoft.com/office/drawing/2014/main" id="{48E48D41-15F3-92D6-6434-A4F9B4B40D80}"/>
                  </a:ext>
                </a:extLst>
              </p:cNvPr>
              <p:cNvSpPr txBox="1"/>
              <p:nvPr/>
            </p:nvSpPr>
            <p:spPr>
              <a:xfrm>
                <a:off x="4385890" y="8474970"/>
                <a:ext cx="869828" cy="510133"/>
              </a:xfrm>
              <a:prstGeom prst="rect">
                <a:avLst/>
              </a:prstGeom>
              <a:noFill/>
            </p:spPr>
            <p:txBody>
              <a:bodyPr wrap="square" rtlCol="0">
                <a:spAutoFit/>
              </a:bodyPr>
              <a:lstStyle/>
              <a:p>
                <a:r>
                  <a:rPr lang="en-US" sz="1400" dirty="0"/>
                  <a:t>$8</a:t>
                </a:r>
              </a:p>
            </p:txBody>
          </p:sp>
          <p:sp>
            <p:nvSpPr>
              <p:cNvPr id="33" name="TextBox 32">
                <a:extLst>
                  <a:ext uri="{FF2B5EF4-FFF2-40B4-BE49-F238E27FC236}">
                    <a16:creationId xmlns:a16="http://schemas.microsoft.com/office/drawing/2014/main" id="{8238A8B8-FB6F-BEA4-6AE0-3D99325EA307}"/>
                  </a:ext>
                </a:extLst>
              </p:cNvPr>
              <p:cNvSpPr txBox="1"/>
              <p:nvPr/>
            </p:nvSpPr>
            <p:spPr>
              <a:xfrm>
                <a:off x="3380595" y="8403549"/>
                <a:ext cx="834432" cy="510133"/>
              </a:xfrm>
              <a:prstGeom prst="rect">
                <a:avLst/>
              </a:prstGeom>
              <a:noFill/>
            </p:spPr>
            <p:txBody>
              <a:bodyPr wrap="square" rtlCol="0">
                <a:spAutoFit/>
              </a:bodyPr>
              <a:lstStyle/>
              <a:p>
                <a:r>
                  <a:rPr lang="en-US" sz="1400" dirty="0"/>
                  <a:t>$4</a:t>
                </a:r>
              </a:p>
            </p:txBody>
          </p:sp>
        </p:grpSp>
        <p:grpSp>
          <p:nvGrpSpPr>
            <p:cNvPr id="42" name="Group 41">
              <a:extLst>
                <a:ext uri="{FF2B5EF4-FFF2-40B4-BE49-F238E27FC236}">
                  <a16:creationId xmlns:a16="http://schemas.microsoft.com/office/drawing/2014/main" id="{D18CF9EF-3768-B417-5799-FC6134227ED9}"/>
                </a:ext>
              </a:extLst>
            </p:cNvPr>
            <p:cNvGrpSpPr/>
            <p:nvPr/>
          </p:nvGrpSpPr>
          <p:grpSpPr>
            <a:xfrm>
              <a:off x="9205833" y="5636183"/>
              <a:ext cx="2615764" cy="1050963"/>
              <a:chOff x="7328356" y="7376120"/>
              <a:chExt cx="3921742" cy="1575683"/>
            </a:xfrm>
          </p:grpSpPr>
          <p:grpSp>
            <p:nvGrpSpPr>
              <p:cNvPr id="43" name="Group 42">
                <a:extLst>
                  <a:ext uri="{FF2B5EF4-FFF2-40B4-BE49-F238E27FC236}">
                    <a16:creationId xmlns:a16="http://schemas.microsoft.com/office/drawing/2014/main" id="{0CA34976-8919-A849-EA79-3296D8376BB5}"/>
                  </a:ext>
                </a:extLst>
              </p:cNvPr>
              <p:cNvGrpSpPr/>
              <p:nvPr/>
            </p:nvGrpSpPr>
            <p:grpSpPr>
              <a:xfrm>
                <a:off x="7328356" y="7414641"/>
                <a:ext cx="869829" cy="1313348"/>
                <a:chOff x="7999130" y="1529426"/>
                <a:chExt cx="869829" cy="1313348"/>
              </a:xfrm>
            </p:grpSpPr>
            <p:pic>
              <p:nvPicPr>
                <p:cNvPr id="57" name="Picture 56">
                  <a:extLst>
                    <a:ext uri="{FF2B5EF4-FFF2-40B4-BE49-F238E27FC236}">
                      <a16:creationId xmlns:a16="http://schemas.microsoft.com/office/drawing/2014/main" id="{FCAFF895-D318-104D-E8BA-7F5250B6234F}"/>
                    </a:ext>
                  </a:extLst>
                </p:cNvPr>
                <p:cNvPicPr>
                  <a:picLocks noChangeAspect="1"/>
                </p:cNvPicPr>
                <p:nvPr/>
              </p:nvPicPr>
              <p:blipFill>
                <a:blip r:embed="rId5"/>
                <a:stretch>
                  <a:fillRect/>
                </a:stretch>
              </p:blipFill>
              <p:spPr>
                <a:xfrm>
                  <a:off x="7999130" y="1529426"/>
                  <a:ext cx="869829" cy="1313348"/>
                </a:xfrm>
                <a:prstGeom prst="rect">
                  <a:avLst/>
                </a:prstGeom>
              </p:spPr>
            </p:pic>
            <p:pic>
              <p:nvPicPr>
                <p:cNvPr id="58" name="Picture 6" descr="Tie Dye T-Shirt - Classic Rainbow Spiral - Psychedelic Shirt">
                  <a:extLst>
                    <a:ext uri="{FF2B5EF4-FFF2-40B4-BE49-F238E27FC236}">
                      <a16:creationId xmlns:a16="http://schemas.microsoft.com/office/drawing/2014/main" id="{1BEA515B-6830-5A40-A73F-3AC676DFC76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8146011" y="2059088"/>
                  <a:ext cx="599974" cy="431332"/>
                </a:xfrm>
                <a:prstGeom prst="rect">
                  <a:avLst/>
                </a:prstGeom>
                <a:extLst>
                  <a:ext uri="{909E8E84-426E-40DD-AFC4-6F175D3DCCD1}">
                    <a14:hiddenFill xmlns:a14="http://schemas.microsoft.com/office/drawing/2010/main">
                      <a:solidFill>
                        <a:srgbClr val="FFFFFF"/>
                      </a:solidFill>
                    </a14:hiddenFill>
                  </a:ext>
                </a:extLst>
              </p:spPr>
            </p:pic>
          </p:grpSp>
          <p:grpSp>
            <p:nvGrpSpPr>
              <p:cNvPr id="44" name="Group 43">
                <a:extLst>
                  <a:ext uri="{FF2B5EF4-FFF2-40B4-BE49-F238E27FC236}">
                    <a16:creationId xmlns:a16="http://schemas.microsoft.com/office/drawing/2014/main" id="{DC4A0FF2-88F4-AEA3-6941-9E7A7D4FBEED}"/>
                  </a:ext>
                </a:extLst>
              </p:cNvPr>
              <p:cNvGrpSpPr/>
              <p:nvPr/>
            </p:nvGrpSpPr>
            <p:grpSpPr>
              <a:xfrm>
                <a:off x="8314446" y="7376120"/>
                <a:ext cx="869830" cy="1313348"/>
                <a:chOff x="7103113" y="1502637"/>
                <a:chExt cx="869830" cy="1313348"/>
              </a:xfrm>
            </p:grpSpPr>
            <p:pic>
              <p:nvPicPr>
                <p:cNvPr id="55" name="Picture 54">
                  <a:extLst>
                    <a:ext uri="{FF2B5EF4-FFF2-40B4-BE49-F238E27FC236}">
                      <a16:creationId xmlns:a16="http://schemas.microsoft.com/office/drawing/2014/main" id="{BCE158AF-2376-D4D6-6E63-683BF8E139D5}"/>
                    </a:ext>
                  </a:extLst>
                </p:cNvPr>
                <p:cNvPicPr>
                  <a:picLocks noChangeAspect="1"/>
                </p:cNvPicPr>
                <p:nvPr/>
              </p:nvPicPr>
              <p:blipFill>
                <a:blip r:embed="rId5"/>
                <a:stretch>
                  <a:fillRect/>
                </a:stretch>
              </p:blipFill>
              <p:spPr>
                <a:xfrm>
                  <a:off x="7103113" y="1502637"/>
                  <a:ext cx="869830" cy="1313348"/>
                </a:xfrm>
                <a:prstGeom prst="rect">
                  <a:avLst/>
                </a:prstGeom>
              </p:spPr>
            </p:pic>
            <p:pic>
              <p:nvPicPr>
                <p:cNvPr id="56" name="Picture 6" descr="Tie Dye T-Shirt - Classic Rainbow Spiral - Psychedelic Shirt">
                  <a:extLst>
                    <a:ext uri="{FF2B5EF4-FFF2-40B4-BE49-F238E27FC236}">
                      <a16:creationId xmlns:a16="http://schemas.microsoft.com/office/drawing/2014/main" id="{19569F1F-F5F4-F1CA-CF4D-013015F20A5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7249998" y="2032299"/>
                  <a:ext cx="599973" cy="431330"/>
                </a:xfrm>
                <a:prstGeom prst="rect">
                  <a:avLst/>
                </a:prstGeom>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6D5EEE7-FF15-0387-26E4-6CE1F7AF253E}"/>
                  </a:ext>
                </a:extLst>
              </p:cNvPr>
              <p:cNvGrpSpPr/>
              <p:nvPr/>
            </p:nvGrpSpPr>
            <p:grpSpPr>
              <a:xfrm>
                <a:off x="10217309" y="7472274"/>
                <a:ext cx="713277" cy="1233066"/>
                <a:chOff x="8802420" y="4788057"/>
                <a:chExt cx="713277" cy="1233066"/>
              </a:xfrm>
            </p:grpSpPr>
            <p:pic>
              <p:nvPicPr>
                <p:cNvPr id="53" name="Picture 7" descr="Adoptable Rabbits | morabbit">
                  <a:extLst>
                    <a:ext uri="{FF2B5EF4-FFF2-40B4-BE49-F238E27FC236}">
                      <a16:creationId xmlns:a16="http://schemas.microsoft.com/office/drawing/2014/main" id="{62534AC6-6782-7BF2-C672-89D838C7ED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802420" y="4846780"/>
                  <a:ext cx="713277" cy="1174343"/>
                </a:xfrm>
                <a:prstGeom prst="rect">
                  <a:avLst/>
                </a:prstGeom>
                <a:extLst>
                  <a:ext uri="{909E8E84-426E-40DD-AFC4-6F175D3DCCD1}">
                    <a14:hiddenFill xmlns:a14="http://schemas.microsoft.com/office/drawing/2010/main">
                      <a:solidFill>
                        <a:srgbClr val="FFFFFF"/>
                      </a:solidFill>
                    </a14:hiddenFill>
                  </a:ext>
                </a:extLst>
              </p:spPr>
            </p:pic>
            <p:pic>
              <p:nvPicPr>
                <p:cNvPr id="54" name="Picture 4" descr="Military Beret Cap With Star PNG &amp; SVG Design For T-Shirts">
                  <a:extLst>
                    <a:ext uri="{FF2B5EF4-FFF2-40B4-BE49-F238E27FC236}">
                      <a16:creationId xmlns:a16="http://schemas.microsoft.com/office/drawing/2014/main" id="{8A0F2785-0F57-DBB4-5AC7-3CC30622E6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7804" y="4788057"/>
                  <a:ext cx="419010" cy="419010"/>
                </a:xfrm>
                <a:prstGeom prst="rect">
                  <a:avLst/>
                </a:prstGeom>
                <a:extLst>
                  <a:ext uri="{909E8E84-426E-40DD-AFC4-6F175D3DCCD1}">
                    <a14:hiddenFill xmlns:a14="http://schemas.microsoft.com/office/drawing/2010/main">
                      <a:solidFill>
                        <a:srgbClr val="FFFFFF"/>
                      </a:solidFill>
                    </a14:hiddenFill>
                  </a:ext>
                </a:extLst>
              </p:spPr>
            </p:pic>
          </p:grpSp>
          <p:grpSp>
            <p:nvGrpSpPr>
              <p:cNvPr id="46" name="Group 45">
                <a:extLst>
                  <a:ext uri="{FF2B5EF4-FFF2-40B4-BE49-F238E27FC236}">
                    <a16:creationId xmlns:a16="http://schemas.microsoft.com/office/drawing/2014/main" id="{C7043243-C2FF-4498-47F1-AAE20E6E2D14}"/>
                  </a:ext>
                </a:extLst>
              </p:cNvPr>
              <p:cNvGrpSpPr/>
              <p:nvPr/>
            </p:nvGrpSpPr>
            <p:grpSpPr>
              <a:xfrm>
                <a:off x="9336611" y="7659902"/>
                <a:ext cx="837122" cy="871095"/>
                <a:chOff x="11930122" y="1728038"/>
                <a:chExt cx="837122" cy="871095"/>
              </a:xfrm>
            </p:grpSpPr>
            <p:pic>
              <p:nvPicPr>
                <p:cNvPr id="51" name="Picture 50">
                  <a:extLst>
                    <a:ext uri="{FF2B5EF4-FFF2-40B4-BE49-F238E27FC236}">
                      <a16:creationId xmlns:a16="http://schemas.microsoft.com/office/drawing/2014/main" id="{BF25DB52-4EE8-0B4E-28F9-B5AB28BB5196}"/>
                    </a:ext>
                  </a:extLst>
                </p:cNvPr>
                <p:cNvPicPr>
                  <a:picLocks noChangeAspect="1"/>
                </p:cNvPicPr>
                <p:nvPr/>
              </p:nvPicPr>
              <p:blipFill>
                <a:blip r:embed="rId7"/>
                <a:stretch>
                  <a:fillRect/>
                </a:stretch>
              </p:blipFill>
              <p:spPr>
                <a:xfrm>
                  <a:off x="11930122" y="1728038"/>
                  <a:ext cx="687021" cy="871095"/>
                </a:xfrm>
                <a:prstGeom prst="rect">
                  <a:avLst/>
                </a:prstGeom>
              </p:spPr>
            </p:pic>
            <p:pic>
              <p:nvPicPr>
                <p:cNvPr id="52" name="Picture 6" descr="Tie Dye T-Shirt - Classic Rainbow Spiral - Psychedelic Shirt">
                  <a:extLst>
                    <a:ext uri="{FF2B5EF4-FFF2-40B4-BE49-F238E27FC236}">
                      <a16:creationId xmlns:a16="http://schemas.microsoft.com/office/drawing/2014/main" id="{194B367C-6D6A-527B-2F04-139B0115CA9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 b="44407"/>
                <a:stretch/>
              </p:blipFill>
              <p:spPr bwMode="auto">
                <a:xfrm>
                  <a:off x="11932811" y="2023333"/>
                  <a:ext cx="834433" cy="431328"/>
                </a:xfrm>
                <a:prstGeom prst="rect">
                  <a:avLst/>
                </a:prstGeom>
                <a:extLst>
                  <a:ext uri="{909E8E84-426E-40DD-AFC4-6F175D3DCCD1}">
                    <a14:hiddenFill xmlns:a14="http://schemas.microsoft.com/office/drawing/2010/main">
                      <a:solidFill>
                        <a:srgbClr val="FFFFFF"/>
                      </a:solidFill>
                    </a14:hiddenFill>
                  </a:ext>
                </a:extLst>
              </p:spPr>
            </p:pic>
          </p:grpSp>
          <p:sp>
            <p:nvSpPr>
              <p:cNvPr id="47" name="TextBox 46">
                <a:extLst>
                  <a:ext uri="{FF2B5EF4-FFF2-40B4-BE49-F238E27FC236}">
                    <a16:creationId xmlns:a16="http://schemas.microsoft.com/office/drawing/2014/main" id="{BD9C2130-9311-E220-0B73-19B1826092D5}"/>
                  </a:ext>
                </a:extLst>
              </p:cNvPr>
              <p:cNvSpPr txBox="1"/>
              <p:nvPr/>
            </p:nvSpPr>
            <p:spPr>
              <a:xfrm>
                <a:off x="10380270" y="8442459"/>
                <a:ext cx="869828" cy="461442"/>
              </a:xfrm>
              <a:prstGeom prst="rect">
                <a:avLst/>
              </a:prstGeom>
              <a:noFill/>
            </p:spPr>
            <p:txBody>
              <a:bodyPr wrap="square" rtlCol="0">
                <a:spAutoFit/>
              </a:bodyPr>
              <a:lstStyle/>
              <a:p>
                <a:r>
                  <a:rPr lang="en-US" sz="1400" dirty="0"/>
                  <a:t>$8</a:t>
                </a:r>
              </a:p>
            </p:txBody>
          </p:sp>
          <p:sp>
            <p:nvSpPr>
              <p:cNvPr id="48" name="TextBox 47">
                <a:extLst>
                  <a:ext uri="{FF2B5EF4-FFF2-40B4-BE49-F238E27FC236}">
                    <a16:creationId xmlns:a16="http://schemas.microsoft.com/office/drawing/2014/main" id="{1BDE48F1-5ED8-58F7-D1D6-534B42EC4A0A}"/>
                  </a:ext>
                </a:extLst>
              </p:cNvPr>
              <p:cNvSpPr txBox="1"/>
              <p:nvPr/>
            </p:nvSpPr>
            <p:spPr>
              <a:xfrm>
                <a:off x="9510016" y="8407496"/>
                <a:ext cx="869828" cy="461442"/>
              </a:xfrm>
              <a:prstGeom prst="rect">
                <a:avLst/>
              </a:prstGeom>
              <a:noFill/>
            </p:spPr>
            <p:txBody>
              <a:bodyPr wrap="square" rtlCol="0">
                <a:spAutoFit/>
              </a:bodyPr>
              <a:lstStyle/>
              <a:p>
                <a:r>
                  <a:rPr lang="en-US" sz="1400" dirty="0"/>
                  <a:t>$4</a:t>
                </a:r>
              </a:p>
            </p:txBody>
          </p:sp>
          <p:sp>
            <p:nvSpPr>
              <p:cNvPr id="49" name="TextBox 48">
                <a:extLst>
                  <a:ext uri="{FF2B5EF4-FFF2-40B4-BE49-F238E27FC236}">
                    <a16:creationId xmlns:a16="http://schemas.microsoft.com/office/drawing/2014/main" id="{1794BE33-430B-FD1D-2464-3233FBF33912}"/>
                  </a:ext>
                </a:extLst>
              </p:cNvPr>
              <p:cNvSpPr txBox="1"/>
              <p:nvPr/>
            </p:nvSpPr>
            <p:spPr>
              <a:xfrm>
                <a:off x="7517090" y="8490361"/>
                <a:ext cx="869828" cy="461442"/>
              </a:xfrm>
              <a:prstGeom prst="rect">
                <a:avLst/>
              </a:prstGeom>
              <a:noFill/>
            </p:spPr>
            <p:txBody>
              <a:bodyPr wrap="square" rtlCol="0">
                <a:spAutoFit/>
              </a:bodyPr>
              <a:lstStyle/>
              <a:p>
                <a:r>
                  <a:rPr lang="en-US" sz="1400" dirty="0"/>
                  <a:t>$5</a:t>
                </a:r>
              </a:p>
            </p:txBody>
          </p:sp>
          <p:sp>
            <p:nvSpPr>
              <p:cNvPr id="50" name="TextBox 49">
                <a:extLst>
                  <a:ext uri="{FF2B5EF4-FFF2-40B4-BE49-F238E27FC236}">
                    <a16:creationId xmlns:a16="http://schemas.microsoft.com/office/drawing/2014/main" id="{6987CF5F-D463-B826-06B7-06E3B0CDC653}"/>
                  </a:ext>
                </a:extLst>
              </p:cNvPr>
              <p:cNvSpPr txBox="1"/>
              <p:nvPr/>
            </p:nvSpPr>
            <p:spPr>
              <a:xfrm>
                <a:off x="8574023" y="8407496"/>
                <a:ext cx="869828" cy="461442"/>
              </a:xfrm>
              <a:prstGeom prst="rect">
                <a:avLst/>
              </a:prstGeom>
              <a:noFill/>
            </p:spPr>
            <p:txBody>
              <a:bodyPr wrap="square" rtlCol="0">
                <a:spAutoFit/>
              </a:bodyPr>
              <a:lstStyle/>
              <a:p>
                <a:r>
                  <a:rPr lang="en-US" sz="1400" dirty="0"/>
                  <a:t>$6</a:t>
                </a:r>
              </a:p>
            </p:txBody>
          </p:sp>
        </p:grpSp>
        <p:sp>
          <p:nvSpPr>
            <p:cNvPr id="59" name="TextBox 58">
              <a:extLst>
                <a:ext uri="{FF2B5EF4-FFF2-40B4-BE49-F238E27FC236}">
                  <a16:creationId xmlns:a16="http://schemas.microsoft.com/office/drawing/2014/main" id="{8F19869B-A63D-EA3A-8A58-BFC2A273C3EC}"/>
                </a:ext>
              </a:extLst>
            </p:cNvPr>
            <p:cNvSpPr txBox="1"/>
            <p:nvPr/>
          </p:nvSpPr>
          <p:spPr>
            <a:xfrm>
              <a:off x="10005849" y="4125503"/>
              <a:ext cx="817468" cy="307777"/>
            </a:xfrm>
            <a:prstGeom prst="rect">
              <a:avLst/>
            </a:prstGeom>
            <a:noFill/>
          </p:spPr>
          <p:txBody>
            <a:bodyPr wrap="none" rtlCol="0">
              <a:spAutoFit/>
            </a:bodyPr>
            <a:lstStyle/>
            <a:p>
              <a:r>
                <a:rPr lang="en-US" sz="1400" dirty="0"/>
                <a:t>Drafted:</a:t>
              </a:r>
            </a:p>
          </p:txBody>
        </p:sp>
        <p:sp>
          <p:nvSpPr>
            <p:cNvPr id="60" name="TextBox 59">
              <a:extLst>
                <a:ext uri="{FF2B5EF4-FFF2-40B4-BE49-F238E27FC236}">
                  <a16:creationId xmlns:a16="http://schemas.microsoft.com/office/drawing/2014/main" id="{9957685B-E1E5-2D0C-BA40-16E43A143030}"/>
                </a:ext>
              </a:extLst>
            </p:cNvPr>
            <p:cNvSpPr txBox="1"/>
            <p:nvPr/>
          </p:nvSpPr>
          <p:spPr>
            <a:xfrm>
              <a:off x="9722030" y="5365068"/>
              <a:ext cx="1138068" cy="307777"/>
            </a:xfrm>
            <a:prstGeom prst="rect">
              <a:avLst/>
            </a:prstGeom>
            <a:noFill/>
          </p:spPr>
          <p:txBody>
            <a:bodyPr wrap="none" rtlCol="0">
              <a:spAutoFit/>
            </a:bodyPr>
            <a:lstStyle/>
            <a:p>
              <a:r>
                <a:rPr lang="en-US" sz="1400" dirty="0"/>
                <a:t>Not Drafted:</a:t>
              </a:r>
            </a:p>
          </p:txBody>
        </p:sp>
      </p:grpSp>
      <p:grpSp>
        <p:nvGrpSpPr>
          <p:cNvPr id="23" name="Group 22">
            <a:extLst>
              <a:ext uri="{FF2B5EF4-FFF2-40B4-BE49-F238E27FC236}">
                <a16:creationId xmlns:a16="http://schemas.microsoft.com/office/drawing/2014/main" id="{98881C62-5026-8ABF-08B2-914FDB1447A6}"/>
              </a:ext>
            </a:extLst>
          </p:cNvPr>
          <p:cNvGrpSpPr/>
          <p:nvPr/>
        </p:nvGrpSpPr>
        <p:grpSpPr>
          <a:xfrm>
            <a:off x="1777682" y="3395702"/>
            <a:ext cx="3755150" cy="2510774"/>
            <a:chOff x="1777682" y="3395702"/>
            <a:chExt cx="3755150" cy="2510774"/>
          </a:xfrm>
        </p:grpSpPr>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94602321-2FF9-1AF1-1710-AC8ACA482991}"/>
                    </a:ext>
                  </a:extLst>
                </p:cNvPr>
                <p:cNvSpPr txBox="1"/>
                <p:nvPr/>
              </p:nvSpPr>
              <p:spPr>
                <a:xfrm>
                  <a:off x="1817143" y="3395702"/>
                  <a:ext cx="1759712" cy="484876"/>
                </a:xfrm>
                <a:prstGeom prst="rect">
                  <a:avLst/>
                </a:prstGeom>
                <a:noFill/>
              </p:spPr>
              <p:txBody>
                <a:bodyPr wrap="none" rtlCol="0">
                  <a:spAutoFit/>
                </a:bodyPr>
                <a:lstStyle/>
                <a:p>
                  <a:r>
                    <a:rPr lang="en-US" dirty="0"/>
                    <a:t>Avg income: $</a:t>
                  </a:r>
                  <a14:m>
                    <m:oMath xmlns:m="http://schemas.openxmlformats.org/officeDocument/2006/math">
                      <m:f>
                        <m:fPr>
                          <m:ctrlPr>
                            <a:rPr lang="en-US" i="1" dirty="0" smtClean="0">
                              <a:latin typeface="Cambria Math" panose="02040503050406030204" pitchFamily="18" charset="0"/>
                            </a:rPr>
                          </m:ctrlPr>
                        </m:fPr>
                        <m:num>
                          <m:r>
                            <a:rPr lang="en-US" i="1" dirty="0" smtClean="0">
                              <a:latin typeface="Cambria Math" panose="02040503050406030204" pitchFamily="18" charset="0"/>
                            </a:rPr>
                            <m:t>11</m:t>
                          </m:r>
                        </m:num>
                        <m:den>
                          <m:r>
                            <a:rPr lang="en-US" i="1" dirty="0" smtClean="0">
                              <a:latin typeface="Cambria Math" panose="02040503050406030204" pitchFamily="18" charset="0"/>
                            </a:rPr>
                            <m:t>3</m:t>
                          </m:r>
                        </m:den>
                      </m:f>
                    </m:oMath>
                  </a14:m>
                  <a:endParaRPr lang="en-US" dirty="0"/>
                </a:p>
              </p:txBody>
            </p:sp>
          </mc:Choice>
          <mc:Fallback xmlns="">
            <p:sp>
              <p:nvSpPr>
                <p:cNvPr id="62" name="TextBox 61">
                  <a:extLst>
                    <a:ext uri="{FF2B5EF4-FFF2-40B4-BE49-F238E27FC236}">
                      <a16:creationId xmlns:a16="http://schemas.microsoft.com/office/drawing/2014/main" id="{94602321-2FF9-1AF1-1710-AC8ACA482991}"/>
                    </a:ext>
                  </a:extLst>
                </p:cNvPr>
                <p:cNvSpPr txBox="1">
                  <a:spLocks noRot="1" noChangeAspect="1" noMove="1" noResize="1" noEditPoints="1" noAdjustHandles="1" noChangeArrowheads="1" noChangeShapeType="1" noTextEdit="1"/>
                </p:cNvSpPr>
                <p:nvPr/>
              </p:nvSpPr>
              <p:spPr>
                <a:xfrm>
                  <a:off x="1817143" y="3395702"/>
                  <a:ext cx="1759712" cy="484876"/>
                </a:xfrm>
                <a:prstGeom prst="rect">
                  <a:avLst/>
                </a:prstGeom>
                <a:blipFill>
                  <a:blip r:embed="rId8"/>
                  <a:stretch>
                    <a:fillRect l="-2878" b="-7692"/>
                  </a:stretch>
                </a:blipFill>
              </p:spPr>
              <p:txBody>
                <a:bodyPr/>
                <a:lstStyle/>
                <a:p>
                  <a:r>
                    <a:rPr lang="en-US">
                      <a:noFill/>
                    </a:rPr>
                    <a:t> </a:t>
                  </a:r>
                </a:p>
              </p:txBody>
            </p:sp>
          </mc:Fallback>
        </mc:AlternateContent>
        <p:sp>
          <p:nvSpPr>
            <p:cNvPr id="63" name="TextBox 62">
              <a:extLst>
                <a:ext uri="{FF2B5EF4-FFF2-40B4-BE49-F238E27FC236}">
                  <a16:creationId xmlns:a16="http://schemas.microsoft.com/office/drawing/2014/main" id="{E1E981EA-3850-958F-7353-AC49C5F30845}"/>
                </a:ext>
              </a:extLst>
            </p:cNvPr>
            <p:cNvSpPr txBox="1"/>
            <p:nvPr/>
          </p:nvSpPr>
          <p:spPr>
            <a:xfrm>
              <a:off x="3821931" y="3450716"/>
              <a:ext cx="1687578" cy="369332"/>
            </a:xfrm>
            <a:prstGeom prst="rect">
              <a:avLst/>
            </a:prstGeom>
            <a:noFill/>
          </p:spPr>
          <p:txBody>
            <a:bodyPr wrap="none" rtlCol="0">
              <a:spAutoFit/>
            </a:bodyPr>
            <a:lstStyle/>
            <a:p>
              <a:r>
                <a:rPr lang="en-US" dirty="0"/>
                <a:t>Avg income: $8</a:t>
              </a:r>
            </a:p>
          </p:txBody>
        </p:sp>
        <p:sp>
          <p:nvSpPr>
            <p:cNvPr id="64" name="TextBox 63">
              <a:extLst>
                <a:ext uri="{FF2B5EF4-FFF2-40B4-BE49-F238E27FC236}">
                  <a16:creationId xmlns:a16="http://schemas.microsoft.com/office/drawing/2014/main" id="{09BA8BCC-0763-FB54-30AE-7193CAC9B0F9}"/>
                </a:ext>
              </a:extLst>
            </p:cNvPr>
            <p:cNvSpPr txBox="1"/>
            <p:nvPr/>
          </p:nvSpPr>
          <p:spPr>
            <a:xfrm>
              <a:off x="1777682" y="5424335"/>
              <a:ext cx="1687578" cy="369332"/>
            </a:xfrm>
            <a:prstGeom prst="rect">
              <a:avLst/>
            </a:prstGeom>
            <a:noFill/>
          </p:spPr>
          <p:txBody>
            <a:bodyPr wrap="none" rtlCol="0">
              <a:spAutoFit/>
            </a:bodyPr>
            <a:lstStyle/>
            <a:p>
              <a:r>
                <a:rPr lang="en-US" dirty="0"/>
                <a:t>Avg income: $4</a:t>
              </a:r>
            </a:p>
          </p:txBody>
        </p:sp>
        <p:sp>
          <p:nvSpPr>
            <p:cNvPr id="65" name="TextBox 64">
              <a:extLst>
                <a:ext uri="{FF2B5EF4-FFF2-40B4-BE49-F238E27FC236}">
                  <a16:creationId xmlns:a16="http://schemas.microsoft.com/office/drawing/2014/main" id="{A2AC3610-0E71-6C6A-2C60-A5525CAAD92D}"/>
                </a:ext>
              </a:extLst>
            </p:cNvPr>
            <p:cNvSpPr txBox="1"/>
            <p:nvPr/>
          </p:nvSpPr>
          <p:spPr>
            <a:xfrm>
              <a:off x="3845254" y="5537144"/>
              <a:ext cx="1687578" cy="369332"/>
            </a:xfrm>
            <a:prstGeom prst="rect">
              <a:avLst/>
            </a:prstGeom>
            <a:noFill/>
          </p:spPr>
          <p:txBody>
            <a:bodyPr wrap="none" rtlCol="0">
              <a:spAutoFit/>
            </a:bodyPr>
            <a:lstStyle/>
            <a:p>
              <a:r>
                <a:rPr lang="en-US" dirty="0"/>
                <a:t>Avg income: $5</a:t>
              </a:r>
            </a:p>
          </p:txBody>
        </p:sp>
      </p:grpSp>
      <p:sp>
        <p:nvSpPr>
          <p:cNvPr id="66" name="Freeform 65">
            <a:extLst>
              <a:ext uri="{FF2B5EF4-FFF2-40B4-BE49-F238E27FC236}">
                <a16:creationId xmlns:a16="http://schemas.microsoft.com/office/drawing/2014/main" id="{E0036FE8-C7D7-BC0E-4523-424AC49112BC}"/>
              </a:ext>
            </a:extLst>
          </p:cNvPr>
          <p:cNvSpPr/>
          <p:nvPr/>
        </p:nvSpPr>
        <p:spPr>
          <a:xfrm rot="20955044">
            <a:off x="3398468" y="1839948"/>
            <a:ext cx="3704493" cy="1325564"/>
          </a:xfrm>
          <a:custGeom>
            <a:avLst/>
            <a:gdLst>
              <a:gd name="connsiteX0" fmla="*/ 3704493 w 3704493"/>
              <a:gd name="connsiteY0" fmla="*/ 1938299 h 2465617"/>
              <a:gd name="connsiteX1" fmla="*/ 3341077 w 3704493"/>
              <a:gd name="connsiteY1" fmla="*/ 2407222 h 2465617"/>
              <a:gd name="connsiteX2" fmla="*/ 2133600 w 3704493"/>
              <a:gd name="connsiteY2" fmla="*/ 2196206 h 2465617"/>
              <a:gd name="connsiteX3" fmla="*/ 445477 w 3704493"/>
              <a:gd name="connsiteY3" fmla="*/ 62606 h 2465617"/>
              <a:gd name="connsiteX4" fmla="*/ 0 w 3704493"/>
              <a:gd name="connsiteY4" fmla="*/ 777714 h 2465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4493" h="2465617">
                <a:moveTo>
                  <a:pt x="3704493" y="1938299"/>
                </a:moveTo>
                <a:cubicBezTo>
                  <a:pt x="3653692" y="2151268"/>
                  <a:pt x="3602892" y="2364238"/>
                  <a:pt x="3341077" y="2407222"/>
                </a:cubicBezTo>
                <a:cubicBezTo>
                  <a:pt x="3079261" y="2450207"/>
                  <a:pt x="2616200" y="2586975"/>
                  <a:pt x="2133600" y="2196206"/>
                </a:cubicBezTo>
                <a:cubicBezTo>
                  <a:pt x="1651000" y="1805437"/>
                  <a:pt x="801077" y="299021"/>
                  <a:pt x="445477" y="62606"/>
                </a:cubicBezTo>
                <a:cubicBezTo>
                  <a:pt x="89877" y="-173809"/>
                  <a:pt x="44938" y="301952"/>
                  <a:pt x="0" y="777714"/>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D552DC67-2ED4-E5C2-2E55-29058218E794}"/>
                  </a:ext>
                </a:extLst>
              </p:cNvPr>
              <p:cNvSpPr txBox="1"/>
              <p:nvPr/>
            </p:nvSpPr>
            <p:spPr>
              <a:xfrm>
                <a:off x="6407935" y="4392485"/>
                <a:ext cx="2393815"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chemeClr val="accent2"/>
                              </a:solidFill>
                              <a:latin typeface="Cambria Math" panose="02040503050406030204" pitchFamily="18" charset="0"/>
                            </a:rPr>
                          </m:ctrlPr>
                        </m:fPr>
                        <m:num>
                          <m:r>
                            <a:rPr lang="en-US" b="0" i="1" smtClean="0">
                              <a:solidFill>
                                <a:schemeClr val="accent2"/>
                              </a:solidFill>
                              <a:latin typeface="Cambria Math" panose="02040503050406030204" pitchFamily="18" charset="0"/>
                            </a:rPr>
                            <m:t>2⋅</m:t>
                          </m:r>
                          <m:r>
                            <a:rPr lang="en-US" b="0" i="1" smtClean="0">
                              <a:solidFill>
                                <a:schemeClr val="accent2"/>
                              </a:solidFill>
                              <a:latin typeface="Cambria Math" panose="02040503050406030204" pitchFamily="18" charset="0"/>
                            </a:rPr>
                            <m:t>𝑥</m:t>
                          </m:r>
                          <m:r>
                            <a:rPr lang="en-US" b="0" i="1" smtClean="0">
                              <a:solidFill>
                                <a:schemeClr val="accent2"/>
                              </a:solidFill>
                              <a:latin typeface="Cambria Math" panose="02040503050406030204" pitchFamily="18" charset="0"/>
                            </a:rPr>
                            <m:t>+1⋅8</m:t>
                          </m:r>
                        </m:num>
                        <m:den>
                          <m:r>
                            <a:rPr lang="en-US" b="0" i="1" smtClean="0">
                              <a:solidFill>
                                <a:schemeClr val="accent2"/>
                              </a:solidFill>
                              <a:latin typeface="Cambria Math" panose="02040503050406030204" pitchFamily="18" charset="0"/>
                            </a:rPr>
                            <m:t>3</m:t>
                          </m:r>
                        </m:den>
                      </m:f>
                      <m:r>
                        <a:rPr lang="en-US" b="0" i="1" smtClean="0">
                          <a:solidFill>
                            <a:schemeClr val="accent2"/>
                          </a:solidFill>
                          <a:latin typeface="Cambria Math" panose="02040503050406030204" pitchFamily="18" charset="0"/>
                        </a:rPr>
                        <m:t>=</m:t>
                      </m:r>
                      <m:f>
                        <m:fPr>
                          <m:ctrlPr>
                            <a:rPr lang="en-US" b="0" i="1" smtClean="0">
                              <a:solidFill>
                                <a:schemeClr val="accent2"/>
                              </a:solidFill>
                              <a:latin typeface="Cambria Math" panose="02040503050406030204" pitchFamily="18" charset="0"/>
                            </a:rPr>
                          </m:ctrlPr>
                        </m:fPr>
                        <m:num>
                          <m:r>
                            <a:rPr lang="en-US" b="0" i="1" smtClean="0">
                              <a:solidFill>
                                <a:schemeClr val="accent2"/>
                              </a:solidFill>
                              <a:latin typeface="Cambria Math" panose="02040503050406030204" pitchFamily="18" charset="0"/>
                            </a:rPr>
                            <m:t>11</m:t>
                          </m:r>
                        </m:num>
                        <m:den>
                          <m:r>
                            <a:rPr lang="en-US" b="0" i="1" smtClean="0">
                              <a:solidFill>
                                <a:schemeClr val="accent2"/>
                              </a:solidFill>
                              <a:latin typeface="Cambria Math" panose="02040503050406030204" pitchFamily="18" charset="0"/>
                            </a:rPr>
                            <m:t>3</m:t>
                          </m:r>
                        </m:den>
                      </m:f>
                    </m:oMath>
                  </m:oMathPara>
                </a14:m>
                <a:endParaRPr lang="en-US" dirty="0">
                  <a:solidFill>
                    <a:schemeClr val="accent2"/>
                  </a:solidFill>
                </a:endParaRPr>
              </a:p>
            </p:txBody>
          </p:sp>
        </mc:Choice>
        <mc:Fallback xmlns="">
          <p:sp>
            <p:nvSpPr>
              <p:cNvPr id="67" name="TextBox 66">
                <a:extLst>
                  <a:ext uri="{FF2B5EF4-FFF2-40B4-BE49-F238E27FC236}">
                    <a16:creationId xmlns:a16="http://schemas.microsoft.com/office/drawing/2014/main" id="{D552DC67-2ED4-E5C2-2E55-29058218E794}"/>
                  </a:ext>
                </a:extLst>
              </p:cNvPr>
              <p:cNvSpPr txBox="1">
                <a:spLocks noRot="1" noChangeAspect="1" noMove="1" noResize="1" noEditPoints="1" noAdjustHandles="1" noChangeArrowheads="1" noChangeShapeType="1" noTextEdit="1"/>
              </p:cNvSpPr>
              <p:nvPr/>
            </p:nvSpPr>
            <p:spPr>
              <a:xfrm>
                <a:off x="6407935" y="4392485"/>
                <a:ext cx="2393815" cy="610936"/>
              </a:xfrm>
              <a:prstGeom prst="rect">
                <a:avLst/>
              </a:prstGeom>
              <a:blipFill>
                <a:blip r:embed="rId9"/>
                <a:stretch>
                  <a:fillRect b="-2041"/>
                </a:stretch>
              </a:blipFill>
            </p:spPr>
            <p:txBody>
              <a:bodyPr/>
              <a:lstStyle/>
              <a:p>
                <a:r>
                  <a:rPr lang="en-US">
                    <a:noFill/>
                  </a:rPr>
                  <a:t> </a:t>
                </a:r>
              </a:p>
            </p:txBody>
          </p:sp>
        </mc:Fallback>
      </mc:AlternateContent>
      <p:grpSp>
        <p:nvGrpSpPr>
          <p:cNvPr id="70" name="Group 69">
            <a:extLst>
              <a:ext uri="{FF2B5EF4-FFF2-40B4-BE49-F238E27FC236}">
                <a16:creationId xmlns:a16="http://schemas.microsoft.com/office/drawing/2014/main" id="{4C603982-6A88-812F-9A23-50E97C278DFE}"/>
              </a:ext>
            </a:extLst>
          </p:cNvPr>
          <p:cNvGrpSpPr/>
          <p:nvPr/>
        </p:nvGrpSpPr>
        <p:grpSpPr>
          <a:xfrm>
            <a:off x="6215713" y="2976284"/>
            <a:ext cx="5290486" cy="1365826"/>
            <a:chOff x="6215713" y="2976284"/>
            <a:chExt cx="5290486" cy="1365826"/>
          </a:xfrm>
        </p:grpSpPr>
        <p:sp>
          <p:nvSpPr>
            <p:cNvPr id="68" name="Content Placeholder 2">
              <a:extLst>
                <a:ext uri="{FF2B5EF4-FFF2-40B4-BE49-F238E27FC236}">
                  <a16:creationId xmlns:a16="http://schemas.microsoft.com/office/drawing/2014/main" id="{163D24F6-BC71-BE6B-6728-F9B4A75C0AC3}"/>
                </a:ext>
              </a:extLst>
            </p:cNvPr>
            <p:cNvSpPr txBox="1">
              <a:spLocks/>
            </p:cNvSpPr>
            <p:nvPr/>
          </p:nvSpPr>
          <p:spPr>
            <a:xfrm>
              <a:off x="6256306" y="3450716"/>
              <a:ext cx="5249893" cy="8913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What is the average income among the compliers here?</a:t>
              </a:r>
            </a:p>
          </p:txBody>
        </p:sp>
        <p:sp>
          <p:nvSpPr>
            <p:cNvPr id="69" name="Freeform 68">
              <a:extLst>
                <a:ext uri="{FF2B5EF4-FFF2-40B4-BE49-F238E27FC236}">
                  <a16:creationId xmlns:a16="http://schemas.microsoft.com/office/drawing/2014/main" id="{25F5DF2C-F0B8-7095-03A5-B8FEADE6BAD5}"/>
                </a:ext>
              </a:extLst>
            </p:cNvPr>
            <p:cNvSpPr/>
            <p:nvPr/>
          </p:nvSpPr>
          <p:spPr>
            <a:xfrm>
              <a:off x="6215713" y="2976284"/>
              <a:ext cx="1047383" cy="462249"/>
            </a:xfrm>
            <a:custGeom>
              <a:avLst/>
              <a:gdLst>
                <a:gd name="connsiteX0" fmla="*/ 1957387 w 1957387"/>
                <a:gd name="connsiteY0" fmla="*/ 685800 h 685800"/>
                <a:gd name="connsiteX1" fmla="*/ 1157287 w 1957387"/>
                <a:gd name="connsiteY1" fmla="*/ 285750 h 685800"/>
                <a:gd name="connsiteX2" fmla="*/ 0 w 1957387"/>
                <a:gd name="connsiteY2" fmla="*/ 0 h 685800"/>
              </a:gdLst>
              <a:ahLst/>
              <a:cxnLst>
                <a:cxn ang="0">
                  <a:pos x="connsiteX0" y="connsiteY0"/>
                </a:cxn>
                <a:cxn ang="0">
                  <a:pos x="connsiteX1" y="connsiteY1"/>
                </a:cxn>
                <a:cxn ang="0">
                  <a:pos x="connsiteX2" y="connsiteY2"/>
                </a:cxn>
              </a:cxnLst>
              <a:rect l="l" t="t" r="r" b="b"/>
              <a:pathLst>
                <a:path w="1957387" h="685800">
                  <a:moveTo>
                    <a:pt x="1957387" y="685800"/>
                  </a:moveTo>
                  <a:cubicBezTo>
                    <a:pt x="1720452" y="542925"/>
                    <a:pt x="1483518" y="400050"/>
                    <a:pt x="1157287" y="285750"/>
                  </a:cubicBezTo>
                  <a:cubicBezTo>
                    <a:pt x="831056" y="171450"/>
                    <a:pt x="415528" y="85725"/>
                    <a:pt x="0"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E1F90C89-F769-9F39-E3F1-C6D605B798D6}"/>
                  </a:ext>
                </a:extLst>
              </p:cNvPr>
              <p:cNvSpPr txBox="1"/>
              <p:nvPr/>
            </p:nvSpPr>
            <p:spPr>
              <a:xfrm>
                <a:off x="8012991" y="4364571"/>
                <a:ext cx="23938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𝑥</m:t>
                      </m:r>
                      <m:r>
                        <a:rPr lang="en-US" b="0" i="1" smtClean="0">
                          <a:solidFill>
                            <a:schemeClr val="accent2"/>
                          </a:solidFill>
                          <a:latin typeface="Cambria Math" panose="02040503050406030204" pitchFamily="18" charset="0"/>
                        </a:rPr>
                        <m:t>=1.5</m:t>
                      </m:r>
                    </m:oMath>
                  </m:oMathPara>
                </a14:m>
                <a:endParaRPr lang="en-US" dirty="0">
                  <a:solidFill>
                    <a:schemeClr val="accent2"/>
                  </a:solidFill>
                </a:endParaRPr>
              </a:p>
            </p:txBody>
          </p:sp>
        </mc:Choice>
        <mc:Fallback xmlns="">
          <p:sp>
            <p:nvSpPr>
              <p:cNvPr id="71" name="TextBox 70">
                <a:extLst>
                  <a:ext uri="{FF2B5EF4-FFF2-40B4-BE49-F238E27FC236}">
                    <a16:creationId xmlns:a16="http://schemas.microsoft.com/office/drawing/2014/main" id="{E1F90C89-F769-9F39-E3F1-C6D605B798D6}"/>
                  </a:ext>
                </a:extLst>
              </p:cNvPr>
              <p:cNvSpPr txBox="1">
                <a:spLocks noRot="1" noChangeAspect="1" noMove="1" noResize="1" noEditPoints="1" noAdjustHandles="1" noChangeArrowheads="1" noChangeShapeType="1" noTextEdit="1"/>
              </p:cNvSpPr>
              <p:nvPr/>
            </p:nvSpPr>
            <p:spPr>
              <a:xfrm>
                <a:off x="8012991" y="4364571"/>
                <a:ext cx="2393815" cy="369332"/>
              </a:xfrm>
              <a:prstGeom prst="rect">
                <a:avLst/>
              </a:prstGeom>
              <a:blipFill>
                <a:blip r:embed="rId10"/>
                <a:stretch>
                  <a:fillRect/>
                </a:stretch>
              </a:blipFill>
            </p:spPr>
            <p:txBody>
              <a:bodyPr/>
              <a:lstStyle/>
              <a:p>
                <a:r>
                  <a:rPr lang="en-US">
                    <a:noFill/>
                  </a:rPr>
                  <a:t> </a:t>
                </a:r>
              </a:p>
            </p:txBody>
          </p:sp>
        </mc:Fallback>
      </mc:AlternateContent>
      <p:sp>
        <p:nvSpPr>
          <p:cNvPr id="72" name="TextBox 71">
            <a:extLst>
              <a:ext uri="{FF2B5EF4-FFF2-40B4-BE49-F238E27FC236}">
                <a16:creationId xmlns:a16="http://schemas.microsoft.com/office/drawing/2014/main" id="{2CC5B1FA-E333-660C-2BA7-EA28F0D3087C}"/>
              </a:ext>
            </a:extLst>
          </p:cNvPr>
          <p:cNvSpPr txBox="1"/>
          <p:nvPr/>
        </p:nvSpPr>
        <p:spPr>
          <a:xfrm>
            <a:off x="6518020" y="5237258"/>
            <a:ext cx="2537585" cy="1200329"/>
          </a:xfrm>
          <a:prstGeom prst="rect">
            <a:avLst/>
          </a:prstGeom>
          <a:noFill/>
        </p:spPr>
        <p:txBody>
          <a:bodyPr wrap="square" rtlCol="0">
            <a:spAutoFit/>
          </a:bodyPr>
          <a:lstStyle/>
          <a:p>
            <a:pPr algn="ctr"/>
            <a:r>
              <a:rPr lang="en-US" dirty="0">
                <a:solidFill>
                  <a:schemeClr val="accent2"/>
                </a:solidFill>
              </a:rPr>
              <a:t>So the average income among drafted compliers is $1.50…  </a:t>
            </a:r>
          </a:p>
          <a:p>
            <a:pPr algn="ctr"/>
            <a:r>
              <a:rPr lang="en-US" dirty="0">
                <a:solidFill>
                  <a:schemeClr val="accent2"/>
                </a:solidFill>
              </a:rPr>
              <a:t>$4 is a big deal!</a:t>
            </a: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6026AC2A-E8B5-B398-D062-057A6D35D058}"/>
                  </a:ext>
                </a:extLst>
              </p:cNvPr>
              <p:cNvSpPr txBox="1"/>
              <p:nvPr/>
            </p:nvSpPr>
            <p:spPr>
              <a:xfrm>
                <a:off x="7581344" y="2675693"/>
                <a:ext cx="3634324" cy="646331"/>
              </a:xfrm>
              <a:prstGeom prst="rect">
                <a:avLst/>
              </a:prstGeom>
              <a:noFill/>
            </p:spPr>
            <p:txBody>
              <a:bodyPr wrap="square" rtlCol="0">
                <a:spAutoFit/>
              </a:bodyPr>
              <a:lstStyle/>
              <a:p>
                <a14:m>
                  <m:oMath xmlns:m="http://schemas.openxmlformats.org/officeDocument/2006/math">
                    <m:r>
                      <a:rPr lang="en-US" b="0" i="1" smtClean="0">
                        <a:solidFill>
                          <a:schemeClr val="accent2"/>
                        </a:solidFill>
                        <a:latin typeface="Cambria Math" panose="02040503050406030204" pitchFamily="18" charset="0"/>
                      </a:rPr>
                      <m:t>$8</m:t>
                    </m:r>
                  </m:oMath>
                </a14:m>
                <a:r>
                  <a:rPr lang="en-US" dirty="0">
                    <a:solidFill>
                      <a:schemeClr val="accent2"/>
                    </a:solidFill>
                  </a:rPr>
                  <a:t>, same as the average among not-drafted always-takers</a:t>
                </a:r>
              </a:p>
            </p:txBody>
          </p:sp>
        </mc:Choice>
        <mc:Fallback xmlns="">
          <p:sp>
            <p:nvSpPr>
              <p:cNvPr id="73" name="TextBox 72">
                <a:extLst>
                  <a:ext uri="{FF2B5EF4-FFF2-40B4-BE49-F238E27FC236}">
                    <a16:creationId xmlns:a16="http://schemas.microsoft.com/office/drawing/2014/main" id="{6026AC2A-E8B5-B398-D062-057A6D35D058}"/>
                  </a:ext>
                </a:extLst>
              </p:cNvPr>
              <p:cNvSpPr txBox="1">
                <a:spLocks noRot="1" noChangeAspect="1" noMove="1" noResize="1" noEditPoints="1" noAdjustHandles="1" noChangeArrowheads="1" noChangeShapeType="1" noTextEdit="1"/>
              </p:cNvSpPr>
              <p:nvPr/>
            </p:nvSpPr>
            <p:spPr>
              <a:xfrm>
                <a:off x="7581344" y="2675693"/>
                <a:ext cx="3634324" cy="646331"/>
              </a:xfrm>
              <a:prstGeom prst="rect">
                <a:avLst/>
              </a:prstGeom>
              <a:blipFill>
                <a:blip r:embed="rId11"/>
                <a:stretch>
                  <a:fillRect l="-1742" t="-3846" b="-13462"/>
                </a:stretch>
              </a:blipFill>
            </p:spPr>
            <p:txBody>
              <a:bodyPr/>
              <a:lstStyle/>
              <a:p>
                <a:r>
                  <a:rPr lang="en-US">
                    <a:noFill/>
                  </a:rPr>
                  <a:t> </a:t>
                </a:r>
              </a:p>
            </p:txBody>
          </p:sp>
        </mc:Fallback>
      </mc:AlternateContent>
    </p:spTree>
    <p:extLst>
      <p:ext uri="{BB962C8B-B14F-4D97-AF65-F5344CB8AC3E}">
        <p14:creationId xmlns:p14="http://schemas.microsoft.com/office/powerpoint/2010/main" val="91603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6" grpId="0" animBg="1"/>
      <p:bldP spid="67" grpId="0"/>
      <p:bldP spid="71" grpId="0"/>
      <p:bldP spid="72" grpId="0"/>
      <p:bldP spid="7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1E177-4076-258A-7A76-7F02A1F83C0E}"/>
              </a:ext>
            </a:extLst>
          </p:cNvPr>
          <p:cNvSpPr>
            <a:spLocks noGrp="1"/>
          </p:cNvSpPr>
          <p:nvPr>
            <p:ph type="title"/>
          </p:nvPr>
        </p:nvSpPr>
        <p:spPr/>
        <p:txBody>
          <a:bodyPr>
            <a:normAutofit fontScale="90000"/>
          </a:bodyPr>
          <a:lstStyle/>
          <a:p>
            <a:r>
              <a:rPr lang="en-US" dirty="0"/>
              <a:t>Q3: </a:t>
            </a:r>
            <a:r>
              <a:rPr lang="en-US" sz="3600" dirty="0"/>
              <a:t>Are compliers similar to the general population?</a:t>
            </a:r>
            <a:br>
              <a:rPr lang="en-US" sz="3100" dirty="0"/>
            </a:br>
            <a:r>
              <a:rPr lang="en-US" sz="3100" dirty="0"/>
              <a:t>For example, what about race?</a:t>
            </a:r>
            <a:endParaRPr lang="en-US" dirty="0"/>
          </a:p>
        </p:txBody>
      </p:sp>
      <p:sp>
        <p:nvSpPr>
          <p:cNvPr id="3" name="Content Placeholder 2">
            <a:extLst>
              <a:ext uri="{FF2B5EF4-FFF2-40B4-BE49-F238E27FC236}">
                <a16:creationId xmlns:a16="http://schemas.microsoft.com/office/drawing/2014/main" id="{6F6EA9D0-750A-6326-90A0-3B599EA50E6F}"/>
              </a:ext>
            </a:extLst>
          </p:cNvPr>
          <p:cNvSpPr>
            <a:spLocks noGrp="1"/>
          </p:cNvSpPr>
          <p:nvPr>
            <p:ph idx="1"/>
          </p:nvPr>
        </p:nvSpPr>
        <p:spPr>
          <a:xfrm>
            <a:off x="6345312" y="3587930"/>
            <a:ext cx="5322854" cy="2904945"/>
          </a:xfrm>
        </p:spPr>
        <p:txBody>
          <a:bodyPr>
            <a:normAutofit/>
          </a:bodyPr>
          <a:lstStyle/>
          <a:p>
            <a:r>
              <a:rPr lang="en-US" b="1" dirty="0"/>
              <a:t>Figure it out!  </a:t>
            </a:r>
          </a:p>
          <a:p>
            <a:r>
              <a:rPr lang="en-US" dirty="0"/>
              <a:t>How many of the 4 compliers are white? </a:t>
            </a:r>
          </a:p>
          <a:p>
            <a:pPr lvl="1"/>
            <a:r>
              <a:rPr lang="en-US" dirty="0">
                <a:solidFill>
                  <a:schemeClr val="accent1"/>
                </a:solidFill>
              </a:rPr>
              <a:t>Assume that the white and non-white populations are evenly split by the draft.</a:t>
            </a:r>
          </a:p>
        </p:txBody>
      </p:sp>
      <p:grpSp>
        <p:nvGrpSpPr>
          <p:cNvPr id="22" name="Group 21">
            <a:extLst>
              <a:ext uri="{FF2B5EF4-FFF2-40B4-BE49-F238E27FC236}">
                <a16:creationId xmlns:a16="http://schemas.microsoft.com/office/drawing/2014/main" id="{F171F2BA-5BE0-70A4-D2CD-41A2212DDBCC}"/>
              </a:ext>
            </a:extLst>
          </p:cNvPr>
          <p:cNvGrpSpPr/>
          <p:nvPr/>
        </p:nvGrpSpPr>
        <p:grpSpPr>
          <a:xfrm>
            <a:off x="505718" y="2019886"/>
            <a:ext cx="5460148" cy="4585096"/>
            <a:chOff x="505718" y="2019886"/>
            <a:chExt cx="5460148" cy="4585096"/>
          </a:xfrm>
        </p:grpSpPr>
        <p:grpSp>
          <p:nvGrpSpPr>
            <p:cNvPr id="23" name="Group 22">
              <a:extLst>
                <a:ext uri="{FF2B5EF4-FFF2-40B4-BE49-F238E27FC236}">
                  <a16:creationId xmlns:a16="http://schemas.microsoft.com/office/drawing/2014/main" id="{F18334B0-EB36-51D4-9FE1-C947420E981C}"/>
                </a:ext>
              </a:extLst>
            </p:cNvPr>
            <p:cNvGrpSpPr/>
            <p:nvPr/>
          </p:nvGrpSpPr>
          <p:grpSpPr>
            <a:xfrm>
              <a:off x="1615704" y="2019886"/>
              <a:ext cx="4108450" cy="4108450"/>
              <a:chOff x="847725" y="1468437"/>
              <a:chExt cx="5095875" cy="5095875"/>
            </a:xfrm>
          </p:grpSpPr>
          <p:sp>
            <p:nvSpPr>
              <p:cNvPr id="37" name="Rectangle 36">
                <a:extLst>
                  <a:ext uri="{FF2B5EF4-FFF2-40B4-BE49-F238E27FC236}">
                    <a16:creationId xmlns:a16="http://schemas.microsoft.com/office/drawing/2014/main" id="{F064A31F-9A34-7B73-E052-CD04A04B16D1}"/>
                  </a:ext>
                </a:extLst>
              </p:cNvPr>
              <p:cNvSpPr/>
              <p:nvPr/>
            </p:nvSpPr>
            <p:spPr>
              <a:xfrm>
                <a:off x="847725" y="1468437"/>
                <a:ext cx="5095875" cy="509587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AF111A05-D07B-4ECE-CCBF-1ED588556919}"/>
                  </a:ext>
                </a:extLst>
              </p:cNvPr>
              <p:cNvCxnSpPr>
                <a:stCxn id="37" idx="0"/>
              </p:cNvCxnSpPr>
              <p:nvPr/>
            </p:nvCxnSpPr>
            <p:spPr>
              <a:xfrm>
                <a:off x="3395663" y="1468437"/>
                <a:ext cx="4762" cy="5024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417BFFB-BCF5-4BC0-27E8-825E6A4BEFF0}"/>
                  </a:ext>
                </a:extLst>
              </p:cNvPr>
              <p:cNvCxnSpPr>
                <a:cxnSpLocks/>
                <a:endCxn id="37" idx="3"/>
              </p:cNvCxnSpPr>
              <p:nvPr/>
            </p:nvCxnSpPr>
            <p:spPr>
              <a:xfrm>
                <a:off x="847725" y="3980656"/>
                <a:ext cx="5095875" cy="357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94A279EE-804F-DA7A-D6E2-A048509475C0}"/>
                </a:ext>
              </a:extLst>
            </p:cNvPr>
            <p:cNvSpPr txBox="1"/>
            <p:nvPr/>
          </p:nvSpPr>
          <p:spPr>
            <a:xfrm>
              <a:off x="1913570" y="2148617"/>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25" name="TextBox 24">
              <a:extLst>
                <a:ext uri="{FF2B5EF4-FFF2-40B4-BE49-F238E27FC236}">
                  <a16:creationId xmlns:a16="http://schemas.microsoft.com/office/drawing/2014/main" id="{DC5B4913-06C3-FC9D-5D4D-8A90C319E651}"/>
                </a:ext>
              </a:extLst>
            </p:cNvPr>
            <p:cNvSpPr txBox="1"/>
            <p:nvPr/>
          </p:nvSpPr>
          <p:spPr>
            <a:xfrm>
              <a:off x="3930823" y="2149672"/>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26" name="TextBox 25">
              <a:extLst>
                <a:ext uri="{FF2B5EF4-FFF2-40B4-BE49-F238E27FC236}">
                  <a16:creationId xmlns:a16="http://schemas.microsoft.com/office/drawing/2014/main" id="{EE7E7572-A04D-8C37-9E9E-4EA88C515DF6}"/>
                </a:ext>
              </a:extLst>
            </p:cNvPr>
            <p:cNvSpPr txBox="1"/>
            <p:nvPr/>
          </p:nvSpPr>
          <p:spPr>
            <a:xfrm>
              <a:off x="3956731" y="4205705"/>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27" name="TextBox 26">
              <a:extLst>
                <a:ext uri="{FF2B5EF4-FFF2-40B4-BE49-F238E27FC236}">
                  <a16:creationId xmlns:a16="http://schemas.microsoft.com/office/drawing/2014/main" id="{B7B0240A-60BF-4791-5E83-CB5B3F4B104C}"/>
                </a:ext>
              </a:extLst>
            </p:cNvPr>
            <p:cNvSpPr txBox="1"/>
            <p:nvPr/>
          </p:nvSpPr>
          <p:spPr>
            <a:xfrm>
              <a:off x="1882745" y="4205706"/>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28" name="TextBox 27">
              <a:extLst>
                <a:ext uri="{FF2B5EF4-FFF2-40B4-BE49-F238E27FC236}">
                  <a16:creationId xmlns:a16="http://schemas.microsoft.com/office/drawing/2014/main" id="{B6BC4E29-6F0C-1260-6D61-3ED9F3993EE3}"/>
                </a:ext>
              </a:extLst>
            </p:cNvPr>
            <p:cNvSpPr txBox="1"/>
            <p:nvPr/>
          </p:nvSpPr>
          <p:spPr>
            <a:xfrm>
              <a:off x="3467737" y="2683045"/>
              <a:ext cx="2498129" cy="400110"/>
            </a:xfrm>
            <a:prstGeom prst="rect">
              <a:avLst/>
            </a:prstGeom>
            <a:noFill/>
          </p:spPr>
          <p:txBody>
            <a:bodyPr wrap="square" rtlCol="0">
              <a:spAutoFit/>
            </a:bodyPr>
            <a:lstStyle/>
            <a:p>
              <a:pPr algn="ctr"/>
              <a:r>
                <a:rPr lang="en-US" sz="2000" dirty="0">
                  <a:solidFill>
                    <a:schemeClr val="accent2"/>
                  </a:solidFill>
                </a:rPr>
                <a:t>1 Always-taker</a:t>
              </a:r>
            </a:p>
          </p:txBody>
        </p:sp>
        <p:sp>
          <p:nvSpPr>
            <p:cNvPr id="29" name="TextBox 28">
              <a:extLst>
                <a:ext uri="{FF2B5EF4-FFF2-40B4-BE49-F238E27FC236}">
                  <a16:creationId xmlns:a16="http://schemas.microsoft.com/office/drawing/2014/main" id="{DF3A02A7-23E4-9EDA-6C84-61F40FE26D57}"/>
                </a:ext>
              </a:extLst>
            </p:cNvPr>
            <p:cNvSpPr txBox="1"/>
            <p:nvPr/>
          </p:nvSpPr>
          <p:spPr>
            <a:xfrm>
              <a:off x="1407348" y="2635516"/>
              <a:ext cx="2506463" cy="707886"/>
            </a:xfrm>
            <a:prstGeom prst="rect">
              <a:avLst/>
            </a:prstGeom>
            <a:noFill/>
          </p:spPr>
          <p:txBody>
            <a:bodyPr wrap="square" rtlCol="0">
              <a:spAutoFit/>
            </a:bodyPr>
            <a:lstStyle/>
            <a:p>
              <a:pPr algn="ctr"/>
              <a:r>
                <a:rPr lang="en-US" sz="2000" dirty="0">
                  <a:solidFill>
                    <a:schemeClr val="accent2"/>
                  </a:solidFill>
                </a:rPr>
                <a:t>1 Always-takers</a:t>
              </a:r>
            </a:p>
            <a:p>
              <a:pPr algn="ctr"/>
              <a:r>
                <a:rPr lang="en-US" sz="2000" dirty="0">
                  <a:solidFill>
                    <a:schemeClr val="accent2"/>
                  </a:solidFill>
                </a:rPr>
                <a:t> 2 Compliers</a:t>
              </a:r>
            </a:p>
          </p:txBody>
        </p:sp>
        <p:sp>
          <p:nvSpPr>
            <p:cNvPr id="30" name="TextBox 29">
              <a:extLst>
                <a:ext uri="{FF2B5EF4-FFF2-40B4-BE49-F238E27FC236}">
                  <a16:creationId xmlns:a16="http://schemas.microsoft.com/office/drawing/2014/main" id="{ADB4934A-023C-F648-F2AA-29A97D5CFF83}"/>
                </a:ext>
              </a:extLst>
            </p:cNvPr>
            <p:cNvSpPr txBox="1"/>
            <p:nvPr/>
          </p:nvSpPr>
          <p:spPr>
            <a:xfrm>
              <a:off x="3514830" y="4714092"/>
              <a:ext cx="2301780" cy="707886"/>
            </a:xfrm>
            <a:prstGeom prst="rect">
              <a:avLst/>
            </a:prstGeom>
            <a:noFill/>
          </p:spPr>
          <p:txBody>
            <a:bodyPr wrap="square" rtlCol="0">
              <a:spAutoFit/>
            </a:bodyPr>
            <a:lstStyle/>
            <a:p>
              <a:pPr algn="ctr"/>
              <a:r>
                <a:rPr lang="en-US" sz="2000" dirty="0">
                  <a:solidFill>
                    <a:schemeClr val="accent2"/>
                  </a:solidFill>
                </a:rPr>
                <a:t>1 Never-taker </a:t>
              </a:r>
            </a:p>
            <a:p>
              <a:pPr algn="ctr"/>
              <a:r>
                <a:rPr lang="en-US" sz="2000" dirty="0">
                  <a:solidFill>
                    <a:schemeClr val="accent2"/>
                  </a:solidFill>
                </a:rPr>
                <a:t>2 Compliers</a:t>
              </a:r>
            </a:p>
          </p:txBody>
        </p:sp>
        <p:pic>
          <p:nvPicPr>
            <p:cNvPr id="31" name="Picture 4" descr="Military Beret Cap With Star PNG &amp; SVG Design For T-Shirts">
              <a:extLst>
                <a:ext uri="{FF2B5EF4-FFF2-40B4-BE49-F238E27FC236}">
                  <a16:creationId xmlns:a16="http://schemas.microsoft.com/office/drawing/2014/main" id="{E9DBCE64-7B4F-EA44-DB9F-795FA7990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87" y="2375063"/>
              <a:ext cx="873458" cy="87345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Tie Dye T-Shirt - Classic Rainbow Spiral - Psychedelic Shirt">
              <a:extLst>
                <a:ext uri="{FF2B5EF4-FFF2-40B4-BE49-F238E27FC236}">
                  <a16:creationId xmlns:a16="http://schemas.microsoft.com/office/drawing/2014/main" id="{FA29FE50-40F5-D198-22E3-FA1C1C153D6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505718" y="4672450"/>
              <a:ext cx="1017530" cy="731520"/>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3B56D7EE-72CC-5EA8-A9B2-D16244763F22}"/>
                </a:ext>
              </a:extLst>
            </p:cNvPr>
            <p:cNvSpPr txBox="1"/>
            <p:nvPr/>
          </p:nvSpPr>
          <p:spPr>
            <a:xfrm>
              <a:off x="559189" y="3038362"/>
              <a:ext cx="870366" cy="369332"/>
            </a:xfrm>
            <a:prstGeom prst="rect">
              <a:avLst/>
            </a:prstGeom>
            <a:noFill/>
          </p:spPr>
          <p:txBody>
            <a:bodyPr wrap="none" rtlCol="0">
              <a:spAutoFit/>
            </a:bodyPr>
            <a:lstStyle/>
            <a:p>
              <a:r>
                <a:rPr lang="en-US" dirty="0"/>
                <a:t>Served</a:t>
              </a:r>
            </a:p>
          </p:txBody>
        </p:sp>
        <p:sp>
          <p:nvSpPr>
            <p:cNvPr id="34" name="TextBox 33">
              <a:extLst>
                <a:ext uri="{FF2B5EF4-FFF2-40B4-BE49-F238E27FC236}">
                  <a16:creationId xmlns:a16="http://schemas.microsoft.com/office/drawing/2014/main" id="{43B1E0A4-D5F9-EC01-82F6-227A2166F141}"/>
                </a:ext>
              </a:extLst>
            </p:cNvPr>
            <p:cNvSpPr txBox="1"/>
            <p:nvPr/>
          </p:nvSpPr>
          <p:spPr>
            <a:xfrm>
              <a:off x="541087" y="5421978"/>
              <a:ext cx="949299" cy="646331"/>
            </a:xfrm>
            <a:prstGeom prst="rect">
              <a:avLst/>
            </a:prstGeom>
            <a:noFill/>
          </p:spPr>
          <p:txBody>
            <a:bodyPr wrap="none" rtlCol="0">
              <a:spAutoFit/>
            </a:bodyPr>
            <a:lstStyle/>
            <a:p>
              <a:r>
                <a:rPr lang="en-US" dirty="0"/>
                <a:t>Did not </a:t>
              </a:r>
            </a:p>
            <a:p>
              <a:pPr algn="ctr"/>
              <a:r>
                <a:rPr lang="en-US" dirty="0"/>
                <a:t>serve</a:t>
              </a:r>
            </a:p>
          </p:txBody>
        </p:sp>
        <p:sp>
          <p:nvSpPr>
            <p:cNvPr id="35" name="TextBox 34">
              <a:extLst>
                <a:ext uri="{FF2B5EF4-FFF2-40B4-BE49-F238E27FC236}">
                  <a16:creationId xmlns:a16="http://schemas.microsoft.com/office/drawing/2014/main" id="{2A07E03C-058B-F416-0046-5E6C2292D0BD}"/>
                </a:ext>
              </a:extLst>
            </p:cNvPr>
            <p:cNvSpPr txBox="1"/>
            <p:nvPr/>
          </p:nvSpPr>
          <p:spPr>
            <a:xfrm>
              <a:off x="2073898" y="6226143"/>
              <a:ext cx="933012" cy="369332"/>
            </a:xfrm>
            <a:prstGeom prst="rect">
              <a:avLst/>
            </a:prstGeom>
            <a:noFill/>
          </p:spPr>
          <p:txBody>
            <a:bodyPr wrap="none" rtlCol="0">
              <a:spAutoFit/>
            </a:bodyPr>
            <a:lstStyle/>
            <a:p>
              <a:r>
                <a:rPr lang="en-US" dirty="0"/>
                <a:t>Drafted</a:t>
              </a:r>
            </a:p>
          </p:txBody>
        </p:sp>
        <p:sp>
          <p:nvSpPr>
            <p:cNvPr id="36" name="TextBox 35">
              <a:extLst>
                <a:ext uri="{FF2B5EF4-FFF2-40B4-BE49-F238E27FC236}">
                  <a16:creationId xmlns:a16="http://schemas.microsoft.com/office/drawing/2014/main" id="{46464497-8A6D-9A62-9BF0-AB57917C6D88}"/>
                </a:ext>
              </a:extLst>
            </p:cNvPr>
            <p:cNvSpPr txBox="1"/>
            <p:nvPr/>
          </p:nvSpPr>
          <p:spPr>
            <a:xfrm>
              <a:off x="4015348" y="6235650"/>
              <a:ext cx="1344984" cy="369332"/>
            </a:xfrm>
            <a:prstGeom prst="rect">
              <a:avLst/>
            </a:prstGeom>
            <a:noFill/>
          </p:spPr>
          <p:txBody>
            <a:bodyPr wrap="none" rtlCol="0">
              <a:spAutoFit/>
            </a:bodyPr>
            <a:lstStyle/>
            <a:p>
              <a:r>
                <a:rPr lang="en-US" dirty="0"/>
                <a:t>Not Drafted</a:t>
              </a:r>
            </a:p>
          </p:txBody>
        </p:sp>
      </p:grpSp>
      <p:sp>
        <p:nvSpPr>
          <p:cNvPr id="40" name="TextBox 39">
            <a:extLst>
              <a:ext uri="{FF2B5EF4-FFF2-40B4-BE49-F238E27FC236}">
                <a16:creationId xmlns:a16="http://schemas.microsoft.com/office/drawing/2014/main" id="{00CFBDF5-FCB9-E85D-481B-F80CEB852DF1}"/>
              </a:ext>
            </a:extLst>
          </p:cNvPr>
          <p:cNvSpPr txBox="1"/>
          <p:nvPr/>
        </p:nvSpPr>
        <p:spPr>
          <a:xfrm>
            <a:off x="1344576" y="4723392"/>
            <a:ext cx="2498129" cy="400110"/>
          </a:xfrm>
          <a:prstGeom prst="rect">
            <a:avLst/>
          </a:prstGeom>
          <a:noFill/>
        </p:spPr>
        <p:txBody>
          <a:bodyPr wrap="square" rtlCol="0">
            <a:spAutoFit/>
          </a:bodyPr>
          <a:lstStyle/>
          <a:p>
            <a:pPr algn="ctr"/>
            <a:r>
              <a:rPr lang="en-US" sz="2000" dirty="0">
                <a:solidFill>
                  <a:schemeClr val="accent2"/>
                </a:solidFill>
              </a:rPr>
              <a:t>1 Never-taker</a:t>
            </a:r>
          </a:p>
        </p:txBody>
      </p:sp>
      <p:grpSp>
        <p:nvGrpSpPr>
          <p:cNvPr id="4" name="Group 3">
            <a:extLst>
              <a:ext uri="{FF2B5EF4-FFF2-40B4-BE49-F238E27FC236}">
                <a16:creationId xmlns:a16="http://schemas.microsoft.com/office/drawing/2014/main" id="{E2C8EBFB-C882-7787-1CFD-F7F0AEC0CE0C}"/>
              </a:ext>
            </a:extLst>
          </p:cNvPr>
          <p:cNvGrpSpPr/>
          <p:nvPr/>
        </p:nvGrpSpPr>
        <p:grpSpPr>
          <a:xfrm>
            <a:off x="1777682" y="3395702"/>
            <a:ext cx="3529441" cy="2666805"/>
            <a:chOff x="1777682" y="3395702"/>
            <a:chExt cx="3529441" cy="2666805"/>
          </a:xfrm>
        </p:grpSpPr>
        <p:sp>
          <p:nvSpPr>
            <p:cNvPr id="41" name="TextBox 40">
              <a:extLst>
                <a:ext uri="{FF2B5EF4-FFF2-40B4-BE49-F238E27FC236}">
                  <a16:creationId xmlns:a16="http://schemas.microsoft.com/office/drawing/2014/main" id="{0E1EF37C-325D-0E73-7CE3-707E91DDF7CC}"/>
                </a:ext>
              </a:extLst>
            </p:cNvPr>
            <p:cNvSpPr txBox="1"/>
            <p:nvPr/>
          </p:nvSpPr>
          <p:spPr>
            <a:xfrm>
              <a:off x="1817143" y="3395702"/>
              <a:ext cx="1429237" cy="646331"/>
            </a:xfrm>
            <a:prstGeom prst="rect">
              <a:avLst/>
            </a:prstGeom>
            <a:noFill/>
          </p:spPr>
          <p:txBody>
            <a:bodyPr wrap="none" rtlCol="0">
              <a:spAutoFit/>
            </a:bodyPr>
            <a:lstStyle/>
            <a:p>
              <a:r>
                <a:rPr lang="en-US" dirty="0"/>
                <a:t>2 White</a:t>
              </a:r>
            </a:p>
            <a:p>
              <a:r>
                <a:rPr lang="en-US" dirty="0"/>
                <a:t>1 Non-White</a:t>
              </a:r>
            </a:p>
          </p:txBody>
        </p:sp>
        <p:sp>
          <p:nvSpPr>
            <p:cNvPr id="42" name="TextBox 41">
              <a:extLst>
                <a:ext uri="{FF2B5EF4-FFF2-40B4-BE49-F238E27FC236}">
                  <a16:creationId xmlns:a16="http://schemas.microsoft.com/office/drawing/2014/main" id="{7A7A4538-87A7-8F60-5905-3CDBD2DADF2B}"/>
                </a:ext>
              </a:extLst>
            </p:cNvPr>
            <p:cNvSpPr txBox="1"/>
            <p:nvPr/>
          </p:nvSpPr>
          <p:spPr>
            <a:xfrm>
              <a:off x="3821931" y="3450716"/>
              <a:ext cx="936923" cy="369332"/>
            </a:xfrm>
            <a:prstGeom prst="rect">
              <a:avLst/>
            </a:prstGeom>
            <a:noFill/>
          </p:spPr>
          <p:txBody>
            <a:bodyPr wrap="none" rtlCol="0">
              <a:spAutoFit/>
            </a:bodyPr>
            <a:lstStyle/>
            <a:p>
              <a:r>
                <a:rPr lang="en-US" dirty="0"/>
                <a:t>1 White</a:t>
              </a:r>
            </a:p>
          </p:txBody>
        </p:sp>
        <p:sp>
          <p:nvSpPr>
            <p:cNvPr id="43" name="TextBox 42">
              <a:extLst>
                <a:ext uri="{FF2B5EF4-FFF2-40B4-BE49-F238E27FC236}">
                  <a16:creationId xmlns:a16="http://schemas.microsoft.com/office/drawing/2014/main" id="{36DBAAB1-BA1D-91B0-98A4-7E36D30BA91C}"/>
                </a:ext>
              </a:extLst>
            </p:cNvPr>
            <p:cNvSpPr txBox="1"/>
            <p:nvPr/>
          </p:nvSpPr>
          <p:spPr>
            <a:xfrm>
              <a:off x="1777682" y="5424335"/>
              <a:ext cx="1429237" cy="369332"/>
            </a:xfrm>
            <a:prstGeom prst="rect">
              <a:avLst/>
            </a:prstGeom>
            <a:noFill/>
          </p:spPr>
          <p:txBody>
            <a:bodyPr wrap="none" rtlCol="0">
              <a:spAutoFit/>
            </a:bodyPr>
            <a:lstStyle/>
            <a:p>
              <a:r>
                <a:rPr lang="en-US" dirty="0"/>
                <a:t>1 Non-White</a:t>
              </a:r>
            </a:p>
          </p:txBody>
        </p:sp>
        <p:sp>
          <p:nvSpPr>
            <p:cNvPr id="44" name="TextBox 43">
              <a:extLst>
                <a:ext uri="{FF2B5EF4-FFF2-40B4-BE49-F238E27FC236}">
                  <a16:creationId xmlns:a16="http://schemas.microsoft.com/office/drawing/2014/main" id="{A7274EDD-EAFC-0424-5D5B-7DF9B883364D}"/>
                </a:ext>
              </a:extLst>
            </p:cNvPr>
            <p:cNvSpPr txBox="1"/>
            <p:nvPr/>
          </p:nvSpPr>
          <p:spPr>
            <a:xfrm>
              <a:off x="3877886" y="5416176"/>
              <a:ext cx="1429237" cy="646331"/>
            </a:xfrm>
            <a:prstGeom prst="rect">
              <a:avLst/>
            </a:prstGeom>
            <a:noFill/>
          </p:spPr>
          <p:txBody>
            <a:bodyPr wrap="none" rtlCol="0">
              <a:spAutoFit/>
            </a:bodyPr>
            <a:lstStyle/>
            <a:p>
              <a:r>
                <a:rPr lang="en-US" dirty="0"/>
                <a:t>1 White</a:t>
              </a:r>
            </a:p>
            <a:p>
              <a:r>
                <a:rPr lang="en-US" dirty="0"/>
                <a:t>2 Non-White</a:t>
              </a:r>
            </a:p>
          </p:txBody>
        </p:sp>
      </p:grpSp>
      <p:pic>
        <p:nvPicPr>
          <p:cNvPr id="46" name="Picture 45">
            <a:extLst>
              <a:ext uri="{FF2B5EF4-FFF2-40B4-BE49-F238E27FC236}">
                <a16:creationId xmlns:a16="http://schemas.microsoft.com/office/drawing/2014/main" id="{464C0764-2639-12EF-3D04-F69553D43D10}"/>
              </a:ext>
            </a:extLst>
          </p:cNvPr>
          <p:cNvPicPr>
            <a:picLocks noChangeAspect="1"/>
          </p:cNvPicPr>
          <p:nvPr/>
        </p:nvPicPr>
        <p:blipFill>
          <a:blip r:embed="rId5"/>
          <a:stretch>
            <a:fillRect/>
          </a:stretch>
        </p:blipFill>
        <p:spPr>
          <a:xfrm>
            <a:off x="7473234" y="1395530"/>
            <a:ext cx="2090000" cy="1852991"/>
          </a:xfrm>
          <a:prstGeom prst="rect">
            <a:avLst/>
          </a:prstGeom>
        </p:spPr>
      </p:pic>
    </p:spTree>
    <p:extLst>
      <p:ext uri="{BB962C8B-B14F-4D97-AF65-F5344CB8AC3E}">
        <p14:creationId xmlns:p14="http://schemas.microsoft.com/office/powerpoint/2010/main" val="643006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1E177-4076-258A-7A76-7F02A1F83C0E}"/>
              </a:ext>
            </a:extLst>
          </p:cNvPr>
          <p:cNvSpPr>
            <a:spLocks noGrp="1"/>
          </p:cNvSpPr>
          <p:nvPr>
            <p:ph type="title"/>
          </p:nvPr>
        </p:nvSpPr>
        <p:spPr/>
        <p:txBody>
          <a:bodyPr>
            <a:normAutofit fontScale="90000"/>
          </a:bodyPr>
          <a:lstStyle/>
          <a:p>
            <a:r>
              <a:rPr lang="en-US" dirty="0"/>
              <a:t>Q3: </a:t>
            </a:r>
            <a:r>
              <a:rPr lang="en-US" sz="3600" dirty="0"/>
              <a:t>Are compliers similar to the general population?</a:t>
            </a:r>
            <a:br>
              <a:rPr lang="en-US" sz="3100" dirty="0"/>
            </a:br>
            <a:r>
              <a:rPr lang="en-US" sz="3100" dirty="0"/>
              <a:t>For example, what about race?</a:t>
            </a:r>
            <a:endParaRPr lang="en-US" dirty="0"/>
          </a:p>
        </p:txBody>
      </p:sp>
      <p:sp>
        <p:nvSpPr>
          <p:cNvPr id="3" name="Content Placeholder 2">
            <a:extLst>
              <a:ext uri="{FF2B5EF4-FFF2-40B4-BE49-F238E27FC236}">
                <a16:creationId xmlns:a16="http://schemas.microsoft.com/office/drawing/2014/main" id="{6F6EA9D0-750A-6326-90A0-3B599EA50E6F}"/>
              </a:ext>
            </a:extLst>
          </p:cNvPr>
          <p:cNvSpPr>
            <a:spLocks noGrp="1"/>
          </p:cNvSpPr>
          <p:nvPr>
            <p:ph idx="1"/>
          </p:nvPr>
        </p:nvSpPr>
        <p:spPr>
          <a:xfrm>
            <a:off x="6328059" y="3541675"/>
            <a:ext cx="5322854" cy="2904945"/>
          </a:xfrm>
        </p:spPr>
        <p:txBody>
          <a:bodyPr>
            <a:normAutofit/>
          </a:bodyPr>
          <a:lstStyle/>
          <a:p>
            <a:pPr marL="0" indent="0">
              <a:buNone/>
            </a:pPr>
            <a:r>
              <a:rPr lang="en-US" sz="2000" dirty="0">
                <a:solidFill>
                  <a:schemeClr val="bg2">
                    <a:lumMod val="50000"/>
                  </a:schemeClr>
                </a:solidFill>
              </a:rPr>
              <a:t>Logic:</a:t>
            </a:r>
          </a:p>
          <a:p>
            <a:r>
              <a:rPr lang="en-US" sz="2000" dirty="0">
                <a:solidFill>
                  <a:schemeClr val="bg2">
                    <a:lumMod val="50000"/>
                  </a:schemeClr>
                </a:solidFill>
              </a:rPr>
              <a:t>The drafted always-taker is white (to match the non-drafted always-taker).</a:t>
            </a:r>
          </a:p>
          <a:p>
            <a:r>
              <a:rPr lang="en-US" sz="2000" dirty="0">
                <a:solidFill>
                  <a:schemeClr val="bg2">
                    <a:lumMod val="50000"/>
                  </a:schemeClr>
                </a:solidFill>
              </a:rPr>
              <a:t>So the compliers who served are 1 white and 1 non-white.</a:t>
            </a:r>
          </a:p>
          <a:p>
            <a:r>
              <a:rPr lang="en-US" sz="2000" dirty="0">
                <a:solidFill>
                  <a:schemeClr val="bg2">
                    <a:lumMod val="50000"/>
                  </a:schemeClr>
                </a:solidFill>
              </a:rPr>
              <a:t>The non-drafted never-taker is non-white.</a:t>
            </a:r>
          </a:p>
          <a:p>
            <a:r>
              <a:rPr lang="en-US" sz="2000" dirty="0">
                <a:solidFill>
                  <a:schemeClr val="bg2">
                    <a:lumMod val="50000"/>
                  </a:schemeClr>
                </a:solidFill>
              </a:rPr>
              <a:t>So the compliers who did not serve are 1 white and one non-white.</a:t>
            </a:r>
          </a:p>
        </p:txBody>
      </p:sp>
      <p:grpSp>
        <p:nvGrpSpPr>
          <p:cNvPr id="22" name="Group 21">
            <a:extLst>
              <a:ext uri="{FF2B5EF4-FFF2-40B4-BE49-F238E27FC236}">
                <a16:creationId xmlns:a16="http://schemas.microsoft.com/office/drawing/2014/main" id="{F171F2BA-5BE0-70A4-D2CD-41A2212DDBCC}"/>
              </a:ext>
            </a:extLst>
          </p:cNvPr>
          <p:cNvGrpSpPr/>
          <p:nvPr/>
        </p:nvGrpSpPr>
        <p:grpSpPr>
          <a:xfrm>
            <a:off x="505718" y="2019886"/>
            <a:ext cx="5460148" cy="4585096"/>
            <a:chOff x="505718" y="2019886"/>
            <a:chExt cx="5460148" cy="4585096"/>
          </a:xfrm>
        </p:grpSpPr>
        <p:grpSp>
          <p:nvGrpSpPr>
            <p:cNvPr id="23" name="Group 22">
              <a:extLst>
                <a:ext uri="{FF2B5EF4-FFF2-40B4-BE49-F238E27FC236}">
                  <a16:creationId xmlns:a16="http://schemas.microsoft.com/office/drawing/2014/main" id="{F18334B0-EB36-51D4-9FE1-C947420E981C}"/>
                </a:ext>
              </a:extLst>
            </p:cNvPr>
            <p:cNvGrpSpPr/>
            <p:nvPr/>
          </p:nvGrpSpPr>
          <p:grpSpPr>
            <a:xfrm>
              <a:off x="1615704" y="2019886"/>
              <a:ext cx="4108450" cy="4108450"/>
              <a:chOff x="847725" y="1468437"/>
              <a:chExt cx="5095875" cy="5095875"/>
            </a:xfrm>
          </p:grpSpPr>
          <p:sp>
            <p:nvSpPr>
              <p:cNvPr id="37" name="Rectangle 36">
                <a:extLst>
                  <a:ext uri="{FF2B5EF4-FFF2-40B4-BE49-F238E27FC236}">
                    <a16:creationId xmlns:a16="http://schemas.microsoft.com/office/drawing/2014/main" id="{F064A31F-9A34-7B73-E052-CD04A04B16D1}"/>
                  </a:ext>
                </a:extLst>
              </p:cNvPr>
              <p:cNvSpPr/>
              <p:nvPr/>
            </p:nvSpPr>
            <p:spPr>
              <a:xfrm>
                <a:off x="847725" y="1468437"/>
                <a:ext cx="5095875" cy="509587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AF111A05-D07B-4ECE-CCBF-1ED588556919}"/>
                  </a:ext>
                </a:extLst>
              </p:cNvPr>
              <p:cNvCxnSpPr>
                <a:stCxn id="37" idx="0"/>
              </p:cNvCxnSpPr>
              <p:nvPr/>
            </p:nvCxnSpPr>
            <p:spPr>
              <a:xfrm>
                <a:off x="3395663" y="1468437"/>
                <a:ext cx="4762" cy="5024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417BFFB-BCF5-4BC0-27E8-825E6A4BEFF0}"/>
                  </a:ext>
                </a:extLst>
              </p:cNvPr>
              <p:cNvCxnSpPr>
                <a:cxnSpLocks/>
                <a:endCxn id="37" idx="3"/>
              </p:cNvCxnSpPr>
              <p:nvPr/>
            </p:nvCxnSpPr>
            <p:spPr>
              <a:xfrm>
                <a:off x="847725" y="3980656"/>
                <a:ext cx="5095875" cy="357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94A279EE-804F-DA7A-D6E2-A048509475C0}"/>
                </a:ext>
              </a:extLst>
            </p:cNvPr>
            <p:cNvSpPr txBox="1"/>
            <p:nvPr/>
          </p:nvSpPr>
          <p:spPr>
            <a:xfrm>
              <a:off x="1913570" y="2148617"/>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25" name="TextBox 24">
              <a:extLst>
                <a:ext uri="{FF2B5EF4-FFF2-40B4-BE49-F238E27FC236}">
                  <a16:creationId xmlns:a16="http://schemas.microsoft.com/office/drawing/2014/main" id="{DC5B4913-06C3-FC9D-5D4D-8A90C319E651}"/>
                </a:ext>
              </a:extLst>
            </p:cNvPr>
            <p:cNvSpPr txBox="1"/>
            <p:nvPr/>
          </p:nvSpPr>
          <p:spPr>
            <a:xfrm>
              <a:off x="3930823" y="2149672"/>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26" name="TextBox 25">
              <a:extLst>
                <a:ext uri="{FF2B5EF4-FFF2-40B4-BE49-F238E27FC236}">
                  <a16:creationId xmlns:a16="http://schemas.microsoft.com/office/drawing/2014/main" id="{EE7E7572-A04D-8C37-9E9E-4EA88C515DF6}"/>
                </a:ext>
              </a:extLst>
            </p:cNvPr>
            <p:cNvSpPr txBox="1"/>
            <p:nvPr/>
          </p:nvSpPr>
          <p:spPr>
            <a:xfrm>
              <a:off x="3956731" y="4205705"/>
              <a:ext cx="1520144" cy="461665"/>
            </a:xfrm>
            <a:prstGeom prst="rect">
              <a:avLst/>
            </a:prstGeom>
            <a:noFill/>
          </p:spPr>
          <p:txBody>
            <a:bodyPr wrap="square" rtlCol="0">
              <a:spAutoFit/>
            </a:bodyPr>
            <a:lstStyle/>
            <a:p>
              <a:r>
                <a:rPr lang="en-US" sz="2400" dirty="0">
                  <a:solidFill>
                    <a:schemeClr val="accent1"/>
                  </a:solidFill>
                </a:rPr>
                <a:t>3 people</a:t>
              </a:r>
            </a:p>
          </p:txBody>
        </p:sp>
        <p:sp>
          <p:nvSpPr>
            <p:cNvPr id="27" name="TextBox 26">
              <a:extLst>
                <a:ext uri="{FF2B5EF4-FFF2-40B4-BE49-F238E27FC236}">
                  <a16:creationId xmlns:a16="http://schemas.microsoft.com/office/drawing/2014/main" id="{B7B0240A-60BF-4791-5E83-CB5B3F4B104C}"/>
                </a:ext>
              </a:extLst>
            </p:cNvPr>
            <p:cNvSpPr txBox="1"/>
            <p:nvPr/>
          </p:nvSpPr>
          <p:spPr>
            <a:xfrm>
              <a:off x="1882745" y="4205706"/>
              <a:ext cx="1520144" cy="461665"/>
            </a:xfrm>
            <a:prstGeom prst="rect">
              <a:avLst/>
            </a:prstGeom>
            <a:noFill/>
          </p:spPr>
          <p:txBody>
            <a:bodyPr wrap="square" rtlCol="0">
              <a:spAutoFit/>
            </a:bodyPr>
            <a:lstStyle/>
            <a:p>
              <a:r>
                <a:rPr lang="en-US" sz="2400" dirty="0">
                  <a:solidFill>
                    <a:schemeClr val="accent1"/>
                  </a:solidFill>
                </a:rPr>
                <a:t>1 person</a:t>
              </a:r>
            </a:p>
          </p:txBody>
        </p:sp>
        <p:sp>
          <p:nvSpPr>
            <p:cNvPr id="28" name="TextBox 27">
              <a:extLst>
                <a:ext uri="{FF2B5EF4-FFF2-40B4-BE49-F238E27FC236}">
                  <a16:creationId xmlns:a16="http://schemas.microsoft.com/office/drawing/2014/main" id="{B6BC4E29-6F0C-1260-6D61-3ED9F3993EE3}"/>
                </a:ext>
              </a:extLst>
            </p:cNvPr>
            <p:cNvSpPr txBox="1"/>
            <p:nvPr/>
          </p:nvSpPr>
          <p:spPr>
            <a:xfrm>
              <a:off x="3467737" y="2683045"/>
              <a:ext cx="2498129" cy="400110"/>
            </a:xfrm>
            <a:prstGeom prst="rect">
              <a:avLst/>
            </a:prstGeom>
            <a:noFill/>
          </p:spPr>
          <p:txBody>
            <a:bodyPr wrap="square" rtlCol="0">
              <a:spAutoFit/>
            </a:bodyPr>
            <a:lstStyle/>
            <a:p>
              <a:pPr algn="ctr"/>
              <a:r>
                <a:rPr lang="en-US" sz="2000" dirty="0">
                  <a:solidFill>
                    <a:schemeClr val="accent2"/>
                  </a:solidFill>
                </a:rPr>
                <a:t>1 Always-taker</a:t>
              </a:r>
            </a:p>
          </p:txBody>
        </p:sp>
        <p:sp>
          <p:nvSpPr>
            <p:cNvPr id="29" name="TextBox 28">
              <a:extLst>
                <a:ext uri="{FF2B5EF4-FFF2-40B4-BE49-F238E27FC236}">
                  <a16:creationId xmlns:a16="http://schemas.microsoft.com/office/drawing/2014/main" id="{DF3A02A7-23E4-9EDA-6C84-61F40FE26D57}"/>
                </a:ext>
              </a:extLst>
            </p:cNvPr>
            <p:cNvSpPr txBox="1"/>
            <p:nvPr/>
          </p:nvSpPr>
          <p:spPr>
            <a:xfrm>
              <a:off x="1407348" y="2635516"/>
              <a:ext cx="2506463" cy="707886"/>
            </a:xfrm>
            <a:prstGeom prst="rect">
              <a:avLst/>
            </a:prstGeom>
            <a:noFill/>
          </p:spPr>
          <p:txBody>
            <a:bodyPr wrap="square" rtlCol="0">
              <a:spAutoFit/>
            </a:bodyPr>
            <a:lstStyle/>
            <a:p>
              <a:pPr algn="ctr"/>
              <a:r>
                <a:rPr lang="en-US" sz="2000" dirty="0">
                  <a:solidFill>
                    <a:schemeClr val="accent2"/>
                  </a:solidFill>
                </a:rPr>
                <a:t>1 Always-takers</a:t>
              </a:r>
            </a:p>
            <a:p>
              <a:pPr algn="ctr"/>
              <a:r>
                <a:rPr lang="en-US" sz="2000" dirty="0">
                  <a:solidFill>
                    <a:schemeClr val="accent2"/>
                  </a:solidFill>
                </a:rPr>
                <a:t> 2 Compliers</a:t>
              </a:r>
            </a:p>
          </p:txBody>
        </p:sp>
        <p:sp>
          <p:nvSpPr>
            <p:cNvPr id="30" name="TextBox 29">
              <a:extLst>
                <a:ext uri="{FF2B5EF4-FFF2-40B4-BE49-F238E27FC236}">
                  <a16:creationId xmlns:a16="http://schemas.microsoft.com/office/drawing/2014/main" id="{ADB4934A-023C-F648-F2AA-29A97D5CFF83}"/>
                </a:ext>
              </a:extLst>
            </p:cNvPr>
            <p:cNvSpPr txBox="1"/>
            <p:nvPr/>
          </p:nvSpPr>
          <p:spPr>
            <a:xfrm>
              <a:off x="3514830" y="4714092"/>
              <a:ext cx="2301780" cy="707886"/>
            </a:xfrm>
            <a:prstGeom prst="rect">
              <a:avLst/>
            </a:prstGeom>
            <a:noFill/>
          </p:spPr>
          <p:txBody>
            <a:bodyPr wrap="square" rtlCol="0">
              <a:spAutoFit/>
            </a:bodyPr>
            <a:lstStyle/>
            <a:p>
              <a:pPr algn="ctr"/>
              <a:r>
                <a:rPr lang="en-US" sz="2000" dirty="0">
                  <a:solidFill>
                    <a:schemeClr val="accent2"/>
                  </a:solidFill>
                </a:rPr>
                <a:t>1 Never-taker </a:t>
              </a:r>
            </a:p>
            <a:p>
              <a:pPr algn="ctr"/>
              <a:r>
                <a:rPr lang="en-US" sz="2000" dirty="0">
                  <a:solidFill>
                    <a:schemeClr val="accent2"/>
                  </a:solidFill>
                </a:rPr>
                <a:t>2 Compliers</a:t>
              </a:r>
            </a:p>
          </p:txBody>
        </p:sp>
        <p:pic>
          <p:nvPicPr>
            <p:cNvPr id="31" name="Picture 4" descr="Military Beret Cap With Star PNG &amp; SVG Design For T-Shirts">
              <a:extLst>
                <a:ext uri="{FF2B5EF4-FFF2-40B4-BE49-F238E27FC236}">
                  <a16:creationId xmlns:a16="http://schemas.microsoft.com/office/drawing/2014/main" id="{E9DBCE64-7B4F-EA44-DB9F-795FA7990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87" y="2375063"/>
              <a:ext cx="873458" cy="87345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Tie Dye T-Shirt - Classic Rainbow Spiral - Psychedelic Shirt">
              <a:extLst>
                <a:ext uri="{FF2B5EF4-FFF2-40B4-BE49-F238E27FC236}">
                  <a16:creationId xmlns:a16="http://schemas.microsoft.com/office/drawing/2014/main" id="{FA29FE50-40F5-D198-22E3-FA1C1C153D6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682"/>
            <a:stretch/>
          </p:blipFill>
          <p:spPr bwMode="auto">
            <a:xfrm>
              <a:off x="505718" y="4672450"/>
              <a:ext cx="1017530" cy="731520"/>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3B56D7EE-72CC-5EA8-A9B2-D16244763F22}"/>
                </a:ext>
              </a:extLst>
            </p:cNvPr>
            <p:cNvSpPr txBox="1"/>
            <p:nvPr/>
          </p:nvSpPr>
          <p:spPr>
            <a:xfrm>
              <a:off x="559189" y="3038362"/>
              <a:ext cx="870366" cy="369332"/>
            </a:xfrm>
            <a:prstGeom prst="rect">
              <a:avLst/>
            </a:prstGeom>
            <a:noFill/>
          </p:spPr>
          <p:txBody>
            <a:bodyPr wrap="none" rtlCol="0">
              <a:spAutoFit/>
            </a:bodyPr>
            <a:lstStyle/>
            <a:p>
              <a:r>
                <a:rPr lang="en-US" dirty="0"/>
                <a:t>Served</a:t>
              </a:r>
            </a:p>
          </p:txBody>
        </p:sp>
        <p:sp>
          <p:nvSpPr>
            <p:cNvPr id="34" name="TextBox 33">
              <a:extLst>
                <a:ext uri="{FF2B5EF4-FFF2-40B4-BE49-F238E27FC236}">
                  <a16:creationId xmlns:a16="http://schemas.microsoft.com/office/drawing/2014/main" id="{43B1E0A4-D5F9-EC01-82F6-227A2166F141}"/>
                </a:ext>
              </a:extLst>
            </p:cNvPr>
            <p:cNvSpPr txBox="1"/>
            <p:nvPr/>
          </p:nvSpPr>
          <p:spPr>
            <a:xfrm>
              <a:off x="541087" y="5421978"/>
              <a:ext cx="949299" cy="646331"/>
            </a:xfrm>
            <a:prstGeom prst="rect">
              <a:avLst/>
            </a:prstGeom>
            <a:noFill/>
          </p:spPr>
          <p:txBody>
            <a:bodyPr wrap="none" rtlCol="0">
              <a:spAutoFit/>
            </a:bodyPr>
            <a:lstStyle/>
            <a:p>
              <a:r>
                <a:rPr lang="en-US" dirty="0"/>
                <a:t>Did not </a:t>
              </a:r>
            </a:p>
            <a:p>
              <a:pPr algn="ctr"/>
              <a:r>
                <a:rPr lang="en-US" dirty="0"/>
                <a:t>serve</a:t>
              </a:r>
            </a:p>
          </p:txBody>
        </p:sp>
        <p:sp>
          <p:nvSpPr>
            <p:cNvPr id="35" name="TextBox 34">
              <a:extLst>
                <a:ext uri="{FF2B5EF4-FFF2-40B4-BE49-F238E27FC236}">
                  <a16:creationId xmlns:a16="http://schemas.microsoft.com/office/drawing/2014/main" id="{2A07E03C-058B-F416-0046-5E6C2292D0BD}"/>
                </a:ext>
              </a:extLst>
            </p:cNvPr>
            <p:cNvSpPr txBox="1"/>
            <p:nvPr/>
          </p:nvSpPr>
          <p:spPr>
            <a:xfrm>
              <a:off x="2073898" y="6226143"/>
              <a:ext cx="933012" cy="369332"/>
            </a:xfrm>
            <a:prstGeom prst="rect">
              <a:avLst/>
            </a:prstGeom>
            <a:noFill/>
          </p:spPr>
          <p:txBody>
            <a:bodyPr wrap="none" rtlCol="0">
              <a:spAutoFit/>
            </a:bodyPr>
            <a:lstStyle/>
            <a:p>
              <a:r>
                <a:rPr lang="en-US" dirty="0"/>
                <a:t>Drafted</a:t>
              </a:r>
            </a:p>
          </p:txBody>
        </p:sp>
        <p:sp>
          <p:nvSpPr>
            <p:cNvPr id="36" name="TextBox 35">
              <a:extLst>
                <a:ext uri="{FF2B5EF4-FFF2-40B4-BE49-F238E27FC236}">
                  <a16:creationId xmlns:a16="http://schemas.microsoft.com/office/drawing/2014/main" id="{46464497-8A6D-9A62-9BF0-AB57917C6D88}"/>
                </a:ext>
              </a:extLst>
            </p:cNvPr>
            <p:cNvSpPr txBox="1"/>
            <p:nvPr/>
          </p:nvSpPr>
          <p:spPr>
            <a:xfrm>
              <a:off x="4015348" y="6235650"/>
              <a:ext cx="1344984" cy="369332"/>
            </a:xfrm>
            <a:prstGeom prst="rect">
              <a:avLst/>
            </a:prstGeom>
            <a:noFill/>
          </p:spPr>
          <p:txBody>
            <a:bodyPr wrap="none" rtlCol="0">
              <a:spAutoFit/>
            </a:bodyPr>
            <a:lstStyle/>
            <a:p>
              <a:r>
                <a:rPr lang="en-US" dirty="0"/>
                <a:t>Not Drafted</a:t>
              </a:r>
            </a:p>
          </p:txBody>
        </p:sp>
      </p:grpSp>
      <p:sp>
        <p:nvSpPr>
          <p:cNvPr id="40" name="TextBox 39">
            <a:extLst>
              <a:ext uri="{FF2B5EF4-FFF2-40B4-BE49-F238E27FC236}">
                <a16:creationId xmlns:a16="http://schemas.microsoft.com/office/drawing/2014/main" id="{00CFBDF5-FCB9-E85D-481B-F80CEB852DF1}"/>
              </a:ext>
            </a:extLst>
          </p:cNvPr>
          <p:cNvSpPr txBox="1"/>
          <p:nvPr/>
        </p:nvSpPr>
        <p:spPr>
          <a:xfrm>
            <a:off x="1344576" y="4723392"/>
            <a:ext cx="2498129" cy="400110"/>
          </a:xfrm>
          <a:prstGeom prst="rect">
            <a:avLst/>
          </a:prstGeom>
          <a:noFill/>
        </p:spPr>
        <p:txBody>
          <a:bodyPr wrap="square" rtlCol="0">
            <a:spAutoFit/>
          </a:bodyPr>
          <a:lstStyle/>
          <a:p>
            <a:pPr algn="ctr"/>
            <a:r>
              <a:rPr lang="en-US" sz="2000" dirty="0">
                <a:solidFill>
                  <a:schemeClr val="accent2"/>
                </a:solidFill>
              </a:rPr>
              <a:t>1 Never-taker</a:t>
            </a:r>
          </a:p>
        </p:txBody>
      </p:sp>
      <p:sp>
        <p:nvSpPr>
          <p:cNvPr id="41" name="TextBox 40">
            <a:extLst>
              <a:ext uri="{FF2B5EF4-FFF2-40B4-BE49-F238E27FC236}">
                <a16:creationId xmlns:a16="http://schemas.microsoft.com/office/drawing/2014/main" id="{0E1EF37C-325D-0E73-7CE3-707E91DDF7CC}"/>
              </a:ext>
            </a:extLst>
          </p:cNvPr>
          <p:cNvSpPr txBox="1"/>
          <p:nvPr/>
        </p:nvSpPr>
        <p:spPr>
          <a:xfrm>
            <a:off x="1817143" y="3395702"/>
            <a:ext cx="1429237" cy="646331"/>
          </a:xfrm>
          <a:prstGeom prst="rect">
            <a:avLst/>
          </a:prstGeom>
          <a:noFill/>
        </p:spPr>
        <p:txBody>
          <a:bodyPr wrap="none" rtlCol="0">
            <a:spAutoFit/>
          </a:bodyPr>
          <a:lstStyle/>
          <a:p>
            <a:r>
              <a:rPr lang="en-US" dirty="0"/>
              <a:t>2 White</a:t>
            </a:r>
          </a:p>
          <a:p>
            <a:r>
              <a:rPr lang="en-US" dirty="0"/>
              <a:t>1 Non-White</a:t>
            </a:r>
          </a:p>
        </p:txBody>
      </p:sp>
      <p:sp>
        <p:nvSpPr>
          <p:cNvPr id="42" name="TextBox 41">
            <a:extLst>
              <a:ext uri="{FF2B5EF4-FFF2-40B4-BE49-F238E27FC236}">
                <a16:creationId xmlns:a16="http://schemas.microsoft.com/office/drawing/2014/main" id="{7A7A4538-87A7-8F60-5905-3CDBD2DADF2B}"/>
              </a:ext>
            </a:extLst>
          </p:cNvPr>
          <p:cNvSpPr txBox="1"/>
          <p:nvPr/>
        </p:nvSpPr>
        <p:spPr>
          <a:xfrm>
            <a:off x="3821931" y="3450716"/>
            <a:ext cx="936923" cy="369332"/>
          </a:xfrm>
          <a:prstGeom prst="rect">
            <a:avLst/>
          </a:prstGeom>
          <a:noFill/>
        </p:spPr>
        <p:txBody>
          <a:bodyPr wrap="none" rtlCol="0">
            <a:spAutoFit/>
          </a:bodyPr>
          <a:lstStyle/>
          <a:p>
            <a:r>
              <a:rPr lang="en-US" dirty="0"/>
              <a:t>1 White</a:t>
            </a:r>
          </a:p>
        </p:txBody>
      </p:sp>
      <p:sp>
        <p:nvSpPr>
          <p:cNvPr id="43" name="TextBox 42">
            <a:extLst>
              <a:ext uri="{FF2B5EF4-FFF2-40B4-BE49-F238E27FC236}">
                <a16:creationId xmlns:a16="http://schemas.microsoft.com/office/drawing/2014/main" id="{36DBAAB1-BA1D-91B0-98A4-7E36D30BA91C}"/>
              </a:ext>
            </a:extLst>
          </p:cNvPr>
          <p:cNvSpPr txBox="1"/>
          <p:nvPr/>
        </p:nvSpPr>
        <p:spPr>
          <a:xfrm>
            <a:off x="1777682" y="5424335"/>
            <a:ext cx="1429237" cy="369332"/>
          </a:xfrm>
          <a:prstGeom prst="rect">
            <a:avLst/>
          </a:prstGeom>
          <a:noFill/>
        </p:spPr>
        <p:txBody>
          <a:bodyPr wrap="none" rtlCol="0">
            <a:spAutoFit/>
          </a:bodyPr>
          <a:lstStyle/>
          <a:p>
            <a:r>
              <a:rPr lang="en-US" dirty="0"/>
              <a:t>1 Non-White</a:t>
            </a:r>
          </a:p>
        </p:txBody>
      </p:sp>
      <p:sp>
        <p:nvSpPr>
          <p:cNvPr id="44" name="TextBox 43">
            <a:extLst>
              <a:ext uri="{FF2B5EF4-FFF2-40B4-BE49-F238E27FC236}">
                <a16:creationId xmlns:a16="http://schemas.microsoft.com/office/drawing/2014/main" id="{A7274EDD-EAFC-0424-5D5B-7DF9B883364D}"/>
              </a:ext>
            </a:extLst>
          </p:cNvPr>
          <p:cNvSpPr txBox="1"/>
          <p:nvPr/>
        </p:nvSpPr>
        <p:spPr>
          <a:xfrm>
            <a:off x="3877886" y="5416176"/>
            <a:ext cx="1429237" cy="646331"/>
          </a:xfrm>
          <a:prstGeom prst="rect">
            <a:avLst/>
          </a:prstGeom>
          <a:noFill/>
        </p:spPr>
        <p:txBody>
          <a:bodyPr wrap="none" rtlCol="0">
            <a:spAutoFit/>
          </a:bodyPr>
          <a:lstStyle/>
          <a:p>
            <a:r>
              <a:rPr lang="en-US" dirty="0"/>
              <a:t>1 White</a:t>
            </a:r>
          </a:p>
          <a:p>
            <a:r>
              <a:rPr lang="en-US" dirty="0"/>
              <a:t>2 Non-White</a:t>
            </a:r>
          </a:p>
        </p:txBody>
      </p:sp>
      <p:sp>
        <p:nvSpPr>
          <p:cNvPr id="4" name="TextBox 3">
            <a:extLst>
              <a:ext uri="{FF2B5EF4-FFF2-40B4-BE49-F238E27FC236}">
                <a16:creationId xmlns:a16="http://schemas.microsoft.com/office/drawing/2014/main" id="{CDB5CDA8-59FB-0C71-FF27-9696F78A6867}"/>
              </a:ext>
            </a:extLst>
          </p:cNvPr>
          <p:cNvSpPr txBox="1"/>
          <p:nvPr/>
        </p:nvSpPr>
        <p:spPr>
          <a:xfrm>
            <a:off x="6327974" y="1746665"/>
            <a:ext cx="5025826" cy="1446550"/>
          </a:xfrm>
          <a:prstGeom prst="rect">
            <a:avLst/>
          </a:prstGeom>
          <a:noFill/>
        </p:spPr>
        <p:txBody>
          <a:bodyPr wrap="square" rtlCol="0">
            <a:spAutoFit/>
          </a:bodyPr>
          <a:lstStyle/>
          <a:p>
            <a:r>
              <a:rPr lang="en-US" sz="2400" b="1" dirty="0"/>
              <a:t>Answer: </a:t>
            </a:r>
            <a:r>
              <a:rPr lang="en-US" sz="2400" dirty="0"/>
              <a:t>the compliers are evenly split between white and non-white</a:t>
            </a:r>
          </a:p>
          <a:p>
            <a:pPr marL="342900" indent="-342900">
              <a:buFont typeface="Arial" panose="020B0604020202020204" pitchFamily="34" charset="0"/>
              <a:buChar char="•"/>
            </a:pPr>
            <a:r>
              <a:rPr lang="en-US" sz="2000" dirty="0">
                <a:solidFill>
                  <a:schemeClr val="accent1"/>
                </a:solidFill>
              </a:rPr>
              <a:t>same as the general population in this toy example</a:t>
            </a:r>
          </a:p>
        </p:txBody>
      </p:sp>
    </p:spTree>
    <p:extLst>
      <p:ext uri="{BB962C8B-B14F-4D97-AF65-F5344CB8AC3E}">
        <p14:creationId xmlns:p14="http://schemas.microsoft.com/office/powerpoint/2010/main" val="88272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A5EAA1A-221D-0ED1-8891-101FEB0753A4}"/>
              </a:ext>
            </a:extLst>
          </p:cNvPr>
          <p:cNvSpPr/>
          <p:nvPr/>
        </p:nvSpPr>
        <p:spPr>
          <a:xfrm>
            <a:off x="10410983" y="6096000"/>
            <a:ext cx="1679417" cy="76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BA80EE-1AC9-7A9A-1FF4-3121D9C79352}"/>
              </a:ext>
            </a:extLst>
          </p:cNvPr>
          <p:cNvSpPr>
            <a:spLocks noGrp="1"/>
          </p:cNvSpPr>
          <p:nvPr>
            <p:ph type="title"/>
          </p:nvPr>
        </p:nvSpPr>
        <p:spPr>
          <a:xfrm>
            <a:off x="851853" y="51503"/>
            <a:ext cx="10515600" cy="1325563"/>
          </a:xfrm>
        </p:spPr>
        <p:txBody>
          <a:bodyPr/>
          <a:lstStyle/>
          <a:p>
            <a:r>
              <a:rPr lang="en-US" dirty="0"/>
              <a:t>Where do we stand?</a:t>
            </a:r>
          </a:p>
        </p:txBody>
      </p:sp>
      <p:sp>
        <p:nvSpPr>
          <p:cNvPr id="6" name="TextBox 5">
            <a:extLst>
              <a:ext uri="{FF2B5EF4-FFF2-40B4-BE49-F238E27FC236}">
                <a16:creationId xmlns:a16="http://schemas.microsoft.com/office/drawing/2014/main" id="{CA2B5E18-12DF-0F1A-F1C1-568DC3067553}"/>
              </a:ext>
            </a:extLst>
          </p:cNvPr>
          <p:cNvSpPr txBox="1"/>
          <p:nvPr/>
        </p:nvSpPr>
        <p:spPr>
          <a:xfrm>
            <a:off x="1017608" y="1419263"/>
            <a:ext cx="10269636" cy="954107"/>
          </a:xfrm>
          <a:prstGeom prst="rect">
            <a:avLst/>
          </a:prstGeom>
          <a:noFill/>
        </p:spPr>
        <p:txBody>
          <a:bodyPr wrap="square" rtlCol="0">
            <a:spAutoFit/>
          </a:bodyPr>
          <a:lstStyle/>
          <a:p>
            <a:r>
              <a:rPr lang="en-US" sz="2800" dirty="0">
                <a:solidFill>
                  <a:srgbClr val="0070C0"/>
                </a:solidFill>
              </a:rPr>
              <a:t>Hey, there’s this cool thing called LATE!  We can learn the average treatment effect for the population of compliers!  It’s -$4!</a:t>
            </a:r>
          </a:p>
        </p:txBody>
      </p:sp>
      <p:sp>
        <p:nvSpPr>
          <p:cNvPr id="7" name="TextBox 6">
            <a:extLst>
              <a:ext uri="{FF2B5EF4-FFF2-40B4-BE49-F238E27FC236}">
                <a16:creationId xmlns:a16="http://schemas.microsoft.com/office/drawing/2014/main" id="{965D1855-267E-9A2E-7000-B16C682E8AFD}"/>
              </a:ext>
            </a:extLst>
          </p:cNvPr>
          <p:cNvSpPr txBox="1"/>
          <p:nvPr/>
        </p:nvSpPr>
        <p:spPr>
          <a:xfrm>
            <a:off x="3169819" y="2614438"/>
            <a:ext cx="6865897" cy="523220"/>
          </a:xfrm>
          <a:prstGeom prst="rect">
            <a:avLst/>
          </a:prstGeom>
          <a:noFill/>
        </p:spPr>
        <p:txBody>
          <a:bodyPr wrap="square" rtlCol="0">
            <a:spAutoFit/>
          </a:bodyPr>
          <a:lstStyle/>
          <a:p>
            <a:pPr algn="r"/>
            <a:r>
              <a:rPr lang="en-US" sz="2800" dirty="0">
                <a:solidFill>
                  <a:schemeClr val="accent5"/>
                </a:solidFill>
              </a:rPr>
              <a:t>Is that a big population?</a:t>
            </a:r>
          </a:p>
        </p:txBody>
      </p:sp>
      <p:sp>
        <p:nvSpPr>
          <p:cNvPr id="9" name="TextBox 8">
            <a:extLst>
              <a:ext uri="{FF2B5EF4-FFF2-40B4-BE49-F238E27FC236}">
                <a16:creationId xmlns:a16="http://schemas.microsoft.com/office/drawing/2014/main" id="{204B4E8A-B9D9-A1B0-AF4C-D1E27BB85730}"/>
              </a:ext>
            </a:extLst>
          </p:cNvPr>
          <p:cNvSpPr txBox="1"/>
          <p:nvPr/>
        </p:nvSpPr>
        <p:spPr>
          <a:xfrm>
            <a:off x="3169818" y="3220499"/>
            <a:ext cx="6865898" cy="954107"/>
          </a:xfrm>
          <a:prstGeom prst="rect">
            <a:avLst/>
          </a:prstGeom>
          <a:noFill/>
        </p:spPr>
        <p:txBody>
          <a:bodyPr wrap="square" rtlCol="0">
            <a:spAutoFit/>
          </a:bodyPr>
          <a:lstStyle/>
          <a:p>
            <a:pPr algn="r"/>
            <a:r>
              <a:rPr lang="en-US" sz="2800" dirty="0">
                <a:solidFill>
                  <a:schemeClr val="accent5"/>
                </a:solidFill>
              </a:rPr>
              <a:t>Is -$4 big or small compared to average earnings in this population?</a:t>
            </a:r>
          </a:p>
        </p:txBody>
      </p:sp>
      <p:sp>
        <p:nvSpPr>
          <p:cNvPr id="11" name="TextBox 10">
            <a:extLst>
              <a:ext uri="{FF2B5EF4-FFF2-40B4-BE49-F238E27FC236}">
                <a16:creationId xmlns:a16="http://schemas.microsoft.com/office/drawing/2014/main" id="{E2427F56-86AD-CDDF-2CC2-41B2FB925C35}"/>
              </a:ext>
            </a:extLst>
          </p:cNvPr>
          <p:cNvSpPr txBox="1"/>
          <p:nvPr/>
        </p:nvSpPr>
        <p:spPr>
          <a:xfrm>
            <a:off x="2649810" y="4243562"/>
            <a:ext cx="7385906" cy="954107"/>
          </a:xfrm>
          <a:prstGeom prst="rect">
            <a:avLst/>
          </a:prstGeom>
          <a:noFill/>
        </p:spPr>
        <p:txBody>
          <a:bodyPr wrap="square" rtlCol="0">
            <a:spAutoFit/>
          </a:bodyPr>
          <a:lstStyle/>
          <a:p>
            <a:pPr algn="r"/>
            <a:r>
              <a:rPr lang="en-US" sz="2800" dirty="0">
                <a:solidFill>
                  <a:schemeClr val="accent5"/>
                </a:solidFill>
              </a:rPr>
              <a:t>Is that population at all representative of the larger population?</a:t>
            </a:r>
          </a:p>
        </p:txBody>
      </p:sp>
      <p:pic>
        <p:nvPicPr>
          <p:cNvPr id="14" name="Picture 13">
            <a:extLst>
              <a:ext uri="{FF2B5EF4-FFF2-40B4-BE49-F238E27FC236}">
                <a16:creationId xmlns:a16="http://schemas.microsoft.com/office/drawing/2014/main" id="{F8347CF1-46C1-9D23-8E97-92A6B56DE256}"/>
              </a:ext>
            </a:extLst>
          </p:cNvPr>
          <p:cNvPicPr>
            <a:picLocks noChangeAspect="1"/>
          </p:cNvPicPr>
          <p:nvPr/>
        </p:nvPicPr>
        <p:blipFill>
          <a:blip r:embed="rId3"/>
          <a:stretch>
            <a:fillRect/>
          </a:stretch>
        </p:blipFill>
        <p:spPr>
          <a:xfrm flipH="1">
            <a:off x="1610854" y="4254525"/>
            <a:ext cx="1170445" cy="2396583"/>
          </a:xfrm>
          <a:prstGeom prst="rect">
            <a:avLst/>
          </a:prstGeom>
        </p:spPr>
      </p:pic>
      <p:pic>
        <p:nvPicPr>
          <p:cNvPr id="15" name="Picture 14">
            <a:extLst>
              <a:ext uri="{FF2B5EF4-FFF2-40B4-BE49-F238E27FC236}">
                <a16:creationId xmlns:a16="http://schemas.microsoft.com/office/drawing/2014/main" id="{C9EECE0F-61BC-86E6-37FA-53DE41274DE2}"/>
              </a:ext>
            </a:extLst>
          </p:cNvPr>
          <p:cNvPicPr>
            <a:picLocks noChangeAspect="1"/>
          </p:cNvPicPr>
          <p:nvPr/>
        </p:nvPicPr>
        <p:blipFill>
          <a:blip r:embed="rId4">
            <a:duotone>
              <a:schemeClr val="accent5">
                <a:shade val="45000"/>
                <a:satMod val="135000"/>
              </a:schemeClr>
              <a:prstClr val="white"/>
            </a:duotone>
          </a:blip>
          <a:stretch>
            <a:fillRect/>
          </a:stretch>
        </p:blipFill>
        <p:spPr>
          <a:xfrm flipH="1">
            <a:off x="10146998" y="3981449"/>
            <a:ext cx="1468749" cy="2673165"/>
          </a:xfrm>
          <a:prstGeom prst="rect">
            <a:avLst/>
          </a:prstGeom>
        </p:spPr>
      </p:pic>
      <p:sp>
        <p:nvSpPr>
          <p:cNvPr id="32" name="TextBox 31">
            <a:extLst>
              <a:ext uri="{FF2B5EF4-FFF2-40B4-BE49-F238E27FC236}">
                <a16:creationId xmlns:a16="http://schemas.microsoft.com/office/drawing/2014/main" id="{DF79D846-1079-CB29-6F89-B9975C0CB59A}"/>
              </a:ext>
            </a:extLst>
          </p:cNvPr>
          <p:cNvSpPr txBox="1"/>
          <p:nvPr/>
        </p:nvSpPr>
        <p:spPr>
          <a:xfrm>
            <a:off x="4572000" y="5257078"/>
            <a:ext cx="5357812" cy="523220"/>
          </a:xfrm>
          <a:prstGeom prst="rect">
            <a:avLst/>
          </a:prstGeom>
          <a:noFill/>
        </p:spPr>
        <p:txBody>
          <a:bodyPr wrap="square" rtlCol="0">
            <a:spAutoFit/>
          </a:bodyPr>
          <a:lstStyle/>
          <a:p>
            <a:pPr algn="r"/>
            <a:r>
              <a:rPr lang="en-US" sz="2800" b="1" dirty="0">
                <a:solidFill>
                  <a:schemeClr val="accent5"/>
                </a:solidFill>
              </a:rPr>
              <a:t>I have so many questions!</a:t>
            </a:r>
          </a:p>
        </p:txBody>
      </p:sp>
      <p:sp>
        <p:nvSpPr>
          <p:cNvPr id="34" name="Freeform 33">
            <a:extLst>
              <a:ext uri="{FF2B5EF4-FFF2-40B4-BE49-F238E27FC236}">
                <a16:creationId xmlns:a16="http://schemas.microsoft.com/office/drawing/2014/main" id="{F5546B02-FC2D-86B0-5FF4-B347D29CBC13}"/>
              </a:ext>
            </a:extLst>
          </p:cNvPr>
          <p:cNvSpPr/>
          <p:nvPr/>
        </p:nvSpPr>
        <p:spPr>
          <a:xfrm>
            <a:off x="827944" y="1847850"/>
            <a:ext cx="1038956" cy="3314700"/>
          </a:xfrm>
          <a:custGeom>
            <a:avLst/>
            <a:gdLst>
              <a:gd name="connsiteX0" fmla="*/ 1038956 w 1038956"/>
              <a:gd name="connsiteY0" fmla="*/ 3314700 h 3314700"/>
              <a:gd name="connsiteX1" fmla="*/ 448406 w 1038956"/>
              <a:gd name="connsiteY1" fmla="*/ 2667000 h 3314700"/>
              <a:gd name="connsiteX2" fmla="*/ 10256 w 1038956"/>
              <a:gd name="connsiteY2" fmla="*/ 1371600 h 3314700"/>
              <a:gd name="connsiteX3" fmla="*/ 181706 w 1038956"/>
              <a:gd name="connsiteY3" fmla="*/ 0 h 3314700"/>
            </a:gdLst>
            <a:ahLst/>
            <a:cxnLst>
              <a:cxn ang="0">
                <a:pos x="connsiteX0" y="connsiteY0"/>
              </a:cxn>
              <a:cxn ang="0">
                <a:pos x="connsiteX1" y="connsiteY1"/>
              </a:cxn>
              <a:cxn ang="0">
                <a:pos x="connsiteX2" y="connsiteY2"/>
              </a:cxn>
              <a:cxn ang="0">
                <a:pos x="connsiteX3" y="connsiteY3"/>
              </a:cxn>
            </a:cxnLst>
            <a:rect l="l" t="t" r="r" b="b"/>
            <a:pathLst>
              <a:path w="1038956" h="3314700">
                <a:moveTo>
                  <a:pt x="1038956" y="3314700"/>
                </a:moveTo>
                <a:cubicBezTo>
                  <a:pt x="829406" y="3152775"/>
                  <a:pt x="619856" y="2990850"/>
                  <a:pt x="448406" y="2667000"/>
                </a:cubicBezTo>
                <a:cubicBezTo>
                  <a:pt x="276956" y="2343150"/>
                  <a:pt x="54706" y="1816100"/>
                  <a:pt x="10256" y="1371600"/>
                </a:cubicBezTo>
                <a:cubicBezTo>
                  <a:pt x="-34194" y="927100"/>
                  <a:pt x="73756" y="463550"/>
                  <a:pt x="181706" y="0"/>
                </a:cubicBezTo>
              </a:path>
            </a:pathLst>
          </a:cu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02B8A392-D008-DB9E-832A-C8807C830544}"/>
              </a:ext>
            </a:extLst>
          </p:cNvPr>
          <p:cNvGrpSpPr/>
          <p:nvPr/>
        </p:nvGrpSpPr>
        <p:grpSpPr>
          <a:xfrm>
            <a:off x="2781299" y="5780298"/>
            <a:ext cx="8077201" cy="937611"/>
            <a:chOff x="2781299" y="5780298"/>
            <a:chExt cx="8077201" cy="937611"/>
          </a:xfrm>
        </p:grpSpPr>
        <p:sp>
          <p:nvSpPr>
            <p:cNvPr id="3" name="TextBox 2">
              <a:extLst>
                <a:ext uri="{FF2B5EF4-FFF2-40B4-BE49-F238E27FC236}">
                  <a16:creationId xmlns:a16="http://schemas.microsoft.com/office/drawing/2014/main" id="{58E55E7B-6507-6B99-EC59-ADAA394E889D}"/>
                </a:ext>
              </a:extLst>
            </p:cNvPr>
            <p:cNvSpPr txBox="1"/>
            <p:nvPr/>
          </p:nvSpPr>
          <p:spPr>
            <a:xfrm>
              <a:off x="3087845" y="5948468"/>
              <a:ext cx="7770655" cy="769441"/>
            </a:xfrm>
            <a:prstGeom prst="rect">
              <a:avLst/>
            </a:prstGeom>
            <a:noFill/>
          </p:spPr>
          <p:txBody>
            <a:bodyPr wrap="square" rtlCol="0">
              <a:spAutoFit/>
            </a:bodyPr>
            <a:lstStyle/>
            <a:p>
              <a:r>
                <a:rPr lang="en-US" sz="2800" b="1" dirty="0">
                  <a:solidFill>
                    <a:srgbClr val="0070C0"/>
                  </a:solidFill>
                </a:rPr>
                <a:t>We can answer these questions!</a:t>
              </a:r>
            </a:p>
            <a:p>
              <a:r>
                <a:rPr lang="en-US" sz="1600" dirty="0">
                  <a:solidFill>
                    <a:srgbClr val="0070C0"/>
                  </a:solidFill>
                </a:rPr>
                <a:t>(Approximately, assuming that Z is actually random relative to observables).</a:t>
              </a:r>
            </a:p>
          </p:txBody>
        </p:sp>
        <p:cxnSp>
          <p:nvCxnSpPr>
            <p:cNvPr id="5" name="Straight Connector 4">
              <a:extLst>
                <a:ext uri="{FF2B5EF4-FFF2-40B4-BE49-F238E27FC236}">
                  <a16:creationId xmlns:a16="http://schemas.microsoft.com/office/drawing/2014/main" id="{E44DED9B-CD60-0E82-B184-2DE4D8CA9789}"/>
                </a:ext>
              </a:extLst>
            </p:cNvPr>
            <p:cNvCxnSpPr>
              <a:cxnSpLocks/>
            </p:cNvCxnSpPr>
            <p:nvPr/>
          </p:nvCxnSpPr>
          <p:spPr>
            <a:xfrm>
              <a:off x="2781299" y="5780298"/>
              <a:ext cx="263985" cy="315702"/>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5816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8A297-3CBE-086F-127C-42F8C9AD6B3A}"/>
              </a:ext>
            </a:extLst>
          </p:cNvPr>
          <p:cNvSpPr>
            <a:spLocks noGrp="1"/>
          </p:cNvSpPr>
          <p:nvPr>
            <p:ph type="title"/>
          </p:nvPr>
        </p:nvSpPr>
        <p:spPr/>
        <p:txBody>
          <a:bodyPr/>
          <a:lstStyle/>
          <a:p>
            <a:r>
              <a:rPr lang="en-US" dirty="0"/>
              <a:t>When is computing LATE useful?</a:t>
            </a:r>
          </a:p>
        </p:txBody>
      </p:sp>
      <p:sp>
        <p:nvSpPr>
          <p:cNvPr id="3" name="Content Placeholder 2">
            <a:extLst>
              <a:ext uri="{FF2B5EF4-FFF2-40B4-BE49-F238E27FC236}">
                <a16:creationId xmlns:a16="http://schemas.microsoft.com/office/drawing/2014/main" id="{2D7E491F-5F3E-1A41-BFED-D5AE73168953}"/>
              </a:ext>
            </a:extLst>
          </p:cNvPr>
          <p:cNvSpPr>
            <a:spLocks noGrp="1"/>
          </p:cNvSpPr>
          <p:nvPr>
            <p:ph idx="1"/>
          </p:nvPr>
        </p:nvSpPr>
        <p:spPr/>
        <p:txBody>
          <a:bodyPr/>
          <a:lstStyle/>
          <a:p>
            <a:r>
              <a:rPr lang="en-US" dirty="0"/>
              <a:t>Depends on the context!</a:t>
            </a:r>
          </a:p>
          <a:p>
            <a:r>
              <a:rPr lang="en-US" dirty="0"/>
              <a:t>But at least we can compute stuff about the complier population to help us decide.</a:t>
            </a:r>
          </a:p>
        </p:txBody>
      </p:sp>
    </p:spTree>
    <p:extLst>
      <p:ext uri="{BB962C8B-B14F-4D97-AF65-F5344CB8AC3E}">
        <p14:creationId xmlns:p14="http://schemas.microsoft.com/office/powerpoint/2010/main" val="39357286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68D2A-6262-D8FA-9C55-9FAD7CDA4C20}"/>
              </a:ext>
            </a:extLst>
          </p:cNvPr>
          <p:cNvSpPr>
            <a:spLocks noGrp="1"/>
          </p:cNvSpPr>
          <p:nvPr>
            <p:ph type="title"/>
          </p:nvPr>
        </p:nvSpPr>
        <p:spPr/>
        <p:txBody>
          <a:bodyPr/>
          <a:lstStyle/>
          <a:p>
            <a:r>
              <a:rPr lang="en-US" dirty="0"/>
              <a:t>Recap and Looking ahead</a:t>
            </a:r>
          </a:p>
        </p:txBody>
      </p:sp>
      <p:sp>
        <p:nvSpPr>
          <p:cNvPr id="3" name="Text Placeholder 2">
            <a:extLst>
              <a:ext uri="{FF2B5EF4-FFF2-40B4-BE49-F238E27FC236}">
                <a16:creationId xmlns:a16="http://schemas.microsoft.com/office/drawing/2014/main" id="{CB0650FB-0120-0F7B-A1BF-6C65CB63AEC9}"/>
              </a:ext>
            </a:extLst>
          </p:cNvPr>
          <p:cNvSpPr>
            <a:spLocks noGrp="1"/>
          </p:cNvSpPr>
          <p:nvPr>
            <p:ph type="body" idx="1"/>
          </p:nvPr>
        </p:nvSpPr>
        <p:spPr/>
        <p:txBody>
          <a:bodyPr/>
          <a:lstStyle/>
          <a:p>
            <a:endParaRPr lang="en-US"/>
          </a:p>
        </p:txBody>
      </p:sp>
      <p:sp>
        <p:nvSpPr>
          <p:cNvPr id="4" name="TextBox 3">
            <a:extLst>
              <a:ext uri="{FF2B5EF4-FFF2-40B4-BE49-F238E27FC236}">
                <a16:creationId xmlns:a16="http://schemas.microsoft.com/office/drawing/2014/main" id="{CC798E7E-CC3F-702E-DDCE-61B76A77586F}"/>
              </a:ext>
            </a:extLst>
          </p:cNvPr>
          <p:cNvSpPr txBox="1"/>
          <p:nvPr/>
        </p:nvSpPr>
        <p:spPr>
          <a:xfrm>
            <a:off x="9170894" y="245910"/>
            <a:ext cx="2877671" cy="646331"/>
          </a:xfrm>
          <a:prstGeom prst="rect">
            <a:avLst/>
          </a:prstGeom>
          <a:noFill/>
        </p:spPr>
        <p:txBody>
          <a:bodyPr wrap="square" rtlCol="0">
            <a:spAutoFit/>
          </a:bodyPr>
          <a:lstStyle/>
          <a:p>
            <a:pPr algn="r"/>
            <a:r>
              <a:rPr lang="en-US" dirty="0"/>
              <a:t>Don’t forget to stick around for the exit ticket!</a:t>
            </a:r>
          </a:p>
        </p:txBody>
      </p:sp>
    </p:spTree>
    <p:extLst>
      <p:ext uri="{BB962C8B-B14F-4D97-AF65-F5344CB8AC3E}">
        <p14:creationId xmlns:p14="http://schemas.microsoft.com/office/powerpoint/2010/main" val="5799876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2840A-89CD-1E8A-2A13-58B1207CDABD}"/>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9181A96D-A49D-BCD2-A54E-A8B24E70EEE6}"/>
              </a:ext>
            </a:extLst>
          </p:cNvPr>
          <p:cNvSpPr>
            <a:spLocks noGrp="1"/>
          </p:cNvSpPr>
          <p:nvPr>
            <p:ph idx="1"/>
          </p:nvPr>
        </p:nvSpPr>
        <p:spPr>
          <a:xfrm>
            <a:off x="838200" y="1825624"/>
            <a:ext cx="10934700" cy="5337175"/>
          </a:xfrm>
        </p:spPr>
        <p:txBody>
          <a:bodyPr>
            <a:normAutofit/>
          </a:bodyPr>
          <a:lstStyle/>
          <a:p>
            <a:r>
              <a:rPr lang="en-US" dirty="0"/>
              <a:t>Instrumental variables:</a:t>
            </a:r>
          </a:p>
          <a:p>
            <a:endParaRPr lang="en-US" dirty="0"/>
          </a:p>
          <a:p>
            <a:endParaRPr lang="en-US" dirty="0"/>
          </a:p>
          <a:p>
            <a:r>
              <a:rPr lang="en-US" dirty="0"/>
              <a:t>LATE = Local Average Treatment Effect = ATE among compliers.</a:t>
            </a:r>
          </a:p>
          <a:p>
            <a:pPr lvl="1"/>
            <a:r>
              <a:rPr lang="en-US" dirty="0">
                <a:solidFill>
                  <a:schemeClr val="accent1"/>
                </a:solidFill>
              </a:rPr>
              <a:t>We can’t hope to estimate the ATE of X on Y in the whole population.</a:t>
            </a:r>
          </a:p>
          <a:p>
            <a:pPr lvl="1"/>
            <a:r>
              <a:rPr lang="en-US" dirty="0">
                <a:solidFill>
                  <a:schemeClr val="accent1"/>
                </a:solidFill>
              </a:rPr>
              <a:t>But we can hope to estimate it among the compliers!</a:t>
            </a:r>
          </a:p>
          <a:p>
            <a:pPr lvl="1"/>
            <a:r>
              <a:rPr lang="en-US" dirty="0">
                <a:solidFill>
                  <a:schemeClr val="accent1"/>
                </a:solidFill>
              </a:rPr>
              <a:t>LATE = (ATE of Z on Y) / (ATE of Z on X)</a:t>
            </a:r>
          </a:p>
          <a:p>
            <a:pPr lvl="1"/>
            <a:endParaRPr lang="en-US" dirty="0"/>
          </a:p>
          <a:p>
            <a:r>
              <a:rPr lang="en-US" dirty="0"/>
              <a:t>We can learn things about the compliers!</a:t>
            </a:r>
          </a:p>
          <a:p>
            <a:pPr lvl="1"/>
            <a:r>
              <a:rPr lang="en-US" dirty="0">
                <a:solidFill>
                  <a:schemeClr val="accent1"/>
                </a:solidFill>
              </a:rPr>
              <a:t>How many are there?  What are their demographics, </a:t>
            </a:r>
            <a:r>
              <a:rPr lang="en-US" dirty="0" err="1">
                <a:solidFill>
                  <a:schemeClr val="accent1"/>
                </a:solidFill>
              </a:rPr>
              <a:t>etc</a:t>
            </a:r>
            <a:r>
              <a:rPr lang="en-US" dirty="0">
                <a:solidFill>
                  <a:schemeClr val="accent1"/>
                </a:solidFill>
              </a:rPr>
              <a:t>?</a:t>
            </a:r>
          </a:p>
        </p:txBody>
      </p:sp>
      <p:grpSp>
        <p:nvGrpSpPr>
          <p:cNvPr id="4" name="Group 3">
            <a:extLst>
              <a:ext uri="{FF2B5EF4-FFF2-40B4-BE49-F238E27FC236}">
                <a16:creationId xmlns:a16="http://schemas.microsoft.com/office/drawing/2014/main" id="{B411A987-B692-7C30-897E-C811915F06D8}"/>
              </a:ext>
            </a:extLst>
          </p:cNvPr>
          <p:cNvGrpSpPr/>
          <p:nvPr/>
        </p:nvGrpSpPr>
        <p:grpSpPr>
          <a:xfrm>
            <a:off x="5200650" y="1450975"/>
            <a:ext cx="5896848" cy="1460500"/>
            <a:chOff x="838200" y="4327742"/>
            <a:chExt cx="10041383" cy="2419310"/>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AA35315C-7BC3-2E6F-425A-184AAF2743E7}"/>
                    </a:ext>
                  </a:extLst>
                </p:cNvPr>
                <p:cNvSpPr/>
                <p:nvPr/>
              </p:nvSpPr>
              <p:spPr>
                <a:xfrm>
                  <a:off x="53622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𝑋</m:t>
                        </m:r>
                      </m:oMath>
                    </m:oMathPara>
                  </a14:m>
                  <a:endParaRPr lang="en-US" sz="2800" dirty="0"/>
                </a:p>
              </p:txBody>
            </p:sp>
          </mc:Choice>
          <mc:Fallback xmlns="">
            <p:sp>
              <p:nvSpPr>
                <p:cNvPr id="5" name="Oval 4">
                  <a:extLst>
                    <a:ext uri="{FF2B5EF4-FFF2-40B4-BE49-F238E27FC236}">
                      <a16:creationId xmlns:a16="http://schemas.microsoft.com/office/drawing/2014/main" id="{AA35315C-7BC3-2E6F-425A-184AAF2743E7}"/>
                    </a:ext>
                  </a:extLst>
                </p:cNvPr>
                <p:cNvSpPr>
                  <a:spLocks noRot="1" noChangeAspect="1" noMove="1" noResize="1" noEditPoints="1" noAdjustHandles="1" noChangeArrowheads="1" noChangeShapeType="1" noTextEdit="1"/>
                </p:cNvSpPr>
                <p:nvPr/>
              </p:nvSpPr>
              <p:spPr>
                <a:xfrm>
                  <a:off x="5362222" y="4684889"/>
                  <a:ext cx="1718650" cy="1140178"/>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5C850430-2647-EBE7-420B-E601177A91A6}"/>
                    </a:ext>
                  </a:extLst>
                </p:cNvPr>
                <p:cNvSpPr/>
                <p:nvPr/>
              </p:nvSpPr>
              <p:spPr>
                <a:xfrm>
                  <a:off x="9160933"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𝑌</m:t>
                        </m:r>
                      </m:oMath>
                    </m:oMathPara>
                  </a14:m>
                  <a:endParaRPr lang="en-US" sz="2800" dirty="0"/>
                </a:p>
              </p:txBody>
            </p:sp>
          </mc:Choice>
          <mc:Fallback xmlns="">
            <p:sp>
              <p:nvSpPr>
                <p:cNvPr id="6" name="Oval 5">
                  <a:extLst>
                    <a:ext uri="{FF2B5EF4-FFF2-40B4-BE49-F238E27FC236}">
                      <a16:creationId xmlns:a16="http://schemas.microsoft.com/office/drawing/2014/main" id="{5C850430-2647-EBE7-420B-E601177A91A6}"/>
                    </a:ext>
                  </a:extLst>
                </p:cNvPr>
                <p:cNvSpPr>
                  <a:spLocks noRot="1" noChangeAspect="1" noMove="1" noResize="1" noEditPoints="1" noAdjustHandles="1" noChangeArrowheads="1" noChangeShapeType="1" noTextEdit="1"/>
                </p:cNvSpPr>
                <p:nvPr/>
              </p:nvSpPr>
              <p:spPr>
                <a:xfrm>
                  <a:off x="9160933" y="4684889"/>
                  <a:ext cx="1718650" cy="1140178"/>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A47D2CF7-3578-0F77-72EC-5C04EE70D57F}"/>
                    </a:ext>
                  </a:extLst>
                </p:cNvPr>
                <p:cNvSpPr/>
                <p:nvPr/>
              </p:nvSpPr>
              <p:spPr>
                <a:xfrm>
                  <a:off x="1399822" y="4684889"/>
                  <a:ext cx="1718650" cy="11401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𝑍</m:t>
                        </m:r>
                      </m:oMath>
                    </m:oMathPara>
                  </a14:m>
                  <a:endParaRPr lang="en-US" sz="2800" dirty="0"/>
                </a:p>
              </p:txBody>
            </p:sp>
          </mc:Choice>
          <mc:Fallback xmlns="">
            <p:sp>
              <p:nvSpPr>
                <p:cNvPr id="7" name="Oval 6">
                  <a:extLst>
                    <a:ext uri="{FF2B5EF4-FFF2-40B4-BE49-F238E27FC236}">
                      <a16:creationId xmlns:a16="http://schemas.microsoft.com/office/drawing/2014/main" id="{A47D2CF7-3578-0F77-72EC-5C04EE70D57F}"/>
                    </a:ext>
                  </a:extLst>
                </p:cNvPr>
                <p:cNvSpPr>
                  <a:spLocks noRot="1" noChangeAspect="1" noMove="1" noResize="1" noEditPoints="1" noAdjustHandles="1" noChangeArrowheads="1" noChangeShapeType="1" noTextEdit="1"/>
                </p:cNvSpPr>
                <p:nvPr/>
              </p:nvSpPr>
              <p:spPr>
                <a:xfrm>
                  <a:off x="1399822" y="4684889"/>
                  <a:ext cx="1718650" cy="1140178"/>
                </a:xfrm>
                <a:prstGeom prst="ellipse">
                  <a:avLst/>
                </a:prstGeom>
                <a:blipFill>
                  <a:blip r:embed="rId5"/>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3282E48C-A866-9F6B-E69E-80FAD8523CF0}"/>
                </a:ext>
              </a:extLst>
            </p:cNvPr>
            <p:cNvCxnSpPr>
              <a:endCxn id="6" idx="2"/>
            </p:cNvCxnSpPr>
            <p:nvPr/>
          </p:nvCxnSpPr>
          <p:spPr>
            <a:xfrm>
              <a:off x="7080872" y="5254978"/>
              <a:ext cx="2080061"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1433042-AF90-0AE5-960E-94699A672C5C}"/>
                </a:ext>
              </a:extLst>
            </p:cNvPr>
            <p:cNvCxnSpPr>
              <a:cxnSpLocks/>
              <a:stCxn id="7" idx="6"/>
              <a:endCxn id="5" idx="2"/>
            </p:cNvCxnSpPr>
            <p:nvPr/>
          </p:nvCxnSpPr>
          <p:spPr>
            <a:xfrm>
              <a:off x="3118472" y="5254978"/>
              <a:ext cx="2243750" cy="0"/>
            </a:xfrm>
            <a:prstGeom prst="straightConnector1">
              <a:avLst/>
            </a:prstGeom>
            <a:ln w="381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73715AC5-A132-2ED9-55AD-3AEB3DD61EE0}"/>
                </a:ext>
              </a:extLst>
            </p:cNvPr>
            <p:cNvSpPr/>
            <p:nvPr/>
          </p:nvSpPr>
          <p:spPr>
            <a:xfrm>
              <a:off x="2797139" y="5689600"/>
              <a:ext cx="6629083" cy="757351"/>
            </a:xfrm>
            <a:custGeom>
              <a:avLst/>
              <a:gdLst>
                <a:gd name="connsiteX0" fmla="*/ 36372 w 6629083"/>
                <a:gd name="connsiteY0" fmla="*/ 0 h 757351"/>
                <a:gd name="connsiteX1" fmla="*/ 668550 w 6629083"/>
                <a:gd name="connsiteY1" fmla="*/ 541867 h 757351"/>
                <a:gd name="connsiteX2" fmla="*/ 4608372 w 6629083"/>
                <a:gd name="connsiteY2" fmla="*/ 733778 h 757351"/>
                <a:gd name="connsiteX3" fmla="*/ 6629083 w 6629083"/>
                <a:gd name="connsiteY3" fmla="*/ 45156 h 757351"/>
              </a:gdLst>
              <a:ahLst/>
              <a:cxnLst>
                <a:cxn ang="0">
                  <a:pos x="connsiteX0" y="connsiteY0"/>
                </a:cxn>
                <a:cxn ang="0">
                  <a:pos x="connsiteX1" y="connsiteY1"/>
                </a:cxn>
                <a:cxn ang="0">
                  <a:pos x="connsiteX2" y="connsiteY2"/>
                </a:cxn>
                <a:cxn ang="0">
                  <a:pos x="connsiteX3" y="connsiteY3"/>
                </a:cxn>
              </a:cxnLst>
              <a:rect l="l" t="t" r="r" b="b"/>
              <a:pathLst>
                <a:path w="6629083" h="757351">
                  <a:moveTo>
                    <a:pt x="36372" y="0"/>
                  </a:moveTo>
                  <a:cubicBezTo>
                    <a:pt x="-28539" y="209785"/>
                    <a:pt x="-93450" y="419571"/>
                    <a:pt x="668550" y="541867"/>
                  </a:cubicBezTo>
                  <a:cubicBezTo>
                    <a:pt x="1430550" y="664163"/>
                    <a:pt x="3614950" y="816563"/>
                    <a:pt x="4608372" y="733778"/>
                  </a:cubicBezTo>
                  <a:cubicBezTo>
                    <a:pt x="5601794" y="650993"/>
                    <a:pt x="6115438" y="348074"/>
                    <a:pt x="6629083" y="45156"/>
                  </a:cubicBezTo>
                </a:path>
              </a:pathLst>
            </a:custGeom>
            <a:ln w="38100">
              <a:prstDash val="dash"/>
              <a:headEnd type="none" w="med" len="med"/>
              <a:tailEnd type="triangle" w="med"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quot;No&quot; Symbol 10">
              <a:extLst>
                <a:ext uri="{FF2B5EF4-FFF2-40B4-BE49-F238E27FC236}">
                  <a16:creationId xmlns:a16="http://schemas.microsoft.com/office/drawing/2014/main" id="{FE7F4E74-A075-F36A-120A-C82D5A72B151}"/>
                </a:ext>
              </a:extLst>
            </p:cNvPr>
            <p:cNvSpPr/>
            <p:nvPr/>
          </p:nvSpPr>
          <p:spPr>
            <a:xfrm>
              <a:off x="7591694" y="5942053"/>
              <a:ext cx="818529" cy="804999"/>
            </a:xfrm>
            <a:prstGeom prst="noSmoking">
              <a:avLst>
                <a:gd name="adj" fmla="val 1546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 name="Picture 2" descr="Hounder Black Red Honey Burst with Stiletto Hard Case">
              <a:extLst>
                <a:ext uri="{FF2B5EF4-FFF2-40B4-BE49-F238E27FC236}">
                  <a16:creationId xmlns:a16="http://schemas.microsoft.com/office/drawing/2014/main" id="{46135894-524E-9579-7120-B6B2A1B908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327742"/>
              <a:ext cx="1614311" cy="1614311"/>
            </a:xfrm>
            <a:prstGeom prst="rect">
              <a:avLst/>
            </a:prstGeom>
            <a:noFill/>
            <a:effectLst>
              <a:glow rad="635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1F97FDD-DB73-5A65-A40F-0D3FA8EC650B}"/>
                </a:ext>
              </a:extLst>
            </p:cNvPr>
            <p:cNvSpPr txBox="1"/>
            <p:nvPr/>
          </p:nvSpPr>
          <p:spPr>
            <a:xfrm>
              <a:off x="900740" y="5995017"/>
              <a:ext cx="1592231" cy="646331"/>
            </a:xfrm>
            <a:prstGeom prst="rect">
              <a:avLst/>
            </a:prstGeom>
            <a:noFill/>
          </p:spPr>
          <p:txBody>
            <a:bodyPr wrap="none" rtlCol="0">
              <a:spAutoFit/>
            </a:bodyPr>
            <a:lstStyle/>
            <a:p>
              <a:pPr algn="ctr"/>
              <a:r>
                <a:rPr lang="en-US" b="1" i="1" dirty="0">
                  <a:solidFill>
                    <a:schemeClr val="accent2"/>
                  </a:solidFill>
                </a:rPr>
                <a:t>Instrumental </a:t>
              </a:r>
            </a:p>
            <a:p>
              <a:pPr algn="ctr"/>
              <a:r>
                <a:rPr lang="en-US" b="1" i="1" dirty="0">
                  <a:solidFill>
                    <a:schemeClr val="accent2"/>
                  </a:solidFill>
                </a:rPr>
                <a:t>Variable!</a:t>
              </a:r>
            </a:p>
          </p:txBody>
        </p:sp>
      </p:grpSp>
    </p:spTree>
    <p:extLst>
      <p:ext uri="{BB962C8B-B14F-4D97-AF65-F5344CB8AC3E}">
        <p14:creationId xmlns:p14="http://schemas.microsoft.com/office/powerpoint/2010/main" val="267933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1F7B1-1F9A-6390-B46D-DB7B2992BD4E}"/>
              </a:ext>
            </a:extLst>
          </p:cNvPr>
          <p:cNvSpPr>
            <a:spLocks noGrp="1"/>
          </p:cNvSpPr>
          <p:nvPr>
            <p:ph type="title"/>
          </p:nvPr>
        </p:nvSpPr>
        <p:spPr/>
        <p:txBody>
          <a:bodyPr/>
          <a:lstStyle/>
          <a:p>
            <a:r>
              <a:rPr lang="en-US" dirty="0"/>
              <a:t>Next time…</a:t>
            </a:r>
          </a:p>
        </p:txBody>
      </p:sp>
      <p:sp>
        <p:nvSpPr>
          <p:cNvPr id="3" name="Content Placeholder 2">
            <a:extLst>
              <a:ext uri="{FF2B5EF4-FFF2-40B4-BE49-F238E27FC236}">
                <a16:creationId xmlns:a16="http://schemas.microsoft.com/office/drawing/2014/main" id="{6EC6162C-CC47-821C-B06E-F1C9D1762B3E}"/>
              </a:ext>
            </a:extLst>
          </p:cNvPr>
          <p:cNvSpPr>
            <a:spLocks noGrp="1"/>
          </p:cNvSpPr>
          <p:nvPr>
            <p:ph idx="1"/>
          </p:nvPr>
        </p:nvSpPr>
        <p:spPr/>
        <p:txBody>
          <a:bodyPr/>
          <a:lstStyle/>
          <a:p>
            <a:r>
              <a:rPr lang="en-US" dirty="0"/>
              <a:t>Let’s get fancy</a:t>
            </a:r>
          </a:p>
          <a:p>
            <a:pPr lvl="1"/>
            <a:r>
              <a:rPr lang="en-US" dirty="0">
                <a:solidFill>
                  <a:schemeClr val="accent1"/>
                </a:solidFill>
              </a:rPr>
              <a:t>Non-binary Z and X</a:t>
            </a:r>
          </a:p>
          <a:p>
            <a:pPr lvl="1"/>
            <a:r>
              <a:rPr lang="en-US" dirty="0">
                <a:solidFill>
                  <a:schemeClr val="accent1"/>
                </a:solidFill>
              </a:rPr>
              <a:t>Multiple instruments</a:t>
            </a:r>
          </a:p>
          <a:p>
            <a:pPr lvl="1"/>
            <a:r>
              <a:rPr lang="en-US" dirty="0">
                <a:solidFill>
                  <a:schemeClr val="accent1"/>
                </a:solidFill>
              </a:rPr>
              <a:t>Non-linear models</a:t>
            </a:r>
          </a:p>
          <a:p>
            <a:pPr lvl="1"/>
            <a:endParaRPr lang="en-US" dirty="0"/>
          </a:p>
          <a:p>
            <a:r>
              <a:rPr lang="en-US" dirty="0"/>
              <a:t>What do IVs have to say about returns to education?</a:t>
            </a:r>
          </a:p>
          <a:p>
            <a:endParaRPr lang="en-US" dirty="0"/>
          </a:p>
        </p:txBody>
      </p:sp>
      <p:pic>
        <p:nvPicPr>
          <p:cNvPr id="4" name="Picture 2" descr="Hounder Black Red Honey Burst with Stiletto Hard Case">
            <a:extLst>
              <a:ext uri="{FF2B5EF4-FFF2-40B4-BE49-F238E27FC236}">
                <a16:creationId xmlns:a16="http://schemas.microsoft.com/office/drawing/2014/main" id="{00B2A816-C368-3DF2-37E0-67652F67D3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7087" y="3099338"/>
            <a:ext cx="3212562" cy="321256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2231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0EB9-8855-6AA6-B0C9-E83FD33E117B}"/>
              </a:ext>
            </a:extLst>
          </p:cNvPr>
          <p:cNvSpPr>
            <a:spLocks noGrp="1"/>
          </p:cNvSpPr>
          <p:nvPr>
            <p:ph type="title"/>
          </p:nvPr>
        </p:nvSpPr>
        <p:spPr/>
        <p:txBody>
          <a:bodyPr/>
          <a:lstStyle/>
          <a:p>
            <a:r>
              <a:rPr lang="en-US" dirty="0"/>
              <a:t>Exit ticket</a:t>
            </a:r>
          </a:p>
        </p:txBody>
      </p:sp>
      <p:pic>
        <p:nvPicPr>
          <p:cNvPr id="4" name="Picture 3">
            <a:extLst>
              <a:ext uri="{FF2B5EF4-FFF2-40B4-BE49-F238E27FC236}">
                <a16:creationId xmlns:a16="http://schemas.microsoft.com/office/drawing/2014/main" id="{30D56821-B36F-05BE-8C22-119BD426E006}"/>
              </a:ext>
            </a:extLst>
          </p:cNvPr>
          <p:cNvPicPr>
            <a:picLocks noChangeAspect="1"/>
          </p:cNvPicPr>
          <p:nvPr/>
        </p:nvPicPr>
        <p:blipFill>
          <a:blip r:embed="rId3"/>
          <a:stretch>
            <a:fillRect/>
          </a:stretch>
        </p:blipFill>
        <p:spPr>
          <a:xfrm>
            <a:off x="10010775" y="146050"/>
            <a:ext cx="2028825" cy="1440602"/>
          </a:xfrm>
          <a:prstGeom prst="rect">
            <a:avLst/>
          </a:prstGeom>
        </p:spPr>
      </p:pic>
      <p:sp>
        <p:nvSpPr>
          <p:cNvPr id="8" name="TextBox 7">
            <a:extLst>
              <a:ext uri="{FF2B5EF4-FFF2-40B4-BE49-F238E27FC236}">
                <a16:creationId xmlns:a16="http://schemas.microsoft.com/office/drawing/2014/main" id="{65F0044E-68BA-46FB-DFE2-EB19710BB196}"/>
              </a:ext>
            </a:extLst>
          </p:cNvPr>
          <p:cNvSpPr txBox="1"/>
          <p:nvPr/>
        </p:nvSpPr>
        <p:spPr>
          <a:xfrm>
            <a:off x="1505712" y="1984243"/>
            <a:ext cx="9848088"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Don’t forget to fill out the exit ticket before you leave class!</a:t>
            </a:r>
          </a:p>
        </p:txBody>
      </p:sp>
      <p:sp>
        <p:nvSpPr>
          <p:cNvPr id="10" name="Arrow: Bent 9">
            <a:extLst>
              <a:ext uri="{FF2B5EF4-FFF2-40B4-BE49-F238E27FC236}">
                <a16:creationId xmlns:a16="http://schemas.microsoft.com/office/drawing/2014/main" id="{01F52CB0-CE46-989E-A338-6C694D0A271D}"/>
              </a:ext>
            </a:extLst>
          </p:cNvPr>
          <p:cNvSpPr/>
          <p:nvPr/>
        </p:nvSpPr>
        <p:spPr>
          <a:xfrm rot="10800000">
            <a:off x="8403336" y="2902064"/>
            <a:ext cx="2002536" cy="1551063"/>
          </a:xfrm>
          <a:prstGeom prst="bentArrow">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a:extLst>
              <a:ext uri="{FF2B5EF4-FFF2-40B4-BE49-F238E27FC236}">
                <a16:creationId xmlns:a16="http://schemas.microsoft.com/office/drawing/2014/main" id="{717CB603-E102-5384-3F02-DFB3E2771B7B}"/>
              </a:ext>
            </a:extLst>
          </p:cNvPr>
          <p:cNvPicPr>
            <a:picLocks noChangeAspect="1"/>
          </p:cNvPicPr>
          <p:nvPr/>
        </p:nvPicPr>
        <p:blipFill>
          <a:blip r:embed="rId4"/>
          <a:stretch>
            <a:fillRect/>
          </a:stretch>
        </p:blipFill>
        <p:spPr>
          <a:xfrm>
            <a:off x="4171950" y="2644775"/>
            <a:ext cx="3848100" cy="3848100"/>
          </a:xfrm>
          <a:prstGeom prst="rect">
            <a:avLst/>
          </a:prstGeom>
        </p:spPr>
      </p:pic>
    </p:spTree>
    <p:extLst>
      <p:ext uri="{BB962C8B-B14F-4D97-AF65-F5344CB8AC3E}">
        <p14:creationId xmlns:p14="http://schemas.microsoft.com/office/powerpoint/2010/main" val="5191142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f649d391-0fac-458a-9718-2a72d0682ee6"/>
</p:tagLst>
</file>

<file path=ppt/tags/tag2.xml><?xml version="1.0" encoding="utf-8"?>
<p:tagLst xmlns:a="http://schemas.openxmlformats.org/drawingml/2006/main" xmlns:r="http://schemas.openxmlformats.org/officeDocument/2006/relationships" xmlns:p="http://schemas.openxmlformats.org/presentationml/2006/main">
  <p:tag name="__PE_POLL_EMBED_ID" val="fe0a1768-687d-496f-840e-3ea40ca5b13a"/>
</p:tagLst>
</file>

<file path=ppt/tags/tag3.xml><?xml version="1.0" encoding="utf-8"?>
<p:tagLst xmlns:a="http://schemas.openxmlformats.org/drawingml/2006/main" xmlns:r="http://schemas.openxmlformats.org/officeDocument/2006/relationships" xmlns:p="http://schemas.openxmlformats.org/presentationml/2006/main">
  <p:tag name="__PE_POLL_EMBED_ID" val="83c7c3b4-9ef9-42fc-ac79-7817f94ab391"/>
</p:tagLst>
</file>

<file path=ppt/tags/tag4.xml><?xml version="1.0" encoding="utf-8"?>
<p:tagLst xmlns:a="http://schemas.openxmlformats.org/drawingml/2006/main" xmlns:r="http://schemas.openxmlformats.org/officeDocument/2006/relationships" xmlns:p="http://schemas.openxmlformats.org/presentationml/2006/main">
  <p:tag name="__PE_POLL_EMBED_ID" val="87e79296-719f-47bb-9ee4-97a98fac193e"/>
</p:tagLst>
</file>

<file path=ppt/tags/tag5.xml><?xml version="1.0" encoding="utf-8"?>
<p:tagLst xmlns:a="http://schemas.openxmlformats.org/drawingml/2006/main" xmlns:r="http://schemas.openxmlformats.org/officeDocument/2006/relationships" xmlns:p="http://schemas.openxmlformats.org/presentationml/2006/main">
  <p:tag name="__PE_POLL_EMBED_ID" val="89ff853c-878d-49d5-8d0d-c0fae7d42300"/>
</p:tagLst>
</file>

<file path=ppt/tags/tag6.xml><?xml version="1.0" encoding="utf-8"?>
<p:tagLst xmlns:a="http://schemas.openxmlformats.org/drawingml/2006/main" xmlns:r="http://schemas.openxmlformats.org/officeDocument/2006/relationships" xmlns:p="http://schemas.openxmlformats.org/presentationml/2006/main">
  <p:tag name="__PE_POLL_EMBED_ID" val="95039f11-0094-43c5-afc0-6c29e3ad5a68"/>
</p:tagLst>
</file>

<file path=ppt/theme/theme1.xml><?xml version="1.0" encoding="utf-8"?>
<a:theme xmlns:a="http://schemas.openxmlformats.org/drawingml/2006/main" name="stanford_theme_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ford_theme_1" id="{A142E0A3-F9A9-4D8A-A335-47DDAA9BD0A9}" vid="{02C1A18B-3E97-49A8-9281-C5CEFF4893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stanford_theme_1</Template>
  <TotalTime>8410</TotalTime>
  <Words>4781</Words>
  <Application>Microsoft Macintosh PowerPoint</Application>
  <PresentationFormat>Widescreen</PresentationFormat>
  <Paragraphs>792</Paragraphs>
  <Slides>65</Slides>
  <Notes>56</Notes>
  <HiddenSlides>12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65</vt:i4>
      </vt:variant>
    </vt:vector>
  </HeadingPairs>
  <TitlesOfParts>
    <vt:vector size="69" baseType="lpstr">
      <vt:lpstr>Aptos</vt:lpstr>
      <vt:lpstr>Arial</vt:lpstr>
      <vt:lpstr>Cambria Math</vt:lpstr>
      <vt:lpstr>stanford_theme_1</vt:lpstr>
      <vt:lpstr>Instrumental Variables and the effect of military service</vt:lpstr>
      <vt:lpstr>Announcements</vt:lpstr>
      <vt:lpstr>Agenda</vt:lpstr>
      <vt:lpstr>High-Level Intro</vt:lpstr>
      <vt:lpstr>Instrumental Variables</vt:lpstr>
      <vt:lpstr>IVs for Returns to Education</vt:lpstr>
      <vt:lpstr>PowerPoint Presentation</vt:lpstr>
      <vt:lpstr>Questions we need to answer first!</vt:lpstr>
      <vt:lpstr>Example</vt:lpstr>
      <vt:lpstr>Question</vt:lpstr>
      <vt:lpstr>Instrument: Draft lottery number</vt:lpstr>
      <vt:lpstr>Hooray!   We have a randomized experiment?</vt:lpstr>
      <vt:lpstr>A few issues</vt:lpstr>
      <vt:lpstr>Four types of people (w/r/t the Vietnam draft)</vt:lpstr>
      <vt:lpstr>Four types of people (w/r/t the Vietnam draft)</vt:lpstr>
      <vt:lpstr>Four types of people (w/r/t the Vietnam draft)</vt:lpstr>
      <vt:lpstr>Two questions</vt:lpstr>
      <vt:lpstr>Two questions</vt:lpstr>
      <vt:lpstr>LATE: Answering for just the compliers Local Average Treatment Effect</vt:lpstr>
      <vt:lpstr>Let’s compute LATE! What is the ATE of serving for the compliers?</vt:lpstr>
      <vt:lpstr>Let’s compute LATE! What is the ATE of serving for the compliers?</vt:lpstr>
      <vt:lpstr>Let’s compute LATE! What is the ATE of serving for the compliers?</vt:lpstr>
      <vt:lpstr>Let’s compute LATE! What is the ATE of serving for the compliers?</vt:lpstr>
      <vt:lpstr>Computing LATE The ATE of serving on wages, for the compliers</vt:lpstr>
      <vt:lpstr>PowerPoint Presentation</vt:lpstr>
      <vt:lpstr>PowerPoint Presentation</vt:lpstr>
      <vt:lpstr>PowerPoint Presentation</vt:lpstr>
      <vt:lpstr>Explanation 1</vt:lpstr>
      <vt:lpstr>Explanation 1</vt:lpstr>
      <vt:lpstr>Explanation 2</vt:lpstr>
      <vt:lpstr>PowerPoint Presentation</vt:lpstr>
      <vt:lpstr>PowerPoint Presentation</vt:lpstr>
      <vt:lpstr>PowerPoint Presentation</vt:lpstr>
      <vt:lpstr>LATE in this example ATE among the compliers</vt:lpstr>
      <vt:lpstr>Back to Instrumental Variables</vt:lpstr>
      <vt:lpstr>Instrumental Variables</vt:lpstr>
      <vt:lpstr>What do we need in an IV  if we want to interpret the result as a LATE?</vt:lpstr>
      <vt:lpstr>If those things* hold…</vt:lpstr>
      <vt:lpstr>What does independence/exclusion mean? Formally?</vt:lpstr>
      <vt:lpstr>Difference between  independence and exclusion</vt:lpstr>
      <vt:lpstr>Difference between  independence and exclusion</vt:lpstr>
      <vt:lpstr>Proof Sketch Where do those 4 things come into it?</vt:lpstr>
      <vt:lpstr>Proof Sketch Where do those 4 things come into it?</vt:lpstr>
      <vt:lpstr>Proof Sketch Where do those 4 things come into it?</vt:lpstr>
      <vt:lpstr>Jargon</vt:lpstr>
      <vt:lpstr>Jargon</vt:lpstr>
      <vt:lpstr>Let’s look at each of these assumptions</vt:lpstr>
      <vt:lpstr>For each of these examples,    assess each of the four requirements!</vt:lpstr>
      <vt:lpstr>Does “zodiac sign” satisfy the relevance condition? aka, does zodiac sign affect education?</vt:lpstr>
      <vt:lpstr>For each of these examples,    assess each of the four requirements!</vt:lpstr>
      <vt:lpstr>Summary: IVs and LATE</vt:lpstr>
      <vt:lpstr>Let’s take a quick break</vt:lpstr>
      <vt:lpstr>Where do we stand?</vt:lpstr>
      <vt:lpstr>We can actually answer these questions!</vt:lpstr>
      <vt:lpstr>Q1: How many compliers are there? Reprise of our toy example with 8 people; no defiers</vt:lpstr>
      <vt:lpstr>Q1: How many compliers are there? Reprise of our toy example with 8 people; no defiers</vt:lpstr>
      <vt:lpstr>Q2: Is -$4 big or small?</vt:lpstr>
      <vt:lpstr>Q3: Are compliers similar to the general population? For example, what about race?</vt:lpstr>
      <vt:lpstr>Q3: Are compliers similar to the general population? For example, what about race?</vt:lpstr>
      <vt:lpstr>Where do we stand?</vt:lpstr>
      <vt:lpstr>When is computing LATE useful?</vt:lpstr>
      <vt:lpstr>Recap and Looking ahead</vt:lpstr>
      <vt:lpstr>Recap</vt:lpstr>
      <vt:lpstr>Next time…</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 Katherine Wootters</dc:creator>
  <cp:lastModifiedBy>Mary Katherine Wootters</cp:lastModifiedBy>
  <cp:revision>40</cp:revision>
  <cp:lastPrinted>2024-10-29T18:20:02Z</cp:lastPrinted>
  <dcterms:created xsi:type="dcterms:W3CDTF">2024-10-24T00:37:20Z</dcterms:created>
  <dcterms:modified xsi:type="dcterms:W3CDTF">2025-10-27T22:09:40Z</dcterms:modified>
</cp:coreProperties>
</file>