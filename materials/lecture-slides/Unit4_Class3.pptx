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58" r:id="rId4"/>
    <p:sldId id="295" r:id="rId5"/>
    <p:sldId id="260" r:id="rId6"/>
    <p:sldId id="263" r:id="rId7"/>
    <p:sldId id="264" r:id="rId8"/>
    <p:sldId id="413" r:id="rId9"/>
    <p:sldId id="266" r:id="rId10"/>
    <p:sldId id="262" r:id="rId11"/>
    <p:sldId id="286" r:id="rId12"/>
    <p:sldId id="420" r:id="rId13"/>
    <p:sldId id="267" r:id="rId14"/>
    <p:sldId id="290" r:id="rId15"/>
    <p:sldId id="268" r:id="rId16"/>
    <p:sldId id="269" r:id="rId17"/>
    <p:sldId id="415" r:id="rId18"/>
    <p:sldId id="270" r:id="rId19"/>
    <p:sldId id="273" r:id="rId20"/>
    <p:sldId id="416" r:id="rId21"/>
    <p:sldId id="275" r:id="rId22"/>
    <p:sldId id="276" r:id="rId23"/>
    <p:sldId id="277" r:id="rId24"/>
    <p:sldId id="278" r:id="rId25"/>
    <p:sldId id="279" r:id="rId26"/>
    <p:sldId id="280" r:id="rId27"/>
    <p:sldId id="281" r:id="rId28"/>
    <p:sldId id="282" r:id="rId29"/>
    <p:sldId id="417" r:id="rId30"/>
    <p:sldId id="283" r:id="rId31"/>
    <p:sldId id="418" r:id="rId32"/>
    <p:sldId id="284" r:id="rId33"/>
    <p:sldId id="285" r:id="rId34"/>
    <p:sldId id="421" r:id="rId35"/>
    <p:sldId id="292" r:id="rId36"/>
    <p:sldId id="293" r:id="rId37"/>
    <p:sldId id="296" r:id="rId38"/>
    <p:sldId id="297" r:id="rId39"/>
    <p:sldId id="299" r:id="rId40"/>
    <p:sldId id="419" r:id="rId41"/>
    <p:sldId id="300" r:id="rId42"/>
    <p:sldId id="301" r:id="rId43"/>
    <p:sldId id="302" r:id="rId44"/>
    <p:sldId id="303" r:id="rId45"/>
    <p:sldId id="304" r:id="rId46"/>
    <p:sldId id="305" r:id="rId47"/>
    <p:sldId id="306" r:id="rId48"/>
    <p:sldId id="307" r:id="rId49"/>
    <p:sldId id="422" r:id="rId50"/>
    <p:sldId id="308" r:id="rId51"/>
    <p:sldId id="310" r:id="rId52"/>
    <p:sldId id="309" r:id="rId53"/>
    <p:sldId id="311" r:id="rId54"/>
    <p:sldId id="313" r:id="rId55"/>
    <p:sldId id="406" r:id="rId56"/>
    <p:sldId id="423" r:id="rId57"/>
    <p:sldId id="312" r:id="rId58"/>
    <p:sldId id="314" r:id="rId59"/>
    <p:sldId id="315" r:id="rId60"/>
    <p:sldId id="412" r:id="rId61"/>
    <p:sldId id="407" r:id="rId62"/>
    <p:sldId id="317" r:id="rId63"/>
    <p:sldId id="316" r:id="rId64"/>
    <p:sldId id="403" r:id="rId65"/>
    <p:sldId id="402" r:id="rId66"/>
    <p:sldId id="405" r:id="rId67"/>
    <p:sldId id="401"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BFF"/>
    <a:srgbClr val="FFF9F2"/>
    <a:srgbClr val="8C15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93"/>
    <p:restoredTop sz="94626"/>
  </p:normalViewPr>
  <p:slideViewPr>
    <p:cSldViewPr snapToGrid="0">
      <p:cViewPr varScale="1">
        <p:scale>
          <a:sx n="121" d="100"/>
          <a:sy n="121" d="100"/>
        </p:scale>
        <p:origin x="216" y="168"/>
      </p:cViewPr>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83572C-F762-204D-81D2-8DEEA73CABBC}" type="datetimeFigureOut">
              <a:rPr lang="en-US" smtClean="0"/>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E9D064-5408-B24A-8265-629B6A9ACD19}" type="slidenum">
              <a:rPr lang="en-US" smtClean="0"/>
              <a:t>‹#›</a:t>
            </a:fld>
            <a:endParaRPr lang="en-US"/>
          </a:p>
        </p:txBody>
      </p:sp>
    </p:spTree>
    <p:extLst>
      <p:ext uri="{BB962C8B-B14F-4D97-AF65-F5344CB8AC3E}">
        <p14:creationId xmlns:p14="http://schemas.microsoft.com/office/powerpoint/2010/main" val="965322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a:t>
            </a:fld>
            <a:endParaRPr lang="en-US"/>
          </a:p>
        </p:txBody>
      </p:sp>
    </p:spTree>
    <p:extLst>
      <p:ext uri="{BB962C8B-B14F-4D97-AF65-F5344CB8AC3E}">
        <p14:creationId xmlns:p14="http://schemas.microsoft.com/office/powerpoint/2010/main" val="1268193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a:t>
            </a:fld>
            <a:endParaRPr lang="en-US"/>
          </a:p>
        </p:txBody>
      </p:sp>
    </p:spTree>
    <p:extLst>
      <p:ext uri="{BB962C8B-B14F-4D97-AF65-F5344CB8AC3E}">
        <p14:creationId xmlns:p14="http://schemas.microsoft.com/office/powerpoint/2010/main" val="4092749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a:t>
            </a:fld>
            <a:endParaRPr lang="en-US"/>
          </a:p>
        </p:txBody>
      </p:sp>
    </p:spTree>
    <p:extLst>
      <p:ext uri="{BB962C8B-B14F-4D97-AF65-F5344CB8AC3E}">
        <p14:creationId xmlns:p14="http://schemas.microsoft.com/office/powerpoint/2010/main" val="3342812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a:t>
            </a:fld>
            <a:endParaRPr lang="en-US"/>
          </a:p>
        </p:txBody>
      </p:sp>
    </p:spTree>
    <p:extLst>
      <p:ext uri="{BB962C8B-B14F-4D97-AF65-F5344CB8AC3E}">
        <p14:creationId xmlns:p14="http://schemas.microsoft.com/office/powerpoint/2010/main" val="2653266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a:t>
            </a:fld>
            <a:endParaRPr lang="en-US"/>
          </a:p>
        </p:txBody>
      </p:sp>
    </p:spTree>
    <p:extLst>
      <p:ext uri="{BB962C8B-B14F-4D97-AF65-F5344CB8AC3E}">
        <p14:creationId xmlns:p14="http://schemas.microsoft.com/office/powerpoint/2010/main" val="3172950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E9D064-5408-B24A-8265-629B6A9ACD19}" type="slidenum">
              <a:rPr lang="en-US" smtClean="0"/>
              <a:t>6</a:t>
            </a:fld>
            <a:endParaRPr lang="en-US"/>
          </a:p>
        </p:txBody>
      </p:sp>
    </p:spTree>
    <p:extLst>
      <p:ext uri="{BB962C8B-B14F-4D97-AF65-F5344CB8AC3E}">
        <p14:creationId xmlns:p14="http://schemas.microsoft.com/office/powerpoint/2010/main" val="4030426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E9D064-5408-B24A-8265-629B6A9ACD19}" type="slidenum">
              <a:rPr lang="en-US" smtClean="0"/>
              <a:t>7</a:t>
            </a:fld>
            <a:endParaRPr lang="en-US"/>
          </a:p>
        </p:txBody>
      </p:sp>
    </p:spTree>
    <p:extLst>
      <p:ext uri="{BB962C8B-B14F-4D97-AF65-F5344CB8AC3E}">
        <p14:creationId xmlns:p14="http://schemas.microsoft.com/office/powerpoint/2010/main" val="2509171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729C0-6BE4-ECA0-02A1-1EE218A0E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EBF86-C4B5-42D5-29B0-27866FD59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395FC-C181-6EC3-4A57-E95F2FD07E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DDE8CE-BBB5-5414-B576-E71BA758766B}"/>
              </a:ext>
            </a:extLst>
          </p:cNvPr>
          <p:cNvSpPr>
            <a:spLocks noGrp="1"/>
          </p:cNvSpPr>
          <p:nvPr>
            <p:ph type="sldNum" sz="quarter" idx="5"/>
          </p:nvPr>
        </p:nvSpPr>
        <p:spPr/>
        <p:txBody>
          <a:bodyPr/>
          <a:lstStyle/>
          <a:p>
            <a:fld id="{E4E9D064-5408-B24A-8265-629B6A9ACD19}" type="slidenum">
              <a:rPr lang="en-US" smtClean="0"/>
              <a:t>8</a:t>
            </a:fld>
            <a:endParaRPr lang="en-US"/>
          </a:p>
        </p:txBody>
      </p:sp>
    </p:spTree>
    <p:extLst>
      <p:ext uri="{BB962C8B-B14F-4D97-AF65-F5344CB8AC3E}">
        <p14:creationId xmlns:p14="http://schemas.microsoft.com/office/powerpoint/2010/main" val="294887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E9D064-5408-B24A-8265-629B6A9ACD19}" type="slidenum">
              <a:rPr lang="en-US" smtClean="0"/>
              <a:t>9</a:t>
            </a:fld>
            <a:endParaRPr lang="en-US"/>
          </a:p>
        </p:txBody>
      </p:sp>
    </p:spTree>
    <p:extLst>
      <p:ext uri="{BB962C8B-B14F-4D97-AF65-F5344CB8AC3E}">
        <p14:creationId xmlns:p14="http://schemas.microsoft.com/office/powerpoint/2010/main" val="56071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10</a:t>
            </a:fld>
            <a:endParaRPr lang="en-US"/>
          </a:p>
        </p:txBody>
      </p:sp>
    </p:spTree>
    <p:extLst>
      <p:ext uri="{BB962C8B-B14F-4D97-AF65-F5344CB8AC3E}">
        <p14:creationId xmlns:p14="http://schemas.microsoft.com/office/powerpoint/2010/main" val="584835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11</a:t>
            </a:fld>
            <a:endParaRPr lang="en-US"/>
          </a:p>
        </p:txBody>
      </p:sp>
    </p:spTree>
    <p:extLst>
      <p:ext uri="{BB962C8B-B14F-4D97-AF65-F5344CB8AC3E}">
        <p14:creationId xmlns:p14="http://schemas.microsoft.com/office/powerpoint/2010/main" val="824701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D753D-DC4E-9592-A675-9B921CB1C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A1A43-03B4-8A16-CA55-2AE9DD408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9B601-AA5B-E5DC-F7EB-2A112F751D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8D32E5-1217-C761-557D-5CF5499C2BD6}"/>
              </a:ext>
            </a:extLst>
          </p:cNvPr>
          <p:cNvSpPr>
            <a:spLocks noGrp="1"/>
          </p:cNvSpPr>
          <p:nvPr>
            <p:ph type="sldNum" sz="quarter" idx="5"/>
          </p:nvPr>
        </p:nvSpPr>
        <p:spPr/>
        <p:txBody>
          <a:bodyPr/>
          <a:lstStyle/>
          <a:p>
            <a:fld id="{E4E9D064-5408-B24A-8265-629B6A9ACD19}" type="slidenum">
              <a:rPr lang="en-US" smtClean="0"/>
              <a:t>12</a:t>
            </a:fld>
            <a:endParaRPr lang="en-US"/>
          </a:p>
        </p:txBody>
      </p:sp>
    </p:spTree>
    <p:extLst>
      <p:ext uri="{BB962C8B-B14F-4D97-AF65-F5344CB8AC3E}">
        <p14:creationId xmlns:p14="http://schemas.microsoft.com/office/powerpoint/2010/main" val="318589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13</a:t>
            </a:fld>
            <a:endParaRPr lang="en-US"/>
          </a:p>
        </p:txBody>
      </p:sp>
    </p:spTree>
    <p:extLst>
      <p:ext uri="{BB962C8B-B14F-4D97-AF65-F5344CB8AC3E}">
        <p14:creationId xmlns:p14="http://schemas.microsoft.com/office/powerpoint/2010/main" val="1619491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14</a:t>
            </a:fld>
            <a:endParaRPr lang="en-US"/>
          </a:p>
        </p:txBody>
      </p:sp>
    </p:spTree>
    <p:extLst>
      <p:ext uri="{BB962C8B-B14F-4D97-AF65-F5344CB8AC3E}">
        <p14:creationId xmlns:p14="http://schemas.microsoft.com/office/powerpoint/2010/main" val="1642025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15</a:t>
            </a:fld>
            <a:endParaRPr lang="en-US"/>
          </a:p>
        </p:txBody>
      </p:sp>
    </p:spTree>
    <p:extLst>
      <p:ext uri="{BB962C8B-B14F-4D97-AF65-F5344CB8AC3E}">
        <p14:creationId xmlns:p14="http://schemas.microsoft.com/office/powerpoint/2010/main" val="3814503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16</a:t>
            </a:fld>
            <a:endParaRPr lang="en-US"/>
          </a:p>
        </p:txBody>
      </p:sp>
    </p:spTree>
    <p:extLst>
      <p:ext uri="{BB962C8B-B14F-4D97-AF65-F5344CB8AC3E}">
        <p14:creationId xmlns:p14="http://schemas.microsoft.com/office/powerpoint/2010/main" val="294435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B95EB-07E4-3FAF-AD09-49CC743E5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36795-D819-2C3D-D08F-1E10CD57D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7CC6-684C-127B-D958-1E6D249B11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113C85-3E6E-1116-8F72-AE23BD600039}"/>
              </a:ext>
            </a:extLst>
          </p:cNvPr>
          <p:cNvSpPr>
            <a:spLocks noGrp="1"/>
          </p:cNvSpPr>
          <p:nvPr>
            <p:ph type="sldNum" sz="quarter" idx="5"/>
          </p:nvPr>
        </p:nvSpPr>
        <p:spPr/>
        <p:txBody>
          <a:bodyPr/>
          <a:lstStyle/>
          <a:p>
            <a:fld id="{E4E9D064-5408-B24A-8265-629B6A9ACD19}" type="slidenum">
              <a:rPr lang="en-US" smtClean="0"/>
              <a:t>17</a:t>
            </a:fld>
            <a:endParaRPr lang="en-US"/>
          </a:p>
        </p:txBody>
      </p:sp>
    </p:spTree>
    <p:extLst>
      <p:ext uri="{BB962C8B-B14F-4D97-AF65-F5344CB8AC3E}">
        <p14:creationId xmlns:p14="http://schemas.microsoft.com/office/powerpoint/2010/main" val="3024245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18</a:t>
            </a:fld>
            <a:endParaRPr lang="en-US"/>
          </a:p>
        </p:txBody>
      </p:sp>
    </p:spTree>
    <p:extLst>
      <p:ext uri="{BB962C8B-B14F-4D97-AF65-F5344CB8AC3E}">
        <p14:creationId xmlns:p14="http://schemas.microsoft.com/office/powerpoint/2010/main" val="200484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19</a:t>
            </a:fld>
            <a:endParaRPr lang="en-US"/>
          </a:p>
        </p:txBody>
      </p:sp>
    </p:spTree>
    <p:extLst>
      <p:ext uri="{BB962C8B-B14F-4D97-AF65-F5344CB8AC3E}">
        <p14:creationId xmlns:p14="http://schemas.microsoft.com/office/powerpoint/2010/main" val="1622383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AB340-ED01-DA14-E264-303AE74E0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C91B4-0A3D-6BDB-4DB4-381ABB17A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B5585-3032-5E49-4B7A-9E74390B51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02C65-4140-19FF-53DC-DFBA465C7E1E}"/>
              </a:ext>
            </a:extLst>
          </p:cNvPr>
          <p:cNvSpPr>
            <a:spLocks noGrp="1"/>
          </p:cNvSpPr>
          <p:nvPr>
            <p:ph type="sldNum" sz="quarter" idx="5"/>
          </p:nvPr>
        </p:nvSpPr>
        <p:spPr/>
        <p:txBody>
          <a:bodyPr/>
          <a:lstStyle/>
          <a:p>
            <a:fld id="{E4E9D064-5408-B24A-8265-629B6A9ACD19}" type="slidenum">
              <a:rPr lang="en-US" smtClean="0"/>
              <a:t>20</a:t>
            </a:fld>
            <a:endParaRPr lang="en-US"/>
          </a:p>
        </p:txBody>
      </p:sp>
    </p:spTree>
    <p:extLst>
      <p:ext uri="{BB962C8B-B14F-4D97-AF65-F5344CB8AC3E}">
        <p14:creationId xmlns:p14="http://schemas.microsoft.com/office/powerpoint/2010/main" val="44002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21</a:t>
            </a:fld>
            <a:endParaRPr lang="en-US"/>
          </a:p>
        </p:txBody>
      </p:sp>
    </p:spTree>
    <p:extLst>
      <p:ext uri="{BB962C8B-B14F-4D97-AF65-F5344CB8AC3E}">
        <p14:creationId xmlns:p14="http://schemas.microsoft.com/office/powerpoint/2010/main" val="12645572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22</a:t>
            </a:fld>
            <a:endParaRPr lang="en-US"/>
          </a:p>
        </p:txBody>
      </p:sp>
    </p:spTree>
    <p:extLst>
      <p:ext uri="{BB962C8B-B14F-4D97-AF65-F5344CB8AC3E}">
        <p14:creationId xmlns:p14="http://schemas.microsoft.com/office/powerpoint/2010/main" val="1769506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23</a:t>
            </a:fld>
            <a:endParaRPr lang="en-US"/>
          </a:p>
        </p:txBody>
      </p:sp>
    </p:spTree>
    <p:extLst>
      <p:ext uri="{BB962C8B-B14F-4D97-AF65-F5344CB8AC3E}">
        <p14:creationId xmlns:p14="http://schemas.microsoft.com/office/powerpoint/2010/main" val="843728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24</a:t>
            </a:fld>
            <a:endParaRPr lang="en-US"/>
          </a:p>
        </p:txBody>
      </p:sp>
    </p:spTree>
    <p:extLst>
      <p:ext uri="{BB962C8B-B14F-4D97-AF65-F5344CB8AC3E}">
        <p14:creationId xmlns:p14="http://schemas.microsoft.com/office/powerpoint/2010/main" val="2389721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25</a:t>
            </a:fld>
            <a:endParaRPr lang="en-US"/>
          </a:p>
        </p:txBody>
      </p:sp>
    </p:spTree>
    <p:extLst>
      <p:ext uri="{BB962C8B-B14F-4D97-AF65-F5344CB8AC3E}">
        <p14:creationId xmlns:p14="http://schemas.microsoft.com/office/powerpoint/2010/main" val="1952640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26</a:t>
            </a:fld>
            <a:endParaRPr lang="en-US"/>
          </a:p>
        </p:txBody>
      </p:sp>
    </p:spTree>
    <p:extLst>
      <p:ext uri="{BB962C8B-B14F-4D97-AF65-F5344CB8AC3E}">
        <p14:creationId xmlns:p14="http://schemas.microsoft.com/office/powerpoint/2010/main" val="2344667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27</a:t>
            </a:fld>
            <a:endParaRPr lang="en-US"/>
          </a:p>
        </p:txBody>
      </p:sp>
    </p:spTree>
    <p:extLst>
      <p:ext uri="{BB962C8B-B14F-4D97-AF65-F5344CB8AC3E}">
        <p14:creationId xmlns:p14="http://schemas.microsoft.com/office/powerpoint/2010/main" val="3346181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28</a:t>
            </a:fld>
            <a:endParaRPr lang="en-US"/>
          </a:p>
        </p:txBody>
      </p:sp>
    </p:spTree>
    <p:extLst>
      <p:ext uri="{BB962C8B-B14F-4D97-AF65-F5344CB8AC3E}">
        <p14:creationId xmlns:p14="http://schemas.microsoft.com/office/powerpoint/2010/main" val="2371004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3923-96D5-BA23-4915-CA3AD45BC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9D697-3365-75AA-7447-E604C0C45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07189-9A7C-F9CF-A843-1B7EB7EB2D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E5F35B-D99D-4B77-71D5-707026578B43}"/>
              </a:ext>
            </a:extLst>
          </p:cNvPr>
          <p:cNvSpPr>
            <a:spLocks noGrp="1"/>
          </p:cNvSpPr>
          <p:nvPr>
            <p:ph type="sldNum" sz="quarter" idx="5"/>
          </p:nvPr>
        </p:nvSpPr>
        <p:spPr/>
        <p:txBody>
          <a:bodyPr/>
          <a:lstStyle/>
          <a:p>
            <a:fld id="{E4E9D064-5408-B24A-8265-629B6A9ACD19}" type="slidenum">
              <a:rPr lang="en-US" smtClean="0"/>
              <a:t>29</a:t>
            </a:fld>
            <a:endParaRPr lang="en-US"/>
          </a:p>
        </p:txBody>
      </p:sp>
    </p:spTree>
    <p:extLst>
      <p:ext uri="{BB962C8B-B14F-4D97-AF65-F5344CB8AC3E}">
        <p14:creationId xmlns:p14="http://schemas.microsoft.com/office/powerpoint/2010/main" val="884758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30</a:t>
            </a:fld>
            <a:endParaRPr lang="en-US"/>
          </a:p>
        </p:txBody>
      </p:sp>
    </p:spTree>
    <p:extLst>
      <p:ext uri="{BB962C8B-B14F-4D97-AF65-F5344CB8AC3E}">
        <p14:creationId xmlns:p14="http://schemas.microsoft.com/office/powerpoint/2010/main" val="3237318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40073-43F9-07CC-28F0-C54847B31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00108-7D58-1904-1309-4844A5FC8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074FD-546B-9481-D9B9-2E2FDB00E7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91469C-6A35-2F7A-07D4-160BCD748DAA}"/>
              </a:ext>
            </a:extLst>
          </p:cNvPr>
          <p:cNvSpPr>
            <a:spLocks noGrp="1"/>
          </p:cNvSpPr>
          <p:nvPr>
            <p:ph type="sldNum" sz="quarter" idx="5"/>
          </p:nvPr>
        </p:nvSpPr>
        <p:spPr/>
        <p:txBody>
          <a:bodyPr/>
          <a:lstStyle/>
          <a:p>
            <a:fld id="{E4E9D064-5408-B24A-8265-629B6A9ACD19}" type="slidenum">
              <a:rPr lang="en-US" smtClean="0"/>
              <a:t>31</a:t>
            </a:fld>
            <a:endParaRPr lang="en-US"/>
          </a:p>
        </p:txBody>
      </p:sp>
    </p:spTree>
    <p:extLst>
      <p:ext uri="{BB962C8B-B14F-4D97-AF65-F5344CB8AC3E}">
        <p14:creationId xmlns:p14="http://schemas.microsoft.com/office/powerpoint/2010/main" val="40167511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32</a:t>
            </a:fld>
            <a:endParaRPr lang="en-US"/>
          </a:p>
        </p:txBody>
      </p:sp>
    </p:spTree>
    <p:extLst>
      <p:ext uri="{BB962C8B-B14F-4D97-AF65-F5344CB8AC3E}">
        <p14:creationId xmlns:p14="http://schemas.microsoft.com/office/powerpoint/2010/main" val="33289614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33</a:t>
            </a:fld>
            <a:endParaRPr lang="en-US"/>
          </a:p>
        </p:txBody>
      </p:sp>
    </p:spTree>
    <p:extLst>
      <p:ext uri="{BB962C8B-B14F-4D97-AF65-F5344CB8AC3E}">
        <p14:creationId xmlns:p14="http://schemas.microsoft.com/office/powerpoint/2010/main" val="688960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FD508-FF4B-2177-BB64-454D20B3A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22BD7-5F92-CCC3-D7AC-25F62E224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CF0D2-AB3C-17E4-3F8E-1D5B98F007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E3C8DE-2D5E-9279-8955-C699C81147F6}"/>
              </a:ext>
            </a:extLst>
          </p:cNvPr>
          <p:cNvSpPr>
            <a:spLocks noGrp="1"/>
          </p:cNvSpPr>
          <p:nvPr>
            <p:ph type="sldNum" sz="quarter" idx="5"/>
          </p:nvPr>
        </p:nvSpPr>
        <p:spPr/>
        <p:txBody>
          <a:bodyPr/>
          <a:lstStyle/>
          <a:p>
            <a:fld id="{E4E9D064-5408-B24A-8265-629B6A9ACD19}" type="slidenum">
              <a:rPr lang="en-US" smtClean="0"/>
              <a:t>34</a:t>
            </a:fld>
            <a:endParaRPr lang="en-US"/>
          </a:p>
        </p:txBody>
      </p:sp>
    </p:spTree>
    <p:extLst>
      <p:ext uri="{BB962C8B-B14F-4D97-AF65-F5344CB8AC3E}">
        <p14:creationId xmlns:p14="http://schemas.microsoft.com/office/powerpoint/2010/main" val="16487602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35</a:t>
            </a:fld>
            <a:endParaRPr lang="en-US"/>
          </a:p>
        </p:txBody>
      </p:sp>
    </p:spTree>
    <p:extLst>
      <p:ext uri="{BB962C8B-B14F-4D97-AF65-F5344CB8AC3E}">
        <p14:creationId xmlns:p14="http://schemas.microsoft.com/office/powerpoint/2010/main" val="16040194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36</a:t>
            </a:fld>
            <a:endParaRPr lang="en-US"/>
          </a:p>
        </p:txBody>
      </p:sp>
    </p:spTree>
    <p:extLst>
      <p:ext uri="{BB962C8B-B14F-4D97-AF65-F5344CB8AC3E}">
        <p14:creationId xmlns:p14="http://schemas.microsoft.com/office/powerpoint/2010/main" val="10941804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37</a:t>
            </a:fld>
            <a:endParaRPr lang="en-US"/>
          </a:p>
        </p:txBody>
      </p:sp>
    </p:spTree>
    <p:extLst>
      <p:ext uri="{BB962C8B-B14F-4D97-AF65-F5344CB8AC3E}">
        <p14:creationId xmlns:p14="http://schemas.microsoft.com/office/powerpoint/2010/main" val="42883819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38</a:t>
            </a:fld>
            <a:endParaRPr lang="en-US"/>
          </a:p>
        </p:txBody>
      </p:sp>
    </p:spTree>
    <p:extLst>
      <p:ext uri="{BB962C8B-B14F-4D97-AF65-F5344CB8AC3E}">
        <p14:creationId xmlns:p14="http://schemas.microsoft.com/office/powerpoint/2010/main" val="35332512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39</a:t>
            </a:fld>
            <a:endParaRPr lang="en-US"/>
          </a:p>
        </p:txBody>
      </p:sp>
    </p:spTree>
    <p:extLst>
      <p:ext uri="{BB962C8B-B14F-4D97-AF65-F5344CB8AC3E}">
        <p14:creationId xmlns:p14="http://schemas.microsoft.com/office/powerpoint/2010/main" val="4993694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3B765-BE47-4F0A-5B7C-D72D97604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E6740-84EF-3ADE-04E0-E05700D0B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CE6A9-92AA-D148-77F9-E578A5F138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2A93E9-15B3-1EDB-9862-1A2D0B19C70B}"/>
              </a:ext>
            </a:extLst>
          </p:cNvPr>
          <p:cNvSpPr>
            <a:spLocks noGrp="1"/>
          </p:cNvSpPr>
          <p:nvPr>
            <p:ph type="sldNum" sz="quarter" idx="5"/>
          </p:nvPr>
        </p:nvSpPr>
        <p:spPr/>
        <p:txBody>
          <a:bodyPr/>
          <a:lstStyle/>
          <a:p>
            <a:fld id="{E4E9D064-5408-B24A-8265-629B6A9ACD19}" type="slidenum">
              <a:rPr lang="en-US" smtClean="0"/>
              <a:t>40</a:t>
            </a:fld>
            <a:endParaRPr lang="en-US"/>
          </a:p>
        </p:txBody>
      </p:sp>
    </p:spTree>
    <p:extLst>
      <p:ext uri="{BB962C8B-B14F-4D97-AF65-F5344CB8AC3E}">
        <p14:creationId xmlns:p14="http://schemas.microsoft.com/office/powerpoint/2010/main" val="4293868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41</a:t>
            </a:fld>
            <a:endParaRPr lang="en-US"/>
          </a:p>
        </p:txBody>
      </p:sp>
    </p:spTree>
    <p:extLst>
      <p:ext uri="{BB962C8B-B14F-4D97-AF65-F5344CB8AC3E}">
        <p14:creationId xmlns:p14="http://schemas.microsoft.com/office/powerpoint/2010/main" val="3778577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42</a:t>
            </a:fld>
            <a:endParaRPr lang="en-US"/>
          </a:p>
        </p:txBody>
      </p:sp>
    </p:spTree>
    <p:extLst>
      <p:ext uri="{BB962C8B-B14F-4D97-AF65-F5344CB8AC3E}">
        <p14:creationId xmlns:p14="http://schemas.microsoft.com/office/powerpoint/2010/main" val="8073502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43</a:t>
            </a:fld>
            <a:endParaRPr lang="en-US"/>
          </a:p>
        </p:txBody>
      </p:sp>
    </p:spTree>
    <p:extLst>
      <p:ext uri="{BB962C8B-B14F-4D97-AF65-F5344CB8AC3E}">
        <p14:creationId xmlns:p14="http://schemas.microsoft.com/office/powerpoint/2010/main" val="25279231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44</a:t>
            </a:fld>
            <a:endParaRPr lang="en-US"/>
          </a:p>
        </p:txBody>
      </p:sp>
    </p:spTree>
    <p:extLst>
      <p:ext uri="{BB962C8B-B14F-4D97-AF65-F5344CB8AC3E}">
        <p14:creationId xmlns:p14="http://schemas.microsoft.com/office/powerpoint/2010/main" val="16124253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45</a:t>
            </a:fld>
            <a:endParaRPr lang="en-US"/>
          </a:p>
        </p:txBody>
      </p:sp>
    </p:spTree>
    <p:extLst>
      <p:ext uri="{BB962C8B-B14F-4D97-AF65-F5344CB8AC3E}">
        <p14:creationId xmlns:p14="http://schemas.microsoft.com/office/powerpoint/2010/main" val="30273395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46</a:t>
            </a:fld>
            <a:endParaRPr lang="en-US"/>
          </a:p>
        </p:txBody>
      </p:sp>
    </p:spTree>
    <p:extLst>
      <p:ext uri="{BB962C8B-B14F-4D97-AF65-F5344CB8AC3E}">
        <p14:creationId xmlns:p14="http://schemas.microsoft.com/office/powerpoint/2010/main" val="25460430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47</a:t>
            </a:fld>
            <a:endParaRPr lang="en-US"/>
          </a:p>
        </p:txBody>
      </p:sp>
    </p:spTree>
    <p:extLst>
      <p:ext uri="{BB962C8B-B14F-4D97-AF65-F5344CB8AC3E}">
        <p14:creationId xmlns:p14="http://schemas.microsoft.com/office/powerpoint/2010/main" val="15660857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48</a:t>
            </a:fld>
            <a:endParaRPr lang="en-US"/>
          </a:p>
        </p:txBody>
      </p:sp>
    </p:spTree>
    <p:extLst>
      <p:ext uri="{BB962C8B-B14F-4D97-AF65-F5344CB8AC3E}">
        <p14:creationId xmlns:p14="http://schemas.microsoft.com/office/powerpoint/2010/main" val="17786207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59DA2-907C-DE2F-3593-964ABDEAE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8A1C2-150A-190B-C54C-A3C9065B6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FCB51-1F82-AD37-84A1-64F8C64AC3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1C6C6A-99B8-C5BF-DDE4-B12AACD6023B}"/>
              </a:ext>
            </a:extLst>
          </p:cNvPr>
          <p:cNvSpPr>
            <a:spLocks noGrp="1"/>
          </p:cNvSpPr>
          <p:nvPr>
            <p:ph type="sldNum" sz="quarter" idx="5"/>
          </p:nvPr>
        </p:nvSpPr>
        <p:spPr/>
        <p:txBody>
          <a:bodyPr/>
          <a:lstStyle/>
          <a:p>
            <a:fld id="{E4E9D064-5408-B24A-8265-629B6A9ACD19}" type="slidenum">
              <a:rPr lang="en-US" smtClean="0"/>
              <a:t>49</a:t>
            </a:fld>
            <a:endParaRPr lang="en-US"/>
          </a:p>
        </p:txBody>
      </p:sp>
    </p:spTree>
    <p:extLst>
      <p:ext uri="{BB962C8B-B14F-4D97-AF65-F5344CB8AC3E}">
        <p14:creationId xmlns:p14="http://schemas.microsoft.com/office/powerpoint/2010/main" val="25657779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50</a:t>
            </a:fld>
            <a:endParaRPr lang="en-US"/>
          </a:p>
        </p:txBody>
      </p:sp>
    </p:spTree>
    <p:extLst>
      <p:ext uri="{BB962C8B-B14F-4D97-AF65-F5344CB8AC3E}">
        <p14:creationId xmlns:p14="http://schemas.microsoft.com/office/powerpoint/2010/main" val="9401552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51</a:t>
            </a:fld>
            <a:endParaRPr lang="en-US"/>
          </a:p>
        </p:txBody>
      </p:sp>
    </p:spTree>
    <p:extLst>
      <p:ext uri="{BB962C8B-B14F-4D97-AF65-F5344CB8AC3E}">
        <p14:creationId xmlns:p14="http://schemas.microsoft.com/office/powerpoint/2010/main" val="37387990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52</a:t>
            </a:fld>
            <a:endParaRPr lang="en-US"/>
          </a:p>
        </p:txBody>
      </p:sp>
    </p:spTree>
    <p:extLst>
      <p:ext uri="{BB962C8B-B14F-4D97-AF65-F5344CB8AC3E}">
        <p14:creationId xmlns:p14="http://schemas.microsoft.com/office/powerpoint/2010/main" val="10678376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53</a:t>
            </a:fld>
            <a:endParaRPr lang="en-US"/>
          </a:p>
        </p:txBody>
      </p:sp>
    </p:spTree>
    <p:extLst>
      <p:ext uri="{BB962C8B-B14F-4D97-AF65-F5344CB8AC3E}">
        <p14:creationId xmlns:p14="http://schemas.microsoft.com/office/powerpoint/2010/main" val="33493373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54</a:t>
            </a:fld>
            <a:endParaRPr lang="en-US"/>
          </a:p>
        </p:txBody>
      </p:sp>
    </p:spTree>
    <p:extLst>
      <p:ext uri="{BB962C8B-B14F-4D97-AF65-F5344CB8AC3E}">
        <p14:creationId xmlns:p14="http://schemas.microsoft.com/office/powerpoint/2010/main" val="5847639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55</a:t>
            </a:fld>
            <a:endParaRPr lang="en-US"/>
          </a:p>
        </p:txBody>
      </p:sp>
    </p:spTree>
    <p:extLst>
      <p:ext uri="{BB962C8B-B14F-4D97-AF65-F5344CB8AC3E}">
        <p14:creationId xmlns:p14="http://schemas.microsoft.com/office/powerpoint/2010/main" val="17687339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70D7E-1442-55E4-C373-D230973D2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9543C-67EE-BEEC-05AF-44A2F6964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66F96-9461-8DB6-2C50-AE39B669FD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29AB9C-8E45-D758-9C12-C0F774F3448E}"/>
              </a:ext>
            </a:extLst>
          </p:cNvPr>
          <p:cNvSpPr>
            <a:spLocks noGrp="1"/>
          </p:cNvSpPr>
          <p:nvPr>
            <p:ph type="sldNum" sz="quarter" idx="5"/>
          </p:nvPr>
        </p:nvSpPr>
        <p:spPr/>
        <p:txBody>
          <a:bodyPr/>
          <a:lstStyle/>
          <a:p>
            <a:fld id="{E4E9D064-5408-B24A-8265-629B6A9ACD19}" type="slidenum">
              <a:rPr lang="en-US" smtClean="0"/>
              <a:t>56</a:t>
            </a:fld>
            <a:endParaRPr lang="en-US"/>
          </a:p>
        </p:txBody>
      </p:sp>
    </p:spTree>
    <p:extLst>
      <p:ext uri="{BB962C8B-B14F-4D97-AF65-F5344CB8AC3E}">
        <p14:creationId xmlns:p14="http://schemas.microsoft.com/office/powerpoint/2010/main" val="16429675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57</a:t>
            </a:fld>
            <a:endParaRPr lang="en-US"/>
          </a:p>
        </p:txBody>
      </p:sp>
    </p:spTree>
    <p:extLst>
      <p:ext uri="{BB962C8B-B14F-4D97-AF65-F5344CB8AC3E}">
        <p14:creationId xmlns:p14="http://schemas.microsoft.com/office/powerpoint/2010/main" val="8209000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58</a:t>
            </a:fld>
            <a:endParaRPr lang="en-US"/>
          </a:p>
        </p:txBody>
      </p:sp>
    </p:spTree>
    <p:extLst>
      <p:ext uri="{BB962C8B-B14F-4D97-AF65-F5344CB8AC3E}">
        <p14:creationId xmlns:p14="http://schemas.microsoft.com/office/powerpoint/2010/main" val="29013548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E9D064-5408-B24A-8265-629B6A9ACD19}" type="slidenum">
              <a:rPr lang="en-US" smtClean="0"/>
              <a:t>59</a:t>
            </a:fld>
            <a:endParaRPr lang="en-US"/>
          </a:p>
        </p:txBody>
      </p:sp>
    </p:spTree>
    <p:extLst>
      <p:ext uri="{BB962C8B-B14F-4D97-AF65-F5344CB8AC3E}">
        <p14:creationId xmlns:p14="http://schemas.microsoft.com/office/powerpoint/2010/main" val="4999027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E9D064-5408-B24A-8265-629B6A9ACD19}" type="slidenum">
              <a:rPr lang="en-US" smtClean="0"/>
              <a:t>60</a:t>
            </a:fld>
            <a:endParaRPr lang="en-US"/>
          </a:p>
        </p:txBody>
      </p:sp>
    </p:spTree>
    <p:extLst>
      <p:ext uri="{BB962C8B-B14F-4D97-AF65-F5344CB8AC3E}">
        <p14:creationId xmlns:p14="http://schemas.microsoft.com/office/powerpoint/2010/main" val="39094249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61</a:t>
            </a:fld>
            <a:endParaRPr lang="en-US"/>
          </a:p>
        </p:txBody>
      </p:sp>
    </p:spTree>
    <p:extLst>
      <p:ext uri="{BB962C8B-B14F-4D97-AF65-F5344CB8AC3E}">
        <p14:creationId xmlns:p14="http://schemas.microsoft.com/office/powerpoint/2010/main" val="42167938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62</a:t>
            </a:fld>
            <a:endParaRPr lang="en-US"/>
          </a:p>
        </p:txBody>
      </p:sp>
    </p:spTree>
    <p:extLst>
      <p:ext uri="{BB962C8B-B14F-4D97-AF65-F5344CB8AC3E}">
        <p14:creationId xmlns:p14="http://schemas.microsoft.com/office/powerpoint/2010/main" val="12463162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63</a:t>
            </a:fld>
            <a:endParaRPr lang="en-US"/>
          </a:p>
        </p:txBody>
      </p:sp>
    </p:spTree>
    <p:extLst>
      <p:ext uri="{BB962C8B-B14F-4D97-AF65-F5344CB8AC3E}">
        <p14:creationId xmlns:p14="http://schemas.microsoft.com/office/powerpoint/2010/main" val="25314407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64</a:t>
            </a:fld>
            <a:endParaRPr lang="en-US"/>
          </a:p>
        </p:txBody>
      </p:sp>
    </p:spTree>
    <p:extLst>
      <p:ext uri="{BB962C8B-B14F-4D97-AF65-F5344CB8AC3E}">
        <p14:creationId xmlns:p14="http://schemas.microsoft.com/office/powerpoint/2010/main" val="19296786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65</a:t>
            </a:fld>
            <a:endParaRPr lang="en-US"/>
          </a:p>
        </p:txBody>
      </p:sp>
    </p:spTree>
    <p:extLst>
      <p:ext uri="{BB962C8B-B14F-4D97-AF65-F5344CB8AC3E}">
        <p14:creationId xmlns:p14="http://schemas.microsoft.com/office/powerpoint/2010/main" val="309425854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E9D064-5408-B24A-8265-629B6A9ACD19}" type="slidenum">
              <a:rPr lang="en-US" smtClean="0"/>
              <a:t>66</a:t>
            </a:fld>
            <a:endParaRPr lang="en-US"/>
          </a:p>
        </p:txBody>
      </p:sp>
    </p:spTree>
    <p:extLst>
      <p:ext uri="{BB962C8B-B14F-4D97-AF65-F5344CB8AC3E}">
        <p14:creationId xmlns:p14="http://schemas.microsoft.com/office/powerpoint/2010/main" val="17217886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1E6818-5228-6746-93C7-81444766F2C7}" type="slidenum">
              <a:rPr lang="en-US" smtClean="0"/>
              <a:t>67</a:t>
            </a:fld>
            <a:endParaRPr lang="en-US"/>
          </a:p>
        </p:txBody>
      </p:sp>
    </p:spTree>
    <p:extLst>
      <p:ext uri="{BB962C8B-B14F-4D97-AF65-F5344CB8AC3E}">
        <p14:creationId xmlns:p14="http://schemas.microsoft.com/office/powerpoint/2010/main" val="416436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F170-811C-2B31-C0B0-862E91A4B4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07CCEDE-52CB-FB5A-D84F-1DE2B0FF2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0654C-3E45-A586-A8CF-27C2F44FD84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B5F3FB41-6698-A8A3-9568-A48F19505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500EE-EA0C-D40A-DD27-0D0C4B373C78}"/>
              </a:ext>
            </a:extLst>
          </p:cNvPr>
          <p:cNvSpPr>
            <a:spLocks noGrp="1"/>
          </p:cNvSpPr>
          <p:nvPr>
            <p:ph type="sldNum" sz="quarter" idx="12"/>
          </p:nvPr>
        </p:nvSpPr>
        <p:spPr/>
        <p:txBody>
          <a:bodyPr/>
          <a:lstStyle/>
          <a:p>
            <a:fld id="{9D4A35CC-C70A-4792-B171-5A9C7364B6D5}" type="slidenum">
              <a:rPr lang="en-US" smtClean="0"/>
              <a:t>‹#›</a:t>
            </a:fld>
            <a:endParaRPr lang="en-US"/>
          </a:p>
        </p:txBody>
      </p:sp>
    </p:spTree>
    <p:extLst>
      <p:ext uri="{BB962C8B-B14F-4D97-AF65-F5344CB8AC3E}">
        <p14:creationId xmlns:p14="http://schemas.microsoft.com/office/powerpoint/2010/main" val="139154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F521-5D56-2266-8D85-8DD46238AAC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E0C1307-B2F1-2310-0212-94140F1A5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EADBA0A-585B-37F2-C235-0D07DF81F0C6}"/>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766C95D1-75E4-DBB9-137E-73D4F5AB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8427C-7848-DA7C-8C53-9BD757009D8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B4FA992D-C6A1-04E6-6480-D6FF5834A1D9}"/>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9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FEB4-A114-1406-AAC7-E6A9374762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5736C-4324-7C32-AD7B-93A2A9C7E0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1F154-5E54-8A6E-32D1-50892B476E0D}"/>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F89038B-6435-F39A-AE45-EC2277648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BDF1E-A55C-2F2F-60EB-26E50943C5FB}"/>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2CC699B5-BC08-318D-27C2-159A3F84676E}"/>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6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8BC7-37A9-2A41-A226-1AA2056C7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195DB0-B3D9-5AA8-0EBE-8DE243B43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BC9C40-4553-98FF-B057-51D0631655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D316FA-702D-0970-98FC-C9857BDB916C}"/>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1E5F98C5-312D-43ED-B810-B24CF5C92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7E21C-8BB3-4F1E-CF27-B3C2310D0545}"/>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ADB9F7D-4293-E584-BB33-F33655869B04}"/>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78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B629-ED87-5F0F-C9BC-928A597F10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799BA-B41E-6860-AA97-BD0EF6DD4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FE23B1-8B3C-B07C-FDE2-19F41F30B9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9C4BBA-5A0D-0E42-7483-493DBCED4B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716F14-27E0-D214-DE57-BB9CAF7B4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BACE10-B3E3-AA96-7962-FFDFF715887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8" name="Footer Placeholder 7">
            <a:extLst>
              <a:ext uri="{FF2B5EF4-FFF2-40B4-BE49-F238E27FC236}">
                <a16:creationId xmlns:a16="http://schemas.microsoft.com/office/drawing/2014/main" id="{A916E200-901C-8F02-918B-5D1D4D5827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BD97F-62C3-7108-5E3B-4FCE958B80A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10" name="Rectangle 9">
            <a:extLst>
              <a:ext uri="{FF2B5EF4-FFF2-40B4-BE49-F238E27FC236}">
                <a16:creationId xmlns:a16="http://schemas.microsoft.com/office/drawing/2014/main" id="{513A5397-9352-EF76-A222-9B7EF3224C80}"/>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93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29A3-9228-EFA1-7EA8-320A5E4CDD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2B2899-CC6E-9662-436F-D08B922BA144}"/>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4" name="Footer Placeholder 3">
            <a:extLst>
              <a:ext uri="{FF2B5EF4-FFF2-40B4-BE49-F238E27FC236}">
                <a16:creationId xmlns:a16="http://schemas.microsoft.com/office/drawing/2014/main" id="{2F09471A-67C3-CA58-574B-353065996B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098AAE-7DA0-24C8-EAFB-429398606A0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6" name="Rectangle 5">
            <a:extLst>
              <a:ext uri="{FF2B5EF4-FFF2-40B4-BE49-F238E27FC236}">
                <a16:creationId xmlns:a16="http://schemas.microsoft.com/office/drawing/2014/main" id="{BA67E615-E4D7-8DF7-AC05-9434E1BD634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214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657AF7-9EDB-A1C4-8FE7-E0FEEE544BC3}"/>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3" name="Footer Placeholder 2">
            <a:extLst>
              <a:ext uri="{FF2B5EF4-FFF2-40B4-BE49-F238E27FC236}">
                <a16:creationId xmlns:a16="http://schemas.microsoft.com/office/drawing/2014/main" id="{3EFB410C-9EC2-0283-7D97-C87FEBE2B3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0411A1-87A4-150F-6303-025F73278A83}"/>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5" name="Rectangle 4">
            <a:extLst>
              <a:ext uri="{FF2B5EF4-FFF2-40B4-BE49-F238E27FC236}">
                <a16:creationId xmlns:a16="http://schemas.microsoft.com/office/drawing/2014/main" id="{6BEC10DA-58DD-6058-72F5-37C7FA819707}"/>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176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9521-1256-3807-0A09-73CF197D1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A0C9A-E639-327E-EAE2-4C18EEFBB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2BD3E-A8F9-C833-0D6E-E56DF294F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7D350-5EB9-6E86-2F02-CACFB7A7E0DA}"/>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56194B27-4321-6C96-5E6C-B4294A3A3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78C75-416A-15DA-A2DC-37E0ECED7DB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DD89290-EA5E-999A-9087-ED945E983F0D}"/>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80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BC17-AE68-BB5D-7E81-4CAFF8B6C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C9BB58-A5B3-752C-C3CD-66BCD70B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7F54B17-4878-2B1B-1EF4-2E2326955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00598-743F-6934-3985-938F1E866A58}"/>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A7D902F9-7383-6CE3-298B-4DB50315F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34894E-3991-6152-5957-002E7265C88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66B84A78-F893-43A3-1D6F-4587823EF278}"/>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7147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4510-4B21-DC22-7420-9F84FC621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119451-B586-AA05-D054-A9F1923CE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7FC57-6205-2A78-80A0-BB6AA1CF03C7}"/>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A15B43F5-3769-91D9-F447-F3E44C42D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62A88-1673-2416-F5B7-E12A4BECBDC2}"/>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6352AE72-8B3F-0851-5089-AC8CFF790B2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98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1EEFA-D7BD-F80C-2B4C-0AEDA101A1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3C1D9E-E814-5FED-9B2B-78D71AEBE4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157526-7469-C9F1-34C8-B1F790EC8CFB}"/>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25ADFC0-7CC2-BF2F-F56F-571E62AE4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4DFF3-379F-BDBB-5CAB-16B1BC40BEB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185E4D9E-0F99-E18D-52A5-55D652C32935}"/>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881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lose-up of a logo&#10;&#10;Description automatically generated">
            <a:extLst>
              <a:ext uri="{FF2B5EF4-FFF2-40B4-BE49-F238E27FC236}">
                <a16:creationId xmlns:a16="http://schemas.microsoft.com/office/drawing/2014/main" id="{45FD974E-6B30-074E-DCDA-B43A8313BD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523705" y="6239790"/>
            <a:ext cx="1473924" cy="506170"/>
          </a:xfrm>
          <a:prstGeom prst="rect">
            <a:avLst/>
          </a:prstGeom>
        </p:spPr>
      </p:pic>
      <p:sp>
        <p:nvSpPr>
          <p:cNvPr id="2" name="Title Placeholder 1">
            <a:extLst>
              <a:ext uri="{FF2B5EF4-FFF2-40B4-BE49-F238E27FC236}">
                <a16:creationId xmlns:a16="http://schemas.microsoft.com/office/drawing/2014/main" id="{6770B608-161B-B8F7-D7A5-CED71D4B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8A0E45-27EC-856E-DA78-F5A5903CB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A56F89-8D60-6463-E4B5-485DB2E56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3AEDDFEF-E259-13F0-9373-3E1D0F6A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B544F3-851E-BC68-C039-63A94D3C5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A35CC-C70A-4792-B171-5A9C7364B6D5}" type="slidenum">
              <a:rPr lang="en-US" smtClean="0"/>
              <a:t>‹#›</a:t>
            </a:fld>
            <a:endParaRPr lang="en-US"/>
          </a:p>
        </p:txBody>
      </p:sp>
    </p:spTree>
    <p:extLst>
      <p:ext uri="{BB962C8B-B14F-4D97-AF65-F5344CB8AC3E}">
        <p14:creationId xmlns:p14="http://schemas.microsoft.com/office/powerpoint/2010/main" val="177352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2.png"/><Relationship Id="rId4" Type="http://schemas.openxmlformats.org/officeDocument/2006/relationships/image" Target="../media/image23.pn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7.png"/><Relationship Id="rId5" Type="http://schemas.openxmlformats.org/officeDocument/2006/relationships/image" Target="../media/image6.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5.png"/><Relationship Id="rId9" Type="http://schemas.openxmlformats.org/officeDocument/2006/relationships/image" Target="../media/image25.png"/><Relationship Id="rId1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2.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3.pn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2.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35.png"/><Relationship Id="rId5" Type="http://schemas.openxmlformats.org/officeDocument/2006/relationships/image" Target="../media/image4.png"/><Relationship Id="rId10"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6.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2.png"/><Relationship Id="rId5" Type="http://schemas.openxmlformats.org/officeDocument/2006/relationships/image" Target="../media/image4.png"/><Relationship Id="rId10"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9" Type="http://schemas.openxmlformats.org/officeDocument/2006/relationships/image" Target="../media/image2110.png"/><Relationship Id="rId3" Type="http://schemas.openxmlformats.org/officeDocument/2006/relationships/image" Target="../media/image2100.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38" Type="http://schemas.openxmlformats.org/officeDocument/2006/relationships/image" Target="../media/image2010.png"/><Relationship Id="rId2" Type="http://schemas.openxmlformats.org/officeDocument/2006/relationships/notesSlide" Target="../notesSlides/notesSlide22.xml"/><Relationship Id="rId16" Type="http://schemas.openxmlformats.org/officeDocument/2006/relationships/image" Target="../media/image53.png"/><Relationship Id="rId20" Type="http://schemas.openxmlformats.org/officeDocument/2006/relationships/image" Target="../media/image1810.png"/><Relationship Id="rId41"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37" Type="http://schemas.openxmlformats.org/officeDocument/2006/relationships/image" Target="../media/image1910.png"/><Relationship Id="rId40" Type="http://schemas.openxmlformats.org/officeDocument/2006/relationships/image" Target="../media/image1610.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23.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9" Type="http://schemas.openxmlformats.org/officeDocument/2006/relationships/image" Target="../media/image2110.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0.png"/><Relationship Id="rId38" Type="http://schemas.openxmlformats.org/officeDocument/2006/relationships/image" Target="../media/image2010.png"/><Relationship Id="rId2" Type="http://schemas.openxmlformats.org/officeDocument/2006/relationships/notesSlide" Target="../notesSlides/notesSlide23.xml"/><Relationship Id="rId16" Type="http://schemas.openxmlformats.org/officeDocument/2006/relationships/image" Target="../media/image69.png"/><Relationship Id="rId20" Type="http://schemas.openxmlformats.org/officeDocument/2006/relationships/image" Target="../media/image2100.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37" Type="http://schemas.openxmlformats.org/officeDocument/2006/relationships/image" Target="../media/image1910.png"/><Relationship Id="rId40" Type="http://schemas.openxmlformats.org/officeDocument/2006/relationships/image" Target="../media/image1610.png"/><Relationship Id="rId5" Type="http://schemas.openxmlformats.org/officeDocument/2006/relationships/image" Target="../media/image59.png"/><Relationship Id="rId15" Type="http://schemas.openxmlformats.org/officeDocument/2006/relationships/image" Target="../media/image53.png"/><Relationship Id="rId10" Type="http://schemas.openxmlformats.org/officeDocument/2006/relationships/image" Target="../media/image64.png"/><Relationship Id="rId19" Type="http://schemas.openxmlformats.org/officeDocument/2006/relationships/image" Target="../media/image1810.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2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1.png"/><Relationship Id="rId3" Type="http://schemas.openxmlformats.org/officeDocument/2006/relationships/image" Target="../media/image72.png"/><Relationship Id="rId21" Type="http://schemas.openxmlformats.org/officeDocument/2006/relationships/image" Target="../media/image96.png"/><Relationship Id="rId7" Type="http://schemas.openxmlformats.org/officeDocument/2006/relationships/image" Target="../media/image76.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100.png"/><Relationship Id="rId2" Type="http://schemas.openxmlformats.org/officeDocument/2006/relationships/notesSlide" Target="../notesSlides/notesSlide26.xml"/><Relationship Id="rId16" Type="http://schemas.openxmlformats.org/officeDocument/2006/relationships/image" Target="../media/image91.png"/><Relationship Id="rId20"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6.png"/><Relationship Id="rId24" Type="http://schemas.openxmlformats.org/officeDocument/2006/relationships/image" Target="../media/image99.png"/><Relationship Id="rId5" Type="http://schemas.openxmlformats.org/officeDocument/2006/relationships/image" Target="../media/image74.png"/><Relationship Id="rId15" Type="http://schemas.openxmlformats.org/officeDocument/2006/relationships/image" Target="../media/image90.png"/><Relationship Id="rId23" Type="http://schemas.openxmlformats.org/officeDocument/2006/relationships/image" Target="../media/image98.png"/><Relationship Id="rId28" Type="http://schemas.openxmlformats.org/officeDocument/2006/relationships/image" Target="../media/image103.png"/><Relationship Id="rId10" Type="http://schemas.openxmlformats.org/officeDocument/2006/relationships/image" Target="../media/image85.png"/><Relationship Id="rId19" Type="http://schemas.openxmlformats.org/officeDocument/2006/relationships/image" Target="../media/image94.png"/><Relationship Id="rId4" Type="http://schemas.openxmlformats.org/officeDocument/2006/relationships/image" Target="../media/image82.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7.png"/><Relationship Id="rId27" Type="http://schemas.openxmlformats.org/officeDocument/2006/relationships/image" Target="../media/image102.png"/></Relationships>
</file>

<file path=ppt/slides/_rels/slide27.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8.png"/><Relationship Id="rId18" Type="http://schemas.openxmlformats.org/officeDocument/2006/relationships/image" Target="../media/image93.png"/><Relationship Id="rId3" Type="http://schemas.openxmlformats.org/officeDocument/2006/relationships/image" Target="../media/image72.png"/><Relationship Id="rId21" Type="http://schemas.openxmlformats.org/officeDocument/2006/relationships/image" Target="../media/image96.png"/><Relationship Id="rId7" Type="http://schemas.openxmlformats.org/officeDocument/2006/relationships/image" Target="../media/image76.png"/><Relationship Id="rId12" Type="http://schemas.openxmlformats.org/officeDocument/2006/relationships/image" Target="../media/image87.png"/><Relationship Id="rId17" Type="http://schemas.openxmlformats.org/officeDocument/2006/relationships/image" Target="../media/image92.png"/><Relationship Id="rId2" Type="http://schemas.openxmlformats.org/officeDocument/2006/relationships/notesSlide" Target="../notesSlides/notesSlide27.xml"/><Relationship Id="rId16" Type="http://schemas.openxmlformats.org/officeDocument/2006/relationships/image" Target="../media/image91.png"/><Relationship Id="rId20"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111.png"/><Relationship Id="rId11" Type="http://schemas.openxmlformats.org/officeDocument/2006/relationships/image" Target="../media/image86.png"/><Relationship Id="rId24" Type="http://schemas.openxmlformats.org/officeDocument/2006/relationships/image" Target="../media/image99.png"/><Relationship Id="rId5" Type="http://schemas.openxmlformats.org/officeDocument/2006/relationships/image" Target="../media/image74.png"/><Relationship Id="rId15" Type="http://schemas.openxmlformats.org/officeDocument/2006/relationships/image" Target="../media/image90.png"/><Relationship Id="rId23" Type="http://schemas.openxmlformats.org/officeDocument/2006/relationships/image" Target="../media/image98.png"/><Relationship Id="rId10" Type="http://schemas.openxmlformats.org/officeDocument/2006/relationships/image" Target="../media/image85.png"/><Relationship Id="rId19" Type="http://schemas.openxmlformats.org/officeDocument/2006/relationships/image" Target="../media/image94.png"/><Relationship Id="rId4" Type="http://schemas.openxmlformats.org/officeDocument/2006/relationships/image" Target="../media/image110.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7.png"/></Relationships>
</file>

<file path=ppt/slides/_rels/slide28.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2.png"/><Relationship Id="rId21" Type="http://schemas.openxmlformats.org/officeDocument/2006/relationships/image" Target="../media/image130.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notesSlide" Target="../notesSlides/notesSlide28.xml"/><Relationship Id="rId16" Type="http://schemas.openxmlformats.org/officeDocument/2006/relationships/image" Target="../media/image125.png"/><Relationship Id="rId20"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19" Type="http://schemas.openxmlformats.org/officeDocument/2006/relationships/image" Target="../media/image128.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29.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2.png"/><Relationship Id="rId21" Type="http://schemas.openxmlformats.org/officeDocument/2006/relationships/image" Target="../media/image130.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notesSlide" Target="../notesSlides/notesSlide29.xml"/><Relationship Id="rId16" Type="http://schemas.openxmlformats.org/officeDocument/2006/relationships/image" Target="../media/image125.png"/><Relationship Id="rId20"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19" Type="http://schemas.openxmlformats.org/officeDocument/2006/relationships/image" Target="../media/image128.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30.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3" Type="http://schemas.openxmlformats.org/officeDocument/2006/relationships/image" Target="../media/image17.png"/><Relationship Id="rId21" Type="http://schemas.openxmlformats.org/officeDocument/2006/relationships/image" Target="../media/image130.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2.png"/><Relationship Id="rId2" Type="http://schemas.openxmlformats.org/officeDocument/2006/relationships/notesSlide" Target="../notesSlides/notesSlide30.xml"/><Relationship Id="rId16" Type="http://schemas.openxmlformats.org/officeDocument/2006/relationships/image" Target="../media/image144.png"/><Relationship Id="rId20"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34.png"/><Relationship Id="rId11" Type="http://schemas.openxmlformats.org/officeDocument/2006/relationships/image" Target="../media/image139.png"/><Relationship Id="rId24" Type="http://schemas.openxmlformats.org/officeDocument/2006/relationships/image" Target="../media/image151.png"/><Relationship Id="rId5" Type="http://schemas.openxmlformats.org/officeDocument/2006/relationships/image" Target="../media/image133.png"/><Relationship Id="rId15" Type="http://schemas.openxmlformats.org/officeDocument/2006/relationships/image" Target="../media/image143.png"/><Relationship Id="rId23" Type="http://schemas.openxmlformats.org/officeDocument/2006/relationships/image" Target="../media/image150.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49.png"/></Relationships>
</file>

<file path=ppt/slides/_rels/slide31.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18" Type="http://schemas.openxmlformats.org/officeDocument/2006/relationships/image" Target="../media/image167.png"/><Relationship Id="rId3" Type="http://schemas.openxmlformats.org/officeDocument/2006/relationships/image" Target="../media/image18.png"/><Relationship Id="rId21" Type="http://schemas.openxmlformats.org/officeDocument/2006/relationships/image" Target="../media/image170.png"/><Relationship Id="rId7" Type="http://schemas.openxmlformats.org/officeDocument/2006/relationships/image" Target="../media/image156.png"/><Relationship Id="rId12" Type="http://schemas.openxmlformats.org/officeDocument/2006/relationships/image" Target="../media/image161.png"/><Relationship Id="rId17" Type="http://schemas.openxmlformats.org/officeDocument/2006/relationships/image" Target="../media/image166.png"/><Relationship Id="rId2" Type="http://schemas.openxmlformats.org/officeDocument/2006/relationships/notesSlide" Target="../notesSlides/notesSlide31.xml"/><Relationship Id="rId16" Type="http://schemas.openxmlformats.org/officeDocument/2006/relationships/image" Target="../media/image165.png"/><Relationship Id="rId20"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60.png"/><Relationship Id="rId5" Type="http://schemas.openxmlformats.org/officeDocument/2006/relationships/image" Target="../media/image155.png"/><Relationship Id="rId15" Type="http://schemas.openxmlformats.org/officeDocument/2006/relationships/image" Target="../media/image164.png"/><Relationship Id="rId23" Type="http://schemas.openxmlformats.org/officeDocument/2006/relationships/image" Target="../media/image172.png"/><Relationship Id="rId10" Type="http://schemas.openxmlformats.org/officeDocument/2006/relationships/image" Target="../media/image159.png"/><Relationship Id="rId19" Type="http://schemas.openxmlformats.org/officeDocument/2006/relationships/image" Target="../media/image168.png"/><Relationship Id="rId4" Type="http://schemas.openxmlformats.org/officeDocument/2006/relationships/image" Target="../media/image154.png"/><Relationship Id="rId9" Type="http://schemas.openxmlformats.org/officeDocument/2006/relationships/image" Target="../media/image158.png"/><Relationship Id="rId14" Type="http://schemas.openxmlformats.org/officeDocument/2006/relationships/image" Target="../media/image163.png"/><Relationship Id="rId22" Type="http://schemas.openxmlformats.org/officeDocument/2006/relationships/image" Target="../media/image171.png"/></Relationships>
</file>

<file path=ppt/slides/_rels/slide32.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18" Type="http://schemas.openxmlformats.org/officeDocument/2006/relationships/image" Target="../media/image167.png"/><Relationship Id="rId26" Type="http://schemas.openxmlformats.org/officeDocument/2006/relationships/image" Target="../media/image175.png"/><Relationship Id="rId3" Type="http://schemas.openxmlformats.org/officeDocument/2006/relationships/image" Target="../media/image153.png"/><Relationship Id="rId21" Type="http://schemas.openxmlformats.org/officeDocument/2006/relationships/image" Target="../media/image170.png"/><Relationship Id="rId7" Type="http://schemas.openxmlformats.org/officeDocument/2006/relationships/image" Target="../media/image156.png"/><Relationship Id="rId12" Type="http://schemas.openxmlformats.org/officeDocument/2006/relationships/image" Target="../media/image161.png"/><Relationship Id="rId17" Type="http://schemas.openxmlformats.org/officeDocument/2006/relationships/image" Target="../media/image166.png"/><Relationship Id="rId25" Type="http://schemas.openxmlformats.org/officeDocument/2006/relationships/image" Target="../media/image174.png"/><Relationship Id="rId2" Type="http://schemas.openxmlformats.org/officeDocument/2006/relationships/notesSlide" Target="../notesSlides/notesSlide32.xml"/><Relationship Id="rId16" Type="http://schemas.openxmlformats.org/officeDocument/2006/relationships/image" Target="../media/image165.png"/><Relationship Id="rId20" Type="http://schemas.openxmlformats.org/officeDocument/2006/relationships/image" Target="../media/image169.png"/><Relationship Id="rId29" Type="http://schemas.openxmlformats.org/officeDocument/2006/relationships/image" Target="../media/image178.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60.png"/><Relationship Id="rId24" Type="http://schemas.openxmlformats.org/officeDocument/2006/relationships/image" Target="../media/image173.png"/><Relationship Id="rId5" Type="http://schemas.openxmlformats.org/officeDocument/2006/relationships/image" Target="../media/image155.png"/><Relationship Id="rId15" Type="http://schemas.openxmlformats.org/officeDocument/2006/relationships/image" Target="../media/image164.png"/><Relationship Id="rId23" Type="http://schemas.openxmlformats.org/officeDocument/2006/relationships/image" Target="../media/image172.png"/><Relationship Id="rId28" Type="http://schemas.openxmlformats.org/officeDocument/2006/relationships/image" Target="../media/image177.png"/><Relationship Id="rId10" Type="http://schemas.openxmlformats.org/officeDocument/2006/relationships/image" Target="../media/image159.png"/><Relationship Id="rId19" Type="http://schemas.openxmlformats.org/officeDocument/2006/relationships/image" Target="../media/image168.png"/><Relationship Id="rId4" Type="http://schemas.openxmlformats.org/officeDocument/2006/relationships/image" Target="../media/image154.png"/><Relationship Id="rId9" Type="http://schemas.openxmlformats.org/officeDocument/2006/relationships/image" Target="../media/image158.png"/><Relationship Id="rId14" Type="http://schemas.openxmlformats.org/officeDocument/2006/relationships/image" Target="../media/image163.png"/><Relationship Id="rId22" Type="http://schemas.openxmlformats.org/officeDocument/2006/relationships/image" Target="../media/image171.png"/><Relationship Id="rId27" Type="http://schemas.openxmlformats.org/officeDocument/2006/relationships/image" Target="../media/image176.png"/></Relationships>
</file>

<file path=ppt/slides/_rels/slide33.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33.xml"/><Relationship Id="rId16"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34.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5.png"/><Relationship Id="rId2" Type="http://schemas.openxmlformats.org/officeDocument/2006/relationships/notesSlide" Target="../notesSlides/notesSlide34.xml"/><Relationship Id="rId16"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35.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18" Type="http://schemas.openxmlformats.org/officeDocument/2006/relationships/image" Target="../media/image194.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35.xml"/><Relationship Id="rId16"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36.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18" Type="http://schemas.openxmlformats.org/officeDocument/2006/relationships/image" Target="../media/image196.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5.png"/><Relationship Id="rId2" Type="http://schemas.openxmlformats.org/officeDocument/2006/relationships/notesSlide" Target="../notesSlides/notesSlide36.xml"/><Relationship Id="rId16"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8" Type="http://schemas.openxmlformats.org/officeDocument/2006/relationships/image" Target="../media/image213.png"/><Relationship Id="rId13" Type="http://schemas.openxmlformats.org/officeDocument/2006/relationships/image" Target="../media/image218.png"/><Relationship Id="rId18" Type="http://schemas.openxmlformats.org/officeDocument/2006/relationships/image" Target="../media/image96.png"/><Relationship Id="rId3" Type="http://schemas.openxmlformats.org/officeDocument/2006/relationships/image" Target="../media/image208.png"/><Relationship Id="rId21" Type="http://schemas.openxmlformats.org/officeDocument/2006/relationships/image" Target="../media/image223.png"/><Relationship Id="rId7" Type="http://schemas.openxmlformats.org/officeDocument/2006/relationships/image" Target="../media/image212.png"/><Relationship Id="rId12" Type="http://schemas.openxmlformats.org/officeDocument/2006/relationships/image" Target="../media/image217.png"/><Relationship Id="rId17" Type="http://schemas.openxmlformats.org/officeDocument/2006/relationships/image" Target="../media/image222.png"/><Relationship Id="rId2" Type="http://schemas.openxmlformats.org/officeDocument/2006/relationships/notesSlide" Target="../notesSlides/notesSlide38.xml"/><Relationship Id="rId16" Type="http://schemas.openxmlformats.org/officeDocument/2006/relationships/image" Target="../media/image221.png"/><Relationship Id="rId20"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211.png"/><Relationship Id="rId11" Type="http://schemas.openxmlformats.org/officeDocument/2006/relationships/image" Target="../media/image216.png"/><Relationship Id="rId5" Type="http://schemas.openxmlformats.org/officeDocument/2006/relationships/image" Target="../media/image210.png"/><Relationship Id="rId15" Type="http://schemas.openxmlformats.org/officeDocument/2006/relationships/image" Target="../media/image220.png"/><Relationship Id="rId10" Type="http://schemas.openxmlformats.org/officeDocument/2006/relationships/image" Target="../media/image215.png"/><Relationship Id="rId19" Type="http://schemas.openxmlformats.org/officeDocument/2006/relationships/image" Target="../media/image97.png"/><Relationship Id="rId4" Type="http://schemas.openxmlformats.org/officeDocument/2006/relationships/image" Target="../media/image209.png"/><Relationship Id="rId9" Type="http://schemas.openxmlformats.org/officeDocument/2006/relationships/image" Target="../media/image214.png"/><Relationship Id="rId14" Type="http://schemas.openxmlformats.org/officeDocument/2006/relationships/image" Target="../media/image219.png"/><Relationship Id="rId22" Type="http://schemas.openxmlformats.org/officeDocument/2006/relationships/image" Target="../media/image15.png"/></Relationships>
</file>

<file path=ppt/slides/_rels/slide39.xml.rels><?xml version="1.0" encoding="UTF-8" standalone="yes"?>
<Relationships xmlns="http://schemas.openxmlformats.org/package/2006/relationships"><Relationship Id="rId26" Type="http://schemas.openxmlformats.org/officeDocument/2006/relationships/image" Target="../media/image247.png"/><Relationship Id="rId3" Type="http://schemas.openxmlformats.org/officeDocument/2006/relationships/image" Target="../media/image224.png"/><Relationship Id="rId25" Type="http://schemas.openxmlformats.org/officeDocument/2006/relationships/image" Target="../media/image246.png"/><Relationship Id="rId2" Type="http://schemas.openxmlformats.org/officeDocument/2006/relationships/notesSlide" Target="../notesSlides/notesSlide39.xml"/><Relationship Id="rId1" Type="http://schemas.openxmlformats.org/officeDocument/2006/relationships/slideLayout" Target="../slideLayouts/slideLayout2.xml"/><Relationship Id="rId24" Type="http://schemas.openxmlformats.org/officeDocument/2006/relationships/image" Target="../media/image245.png"/><Relationship Id="rId23" Type="http://schemas.openxmlformats.org/officeDocument/2006/relationships/image" Target="../media/image244.png"/></Relationships>
</file>

<file path=ppt/slides/_rels/slide40.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3" Type="http://schemas.openxmlformats.org/officeDocument/2006/relationships/image" Target="../media/image224.png"/><Relationship Id="rId21" Type="http://schemas.openxmlformats.org/officeDocument/2006/relationships/image" Target="../media/image242.png"/><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2" Type="http://schemas.openxmlformats.org/officeDocument/2006/relationships/notesSlide" Target="../notesSlides/notesSlide40.xml"/><Relationship Id="rId16" Type="http://schemas.openxmlformats.org/officeDocument/2006/relationships/image" Target="../media/image237.png"/><Relationship Id="rId20" Type="http://schemas.openxmlformats.org/officeDocument/2006/relationships/image" Target="../media/image241.png"/><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10" Type="http://schemas.openxmlformats.org/officeDocument/2006/relationships/image" Target="../media/image231.png"/><Relationship Id="rId19" Type="http://schemas.openxmlformats.org/officeDocument/2006/relationships/image" Target="../media/image240.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s>
</file>

<file path=ppt/slides/_rels/slide41.xml.rels><?xml version="1.0" encoding="UTF-8" standalone="yes"?>
<Relationships xmlns="http://schemas.openxmlformats.org/package/2006/relationships"><Relationship Id="rId8" Type="http://schemas.openxmlformats.org/officeDocument/2006/relationships/image" Target="../media/image254.png"/><Relationship Id="rId13" Type="http://schemas.openxmlformats.org/officeDocument/2006/relationships/image" Target="../media/image259.png"/><Relationship Id="rId18" Type="http://schemas.openxmlformats.org/officeDocument/2006/relationships/image" Target="../media/image264.png"/><Relationship Id="rId3" Type="http://schemas.openxmlformats.org/officeDocument/2006/relationships/image" Target="../media/image249.png"/><Relationship Id="rId21" Type="http://schemas.openxmlformats.org/officeDocument/2006/relationships/image" Target="../media/image267.png"/><Relationship Id="rId7" Type="http://schemas.openxmlformats.org/officeDocument/2006/relationships/image" Target="../media/image253.png"/><Relationship Id="rId12" Type="http://schemas.openxmlformats.org/officeDocument/2006/relationships/image" Target="../media/image258.png"/><Relationship Id="rId17" Type="http://schemas.openxmlformats.org/officeDocument/2006/relationships/image" Target="../media/image263.png"/><Relationship Id="rId2" Type="http://schemas.openxmlformats.org/officeDocument/2006/relationships/notesSlide" Target="../notesSlides/notesSlide41.xml"/><Relationship Id="rId16" Type="http://schemas.openxmlformats.org/officeDocument/2006/relationships/image" Target="../media/image262.png"/><Relationship Id="rId20"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252.png"/><Relationship Id="rId11" Type="http://schemas.openxmlformats.org/officeDocument/2006/relationships/image" Target="../media/image257.png"/><Relationship Id="rId5" Type="http://schemas.openxmlformats.org/officeDocument/2006/relationships/image" Target="../media/image251.png"/><Relationship Id="rId15" Type="http://schemas.openxmlformats.org/officeDocument/2006/relationships/image" Target="../media/image261.png"/><Relationship Id="rId10" Type="http://schemas.openxmlformats.org/officeDocument/2006/relationships/image" Target="../media/image256.png"/><Relationship Id="rId19" Type="http://schemas.openxmlformats.org/officeDocument/2006/relationships/image" Target="../media/image265.png"/><Relationship Id="rId4" Type="http://schemas.openxmlformats.org/officeDocument/2006/relationships/image" Target="../media/image250.png"/><Relationship Id="rId9" Type="http://schemas.openxmlformats.org/officeDocument/2006/relationships/image" Target="../media/image255.png"/><Relationship Id="rId14" Type="http://schemas.openxmlformats.org/officeDocument/2006/relationships/image" Target="../media/image260.png"/></Relationships>
</file>

<file path=ppt/slides/_rels/slide42.xml.rels><?xml version="1.0" encoding="UTF-8" standalone="yes"?>
<Relationships xmlns="http://schemas.openxmlformats.org/package/2006/relationships"><Relationship Id="rId8" Type="http://schemas.openxmlformats.org/officeDocument/2006/relationships/image" Target="../media/image273.png"/><Relationship Id="rId13" Type="http://schemas.openxmlformats.org/officeDocument/2006/relationships/image" Target="../media/image278.png"/><Relationship Id="rId18" Type="http://schemas.openxmlformats.org/officeDocument/2006/relationships/image" Target="../media/image283.png"/><Relationship Id="rId3" Type="http://schemas.openxmlformats.org/officeDocument/2006/relationships/image" Target="../media/image268.png"/><Relationship Id="rId21" Type="http://schemas.openxmlformats.org/officeDocument/2006/relationships/image" Target="../media/image286.png"/><Relationship Id="rId7" Type="http://schemas.openxmlformats.org/officeDocument/2006/relationships/image" Target="../media/image272.png"/><Relationship Id="rId12" Type="http://schemas.openxmlformats.org/officeDocument/2006/relationships/image" Target="../media/image277.png"/><Relationship Id="rId17" Type="http://schemas.openxmlformats.org/officeDocument/2006/relationships/image" Target="../media/image282.png"/><Relationship Id="rId2" Type="http://schemas.openxmlformats.org/officeDocument/2006/relationships/notesSlide" Target="../notesSlides/notesSlide42.xml"/><Relationship Id="rId16" Type="http://schemas.openxmlformats.org/officeDocument/2006/relationships/image" Target="../media/image281.png"/><Relationship Id="rId20" Type="http://schemas.openxmlformats.org/officeDocument/2006/relationships/image" Target="../media/image285.png"/><Relationship Id="rId1" Type="http://schemas.openxmlformats.org/officeDocument/2006/relationships/slideLayout" Target="../slideLayouts/slideLayout2.xml"/><Relationship Id="rId6" Type="http://schemas.openxmlformats.org/officeDocument/2006/relationships/image" Target="../media/image271.png"/><Relationship Id="rId11" Type="http://schemas.openxmlformats.org/officeDocument/2006/relationships/image" Target="../media/image276.png"/><Relationship Id="rId5" Type="http://schemas.openxmlformats.org/officeDocument/2006/relationships/image" Target="../media/image270.png"/><Relationship Id="rId15" Type="http://schemas.openxmlformats.org/officeDocument/2006/relationships/image" Target="../media/image280.png"/><Relationship Id="rId23" Type="http://schemas.openxmlformats.org/officeDocument/2006/relationships/image" Target="../media/image287.png"/><Relationship Id="rId10" Type="http://schemas.openxmlformats.org/officeDocument/2006/relationships/image" Target="../media/image275.png"/><Relationship Id="rId19" Type="http://schemas.openxmlformats.org/officeDocument/2006/relationships/image" Target="../media/image284.png"/><Relationship Id="rId4" Type="http://schemas.openxmlformats.org/officeDocument/2006/relationships/image" Target="../media/image269.png"/><Relationship Id="rId9" Type="http://schemas.openxmlformats.org/officeDocument/2006/relationships/image" Target="../media/image274.png"/><Relationship Id="rId14" Type="http://schemas.openxmlformats.org/officeDocument/2006/relationships/image" Target="../media/image279.png"/><Relationship Id="rId22" Type="http://schemas.openxmlformats.org/officeDocument/2006/relationships/image" Target="../media/image267.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5.png"/></Relationships>
</file>

<file path=ppt/slides/_rels/slide4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4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7.png"/></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4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8" Type="http://schemas.openxmlformats.org/officeDocument/2006/relationships/image" Target="../media/image299.png"/><Relationship Id="rId13" Type="http://schemas.openxmlformats.org/officeDocument/2006/relationships/image" Target="../media/image304.png"/><Relationship Id="rId18" Type="http://schemas.openxmlformats.org/officeDocument/2006/relationships/image" Target="../media/image309.png"/><Relationship Id="rId3" Type="http://schemas.openxmlformats.org/officeDocument/2006/relationships/image" Target="../media/image2.png"/><Relationship Id="rId21" Type="http://schemas.openxmlformats.org/officeDocument/2006/relationships/image" Target="../media/image312.png"/><Relationship Id="rId7" Type="http://schemas.openxmlformats.org/officeDocument/2006/relationships/image" Target="../media/image298.png"/><Relationship Id="rId12" Type="http://schemas.openxmlformats.org/officeDocument/2006/relationships/image" Target="../media/image303.png"/><Relationship Id="rId17" Type="http://schemas.openxmlformats.org/officeDocument/2006/relationships/image" Target="../media/image308.png"/><Relationship Id="rId2" Type="http://schemas.openxmlformats.org/officeDocument/2006/relationships/notesSlide" Target="../notesSlides/notesSlide50.xml"/><Relationship Id="rId16" Type="http://schemas.openxmlformats.org/officeDocument/2006/relationships/image" Target="../media/image307.png"/><Relationship Id="rId20" Type="http://schemas.openxmlformats.org/officeDocument/2006/relationships/image" Target="../media/image311.png"/><Relationship Id="rId1" Type="http://schemas.openxmlformats.org/officeDocument/2006/relationships/slideLayout" Target="../slideLayouts/slideLayout2.xml"/><Relationship Id="rId6" Type="http://schemas.openxmlformats.org/officeDocument/2006/relationships/image" Target="../media/image297.png"/><Relationship Id="rId11" Type="http://schemas.openxmlformats.org/officeDocument/2006/relationships/image" Target="../media/image302.png"/><Relationship Id="rId5" Type="http://schemas.openxmlformats.org/officeDocument/2006/relationships/image" Target="../media/image296.png"/><Relationship Id="rId15" Type="http://schemas.openxmlformats.org/officeDocument/2006/relationships/image" Target="../media/image306.png"/><Relationship Id="rId23" Type="http://schemas.openxmlformats.org/officeDocument/2006/relationships/image" Target="../media/image131.png"/><Relationship Id="rId10" Type="http://schemas.openxmlformats.org/officeDocument/2006/relationships/image" Target="../media/image301.png"/><Relationship Id="rId19" Type="http://schemas.openxmlformats.org/officeDocument/2006/relationships/image" Target="../media/image310.png"/><Relationship Id="rId4" Type="http://schemas.openxmlformats.org/officeDocument/2006/relationships/image" Target="../media/image295.png"/><Relationship Id="rId9" Type="http://schemas.openxmlformats.org/officeDocument/2006/relationships/image" Target="../media/image300.png"/><Relationship Id="rId14" Type="http://schemas.openxmlformats.org/officeDocument/2006/relationships/image" Target="../media/image305.png"/><Relationship Id="rId22" Type="http://schemas.openxmlformats.org/officeDocument/2006/relationships/image" Target="../media/image313.png"/></Relationships>
</file>

<file path=ppt/slides/_rels/slide51.xml.rels><?xml version="1.0" encoding="UTF-8" standalone="yes"?>
<Relationships xmlns="http://schemas.openxmlformats.org/package/2006/relationships"><Relationship Id="rId8" Type="http://schemas.openxmlformats.org/officeDocument/2006/relationships/image" Target="../media/image298.png"/><Relationship Id="rId13" Type="http://schemas.openxmlformats.org/officeDocument/2006/relationships/image" Target="../media/image303.png"/><Relationship Id="rId18" Type="http://schemas.openxmlformats.org/officeDocument/2006/relationships/image" Target="../media/image308.png"/><Relationship Id="rId3" Type="http://schemas.openxmlformats.org/officeDocument/2006/relationships/image" Target="../media/image197.png"/><Relationship Id="rId21" Type="http://schemas.openxmlformats.org/officeDocument/2006/relationships/image" Target="../media/image311.png"/><Relationship Id="rId7" Type="http://schemas.openxmlformats.org/officeDocument/2006/relationships/image" Target="../media/image297.png"/><Relationship Id="rId12" Type="http://schemas.openxmlformats.org/officeDocument/2006/relationships/image" Target="../media/image302.png"/><Relationship Id="rId17" Type="http://schemas.openxmlformats.org/officeDocument/2006/relationships/image" Target="../media/image307.png"/><Relationship Id="rId2" Type="http://schemas.openxmlformats.org/officeDocument/2006/relationships/notesSlide" Target="../notesSlides/notesSlide51.xml"/><Relationship Id="rId16" Type="http://schemas.openxmlformats.org/officeDocument/2006/relationships/image" Target="../media/image306.png"/><Relationship Id="rId20"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296.png"/><Relationship Id="rId11" Type="http://schemas.openxmlformats.org/officeDocument/2006/relationships/image" Target="../media/image301.png"/><Relationship Id="rId5" Type="http://schemas.openxmlformats.org/officeDocument/2006/relationships/image" Target="../media/image295.png"/><Relationship Id="rId15" Type="http://schemas.openxmlformats.org/officeDocument/2006/relationships/image" Target="../media/image305.png"/><Relationship Id="rId23" Type="http://schemas.openxmlformats.org/officeDocument/2006/relationships/image" Target="../media/image313.png"/><Relationship Id="rId10" Type="http://schemas.openxmlformats.org/officeDocument/2006/relationships/image" Target="../media/image300.png"/><Relationship Id="rId19" Type="http://schemas.openxmlformats.org/officeDocument/2006/relationships/image" Target="../media/image309.png"/><Relationship Id="rId4" Type="http://schemas.openxmlformats.org/officeDocument/2006/relationships/image" Target="../media/image2.png"/><Relationship Id="rId9" Type="http://schemas.openxmlformats.org/officeDocument/2006/relationships/image" Target="../media/image299.png"/><Relationship Id="rId14" Type="http://schemas.openxmlformats.org/officeDocument/2006/relationships/image" Target="../media/image304.png"/><Relationship Id="rId22" Type="http://schemas.openxmlformats.org/officeDocument/2006/relationships/image" Target="../media/image312.png"/></Relationships>
</file>

<file path=ppt/slides/_rels/slide52.xml.rels><?xml version="1.0" encoding="UTF-8" standalone="yes"?>
<Relationships xmlns="http://schemas.openxmlformats.org/package/2006/relationships"><Relationship Id="rId8" Type="http://schemas.openxmlformats.org/officeDocument/2006/relationships/image" Target="../media/image298.png"/><Relationship Id="rId13" Type="http://schemas.openxmlformats.org/officeDocument/2006/relationships/image" Target="../media/image303.png"/><Relationship Id="rId18" Type="http://schemas.openxmlformats.org/officeDocument/2006/relationships/image" Target="../media/image308.png"/><Relationship Id="rId3" Type="http://schemas.openxmlformats.org/officeDocument/2006/relationships/image" Target="../media/image198.png"/><Relationship Id="rId21" Type="http://schemas.openxmlformats.org/officeDocument/2006/relationships/image" Target="../media/image311.png"/><Relationship Id="rId7" Type="http://schemas.openxmlformats.org/officeDocument/2006/relationships/image" Target="../media/image297.png"/><Relationship Id="rId12" Type="http://schemas.openxmlformats.org/officeDocument/2006/relationships/image" Target="../media/image302.png"/><Relationship Id="rId17" Type="http://schemas.openxmlformats.org/officeDocument/2006/relationships/image" Target="../media/image307.png"/><Relationship Id="rId2" Type="http://schemas.openxmlformats.org/officeDocument/2006/relationships/notesSlide" Target="../notesSlides/notesSlide52.xml"/><Relationship Id="rId16" Type="http://schemas.openxmlformats.org/officeDocument/2006/relationships/image" Target="../media/image306.png"/><Relationship Id="rId20"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296.png"/><Relationship Id="rId11" Type="http://schemas.openxmlformats.org/officeDocument/2006/relationships/image" Target="../media/image301.png"/><Relationship Id="rId5" Type="http://schemas.openxmlformats.org/officeDocument/2006/relationships/image" Target="../media/image295.png"/><Relationship Id="rId15" Type="http://schemas.openxmlformats.org/officeDocument/2006/relationships/image" Target="../media/image305.png"/><Relationship Id="rId23" Type="http://schemas.openxmlformats.org/officeDocument/2006/relationships/image" Target="../media/image313.png"/><Relationship Id="rId10" Type="http://schemas.openxmlformats.org/officeDocument/2006/relationships/image" Target="../media/image300.png"/><Relationship Id="rId19" Type="http://schemas.openxmlformats.org/officeDocument/2006/relationships/image" Target="../media/image309.png"/><Relationship Id="rId4" Type="http://schemas.openxmlformats.org/officeDocument/2006/relationships/image" Target="../media/image2.png"/><Relationship Id="rId9" Type="http://schemas.openxmlformats.org/officeDocument/2006/relationships/image" Target="../media/image299.png"/><Relationship Id="rId14" Type="http://schemas.openxmlformats.org/officeDocument/2006/relationships/image" Target="../media/image304.png"/><Relationship Id="rId22" Type="http://schemas.openxmlformats.org/officeDocument/2006/relationships/image" Target="../media/image31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322.png"/><Relationship Id="rId13" Type="http://schemas.openxmlformats.org/officeDocument/2006/relationships/image" Target="../media/image327.png"/><Relationship Id="rId18" Type="http://schemas.openxmlformats.org/officeDocument/2006/relationships/image" Target="../media/image332.png"/><Relationship Id="rId3" Type="http://schemas.openxmlformats.org/officeDocument/2006/relationships/image" Target="../media/image317.png"/><Relationship Id="rId7" Type="http://schemas.openxmlformats.org/officeDocument/2006/relationships/image" Target="../media/image321.png"/><Relationship Id="rId12" Type="http://schemas.openxmlformats.org/officeDocument/2006/relationships/image" Target="../media/image326.png"/><Relationship Id="rId17" Type="http://schemas.openxmlformats.org/officeDocument/2006/relationships/image" Target="../media/image331.png"/><Relationship Id="rId2" Type="http://schemas.openxmlformats.org/officeDocument/2006/relationships/notesSlide" Target="../notesSlides/notesSlide57.xml"/><Relationship Id="rId16"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325.png"/><Relationship Id="rId5" Type="http://schemas.openxmlformats.org/officeDocument/2006/relationships/image" Target="../media/image319.png"/><Relationship Id="rId15" Type="http://schemas.openxmlformats.org/officeDocument/2006/relationships/image" Target="../media/image329.png"/><Relationship Id="rId10" Type="http://schemas.openxmlformats.org/officeDocument/2006/relationships/image" Target="../media/image324.png"/><Relationship Id="rId4" Type="http://schemas.openxmlformats.org/officeDocument/2006/relationships/image" Target="../media/image318.png"/><Relationship Id="rId9" Type="http://schemas.openxmlformats.org/officeDocument/2006/relationships/image" Target="../media/image323.png"/><Relationship Id="rId14" Type="http://schemas.openxmlformats.org/officeDocument/2006/relationships/image" Target="../media/image328.png"/></Relationships>
</file>

<file path=ppt/slides/_rels/slide58.xml.rels><?xml version="1.0" encoding="UTF-8" standalone="yes"?>
<Relationships xmlns="http://schemas.openxmlformats.org/package/2006/relationships"><Relationship Id="rId3" Type="http://schemas.openxmlformats.org/officeDocument/2006/relationships/image" Target="../media/image333.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336.png"/><Relationship Id="rId5" Type="http://schemas.openxmlformats.org/officeDocument/2006/relationships/image" Target="../media/image335.png"/><Relationship Id="rId4" Type="http://schemas.openxmlformats.org/officeDocument/2006/relationships/image" Target="../media/image334.png"/></Relationships>
</file>

<file path=ppt/slides/_rels/slide59.xml.rels><?xml version="1.0" encoding="UTF-8" standalone="yes"?>
<Relationships xmlns="http://schemas.openxmlformats.org/package/2006/relationships"><Relationship Id="rId3" Type="http://schemas.openxmlformats.org/officeDocument/2006/relationships/image" Target="../media/image33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37.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99.png"/></Relationships>
</file>

<file path=ppt/slides/_rels/slide6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20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349.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ACB30-F7EA-CF4F-6597-398ADBD76EDE}"/>
              </a:ext>
            </a:extLst>
          </p:cNvPr>
          <p:cNvSpPr>
            <a:spLocks noGrp="1"/>
          </p:cNvSpPr>
          <p:nvPr>
            <p:ph type="ctrTitle"/>
          </p:nvPr>
        </p:nvSpPr>
        <p:spPr/>
        <p:txBody>
          <a:bodyPr>
            <a:normAutofit/>
          </a:bodyPr>
          <a:lstStyle/>
          <a:p>
            <a:r>
              <a:rPr lang="en-US" sz="5400" dirty="0"/>
              <a:t>Sparsity and Low-rankness</a:t>
            </a:r>
            <a:endParaRPr lang="en-US" sz="7200" dirty="0"/>
          </a:p>
        </p:txBody>
      </p:sp>
      <p:sp>
        <p:nvSpPr>
          <p:cNvPr id="3" name="Subtitle 2">
            <a:extLst>
              <a:ext uri="{FF2B5EF4-FFF2-40B4-BE49-F238E27FC236}">
                <a16:creationId xmlns:a16="http://schemas.microsoft.com/office/drawing/2014/main" id="{B9991622-3487-6496-7749-D5FE12CB715A}"/>
              </a:ext>
            </a:extLst>
          </p:cNvPr>
          <p:cNvSpPr>
            <a:spLocks noGrp="1"/>
          </p:cNvSpPr>
          <p:nvPr>
            <p:ph type="subTitle" idx="1"/>
          </p:nvPr>
        </p:nvSpPr>
        <p:spPr/>
        <p:txBody>
          <a:bodyPr/>
          <a:lstStyle/>
          <a:p>
            <a:r>
              <a:rPr lang="en-US" dirty="0"/>
              <a:t>Causality, Decision-Making, and Data Science</a:t>
            </a:r>
          </a:p>
          <a:p>
            <a:r>
              <a:rPr lang="en-US" dirty="0"/>
              <a:t>Lecture 16</a:t>
            </a:r>
          </a:p>
        </p:txBody>
      </p:sp>
    </p:spTree>
    <p:extLst>
      <p:ext uri="{BB962C8B-B14F-4D97-AF65-F5344CB8AC3E}">
        <p14:creationId xmlns:p14="http://schemas.microsoft.com/office/powerpoint/2010/main" val="883974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57B6-8AD5-4894-BD12-DB11F1CEFDF9}"/>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4F5673D6-CCD4-DFC6-5EC9-E1AD553511A9}"/>
              </a:ext>
            </a:extLst>
          </p:cNvPr>
          <p:cNvSpPr>
            <a:spLocks noGrp="1"/>
          </p:cNvSpPr>
          <p:nvPr>
            <p:ph idx="1"/>
          </p:nvPr>
        </p:nvSpPr>
        <p:spPr>
          <a:xfrm>
            <a:off x="838199" y="1610942"/>
            <a:ext cx="11068455" cy="4847549"/>
          </a:xfrm>
        </p:spPr>
        <p:txBody>
          <a:bodyPr>
            <a:normAutofit/>
          </a:bodyPr>
          <a:lstStyle/>
          <a:p>
            <a:r>
              <a:rPr lang="en-US" dirty="0"/>
              <a:t>HW4.2 due Monday December 1.</a:t>
            </a:r>
          </a:p>
          <a:p>
            <a:pPr lvl="1"/>
            <a:r>
              <a:rPr lang="en-US" dirty="0">
                <a:solidFill>
                  <a:schemeClr val="accent1"/>
                </a:solidFill>
              </a:rPr>
              <a:t>That’s a while from now, after Fall break</a:t>
            </a:r>
          </a:p>
          <a:p>
            <a:pPr lvl="1"/>
            <a:r>
              <a:rPr lang="en-US" dirty="0">
                <a:solidFill>
                  <a:schemeClr val="accent1"/>
                </a:solidFill>
              </a:rPr>
              <a:t>For optimal time-management, you might want to treat the due date as Monday 11/24…</a:t>
            </a:r>
          </a:p>
          <a:p>
            <a:endParaRPr lang="en-US" dirty="0">
              <a:solidFill>
                <a:schemeClr val="accent1"/>
              </a:solidFill>
            </a:endParaRPr>
          </a:p>
          <a:p>
            <a:r>
              <a:rPr lang="en-US" dirty="0"/>
              <a:t>Project presentations start December 2!</a:t>
            </a:r>
          </a:p>
          <a:p>
            <a:pPr lvl="1"/>
            <a:r>
              <a:rPr lang="en-US" dirty="0">
                <a:solidFill>
                  <a:schemeClr val="accent1"/>
                </a:solidFill>
              </a:rPr>
              <a:t>See Canvas for more info about how to submit your slides ahead of time!</a:t>
            </a:r>
          </a:p>
          <a:p>
            <a:pPr lvl="1"/>
            <a:endParaRPr lang="en-US" dirty="0">
              <a:solidFill>
                <a:schemeClr val="accent1"/>
              </a:solidFill>
            </a:endParaRPr>
          </a:p>
          <a:p>
            <a:pPr lvl="1"/>
            <a:endParaRPr lang="en-US" dirty="0"/>
          </a:p>
          <a:p>
            <a:pPr lvl="1"/>
            <a:endParaRPr lang="en-US" dirty="0"/>
          </a:p>
        </p:txBody>
      </p:sp>
    </p:spTree>
    <p:extLst>
      <p:ext uri="{BB962C8B-B14F-4D97-AF65-F5344CB8AC3E}">
        <p14:creationId xmlns:p14="http://schemas.microsoft.com/office/powerpoint/2010/main" val="2724229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76FD6-9793-AC82-B8A9-7D31CE90AF8E}"/>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4996C0C-775C-3FF7-9F08-BBB2FBFABCC6}"/>
              </a:ext>
            </a:extLst>
          </p:cNvPr>
          <p:cNvSpPr>
            <a:spLocks noGrp="1"/>
          </p:cNvSpPr>
          <p:nvPr>
            <p:ph idx="1"/>
          </p:nvPr>
        </p:nvSpPr>
        <p:spPr/>
        <p:txBody>
          <a:bodyPr/>
          <a:lstStyle/>
          <a:p>
            <a:r>
              <a:rPr lang="en-US" dirty="0"/>
              <a:t>Motivation: Feature selection</a:t>
            </a:r>
          </a:p>
          <a:p>
            <a:r>
              <a:rPr lang="en-US" dirty="0"/>
              <a:t>Sparsity assumptions and LASSO</a:t>
            </a:r>
          </a:p>
          <a:p>
            <a:r>
              <a:rPr lang="en-US" dirty="0"/>
              <a:t>Low-rank assumptions and SVD</a:t>
            </a:r>
          </a:p>
          <a:p>
            <a:r>
              <a:rPr lang="en-US" dirty="0"/>
              <a:t>Matrix Completion and back to Brexit</a:t>
            </a:r>
          </a:p>
        </p:txBody>
      </p:sp>
    </p:spTree>
    <p:extLst>
      <p:ext uri="{BB962C8B-B14F-4D97-AF65-F5344CB8AC3E}">
        <p14:creationId xmlns:p14="http://schemas.microsoft.com/office/powerpoint/2010/main" val="130956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1619-4B73-595D-FA44-0AD9F3A0A745}"/>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0BDBF653-8F76-C633-043B-0F48AEBF0B83}"/>
              </a:ext>
            </a:extLst>
          </p:cNvPr>
          <p:cNvSpPr>
            <a:spLocks noGrp="1"/>
          </p:cNvSpPr>
          <p:nvPr>
            <p:ph idx="1"/>
          </p:nvPr>
        </p:nvSpPr>
        <p:spPr/>
        <p:txBody>
          <a:bodyPr>
            <a:normAutofit/>
          </a:bodyPr>
          <a:lstStyle/>
          <a:p>
            <a:r>
              <a:rPr lang="en-US" dirty="0"/>
              <a:t>We are going to cover </a:t>
            </a:r>
            <a:r>
              <a:rPr lang="en-US" b="1" dirty="0"/>
              <a:t>a lot </a:t>
            </a:r>
            <a:r>
              <a:rPr lang="en-US" dirty="0"/>
              <a:t>today</a:t>
            </a:r>
          </a:p>
          <a:p>
            <a:r>
              <a:rPr lang="en-US" dirty="0"/>
              <a:t>Not the point:</a:t>
            </a:r>
          </a:p>
          <a:p>
            <a:pPr lvl="1"/>
            <a:r>
              <a:rPr lang="en-US" dirty="0">
                <a:solidFill>
                  <a:schemeClr val="accent1"/>
                </a:solidFill>
              </a:rPr>
              <a:t>to fully cover all the details</a:t>
            </a:r>
          </a:p>
          <a:p>
            <a:r>
              <a:rPr lang="en-US" dirty="0"/>
              <a:t>The point:</a:t>
            </a:r>
          </a:p>
          <a:p>
            <a:pPr lvl="1"/>
            <a:r>
              <a:rPr lang="en-US" dirty="0">
                <a:solidFill>
                  <a:schemeClr val="accent1"/>
                </a:solidFill>
              </a:rPr>
              <a:t>To give you some intuition and some idea of what’s out there</a:t>
            </a:r>
          </a:p>
          <a:p>
            <a:endParaRPr lang="en-US" dirty="0">
              <a:solidFill>
                <a:schemeClr val="accent1"/>
              </a:solidFill>
            </a:endParaRPr>
          </a:p>
        </p:txBody>
      </p:sp>
      <p:grpSp>
        <p:nvGrpSpPr>
          <p:cNvPr id="4" name="Group 3">
            <a:extLst>
              <a:ext uri="{FF2B5EF4-FFF2-40B4-BE49-F238E27FC236}">
                <a16:creationId xmlns:a16="http://schemas.microsoft.com/office/drawing/2014/main" id="{216B9B5F-3E27-B15C-8815-B6A353FF44CB}"/>
              </a:ext>
            </a:extLst>
          </p:cNvPr>
          <p:cNvGrpSpPr/>
          <p:nvPr/>
        </p:nvGrpSpPr>
        <p:grpSpPr>
          <a:xfrm>
            <a:off x="3302181" y="4961870"/>
            <a:ext cx="4853179" cy="1350030"/>
            <a:chOff x="6267450" y="4233731"/>
            <a:chExt cx="4853179" cy="1350030"/>
          </a:xfrm>
        </p:grpSpPr>
        <p:pic>
          <p:nvPicPr>
            <p:cNvPr id="5" name="Picture 4">
              <a:extLst>
                <a:ext uri="{FF2B5EF4-FFF2-40B4-BE49-F238E27FC236}">
                  <a16:creationId xmlns:a16="http://schemas.microsoft.com/office/drawing/2014/main" id="{D279129A-9F81-DA3D-837D-2C1526E7FA4D}"/>
                </a:ext>
              </a:extLst>
            </p:cNvPr>
            <p:cNvPicPr>
              <a:picLocks noChangeAspect="1"/>
            </p:cNvPicPr>
            <p:nvPr/>
          </p:nvPicPr>
          <p:blipFill>
            <a:blip r:embed="rId3"/>
            <a:stretch>
              <a:fillRect/>
            </a:stretch>
          </p:blipFill>
          <p:spPr>
            <a:xfrm>
              <a:off x="10537573" y="4233731"/>
              <a:ext cx="583056" cy="1350030"/>
            </a:xfrm>
            <a:prstGeom prst="rect">
              <a:avLst/>
            </a:prstGeom>
          </p:spPr>
        </p:pic>
        <p:sp>
          <p:nvSpPr>
            <p:cNvPr id="6" name="TextBox 5">
              <a:extLst>
                <a:ext uri="{FF2B5EF4-FFF2-40B4-BE49-F238E27FC236}">
                  <a16:creationId xmlns:a16="http://schemas.microsoft.com/office/drawing/2014/main" id="{DEBA5AD2-A302-66D4-C57C-36C47EE4A421}"/>
                </a:ext>
              </a:extLst>
            </p:cNvPr>
            <p:cNvSpPr txBox="1"/>
            <p:nvPr/>
          </p:nvSpPr>
          <p:spPr>
            <a:xfrm>
              <a:off x="6267450" y="4233731"/>
              <a:ext cx="4270123" cy="1138773"/>
            </a:xfrm>
            <a:prstGeom prst="rect">
              <a:avLst/>
            </a:prstGeom>
            <a:noFill/>
          </p:spPr>
          <p:txBody>
            <a:bodyPr wrap="square">
              <a:spAutoFit/>
            </a:bodyPr>
            <a:lstStyle/>
            <a:p>
              <a:pPr algn="r"/>
              <a:r>
                <a:rPr lang="en-US" sz="2000" dirty="0">
                  <a:solidFill>
                    <a:srgbClr val="0070C0"/>
                  </a:solidFill>
                </a:rPr>
                <a:t>We are going to have lots of pictures of matrices and matrix-multiplication</a:t>
              </a:r>
            </a:p>
            <a:p>
              <a:pPr algn="r"/>
              <a:r>
                <a:rPr lang="en-US" sz="1400" dirty="0">
                  <a:solidFill>
                    <a:srgbClr val="0070C0"/>
                  </a:solidFill>
                </a:rPr>
                <a:t>Many of you have taken linear algebra, but not everyone – please ask questions if it goes too fast!</a:t>
              </a:r>
            </a:p>
          </p:txBody>
        </p:sp>
      </p:grpSp>
    </p:spTree>
    <p:extLst>
      <p:ext uri="{BB962C8B-B14F-4D97-AF65-F5344CB8AC3E}">
        <p14:creationId xmlns:p14="http://schemas.microsoft.com/office/powerpoint/2010/main" val="3112699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0A48-27B1-8A64-C99E-939D71435A40}"/>
              </a:ext>
            </a:extLst>
          </p:cNvPr>
          <p:cNvSpPr>
            <a:spLocks noGrp="1"/>
          </p:cNvSpPr>
          <p:nvPr>
            <p:ph type="title"/>
          </p:nvPr>
        </p:nvSpPr>
        <p:spPr/>
        <p:txBody>
          <a:bodyPr/>
          <a:lstStyle/>
          <a:p>
            <a:r>
              <a:rPr lang="en-US" sz="2400" dirty="0"/>
              <a:t>Motivation for today:</a:t>
            </a:r>
            <a:br>
              <a:rPr lang="en-US" dirty="0"/>
            </a:br>
            <a:r>
              <a:rPr lang="en-US" dirty="0"/>
              <a:t>How do we find the right covariates?</a:t>
            </a:r>
          </a:p>
        </p:txBody>
      </p:sp>
      <p:sp>
        <p:nvSpPr>
          <p:cNvPr id="3" name="Text Placeholder 2">
            <a:extLst>
              <a:ext uri="{FF2B5EF4-FFF2-40B4-BE49-F238E27FC236}">
                <a16:creationId xmlns:a16="http://schemas.microsoft.com/office/drawing/2014/main" id="{F12A5FC9-2C58-F58C-1235-6D6E7DA60460}"/>
              </a:ext>
            </a:extLst>
          </p:cNvPr>
          <p:cNvSpPr>
            <a:spLocks noGrp="1"/>
          </p:cNvSpPr>
          <p:nvPr>
            <p:ph type="body" idx="1"/>
          </p:nvPr>
        </p:nvSpPr>
        <p:spPr/>
        <p:txBody>
          <a:bodyPr/>
          <a:lstStyle/>
          <a:p>
            <a:r>
              <a:rPr lang="en-US" dirty="0"/>
              <a:t>aka, Feature Selection</a:t>
            </a:r>
          </a:p>
        </p:txBody>
      </p:sp>
    </p:spTree>
    <p:extLst>
      <p:ext uri="{BB962C8B-B14F-4D97-AF65-F5344CB8AC3E}">
        <p14:creationId xmlns:p14="http://schemas.microsoft.com/office/powerpoint/2010/main" val="2835691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BD77-5C94-A235-A483-9123AE0E8145}"/>
              </a:ext>
            </a:extLst>
          </p:cNvPr>
          <p:cNvSpPr>
            <a:spLocks noGrp="1"/>
          </p:cNvSpPr>
          <p:nvPr>
            <p:ph type="title"/>
          </p:nvPr>
        </p:nvSpPr>
        <p:spPr/>
        <p:txBody>
          <a:bodyPr/>
          <a:lstStyle/>
          <a:p>
            <a:r>
              <a:rPr lang="en-US" dirty="0"/>
              <a:t>Back to basics</a:t>
            </a:r>
            <a:br>
              <a:rPr lang="en-US" dirty="0"/>
            </a:br>
            <a:r>
              <a:rPr lang="en-US" sz="2000" dirty="0"/>
              <a:t>Regression!</a:t>
            </a:r>
            <a:endParaRPr lang="en-US" dirty="0"/>
          </a:p>
        </p:txBody>
      </p:sp>
      <p:sp>
        <p:nvSpPr>
          <p:cNvPr id="3" name="Content Placeholder 2">
            <a:extLst>
              <a:ext uri="{FF2B5EF4-FFF2-40B4-BE49-F238E27FC236}">
                <a16:creationId xmlns:a16="http://schemas.microsoft.com/office/drawing/2014/main" id="{532BA8D0-F5E6-41EF-6277-8D3D093B0287}"/>
              </a:ext>
            </a:extLst>
          </p:cNvPr>
          <p:cNvSpPr>
            <a:spLocks noGrp="1"/>
          </p:cNvSpPr>
          <p:nvPr>
            <p:ph idx="1"/>
          </p:nvPr>
        </p:nvSpPr>
        <p:spPr>
          <a:xfrm>
            <a:off x="838200" y="1825625"/>
            <a:ext cx="10515600" cy="894997"/>
          </a:xfrm>
        </p:spPr>
        <p:txBody>
          <a:bodyPr/>
          <a:lstStyle/>
          <a:p>
            <a:r>
              <a:rPr lang="en-US" dirty="0"/>
              <a:t>Suppose we run a regression to determine a causal effect.</a:t>
            </a:r>
          </a:p>
          <a:p>
            <a:endParaRPr lang="en-US" dirty="0"/>
          </a:p>
        </p:txBody>
      </p:sp>
      <p:grpSp>
        <p:nvGrpSpPr>
          <p:cNvPr id="28" name="Group 27">
            <a:extLst>
              <a:ext uri="{FF2B5EF4-FFF2-40B4-BE49-F238E27FC236}">
                <a16:creationId xmlns:a16="http://schemas.microsoft.com/office/drawing/2014/main" id="{9718FAB0-FD6D-1E62-9618-092AFCFD33AA}"/>
              </a:ext>
            </a:extLst>
          </p:cNvPr>
          <p:cNvGrpSpPr/>
          <p:nvPr/>
        </p:nvGrpSpPr>
        <p:grpSpPr>
          <a:xfrm>
            <a:off x="1157111" y="2528712"/>
            <a:ext cx="9877777" cy="1652098"/>
            <a:chOff x="1157111" y="2528712"/>
            <a:chExt cx="9877777" cy="1652098"/>
          </a:xfrm>
        </p:grpSpPr>
        <p:sp>
          <p:nvSpPr>
            <p:cNvPr id="4" name="TextBox 3">
              <a:extLst>
                <a:ext uri="{FF2B5EF4-FFF2-40B4-BE49-F238E27FC236}">
                  <a16:creationId xmlns:a16="http://schemas.microsoft.com/office/drawing/2014/main" id="{3C3D3644-1712-2923-86F4-D39958F65A04}"/>
                </a:ext>
              </a:extLst>
            </p:cNvPr>
            <p:cNvSpPr txBox="1"/>
            <p:nvPr/>
          </p:nvSpPr>
          <p:spPr>
            <a:xfrm>
              <a:off x="1157111" y="2528712"/>
              <a:ext cx="9877777" cy="646331"/>
            </a:xfrm>
            <a:prstGeom prst="rect">
              <a:avLst/>
            </a:prstGeom>
            <a:noFill/>
          </p:spPr>
          <p:txBody>
            <a:bodyPr wrap="square" rtlCol="0">
              <a:spAutoFit/>
            </a:bodyPr>
            <a:lstStyle/>
            <a:p>
              <a:pPr algn="ctr"/>
              <a:r>
                <a:rPr lang="en-US" sz="3600" dirty="0">
                  <a:solidFill>
                    <a:schemeClr val="accent1"/>
                  </a:solidFill>
                </a:rPr>
                <a:t>What is the effect of education on earnings?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2B3734-13F3-7720-C0FB-6F77B43151C2}"/>
                    </a:ext>
                  </a:extLst>
                </p:cNvPr>
                <p:cNvSpPr txBox="1"/>
                <p:nvPr/>
              </p:nvSpPr>
              <p:spPr>
                <a:xfrm>
                  <a:off x="5377742" y="3321951"/>
                  <a:ext cx="3756156"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𝑌</m:t>
                        </m:r>
                        <m:r>
                          <a:rPr lang="en-US" sz="3200" b="0" i="1" smtClean="0">
                            <a:latin typeface="Cambria Math" panose="02040503050406030204" pitchFamily="18" charset="0"/>
                          </a:rPr>
                          <m:t>=</m:t>
                        </m:r>
                        <m:r>
                          <a:rPr lang="en-US" sz="3200" b="0" i="1" smtClean="0">
                            <a:latin typeface="Cambria Math" panose="02040503050406030204" pitchFamily="18" charset="0"/>
                          </a:rPr>
                          <m:t>𝛼</m:t>
                        </m:r>
                        <m:r>
                          <a:rPr lang="en-US" sz="3200" b="0" i="1" smtClean="0">
                            <a:latin typeface="Cambria Math" panose="02040503050406030204" pitchFamily="18" charset="0"/>
                          </a:rPr>
                          <m:t>+</m:t>
                        </m:r>
                        <m:r>
                          <a:rPr lang="en-US" sz="3200" b="0" i="1" smtClean="0">
                            <a:latin typeface="Cambria Math" panose="02040503050406030204" pitchFamily="18" charset="0"/>
                          </a:rPr>
                          <m:t>𝛽</m:t>
                        </m:r>
                        <m:r>
                          <a:rPr lang="en-US" sz="3200" b="0" i="1" smtClean="0">
                            <a:solidFill>
                              <a:schemeClr val="accent2"/>
                            </a:solidFill>
                            <a:latin typeface="Cambria Math" panose="02040503050406030204" pitchFamily="18" charset="0"/>
                          </a:rPr>
                          <m:t>𝑋</m:t>
                        </m:r>
                        <m:r>
                          <a:rPr lang="en-US" sz="3200" b="0" i="0" smtClean="0">
                            <a:solidFill>
                              <a:schemeClr val="bg2">
                                <a:lumMod val="75000"/>
                              </a:schemeClr>
                            </a:solidFill>
                            <a:latin typeface="Cambria Math" panose="02040503050406030204" pitchFamily="18" charset="0"/>
                          </a:rPr>
                          <m:t>+</m:t>
                        </m:r>
                        <m:r>
                          <m:rPr>
                            <m:sty m:val="p"/>
                          </m:rPr>
                          <a:rPr lang="en-US" sz="3200" b="0" i="0" smtClean="0">
                            <a:solidFill>
                              <a:schemeClr val="bg2">
                                <a:lumMod val="75000"/>
                              </a:schemeClr>
                            </a:solidFill>
                            <a:latin typeface="Cambria Math" panose="02040503050406030204" pitchFamily="18" charset="0"/>
                          </a:rPr>
                          <m:t>noise</m:t>
                        </m:r>
                      </m:oMath>
                    </m:oMathPara>
                  </a14:m>
                  <a:endParaRPr lang="en-US" sz="3200" dirty="0"/>
                </a:p>
              </p:txBody>
            </p:sp>
          </mc:Choice>
          <mc:Fallback xmlns="">
            <p:sp>
              <p:nvSpPr>
                <p:cNvPr id="6" name="TextBox 5">
                  <a:extLst>
                    <a:ext uri="{FF2B5EF4-FFF2-40B4-BE49-F238E27FC236}">
                      <a16:creationId xmlns:a16="http://schemas.microsoft.com/office/drawing/2014/main" id="{DB2B3734-13F3-7720-C0FB-6F77B43151C2}"/>
                    </a:ext>
                  </a:extLst>
                </p:cNvPr>
                <p:cNvSpPr txBox="1">
                  <a:spLocks noRot="1" noChangeAspect="1" noMove="1" noResize="1" noEditPoints="1" noAdjustHandles="1" noChangeArrowheads="1" noChangeShapeType="1" noTextEdit="1"/>
                </p:cNvSpPr>
                <p:nvPr/>
              </p:nvSpPr>
              <p:spPr>
                <a:xfrm>
                  <a:off x="5377742" y="3321951"/>
                  <a:ext cx="3756156" cy="584775"/>
                </a:xfrm>
                <a:prstGeom prst="rect">
                  <a:avLst/>
                </a:prstGeom>
                <a:blipFill>
                  <a:blip r:embed="rId3"/>
                  <a:stretch>
                    <a:fillRect b="-1914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B271B9C-98EE-DFD1-DFA3-5EF9DA438D49}"/>
                </a:ext>
              </a:extLst>
            </p:cNvPr>
            <p:cNvSpPr txBox="1"/>
            <p:nvPr/>
          </p:nvSpPr>
          <p:spPr>
            <a:xfrm>
              <a:off x="4753711" y="3811478"/>
              <a:ext cx="1415772" cy="369332"/>
            </a:xfrm>
            <a:prstGeom prst="rect">
              <a:avLst/>
            </a:prstGeom>
            <a:noFill/>
          </p:spPr>
          <p:txBody>
            <a:bodyPr wrap="none" rtlCol="0">
              <a:spAutoFit/>
            </a:bodyPr>
            <a:lstStyle/>
            <a:p>
              <a:r>
                <a:rPr lang="en-US" dirty="0">
                  <a:solidFill>
                    <a:schemeClr val="accent5"/>
                  </a:solidFill>
                </a:rPr>
                <a:t>Ln(earnings)</a:t>
              </a:r>
            </a:p>
          </p:txBody>
        </p:sp>
        <p:sp>
          <p:nvSpPr>
            <p:cNvPr id="8" name="TextBox 7">
              <a:extLst>
                <a:ext uri="{FF2B5EF4-FFF2-40B4-BE49-F238E27FC236}">
                  <a16:creationId xmlns:a16="http://schemas.microsoft.com/office/drawing/2014/main" id="{EE3BED45-9BB7-E634-60CA-A4A2EAF6DABD}"/>
                </a:ext>
              </a:extLst>
            </p:cNvPr>
            <p:cNvSpPr txBox="1"/>
            <p:nvPr/>
          </p:nvSpPr>
          <p:spPr>
            <a:xfrm>
              <a:off x="6961223" y="3809511"/>
              <a:ext cx="1195968" cy="369332"/>
            </a:xfrm>
            <a:prstGeom prst="rect">
              <a:avLst/>
            </a:prstGeom>
            <a:noFill/>
          </p:spPr>
          <p:txBody>
            <a:bodyPr wrap="none" rtlCol="0">
              <a:spAutoFit/>
            </a:bodyPr>
            <a:lstStyle/>
            <a:p>
              <a:r>
                <a:rPr lang="en-US" dirty="0">
                  <a:solidFill>
                    <a:schemeClr val="accent2"/>
                  </a:solidFill>
                </a:rPr>
                <a:t>Education</a:t>
              </a:r>
            </a:p>
          </p:txBody>
        </p:sp>
      </p:grpSp>
      <p:sp>
        <p:nvSpPr>
          <p:cNvPr id="16" name="TextBox 15">
            <a:extLst>
              <a:ext uri="{FF2B5EF4-FFF2-40B4-BE49-F238E27FC236}">
                <a16:creationId xmlns:a16="http://schemas.microsoft.com/office/drawing/2014/main" id="{5C4DBC32-184B-A743-3850-8E055C1CBE89}"/>
              </a:ext>
            </a:extLst>
          </p:cNvPr>
          <p:cNvSpPr txBox="1"/>
          <p:nvPr/>
        </p:nvSpPr>
        <p:spPr>
          <a:xfrm>
            <a:off x="5436679" y="4735022"/>
            <a:ext cx="6187398" cy="1200329"/>
          </a:xfrm>
          <a:prstGeom prst="rect">
            <a:avLst/>
          </a:prstGeom>
          <a:noFill/>
        </p:spPr>
        <p:txBody>
          <a:bodyPr wrap="square" rtlCol="0">
            <a:spAutoFit/>
          </a:bodyPr>
          <a:lstStyle/>
          <a:p>
            <a:r>
              <a:rPr lang="en-US" sz="3200" b="1" dirty="0"/>
              <a:t>Problem: </a:t>
            </a:r>
            <a:r>
              <a:rPr lang="en-US" sz="3200" dirty="0"/>
              <a:t>omitted variable bias!</a:t>
            </a:r>
          </a:p>
          <a:p>
            <a:r>
              <a:rPr lang="en-US" sz="2000" dirty="0"/>
              <a:t>We need to control for all the possible confounding variables.</a:t>
            </a:r>
            <a:endParaRPr lang="en-US" dirty="0"/>
          </a:p>
        </p:txBody>
      </p:sp>
      <p:grpSp>
        <p:nvGrpSpPr>
          <p:cNvPr id="17" name="Group 16">
            <a:extLst>
              <a:ext uri="{FF2B5EF4-FFF2-40B4-BE49-F238E27FC236}">
                <a16:creationId xmlns:a16="http://schemas.microsoft.com/office/drawing/2014/main" id="{C80BE94E-23E4-929E-F6FE-C3B86396443B}"/>
              </a:ext>
            </a:extLst>
          </p:cNvPr>
          <p:cNvGrpSpPr/>
          <p:nvPr/>
        </p:nvGrpSpPr>
        <p:grpSpPr>
          <a:xfrm>
            <a:off x="565952" y="4079871"/>
            <a:ext cx="450973" cy="2643785"/>
            <a:chOff x="951327" y="2069703"/>
            <a:chExt cx="766351" cy="4492658"/>
          </a:xfrm>
        </p:grpSpPr>
        <p:pic>
          <p:nvPicPr>
            <p:cNvPr id="18" name="Picture 17">
              <a:extLst>
                <a:ext uri="{FF2B5EF4-FFF2-40B4-BE49-F238E27FC236}">
                  <a16:creationId xmlns:a16="http://schemas.microsoft.com/office/drawing/2014/main" id="{7294B0E2-9603-816E-9139-077716FF27B6}"/>
                </a:ext>
              </a:extLst>
            </p:cNvPr>
            <p:cNvPicPr>
              <a:picLocks noChangeAspect="1"/>
            </p:cNvPicPr>
            <p:nvPr/>
          </p:nvPicPr>
          <p:blipFill>
            <a:blip r:embed="rId4"/>
            <a:stretch>
              <a:fillRect/>
            </a:stretch>
          </p:blipFill>
          <p:spPr>
            <a:xfrm>
              <a:off x="1078479" y="2976453"/>
              <a:ext cx="639199" cy="1000461"/>
            </a:xfrm>
            <a:prstGeom prst="rect">
              <a:avLst/>
            </a:prstGeom>
          </p:spPr>
        </p:pic>
        <p:pic>
          <p:nvPicPr>
            <p:cNvPr id="19" name="Picture 7" descr="Adoptable Rabbits | morabbit">
              <a:extLst>
                <a:ext uri="{FF2B5EF4-FFF2-40B4-BE49-F238E27FC236}">
                  <a16:creationId xmlns:a16="http://schemas.microsoft.com/office/drawing/2014/main" id="{0B10E16F-124E-5760-164D-C3AA208A4D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F331EDF1-299C-A52C-6A90-D4876C8446F2}"/>
                </a:ext>
              </a:extLst>
            </p:cNvPr>
            <p:cNvPicPr>
              <a:picLocks noChangeAspect="1"/>
            </p:cNvPicPr>
            <p:nvPr/>
          </p:nvPicPr>
          <p:blipFill>
            <a:blip r:embed="rId6"/>
            <a:stretch>
              <a:fillRect/>
            </a:stretch>
          </p:blipFill>
          <p:spPr>
            <a:xfrm>
              <a:off x="1078479" y="4851195"/>
              <a:ext cx="519097" cy="682280"/>
            </a:xfrm>
            <a:prstGeom prst="rect">
              <a:avLst/>
            </a:prstGeom>
          </p:spPr>
        </p:pic>
        <p:pic>
          <p:nvPicPr>
            <p:cNvPr id="21" name="Picture 20">
              <a:extLst>
                <a:ext uri="{FF2B5EF4-FFF2-40B4-BE49-F238E27FC236}">
                  <a16:creationId xmlns:a16="http://schemas.microsoft.com/office/drawing/2014/main" id="{860011BB-3038-6A9E-D175-DDF336A9B097}"/>
                </a:ext>
              </a:extLst>
            </p:cNvPr>
            <p:cNvPicPr>
              <a:picLocks noChangeAspect="1"/>
            </p:cNvPicPr>
            <p:nvPr/>
          </p:nvPicPr>
          <p:blipFill>
            <a:blip r:embed="rId7"/>
            <a:stretch>
              <a:fillRect/>
            </a:stretch>
          </p:blipFill>
          <p:spPr>
            <a:xfrm>
              <a:off x="951327" y="3976914"/>
              <a:ext cx="766351" cy="681203"/>
            </a:xfrm>
            <a:prstGeom prst="rect">
              <a:avLst/>
            </a:prstGeom>
          </p:spPr>
        </p:pic>
        <p:pic>
          <p:nvPicPr>
            <p:cNvPr id="22" name="Picture 21">
              <a:extLst>
                <a:ext uri="{FF2B5EF4-FFF2-40B4-BE49-F238E27FC236}">
                  <a16:creationId xmlns:a16="http://schemas.microsoft.com/office/drawing/2014/main" id="{062B970A-80FE-7D7B-53C1-E4F33554DCBE}"/>
                </a:ext>
              </a:extLst>
            </p:cNvPr>
            <p:cNvPicPr>
              <a:picLocks noChangeAspect="1"/>
            </p:cNvPicPr>
            <p:nvPr/>
          </p:nvPicPr>
          <p:blipFill>
            <a:blip r:embed="rId8"/>
            <a:stretch>
              <a:fillRect/>
            </a:stretch>
          </p:blipFill>
          <p:spPr>
            <a:xfrm>
              <a:off x="1099145" y="5726553"/>
              <a:ext cx="597865" cy="835808"/>
            </a:xfrm>
            <a:prstGeom prst="rect">
              <a:avLst/>
            </a:prstGeom>
          </p:spPr>
        </p:pic>
      </p:grpSp>
      <p:sp>
        <p:nvSpPr>
          <p:cNvPr id="23" name="TextBox 22">
            <a:extLst>
              <a:ext uri="{FF2B5EF4-FFF2-40B4-BE49-F238E27FC236}">
                <a16:creationId xmlns:a16="http://schemas.microsoft.com/office/drawing/2014/main" id="{C4622C25-4C93-4D06-E441-8305E2917BB2}"/>
              </a:ext>
            </a:extLst>
          </p:cNvPr>
          <p:cNvSpPr txBox="1"/>
          <p:nvPr/>
        </p:nvSpPr>
        <p:spPr>
          <a:xfrm>
            <a:off x="2394007" y="3469887"/>
            <a:ext cx="1245374" cy="646331"/>
          </a:xfrm>
          <a:prstGeom prst="rect">
            <a:avLst/>
          </a:prstGeom>
          <a:noFill/>
        </p:spPr>
        <p:txBody>
          <a:bodyPr wrap="square" rtlCol="0">
            <a:spAutoFit/>
          </a:bodyPr>
          <a:lstStyle/>
          <a:p>
            <a:pPr algn="ctr"/>
            <a:r>
              <a:rPr lang="en-US" dirty="0"/>
              <a:t>Years of education</a:t>
            </a:r>
          </a:p>
        </p:txBody>
      </p:sp>
      <p:sp>
        <p:nvSpPr>
          <p:cNvPr id="24" name="TextBox 23">
            <a:extLst>
              <a:ext uri="{FF2B5EF4-FFF2-40B4-BE49-F238E27FC236}">
                <a16:creationId xmlns:a16="http://schemas.microsoft.com/office/drawing/2014/main" id="{873373ED-5535-023A-714C-9F7569BDB9C2}"/>
              </a:ext>
            </a:extLst>
          </p:cNvPr>
          <p:cNvSpPr txBox="1"/>
          <p:nvPr/>
        </p:nvSpPr>
        <p:spPr>
          <a:xfrm>
            <a:off x="1130685" y="3682957"/>
            <a:ext cx="1412314" cy="369332"/>
          </a:xfrm>
          <a:prstGeom prst="rect">
            <a:avLst/>
          </a:prstGeom>
          <a:noFill/>
        </p:spPr>
        <p:txBody>
          <a:bodyPr wrap="square" rtlCol="0">
            <a:spAutoFit/>
          </a:bodyPr>
          <a:lstStyle/>
          <a:p>
            <a:pPr algn="ctr"/>
            <a:r>
              <a:rPr lang="en-US" dirty="0"/>
              <a:t>ln(Earnings)</a:t>
            </a:r>
          </a:p>
        </p:txBody>
      </p:sp>
      <p:graphicFrame>
        <p:nvGraphicFramePr>
          <p:cNvPr id="27" name="Table 26">
            <a:extLst>
              <a:ext uri="{FF2B5EF4-FFF2-40B4-BE49-F238E27FC236}">
                <a16:creationId xmlns:a16="http://schemas.microsoft.com/office/drawing/2014/main" id="{C57624E8-9F71-4AB4-3E81-D5606DEC45A2}"/>
              </a:ext>
            </a:extLst>
          </p:cNvPr>
          <p:cNvGraphicFramePr>
            <a:graphicFrameLocks noGrp="1"/>
          </p:cNvGraphicFramePr>
          <p:nvPr>
            <p:extLst>
              <p:ext uri="{D42A27DB-BD31-4B8C-83A1-F6EECF244321}">
                <p14:modId xmlns:p14="http://schemas.microsoft.com/office/powerpoint/2010/main" val="2879635310"/>
              </p:ext>
            </p:extLst>
          </p:nvPr>
        </p:nvGraphicFramePr>
        <p:xfrm>
          <a:off x="1279677" y="4086577"/>
          <a:ext cx="2314213" cy="2643785"/>
        </p:xfrm>
        <a:graphic>
          <a:graphicData uri="http://schemas.openxmlformats.org/drawingml/2006/table">
            <a:tbl>
              <a:tblPr firstCol="1" bandRow="1">
                <a:tableStyleId>{5C22544A-7EE6-4342-B048-85BDC9FD1C3A}</a:tableStyleId>
              </a:tblPr>
              <a:tblGrid>
                <a:gridCol w="1160046">
                  <a:extLst>
                    <a:ext uri="{9D8B030D-6E8A-4147-A177-3AD203B41FA5}">
                      <a16:colId xmlns:a16="http://schemas.microsoft.com/office/drawing/2014/main" val="3308591606"/>
                    </a:ext>
                  </a:extLst>
                </a:gridCol>
                <a:gridCol w="1154167">
                  <a:extLst>
                    <a:ext uri="{9D8B030D-6E8A-4147-A177-3AD203B41FA5}">
                      <a16:colId xmlns:a16="http://schemas.microsoft.com/office/drawing/2014/main" val="3210990961"/>
                    </a:ext>
                  </a:extLst>
                </a:gridCol>
              </a:tblGrid>
              <a:tr h="528757">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528757">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528757">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528757">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528757">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p:spTree>
    <p:extLst>
      <p:ext uri="{BB962C8B-B14F-4D97-AF65-F5344CB8AC3E}">
        <p14:creationId xmlns:p14="http://schemas.microsoft.com/office/powerpoint/2010/main" val="1951865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F256-4CBA-5F41-89D7-EC31B8B92E7C}"/>
              </a:ext>
            </a:extLst>
          </p:cNvPr>
          <p:cNvSpPr>
            <a:spLocks noGrp="1"/>
          </p:cNvSpPr>
          <p:nvPr>
            <p:ph type="title"/>
          </p:nvPr>
        </p:nvSpPr>
        <p:spPr>
          <a:xfrm>
            <a:off x="838200" y="-48943"/>
            <a:ext cx="10515600" cy="1325563"/>
          </a:xfrm>
        </p:spPr>
        <p:txBody>
          <a:bodyPr/>
          <a:lstStyle/>
          <a:p>
            <a:r>
              <a:rPr lang="en-US" dirty="0"/>
              <a:t>Suppose we get a few more covariates</a:t>
            </a:r>
          </a:p>
        </p:txBody>
      </p:sp>
      <p:grpSp>
        <p:nvGrpSpPr>
          <p:cNvPr id="4" name="Group 3">
            <a:extLst>
              <a:ext uri="{FF2B5EF4-FFF2-40B4-BE49-F238E27FC236}">
                <a16:creationId xmlns:a16="http://schemas.microsoft.com/office/drawing/2014/main" id="{E4F04E0A-4D58-B001-4679-C5548B3165B5}"/>
              </a:ext>
            </a:extLst>
          </p:cNvPr>
          <p:cNvGrpSpPr/>
          <p:nvPr/>
        </p:nvGrpSpPr>
        <p:grpSpPr>
          <a:xfrm>
            <a:off x="530578" y="3480952"/>
            <a:ext cx="515122" cy="3019854"/>
            <a:chOff x="951327" y="2069703"/>
            <a:chExt cx="766351" cy="4492658"/>
          </a:xfrm>
        </p:grpSpPr>
        <p:pic>
          <p:nvPicPr>
            <p:cNvPr id="5" name="Picture 4">
              <a:extLst>
                <a:ext uri="{FF2B5EF4-FFF2-40B4-BE49-F238E27FC236}">
                  <a16:creationId xmlns:a16="http://schemas.microsoft.com/office/drawing/2014/main" id="{7725E26E-FD25-FCEB-20D4-24A0B1F8A6F8}"/>
                </a:ext>
              </a:extLst>
            </p:cNvPr>
            <p:cNvPicPr>
              <a:picLocks noChangeAspect="1"/>
            </p:cNvPicPr>
            <p:nvPr/>
          </p:nvPicPr>
          <p:blipFill>
            <a:blip r:embed="rId3"/>
            <a:stretch>
              <a:fillRect/>
            </a:stretch>
          </p:blipFill>
          <p:spPr>
            <a:xfrm>
              <a:off x="1078479" y="2976453"/>
              <a:ext cx="639199" cy="1000461"/>
            </a:xfrm>
            <a:prstGeom prst="rect">
              <a:avLst/>
            </a:prstGeom>
          </p:spPr>
        </p:pic>
        <p:pic>
          <p:nvPicPr>
            <p:cNvPr id="6" name="Picture 7" descr="Adoptable Rabbits | morabbit">
              <a:extLst>
                <a:ext uri="{FF2B5EF4-FFF2-40B4-BE49-F238E27FC236}">
                  <a16:creationId xmlns:a16="http://schemas.microsoft.com/office/drawing/2014/main" id="{B80B5DE2-F999-D3F0-D7D3-4BFDE6079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94CCE1A-C09A-AE25-B67A-29425F5F81C6}"/>
                </a:ext>
              </a:extLst>
            </p:cNvPr>
            <p:cNvPicPr>
              <a:picLocks noChangeAspect="1"/>
            </p:cNvPicPr>
            <p:nvPr/>
          </p:nvPicPr>
          <p:blipFill>
            <a:blip r:embed="rId5"/>
            <a:stretch>
              <a:fillRect/>
            </a:stretch>
          </p:blipFill>
          <p:spPr>
            <a:xfrm>
              <a:off x="1078479" y="4851195"/>
              <a:ext cx="519097" cy="682280"/>
            </a:xfrm>
            <a:prstGeom prst="rect">
              <a:avLst/>
            </a:prstGeom>
          </p:spPr>
        </p:pic>
        <p:pic>
          <p:nvPicPr>
            <p:cNvPr id="8" name="Picture 7">
              <a:extLst>
                <a:ext uri="{FF2B5EF4-FFF2-40B4-BE49-F238E27FC236}">
                  <a16:creationId xmlns:a16="http://schemas.microsoft.com/office/drawing/2014/main" id="{4477E143-687E-F7E8-3E60-3363207272D7}"/>
                </a:ext>
              </a:extLst>
            </p:cNvPr>
            <p:cNvPicPr>
              <a:picLocks noChangeAspect="1"/>
            </p:cNvPicPr>
            <p:nvPr/>
          </p:nvPicPr>
          <p:blipFill>
            <a:blip r:embed="rId6"/>
            <a:stretch>
              <a:fillRect/>
            </a:stretch>
          </p:blipFill>
          <p:spPr>
            <a:xfrm>
              <a:off x="951327" y="3976914"/>
              <a:ext cx="766351" cy="681203"/>
            </a:xfrm>
            <a:prstGeom prst="rect">
              <a:avLst/>
            </a:prstGeom>
          </p:spPr>
        </p:pic>
        <p:pic>
          <p:nvPicPr>
            <p:cNvPr id="9" name="Picture 8">
              <a:extLst>
                <a:ext uri="{FF2B5EF4-FFF2-40B4-BE49-F238E27FC236}">
                  <a16:creationId xmlns:a16="http://schemas.microsoft.com/office/drawing/2014/main" id="{7FE0A156-2754-DE86-3101-A2F6C8231D7F}"/>
                </a:ext>
              </a:extLst>
            </p:cNvPr>
            <p:cNvPicPr>
              <a:picLocks noChangeAspect="1"/>
            </p:cNvPicPr>
            <p:nvPr/>
          </p:nvPicPr>
          <p:blipFill>
            <a:blip r:embed="rId7"/>
            <a:stretch>
              <a:fillRect/>
            </a:stretch>
          </p:blipFill>
          <p:spPr>
            <a:xfrm>
              <a:off x="1099145" y="5726553"/>
              <a:ext cx="597865" cy="835808"/>
            </a:xfrm>
            <a:prstGeom prst="rect">
              <a:avLst/>
            </a:prstGeom>
          </p:spPr>
        </p:pic>
      </p:grpSp>
      <p:sp>
        <p:nvSpPr>
          <p:cNvPr id="10" name="TextBox 9">
            <a:extLst>
              <a:ext uri="{FF2B5EF4-FFF2-40B4-BE49-F238E27FC236}">
                <a16:creationId xmlns:a16="http://schemas.microsoft.com/office/drawing/2014/main" id="{24777D1F-9C4D-2BB7-87AD-FE0D5497163A}"/>
              </a:ext>
            </a:extLst>
          </p:cNvPr>
          <p:cNvSpPr txBox="1"/>
          <p:nvPr/>
        </p:nvSpPr>
        <p:spPr>
          <a:xfrm>
            <a:off x="2073729" y="2896177"/>
            <a:ext cx="1389767" cy="584775"/>
          </a:xfrm>
          <a:prstGeom prst="rect">
            <a:avLst/>
          </a:prstGeom>
          <a:noFill/>
        </p:spPr>
        <p:txBody>
          <a:bodyPr wrap="square" rtlCol="0">
            <a:spAutoFit/>
          </a:bodyPr>
          <a:lstStyle/>
          <a:p>
            <a:pPr algn="ctr"/>
            <a:r>
              <a:rPr lang="en-US" sz="1600" dirty="0"/>
              <a:t>Years of education</a:t>
            </a:r>
          </a:p>
        </p:txBody>
      </p:sp>
      <p:sp>
        <p:nvSpPr>
          <p:cNvPr id="11" name="TextBox 10">
            <a:extLst>
              <a:ext uri="{FF2B5EF4-FFF2-40B4-BE49-F238E27FC236}">
                <a16:creationId xmlns:a16="http://schemas.microsoft.com/office/drawing/2014/main" id="{397935A4-0E7F-13AB-F712-586D9F356716}"/>
              </a:ext>
            </a:extLst>
          </p:cNvPr>
          <p:cNvSpPr txBox="1"/>
          <p:nvPr/>
        </p:nvSpPr>
        <p:spPr>
          <a:xfrm>
            <a:off x="1101623" y="3092683"/>
            <a:ext cx="1366657" cy="338554"/>
          </a:xfrm>
          <a:prstGeom prst="rect">
            <a:avLst/>
          </a:prstGeom>
          <a:noFill/>
        </p:spPr>
        <p:txBody>
          <a:bodyPr wrap="square" rtlCol="0">
            <a:spAutoFit/>
          </a:bodyPr>
          <a:lstStyle/>
          <a:p>
            <a:pPr algn="ctr"/>
            <a:r>
              <a:rPr lang="en-US" sz="1600" dirty="0"/>
              <a:t>ln(Earnings)</a:t>
            </a:r>
          </a:p>
        </p:txBody>
      </p:sp>
      <p:sp>
        <p:nvSpPr>
          <p:cNvPr id="12" name="TextBox 11">
            <a:extLst>
              <a:ext uri="{FF2B5EF4-FFF2-40B4-BE49-F238E27FC236}">
                <a16:creationId xmlns:a16="http://schemas.microsoft.com/office/drawing/2014/main" id="{2BFD104C-934C-6E48-5CC2-56CA30C138B1}"/>
              </a:ext>
            </a:extLst>
          </p:cNvPr>
          <p:cNvSpPr txBox="1"/>
          <p:nvPr/>
        </p:nvSpPr>
        <p:spPr>
          <a:xfrm>
            <a:off x="3313249" y="3063595"/>
            <a:ext cx="473656" cy="307777"/>
          </a:xfrm>
          <a:prstGeom prst="rect">
            <a:avLst/>
          </a:prstGeom>
          <a:noFill/>
        </p:spPr>
        <p:txBody>
          <a:bodyPr wrap="none" rtlCol="0">
            <a:spAutoFit/>
          </a:bodyPr>
          <a:lstStyle/>
          <a:p>
            <a:pPr algn="ctr"/>
            <a:r>
              <a:rPr lang="en-US" sz="1400" dirty="0"/>
              <a:t>Age</a:t>
            </a:r>
          </a:p>
        </p:txBody>
      </p:sp>
      <p:sp>
        <p:nvSpPr>
          <p:cNvPr id="13" name="TextBox 12">
            <a:extLst>
              <a:ext uri="{FF2B5EF4-FFF2-40B4-BE49-F238E27FC236}">
                <a16:creationId xmlns:a16="http://schemas.microsoft.com/office/drawing/2014/main" id="{00961BD9-92C5-79D3-2C91-D7EB2CE9FE20}"/>
              </a:ext>
            </a:extLst>
          </p:cNvPr>
          <p:cNvSpPr txBox="1"/>
          <p:nvPr/>
        </p:nvSpPr>
        <p:spPr>
          <a:xfrm>
            <a:off x="3684724" y="2464405"/>
            <a:ext cx="1018292" cy="954107"/>
          </a:xfrm>
          <a:prstGeom prst="rect">
            <a:avLst/>
          </a:prstGeom>
          <a:noFill/>
        </p:spPr>
        <p:txBody>
          <a:bodyPr wrap="square" rtlCol="0">
            <a:spAutoFit/>
          </a:bodyPr>
          <a:lstStyle/>
          <a:p>
            <a:pPr algn="ctr"/>
            <a:r>
              <a:rPr lang="en-US" sz="1400" dirty="0"/>
              <a:t>Parent’s household </a:t>
            </a:r>
          </a:p>
          <a:p>
            <a:pPr algn="ctr"/>
            <a:r>
              <a:rPr lang="en-US" sz="1400" dirty="0"/>
              <a:t>Income ($/</a:t>
            </a:r>
            <a:r>
              <a:rPr lang="en-US" sz="1400" dirty="0" err="1"/>
              <a:t>yr</a:t>
            </a:r>
            <a:r>
              <a:rPr lang="en-US" sz="1400" dirty="0"/>
              <a:t>)</a:t>
            </a:r>
          </a:p>
        </p:txBody>
      </p:sp>
      <p:graphicFrame>
        <p:nvGraphicFramePr>
          <p:cNvPr id="14" name="Table 13">
            <a:extLst>
              <a:ext uri="{FF2B5EF4-FFF2-40B4-BE49-F238E27FC236}">
                <a16:creationId xmlns:a16="http://schemas.microsoft.com/office/drawing/2014/main" id="{7C6FAA9F-17AE-600B-1D63-9905204192A9}"/>
              </a:ext>
            </a:extLst>
          </p:cNvPr>
          <p:cNvGraphicFramePr>
            <a:graphicFrameLocks noGrp="1"/>
          </p:cNvGraphicFramePr>
          <p:nvPr>
            <p:extLst>
              <p:ext uri="{D42A27DB-BD31-4B8C-83A1-F6EECF244321}">
                <p14:modId xmlns:p14="http://schemas.microsoft.com/office/powerpoint/2010/main" val="2429485092"/>
              </p:ext>
            </p:extLst>
          </p:nvPr>
        </p:nvGraphicFramePr>
        <p:xfrm>
          <a:off x="1246569" y="3449290"/>
          <a:ext cx="3314142" cy="3071425"/>
        </p:xfrm>
        <a:graphic>
          <a:graphicData uri="http://schemas.openxmlformats.org/drawingml/2006/table">
            <a:tbl>
              <a:tblPr firstCol="1" bandRow="1">
                <a:tableStyleId>{5C22544A-7EE6-4342-B048-85BDC9FD1C3A}</a:tableStyleId>
              </a:tblPr>
              <a:tblGrid>
                <a:gridCol w="1078942">
                  <a:extLst>
                    <a:ext uri="{9D8B030D-6E8A-4147-A177-3AD203B41FA5}">
                      <a16:colId xmlns:a16="http://schemas.microsoft.com/office/drawing/2014/main" val="3308591606"/>
                    </a:ext>
                  </a:extLst>
                </a:gridCol>
                <a:gridCol w="936498">
                  <a:extLst>
                    <a:ext uri="{9D8B030D-6E8A-4147-A177-3AD203B41FA5}">
                      <a16:colId xmlns:a16="http://schemas.microsoft.com/office/drawing/2014/main" val="3210990961"/>
                    </a:ext>
                  </a:extLst>
                </a:gridCol>
                <a:gridCol w="507027">
                  <a:extLst>
                    <a:ext uri="{9D8B030D-6E8A-4147-A177-3AD203B41FA5}">
                      <a16:colId xmlns:a16="http://schemas.microsoft.com/office/drawing/2014/main" val="3608099880"/>
                    </a:ext>
                  </a:extLst>
                </a:gridCol>
                <a:gridCol w="791675">
                  <a:extLst>
                    <a:ext uri="{9D8B030D-6E8A-4147-A177-3AD203B41FA5}">
                      <a16:colId xmlns:a16="http://schemas.microsoft.com/office/drawing/2014/main" val="4265935449"/>
                    </a:ext>
                  </a:extLst>
                </a:gridCol>
              </a:tblGrid>
              <a:tr h="614285">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614285">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614285">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614285">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614285">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850937A-CF2B-9C7D-636B-45DB74FA6E05}"/>
                  </a:ext>
                </a:extLst>
              </p:cNvPr>
              <p:cNvSpPr txBox="1"/>
              <p:nvPr/>
            </p:nvSpPr>
            <p:spPr>
              <a:xfrm>
                <a:off x="690923" y="947066"/>
                <a:ext cx="598760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5"/>
                          </a:solidFill>
                          <a:latin typeface="Cambria Math" panose="02040503050406030204" pitchFamily="18" charset="0"/>
                        </a:rPr>
                        <m:t>𝑌</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𝛼</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𝛽</m:t>
                      </m:r>
                      <m:r>
                        <a:rPr lang="en-US" sz="2800" b="0" i="1" smtClean="0">
                          <a:solidFill>
                            <a:schemeClr val="accent2"/>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0" smtClean="0">
                              <a:solidFill>
                                <a:schemeClr val="tx1"/>
                              </a:solidFill>
                              <a:latin typeface="Cambria Math" panose="02040503050406030204" pitchFamily="18" charset="0"/>
                            </a:rPr>
                            <m:t>1</m:t>
                          </m:r>
                        </m:sub>
                      </m:sSub>
                      <m:sSub>
                        <m:sSubPr>
                          <m:ctrlPr>
                            <a:rPr lang="en-US" sz="2800" b="0" i="1" smtClean="0">
                              <a:solidFill>
                                <a:schemeClr val="accent6"/>
                              </a:solidFill>
                              <a:latin typeface="Cambria Math" panose="02040503050406030204" pitchFamily="18" charset="0"/>
                            </a:rPr>
                          </m:ctrlPr>
                        </m:sSubPr>
                        <m:e>
                          <m:r>
                            <m:rPr>
                              <m:sty m:val="p"/>
                            </m:rPr>
                            <a:rPr lang="en-US" sz="2800" b="0" i="0" smtClean="0">
                              <a:solidFill>
                                <a:schemeClr val="accent6"/>
                              </a:solidFill>
                              <a:latin typeface="Cambria Math" panose="02040503050406030204" pitchFamily="18" charset="0"/>
                            </a:rPr>
                            <m:t>W</m:t>
                          </m:r>
                        </m:e>
                        <m:sub>
                          <m:r>
                            <a:rPr lang="en-US" sz="2800" b="0" i="0" smtClean="0">
                              <a:solidFill>
                                <a:schemeClr val="accent6"/>
                              </a:solidFill>
                              <a:latin typeface="Cambria Math" panose="02040503050406030204" pitchFamily="18" charset="0"/>
                            </a:rPr>
                            <m:t>1</m:t>
                          </m:r>
                        </m:sub>
                      </m:sSub>
                      <m:r>
                        <a:rPr lang="en-US" sz="2800" b="0" i="0"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2</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2</m:t>
                          </m:r>
                        </m:sub>
                      </m:sSub>
                      <m:r>
                        <a:rPr lang="en-US" sz="2800" b="0" i="0" smtClean="0">
                          <a:solidFill>
                            <a:schemeClr val="bg2">
                              <a:lumMod val="75000"/>
                            </a:schemeClr>
                          </a:solidFill>
                          <a:latin typeface="Cambria Math" panose="02040503050406030204" pitchFamily="18" charset="0"/>
                        </a:rPr>
                        <m:t>+</m:t>
                      </m:r>
                      <m:r>
                        <m:rPr>
                          <m:sty m:val="p"/>
                        </m:rPr>
                        <a:rPr lang="en-US" sz="2800" b="0" i="0" smtClean="0">
                          <a:solidFill>
                            <a:schemeClr val="bg2">
                              <a:lumMod val="75000"/>
                            </a:schemeClr>
                          </a:solidFill>
                          <a:latin typeface="Cambria Math" panose="02040503050406030204" pitchFamily="18" charset="0"/>
                        </a:rPr>
                        <m:t>noise</m:t>
                      </m:r>
                    </m:oMath>
                  </m:oMathPara>
                </a14:m>
                <a:endParaRPr lang="en-US" sz="2800" dirty="0"/>
              </a:p>
            </p:txBody>
          </p:sp>
        </mc:Choice>
        <mc:Fallback xmlns="">
          <p:sp>
            <p:nvSpPr>
              <p:cNvPr id="15" name="TextBox 14">
                <a:extLst>
                  <a:ext uri="{FF2B5EF4-FFF2-40B4-BE49-F238E27FC236}">
                    <a16:creationId xmlns:a16="http://schemas.microsoft.com/office/drawing/2014/main" id="{6850937A-CF2B-9C7D-636B-45DB74FA6E05}"/>
                  </a:ext>
                </a:extLst>
              </p:cNvPr>
              <p:cNvSpPr txBox="1">
                <a:spLocks noRot="1" noChangeAspect="1" noMove="1" noResize="1" noEditPoints="1" noAdjustHandles="1" noChangeArrowheads="1" noChangeShapeType="1" noTextEdit="1"/>
              </p:cNvSpPr>
              <p:nvPr/>
            </p:nvSpPr>
            <p:spPr>
              <a:xfrm>
                <a:off x="690923" y="947066"/>
                <a:ext cx="5987601" cy="523220"/>
              </a:xfrm>
              <a:prstGeom prst="rect">
                <a:avLst/>
              </a:prstGeom>
              <a:blipFill>
                <a:blip r:embed="rId8"/>
                <a:stretch>
                  <a:fillRect b="-19048"/>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D73DBEA8-AA7A-516D-1723-ECFA7CC7CCBF}"/>
              </a:ext>
            </a:extLst>
          </p:cNvPr>
          <p:cNvSpPr txBox="1"/>
          <p:nvPr/>
        </p:nvSpPr>
        <p:spPr>
          <a:xfrm>
            <a:off x="-16963" y="1383270"/>
            <a:ext cx="1359668" cy="369332"/>
          </a:xfrm>
          <a:prstGeom prst="rect">
            <a:avLst/>
          </a:prstGeom>
          <a:solidFill>
            <a:schemeClr val="bg1"/>
          </a:solidFill>
        </p:spPr>
        <p:txBody>
          <a:bodyPr wrap="none" rtlCol="0">
            <a:spAutoFit/>
          </a:bodyPr>
          <a:lstStyle/>
          <a:p>
            <a:r>
              <a:rPr lang="en-US" dirty="0">
                <a:solidFill>
                  <a:schemeClr val="accent5"/>
                </a:solidFill>
              </a:rPr>
              <a:t>ln(earnings)</a:t>
            </a:r>
          </a:p>
        </p:txBody>
      </p:sp>
      <p:sp>
        <p:nvSpPr>
          <p:cNvPr id="19" name="TextBox 18">
            <a:extLst>
              <a:ext uri="{FF2B5EF4-FFF2-40B4-BE49-F238E27FC236}">
                <a16:creationId xmlns:a16="http://schemas.microsoft.com/office/drawing/2014/main" id="{CD02CE98-7030-B42A-F660-A1332117FC67}"/>
              </a:ext>
            </a:extLst>
          </p:cNvPr>
          <p:cNvSpPr txBox="1"/>
          <p:nvPr/>
        </p:nvSpPr>
        <p:spPr>
          <a:xfrm>
            <a:off x="1870296" y="1431888"/>
            <a:ext cx="1195968" cy="369332"/>
          </a:xfrm>
          <a:prstGeom prst="rect">
            <a:avLst/>
          </a:prstGeom>
          <a:noFill/>
        </p:spPr>
        <p:txBody>
          <a:bodyPr wrap="none" rtlCol="0">
            <a:spAutoFit/>
          </a:bodyPr>
          <a:lstStyle/>
          <a:p>
            <a:r>
              <a:rPr lang="en-US" dirty="0">
                <a:solidFill>
                  <a:schemeClr val="accent2"/>
                </a:solidFill>
              </a:rPr>
              <a:t>Education</a:t>
            </a:r>
          </a:p>
        </p:txBody>
      </p:sp>
      <p:sp>
        <p:nvSpPr>
          <p:cNvPr id="20" name="TextBox 19">
            <a:extLst>
              <a:ext uri="{FF2B5EF4-FFF2-40B4-BE49-F238E27FC236}">
                <a16:creationId xmlns:a16="http://schemas.microsoft.com/office/drawing/2014/main" id="{4C1C4901-3662-D473-9144-435841824D4C}"/>
              </a:ext>
            </a:extLst>
          </p:cNvPr>
          <p:cNvSpPr txBox="1"/>
          <p:nvPr/>
        </p:nvSpPr>
        <p:spPr>
          <a:xfrm>
            <a:off x="3475546" y="1426778"/>
            <a:ext cx="1770293" cy="369332"/>
          </a:xfrm>
          <a:prstGeom prst="rect">
            <a:avLst/>
          </a:prstGeom>
          <a:noFill/>
        </p:spPr>
        <p:txBody>
          <a:bodyPr wrap="none" rtlCol="0">
            <a:spAutoFit/>
          </a:bodyPr>
          <a:lstStyle/>
          <a:p>
            <a:r>
              <a:rPr lang="en-US" dirty="0">
                <a:solidFill>
                  <a:schemeClr val="accent6"/>
                </a:solidFill>
              </a:rPr>
              <a:t>More covariates</a:t>
            </a:r>
          </a:p>
        </p:txBody>
      </p:sp>
      <p:sp>
        <p:nvSpPr>
          <p:cNvPr id="28" name="Content Placeholder 2">
            <a:extLst>
              <a:ext uri="{FF2B5EF4-FFF2-40B4-BE49-F238E27FC236}">
                <a16:creationId xmlns:a16="http://schemas.microsoft.com/office/drawing/2014/main" id="{7CE0C766-7615-464F-2B6C-0724C0EA80C4}"/>
              </a:ext>
            </a:extLst>
          </p:cNvPr>
          <p:cNvSpPr>
            <a:spLocks noGrp="1"/>
          </p:cNvSpPr>
          <p:nvPr>
            <p:ph idx="1"/>
          </p:nvPr>
        </p:nvSpPr>
        <p:spPr>
          <a:xfrm>
            <a:off x="5103690" y="2015687"/>
            <a:ext cx="6862883" cy="771205"/>
          </a:xfrm>
        </p:spPr>
        <p:txBody>
          <a:bodyPr/>
          <a:lstStyle/>
          <a:p>
            <a:r>
              <a:rPr lang="en-US" dirty="0"/>
              <a:t>Linear-algebraically, what is going on?</a:t>
            </a:r>
          </a:p>
        </p:txBody>
      </p:sp>
    </p:spTree>
    <p:extLst>
      <p:ext uri="{BB962C8B-B14F-4D97-AF65-F5344CB8AC3E}">
        <p14:creationId xmlns:p14="http://schemas.microsoft.com/office/powerpoint/2010/main" val="761269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FEE0D-AEB0-EA0B-589E-29284C761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5538F-8B79-5988-A120-E25833FDC09F}"/>
              </a:ext>
            </a:extLst>
          </p:cNvPr>
          <p:cNvSpPr>
            <a:spLocks noGrp="1"/>
          </p:cNvSpPr>
          <p:nvPr>
            <p:ph type="title"/>
          </p:nvPr>
        </p:nvSpPr>
        <p:spPr>
          <a:xfrm>
            <a:off x="838200" y="-48943"/>
            <a:ext cx="10515600" cy="1325563"/>
          </a:xfrm>
        </p:spPr>
        <p:txBody>
          <a:bodyPr/>
          <a:lstStyle/>
          <a:p>
            <a:r>
              <a:rPr lang="en-US" dirty="0"/>
              <a:t>Suppose we get a few more covariates</a:t>
            </a:r>
          </a:p>
        </p:txBody>
      </p:sp>
      <p:sp>
        <p:nvSpPr>
          <p:cNvPr id="3" name="Content Placeholder 2">
            <a:extLst>
              <a:ext uri="{FF2B5EF4-FFF2-40B4-BE49-F238E27FC236}">
                <a16:creationId xmlns:a16="http://schemas.microsoft.com/office/drawing/2014/main" id="{A51A33C6-D0FC-5D43-4D2C-8478B1441FD5}"/>
              </a:ext>
            </a:extLst>
          </p:cNvPr>
          <p:cNvSpPr>
            <a:spLocks noGrp="1"/>
          </p:cNvSpPr>
          <p:nvPr>
            <p:ph idx="1"/>
          </p:nvPr>
        </p:nvSpPr>
        <p:spPr>
          <a:xfrm>
            <a:off x="5103690" y="2015687"/>
            <a:ext cx="6862883" cy="771205"/>
          </a:xfrm>
        </p:spPr>
        <p:txBody>
          <a:bodyPr/>
          <a:lstStyle/>
          <a:p>
            <a:r>
              <a:rPr lang="en-US" dirty="0"/>
              <a:t>Linear-algebraically, what is going on?</a:t>
            </a:r>
          </a:p>
        </p:txBody>
      </p:sp>
      <p:grpSp>
        <p:nvGrpSpPr>
          <p:cNvPr id="4" name="Group 3">
            <a:extLst>
              <a:ext uri="{FF2B5EF4-FFF2-40B4-BE49-F238E27FC236}">
                <a16:creationId xmlns:a16="http://schemas.microsoft.com/office/drawing/2014/main" id="{2098F6CE-0DE0-D1B4-8F4E-DD9A7FB1F2CB}"/>
              </a:ext>
            </a:extLst>
          </p:cNvPr>
          <p:cNvGrpSpPr/>
          <p:nvPr/>
        </p:nvGrpSpPr>
        <p:grpSpPr>
          <a:xfrm>
            <a:off x="530578" y="3480952"/>
            <a:ext cx="515122" cy="3019854"/>
            <a:chOff x="951327" y="2069703"/>
            <a:chExt cx="766351" cy="4492658"/>
          </a:xfrm>
        </p:grpSpPr>
        <p:pic>
          <p:nvPicPr>
            <p:cNvPr id="5" name="Picture 4">
              <a:extLst>
                <a:ext uri="{FF2B5EF4-FFF2-40B4-BE49-F238E27FC236}">
                  <a16:creationId xmlns:a16="http://schemas.microsoft.com/office/drawing/2014/main" id="{3115F30B-71AA-EC84-5632-90DCE58D8190}"/>
                </a:ext>
              </a:extLst>
            </p:cNvPr>
            <p:cNvPicPr>
              <a:picLocks noChangeAspect="1"/>
            </p:cNvPicPr>
            <p:nvPr/>
          </p:nvPicPr>
          <p:blipFill>
            <a:blip r:embed="rId3"/>
            <a:stretch>
              <a:fillRect/>
            </a:stretch>
          </p:blipFill>
          <p:spPr>
            <a:xfrm>
              <a:off x="1078479" y="2976453"/>
              <a:ext cx="639199" cy="1000461"/>
            </a:xfrm>
            <a:prstGeom prst="rect">
              <a:avLst/>
            </a:prstGeom>
          </p:spPr>
        </p:pic>
        <p:pic>
          <p:nvPicPr>
            <p:cNvPr id="6" name="Picture 7" descr="Adoptable Rabbits | morabbit">
              <a:extLst>
                <a:ext uri="{FF2B5EF4-FFF2-40B4-BE49-F238E27FC236}">
                  <a16:creationId xmlns:a16="http://schemas.microsoft.com/office/drawing/2014/main" id="{58BFFBC4-E558-A96B-ADCE-5FD4B205A2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9B6BB4B-28BF-494E-69D2-264FC4A962CC}"/>
                </a:ext>
              </a:extLst>
            </p:cNvPr>
            <p:cNvPicPr>
              <a:picLocks noChangeAspect="1"/>
            </p:cNvPicPr>
            <p:nvPr/>
          </p:nvPicPr>
          <p:blipFill>
            <a:blip r:embed="rId5"/>
            <a:stretch>
              <a:fillRect/>
            </a:stretch>
          </p:blipFill>
          <p:spPr>
            <a:xfrm>
              <a:off x="1078479" y="4851195"/>
              <a:ext cx="519097" cy="682280"/>
            </a:xfrm>
            <a:prstGeom prst="rect">
              <a:avLst/>
            </a:prstGeom>
          </p:spPr>
        </p:pic>
        <p:pic>
          <p:nvPicPr>
            <p:cNvPr id="8" name="Picture 7">
              <a:extLst>
                <a:ext uri="{FF2B5EF4-FFF2-40B4-BE49-F238E27FC236}">
                  <a16:creationId xmlns:a16="http://schemas.microsoft.com/office/drawing/2014/main" id="{99B3240A-B47A-D172-E376-FAECB0721DC6}"/>
                </a:ext>
              </a:extLst>
            </p:cNvPr>
            <p:cNvPicPr>
              <a:picLocks noChangeAspect="1"/>
            </p:cNvPicPr>
            <p:nvPr/>
          </p:nvPicPr>
          <p:blipFill>
            <a:blip r:embed="rId6"/>
            <a:stretch>
              <a:fillRect/>
            </a:stretch>
          </p:blipFill>
          <p:spPr>
            <a:xfrm>
              <a:off x="951327" y="3976914"/>
              <a:ext cx="766351" cy="681203"/>
            </a:xfrm>
            <a:prstGeom prst="rect">
              <a:avLst/>
            </a:prstGeom>
          </p:spPr>
        </p:pic>
        <p:pic>
          <p:nvPicPr>
            <p:cNvPr id="9" name="Picture 8">
              <a:extLst>
                <a:ext uri="{FF2B5EF4-FFF2-40B4-BE49-F238E27FC236}">
                  <a16:creationId xmlns:a16="http://schemas.microsoft.com/office/drawing/2014/main" id="{A8F04491-DA19-70EB-882D-A8B45AB64DF8}"/>
                </a:ext>
              </a:extLst>
            </p:cNvPr>
            <p:cNvPicPr>
              <a:picLocks noChangeAspect="1"/>
            </p:cNvPicPr>
            <p:nvPr/>
          </p:nvPicPr>
          <p:blipFill>
            <a:blip r:embed="rId7"/>
            <a:stretch>
              <a:fillRect/>
            </a:stretch>
          </p:blipFill>
          <p:spPr>
            <a:xfrm>
              <a:off x="1099145" y="5726553"/>
              <a:ext cx="597865" cy="835808"/>
            </a:xfrm>
            <a:prstGeom prst="rect">
              <a:avLst/>
            </a:prstGeom>
          </p:spPr>
        </p:pic>
      </p:grpSp>
      <p:sp>
        <p:nvSpPr>
          <p:cNvPr id="10" name="TextBox 9">
            <a:extLst>
              <a:ext uri="{FF2B5EF4-FFF2-40B4-BE49-F238E27FC236}">
                <a16:creationId xmlns:a16="http://schemas.microsoft.com/office/drawing/2014/main" id="{44364C35-7843-991E-FCB0-F67BD4CE8CAD}"/>
              </a:ext>
            </a:extLst>
          </p:cNvPr>
          <p:cNvSpPr txBox="1"/>
          <p:nvPr/>
        </p:nvSpPr>
        <p:spPr>
          <a:xfrm>
            <a:off x="2073729" y="2896177"/>
            <a:ext cx="1389767" cy="584775"/>
          </a:xfrm>
          <a:prstGeom prst="rect">
            <a:avLst/>
          </a:prstGeom>
          <a:noFill/>
        </p:spPr>
        <p:txBody>
          <a:bodyPr wrap="square" rtlCol="0">
            <a:spAutoFit/>
          </a:bodyPr>
          <a:lstStyle/>
          <a:p>
            <a:pPr algn="ctr"/>
            <a:r>
              <a:rPr lang="en-US" sz="1600" dirty="0"/>
              <a:t>Years of education</a:t>
            </a:r>
          </a:p>
        </p:txBody>
      </p:sp>
      <p:sp>
        <p:nvSpPr>
          <p:cNvPr id="11" name="TextBox 10">
            <a:extLst>
              <a:ext uri="{FF2B5EF4-FFF2-40B4-BE49-F238E27FC236}">
                <a16:creationId xmlns:a16="http://schemas.microsoft.com/office/drawing/2014/main" id="{38B042AC-F96C-B1B5-C1F1-3B0ABF7A15E3}"/>
              </a:ext>
            </a:extLst>
          </p:cNvPr>
          <p:cNvSpPr txBox="1"/>
          <p:nvPr/>
        </p:nvSpPr>
        <p:spPr>
          <a:xfrm>
            <a:off x="1101623" y="3092683"/>
            <a:ext cx="1366657" cy="338554"/>
          </a:xfrm>
          <a:prstGeom prst="rect">
            <a:avLst/>
          </a:prstGeom>
          <a:noFill/>
        </p:spPr>
        <p:txBody>
          <a:bodyPr wrap="square" rtlCol="0">
            <a:spAutoFit/>
          </a:bodyPr>
          <a:lstStyle/>
          <a:p>
            <a:pPr algn="ctr"/>
            <a:r>
              <a:rPr lang="en-US" sz="1600" dirty="0"/>
              <a:t>ln(Earnings)</a:t>
            </a:r>
          </a:p>
        </p:txBody>
      </p:sp>
      <p:sp>
        <p:nvSpPr>
          <p:cNvPr id="12" name="TextBox 11">
            <a:extLst>
              <a:ext uri="{FF2B5EF4-FFF2-40B4-BE49-F238E27FC236}">
                <a16:creationId xmlns:a16="http://schemas.microsoft.com/office/drawing/2014/main" id="{51702178-4212-35D1-8EBB-7DEB97279A5C}"/>
              </a:ext>
            </a:extLst>
          </p:cNvPr>
          <p:cNvSpPr txBox="1"/>
          <p:nvPr/>
        </p:nvSpPr>
        <p:spPr>
          <a:xfrm>
            <a:off x="3313249" y="3063595"/>
            <a:ext cx="473656" cy="307777"/>
          </a:xfrm>
          <a:prstGeom prst="rect">
            <a:avLst/>
          </a:prstGeom>
          <a:noFill/>
        </p:spPr>
        <p:txBody>
          <a:bodyPr wrap="none" rtlCol="0">
            <a:spAutoFit/>
          </a:bodyPr>
          <a:lstStyle/>
          <a:p>
            <a:pPr algn="ctr"/>
            <a:r>
              <a:rPr lang="en-US" sz="1400" dirty="0"/>
              <a:t>Age</a:t>
            </a:r>
          </a:p>
        </p:txBody>
      </p:sp>
      <p:sp>
        <p:nvSpPr>
          <p:cNvPr id="13" name="TextBox 12">
            <a:extLst>
              <a:ext uri="{FF2B5EF4-FFF2-40B4-BE49-F238E27FC236}">
                <a16:creationId xmlns:a16="http://schemas.microsoft.com/office/drawing/2014/main" id="{2BB7209C-04B6-CCAB-3AC5-11E48958053D}"/>
              </a:ext>
            </a:extLst>
          </p:cNvPr>
          <p:cNvSpPr txBox="1"/>
          <p:nvPr/>
        </p:nvSpPr>
        <p:spPr>
          <a:xfrm>
            <a:off x="3684724" y="2464405"/>
            <a:ext cx="1018292" cy="954107"/>
          </a:xfrm>
          <a:prstGeom prst="rect">
            <a:avLst/>
          </a:prstGeom>
          <a:noFill/>
        </p:spPr>
        <p:txBody>
          <a:bodyPr wrap="square" rtlCol="0">
            <a:spAutoFit/>
          </a:bodyPr>
          <a:lstStyle/>
          <a:p>
            <a:pPr algn="ctr"/>
            <a:r>
              <a:rPr lang="en-US" sz="1400" dirty="0"/>
              <a:t>Parent’s household </a:t>
            </a:r>
          </a:p>
          <a:p>
            <a:pPr algn="ctr"/>
            <a:r>
              <a:rPr lang="en-US" sz="1400" dirty="0"/>
              <a:t>Income ($/</a:t>
            </a:r>
            <a:r>
              <a:rPr lang="en-US" sz="1400" dirty="0" err="1"/>
              <a:t>yr</a:t>
            </a:r>
            <a:r>
              <a:rPr lang="en-US" sz="1400" dirty="0"/>
              <a:t>)</a:t>
            </a:r>
          </a:p>
        </p:txBody>
      </p:sp>
      <p:graphicFrame>
        <p:nvGraphicFramePr>
          <p:cNvPr id="14" name="Table 13">
            <a:extLst>
              <a:ext uri="{FF2B5EF4-FFF2-40B4-BE49-F238E27FC236}">
                <a16:creationId xmlns:a16="http://schemas.microsoft.com/office/drawing/2014/main" id="{281B29C2-800D-A521-0619-617C42EEC317}"/>
              </a:ext>
            </a:extLst>
          </p:cNvPr>
          <p:cNvGraphicFramePr>
            <a:graphicFrameLocks noGrp="1"/>
          </p:cNvGraphicFramePr>
          <p:nvPr/>
        </p:nvGraphicFramePr>
        <p:xfrm>
          <a:off x="1246569" y="3449290"/>
          <a:ext cx="3314142" cy="3071425"/>
        </p:xfrm>
        <a:graphic>
          <a:graphicData uri="http://schemas.openxmlformats.org/drawingml/2006/table">
            <a:tbl>
              <a:tblPr firstCol="1" bandRow="1">
                <a:tableStyleId>{5C22544A-7EE6-4342-B048-85BDC9FD1C3A}</a:tableStyleId>
              </a:tblPr>
              <a:tblGrid>
                <a:gridCol w="1078942">
                  <a:extLst>
                    <a:ext uri="{9D8B030D-6E8A-4147-A177-3AD203B41FA5}">
                      <a16:colId xmlns:a16="http://schemas.microsoft.com/office/drawing/2014/main" val="3308591606"/>
                    </a:ext>
                  </a:extLst>
                </a:gridCol>
                <a:gridCol w="936498">
                  <a:extLst>
                    <a:ext uri="{9D8B030D-6E8A-4147-A177-3AD203B41FA5}">
                      <a16:colId xmlns:a16="http://schemas.microsoft.com/office/drawing/2014/main" val="3210990961"/>
                    </a:ext>
                  </a:extLst>
                </a:gridCol>
                <a:gridCol w="507027">
                  <a:extLst>
                    <a:ext uri="{9D8B030D-6E8A-4147-A177-3AD203B41FA5}">
                      <a16:colId xmlns:a16="http://schemas.microsoft.com/office/drawing/2014/main" val="3608099880"/>
                    </a:ext>
                  </a:extLst>
                </a:gridCol>
                <a:gridCol w="791675">
                  <a:extLst>
                    <a:ext uri="{9D8B030D-6E8A-4147-A177-3AD203B41FA5}">
                      <a16:colId xmlns:a16="http://schemas.microsoft.com/office/drawing/2014/main" val="4265935449"/>
                    </a:ext>
                  </a:extLst>
                </a:gridCol>
              </a:tblGrid>
              <a:tr h="614285">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614285">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614285">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614285">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614285">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1F3455-BDF7-6E10-78CC-5E615C00466F}"/>
                  </a:ext>
                </a:extLst>
              </p:cNvPr>
              <p:cNvSpPr txBox="1"/>
              <p:nvPr/>
            </p:nvSpPr>
            <p:spPr>
              <a:xfrm>
                <a:off x="690923" y="947066"/>
                <a:ext cx="598760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5"/>
                          </a:solidFill>
                          <a:latin typeface="Cambria Math" panose="02040503050406030204" pitchFamily="18" charset="0"/>
                        </a:rPr>
                        <m:t>𝑌</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𝛼</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𝛽</m:t>
                      </m:r>
                      <m:r>
                        <a:rPr lang="en-US" sz="2800" b="0" i="1" smtClean="0">
                          <a:solidFill>
                            <a:schemeClr val="accent2"/>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0" smtClean="0">
                              <a:solidFill>
                                <a:schemeClr val="tx1"/>
                              </a:solidFill>
                              <a:latin typeface="Cambria Math" panose="02040503050406030204" pitchFamily="18" charset="0"/>
                            </a:rPr>
                            <m:t>1</m:t>
                          </m:r>
                        </m:sub>
                      </m:sSub>
                      <m:sSub>
                        <m:sSubPr>
                          <m:ctrlPr>
                            <a:rPr lang="en-US" sz="2800" b="0" i="1" smtClean="0">
                              <a:solidFill>
                                <a:schemeClr val="accent6"/>
                              </a:solidFill>
                              <a:latin typeface="Cambria Math" panose="02040503050406030204" pitchFamily="18" charset="0"/>
                            </a:rPr>
                          </m:ctrlPr>
                        </m:sSubPr>
                        <m:e>
                          <m:r>
                            <m:rPr>
                              <m:sty m:val="p"/>
                            </m:rPr>
                            <a:rPr lang="en-US" sz="2800" b="0" i="0" smtClean="0">
                              <a:solidFill>
                                <a:schemeClr val="accent6"/>
                              </a:solidFill>
                              <a:latin typeface="Cambria Math" panose="02040503050406030204" pitchFamily="18" charset="0"/>
                            </a:rPr>
                            <m:t>W</m:t>
                          </m:r>
                        </m:e>
                        <m:sub>
                          <m:r>
                            <a:rPr lang="en-US" sz="2800" b="0" i="0" smtClean="0">
                              <a:solidFill>
                                <a:schemeClr val="accent6"/>
                              </a:solidFill>
                              <a:latin typeface="Cambria Math" panose="02040503050406030204" pitchFamily="18" charset="0"/>
                            </a:rPr>
                            <m:t>1</m:t>
                          </m:r>
                        </m:sub>
                      </m:sSub>
                      <m:r>
                        <a:rPr lang="en-US" sz="2800" b="0" i="0"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2</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2</m:t>
                          </m:r>
                        </m:sub>
                      </m:sSub>
                      <m:r>
                        <a:rPr lang="en-US" sz="2800" b="0" i="0" smtClean="0">
                          <a:solidFill>
                            <a:schemeClr val="bg2">
                              <a:lumMod val="75000"/>
                            </a:schemeClr>
                          </a:solidFill>
                          <a:latin typeface="Cambria Math" panose="02040503050406030204" pitchFamily="18" charset="0"/>
                        </a:rPr>
                        <m:t>+</m:t>
                      </m:r>
                      <m:r>
                        <m:rPr>
                          <m:sty m:val="p"/>
                        </m:rPr>
                        <a:rPr lang="en-US" sz="2800" b="0" i="0" smtClean="0">
                          <a:solidFill>
                            <a:schemeClr val="bg2">
                              <a:lumMod val="75000"/>
                            </a:schemeClr>
                          </a:solidFill>
                          <a:latin typeface="Cambria Math" panose="02040503050406030204" pitchFamily="18" charset="0"/>
                        </a:rPr>
                        <m:t>noise</m:t>
                      </m:r>
                    </m:oMath>
                  </m:oMathPara>
                </a14:m>
                <a:endParaRPr lang="en-US" sz="2800" dirty="0"/>
              </a:p>
            </p:txBody>
          </p:sp>
        </mc:Choice>
        <mc:Fallback xmlns="">
          <p:sp>
            <p:nvSpPr>
              <p:cNvPr id="15" name="TextBox 14">
                <a:extLst>
                  <a:ext uri="{FF2B5EF4-FFF2-40B4-BE49-F238E27FC236}">
                    <a16:creationId xmlns:a16="http://schemas.microsoft.com/office/drawing/2014/main" id="{6850937A-CF2B-9C7D-636B-45DB74FA6E05}"/>
                  </a:ext>
                </a:extLst>
              </p:cNvPr>
              <p:cNvSpPr txBox="1">
                <a:spLocks noRot="1" noChangeAspect="1" noMove="1" noResize="1" noEditPoints="1" noAdjustHandles="1" noChangeArrowheads="1" noChangeShapeType="1" noTextEdit="1"/>
              </p:cNvSpPr>
              <p:nvPr/>
            </p:nvSpPr>
            <p:spPr>
              <a:xfrm>
                <a:off x="690923" y="947066"/>
                <a:ext cx="5987601" cy="523220"/>
              </a:xfrm>
              <a:prstGeom prst="rect">
                <a:avLst/>
              </a:prstGeom>
              <a:blipFill>
                <a:blip r:embed="rId8"/>
                <a:stretch>
                  <a:fillRect b="-19048"/>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27290569-280E-1808-D08D-8D1322CEEF70}"/>
              </a:ext>
            </a:extLst>
          </p:cNvPr>
          <p:cNvSpPr txBox="1"/>
          <p:nvPr/>
        </p:nvSpPr>
        <p:spPr>
          <a:xfrm>
            <a:off x="-16963" y="1383270"/>
            <a:ext cx="1359668" cy="369332"/>
          </a:xfrm>
          <a:prstGeom prst="rect">
            <a:avLst/>
          </a:prstGeom>
          <a:solidFill>
            <a:schemeClr val="bg1"/>
          </a:solidFill>
        </p:spPr>
        <p:txBody>
          <a:bodyPr wrap="none" rtlCol="0">
            <a:spAutoFit/>
          </a:bodyPr>
          <a:lstStyle/>
          <a:p>
            <a:r>
              <a:rPr lang="en-US" dirty="0">
                <a:solidFill>
                  <a:schemeClr val="accent5"/>
                </a:solidFill>
              </a:rPr>
              <a:t>ln(earnings)</a:t>
            </a:r>
          </a:p>
        </p:txBody>
      </p:sp>
      <p:sp>
        <p:nvSpPr>
          <p:cNvPr id="19" name="TextBox 18">
            <a:extLst>
              <a:ext uri="{FF2B5EF4-FFF2-40B4-BE49-F238E27FC236}">
                <a16:creationId xmlns:a16="http://schemas.microsoft.com/office/drawing/2014/main" id="{9934B549-90F7-8CC4-491D-BB13D03C9BFB}"/>
              </a:ext>
            </a:extLst>
          </p:cNvPr>
          <p:cNvSpPr txBox="1"/>
          <p:nvPr/>
        </p:nvSpPr>
        <p:spPr>
          <a:xfrm>
            <a:off x="1870296" y="1431888"/>
            <a:ext cx="1195968" cy="369332"/>
          </a:xfrm>
          <a:prstGeom prst="rect">
            <a:avLst/>
          </a:prstGeom>
          <a:noFill/>
        </p:spPr>
        <p:txBody>
          <a:bodyPr wrap="none" rtlCol="0">
            <a:spAutoFit/>
          </a:bodyPr>
          <a:lstStyle/>
          <a:p>
            <a:r>
              <a:rPr lang="en-US" dirty="0">
                <a:solidFill>
                  <a:schemeClr val="accent2"/>
                </a:solidFill>
              </a:rPr>
              <a:t>Education</a:t>
            </a:r>
          </a:p>
        </p:txBody>
      </p:sp>
      <p:sp>
        <p:nvSpPr>
          <p:cNvPr id="20" name="TextBox 19">
            <a:extLst>
              <a:ext uri="{FF2B5EF4-FFF2-40B4-BE49-F238E27FC236}">
                <a16:creationId xmlns:a16="http://schemas.microsoft.com/office/drawing/2014/main" id="{86FBB32D-16C9-9B7E-7377-AF9B52A2C356}"/>
              </a:ext>
            </a:extLst>
          </p:cNvPr>
          <p:cNvSpPr txBox="1"/>
          <p:nvPr/>
        </p:nvSpPr>
        <p:spPr>
          <a:xfrm>
            <a:off x="3475546" y="1426778"/>
            <a:ext cx="1770293" cy="369332"/>
          </a:xfrm>
          <a:prstGeom prst="rect">
            <a:avLst/>
          </a:prstGeom>
          <a:noFill/>
        </p:spPr>
        <p:txBody>
          <a:bodyPr wrap="none" rtlCol="0">
            <a:spAutoFit/>
          </a:bodyPr>
          <a:lstStyle/>
          <a:p>
            <a:r>
              <a:rPr lang="en-US" dirty="0">
                <a:solidFill>
                  <a:schemeClr val="accent6"/>
                </a:solidFill>
              </a:rPr>
              <a:t>More covariates</a:t>
            </a:r>
          </a:p>
        </p:txBody>
      </p:sp>
      <p:graphicFrame>
        <p:nvGraphicFramePr>
          <p:cNvPr id="21" name="Table 20">
            <a:extLst>
              <a:ext uri="{FF2B5EF4-FFF2-40B4-BE49-F238E27FC236}">
                <a16:creationId xmlns:a16="http://schemas.microsoft.com/office/drawing/2014/main" id="{C3A102E8-C5C7-471C-E792-A1C9EF82B35A}"/>
              </a:ext>
            </a:extLst>
          </p:cNvPr>
          <p:cNvGraphicFramePr>
            <a:graphicFrameLocks noGrp="1"/>
          </p:cNvGraphicFramePr>
          <p:nvPr/>
        </p:nvGraphicFramePr>
        <p:xfrm>
          <a:off x="5786714" y="3000839"/>
          <a:ext cx="1912320" cy="2825465"/>
        </p:xfrm>
        <a:graphic>
          <a:graphicData uri="http://schemas.openxmlformats.org/drawingml/2006/table">
            <a:tbl>
              <a:tblPr bandRow="1">
                <a:tableStyleId>{5C22544A-7EE6-4342-B048-85BDC9FD1C3A}</a:tableStyleId>
              </a:tblPr>
              <a:tblGrid>
                <a:gridCol w="372534">
                  <a:extLst>
                    <a:ext uri="{9D8B030D-6E8A-4147-A177-3AD203B41FA5}">
                      <a16:colId xmlns:a16="http://schemas.microsoft.com/office/drawing/2014/main" val="3540258075"/>
                    </a:ext>
                  </a:extLst>
                </a:gridCol>
                <a:gridCol w="406400">
                  <a:extLst>
                    <a:ext uri="{9D8B030D-6E8A-4147-A177-3AD203B41FA5}">
                      <a16:colId xmlns:a16="http://schemas.microsoft.com/office/drawing/2014/main" val="3819186394"/>
                    </a:ext>
                  </a:extLst>
                </a:gridCol>
                <a:gridCol w="474133">
                  <a:extLst>
                    <a:ext uri="{9D8B030D-6E8A-4147-A177-3AD203B41FA5}">
                      <a16:colId xmlns:a16="http://schemas.microsoft.com/office/drawing/2014/main" val="3161371955"/>
                    </a:ext>
                  </a:extLst>
                </a:gridCol>
                <a:gridCol w="659253">
                  <a:extLst>
                    <a:ext uri="{9D8B030D-6E8A-4147-A177-3AD203B41FA5}">
                      <a16:colId xmlns:a16="http://schemas.microsoft.com/office/drawing/2014/main" val="2160179659"/>
                    </a:ext>
                  </a:extLst>
                </a:gridCol>
              </a:tblGrid>
              <a:tr h="565093">
                <a:tc>
                  <a:txBody>
                    <a:bodyPr/>
                    <a:lstStyle/>
                    <a:p>
                      <a:pPr algn="ctr"/>
                      <a:r>
                        <a:rPr lang="en-US" sz="1400"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644365"/>
                  </a:ext>
                </a:extLst>
              </a:tr>
              <a:tr h="565093">
                <a:tc>
                  <a:txBody>
                    <a:bodyPr/>
                    <a:lstStyle/>
                    <a:p>
                      <a:pPr algn="ctr"/>
                      <a:r>
                        <a:rPr lang="en-US" sz="1400"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7901346"/>
                  </a:ext>
                </a:extLst>
              </a:tr>
              <a:tr h="565093">
                <a:tc>
                  <a:txBody>
                    <a:bodyPr/>
                    <a:lstStyle/>
                    <a:p>
                      <a:pPr algn="ctr"/>
                      <a:r>
                        <a:rPr lang="en-US" sz="1400"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2131943"/>
                  </a:ext>
                </a:extLst>
              </a:tr>
              <a:tr h="565093">
                <a:tc>
                  <a:txBody>
                    <a:bodyPr/>
                    <a:lstStyle/>
                    <a:p>
                      <a:pPr algn="ctr"/>
                      <a:r>
                        <a:rPr lang="en-US" sz="1400"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143275"/>
                  </a:ext>
                </a:extLst>
              </a:tr>
              <a:tr h="565093">
                <a:tc>
                  <a:txBody>
                    <a:bodyPr/>
                    <a:lstStyle/>
                    <a:p>
                      <a:pPr algn="ctr"/>
                      <a:r>
                        <a:rPr lang="en-US" sz="1400"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4160178"/>
                  </a:ext>
                </a:extLst>
              </a:tr>
            </a:tbl>
          </a:graphicData>
        </a:graphic>
      </p:graphicFrame>
      <p:graphicFrame>
        <p:nvGraphicFramePr>
          <p:cNvPr id="22" name="Table 21">
            <a:extLst>
              <a:ext uri="{FF2B5EF4-FFF2-40B4-BE49-F238E27FC236}">
                <a16:creationId xmlns:a16="http://schemas.microsoft.com/office/drawing/2014/main" id="{B0EFB12C-7A98-0BBB-30E5-A804BCFAEAB6}"/>
              </a:ext>
            </a:extLst>
          </p:cNvPr>
          <p:cNvGraphicFramePr>
            <a:graphicFrameLocks noGrp="1"/>
          </p:cNvGraphicFramePr>
          <p:nvPr/>
        </p:nvGraphicFramePr>
        <p:xfrm>
          <a:off x="9284031" y="3000839"/>
          <a:ext cx="558194" cy="2792595"/>
        </p:xfrm>
        <a:graphic>
          <a:graphicData uri="http://schemas.openxmlformats.org/drawingml/2006/table">
            <a:tbl>
              <a:tblPr firstCol="1" bandRow="1">
                <a:tableStyleId>{5C22544A-7EE6-4342-B048-85BDC9FD1C3A}</a:tableStyleId>
              </a:tblPr>
              <a:tblGrid>
                <a:gridCol w="558194">
                  <a:extLst>
                    <a:ext uri="{9D8B030D-6E8A-4147-A177-3AD203B41FA5}">
                      <a16:colId xmlns:a16="http://schemas.microsoft.com/office/drawing/2014/main" val="4059199407"/>
                    </a:ext>
                  </a:extLst>
                </a:gridCol>
              </a:tblGrid>
              <a:tr h="558519">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1272311"/>
                  </a:ext>
                </a:extLst>
              </a:tr>
              <a:tr h="558519">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0022016"/>
                  </a:ext>
                </a:extLst>
              </a:tr>
              <a:tr h="558519">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194319"/>
                  </a:ext>
                </a:extLst>
              </a:tr>
              <a:tr h="558519">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631022"/>
                  </a:ext>
                </a:extLst>
              </a:tr>
              <a:tr h="558519">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4705678"/>
                  </a:ext>
                </a:extLst>
              </a:tr>
            </a:tbl>
          </a:graphicData>
        </a:graphic>
      </p:graphicFrame>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27DE7066-CEAA-8CF9-F71C-E9FD4204ABCE}"/>
                  </a:ext>
                </a:extLst>
              </p:cNvPr>
              <p:cNvGraphicFramePr>
                <a:graphicFrameLocks noGrp="1"/>
              </p:cNvGraphicFramePr>
              <p:nvPr/>
            </p:nvGraphicFramePr>
            <p:xfrm>
              <a:off x="7961625" y="2983185"/>
              <a:ext cx="469761" cy="1713965"/>
            </p:xfrm>
            <a:graphic>
              <a:graphicData uri="http://schemas.openxmlformats.org/drawingml/2006/table">
                <a:tbl>
                  <a:tblPr bandRow="1">
                    <a:tableStyleId>{21E4AEA4-8DFA-4A89-87EB-49C32662AFE0}</a:tableStyleId>
                  </a:tblPr>
                  <a:tblGrid>
                    <a:gridCol w="469761">
                      <a:extLst>
                        <a:ext uri="{9D8B030D-6E8A-4147-A177-3AD203B41FA5}">
                          <a16:colId xmlns:a16="http://schemas.microsoft.com/office/drawing/2014/main" val="2231342481"/>
                        </a:ext>
                      </a:extLst>
                    </a:gridCol>
                  </a:tblGrid>
                  <a:tr h="383182">
                    <a:tc>
                      <a:txBody>
                        <a:bodyPr/>
                        <a:lstStyle/>
                        <a:p>
                          <a:pPr algn="ctr"/>
                          <a14:m>
                            <m:oMathPara xmlns:m="http://schemas.openxmlformats.org/officeDocument/2006/math">
                              <m:oMathParaPr>
                                <m:jc m:val="centerGroup"/>
                              </m:oMathParaPr>
                              <m:oMath xmlns:m="http://schemas.openxmlformats.org/officeDocument/2006/math">
                                <m:r>
                                  <a:rPr lang="en-US" b="0" smtClean="0">
                                    <a:solidFill>
                                      <a:schemeClr val="tx1"/>
                                    </a:solidFill>
                                    <a:latin typeface="Cambria Math" panose="02040503050406030204" pitchFamily="18" charset="0"/>
                                  </a:rPr>
                                  <m:t>𝛼</m:t>
                                </m:r>
                              </m:oMath>
                            </m:oMathPara>
                          </a14:m>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2127596"/>
                      </a:ext>
                    </a:extLst>
                  </a:tr>
                  <a:tr h="420624">
                    <a:tc>
                      <a:txBody>
                        <a:bodyPr/>
                        <a:lstStyle/>
                        <a:p>
                          <a:pPr algn="ctr"/>
                          <a14:m>
                            <m:oMathPara xmlns:m="http://schemas.openxmlformats.org/officeDocument/2006/math">
                              <m:oMathParaPr>
                                <m:jc m:val="centerGroup"/>
                              </m:oMathParaPr>
                              <m:oMath xmlns:m="http://schemas.openxmlformats.org/officeDocument/2006/math">
                                <m:r>
                                  <a:rPr lang="en-US" b="0" smtClean="0">
                                    <a:solidFill>
                                      <a:schemeClr val="tx1"/>
                                    </a:solidFill>
                                    <a:latin typeface="Cambria Math" panose="02040503050406030204" pitchFamily="18" charset="0"/>
                                  </a:rPr>
                                  <m:t>𝛽</m:t>
                                </m:r>
                              </m:oMath>
                            </m:oMathPara>
                          </a14:m>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8910921"/>
                      </a:ext>
                    </a:extLst>
                  </a:tr>
                  <a:tr h="393192">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𝛾</m:t>
                                    </m:r>
                                  </m:e>
                                  <m:sub>
                                    <m:r>
                                      <a:rPr lang="en-US" b="0" i="0" smtClean="0">
                                        <a:solidFill>
                                          <a:schemeClr val="tx1"/>
                                        </a:solidFill>
                                        <a:latin typeface="Cambria Math" panose="02040503050406030204" pitchFamily="18" charset="0"/>
                                      </a:rPr>
                                      <m:t>1</m:t>
                                    </m:r>
                                  </m:sub>
                                </m:sSub>
                              </m:oMath>
                            </m:oMathPara>
                          </a14:m>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8404586"/>
                      </a:ext>
                    </a:extLst>
                  </a:tr>
                  <a:tr h="516967">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𝛾</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7853739"/>
                      </a:ext>
                    </a:extLst>
                  </a:tr>
                </a:tbl>
              </a:graphicData>
            </a:graphic>
          </p:graphicFrame>
        </mc:Choice>
        <mc:Fallback xmlns="">
          <p:graphicFrame>
            <p:nvGraphicFramePr>
              <p:cNvPr id="23" name="Table 22">
                <a:extLst>
                  <a:ext uri="{FF2B5EF4-FFF2-40B4-BE49-F238E27FC236}">
                    <a16:creationId xmlns:a16="http://schemas.microsoft.com/office/drawing/2014/main" id="{62F2BC0E-3B35-F1E9-9B59-037225A8AF17}"/>
                  </a:ext>
                </a:extLst>
              </p:cNvPr>
              <p:cNvGraphicFramePr>
                <a:graphicFrameLocks noGrp="1"/>
              </p:cNvGraphicFramePr>
              <p:nvPr>
                <p:extLst>
                  <p:ext uri="{D42A27DB-BD31-4B8C-83A1-F6EECF244321}">
                    <p14:modId xmlns:p14="http://schemas.microsoft.com/office/powerpoint/2010/main" val="1506133657"/>
                  </p:ext>
                </p:extLst>
              </p:nvPr>
            </p:nvGraphicFramePr>
            <p:xfrm>
              <a:off x="7961625" y="2983185"/>
              <a:ext cx="469761" cy="1713965"/>
            </p:xfrm>
            <a:graphic>
              <a:graphicData uri="http://schemas.openxmlformats.org/drawingml/2006/table">
                <a:tbl>
                  <a:tblPr bandRow="1">
                    <a:tableStyleId>{21E4AEA4-8DFA-4A89-87EB-49C32662AFE0}</a:tableStyleId>
                  </a:tblPr>
                  <a:tblGrid>
                    <a:gridCol w="469761">
                      <a:extLst>
                        <a:ext uri="{9D8B030D-6E8A-4147-A177-3AD203B41FA5}">
                          <a16:colId xmlns:a16="http://schemas.microsoft.com/office/drawing/2014/main" val="2231342481"/>
                        </a:ext>
                      </a:extLst>
                    </a:gridCol>
                  </a:tblGrid>
                  <a:tr h="38318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r="-5263" b="-360000"/>
                          </a:stretch>
                        </a:blipFill>
                      </a:tcPr>
                    </a:tc>
                    <a:extLst>
                      <a:ext uri="{0D108BD9-81ED-4DB2-BD59-A6C34878D82A}">
                        <a16:rowId xmlns:a16="http://schemas.microsoft.com/office/drawing/2014/main" val="1332127596"/>
                      </a:ext>
                    </a:extLst>
                  </a:tr>
                  <a:tr h="42062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t="-88235" r="-5263" b="-217647"/>
                          </a:stretch>
                        </a:blipFill>
                      </a:tcPr>
                    </a:tc>
                    <a:extLst>
                      <a:ext uri="{0D108BD9-81ED-4DB2-BD59-A6C34878D82A}">
                        <a16:rowId xmlns:a16="http://schemas.microsoft.com/office/drawing/2014/main" val="2008910921"/>
                      </a:ext>
                    </a:extLst>
                  </a:tr>
                  <a:tr h="39319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t="-206452" r="-5263" b="-138710"/>
                          </a:stretch>
                        </a:blipFill>
                      </a:tcPr>
                    </a:tc>
                    <a:extLst>
                      <a:ext uri="{0D108BD9-81ED-4DB2-BD59-A6C34878D82A}">
                        <a16:rowId xmlns:a16="http://schemas.microsoft.com/office/drawing/2014/main" val="3998404586"/>
                      </a:ext>
                    </a:extLst>
                  </a:tr>
                  <a:tr h="516967">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t="-231707" r="-5263" b="-4878"/>
                          </a:stretch>
                        </a:blipFill>
                      </a:tcPr>
                    </a:tc>
                    <a:extLst>
                      <a:ext uri="{0D108BD9-81ED-4DB2-BD59-A6C34878D82A}">
                        <a16:rowId xmlns:a16="http://schemas.microsoft.com/office/drawing/2014/main" val="3237853739"/>
                      </a:ext>
                    </a:extLst>
                  </a:tr>
                </a:tbl>
              </a:graphicData>
            </a:graphic>
          </p:graphicFrame>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CD25A5D-8293-900A-6CCD-B91AAF5A2F68}"/>
                  </a:ext>
                </a:extLst>
              </p:cNvPr>
              <p:cNvSpPr txBox="1"/>
              <p:nvPr/>
            </p:nvSpPr>
            <p:spPr>
              <a:xfrm>
                <a:off x="8448613" y="3840167"/>
                <a:ext cx="845388"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24" name="TextBox 23">
                <a:extLst>
                  <a:ext uri="{FF2B5EF4-FFF2-40B4-BE49-F238E27FC236}">
                    <a16:creationId xmlns:a16="http://schemas.microsoft.com/office/drawing/2014/main" id="{F1A45252-AE34-918C-703C-AE655E135F2F}"/>
                  </a:ext>
                </a:extLst>
              </p:cNvPr>
              <p:cNvSpPr txBox="1">
                <a:spLocks noRot="1" noChangeAspect="1" noMove="1" noResize="1" noEditPoints="1" noAdjustHandles="1" noChangeArrowheads="1" noChangeShapeType="1" noTextEdit="1"/>
              </p:cNvSpPr>
              <p:nvPr/>
            </p:nvSpPr>
            <p:spPr>
              <a:xfrm>
                <a:off x="8448613" y="3840167"/>
                <a:ext cx="845388" cy="553998"/>
              </a:xfrm>
              <a:prstGeom prst="rect">
                <a:avLst/>
              </a:prstGeom>
              <a:blipFill>
                <a:blip r:embed="rId10"/>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E1320F74-AF25-3B04-1F83-2D29977FDC08}"/>
              </a:ext>
            </a:extLst>
          </p:cNvPr>
          <p:cNvSpPr txBox="1"/>
          <p:nvPr/>
        </p:nvSpPr>
        <p:spPr>
          <a:xfrm>
            <a:off x="5987122" y="5877652"/>
            <a:ext cx="1511504" cy="369332"/>
          </a:xfrm>
          <a:prstGeom prst="rect">
            <a:avLst/>
          </a:prstGeom>
          <a:noFill/>
        </p:spPr>
        <p:txBody>
          <a:bodyPr wrap="none" rtlCol="0">
            <a:spAutoFit/>
          </a:bodyPr>
          <a:lstStyle/>
          <a:p>
            <a:r>
              <a:rPr lang="en-US" dirty="0"/>
              <a:t>Data matrix </a:t>
            </a:r>
            <a:r>
              <a:rPr lang="en-US" b="1" dirty="0"/>
              <a:t>X</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F2CDE1C-664E-83DB-738C-50EFAF5FFF67}"/>
                  </a:ext>
                </a:extLst>
              </p:cNvPr>
              <p:cNvSpPr txBox="1"/>
              <p:nvPr/>
            </p:nvSpPr>
            <p:spPr>
              <a:xfrm>
                <a:off x="7889752" y="4777879"/>
                <a:ext cx="1394279" cy="646331"/>
              </a:xfrm>
              <a:prstGeom prst="rect">
                <a:avLst/>
              </a:prstGeom>
              <a:noFill/>
            </p:spPr>
            <p:txBody>
              <a:bodyPr wrap="square" rtlCol="0">
                <a:spAutoFit/>
              </a:bodyPr>
              <a:lstStyle/>
              <a:p>
                <a:r>
                  <a:rPr lang="en-US" dirty="0"/>
                  <a:t>Coefficient vector </a:t>
                </a:r>
                <a14:m>
                  <m:oMath xmlns:m="http://schemas.openxmlformats.org/officeDocument/2006/math">
                    <m:r>
                      <a:rPr lang="en-US" b="1" i="1" smtClean="0">
                        <a:latin typeface="Cambria Math" panose="02040503050406030204" pitchFamily="18" charset="0"/>
                      </a:rPr>
                      <m:t>𝜷</m:t>
                    </m:r>
                    <m:r>
                      <a:rPr lang="en-US" b="0" i="1" smtClean="0">
                        <a:latin typeface="Cambria Math" panose="02040503050406030204" pitchFamily="18" charset="0"/>
                      </a:rPr>
                      <m:t> </m:t>
                    </m:r>
                  </m:oMath>
                </a14:m>
                <a:endParaRPr lang="en-US" dirty="0"/>
              </a:p>
            </p:txBody>
          </p:sp>
        </mc:Choice>
        <mc:Fallback xmlns="">
          <p:sp>
            <p:nvSpPr>
              <p:cNvPr id="26" name="TextBox 25">
                <a:extLst>
                  <a:ext uri="{FF2B5EF4-FFF2-40B4-BE49-F238E27FC236}">
                    <a16:creationId xmlns:a16="http://schemas.microsoft.com/office/drawing/2014/main" id="{BA8A18C9-0F78-54A3-9C05-A477927597B7}"/>
                  </a:ext>
                </a:extLst>
              </p:cNvPr>
              <p:cNvSpPr txBox="1">
                <a:spLocks noRot="1" noChangeAspect="1" noMove="1" noResize="1" noEditPoints="1" noAdjustHandles="1" noChangeArrowheads="1" noChangeShapeType="1" noTextEdit="1"/>
              </p:cNvSpPr>
              <p:nvPr/>
            </p:nvSpPr>
            <p:spPr>
              <a:xfrm>
                <a:off x="7889752" y="4777879"/>
                <a:ext cx="1394279" cy="646331"/>
              </a:xfrm>
              <a:prstGeom prst="rect">
                <a:avLst/>
              </a:prstGeom>
              <a:blipFill>
                <a:blip r:embed="rId11"/>
                <a:stretch>
                  <a:fillRect l="-3604" t="-5769" b="-11538"/>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54F13FCB-C423-F9A1-B679-A5029E5867F4}"/>
              </a:ext>
            </a:extLst>
          </p:cNvPr>
          <p:cNvSpPr txBox="1"/>
          <p:nvPr/>
        </p:nvSpPr>
        <p:spPr>
          <a:xfrm>
            <a:off x="9284031" y="5877652"/>
            <a:ext cx="1394279" cy="646331"/>
          </a:xfrm>
          <a:prstGeom prst="rect">
            <a:avLst/>
          </a:prstGeom>
          <a:noFill/>
        </p:spPr>
        <p:txBody>
          <a:bodyPr wrap="square" rtlCol="0">
            <a:spAutoFit/>
          </a:bodyPr>
          <a:lstStyle/>
          <a:p>
            <a:r>
              <a:rPr lang="en-US" dirty="0"/>
              <a:t>Output vector </a:t>
            </a:r>
            <a:r>
              <a:rPr lang="en-US" b="1" dirty="0"/>
              <a:t>y</a:t>
            </a:r>
          </a:p>
        </p:txBody>
      </p:sp>
    </p:spTree>
    <p:extLst>
      <p:ext uri="{BB962C8B-B14F-4D97-AF65-F5344CB8AC3E}">
        <p14:creationId xmlns:p14="http://schemas.microsoft.com/office/powerpoint/2010/main" val="3868017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F256-4CBA-5F41-89D7-EC31B8B92E7C}"/>
              </a:ext>
            </a:extLst>
          </p:cNvPr>
          <p:cNvSpPr>
            <a:spLocks noGrp="1"/>
          </p:cNvSpPr>
          <p:nvPr>
            <p:ph type="title"/>
          </p:nvPr>
        </p:nvSpPr>
        <p:spPr>
          <a:xfrm>
            <a:off x="838200" y="-48943"/>
            <a:ext cx="10515600" cy="1325563"/>
          </a:xfrm>
        </p:spPr>
        <p:txBody>
          <a:bodyPr/>
          <a:lstStyle/>
          <a:p>
            <a:r>
              <a:rPr lang="en-US" dirty="0"/>
              <a:t>Suppose we get a few more covariates</a:t>
            </a:r>
          </a:p>
        </p:txBody>
      </p:sp>
      <p:grpSp>
        <p:nvGrpSpPr>
          <p:cNvPr id="4" name="Group 3">
            <a:extLst>
              <a:ext uri="{FF2B5EF4-FFF2-40B4-BE49-F238E27FC236}">
                <a16:creationId xmlns:a16="http://schemas.microsoft.com/office/drawing/2014/main" id="{E4F04E0A-4D58-B001-4679-C5548B3165B5}"/>
              </a:ext>
            </a:extLst>
          </p:cNvPr>
          <p:cNvGrpSpPr/>
          <p:nvPr/>
        </p:nvGrpSpPr>
        <p:grpSpPr>
          <a:xfrm>
            <a:off x="530578" y="3480952"/>
            <a:ext cx="515122" cy="3019854"/>
            <a:chOff x="951327" y="2069703"/>
            <a:chExt cx="766351" cy="4492658"/>
          </a:xfrm>
        </p:grpSpPr>
        <p:pic>
          <p:nvPicPr>
            <p:cNvPr id="5" name="Picture 4">
              <a:extLst>
                <a:ext uri="{FF2B5EF4-FFF2-40B4-BE49-F238E27FC236}">
                  <a16:creationId xmlns:a16="http://schemas.microsoft.com/office/drawing/2014/main" id="{7725E26E-FD25-FCEB-20D4-24A0B1F8A6F8}"/>
                </a:ext>
              </a:extLst>
            </p:cNvPr>
            <p:cNvPicPr>
              <a:picLocks noChangeAspect="1"/>
            </p:cNvPicPr>
            <p:nvPr/>
          </p:nvPicPr>
          <p:blipFill>
            <a:blip r:embed="rId3"/>
            <a:stretch>
              <a:fillRect/>
            </a:stretch>
          </p:blipFill>
          <p:spPr>
            <a:xfrm>
              <a:off x="1078479" y="2976453"/>
              <a:ext cx="639199" cy="1000461"/>
            </a:xfrm>
            <a:prstGeom prst="rect">
              <a:avLst/>
            </a:prstGeom>
          </p:spPr>
        </p:pic>
        <p:pic>
          <p:nvPicPr>
            <p:cNvPr id="6" name="Picture 7" descr="Adoptable Rabbits | morabbit">
              <a:extLst>
                <a:ext uri="{FF2B5EF4-FFF2-40B4-BE49-F238E27FC236}">
                  <a16:creationId xmlns:a16="http://schemas.microsoft.com/office/drawing/2014/main" id="{B80B5DE2-F999-D3F0-D7D3-4BFDE6079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94CCE1A-C09A-AE25-B67A-29425F5F81C6}"/>
                </a:ext>
              </a:extLst>
            </p:cNvPr>
            <p:cNvPicPr>
              <a:picLocks noChangeAspect="1"/>
            </p:cNvPicPr>
            <p:nvPr/>
          </p:nvPicPr>
          <p:blipFill>
            <a:blip r:embed="rId5"/>
            <a:stretch>
              <a:fillRect/>
            </a:stretch>
          </p:blipFill>
          <p:spPr>
            <a:xfrm>
              <a:off x="1078479" y="4851195"/>
              <a:ext cx="519097" cy="682280"/>
            </a:xfrm>
            <a:prstGeom prst="rect">
              <a:avLst/>
            </a:prstGeom>
          </p:spPr>
        </p:pic>
        <p:pic>
          <p:nvPicPr>
            <p:cNvPr id="8" name="Picture 7">
              <a:extLst>
                <a:ext uri="{FF2B5EF4-FFF2-40B4-BE49-F238E27FC236}">
                  <a16:creationId xmlns:a16="http://schemas.microsoft.com/office/drawing/2014/main" id="{4477E143-687E-F7E8-3E60-3363207272D7}"/>
                </a:ext>
              </a:extLst>
            </p:cNvPr>
            <p:cNvPicPr>
              <a:picLocks noChangeAspect="1"/>
            </p:cNvPicPr>
            <p:nvPr/>
          </p:nvPicPr>
          <p:blipFill>
            <a:blip r:embed="rId6"/>
            <a:stretch>
              <a:fillRect/>
            </a:stretch>
          </p:blipFill>
          <p:spPr>
            <a:xfrm>
              <a:off x="951327" y="3976914"/>
              <a:ext cx="766351" cy="681203"/>
            </a:xfrm>
            <a:prstGeom prst="rect">
              <a:avLst/>
            </a:prstGeom>
          </p:spPr>
        </p:pic>
        <p:pic>
          <p:nvPicPr>
            <p:cNvPr id="9" name="Picture 8">
              <a:extLst>
                <a:ext uri="{FF2B5EF4-FFF2-40B4-BE49-F238E27FC236}">
                  <a16:creationId xmlns:a16="http://schemas.microsoft.com/office/drawing/2014/main" id="{7FE0A156-2754-DE86-3101-A2F6C8231D7F}"/>
                </a:ext>
              </a:extLst>
            </p:cNvPr>
            <p:cNvPicPr>
              <a:picLocks noChangeAspect="1"/>
            </p:cNvPicPr>
            <p:nvPr/>
          </p:nvPicPr>
          <p:blipFill>
            <a:blip r:embed="rId7"/>
            <a:stretch>
              <a:fillRect/>
            </a:stretch>
          </p:blipFill>
          <p:spPr>
            <a:xfrm>
              <a:off x="1099145" y="5726553"/>
              <a:ext cx="597865" cy="835808"/>
            </a:xfrm>
            <a:prstGeom prst="rect">
              <a:avLst/>
            </a:prstGeom>
          </p:spPr>
        </p:pic>
      </p:grpSp>
      <p:sp>
        <p:nvSpPr>
          <p:cNvPr id="10" name="TextBox 9">
            <a:extLst>
              <a:ext uri="{FF2B5EF4-FFF2-40B4-BE49-F238E27FC236}">
                <a16:creationId xmlns:a16="http://schemas.microsoft.com/office/drawing/2014/main" id="{24777D1F-9C4D-2BB7-87AD-FE0D5497163A}"/>
              </a:ext>
            </a:extLst>
          </p:cNvPr>
          <p:cNvSpPr txBox="1"/>
          <p:nvPr/>
        </p:nvSpPr>
        <p:spPr>
          <a:xfrm>
            <a:off x="2073729" y="2896177"/>
            <a:ext cx="1389767" cy="584775"/>
          </a:xfrm>
          <a:prstGeom prst="rect">
            <a:avLst/>
          </a:prstGeom>
          <a:noFill/>
        </p:spPr>
        <p:txBody>
          <a:bodyPr wrap="square" rtlCol="0">
            <a:spAutoFit/>
          </a:bodyPr>
          <a:lstStyle/>
          <a:p>
            <a:pPr algn="ctr"/>
            <a:r>
              <a:rPr lang="en-US" sz="1600" dirty="0"/>
              <a:t>Years of education</a:t>
            </a:r>
          </a:p>
        </p:txBody>
      </p:sp>
      <p:sp>
        <p:nvSpPr>
          <p:cNvPr id="11" name="TextBox 10">
            <a:extLst>
              <a:ext uri="{FF2B5EF4-FFF2-40B4-BE49-F238E27FC236}">
                <a16:creationId xmlns:a16="http://schemas.microsoft.com/office/drawing/2014/main" id="{397935A4-0E7F-13AB-F712-586D9F356716}"/>
              </a:ext>
            </a:extLst>
          </p:cNvPr>
          <p:cNvSpPr txBox="1"/>
          <p:nvPr/>
        </p:nvSpPr>
        <p:spPr>
          <a:xfrm>
            <a:off x="1101623" y="3092683"/>
            <a:ext cx="1366657" cy="338554"/>
          </a:xfrm>
          <a:prstGeom prst="rect">
            <a:avLst/>
          </a:prstGeom>
          <a:noFill/>
        </p:spPr>
        <p:txBody>
          <a:bodyPr wrap="square" rtlCol="0">
            <a:spAutoFit/>
          </a:bodyPr>
          <a:lstStyle/>
          <a:p>
            <a:pPr algn="ctr"/>
            <a:r>
              <a:rPr lang="en-US" sz="1600" dirty="0"/>
              <a:t>ln(Earnings)</a:t>
            </a:r>
          </a:p>
        </p:txBody>
      </p:sp>
      <p:sp>
        <p:nvSpPr>
          <p:cNvPr id="12" name="TextBox 11">
            <a:extLst>
              <a:ext uri="{FF2B5EF4-FFF2-40B4-BE49-F238E27FC236}">
                <a16:creationId xmlns:a16="http://schemas.microsoft.com/office/drawing/2014/main" id="{2BFD104C-934C-6E48-5CC2-56CA30C138B1}"/>
              </a:ext>
            </a:extLst>
          </p:cNvPr>
          <p:cNvSpPr txBox="1"/>
          <p:nvPr/>
        </p:nvSpPr>
        <p:spPr>
          <a:xfrm>
            <a:off x="3313249" y="3063595"/>
            <a:ext cx="473656" cy="307777"/>
          </a:xfrm>
          <a:prstGeom prst="rect">
            <a:avLst/>
          </a:prstGeom>
          <a:noFill/>
        </p:spPr>
        <p:txBody>
          <a:bodyPr wrap="none" rtlCol="0">
            <a:spAutoFit/>
          </a:bodyPr>
          <a:lstStyle/>
          <a:p>
            <a:pPr algn="ctr"/>
            <a:r>
              <a:rPr lang="en-US" sz="1400" dirty="0"/>
              <a:t>Age</a:t>
            </a:r>
          </a:p>
        </p:txBody>
      </p:sp>
      <p:sp>
        <p:nvSpPr>
          <p:cNvPr id="13" name="TextBox 12">
            <a:extLst>
              <a:ext uri="{FF2B5EF4-FFF2-40B4-BE49-F238E27FC236}">
                <a16:creationId xmlns:a16="http://schemas.microsoft.com/office/drawing/2014/main" id="{00961BD9-92C5-79D3-2C91-D7EB2CE9FE20}"/>
              </a:ext>
            </a:extLst>
          </p:cNvPr>
          <p:cNvSpPr txBox="1"/>
          <p:nvPr/>
        </p:nvSpPr>
        <p:spPr>
          <a:xfrm>
            <a:off x="3684724" y="2464405"/>
            <a:ext cx="1018292" cy="954107"/>
          </a:xfrm>
          <a:prstGeom prst="rect">
            <a:avLst/>
          </a:prstGeom>
          <a:noFill/>
        </p:spPr>
        <p:txBody>
          <a:bodyPr wrap="square" rtlCol="0">
            <a:spAutoFit/>
          </a:bodyPr>
          <a:lstStyle/>
          <a:p>
            <a:pPr algn="ctr"/>
            <a:r>
              <a:rPr lang="en-US" sz="1400" dirty="0"/>
              <a:t>Parent’s household </a:t>
            </a:r>
          </a:p>
          <a:p>
            <a:pPr algn="ctr"/>
            <a:r>
              <a:rPr lang="en-US" sz="1400" dirty="0"/>
              <a:t>Income ($/</a:t>
            </a:r>
            <a:r>
              <a:rPr lang="en-US" sz="1400" dirty="0" err="1"/>
              <a:t>yr</a:t>
            </a:r>
            <a:r>
              <a:rPr lang="en-US" sz="1400" dirty="0"/>
              <a:t>)</a:t>
            </a:r>
          </a:p>
        </p:txBody>
      </p:sp>
      <p:graphicFrame>
        <p:nvGraphicFramePr>
          <p:cNvPr id="14" name="Table 13">
            <a:extLst>
              <a:ext uri="{FF2B5EF4-FFF2-40B4-BE49-F238E27FC236}">
                <a16:creationId xmlns:a16="http://schemas.microsoft.com/office/drawing/2014/main" id="{7C6FAA9F-17AE-600B-1D63-9905204192A9}"/>
              </a:ext>
            </a:extLst>
          </p:cNvPr>
          <p:cNvGraphicFramePr>
            <a:graphicFrameLocks noGrp="1"/>
          </p:cNvGraphicFramePr>
          <p:nvPr/>
        </p:nvGraphicFramePr>
        <p:xfrm>
          <a:off x="1246569" y="3449290"/>
          <a:ext cx="3314142" cy="3071425"/>
        </p:xfrm>
        <a:graphic>
          <a:graphicData uri="http://schemas.openxmlformats.org/drawingml/2006/table">
            <a:tbl>
              <a:tblPr firstCol="1" bandRow="1">
                <a:tableStyleId>{5C22544A-7EE6-4342-B048-85BDC9FD1C3A}</a:tableStyleId>
              </a:tblPr>
              <a:tblGrid>
                <a:gridCol w="1078942">
                  <a:extLst>
                    <a:ext uri="{9D8B030D-6E8A-4147-A177-3AD203B41FA5}">
                      <a16:colId xmlns:a16="http://schemas.microsoft.com/office/drawing/2014/main" val="3308591606"/>
                    </a:ext>
                  </a:extLst>
                </a:gridCol>
                <a:gridCol w="936498">
                  <a:extLst>
                    <a:ext uri="{9D8B030D-6E8A-4147-A177-3AD203B41FA5}">
                      <a16:colId xmlns:a16="http://schemas.microsoft.com/office/drawing/2014/main" val="3210990961"/>
                    </a:ext>
                  </a:extLst>
                </a:gridCol>
                <a:gridCol w="507027">
                  <a:extLst>
                    <a:ext uri="{9D8B030D-6E8A-4147-A177-3AD203B41FA5}">
                      <a16:colId xmlns:a16="http://schemas.microsoft.com/office/drawing/2014/main" val="3608099880"/>
                    </a:ext>
                  </a:extLst>
                </a:gridCol>
                <a:gridCol w="791675">
                  <a:extLst>
                    <a:ext uri="{9D8B030D-6E8A-4147-A177-3AD203B41FA5}">
                      <a16:colId xmlns:a16="http://schemas.microsoft.com/office/drawing/2014/main" val="4265935449"/>
                    </a:ext>
                  </a:extLst>
                </a:gridCol>
              </a:tblGrid>
              <a:tr h="614285">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614285">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614285">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614285">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614285">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850937A-CF2B-9C7D-636B-45DB74FA6E05}"/>
                  </a:ext>
                </a:extLst>
              </p:cNvPr>
              <p:cNvSpPr txBox="1"/>
              <p:nvPr/>
            </p:nvSpPr>
            <p:spPr>
              <a:xfrm>
                <a:off x="690923" y="947066"/>
                <a:ext cx="598760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5"/>
                          </a:solidFill>
                          <a:latin typeface="Cambria Math" panose="02040503050406030204" pitchFamily="18" charset="0"/>
                        </a:rPr>
                        <m:t>𝑌</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𝛼</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𝛽</m:t>
                      </m:r>
                      <m:r>
                        <a:rPr lang="en-US" sz="2800" b="0" i="1" smtClean="0">
                          <a:solidFill>
                            <a:schemeClr val="accent2"/>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0" smtClean="0">
                              <a:solidFill>
                                <a:schemeClr val="tx1"/>
                              </a:solidFill>
                              <a:latin typeface="Cambria Math" panose="02040503050406030204" pitchFamily="18" charset="0"/>
                            </a:rPr>
                            <m:t>1</m:t>
                          </m:r>
                        </m:sub>
                      </m:sSub>
                      <m:sSub>
                        <m:sSubPr>
                          <m:ctrlPr>
                            <a:rPr lang="en-US" sz="2800" b="0" i="1" smtClean="0">
                              <a:solidFill>
                                <a:schemeClr val="accent6"/>
                              </a:solidFill>
                              <a:latin typeface="Cambria Math" panose="02040503050406030204" pitchFamily="18" charset="0"/>
                            </a:rPr>
                          </m:ctrlPr>
                        </m:sSubPr>
                        <m:e>
                          <m:r>
                            <m:rPr>
                              <m:sty m:val="p"/>
                            </m:rPr>
                            <a:rPr lang="en-US" sz="2800" b="0" i="0" smtClean="0">
                              <a:solidFill>
                                <a:schemeClr val="accent6"/>
                              </a:solidFill>
                              <a:latin typeface="Cambria Math" panose="02040503050406030204" pitchFamily="18" charset="0"/>
                            </a:rPr>
                            <m:t>W</m:t>
                          </m:r>
                        </m:e>
                        <m:sub>
                          <m:r>
                            <a:rPr lang="en-US" sz="2800" b="0" i="0" smtClean="0">
                              <a:solidFill>
                                <a:schemeClr val="accent6"/>
                              </a:solidFill>
                              <a:latin typeface="Cambria Math" panose="02040503050406030204" pitchFamily="18" charset="0"/>
                            </a:rPr>
                            <m:t>1</m:t>
                          </m:r>
                        </m:sub>
                      </m:sSub>
                      <m:r>
                        <a:rPr lang="en-US" sz="2800" b="0" i="0"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2</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2</m:t>
                          </m:r>
                        </m:sub>
                      </m:sSub>
                      <m:r>
                        <a:rPr lang="en-US" sz="2800" b="0" i="0" smtClean="0">
                          <a:solidFill>
                            <a:schemeClr val="bg2">
                              <a:lumMod val="75000"/>
                            </a:schemeClr>
                          </a:solidFill>
                          <a:latin typeface="Cambria Math" panose="02040503050406030204" pitchFamily="18" charset="0"/>
                        </a:rPr>
                        <m:t>+</m:t>
                      </m:r>
                      <m:r>
                        <m:rPr>
                          <m:sty m:val="p"/>
                        </m:rPr>
                        <a:rPr lang="en-US" sz="2800" b="0" i="0" smtClean="0">
                          <a:solidFill>
                            <a:schemeClr val="bg2">
                              <a:lumMod val="75000"/>
                            </a:schemeClr>
                          </a:solidFill>
                          <a:latin typeface="Cambria Math" panose="02040503050406030204" pitchFamily="18" charset="0"/>
                        </a:rPr>
                        <m:t>noise</m:t>
                      </m:r>
                    </m:oMath>
                  </m:oMathPara>
                </a14:m>
                <a:endParaRPr lang="en-US" sz="2800" dirty="0"/>
              </a:p>
            </p:txBody>
          </p:sp>
        </mc:Choice>
        <mc:Fallback xmlns="">
          <p:sp>
            <p:nvSpPr>
              <p:cNvPr id="15" name="TextBox 14">
                <a:extLst>
                  <a:ext uri="{FF2B5EF4-FFF2-40B4-BE49-F238E27FC236}">
                    <a16:creationId xmlns:a16="http://schemas.microsoft.com/office/drawing/2014/main" id="{6850937A-CF2B-9C7D-636B-45DB74FA6E05}"/>
                  </a:ext>
                </a:extLst>
              </p:cNvPr>
              <p:cNvSpPr txBox="1">
                <a:spLocks noRot="1" noChangeAspect="1" noMove="1" noResize="1" noEditPoints="1" noAdjustHandles="1" noChangeArrowheads="1" noChangeShapeType="1" noTextEdit="1"/>
              </p:cNvSpPr>
              <p:nvPr/>
            </p:nvSpPr>
            <p:spPr>
              <a:xfrm>
                <a:off x="690923" y="947066"/>
                <a:ext cx="5987601" cy="523220"/>
              </a:xfrm>
              <a:prstGeom prst="rect">
                <a:avLst/>
              </a:prstGeom>
              <a:blipFill>
                <a:blip r:embed="rId8"/>
                <a:stretch>
                  <a:fillRect b="-19048"/>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D73DBEA8-AA7A-516D-1723-ECFA7CC7CCBF}"/>
              </a:ext>
            </a:extLst>
          </p:cNvPr>
          <p:cNvSpPr txBox="1"/>
          <p:nvPr/>
        </p:nvSpPr>
        <p:spPr>
          <a:xfrm>
            <a:off x="-16963" y="1383270"/>
            <a:ext cx="1359668" cy="369332"/>
          </a:xfrm>
          <a:prstGeom prst="rect">
            <a:avLst/>
          </a:prstGeom>
          <a:solidFill>
            <a:schemeClr val="bg1"/>
          </a:solidFill>
        </p:spPr>
        <p:txBody>
          <a:bodyPr wrap="none" rtlCol="0">
            <a:spAutoFit/>
          </a:bodyPr>
          <a:lstStyle/>
          <a:p>
            <a:r>
              <a:rPr lang="en-US" dirty="0">
                <a:solidFill>
                  <a:schemeClr val="accent5"/>
                </a:solidFill>
              </a:rPr>
              <a:t>ln(earnings)</a:t>
            </a:r>
          </a:p>
        </p:txBody>
      </p:sp>
      <p:sp>
        <p:nvSpPr>
          <p:cNvPr id="19" name="TextBox 18">
            <a:extLst>
              <a:ext uri="{FF2B5EF4-FFF2-40B4-BE49-F238E27FC236}">
                <a16:creationId xmlns:a16="http://schemas.microsoft.com/office/drawing/2014/main" id="{CD02CE98-7030-B42A-F660-A1332117FC67}"/>
              </a:ext>
            </a:extLst>
          </p:cNvPr>
          <p:cNvSpPr txBox="1"/>
          <p:nvPr/>
        </p:nvSpPr>
        <p:spPr>
          <a:xfrm>
            <a:off x="1870296" y="1431888"/>
            <a:ext cx="1195968" cy="369332"/>
          </a:xfrm>
          <a:prstGeom prst="rect">
            <a:avLst/>
          </a:prstGeom>
          <a:noFill/>
        </p:spPr>
        <p:txBody>
          <a:bodyPr wrap="none" rtlCol="0">
            <a:spAutoFit/>
          </a:bodyPr>
          <a:lstStyle/>
          <a:p>
            <a:r>
              <a:rPr lang="en-US" dirty="0">
                <a:solidFill>
                  <a:schemeClr val="accent2"/>
                </a:solidFill>
              </a:rPr>
              <a:t>Education</a:t>
            </a:r>
          </a:p>
        </p:txBody>
      </p:sp>
      <p:sp>
        <p:nvSpPr>
          <p:cNvPr id="20" name="TextBox 19">
            <a:extLst>
              <a:ext uri="{FF2B5EF4-FFF2-40B4-BE49-F238E27FC236}">
                <a16:creationId xmlns:a16="http://schemas.microsoft.com/office/drawing/2014/main" id="{4C1C4901-3662-D473-9144-435841824D4C}"/>
              </a:ext>
            </a:extLst>
          </p:cNvPr>
          <p:cNvSpPr txBox="1"/>
          <p:nvPr/>
        </p:nvSpPr>
        <p:spPr>
          <a:xfrm>
            <a:off x="3475546" y="1426778"/>
            <a:ext cx="1770293" cy="369332"/>
          </a:xfrm>
          <a:prstGeom prst="rect">
            <a:avLst/>
          </a:prstGeom>
          <a:noFill/>
        </p:spPr>
        <p:txBody>
          <a:bodyPr wrap="none" rtlCol="0">
            <a:spAutoFit/>
          </a:bodyPr>
          <a:lstStyle/>
          <a:p>
            <a:r>
              <a:rPr lang="en-US" dirty="0">
                <a:solidFill>
                  <a:schemeClr val="accent6"/>
                </a:solidFill>
              </a:rPr>
              <a:t>More covariates</a:t>
            </a:r>
          </a:p>
        </p:txBody>
      </p:sp>
      <p:sp>
        <p:nvSpPr>
          <p:cNvPr id="23" name="TextBox 22">
            <a:extLst>
              <a:ext uri="{FF2B5EF4-FFF2-40B4-BE49-F238E27FC236}">
                <a16:creationId xmlns:a16="http://schemas.microsoft.com/office/drawing/2014/main" id="{AD158F3F-C27E-5E25-DF29-69E0CF5CE795}"/>
              </a:ext>
            </a:extLst>
          </p:cNvPr>
          <p:cNvSpPr txBox="1"/>
          <p:nvPr/>
        </p:nvSpPr>
        <p:spPr>
          <a:xfrm>
            <a:off x="6010288" y="2554074"/>
            <a:ext cx="5343512" cy="1200329"/>
          </a:xfrm>
          <a:prstGeom prst="rect">
            <a:avLst/>
          </a:prstGeom>
          <a:noFill/>
        </p:spPr>
        <p:txBody>
          <a:bodyPr wrap="square" rtlCol="0">
            <a:spAutoFit/>
          </a:bodyPr>
          <a:lstStyle/>
          <a:p>
            <a:pPr algn="ctr"/>
            <a:r>
              <a:rPr lang="en-US" sz="3600" dirty="0">
                <a:solidFill>
                  <a:schemeClr val="accent2"/>
                </a:solidFill>
              </a:rPr>
              <a:t>But what if we are still missing covariates??!!!?!</a:t>
            </a:r>
          </a:p>
        </p:txBody>
      </p:sp>
      <p:grpSp>
        <p:nvGrpSpPr>
          <p:cNvPr id="27" name="Group 26">
            <a:extLst>
              <a:ext uri="{FF2B5EF4-FFF2-40B4-BE49-F238E27FC236}">
                <a16:creationId xmlns:a16="http://schemas.microsoft.com/office/drawing/2014/main" id="{FADF768A-1669-3052-C9B8-E28970CE38A1}"/>
              </a:ext>
            </a:extLst>
          </p:cNvPr>
          <p:cNvGrpSpPr/>
          <p:nvPr/>
        </p:nvGrpSpPr>
        <p:grpSpPr>
          <a:xfrm>
            <a:off x="6267450" y="4022582"/>
            <a:ext cx="4853179" cy="1561179"/>
            <a:chOff x="6267450" y="4022582"/>
            <a:chExt cx="4853179" cy="1561179"/>
          </a:xfrm>
        </p:grpSpPr>
        <p:pic>
          <p:nvPicPr>
            <p:cNvPr id="25" name="Picture 24">
              <a:extLst>
                <a:ext uri="{FF2B5EF4-FFF2-40B4-BE49-F238E27FC236}">
                  <a16:creationId xmlns:a16="http://schemas.microsoft.com/office/drawing/2014/main" id="{89775E2C-8580-A967-BA74-4212284A6A59}"/>
                </a:ext>
              </a:extLst>
            </p:cNvPr>
            <p:cNvPicPr>
              <a:picLocks noChangeAspect="1"/>
            </p:cNvPicPr>
            <p:nvPr/>
          </p:nvPicPr>
          <p:blipFill>
            <a:blip r:embed="rId9"/>
            <a:stretch>
              <a:fillRect/>
            </a:stretch>
          </p:blipFill>
          <p:spPr>
            <a:xfrm>
              <a:off x="10537573" y="4233731"/>
              <a:ext cx="583056" cy="1350030"/>
            </a:xfrm>
            <a:prstGeom prst="rect">
              <a:avLst/>
            </a:prstGeom>
          </p:spPr>
        </p:pic>
        <p:sp>
          <p:nvSpPr>
            <p:cNvPr id="26" name="TextBox 25">
              <a:extLst>
                <a:ext uri="{FF2B5EF4-FFF2-40B4-BE49-F238E27FC236}">
                  <a16:creationId xmlns:a16="http://schemas.microsoft.com/office/drawing/2014/main" id="{4712E504-B1DE-C4D7-B2F0-F5A6991E3024}"/>
                </a:ext>
              </a:extLst>
            </p:cNvPr>
            <p:cNvSpPr txBox="1"/>
            <p:nvPr/>
          </p:nvSpPr>
          <p:spPr>
            <a:xfrm>
              <a:off x="6267450" y="4022582"/>
              <a:ext cx="4270123" cy="1384995"/>
            </a:xfrm>
            <a:prstGeom prst="rect">
              <a:avLst/>
            </a:prstGeom>
            <a:noFill/>
          </p:spPr>
          <p:txBody>
            <a:bodyPr wrap="square">
              <a:spAutoFit/>
            </a:bodyPr>
            <a:lstStyle/>
            <a:p>
              <a:pPr algn="r"/>
              <a:r>
                <a:rPr lang="en-US" sz="2800" dirty="0">
                  <a:solidFill>
                    <a:srgbClr val="0070C0"/>
                  </a:solidFill>
                </a:rPr>
                <a:t>As we learned earlier, this can lead to omitted variable bias!</a:t>
              </a:r>
            </a:p>
          </p:txBody>
        </p:sp>
      </p:grpSp>
    </p:spTree>
    <p:extLst>
      <p:ext uri="{BB962C8B-B14F-4D97-AF65-F5344CB8AC3E}">
        <p14:creationId xmlns:p14="http://schemas.microsoft.com/office/powerpoint/2010/main" val="261836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B0070-63FB-00D1-C7A4-ACD45030C2BA}"/>
              </a:ext>
            </a:extLst>
          </p:cNvPr>
          <p:cNvSpPr>
            <a:spLocks noGrp="1"/>
          </p:cNvSpPr>
          <p:nvPr>
            <p:ph type="title"/>
          </p:nvPr>
        </p:nvSpPr>
        <p:spPr>
          <a:xfrm>
            <a:off x="838200" y="219283"/>
            <a:ext cx="10515600" cy="1325563"/>
          </a:xfrm>
        </p:spPr>
        <p:txBody>
          <a:bodyPr/>
          <a:lstStyle/>
          <a:p>
            <a:r>
              <a:rPr lang="en-US" dirty="0"/>
              <a:t>Suppose we get everything we want…</a:t>
            </a:r>
          </a:p>
        </p:txBody>
      </p:sp>
      <p:grpSp>
        <p:nvGrpSpPr>
          <p:cNvPr id="14" name="Group 13">
            <a:extLst>
              <a:ext uri="{FF2B5EF4-FFF2-40B4-BE49-F238E27FC236}">
                <a16:creationId xmlns:a16="http://schemas.microsoft.com/office/drawing/2014/main" id="{759E5160-7A5F-ACC0-76C2-B28253D36F79}"/>
              </a:ext>
            </a:extLst>
          </p:cNvPr>
          <p:cNvGrpSpPr/>
          <p:nvPr/>
        </p:nvGrpSpPr>
        <p:grpSpPr>
          <a:xfrm>
            <a:off x="540388" y="3217334"/>
            <a:ext cx="595623" cy="3491783"/>
            <a:chOff x="951327" y="2069703"/>
            <a:chExt cx="766351" cy="4492658"/>
          </a:xfrm>
        </p:grpSpPr>
        <p:pic>
          <p:nvPicPr>
            <p:cNvPr id="4" name="Picture 3">
              <a:extLst>
                <a:ext uri="{FF2B5EF4-FFF2-40B4-BE49-F238E27FC236}">
                  <a16:creationId xmlns:a16="http://schemas.microsoft.com/office/drawing/2014/main" id="{84F8DB45-6FC7-9965-E0E1-01F82357A64A}"/>
                </a:ext>
              </a:extLst>
            </p:cNvPr>
            <p:cNvPicPr>
              <a:picLocks noChangeAspect="1"/>
            </p:cNvPicPr>
            <p:nvPr/>
          </p:nvPicPr>
          <p:blipFill>
            <a:blip r:embed="rId3"/>
            <a:stretch>
              <a:fillRect/>
            </a:stretch>
          </p:blipFill>
          <p:spPr>
            <a:xfrm>
              <a:off x="1078479" y="2976453"/>
              <a:ext cx="639199" cy="1000461"/>
            </a:xfrm>
            <a:prstGeom prst="rect">
              <a:avLst/>
            </a:prstGeom>
          </p:spPr>
        </p:pic>
        <p:pic>
          <p:nvPicPr>
            <p:cNvPr id="5" name="Picture 7" descr="Adoptable Rabbits | morabbit">
              <a:extLst>
                <a:ext uri="{FF2B5EF4-FFF2-40B4-BE49-F238E27FC236}">
                  <a16:creationId xmlns:a16="http://schemas.microsoft.com/office/drawing/2014/main" id="{FD2DD814-8A25-A42D-FE25-6D0AA59C51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7CC432B-BFF6-8844-CC53-18CB9DC12F27}"/>
                </a:ext>
              </a:extLst>
            </p:cNvPr>
            <p:cNvPicPr>
              <a:picLocks noChangeAspect="1"/>
            </p:cNvPicPr>
            <p:nvPr/>
          </p:nvPicPr>
          <p:blipFill>
            <a:blip r:embed="rId5"/>
            <a:stretch>
              <a:fillRect/>
            </a:stretch>
          </p:blipFill>
          <p:spPr>
            <a:xfrm>
              <a:off x="1078479" y="4851195"/>
              <a:ext cx="519097" cy="682280"/>
            </a:xfrm>
            <a:prstGeom prst="rect">
              <a:avLst/>
            </a:prstGeom>
          </p:spPr>
        </p:pic>
        <p:pic>
          <p:nvPicPr>
            <p:cNvPr id="8" name="Picture 7">
              <a:extLst>
                <a:ext uri="{FF2B5EF4-FFF2-40B4-BE49-F238E27FC236}">
                  <a16:creationId xmlns:a16="http://schemas.microsoft.com/office/drawing/2014/main" id="{64CFD8E1-A456-671C-8B2D-7A4499A1ABA5}"/>
                </a:ext>
              </a:extLst>
            </p:cNvPr>
            <p:cNvPicPr>
              <a:picLocks noChangeAspect="1"/>
            </p:cNvPicPr>
            <p:nvPr/>
          </p:nvPicPr>
          <p:blipFill>
            <a:blip r:embed="rId6"/>
            <a:stretch>
              <a:fillRect/>
            </a:stretch>
          </p:blipFill>
          <p:spPr>
            <a:xfrm>
              <a:off x="951327" y="3976914"/>
              <a:ext cx="766351" cy="681203"/>
            </a:xfrm>
            <a:prstGeom prst="rect">
              <a:avLst/>
            </a:prstGeom>
          </p:spPr>
        </p:pic>
        <p:pic>
          <p:nvPicPr>
            <p:cNvPr id="9" name="Picture 8">
              <a:extLst>
                <a:ext uri="{FF2B5EF4-FFF2-40B4-BE49-F238E27FC236}">
                  <a16:creationId xmlns:a16="http://schemas.microsoft.com/office/drawing/2014/main" id="{95569B2B-07CD-BFB2-CCBD-183AD51C12B6}"/>
                </a:ext>
              </a:extLst>
            </p:cNvPr>
            <p:cNvPicPr>
              <a:picLocks noChangeAspect="1"/>
            </p:cNvPicPr>
            <p:nvPr/>
          </p:nvPicPr>
          <p:blipFill>
            <a:blip r:embed="rId7"/>
            <a:stretch>
              <a:fillRect/>
            </a:stretch>
          </p:blipFill>
          <p:spPr>
            <a:xfrm>
              <a:off x="1099145" y="5726553"/>
              <a:ext cx="597865" cy="835808"/>
            </a:xfrm>
            <a:prstGeom prst="rect">
              <a:avLst/>
            </a:prstGeom>
          </p:spPr>
        </p:pic>
      </p:grpSp>
      <p:sp>
        <p:nvSpPr>
          <p:cNvPr id="10" name="TextBox 9">
            <a:extLst>
              <a:ext uri="{FF2B5EF4-FFF2-40B4-BE49-F238E27FC236}">
                <a16:creationId xmlns:a16="http://schemas.microsoft.com/office/drawing/2014/main" id="{14B57188-3AE7-E4FA-6EFB-916C31A36C4C}"/>
              </a:ext>
            </a:extLst>
          </p:cNvPr>
          <p:cNvSpPr txBox="1"/>
          <p:nvPr/>
        </p:nvSpPr>
        <p:spPr>
          <a:xfrm>
            <a:off x="2534906" y="2376641"/>
            <a:ext cx="1389767" cy="646331"/>
          </a:xfrm>
          <a:prstGeom prst="rect">
            <a:avLst/>
          </a:prstGeom>
          <a:noFill/>
        </p:spPr>
        <p:txBody>
          <a:bodyPr wrap="square" rtlCol="0">
            <a:spAutoFit/>
          </a:bodyPr>
          <a:lstStyle/>
          <a:p>
            <a:pPr algn="ctr"/>
            <a:r>
              <a:rPr lang="en-US" dirty="0"/>
              <a:t>Years of education</a:t>
            </a:r>
          </a:p>
        </p:txBody>
      </p:sp>
      <p:sp>
        <p:nvSpPr>
          <p:cNvPr id="11" name="TextBox 10">
            <a:extLst>
              <a:ext uri="{FF2B5EF4-FFF2-40B4-BE49-F238E27FC236}">
                <a16:creationId xmlns:a16="http://schemas.microsoft.com/office/drawing/2014/main" id="{7081A38F-296E-6A4A-1186-A0CCC0C5B28E}"/>
              </a:ext>
            </a:extLst>
          </p:cNvPr>
          <p:cNvSpPr txBox="1"/>
          <p:nvPr/>
        </p:nvSpPr>
        <p:spPr>
          <a:xfrm>
            <a:off x="1296722" y="2658560"/>
            <a:ext cx="1366657" cy="369332"/>
          </a:xfrm>
          <a:prstGeom prst="rect">
            <a:avLst/>
          </a:prstGeom>
          <a:noFill/>
        </p:spPr>
        <p:txBody>
          <a:bodyPr wrap="square" rtlCol="0">
            <a:spAutoFit/>
          </a:bodyPr>
          <a:lstStyle/>
          <a:p>
            <a:pPr algn="ctr"/>
            <a:r>
              <a:rPr lang="en-US" dirty="0"/>
              <a:t>ln(Earnings)</a:t>
            </a:r>
          </a:p>
        </p:txBody>
      </p:sp>
      <p:sp>
        <p:nvSpPr>
          <p:cNvPr id="12" name="TextBox 11">
            <a:extLst>
              <a:ext uri="{FF2B5EF4-FFF2-40B4-BE49-F238E27FC236}">
                <a16:creationId xmlns:a16="http://schemas.microsoft.com/office/drawing/2014/main" id="{6D85FB97-E9A0-A24A-FD1C-71D45083EFBC}"/>
              </a:ext>
            </a:extLst>
          </p:cNvPr>
          <p:cNvSpPr txBox="1"/>
          <p:nvPr/>
        </p:nvSpPr>
        <p:spPr>
          <a:xfrm>
            <a:off x="3928899" y="2530530"/>
            <a:ext cx="514115" cy="338554"/>
          </a:xfrm>
          <a:prstGeom prst="rect">
            <a:avLst/>
          </a:prstGeom>
          <a:noFill/>
        </p:spPr>
        <p:txBody>
          <a:bodyPr wrap="none" rtlCol="0">
            <a:spAutoFit/>
          </a:bodyPr>
          <a:lstStyle/>
          <a:p>
            <a:pPr algn="ctr"/>
            <a:r>
              <a:rPr lang="en-US" sz="1600" dirty="0"/>
              <a:t>Age</a:t>
            </a:r>
          </a:p>
        </p:txBody>
      </p:sp>
      <p:sp>
        <p:nvSpPr>
          <p:cNvPr id="15" name="TextBox 14">
            <a:extLst>
              <a:ext uri="{FF2B5EF4-FFF2-40B4-BE49-F238E27FC236}">
                <a16:creationId xmlns:a16="http://schemas.microsoft.com/office/drawing/2014/main" id="{D4F57372-95EB-5F8F-EDA2-730AAD55D750}"/>
              </a:ext>
            </a:extLst>
          </p:cNvPr>
          <p:cNvSpPr txBox="1"/>
          <p:nvPr/>
        </p:nvSpPr>
        <p:spPr>
          <a:xfrm>
            <a:off x="4354128" y="1971569"/>
            <a:ext cx="1338975" cy="1077218"/>
          </a:xfrm>
          <a:prstGeom prst="rect">
            <a:avLst/>
          </a:prstGeom>
          <a:noFill/>
        </p:spPr>
        <p:txBody>
          <a:bodyPr wrap="square" rtlCol="0">
            <a:spAutoFit/>
          </a:bodyPr>
          <a:lstStyle/>
          <a:p>
            <a:pPr algn="ctr"/>
            <a:r>
              <a:rPr lang="en-US" sz="1600" dirty="0"/>
              <a:t>Parent’s household </a:t>
            </a:r>
          </a:p>
          <a:p>
            <a:pPr algn="ctr"/>
            <a:r>
              <a:rPr lang="en-US" sz="1600" dirty="0"/>
              <a:t>Income ($/</a:t>
            </a:r>
            <a:r>
              <a:rPr lang="en-US" sz="1600" dirty="0" err="1"/>
              <a:t>yr</a:t>
            </a:r>
            <a:r>
              <a:rPr lang="en-US" sz="1600" dirty="0"/>
              <a:t>)</a:t>
            </a:r>
          </a:p>
        </p:txBody>
      </p:sp>
      <p:sp>
        <p:nvSpPr>
          <p:cNvPr id="16" name="TextBox 15">
            <a:extLst>
              <a:ext uri="{FF2B5EF4-FFF2-40B4-BE49-F238E27FC236}">
                <a16:creationId xmlns:a16="http://schemas.microsoft.com/office/drawing/2014/main" id="{6DB76406-EBAB-010C-6C90-D187AD2E0FB4}"/>
              </a:ext>
            </a:extLst>
          </p:cNvPr>
          <p:cNvSpPr txBox="1"/>
          <p:nvPr/>
        </p:nvSpPr>
        <p:spPr>
          <a:xfrm>
            <a:off x="6542470" y="2423597"/>
            <a:ext cx="1082348" cy="584775"/>
          </a:xfrm>
          <a:prstGeom prst="rect">
            <a:avLst/>
          </a:prstGeom>
          <a:noFill/>
        </p:spPr>
        <p:txBody>
          <a:bodyPr wrap="none" rtlCol="0">
            <a:spAutoFit/>
          </a:bodyPr>
          <a:lstStyle/>
          <a:p>
            <a:pPr algn="ctr"/>
            <a:r>
              <a:rPr lang="en-US" sz="1600" dirty="0"/>
              <a:t>Number </a:t>
            </a:r>
          </a:p>
          <a:p>
            <a:pPr algn="ctr"/>
            <a:r>
              <a:rPr lang="en-US" sz="1600" dirty="0"/>
              <a:t>of siblings</a:t>
            </a:r>
          </a:p>
        </p:txBody>
      </p:sp>
      <p:sp>
        <p:nvSpPr>
          <p:cNvPr id="17" name="TextBox 16">
            <a:extLst>
              <a:ext uri="{FF2B5EF4-FFF2-40B4-BE49-F238E27FC236}">
                <a16:creationId xmlns:a16="http://schemas.microsoft.com/office/drawing/2014/main" id="{D361D64E-9252-66BD-3A08-6ACFBBE90D56}"/>
              </a:ext>
            </a:extLst>
          </p:cNvPr>
          <p:cNvSpPr txBox="1"/>
          <p:nvPr/>
        </p:nvSpPr>
        <p:spPr>
          <a:xfrm>
            <a:off x="10438383" y="2218906"/>
            <a:ext cx="788266" cy="830997"/>
          </a:xfrm>
          <a:prstGeom prst="rect">
            <a:avLst/>
          </a:prstGeom>
          <a:noFill/>
        </p:spPr>
        <p:txBody>
          <a:bodyPr wrap="square" rtlCol="0">
            <a:spAutoFit/>
          </a:bodyPr>
          <a:lstStyle/>
          <a:p>
            <a:pPr algn="ctr"/>
            <a:r>
              <a:rPr lang="en-US" sz="1200" dirty="0"/>
              <a:t>Had a dog growing up?</a:t>
            </a:r>
          </a:p>
        </p:txBody>
      </p:sp>
      <p:sp>
        <p:nvSpPr>
          <p:cNvPr id="18" name="TextBox 17">
            <a:extLst>
              <a:ext uri="{FF2B5EF4-FFF2-40B4-BE49-F238E27FC236}">
                <a16:creationId xmlns:a16="http://schemas.microsoft.com/office/drawing/2014/main" id="{C1522FFB-A403-5159-894E-C183A29A12E4}"/>
              </a:ext>
            </a:extLst>
          </p:cNvPr>
          <p:cNvSpPr txBox="1"/>
          <p:nvPr/>
        </p:nvSpPr>
        <p:spPr>
          <a:xfrm>
            <a:off x="11131728" y="2218906"/>
            <a:ext cx="788266" cy="830997"/>
          </a:xfrm>
          <a:prstGeom prst="rect">
            <a:avLst/>
          </a:prstGeom>
          <a:noFill/>
        </p:spPr>
        <p:txBody>
          <a:bodyPr wrap="square" rtlCol="0">
            <a:spAutoFit/>
          </a:bodyPr>
          <a:lstStyle/>
          <a:p>
            <a:pPr algn="ctr"/>
            <a:r>
              <a:rPr lang="en-US" sz="1200" dirty="0"/>
              <a:t>Was the dog named “Fido”?</a:t>
            </a:r>
          </a:p>
        </p:txBody>
      </p:sp>
      <p:sp>
        <p:nvSpPr>
          <p:cNvPr id="19" name="TextBox 18">
            <a:extLst>
              <a:ext uri="{FF2B5EF4-FFF2-40B4-BE49-F238E27FC236}">
                <a16:creationId xmlns:a16="http://schemas.microsoft.com/office/drawing/2014/main" id="{D0C64BDD-04ED-108E-A763-039ED243F4BF}"/>
              </a:ext>
            </a:extLst>
          </p:cNvPr>
          <p:cNvSpPr txBox="1"/>
          <p:nvPr/>
        </p:nvSpPr>
        <p:spPr>
          <a:xfrm>
            <a:off x="9268173" y="2681853"/>
            <a:ext cx="1431610" cy="307777"/>
          </a:xfrm>
          <a:prstGeom prst="rect">
            <a:avLst/>
          </a:prstGeom>
          <a:noFill/>
        </p:spPr>
        <p:txBody>
          <a:bodyPr wrap="square" rtlCol="0">
            <a:spAutoFit/>
          </a:bodyPr>
          <a:lstStyle/>
          <a:p>
            <a:pPr algn="ctr"/>
            <a:r>
              <a:rPr lang="en-US" sz="1400" dirty="0"/>
              <a:t>Vegetarian?</a:t>
            </a:r>
          </a:p>
        </p:txBody>
      </p:sp>
      <p:sp>
        <p:nvSpPr>
          <p:cNvPr id="20" name="TextBox 19">
            <a:extLst>
              <a:ext uri="{FF2B5EF4-FFF2-40B4-BE49-F238E27FC236}">
                <a16:creationId xmlns:a16="http://schemas.microsoft.com/office/drawing/2014/main" id="{42C99E3B-79DA-128C-5B63-19B2FED1AA0E}"/>
              </a:ext>
            </a:extLst>
          </p:cNvPr>
          <p:cNvSpPr txBox="1"/>
          <p:nvPr/>
        </p:nvSpPr>
        <p:spPr>
          <a:xfrm>
            <a:off x="5495620" y="2229195"/>
            <a:ext cx="1079333" cy="830997"/>
          </a:xfrm>
          <a:prstGeom prst="rect">
            <a:avLst/>
          </a:prstGeom>
          <a:noFill/>
        </p:spPr>
        <p:txBody>
          <a:bodyPr wrap="none" rtlCol="0">
            <a:spAutoFit/>
          </a:bodyPr>
          <a:lstStyle/>
          <a:p>
            <a:pPr algn="ctr"/>
            <a:r>
              <a:rPr lang="en-US" sz="1600" dirty="0"/>
              <a:t>Mother’s</a:t>
            </a:r>
          </a:p>
          <a:p>
            <a:pPr algn="ctr"/>
            <a:r>
              <a:rPr lang="en-US" sz="1600" dirty="0"/>
              <a:t>Education</a:t>
            </a:r>
          </a:p>
          <a:p>
            <a:pPr algn="ctr"/>
            <a:r>
              <a:rPr lang="en-US" sz="1600" dirty="0"/>
              <a:t>(</a:t>
            </a:r>
            <a:r>
              <a:rPr lang="en-US" sz="1600" dirty="0" err="1"/>
              <a:t>yrs</a:t>
            </a:r>
            <a:r>
              <a:rPr lang="en-US" sz="1600" dirty="0"/>
              <a:t>)</a:t>
            </a:r>
          </a:p>
        </p:txBody>
      </p:sp>
      <p:sp>
        <p:nvSpPr>
          <p:cNvPr id="21" name="TextBox 20">
            <a:extLst>
              <a:ext uri="{FF2B5EF4-FFF2-40B4-BE49-F238E27FC236}">
                <a16:creationId xmlns:a16="http://schemas.microsoft.com/office/drawing/2014/main" id="{B541D5E4-C817-5574-7C33-11ADDA44898E}"/>
              </a:ext>
            </a:extLst>
          </p:cNvPr>
          <p:cNvSpPr txBox="1"/>
          <p:nvPr/>
        </p:nvSpPr>
        <p:spPr>
          <a:xfrm>
            <a:off x="8219622" y="2551425"/>
            <a:ext cx="1431610" cy="523220"/>
          </a:xfrm>
          <a:prstGeom prst="rect">
            <a:avLst/>
          </a:prstGeom>
          <a:noFill/>
        </p:spPr>
        <p:txBody>
          <a:bodyPr wrap="square" rtlCol="0">
            <a:spAutoFit/>
          </a:bodyPr>
          <a:lstStyle/>
          <a:p>
            <a:pPr algn="ctr"/>
            <a:r>
              <a:rPr lang="en-US" sz="1400" dirty="0"/>
              <a:t>Likes sci-fi movies?</a:t>
            </a:r>
          </a:p>
        </p:txBody>
      </p:sp>
      <p:sp>
        <p:nvSpPr>
          <p:cNvPr id="22" name="TextBox 21">
            <a:extLst>
              <a:ext uri="{FF2B5EF4-FFF2-40B4-BE49-F238E27FC236}">
                <a16:creationId xmlns:a16="http://schemas.microsoft.com/office/drawing/2014/main" id="{A09737DB-0DC3-3FFE-80AC-C568520562E7}"/>
              </a:ext>
            </a:extLst>
          </p:cNvPr>
          <p:cNvSpPr txBox="1"/>
          <p:nvPr/>
        </p:nvSpPr>
        <p:spPr>
          <a:xfrm>
            <a:off x="7566459" y="2485152"/>
            <a:ext cx="924170" cy="523220"/>
          </a:xfrm>
          <a:prstGeom prst="rect">
            <a:avLst/>
          </a:prstGeom>
          <a:noFill/>
        </p:spPr>
        <p:txBody>
          <a:bodyPr wrap="square" rtlCol="0">
            <a:spAutoFit/>
          </a:bodyPr>
          <a:lstStyle/>
          <a:p>
            <a:pPr algn="ctr"/>
            <a:r>
              <a:rPr lang="en-US" sz="1400" dirty="0"/>
              <a:t>Lives in a city?</a:t>
            </a:r>
          </a:p>
        </p:txBody>
      </p:sp>
      <p:graphicFrame>
        <p:nvGraphicFramePr>
          <p:cNvPr id="28" name="Table 27">
            <a:extLst>
              <a:ext uri="{FF2B5EF4-FFF2-40B4-BE49-F238E27FC236}">
                <a16:creationId xmlns:a16="http://schemas.microsoft.com/office/drawing/2014/main" id="{54003BF5-F104-9084-16B1-00FF23B134BC}"/>
              </a:ext>
            </a:extLst>
          </p:cNvPr>
          <p:cNvGraphicFramePr>
            <a:graphicFrameLocks noGrp="1"/>
          </p:cNvGraphicFramePr>
          <p:nvPr>
            <p:extLst>
              <p:ext uri="{D42A27DB-BD31-4B8C-83A1-F6EECF244321}">
                <p14:modId xmlns:p14="http://schemas.microsoft.com/office/powerpoint/2010/main" val="1856691500"/>
              </p:ext>
            </p:extLst>
          </p:nvPr>
        </p:nvGraphicFramePr>
        <p:xfrm>
          <a:off x="1336880" y="3110177"/>
          <a:ext cx="11227652" cy="3618850"/>
        </p:xfrm>
        <a:graphic>
          <a:graphicData uri="http://schemas.openxmlformats.org/drawingml/2006/table">
            <a:tbl>
              <a:tblPr firstCol="1" bandRow="1">
                <a:tableStyleId>{5C22544A-7EE6-4342-B048-85BDC9FD1C3A}</a:tableStyleId>
              </a:tblPr>
              <a:tblGrid>
                <a:gridCol w="1272806">
                  <a:extLst>
                    <a:ext uri="{9D8B030D-6E8A-4147-A177-3AD203B41FA5}">
                      <a16:colId xmlns:a16="http://schemas.microsoft.com/office/drawing/2014/main" val="3308591606"/>
                    </a:ext>
                  </a:extLst>
                </a:gridCol>
                <a:gridCol w="1266357">
                  <a:extLst>
                    <a:ext uri="{9D8B030D-6E8A-4147-A177-3AD203B41FA5}">
                      <a16:colId xmlns:a16="http://schemas.microsoft.com/office/drawing/2014/main" val="3210990961"/>
                    </a:ext>
                  </a:extLst>
                </a:gridCol>
                <a:gridCol w="638781">
                  <a:extLst>
                    <a:ext uri="{9D8B030D-6E8A-4147-A177-3AD203B41FA5}">
                      <a16:colId xmlns:a16="http://schemas.microsoft.com/office/drawing/2014/main" val="3608099880"/>
                    </a:ext>
                  </a:extLst>
                </a:gridCol>
                <a:gridCol w="997396">
                  <a:extLst>
                    <a:ext uri="{9D8B030D-6E8A-4147-A177-3AD203B41FA5}">
                      <a16:colId xmlns:a16="http://schemas.microsoft.com/office/drawing/2014/main" val="4265935449"/>
                    </a:ext>
                  </a:extLst>
                </a:gridCol>
                <a:gridCol w="1075843">
                  <a:extLst>
                    <a:ext uri="{9D8B030D-6E8A-4147-A177-3AD203B41FA5}">
                      <a16:colId xmlns:a16="http://schemas.microsoft.com/office/drawing/2014/main" val="2177653149"/>
                    </a:ext>
                  </a:extLst>
                </a:gridCol>
                <a:gridCol w="1019809">
                  <a:extLst>
                    <a:ext uri="{9D8B030D-6E8A-4147-A177-3AD203B41FA5}">
                      <a16:colId xmlns:a16="http://schemas.microsoft.com/office/drawing/2014/main" val="1469058886"/>
                    </a:ext>
                  </a:extLst>
                </a:gridCol>
                <a:gridCol w="806882">
                  <a:extLst>
                    <a:ext uri="{9D8B030D-6E8A-4147-A177-3AD203B41FA5}">
                      <a16:colId xmlns:a16="http://schemas.microsoft.com/office/drawing/2014/main" val="822297879"/>
                    </a:ext>
                  </a:extLst>
                </a:gridCol>
                <a:gridCol w="1019809">
                  <a:extLst>
                    <a:ext uri="{9D8B030D-6E8A-4147-A177-3AD203B41FA5}">
                      <a16:colId xmlns:a16="http://schemas.microsoft.com/office/drawing/2014/main" val="2571770587"/>
                    </a:ext>
                  </a:extLst>
                </a:gridCol>
                <a:gridCol w="1064635">
                  <a:extLst>
                    <a:ext uri="{9D8B030D-6E8A-4147-A177-3AD203B41FA5}">
                      <a16:colId xmlns:a16="http://schemas.microsoft.com/office/drawing/2014/main" val="3807801990"/>
                    </a:ext>
                  </a:extLst>
                </a:gridCol>
                <a:gridCol w="713914">
                  <a:extLst>
                    <a:ext uri="{9D8B030D-6E8A-4147-A177-3AD203B41FA5}">
                      <a16:colId xmlns:a16="http://schemas.microsoft.com/office/drawing/2014/main" val="2808713963"/>
                    </a:ext>
                  </a:extLst>
                </a:gridCol>
                <a:gridCol w="675710">
                  <a:extLst>
                    <a:ext uri="{9D8B030D-6E8A-4147-A177-3AD203B41FA5}">
                      <a16:colId xmlns:a16="http://schemas.microsoft.com/office/drawing/2014/main" val="1017261271"/>
                    </a:ext>
                  </a:extLst>
                </a:gridCol>
                <a:gridCol w="675710">
                  <a:extLst>
                    <a:ext uri="{9D8B030D-6E8A-4147-A177-3AD203B41FA5}">
                      <a16:colId xmlns:a16="http://schemas.microsoft.com/office/drawing/2014/main" val="491294130"/>
                    </a:ext>
                  </a:extLst>
                </a:gridCol>
              </a:tblGrid>
              <a:tr h="723770">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723770">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723770">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723770">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723770">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p:sp>
        <p:nvSpPr>
          <p:cNvPr id="29" name="TextBox 28">
            <a:extLst>
              <a:ext uri="{FF2B5EF4-FFF2-40B4-BE49-F238E27FC236}">
                <a16:creationId xmlns:a16="http://schemas.microsoft.com/office/drawing/2014/main" id="{493AE929-2156-62EB-47BD-5974D377D983}"/>
              </a:ext>
            </a:extLst>
          </p:cNvPr>
          <p:cNvSpPr txBox="1"/>
          <p:nvPr/>
        </p:nvSpPr>
        <p:spPr>
          <a:xfrm>
            <a:off x="11658594" y="2771788"/>
            <a:ext cx="788266" cy="276999"/>
          </a:xfrm>
          <a:prstGeom prst="rect">
            <a:avLst/>
          </a:prstGeom>
          <a:noFill/>
        </p:spPr>
        <p:txBody>
          <a:bodyPr wrap="square" rtlCol="0">
            <a:spAutoFit/>
          </a:bodyPr>
          <a:lstStyle/>
          <a:p>
            <a:pPr algn="ctr"/>
            <a:r>
              <a:rPr lang="en-US" sz="1200" dirty="0" err="1"/>
              <a:t>etc</a:t>
            </a:r>
            <a:endParaRPr lang="en-US" sz="1200" dirty="0"/>
          </a:p>
        </p:txBody>
      </p:sp>
    </p:spTree>
    <p:extLst>
      <p:ext uri="{BB962C8B-B14F-4D97-AF65-F5344CB8AC3E}">
        <p14:creationId xmlns:p14="http://schemas.microsoft.com/office/powerpoint/2010/main" val="3492128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C490-C481-6BF3-FB2C-2C7787126C31}"/>
              </a:ext>
            </a:extLst>
          </p:cNvPr>
          <p:cNvSpPr>
            <a:spLocks noGrp="1"/>
          </p:cNvSpPr>
          <p:nvPr>
            <p:ph type="title"/>
          </p:nvPr>
        </p:nvSpPr>
        <p:spPr>
          <a:xfrm>
            <a:off x="838200" y="365125"/>
            <a:ext cx="10515600" cy="870041"/>
          </a:xfrm>
        </p:spPr>
        <p:txBody>
          <a:bodyPr/>
          <a:lstStyle/>
          <a:p>
            <a:r>
              <a:rPr lang="en-US" dirty="0"/>
              <a:t>Is our problem solved?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8BDE4D-F278-2239-DE4B-F0FC0FB387BC}"/>
                  </a:ext>
                </a:extLst>
              </p:cNvPr>
              <p:cNvSpPr>
                <a:spLocks noGrp="1"/>
              </p:cNvSpPr>
              <p:nvPr>
                <p:ph idx="1"/>
              </p:nvPr>
            </p:nvSpPr>
            <p:spPr>
              <a:xfrm>
                <a:off x="838200" y="1440188"/>
                <a:ext cx="10515600" cy="4351338"/>
              </a:xfrm>
            </p:spPr>
            <p:txBody>
              <a:bodyPr>
                <a:normAutofit/>
              </a:bodyPr>
              <a:lstStyle/>
              <a:p>
                <a:r>
                  <a:rPr lang="en-US" sz="2400" dirty="0"/>
                  <a:t>Suppose we have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=5</m:t>
                    </m:r>
                  </m:oMath>
                </a14:m>
                <a:r>
                  <a:rPr lang="en-US" sz="2400" dirty="0"/>
                  <a:t> people and </a:t>
                </a:r>
                <a14:m>
                  <m:oMath xmlns:m="http://schemas.openxmlformats.org/officeDocument/2006/math">
                    <m:r>
                      <a:rPr lang="en-US" sz="2400" i="1" dirty="0" smtClean="0">
                        <a:latin typeface="Cambria Math" panose="02040503050406030204" pitchFamily="18" charset="0"/>
                      </a:rPr>
                      <m:t>50,000</m:t>
                    </m:r>
                  </m:oMath>
                </a14:m>
                <a:r>
                  <a:rPr lang="en-US" sz="2400" dirty="0"/>
                  <a:t> covariates</a:t>
                </a:r>
              </a:p>
              <a:p>
                <a:pPr lvl="1"/>
                <a:r>
                  <a:rPr lang="en-US" sz="2000" dirty="0">
                    <a:solidFill>
                      <a:schemeClr val="accent1"/>
                    </a:solidFill>
                  </a:rPr>
                  <a:t>Everything we could think to ask about and more!</a:t>
                </a:r>
              </a:p>
              <a:p>
                <a:r>
                  <a:rPr lang="en-US" sz="2400" dirty="0"/>
                  <a:t>What happens when we run a regression?  </a:t>
                </a:r>
              </a:p>
              <a:p>
                <a:endParaRPr lang="en-US" sz="2400" dirty="0"/>
              </a:p>
              <a:p>
                <a:r>
                  <a:rPr lang="en-US" sz="2400" dirty="0"/>
                  <a:t>How should we interpret the output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oMath>
                </a14:m>
                <a:r>
                  <a:rPr lang="en-US" sz="2400" dirty="0"/>
                  <a:t>?</a:t>
                </a:r>
              </a:p>
            </p:txBody>
          </p:sp>
        </mc:Choice>
        <mc:Fallback xmlns="">
          <p:sp>
            <p:nvSpPr>
              <p:cNvPr id="3" name="Content Placeholder 2">
                <a:extLst>
                  <a:ext uri="{FF2B5EF4-FFF2-40B4-BE49-F238E27FC236}">
                    <a16:creationId xmlns:a16="http://schemas.microsoft.com/office/drawing/2014/main" id="{948BDE4D-F278-2239-DE4B-F0FC0FB387BC}"/>
                  </a:ext>
                </a:extLst>
              </p:cNvPr>
              <p:cNvSpPr>
                <a:spLocks noGrp="1" noRot="1" noChangeAspect="1" noMove="1" noResize="1" noEditPoints="1" noAdjustHandles="1" noChangeArrowheads="1" noChangeShapeType="1" noTextEdit="1"/>
              </p:cNvSpPr>
              <p:nvPr>
                <p:ph idx="1"/>
              </p:nvPr>
            </p:nvSpPr>
            <p:spPr>
              <a:xfrm>
                <a:off x="838200" y="1440188"/>
                <a:ext cx="10515600" cy="4351338"/>
              </a:xfrm>
              <a:blipFill>
                <a:blip r:embed="rId3"/>
                <a:stretch>
                  <a:fillRect l="-844" t="-2035"/>
                </a:stretch>
              </a:blipFill>
            </p:spPr>
            <p:txBody>
              <a:bodyPr/>
              <a:lstStyle/>
              <a:p>
                <a:r>
                  <a:rPr lang="en-US">
                    <a:noFill/>
                  </a:rPr>
                  <a:t> </a:t>
                </a:r>
              </a:p>
            </p:txBody>
          </p:sp>
        </mc:Fallback>
      </mc:AlternateContent>
      <p:graphicFrame>
        <p:nvGraphicFramePr>
          <p:cNvPr id="21" name="Table 20">
            <a:extLst>
              <a:ext uri="{FF2B5EF4-FFF2-40B4-BE49-F238E27FC236}">
                <a16:creationId xmlns:a16="http://schemas.microsoft.com/office/drawing/2014/main" id="{5B870F3B-2377-AB8E-D26E-E7F41864F28C}"/>
              </a:ext>
            </a:extLst>
          </p:cNvPr>
          <p:cNvGraphicFramePr>
            <a:graphicFrameLocks noGrp="1"/>
          </p:cNvGraphicFramePr>
          <p:nvPr>
            <p:extLst>
              <p:ext uri="{D42A27DB-BD31-4B8C-83A1-F6EECF244321}">
                <p14:modId xmlns:p14="http://schemas.microsoft.com/office/powerpoint/2010/main" val="4228484301"/>
              </p:ext>
            </p:extLst>
          </p:nvPr>
        </p:nvGraphicFramePr>
        <p:xfrm>
          <a:off x="1336880" y="4555671"/>
          <a:ext cx="8982777" cy="2173355"/>
        </p:xfrm>
        <a:graphic>
          <a:graphicData uri="http://schemas.openxmlformats.org/drawingml/2006/table">
            <a:tbl>
              <a:tblPr firstCol="1" bandRow="1">
                <a:tableStyleId>{5C22544A-7EE6-4342-B048-85BDC9FD1C3A}</a:tableStyleId>
              </a:tblPr>
              <a:tblGrid>
                <a:gridCol w="1018319">
                  <a:extLst>
                    <a:ext uri="{9D8B030D-6E8A-4147-A177-3AD203B41FA5}">
                      <a16:colId xmlns:a16="http://schemas.microsoft.com/office/drawing/2014/main" val="3308591606"/>
                    </a:ext>
                  </a:extLst>
                </a:gridCol>
                <a:gridCol w="1013160">
                  <a:extLst>
                    <a:ext uri="{9D8B030D-6E8A-4147-A177-3AD203B41FA5}">
                      <a16:colId xmlns:a16="http://schemas.microsoft.com/office/drawing/2014/main" val="3210990961"/>
                    </a:ext>
                  </a:extLst>
                </a:gridCol>
                <a:gridCol w="511062">
                  <a:extLst>
                    <a:ext uri="{9D8B030D-6E8A-4147-A177-3AD203B41FA5}">
                      <a16:colId xmlns:a16="http://schemas.microsoft.com/office/drawing/2014/main" val="3608099880"/>
                    </a:ext>
                  </a:extLst>
                </a:gridCol>
                <a:gridCol w="797975">
                  <a:extLst>
                    <a:ext uri="{9D8B030D-6E8A-4147-A177-3AD203B41FA5}">
                      <a16:colId xmlns:a16="http://schemas.microsoft.com/office/drawing/2014/main" val="4265935449"/>
                    </a:ext>
                  </a:extLst>
                </a:gridCol>
                <a:gridCol w="860737">
                  <a:extLst>
                    <a:ext uri="{9D8B030D-6E8A-4147-A177-3AD203B41FA5}">
                      <a16:colId xmlns:a16="http://schemas.microsoft.com/office/drawing/2014/main" val="2177653149"/>
                    </a:ext>
                  </a:extLst>
                </a:gridCol>
                <a:gridCol w="815907">
                  <a:extLst>
                    <a:ext uri="{9D8B030D-6E8A-4147-A177-3AD203B41FA5}">
                      <a16:colId xmlns:a16="http://schemas.microsoft.com/office/drawing/2014/main" val="1469058886"/>
                    </a:ext>
                  </a:extLst>
                </a:gridCol>
                <a:gridCol w="645553">
                  <a:extLst>
                    <a:ext uri="{9D8B030D-6E8A-4147-A177-3AD203B41FA5}">
                      <a16:colId xmlns:a16="http://schemas.microsoft.com/office/drawing/2014/main" val="822297879"/>
                    </a:ext>
                  </a:extLst>
                </a:gridCol>
                <a:gridCol w="815907">
                  <a:extLst>
                    <a:ext uri="{9D8B030D-6E8A-4147-A177-3AD203B41FA5}">
                      <a16:colId xmlns:a16="http://schemas.microsoft.com/office/drawing/2014/main" val="2571770587"/>
                    </a:ext>
                  </a:extLst>
                </a:gridCol>
                <a:gridCol w="851770">
                  <a:extLst>
                    <a:ext uri="{9D8B030D-6E8A-4147-A177-3AD203B41FA5}">
                      <a16:colId xmlns:a16="http://schemas.microsoft.com/office/drawing/2014/main" val="3807801990"/>
                    </a:ext>
                  </a:extLst>
                </a:gridCol>
                <a:gridCol w="571173">
                  <a:extLst>
                    <a:ext uri="{9D8B030D-6E8A-4147-A177-3AD203B41FA5}">
                      <a16:colId xmlns:a16="http://schemas.microsoft.com/office/drawing/2014/main" val="2808713963"/>
                    </a:ext>
                  </a:extLst>
                </a:gridCol>
                <a:gridCol w="540607">
                  <a:extLst>
                    <a:ext uri="{9D8B030D-6E8A-4147-A177-3AD203B41FA5}">
                      <a16:colId xmlns:a16="http://schemas.microsoft.com/office/drawing/2014/main" val="1017261271"/>
                    </a:ext>
                  </a:extLst>
                </a:gridCol>
                <a:gridCol w="540607">
                  <a:extLst>
                    <a:ext uri="{9D8B030D-6E8A-4147-A177-3AD203B41FA5}">
                      <a16:colId xmlns:a16="http://schemas.microsoft.com/office/drawing/2014/main" val="491294130"/>
                    </a:ext>
                  </a:extLst>
                </a:gridCol>
              </a:tblGrid>
              <a:tr h="434671">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434671">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434671">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434671">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434671">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p:grpSp>
        <p:nvGrpSpPr>
          <p:cNvPr id="23" name="Group 22">
            <a:extLst>
              <a:ext uri="{FF2B5EF4-FFF2-40B4-BE49-F238E27FC236}">
                <a16:creationId xmlns:a16="http://schemas.microsoft.com/office/drawing/2014/main" id="{4C4A6860-8656-48EF-955F-1E1502910941}"/>
              </a:ext>
            </a:extLst>
          </p:cNvPr>
          <p:cNvGrpSpPr/>
          <p:nvPr/>
        </p:nvGrpSpPr>
        <p:grpSpPr>
          <a:xfrm>
            <a:off x="668958" y="4128478"/>
            <a:ext cx="9765000" cy="2580638"/>
            <a:chOff x="695116" y="2546707"/>
            <a:chExt cx="11751744" cy="4162410"/>
          </a:xfrm>
        </p:grpSpPr>
        <p:grpSp>
          <p:nvGrpSpPr>
            <p:cNvPr id="4" name="Group 3">
              <a:extLst>
                <a:ext uri="{FF2B5EF4-FFF2-40B4-BE49-F238E27FC236}">
                  <a16:creationId xmlns:a16="http://schemas.microsoft.com/office/drawing/2014/main" id="{852BBA29-40F2-A224-66B1-857B5A852B6D}"/>
                </a:ext>
              </a:extLst>
            </p:cNvPr>
            <p:cNvGrpSpPr/>
            <p:nvPr/>
          </p:nvGrpSpPr>
          <p:grpSpPr>
            <a:xfrm>
              <a:off x="695116" y="3217334"/>
              <a:ext cx="440895" cy="3491783"/>
              <a:chOff x="1150406" y="2069703"/>
              <a:chExt cx="567272" cy="4492658"/>
            </a:xfrm>
          </p:grpSpPr>
          <p:pic>
            <p:nvPicPr>
              <p:cNvPr id="5" name="Picture 4">
                <a:extLst>
                  <a:ext uri="{FF2B5EF4-FFF2-40B4-BE49-F238E27FC236}">
                    <a16:creationId xmlns:a16="http://schemas.microsoft.com/office/drawing/2014/main" id="{0E1A83C9-1E00-6474-C72A-1389408E79BB}"/>
                  </a:ext>
                </a:extLst>
              </p:cNvPr>
              <p:cNvPicPr>
                <a:picLocks noChangeAspect="1"/>
              </p:cNvPicPr>
              <p:nvPr/>
            </p:nvPicPr>
            <p:blipFill>
              <a:blip r:embed="rId4"/>
              <a:stretch>
                <a:fillRect/>
              </a:stretch>
            </p:blipFill>
            <p:spPr>
              <a:xfrm>
                <a:off x="1244528" y="2976453"/>
                <a:ext cx="473150" cy="1000461"/>
              </a:xfrm>
              <a:prstGeom prst="rect">
                <a:avLst/>
              </a:prstGeom>
            </p:spPr>
          </p:pic>
          <p:pic>
            <p:nvPicPr>
              <p:cNvPr id="6" name="Picture 7" descr="Adoptable Rabbits | morabbit">
                <a:extLst>
                  <a:ext uri="{FF2B5EF4-FFF2-40B4-BE49-F238E27FC236}">
                    <a16:creationId xmlns:a16="http://schemas.microsoft.com/office/drawing/2014/main" id="{0143D0AB-B4AD-B0E2-A3F0-EE558783D6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264270" y="2069703"/>
                <a:ext cx="412313" cy="950649"/>
              </a:xfrm>
              <a:prstGeom prst="rect">
                <a:avLst/>
              </a:prstGeom>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ECFD4DD-D3BF-525B-3387-7A16383FF56D}"/>
                  </a:ext>
                </a:extLst>
              </p:cNvPr>
              <p:cNvPicPr>
                <a:picLocks noChangeAspect="1"/>
              </p:cNvPicPr>
              <p:nvPr/>
            </p:nvPicPr>
            <p:blipFill>
              <a:blip r:embed="rId6"/>
              <a:stretch>
                <a:fillRect/>
              </a:stretch>
            </p:blipFill>
            <p:spPr>
              <a:xfrm>
                <a:off x="1213328" y="4851196"/>
                <a:ext cx="384249" cy="682279"/>
              </a:xfrm>
              <a:prstGeom prst="rect">
                <a:avLst/>
              </a:prstGeom>
            </p:spPr>
          </p:pic>
          <p:pic>
            <p:nvPicPr>
              <p:cNvPr id="8" name="Picture 7">
                <a:extLst>
                  <a:ext uri="{FF2B5EF4-FFF2-40B4-BE49-F238E27FC236}">
                    <a16:creationId xmlns:a16="http://schemas.microsoft.com/office/drawing/2014/main" id="{0DF2021D-04E2-1B76-1241-0A7D4A429398}"/>
                  </a:ext>
                </a:extLst>
              </p:cNvPr>
              <p:cNvPicPr>
                <a:picLocks noChangeAspect="1"/>
              </p:cNvPicPr>
              <p:nvPr/>
            </p:nvPicPr>
            <p:blipFill>
              <a:blip r:embed="rId7"/>
              <a:stretch>
                <a:fillRect/>
              </a:stretch>
            </p:blipFill>
            <p:spPr>
              <a:xfrm>
                <a:off x="1150406" y="3976915"/>
                <a:ext cx="567272" cy="681202"/>
              </a:xfrm>
              <a:prstGeom prst="rect">
                <a:avLst/>
              </a:prstGeom>
            </p:spPr>
          </p:pic>
          <p:pic>
            <p:nvPicPr>
              <p:cNvPr id="9" name="Picture 8">
                <a:extLst>
                  <a:ext uri="{FF2B5EF4-FFF2-40B4-BE49-F238E27FC236}">
                    <a16:creationId xmlns:a16="http://schemas.microsoft.com/office/drawing/2014/main" id="{84983EC1-2DBA-D1F8-454A-40707074F257}"/>
                  </a:ext>
                </a:extLst>
              </p:cNvPr>
              <p:cNvPicPr>
                <a:picLocks noChangeAspect="1"/>
              </p:cNvPicPr>
              <p:nvPr/>
            </p:nvPicPr>
            <p:blipFill>
              <a:blip r:embed="rId8"/>
              <a:stretch>
                <a:fillRect/>
              </a:stretch>
            </p:blipFill>
            <p:spPr>
              <a:xfrm>
                <a:off x="1254455" y="5726554"/>
                <a:ext cx="442555" cy="835807"/>
              </a:xfrm>
              <a:prstGeom prst="rect">
                <a:avLst/>
              </a:prstGeom>
            </p:spPr>
          </p:pic>
        </p:grpSp>
        <p:sp>
          <p:nvSpPr>
            <p:cNvPr id="10" name="TextBox 9">
              <a:extLst>
                <a:ext uri="{FF2B5EF4-FFF2-40B4-BE49-F238E27FC236}">
                  <a16:creationId xmlns:a16="http://schemas.microsoft.com/office/drawing/2014/main" id="{12B8A0A3-5E8C-2281-C32C-84411D95653E}"/>
                </a:ext>
              </a:extLst>
            </p:cNvPr>
            <p:cNvSpPr txBox="1"/>
            <p:nvPr/>
          </p:nvSpPr>
          <p:spPr>
            <a:xfrm>
              <a:off x="2597609" y="2560189"/>
              <a:ext cx="1389767" cy="622339"/>
            </a:xfrm>
            <a:prstGeom prst="rect">
              <a:avLst/>
            </a:prstGeom>
            <a:noFill/>
          </p:spPr>
          <p:txBody>
            <a:bodyPr wrap="square" rtlCol="0">
              <a:spAutoFit/>
            </a:bodyPr>
            <a:lstStyle/>
            <a:p>
              <a:pPr algn="ctr"/>
              <a:r>
                <a:rPr lang="en-US" sz="1100" dirty="0"/>
                <a:t>Years of education</a:t>
              </a:r>
            </a:p>
          </p:txBody>
        </p:sp>
        <p:sp>
          <p:nvSpPr>
            <p:cNvPr id="11" name="TextBox 10">
              <a:extLst>
                <a:ext uri="{FF2B5EF4-FFF2-40B4-BE49-F238E27FC236}">
                  <a16:creationId xmlns:a16="http://schemas.microsoft.com/office/drawing/2014/main" id="{856213E1-FAA2-0187-4329-1CC9EE6CA131}"/>
                </a:ext>
              </a:extLst>
            </p:cNvPr>
            <p:cNvSpPr txBox="1"/>
            <p:nvPr/>
          </p:nvSpPr>
          <p:spPr>
            <a:xfrm>
              <a:off x="1451671" y="2766924"/>
              <a:ext cx="1366658" cy="377849"/>
            </a:xfrm>
            <a:prstGeom prst="rect">
              <a:avLst/>
            </a:prstGeom>
            <a:noFill/>
          </p:spPr>
          <p:txBody>
            <a:bodyPr wrap="square" rtlCol="0">
              <a:spAutoFit/>
            </a:bodyPr>
            <a:lstStyle/>
            <a:p>
              <a:pPr algn="ctr"/>
              <a:r>
                <a:rPr lang="en-US" sz="1100" dirty="0"/>
                <a:t>ln(Earnings)</a:t>
              </a:r>
            </a:p>
          </p:txBody>
        </p:sp>
        <p:sp>
          <p:nvSpPr>
            <p:cNvPr id="12" name="TextBox 11">
              <a:extLst>
                <a:ext uri="{FF2B5EF4-FFF2-40B4-BE49-F238E27FC236}">
                  <a16:creationId xmlns:a16="http://schemas.microsoft.com/office/drawing/2014/main" id="{E9CAAE74-705F-7170-7B04-4715504C2471}"/>
                </a:ext>
              </a:extLst>
            </p:cNvPr>
            <p:cNvSpPr txBox="1"/>
            <p:nvPr/>
          </p:nvSpPr>
          <p:spPr>
            <a:xfrm>
              <a:off x="3884357" y="2855894"/>
              <a:ext cx="732906" cy="409551"/>
            </a:xfrm>
            <a:prstGeom prst="rect">
              <a:avLst/>
            </a:prstGeom>
            <a:noFill/>
          </p:spPr>
          <p:txBody>
            <a:bodyPr wrap="square" rtlCol="0">
              <a:spAutoFit/>
            </a:bodyPr>
            <a:lstStyle/>
            <a:p>
              <a:pPr algn="ctr"/>
              <a:r>
                <a:rPr lang="en-US" sz="1050" dirty="0"/>
                <a:t>Age</a:t>
              </a:r>
            </a:p>
          </p:txBody>
        </p:sp>
        <p:sp>
          <p:nvSpPr>
            <p:cNvPr id="13" name="TextBox 12">
              <a:extLst>
                <a:ext uri="{FF2B5EF4-FFF2-40B4-BE49-F238E27FC236}">
                  <a16:creationId xmlns:a16="http://schemas.microsoft.com/office/drawing/2014/main" id="{436A72BF-4FAE-2DFF-151E-CEFBD221A86A}"/>
                </a:ext>
              </a:extLst>
            </p:cNvPr>
            <p:cNvSpPr txBox="1"/>
            <p:nvPr/>
          </p:nvSpPr>
          <p:spPr>
            <a:xfrm>
              <a:off x="4354409" y="2599922"/>
              <a:ext cx="1338974" cy="670173"/>
            </a:xfrm>
            <a:prstGeom prst="rect">
              <a:avLst/>
            </a:prstGeom>
            <a:noFill/>
          </p:spPr>
          <p:txBody>
            <a:bodyPr wrap="square" rtlCol="0">
              <a:spAutoFit/>
            </a:bodyPr>
            <a:lstStyle/>
            <a:p>
              <a:pPr algn="ctr"/>
              <a:r>
                <a:rPr lang="en-US" sz="1050" dirty="0"/>
                <a:t>Parent’s income</a:t>
              </a:r>
            </a:p>
          </p:txBody>
        </p:sp>
        <p:sp>
          <p:nvSpPr>
            <p:cNvPr id="14" name="TextBox 13">
              <a:extLst>
                <a:ext uri="{FF2B5EF4-FFF2-40B4-BE49-F238E27FC236}">
                  <a16:creationId xmlns:a16="http://schemas.microsoft.com/office/drawing/2014/main" id="{C6948058-1219-8CA4-4CE6-FEB25586F15A}"/>
                </a:ext>
              </a:extLst>
            </p:cNvPr>
            <p:cNvSpPr txBox="1"/>
            <p:nvPr/>
          </p:nvSpPr>
          <p:spPr>
            <a:xfrm>
              <a:off x="6579598" y="2581737"/>
              <a:ext cx="928304" cy="600113"/>
            </a:xfrm>
            <a:prstGeom prst="rect">
              <a:avLst/>
            </a:prstGeom>
            <a:noFill/>
          </p:spPr>
          <p:txBody>
            <a:bodyPr wrap="none" rtlCol="0">
              <a:spAutoFit/>
            </a:bodyPr>
            <a:lstStyle/>
            <a:p>
              <a:pPr algn="ctr"/>
              <a:r>
                <a:rPr lang="en-US" sz="1050" dirty="0"/>
                <a:t>Number </a:t>
              </a:r>
            </a:p>
            <a:p>
              <a:pPr algn="ctr"/>
              <a:r>
                <a:rPr lang="en-US" sz="1050" dirty="0"/>
                <a:t>of siblings</a:t>
              </a:r>
            </a:p>
          </p:txBody>
        </p:sp>
        <p:sp>
          <p:nvSpPr>
            <p:cNvPr id="15" name="TextBox 14">
              <a:extLst>
                <a:ext uri="{FF2B5EF4-FFF2-40B4-BE49-F238E27FC236}">
                  <a16:creationId xmlns:a16="http://schemas.microsoft.com/office/drawing/2014/main" id="{FB6F08A3-6894-5877-64C8-FA0D8BDEB18A}"/>
                </a:ext>
              </a:extLst>
            </p:cNvPr>
            <p:cNvSpPr txBox="1"/>
            <p:nvPr/>
          </p:nvSpPr>
          <p:spPr>
            <a:xfrm>
              <a:off x="10307273" y="2800830"/>
              <a:ext cx="788266" cy="372318"/>
            </a:xfrm>
            <a:prstGeom prst="rect">
              <a:avLst/>
            </a:prstGeom>
            <a:noFill/>
          </p:spPr>
          <p:txBody>
            <a:bodyPr wrap="square" rtlCol="0">
              <a:spAutoFit/>
            </a:bodyPr>
            <a:lstStyle/>
            <a:p>
              <a:pPr algn="ctr"/>
              <a:r>
                <a:rPr lang="en-US" sz="900" dirty="0"/>
                <a:t>Dog?</a:t>
              </a:r>
            </a:p>
          </p:txBody>
        </p:sp>
        <p:sp>
          <p:nvSpPr>
            <p:cNvPr id="16" name="TextBox 15">
              <a:extLst>
                <a:ext uri="{FF2B5EF4-FFF2-40B4-BE49-F238E27FC236}">
                  <a16:creationId xmlns:a16="http://schemas.microsoft.com/office/drawing/2014/main" id="{1E7343A1-82A8-352A-AB01-BFE2286B30A5}"/>
                </a:ext>
              </a:extLst>
            </p:cNvPr>
            <p:cNvSpPr txBox="1"/>
            <p:nvPr/>
          </p:nvSpPr>
          <p:spPr>
            <a:xfrm>
              <a:off x="10927077" y="2832129"/>
              <a:ext cx="788266" cy="372318"/>
            </a:xfrm>
            <a:prstGeom prst="rect">
              <a:avLst/>
            </a:prstGeom>
            <a:noFill/>
          </p:spPr>
          <p:txBody>
            <a:bodyPr wrap="square" rtlCol="0">
              <a:spAutoFit/>
            </a:bodyPr>
            <a:lstStyle/>
            <a:p>
              <a:pPr algn="ctr"/>
              <a:r>
                <a:rPr lang="en-US" sz="900" dirty="0"/>
                <a:t>Fido?</a:t>
              </a:r>
            </a:p>
          </p:txBody>
        </p:sp>
        <p:sp>
          <p:nvSpPr>
            <p:cNvPr id="17" name="TextBox 16">
              <a:extLst>
                <a:ext uri="{FF2B5EF4-FFF2-40B4-BE49-F238E27FC236}">
                  <a16:creationId xmlns:a16="http://schemas.microsoft.com/office/drawing/2014/main" id="{80611087-E17F-61CE-3A07-07BEDD1FC6F7}"/>
                </a:ext>
              </a:extLst>
            </p:cNvPr>
            <p:cNvSpPr txBox="1"/>
            <p:nvPr/>
          </p:nvSpPr>
          <p:spPr>
            <a:xfrm>
              <a:off x="9137063" y="2788357"/>
              <a:ext cx="1431610" cy="355622"/>
            </a:xfrm>
            <a:prstGeom prst="rect">
              <a:avLst/>
            </a:prstGeom>
            <a:noFill/>
          </p:spPr>
          <p:txBody>
            <a:bodyPr wrap="square" rtlCol="0">
              <a:spAutoFit/>
            </a:bodyPr>
            <a:lstStyle/>
            <a:p>
              <a:pPr algn="ctr"/>
              <a:r>
                <a:rPr lang="en-US" sz="1000" dirty="0"/>
                <a:t>Vegetarian?</a:t>
              </a:r>
            </a:p>
          </p:txBody>
        </p:sp>
        <p:sp>
          <p:nvSpPr>
            <p:cNvPr id="18" name="TextBox 17">
              <a:extLst>
                <a:ext uri="{FF2B5EF4-FFF2-40B4-BE49-F238E27FC236}">
                  <a16:creationId xmlns:a16="http://schemas.microsoft.com/office/drawing/2014/main" id="{E1513916-7BBD-C937-F5D0-01DB55A9C237}"/>
                </a:ext>
              </a:extLst>
            </p:cNvPr>
            <p:cNvSpPr txBox="1"/>
            <p:nvPr/>
          </p:nvSpPr>
          <p:spPr>
            <a:xfrm>
              <a:off x="5586951" y="2546707"/>
              <a:ext cx="934092" cy="670173"/>
            </a:xfrm>
            <a:prstGeom prst="rect">
              <a:avLst/>
            </a:prstGeom>
            <a:noFill/>
          </p:spPr>
          <p:txBody>
            <a:bodyPr wrap="none" rtlCol="0">
              <a:spAutoFit/>
            </a:bodyPr>
            <a:lstStyle/>
            <a:p>
              <a:pPr algn="ctr"/>
              <a:r>
                <a:rPr lang="en-US" sz="1050" dirty="0"/>
                <a:t>Mother’s</a:t>
              </a:r>
            </a:p>
            <a:p>
              <a:pPr algn="ctr"/>
              <a:r>
                <a:rPr lang="en-US" sz="1050" dirty="0"/>
                <a:t>Education</a:t>
              </a:r>
            </a:p>
          </p:txBody>
        </p:sp>
        <p:sp>
          <p:nvSpPr>
            <p:cNvPr id="19" name="TextBox 18">
              <a:extLst>
                <a:ext uri="{FF2B5EF4-FFF2-40B4-BE49-F238E27FC236}">
                  <a16:creationId xmlns:a16="http://schemas.microsoft.com/office/drawing/2014/main" id="{A15C7A06-54AC-E9CB-85F1-CE6DBB27FFB8}"/>
                </a:ext>
              </a:extLst>
            </p:cNvPr>
            <p:cNvSpPr txBox="1"/>
            <p:nvPr/>
          </p:nvSpPr>
          <p:spPr>
            <a:xfrm>
              <a:off x="8105061" y="2842432"/>
              <a:ext cx="1431610" cy="397139"/>
            </a:xfrm>
            <a:prstGeom prst="rect">
              <a:avLst/>
            </a:prstGeom>
            <a:noFill/>
          </p:spPr>
          <p:txBody>
            <a:bodyPr wrap="square" rtlCol="0">
              <a:spAutoFit/>
            </a:bodyPr>
            <a:lstStyle/>
            <a:p>
              <a:pPr algn="ctr"/>
              <a:r>
                <a:rPr lang="en-US" sz="1000" dirty="0"/>
                <a:t>Sci-fi fan?</a:t>
              </a:r>
            </a:p>
          </p:txBody>
        </p:sp>
        <p:sp>
          <p:nvSpPr>
            <p:cNvPr id="20" name="TextBox 19">
              <a:extLst>
                <a:ext uri="{FF2B5EF4-FFF2-40B4-BE49-F238E27FC236}">
                  <a16:creationId xmlns:a16="http://schemas.microsoft.com/office/drawing/2014/main" id="{0DFE24B1-3E84-B7DB-5129-5F8223A24041}"/>
                </a:ext>
              </a:extLst>
            </p:cNvPr>
            <p:cNvSpPr txBox="1"/>
            <p:nvPr/>
          </p:nvSpPr>
          <p:spPr>
            <a:xfrm>
              <a:off x="7481377" y="2823567"/>
              <a:ext cx="924170" cy="397139"/>
            </a:xfrm>
            <a:prstGeom prst="rect">
              <a:avLst/>
            </a:prstGeom>
            <a:noFill/>
          </p:spPr>
          <p:txBody>
            <a:bodyPr wrap="square" rtlCol="0">
              <a:spAutoFit/>
            </a:bodyPr>
            <a:lstStyle/>
            <a:p>
              <a:pPr algn="ctr"/>
              <a:r>
                <a:rPr lang="en-US" sz="1000" dirty="0"/>
                <a:t>City?</a:t>
              </a:r>
            </a:p>
          </p:txBody>
        </p:sp>
        <p:sp>
          <p:nvSpPr>
            <p:cNvPr id="22" name="TextBox 21">
              <a:extLst>
                <a:ext uri="{FF2B5EF4-FFF2-40B4-BE49-F238E27FC236}">
                  <a16:creationId xmlns:a16="http://schemas.microsoft.com/office/drawing/2014/main" id="{D933FF79-779F-54F1-ED1A-D159279ED40A}"/>
                </a:ext>
              </a:extLst>
            </p:cNvPr>
            <p:cNvSpPr txBox="1"/>
            <p:nvPr/>
          </p:nvSpPr>
          <p:spPr>
            <a:xfrm>
              <a:off x="11658594" y="2771788"/>
              <a:ext cx="788266" cy="333396"/>
            </a:xfrm>
            <a:prstGeom prst="rect">
              <a:avLst/>
            </a:prstGeom>
            <a:noFill/>
          </p:spPr>
          <p:txBody>
            <a:bodyPr wrap="square" rtlCol="0">
              <a:spAutoFit/>
            </a:bodyPr>
            <a:lstStyle/>
            <a:p>
              <a:pPr algn="ctr"/>
              <a:r>
                <a:rPr lang="en-US" sz="900" dirty="0" err="1"/>
                <a:t>etc</a:t>
              </a:r>
              <a:endParaRPr lang="en-US" sz="900" dirty="0"/>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23F41DC-11E6-2447-4F00-77CE79A44664}"/>
                  </a:ext>
                </a:extLst>
              </p:cNvPr>
              <p:cNvSpPr txBox="1"/>
              <p:nvPr/>
            </p:nvSpPr>
            <p:spPr>
              <a:xfrm>
                <a:off x="1371446" y="2619016"/>
                <a:ext cx="1019804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5"/>
                          </a:solidFill>
                          <a:latin typeface="Cambria Math" panose="02040503050406030204" pitchFamily="18" charset="0"/>
                        </a:rPr>
                        <m:t>𝑌</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𝛼</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𝛽</m:t>
                      </m:r>
                      <m:r>
                        <a:rPr lang="en-US" sz="2800" b="0" i="1" smtClean="0">
                          <a:solidFill>
                            <a:schemeClr val="accent2"/>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0" smtClean="0">
                              <a:solidFill>
                                <a:schemeClr val="tx1"/>
                              </a:solidFill>
                              <a:latin typeface="Cambria Math" panose="02040503050406030204" pitchFamily="18" charset="0"/>
                            </a:rPr>
                            <m:t>1</m:t>
                          </m:r>
                        </m:sub>
                      </m:sSub>
                      <m:sSub>
                        <m:sSubPr>
                          <m:ctrlPr>
                            <a:rPr lang="en-US" sz="2800" b="0" i="1" smtClean="0">
                              <a:solidFill>
                                <a:schemeClr val="accent6"/>
                              </a:solidFill>
                              <a:latin typeface="Cambria Math" panose="02040503050406030204" pitchFamily="18" charset="0"/>
                            </a:rPr>
                          </m:ctrlPr>
                        </m:sSubPr>
                        <m:e>
                          <m:r>
                            <m:rPr>
                              <m:sty m:val="p"/>
                            </m:rPr>
                            <a:rPr lang="en-US" sz="2800" b="0" i="0" smtClean="0">
                              <a:solidFill>
                                <a:schemeClr val="accent6"/>
                              </a:solidFill>
                              <a:latin typeface="Cambria Math" panose="02040503050406030204" pitchFamily="18" charset="0"/>
                            </a:rPr>
                            <m:t>W</m:t>
                          </m:r>
                        </m:e>
                        <m:sub>
                          <m:r>
                            <a:rPr lang="en-US" sz="2800" b="0" i="0" smtClean="0">
                              <a:solidFill>
                                <a:schemeClr val="accent6"/>
                              </a:solidFill>
                              <a:latin typeface="Cambria Math" panose="02040503050406030204" pitchFamily="18" charset="0"/>
                            </a:rPr>
                            <m:t>1</m:t>
                          </m:r>
                        </m:sub>
                      </m:sSub>
                      <m:r>
                        <a:rPr lang="en-US" sz="2800" b="0" i="0"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2</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2</m:t>
                          </m:r>
                        </m:sub>
                      </m:sSub>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3</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3</m:t>
                          </m:r>
                        </m:sub>
                      </m:sSub>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50000</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50000</m:t>
                          </m:r>
                        </m:sub>
                      </m:sSub>
                      <m:r>
                        <a:rPr lang="en-US" sz="2800" b="0" i="0" smtClean="0">
                          <a:solidFill>
                            <a:schemeClr val="bg2">
                              <a:lumMod val="75000"/>
                            </a:schemeClr>
                          </a:solidFill>
                          <a:latin typeface="Cambria Math" panose="02040503050406030204" pitchFamily="18" charset="0"/>
                        </a:rPr>
                        <m:t>+</m:t>
                      </m:r>
                      <m:r>
                        <m:rPr>
                          <m:sty m:val="p"/>
                        </m:rPr>
                        <a:rPr lang="en-US" sz="2800" b="0" i="0" smtClean="0">
                          <a:solidFill>
                            <a:schemeClr val="bg2">
                              <a:lumMod val="75000"/>
                            </a:schemeClr>
                          </a:solidFill>
                          <a:latin typeface="Cambria Math" panose="02040503050406030204" pitchFamily="18" charset="0"/>
                        </a:rPr>
                        <m:t>noise</m:t>
                      </m:r>
                    </m:oMath>
                  </m:oMathPara>
                </a14:m>
                <a:endParaRPr lang="en-US" sz="2800" dirty="0"/>
              </a:p>
            </p:txBody>
          </p:sp>
        </mc:Choice>
        <mc:Fallback xmlns="">
          <p:sp>
            <p:nvSpPr>
              <p:cNvPr id="24" name="TextBox 23">
                <a:extLst>
                  <a:ext uri="{FF2B5EF4-FFF2-40B4-BE49-F238E27FC236}">
                    <a16:creationId xmlns:a16="http://schemas.microsoft.com/office/drawing/2014/main" id="{D23F41DC-11E6-2447-4F00-77CE79A44664}"/>
                  </a:ext>
                </a:extLst>
              </p:cNvPr>
              <p:cNvSpPr txBox="1">
                <a:spLocks noRot="1" noChangeAspect="1" noMove="1" noResize="1" noEditPoints="1" noAdjustHandles="1" noChangeArrowheads="1" noChangeShapeType="1" noTextEdit="1"/>
              </p:cNvSpPr>
              <p:nvPr/>
            </p:nvSpPr>
            <p:spPr>
              <a:xfrm>
                <a:off x="1371446" y="2619016"/>
                <a:ext cx="10198048" cy="523220"/>
              </a:xfrm>
              <a:prstGeom prst="rect">
                <a:avLst/>
              </a:prstGeom>
              <a:blipFill>
                <a:blip r:embed="rId9"/>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4143118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97DEC-5049-FD8C-C88A-B819AAFA8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99165-92E5-B6DD-ABC8-3993341353BE}"/>
              </a:ext>
            </a:extLst>
          </p:cNvPr>
          <p:cNvSpPr>
            <a:spLocks noGrp="1"/>
          </p:cNvSpPr>
          <p:nvPr>
            <p:ph type="title"/>
          </p:nvPr>
        </p:nvSpPr>
        <p:spPr>
          <a:xfrm>
            <a:off x="838200" y="365125"/>
            <a:ext cx="10515600" cy="870041"/>
          </a:xfrm>
        </p:spPr>
        <p:txBody>
          <a:bodyPr/>
          <a:lstStyle/>
          <a:p>
            <a:r>
              <a:rPr lang="en-US" dirty="0"/>
              <a:t>Is our problem solved?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B14A54-19D9-5903-9165-E5D1469677A1}"/>
                  </a:ext>
                </a:extLst>
              </p:cNvPr>
              <p:cNvSpPr>
                <a:spLocks noGrp="1"/>
              </p:cNvSpPr>
              <p:nvPr>
                <p:ph idx="1"/>
              </p:nvPr>
            </p:nvSpPr>
            <p:spPr>
              <a:xfrm>
                <a:off x="838200" y="1440188"/>
                <a:ext cx="10515600" cy="4351338"/>
              </a:xfrm>
            </p:spPr>
            <p:txBody>
              <a:bodyPr>
                <a:normAutofit/>
              </a:bodyPr>
              <a:lstStyle/>
              <a:p>
                <a:r>
                  <a:rPr lang="en-US" sz="2400" dirty="0"/>
                  <a:t>Suppose we have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=5</m:t>
                    </m:r>
                  </m:oMath>
                </a14:m>
                <a:r>
                  <a:rPr lang="en-US" sz="2400" dirty="0"/>
                  <a:t> people and </a:t>
                </a:r>
                <a14:m>
                  <m:oMath xmlns:m="http://schemas.openxmlformats.org/officeDocument/2006/math">
                    <m:r>
                      <a:rPr lang="en-US" sz="2400" i="1" dirty="0" smtClean="0">
                        <a:latin typeface="Cambria Math" panose="02040503050406030204" pitchFamily="18" charset="0"/>
                      </a:rPr>
                      <m:t>50,000</m:t>
                    </m:r>
                  </m:oMath>
                </a14:m>
                <a:r>
                  <a:rPr lang="en-US" sz="2400" dirty="0"/>
                  <a:t> covariates</a:t>
                </a:r>
              </a:p>
              <a:p>
                <a:pPr lvl="1"/>
                <a:r>
                  <a:rPr lang="en-US" sz="2000" dirty="0">
                    <a:solidFill>
                      <a:schemeClr val="accent1"/>
                    </a:solidFill>
                  </a:rPr>
                  <a:t>Everything we could think to ask about and more!</a:t>
                </a:r>
              </a:p>
              <a:p>
                <a:r>
                  <a:rPr lang="en-US" sz="2400" dirty="0"/>
                  <a:t>What happens when we run a regression?  </a:t>
                </a:r>
              </a:p>
              <a:p>
                <a:endParaRPr lang="en-US" sz="2400" dirty="0"/>
              </a:p>
              <a:p>
                <a:r>
                  <a:rPr lang="en-US" sz="2400" dirty="0"/>
                  <a:t>How should we interpret the output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oMath>
                </a14:m>
                <a:r>
                  <a:rPr lang="en-US" sz="2400" dirty="0"/>
                  <a:t>?</a:t>
                </a:r>
              </a:p>
            </p:txBody>
          </p:sp>
        </mc:Choice>
        <mc:Fallback xmlns="">
          <p:sp>
            <p:nvSpPr>
              <p:cNvPr id="3" name="Content Placeholder 2">
                <a:extLst>
                  <a:ext uri="{FF2B5EF4-FFF2-40B4-BE49-F238E27FC236}">
                    <a16:creationId xmlns:a16="http://schemas.microsoft.com/office/drawing/2014/main" id="{948BDE4D-F278-2239-DE4B-F0FC0FB387BC}"/>
                  </a:ext>
                </a:extLst>
              </p:cNvPr>
              <p:cNvSpPr>
                <a:spLocks noGrp="1" noRot="1" noChangeAspect="1" noMove="1" noResize="1" noEditPoints="1" noAdjustHandles="1" noChangeArrowheads="1" noChangeShapeType="1" noTextEdit="1"/>
              </p:cNvSpPr>
              <p:nvPr>
                <p:ph idx="1"/>
              </p:nvPr>
            </p:nvSpPr>
            <p:spPr>
              <a:xfrm>
                <a:off x="838200" y="1440188"/>
                <a:ext cx="10515600" cy="4351338"/>
              </a:xfrm>
              <a:blipFill>
                <a:blip r:embed="rId3"/>
                <a:stretch>
                  <a:fillRect l="-844" t="-2035"/>
                </a:stretch>
              </a:blipFill>
            </p:spPr>
            <p:txBody>
              <a:bodyPr/>
              <a:lstStyle/>
              <a:p>
                <a:r>
                  <a:rPr lang="en-US">
                    <a:noFill/>
                  </a:rPr>
                  <a:t> </a:t>
                </a:r>
              </a:p>
            </p:txBody>
          </p:sp>
        </mc:Fallback>
      </mc:AlternateContent>
      <p:graphicFrame>
        <p:nvGraphicFramePr>
          <p:cNvPr id="21" name="Table 20">
            <a:extLst>
              <a:ext uri="{FF2B5EF4-FFF2-40B4-BE49-F238E27FC236}">
                <a16:creationId xmlns:a16="http://schemas.microsoft.com/office/drawing/2014/main" id="{6EC2723A-1164-AA6A-D4D9-A757440FE062}"/>
              </a:ext>
            </a:extLst>
          </p:cNvPr>
          <p:cNvGraphicFramePr>
            <a:graphicFrameLocks noGrp="1"/>
          </p:cNvGraphicFramePr>
          <p:nvPr/>
        </p:nvGraphicFramePr>
        <p:xfrm>
          <a:off x="1336880" y="4555671"/>
          <a:ext cx="8982777" cy="2173355"/>
        </p:xfrm>
        <a:graphic>
          <a:graphicData uri="http://schemas.openxmlformats.org/drawingml/2006/table">
            <a:tbl>
              <a:tblPr firstCol="1" bandRow="1">
                <a:tableStyleId>{5C22544A-7EE6-4342-B048-85BDC9FD1C3A}</a:tableStyleId>
              </a:tblPr>
              <a:tblGrid>
                <a:gridCol w="1018319">
                  <a:extLst>
                    <a:ext uri="{9D8B030D-6E8A-4147-A177-3AD203B41FA5}">
                      <a16:colId xmlns:a16="http://schemas.microsoft.com/office/drawing/2014/main" val="3308591606"/>
                    </a:ext>
                  </a:extLst>
                </a:gridCol>
                <a:gridCol w="1013160">
                  <a:extLst>
                    <a:ext uri="{9D8B030D-6E8A-4147-A177-3AD203B41FA5}">
                      <a16:colId xmlns:a16="http://schemas.microsoft.com/office/drawing/2014/main" val="3210990961"/>
                    </a:ext>
                  </a:extLst>
                </a:gridCol>
                <a:gridCol w="511062">
                  <a:extLst>
                    <a:ext uri="{9D8B030D-6E8A-4147-A177-3AD203B41FA5}">
                      <a16:colId xmlns:a16="http://schemas.microsoft.com/office/drawing/2014/main" val="3608099880"/>
                    </a:ext>
                  </a:extLst>
                </a:gridCol>
                <a:gridCol w="797975">
                  <a:extLst>
                    <a:ext uri="{9D8B030D-6E8A-4147-A177-3AD203B41FA5}">
                      <a16:colId xmlns:a16="http://schemas.microsoft.com/office/drawing/2014/main" val="4265935449"/>
                    </a:ext>
                  </a:extLst>
                </a:gridCol>
                <a:gridCol w="860737">
                  <a:extLst>
                    <a:ext uri="{9D8B030D-6E8A-4147-A177-3AD203B41FA5}">
                      <a16:colId xmlns:a16="http://schemas.microsoft.com/office/drawing/2014/main" val="2177653149"/>
                    </a:ext>
                  </a:extLst>
                </a:gridCol>
                <a:gridCol w="815907">
                  <a:extLst>
                    <a:ext uri="{9D8B030D-6E8A-4147-A177-3AD203B41FA5}">
                      <a16:colId xmlns:a16="http://schemas.microsoft.com/office/drawing/2014/main" val="1469058886"/>
                    </a:ext>
                  </a:extLst>
                </a:gridCol>
                <a:gridCol w="645553">
                  <a:extLst>
                    <a:ext uri="{9D8B030D-6E8A-4147-A177-3AD203B41FA5}">
                      <a16:colId xmlns:a16="http://schemas.microsoft.com/office/drawing/2014/main" val="822297879"/>
                    </a:ext>
                  </a:extLst>
                </a:gridCol>
                <a:gridCol w="815907">
                  <a:extLst>
                    <a:ext uri="{9D8B030D-6E8A-4147-A177-3AD203B41FA5}">
                      <a16:colId xmlns:a16="http://schemas.microsoft.com/office/drawing/2014/main" val="2571770587"/>
                    </a:ext>
                  </a:extLst>
                </a:gridCol>
                <a:gridCol w="851770">
                  <a:extLst>
                    <a:ext uri="{9D8B030D-6E8A-4147-A177-3AD203B41FA5}">
                      <a16:colId xmlns:a16="http://schemas.microsoft.com/office/drawing/2014/main" val="3807801990"/>
                    </a:ext>
                  </a:extLst>
                </a:gridCol>
                <a:gridCol w="571173">
                  <a:extLst>
                    <a:ext uri="{9D8B030D-6E8A-4147-A177-3AD203B41FA5}">
                      <a16:colId xmlns:a16="http://schemas.microsoft.com/office/drawing/2014/main" val="2808713963"/>
                    </a:ext>
                  </a:extLst>
                </a:gridCol>
                <a:gridCol w="540607">
                  <a:extLst>
                    <a:ext uri="{9D8B030D-6E8A-4147-A177-3AD203B41FA5}">
                      <a16:colId xmlns:a16="http://schemas.microsoft.com/office/drawing/2014/main" val="1017261271"/>
                    </a:ext>
                  </a:extLst>
                </a:gridCol>
                <a:gridCol w="540607">
                  <a:extLst>
                    <a:ext uri="{9D8B030D-6E8A-4147-A177-3AD203B41FA5}">
                      <a16:colId xmlns:a16="http://schemas.microsoft.com/office/drawing/2014/main" val="491294130"/>
                    </a:ext>
                  </a:extLst>
                </a:gridCol>
              </a:tblGrid>
              <a:tr h="434671">
                <a:tc>
                  <a:txBody>
                    <a:bodyPr/>
                    <a:lstStyle/>
                    <a:p>
                      <a:pPr algn="ctr"/>
                      <a:r>
                        <a:rPr lang="en-US" sz="1600" dirty="0">
                          <a:solidFill>
                            <a:schemeClr val="bg2">
                              <a:lumMod val="90000"/>
                            </a:schemeClr>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434671">
                <a:tc>
                  <a:txBody>
                    <a:bodyPr/>
                    <a:lstStyle/>
                    <a:p>
                      <a:pPr algn="ctr"/>
                      <a:r>
                        <a:rPr lang="en-US" sz="1600" dirty="0">
                          <a:solidFill>
                            <a:schemeClr val="bg2">
                              <a:lumMod val="90000"/>
                            </a:schemeClr>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434671">
                <a:tc>
                  <a:txBody>
                    <a:bodyPr/>
                    <a:lstStyle/>
                    <a:p>
                      <a:pPr algn="ctr"/>
                      <a:r>
                        <a:rPr lang="en-US" sz="1600" dirty="0">
                          <a:solidFill>
                            <a:schemeClr val="bg2">
                              <a:lumMod val="90000"/>
                            </a:schemeClr>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434671">
                <a:tc>
                  <a:txBody>
                    <a:bodyPr/>
                    <a:lstStyle/>
                    <a:p>
                      <a:pPr algn="ctr"/>
                      <a:r>
                        <a:rPr lang="en-US" sz="1600" dirty="0">
                          <a:solidFill>
                            <a:schemeClr val="bg2">
                              <a:lumMod val="90000"/>
                            </a:schemeClr>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22.5k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434671">
                <a:tc>
                  <a:txBody>
                    <a:bodyPr/>
                    <a:lstStyle/>
                    <a:p>
                      <a:pPr algn="ctr"/>
                      <a:r>
                        <a:rPr lang="en-US" sz="1600" dirty="0">
                          <a:solidFill>
                            <a:schemeClr val="bg2">
                              <a:lumMod val="90000"/>
                            </a:schemeClr>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25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120k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p:grpSp>
        <p:nvGrpSpPr>
          <p:cNvPr id="23" name="Group 22">
            <a:extLst>
              <a:ext uri="{FF2B5EF4-FFF2-40B4-BE49-F238E27FC236}">
                <a16:creationId xmlns:a16="http://schemas.microsoft.com/office/drawing/2014/main" id="{808C69DB-7B9A-66AA-E0E6-EB2257E2591E}"/>
              </a:ext>
            </a:extLst>
          </p:cNvPr>
          <p:cNvGrpSpPr/>
          <p:nvPr/>
        </p:nvGrpSpPr>
        <p:grpSpPr>
          <a:xfrm>
            <a:off x="668958" y="4128478"/>
            <a:ext cx="9765000" cy="2580638"/>
            <a:chOff x="695116" y="2546707"/>
            <a:chExt cx="11751744" cy="4162410"/>
          </a:xfrm>
        </p:grpSpPr>
        <p:grpSp>
          <p:nvGrpSpPr>
            <p:cNvPr id="4" name="Group 3">
              <a:extLst>
                <a:ext uri="{FF2B5EF4-FFF2-40B4-BE49-F238E27FC236}">
                  <a16:creationId xmlns:a16="http://schemas.microsoft.com/office/drawing/2014/main" id="{F4C706CD-997C-F8D3-E936-9AD7969E11E0}"/>
                </a:ext>
              </a:extLst>
            </p:cNvPr>
            <p:cNvGrpSpPr/>
            <p:nvPr/>
          </p:nvGrpSpPr>
          <p:grpSpPr>
            <a:xfrm>
              <a:off x="695116" y="3217334"/>
              <a:ext cx="440895" cy="3491783"/>
              <a:chOff x="1150406" y="2069703"/>
              <a:chExt cx="567272" cy="4492658"/>
            </a:xfrm>
          </p:grpSpPr>
          <p:pic>
            <p:nvPicPr>
              <p:cNvPr id="5" name="Picture 4">
                <a:extLst>
                  <a:ext uri="{FF2B5EF4-FFF2-40B4-BE49-F238E27FC236}">
                    <a16:creationId xmlns:a16="http://schemas.microsoft.com/office/drawing/2014/main" id="{1D8744B9-9F3E-2862-749D-549F7696C8F8}"/>
                  </a:ext>
                </a:extLst>
              </p:cNvPr>
              <p:cNvPicPr>
                <a:picLocks noChangeAspect="1"/>
              </p:cNvPicPr>
              <p:nvPr/>
            </p:nvPicPr>
            <p:blipFill>
              <a:blip r:embed="rId4"/>
              <a:stretch>
                <a:fillRect/>
              </a:stretch>
            </p:blipFill>
            <p:spPr>
              <a:xfrm>
                <a:off x="1244528" y="2976453"/>
                <a:ext cx="473150" cy="1000461"/>
              </a:xfrm>
              <a:prstGeom prst="rect">
                <a:avLst/>
              </a:prstGeom>
            </p:spPr>
          </p:pic>
          <p:pic>
            <p:nvPicPr>
              <p:cNvPr id="6" name="Picture 7" descr="Adoptable Rabbits | morabbit">
                <a:extLst>
                  <a:ext uri="{FF2B5EF4-FFF2-40B4-BE49-F238E27FC236}">
                    <a16:creationId xmlns:a16="http://schemas.microsoft.com/office/drawing/2014/main" id="{EF71504B-D3CF-FB3E-F273-F458A66337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264270" y="2069703"/>
                <a:ext cx="412313" cy="950649"/>
              </a:xfrm>
              <a:prstGeom prst="rect">
                <a:avLst/>
              </a:prstGeom>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2FBD8CD-575B-40F4-81CD-E196597B2F39}"/>
                  </a:ext>
                </a:extLst>
              </p:cNvPr>
              <p:cNvPicPr>
                <a:picLocks noChangeAspect="1"/>
              </p:cNvPicPr>
              <p:nvPr/>
            </p:nvPicPr>
            <p:blipFill>
              <a:blip r:embed="rId6"/>
              <a:stretch>
                <a:fillRect/>
              </a:stretch>
            </p:blipFill>
            <p:spPr>
              <a:xfrm>
                <a:off x="1213328" y="4851196"/>
                <a:ext cx="384249" cy="682279"/>
              </a:xfrm>
              <a:prstGeom prst="rect">
                <a:avLst/>
              </a:prstGeom>
            </p:spPr>
          </p:pic>
          <p:pic>
            <p:nvPicPr>
              <p:cNvPr id="8" name="Picture 7">
                <a:extLst>
                  <a:ext uri="{FF2B5EF4-FFF2-40B4-BE49-F238E27FC236}">
                    <a16:creationId xmlns:a16="http://schemas.microsoft.com/office/drawing/2014/main" id="{A6A961D5-8857-124E-B54A-DEEA05B01C1C}"/>
                  </a:ext>
                </a:extLst>
              </p:cNvPr>
              <p:cNvPicPr>
                <a:picLocks noChangeAspect="1"/>
              </p:cNvPicPr>
              <p:nvPr/>
            </p:nvPicPr>
            <p:blipFill>
              <a:blip r:embed="rId7"/>
              <a:stretch>
                <a:fillRect/>
              </a:stretch>
            </p:blipFill>
            <p:spPr>
              <a:xfrm>
                <a:off x="1150406" y="3976915"/>
                <a:ext cx="567272" cy="681202"/>
              </a:xfrm>
              <a:prstGeom prst="rect">
                <a:avLst/>
              </a:prstGeom>
            </p:spPr>
          </p:pic>
          <p:pic>
            <p:nvPicPr>
              <p:cNvPr id="9" name="Picture 8">
                <a:extLst>
                  <a:ext uri="{FF2B5EF4-FFF2-40B4-BE49-F238E27FC236}">
                    <a16:creationId xmlns:a16="http://schemas.microsoft.com/office/drawing/2014/main" id="{7452837B-0841-C848-B49B-0967E49F4BE6}"/>
                  </a:ext>
                </a:extLst>
              </p:cNvPr>
              <p:cNvPicPr>
                <a:picLocks noChangeAspect="1"/>
              </p:cNvPicPr>
              <p:nvPr/>
            </p:nvPicPr>
            <p:blipFill>
              <a:blip r:embed="rId8"/>
              <a:stretch>
                <a:fillRect/>
              </a:stretch>
            </p:blipFill>
            <p:spPr>
              <a:xfrm>
                <a:off x="1254455" y="5726554"/>
                <a:ext cx="442555" cy="835807"/>
              </a:xfrm>
              <a:prstGeom prst="rect">
                <a:avLst/>
              </a:prstGeom>
            </p:spPr>
          </p:pic>
        </p:grpSp>
        <p:sp>
          <p:nvSpPr>
            <p:cNvPr id="10" name="TextBox 9">
              <a:extLst>
                <a:ext uri="{FF2B5EF4-FFF2-40B4-BE49-F238E27FC236}">
                  <a16:creationId xmlns:a16="http://schemas.microsoft.com/office/drawing/2014/main" id="{E99B2E94-FFF3-A204-9EF3-D01BF7E9B51F}"/>
                </a:ext>
              </a:extLst>
            </p:cNvPr>
            <p:cNvSpPr txBox="1"/>
            <p:nvPr/>
          </p:nvSpPr>
          <p:spPr>
            <a:xfrm>
              <a:off x="2597609" y="2560189"/>
              <a:ext cx="1389767" cy="622339"/>
            </a:xfrm>
            <a:prstGeom prst="rect">
              <a:avLst/>
            </a:prstGeom>
            <a:noFill/>
          </p:spPr>
          <p:txBody>
            <a:bodyPr wrap="square" rtlCol="0">
              <a:spAutoFit/>
            </a:bodyPr>
            <a:lstStyle/>
            <a:p>
              <a:pPr algn="ctr"/>
              <a:r>
                <a:rPr lang="en-US" sz="1100" dirty="0"/>
                <a:t>Years of education</a:t>
              </a:r>
            </a:p>
          </p:txBody>
        </p:sp>
        <p:sp>
          <p:nvSpPr>
            <p:cNvPr id="11" name="TextBox 10">
              <a:extLst>
                <a:ext uri="{FF2B5EF4-FFF2-40B4-BE49-F238E27FC236}">
                  <a16:creationId xmlns:a16="http://schemas.microsoft.com/office/drawing/2014/main" id="{673DAAD8-B6A2-BF40-8304-3684EE73ED04}"/>
                </a:ext>
              </a:extLst>
            </p:cNvPr>
            <p:cNvSpPr txBox="1"/>
            <p:nvPr/>
          </p:nvSpPr>
          <p:spPr>
            <a:xfrm>
              <a:off x="1451671" y="2766924"/>
              <a:ext cx="1366658" cy="377849"/>
            </a:xfrm>
            <a:prstGeom prst="rect">
              <a:avLst/>
            </a:prstGeom>
            <a:noFill/>
          </p:spPr>
          <p:txBody>
            <a:bodyPr wrap="square" rtlCol="0">
              <a:spAutoFit/>
            </a:bodyPr>
            <a:lstStyle/>
            <a:p>
              <a:pPr algn="ctr"/>
              <a:r>
                <a:rPr lang="en-US" sz="1100" dirty="0"/>
                <a:t>ln(Earnings)</a:t>
              </a:r>
            </a:p>
          </p:txBody>
        </p:sp>
        <p:sp>
          <p:nvSpPr>
            <p:cNvPr id="12" name="TextBox 11">
              <a:extLst>
                <a:ext uri="{FF2B5EF4-FFF2-40B4-BE49-F238E27FC236}">
                  <a16:creationId xmlns:a16="http://schemas.microsoft.com/office/drawing/2014/main" id="{9A41ED3B-E7FE-DE58-FEBA-A4DA3459519F}"/>
                </a:ext>
              </a:extLst>
            </p:cNvPr>
            <p:cNvSpPr txBox="1"/>
            <p:nvPr/>
          </p:nvSpPr>
          <p:spPr>
            <a:xfrm>
              <a:off x="3884357" y="2855894"/>
              <a:ext cx="732906" cy="409551"/>
            </a:xfrm>
            <a:prstGeom prst="rect">
              <a:avLst/>
            </a:prstGeom>
            <a:noFill/>
          </p:spPr>
          <p:txBody>
            <a:bodyPr wrap="square" rtlCol="0">
              <a:spAutoFit/>
            </a:bodyPr>
            <a:lstStyle/>
            <a:p>
              <a:pPr algn="ctr"/>
              <a:r>
                <a:rPr lang="en-US" sz="1050" dirty="0"/>
                <a:t>Age</a:t>
              </a:r>
            </a:p>
          </p:txBody>
        </p:sp>
        <p:sp>
          <p:nvSpPr>
            <p:cNvPr id="13" name="TextBox 12">
              <a:extLst>
                <a:ext uri="{FF2B5EF4-FFF2-40B4-BE49-F238E27FC236}">
                  <a16:creationId xmlns:a16="http://schemas.microsoft.com/office/drawing/2014/main" id="{CF26A1B3-1E8E-EEF2-31DE-BDFE5160820C}"/>
                </a:ext>
              </a:extLst>
            </p:cNvPr>
            <p:cNvSpPr txBox="1"/>
            <p:nvPr/>
          </p:nvSpPr>
          <p:spPr>
            <a:xfrm>
              <a:off x="4354409" y="2599922"/>
              <a:ext cx="1338974" cy="670173"/>
            </a:xfrm>
            <a:prstGeom prst="rect">
              <a:avLst/>
            </a:prstGeom>
            <a:noFill/>
          </p:spPr>
          <p:txBody>
            <a:bodyPr wrap="square" rtlCol="0">
              <a:spAutoFit/>
            </a:bodyPr>
            <a:lstStyle/>
            <a:p>
              <a:pPr algn="ctr"/>
              <a:r>
                <a:rPr lang="en-US" sz="1050" dirty="0"/>
                <a:t>Parent’s income</a:t>
              </a:r>
            </a:p>
          </p:txBody>
        </p:sp>
        <p:sp>
          <p:nvSpPr>
            <p:cNvPr id="14" name="TextBox 13">
              <a:extLst>
                <a:ext uri="{FF2B5EF4-FFF2-40B4-BE49-F238E27FC236}">
                  <a16:creationId xmlns:a16="http://schemas.microsoft.com/office/drawing/2014/main" id="{95D81B1E-CF9A-C173-3438-724DC813914A}"/>
                </a:ext>
              </a:extLst>
            </p:cNvPr>
            <p:cNvSpPr txBox="1"/>
            <p:nvPr/>
          </p:nvSpPr>
          <p:spPr>
            <a:xfrm>
              <a:off x="6579598" y="2581737"/>
              <a:ext cx="928304" cy="600113"/>
            </a:xfrm>
            <a:prstGeom prst="rect">
              <a:avLst/>
            </a:prstGeom>
            <a:noFill/>
          </p:spPr>
          <p:txBody>
            <a:bodyPr wrap="none" rtlCol="0">
              <a:spAutoFit/>
            </a:bodyPr>
            <a:lstStyle/>
            <a:p>
              <a:pPr algn="ctr"/>
              <a:r>
                <a:rPr lang="en-US" sz="1050" dirty="0"/>
                <a:t>Number </a:t>
              </a:r>
            </a:p>
            <a:p>
              <a:pPr algn="ctr"/>
              <a:r>
                <a:rPr lang="en-US" sz="1050" dirty="0"/>
                <a:t>of siblings</a:t>
              </a:r>
            </a:p>
          </p:txBody>
        </p:sp>
        <p:sp>
          <p:nvSpPr>
            <p:cNvPr id="15" name="TextBox 14">
              <a:extLst>
                <a:ext uri="{FF2B5EF4-FFF2-40B4-BE49-F238E27FC236}">
                  <a16:creationId xmlns:a16="http://schemas.microsoft.com/office/drawing/2014/main" id="{16F3BF8B-FB7B-5742-3EF2-5D79EEED1A29}"/>
                </a:ext>
              </a:extLst>
            </p:cNvPr>
            <p:cNvSpPr txBox="1"/>
            <p:nvPr/>
          </p:nvSpPr>
          <p:spPr>
            <a:xfrm>
              <a:off x="10307273" y="2800830"/>
              <a:ext cx="788266" cy="372318"/>
            </a:xfrm>
            <a:prstGeom prst="rect">
              <a:avLst/>
            </a:prstGeom>
            <a:noFill/>
          </p:spPr>
          <p:txBody>
            <a:bodyPr wrap="square" rtlCol="0">
              <a:spAutoFit/>
            </a:bodyPr>
            <a:lstStyle/>
            <a:p>
              <a:pPr algn="ctr"/>
              <a:r>
                <a:rPr lang="en-US" sz="900" dirty="0"/>
                <a:t>Dog?</a:t>
              </a:r>
            </a:p>
          </p:txBody>
        </p:sp>
        <p:sp>
          <p:nvSpPr>
            <p:cNvPr id="16" name="TextBox 15">
              <a:extLst>
                <a:ext uri="{FF2B5EF4-FFF2-40B4-BE49-F238E27FC236}">
                  <a16:creationId xmlns:a16="http://schemas.microsoft.com/office/drawing/2014/main" id="{D165C4A5-F2E9-B866-470F-6412A3A81FC4}"/>
                </a:ext>
              </a:extLst>
            </p:cNvPr>
            <p:cNvSpPr txBox="1"/>
            <p:nvPr/>
          </p:nvSpPr>
          <p:spPr>
            <a:xfrm>
              <a:off x="10927077" y="2832129"/>
              <a:ext cx="788266" cy="372318"/>
            </a:xfrm>
            <a:prstGeom prst="rect">
              <a:avLst/>
            </a:prstGeom>
            <a:noFill/>
          </p:spPr>
          <p:txBody>
            <a:bodyPr wrap="square" rtlCol="0">
              <a:spAutoFit/>
            </a:bodyPr>
            <a:lstStyle/>
            <a:p>
              <a:pPr algn="ctr"/>
              <a:r>
                <a:rPr lang="en-US" sz="900" dirty="0"/>
                <a:t>Fido?</a:t>
              </a:r>
            </a:p>
          </p:txBody>
        </p:sp>
        <p:sp>
          <p:nvSpPr>
            <p:cNvPr id="17" name="TextBox 16">
              <a:extLst>
                <a:ext uri="{FF2B5EF4-FFF2-40B4-BE49-F238E27FC236}">
                  <a16:creationId xmlns:a16="http://schemas.microsoft.com/office/drawing/2014/main" id="{E20F9A05-9204-1F44-D520-07680806B757}"/>
                </a:ext>
              </a:extLst>
            </p:cNvPr>
            <p:cNvSpPr txBox="1"/>
            <p:nvPr/>
          </p:nvSpPr>
          <p:spPr>
            <a:xfrm>
              <a:off x="9137063" y="2788357"/>
              <a:ext cx="1431610" cy="355622"/>
            </a:xfrm>
            <a:prstGeom prst="rect">
              <a:avLst/>
            </a:prstGeom>
            <a:noFill/>
          </p:spPr>
          <p:txBody>
            <a:bodyPr wrap="square" rtlCol="0">
              <a:spAutoFit/>
            </a:bodyPr>
            <a:lstStyle/>
            <a:p>
              <a:pPr algn="ctr"/>
              <a:r>
                <a:rPr lang="en-US" sz="1000" dirty="0"/>
                <a:t>Vegetarian?</a:t>
              </a:r>
            </a:p>
          </p:txBody>
        </p:sp>
        <p:sp>
          <p:nvSpPr>
            <p:cNvPr id="18" name="TextBox 17">
              <a:extLst>
                <a:ext uri="{FF2B5EF4-FFF2-40B4-BE49-F238E27FC236}">
                  <a16:creationId xmlns:a16="http://schemas.microsoft.com/office/drawing/2014/main" id="{31D46F99-D747-D64C-13C0-2E07AC2A3161}"/>
                </a:ext>
              </a:extLst>
            </p:cNvPr>
            <p:cNvSpPr txBox="1"/>
            <p:nvPr/>
          </p:nvSpPr>
          <p:spPr>
            <a:xfrm>
              <a:off x="5586951" y="2546707"/>
              <a:ext cx="934092" cy="670173"/>
            </a:xfrm>
            <a:prstGeom prst="rect">
              <a:avLst/>
            </a:prstGeom>
            <a:noFill/>
          </p:spPr>
          <p:txBody>
            <a:bodyPr wrap="none" rtlCol="0">
              <a:spAutoFit/>
            </a:bodyPr>
            <a:lstStyle/>
            <a:p>
              <a:pPr algn="ctr"/>
              <a:r>
                <a:rPr lang="en-US" sz="1050" dirty="0"/>
                <a:t>Mother’s</a:t>
              </a:r>
            </a:p>
            <a:p>
              <a:pPr algn="ctr"/>
              <a:r>
                <a:rPr lang="en-US" sz="1050" dirty="0"/>
                <a:t>Education</a:t>
              </a:r>
            </a:p>
          </p:txBody>
        </p:sp>
        <p:sp>
          <p:nvSpPr>
            <p:cNvPr id="19" name="TextBox 18">
              <a:extLst>
                <a:ext uri="{FF2B5EF4-FFF2-40B4-BE49-F238E27FC236}">
                  <a16:creationId xmlns:a16="http://schemas.microsoft.com/office/drawing/2014/main" id="{A8345955-9888-A4CC-3554-9ACDC53640DD}"/>
                </a:ext>
              </a:extLst>
            </p:cNvPr>
            <p:cNvSpPr txBox="1"/>
            <p:nvPr/>
          </p:nvSpPr>
          <p:spPr>
            <a:xfrm>
              <a:off x="8105061" y="2842432"/>
              <a:ext cx="1431610" cy="397139"/>
            </a:xfrm>
            <a:prstGeom prst="rect">
              <a:avLst/>
            </a:prstGeom>
            <a:noFill/>
          </p:spPr>
          <p:txBody>
            <a:bodyPr wrap="square" rtlCol="0">
              <a:spAutoFit/>
            </a:bodyPr>
            <a:lstStyle/>
            <a:p>
              <a:pPr algn="ctr"/>
              <a:r>
                <a:rPr lang="en-US" sz="1000" dirty="0"/>
                <a:t>Sci-fi fan?</a:t>
              </a:r>
            </a:p>
          </p:txBody>
        </p:sp>
        <p:sp>
          <p:nvSpPr>
            <p:cNvPr id="20" name="TextBox 19">
              <a:extLst>
                <a:ext uri="{FF2B5EF4-FFF2-40B4-BE49-F238E27FC236}">
                  <a16:creationId xmlns:a16="http://schemas.microsoft.com/office/drawing/2014/main" id="{2137902C-FCEB-C5E6-9044-77B57D2EC46F}"/>
                </a:ext>
              </a:extLst>
            </p:cNvPr>
            <p:cNvSpPr txBox="1"/>
            <p:nvPr/>
          </p:nvSpPr>
          <p:spPr>
            <a:xfrm>
              <a:off x="7481377" y="2823567"/>
              <a:ext cx="924170" cy="397139"/>
            </a:xfrm>
            <a:prstGeom prst="rect">
              <a:avLst/>
            </a:prstGeom>
            <a:noFill/>
          </p:spPr>
          <p:txBody>
            <a:bodyPr wrap="square" rtlCol="0">
              <a:spAutoFit/>
            </a:bodyPr>
            <a:lstStyle/>
            <a:p>
              <a:pPr algn="ctr"/>
              <a:r>
                <a:rPr lang="en-US" sz="1000" dirty="0"/>
                <a:t>City?</a:t>
              </a:r>
            </a:p>
          </p:txBody>
        </p:sp>
        <p:sp>
          <p:nvSpPr>
            <p:cNvPr id="22" name="TextBox 21">
              <a:extLst>
                <a:ext uri="{FF2B5EF4-FFF2-40B4-BE49-F238E27FC236}">
                  <a16:creationId xmlns:a16="http://schemas.microsoft.com/office/drawing/2014/main" id="{A1720135-2680-3394-DBE5-78B010A2659B}"/>
                </a:ext>
              </a:extLst>
            </p:cNvPr>
            <p:cNvSpPr txBox="1"/>
            <p:nvPr/>
          </p:nvSpPr>
          <p:spPr>
            <a:xfrm>
              <a:off x="11658594" y="2771788"/>
              <a:ext cx="788266" cy="333396"/>
            </a:xfrm>
            <a:prstGeom prst="rect">
              <a:avLst/>
            </a:prstGeom>
            <a:noFill/>
          </p:spPr>
          <p:txBody>
            <a:bodyPr wrap="square" rtlCol="0">
              <a:spAutoFit/>
            </a:bodyPr>
            <a:lstStyle/>
            <a:p>
              <a:pPr algn="ctr"/>
              <a:r>
                <a:rPr lang="en-US" sz="900" dirty="0" err="1"/>
                <a:t>etc</a:t>
              </a:r>
              <a:endParaRPr lang="en-US" sz="900" dirty="0"/>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9DDBA52-B8CE-C885-2A33-20F2A62A526B}"/>
                  </a:ext>
                </a:extLst>
              </p:cNvPr>
              <p:cNvSpPr txBox="1"/>
              <p:nvPr/>
            </p:nvSpPr>
            <p:spPr>
              <a:xfrm>
                <a:off x="1371446" y="2619016"/>
                <a:ext cx="1019804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5"/>
                          </a:solidFill>
                          <a:latin typeface="Cambria Math" panose="02040503050406030204" pitchFamily="18" charset="0"/>
                        </a:rPr>
                        <m:t>𝑌</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𝛼</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𝛽</m:t>
                      </m:r>
                      <m:r>
                        <a:rPr lang="en-US" sz="2800" b="0" i="1" smtClean="0">
                          <a:solidFill>
                            <a:schemeClr val="accent2"/>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0" smtClean="0">
                              <a:solidFill>
                                <a:schemeClr val="tx1"/>
                              </a:solidFill>
                              <a:latin typeface="Cambria Math" panose="02040503050406030204" pitchFamily="18" charset="0"/>
                            </a:rPr>
                            <m:t>1</m:t>
                          </m:r>
                        </m:sub>
                      </m:sSub>
                      <m:sSub>
                        <m:sSubPr>
                          <m:ctrlPr>
                            <a:rPr lang="en-US" sz="2800" b="0" i="1" smtClean="0">
                              <a:solidFill>
                                <a:schemeClr val="accent6"/>
                              </a:solidFill>
                              <a:latin typeface="Cambria Math" panose="02040503050406030204" pitchFamily="18" charset="0"/>
                            </a:rPr>
                          </m:ctrlPr>
                        </m:sSubPr>
                        <m:e>
                          <m:r>
                            <m:rPr>
                              <m:sty m:val="p"/>
                            </m:rPr>
                            <a:rPr lang="en-US" sz="2800" b="0" i="0" smtClean="0">
                              <a:solidFill>
                                <a:schemeClr val="accent6"/>
                              </a:solidFill>
                              <a:latin typeface="Cambria Math" panose="02040503050406030204" pitchFamily="18" charset="0"/>
                            </a:rPr>
                            <m:t>W</m:t>
                          </m:r>
                        </m:e>
                        <m:sub>
                          <m:r>
                            <a:rPr lang="en-US" sz="2800" b="0" i="0" smtClean="0">
                              <a:solidFill>
                                <a:schemeClr val="accent6"/>
                              </a:solidFill>
                              <a:latin typeface="Cambria Math" panose="02040503050406030204" pitchFamily="18" charset="0"/>
                            </a:rPr>
                            <m:t>1</m:t>
                          </m:r>
                        </m:sub>
                      </m:sSub>
                      <m:r>
                        <a:rPr lang="en-US" sz="2800" b="0" i="0"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2</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2</m:t>
                          </m:r>
                        </m:sub>
                      </m:sSub>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3</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3</m:t>
                          </m:r>
                        </m:sub>
                      </m:sSub>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𝛾</m:t>
                          </m:r>
                        </m:e>
                        <m:sub>
                          <m:r>
                            <a:rPr lang="en-US" sz="2800" b="0" i="1" smtClean="0">
                              <a:solidFill>
                                <a:schemeClr val="tx1"/>
                              </a:solidFill>
                              <a:latin typeface="Cambria Math" panose="02040503050406030204" pitchFamily="18" charset="0"/>
                            </a:rPr>
                            <m:t>50000</m:t>
                          </m:r>
                        </m:sub>
                      </m:sSub>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50000</m:t>
                          </m:r>
                        </m:sub>
                      </m:sSub>
                      <m:r>
                        <a:rPr lang="en-US" sz="2800" b="0" i="0" smtClean="0">
                          <a:solidFill>
                            <a:schemeClr val="bg2">
                              <a:lumMod val="75000"/>
                            </a:schemeClr>
                          </a:solidFill>
                          <a:latin typeface="Cambria Math" panose="02040503050406030204" pitchFamily="18" charset="0"/>
                        </a:rPr>
                        <m:t>+</m:t>
                      </m:r>
                      <m:r>
                        <m:rPr>
                          <m:sty m:val="p"/>
                        </m:rPr>
                        <a:rPr lang="en-US" sz="2800" b="0" i="0" smtClean="0">
                          <a:solidFill>
                            <a:schemeClr val="bg2">
                              <a:lumMod val="75000"/>
                            </a:schemeClr>
                          </a:solidFill>
                          <a:latin typeface="Cambria Math" panose="02040503050406030204" pitchFamily="18" charset="0"/>
                        </a:rPr>
                        <m:t>noise</m:t>
                      </m:r>
                    </m:oMath>
                  </m:oMathPara>
                </a14:m>
                <a:endParaRPr lang="en-US" sz="2800" dirty="0"/>
              </a:p>
            </p:txBody>
          </p:sp>
        </mc:Choice>
        <mc:Fallback xmlns="">
          <p:sp>
            <p:nvSpPr>
              <p:cNvPr id="24" name="TextBox 23">
                <a:extLst>
                  <a:ext uri="{FF2B5EF4-FFF2-40B4-BE49-F238E27FC236}">
                    <a16:creationId xmlns:a16="http://schemas.microsoft.com/office/drawing/2014/main" id="{D23F41DC-11E6-2447-4F00-77CE79A44664}"/>
                  </a:ext>
                </a:extLst>
              </p:cNvPr>
              <p:cNvSpPr txBox="1">
                <a:spLocks noRot="1" noChangeAspect="1" noMove="1" noResize="1" noEditPoints="1" noAdjustHandles="1" noChangeArrowheads="1" noChangeShapeType="1" noTextEdit="1"/>
              </p:cNvSpPr>
              <p:nvPr/>
            </p:nvSpPr>
            <p:spPr>
              <a:xfrm>
                <a:off x="1371446" y="2619016"/>
                <a:ext cx="10198048" cy="523220"/>
              </a:xfrm>
              <a:prstGeom prst="rect">
                <a:avLst/>
              </a:prstGeom>
              <a:blipFill>
                <a:blip r:embed="rId9"/>
                <a:stretch>
                  <a:fillRect b="-16667"/>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7FF61B62-F1F3-69C2-41AC-446F13334EA1}"/>
              </a:ext>
            </a:extLst>
          </p:cNvPr>
          <p:cNvGrpSpPr/>
          <p:nvPr/>
        </p:nvGrpSpPr>
        <p:grpSpPr>
          <a:xfrm>
            <a:off x="9171108" y="197685"/>
            <a:ext cx="2850614" cy="2358655"/>
            <a:chOff x="10185674" y="488969"/>
            <a:chExt cx="2850614" cy="2358655"/>
          </a:xfrm>
        </p:grpSpPr>
        <p:pic>
          <p:nvPicPr>
            <p:cNvPr id="25" name="Picture 24">
              <a:extLst>
                <a:ext uri="{FF2B5EF4-FFF2-40B4-BE49-F238E27FC236}">
                  <a16:creationId xmlns:a16="http://schemas.microsoft.com/office/drawing/2014/main" id="{92A97A53-39F4-C0C0-D946-FD679C69E97D}"/>
                </a:ext>
              </a:extLst>
            </p:cNvPr>
            <p:cNvPicPr>
              <a:picLocks noChangeAspect="1"/>
            </p:cNvPicPr>
            <p:nvPr/>
          </p:nvPicPr>
          <p:blipFill>
            <a:blip r:embed="rId10"/>
            <a:stretch>
              <a:fillRect/>
            </a:stretch>
          </p:blipFill>
          <p:spPr>
            <a:xfrm>
              <a:off x="10853596" y="488969"/>
              <a:ext cx="1514770" cy="1342992"/>
            </a:xfrm>
            <a:prstGeom prst="rect">
              <a:avLst/>
            </a:prstGeom>
          </p:spPr>
        </p:pic>
        <p:sp>
          <p:nvSpPr>
            <p:cNvPr id="26" name="TextBox 25">
              <a:extLst>
                <a:ext uri="{FF2B5EF4-FFF2-40B4-BE49-F238E27FC236}">
                  <a16:creationId xmlns:a16="http://schemas.microsoft.com/office/drawing/2014/main" id="{18C426E2-0D05-9AB4-EECC-F07DCDD35EBF}"/>
                </a:ext>
              </a:extLst>
            </p:cNvPr>
            <p:cNvSpPr txBox="1"/>
            <p:nvPr/>
          </p:nvSpPr>
          <p:spPr>
            <a:xfrm>
              <a:off x="10185674" y="1831961"/>
              <a:ext cx="2850614" cy="1015663"/>
            </a:xfrm>
            <a:prstGeom prst="rect">
              <a:avLst/>
            </a:prstGeom>
            <a:noFill/>
          </p:spPr>
          <p:txBody>
            <a:bodyPr wrap="square" rtlCol="0">
              <a:spAutoFit/>
            </a:bodyPr>
            <a:lstStyle/>
            <a:p>
              <a:pPr algn="ctr"/>
              <a:r>
                <a:rPr lang="en-US" sz="1600" dirty="0">
                  <a:solidFill>
                    <a:schemeClr val="accent1"/>
                  </a:solidFill>
                </a:rPr>
                <a:t>You thought about this on your pre-class response</a:t>
              </a:r>
            </a:p>
            <a:p>
              <a:pPr algn="ctr"/>
              <a:r>
                <a:rPr lang="en-US" sz="2800" b="1" dirty="0">
                  <a:solidFill>
                    <a:schemeClr val="accent1"/>
                  </a:solidFill>
                </a:rPr>
                <a:t>Discuss!</a:t>
              </a:r>
            </a:p>
          </p:txBody>
        </p:sp>
      </p:grpSp>
    </p:spTree>
    <p:extLst>
      <p:ext uri="{BB962C8B-B14F-4D97-AF65-F5344CB8AC3E}">
        <p14:creationId xmlns:p14="http://schemas.microsoft.com/office/powerpoint/2010/main" val="3584257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23348-7BEE-B896-C694-0F9FF32E51FA}"/>
              </a:ext>
            </a:extLst>
          </p:cNvPr>
          <p:cNvSpPr>
            <a:spLocks noGrp="1"/>
          </p:cNvSpPr>
          <p:nvPr>
            <p:ph type="title"/>
          </p:nvPr>
        </p:nvSpPr>
        <p:spPr/>
        <p:txBody>
          <a:bodyPr/>
          <a:lstStyle/>
          <a:p>
            <a:r>
              <a:rPr lang="en-US" dirty="0"/>
              <a:t>Linear-algebraically…</a:t>
            </a:r>
          </a:p>
        </p:txBody>
      </p:sp>
      <p:sp>
        <p:nvSpPr>
          <p:cNvPr id="3" name="Content Placeholder 2">
            <a:extLst>
              <a:ext uri="{FF2B5EF4-FFF2-40B4-BE49-F238E27FC236}">
                <a16:creationId xmlns:a16="http://schemas.microsoft.com/office/drawing/2014/main" id="{C019F1CA-7AE2-6DB4-327D-D342181B730E}"/>
              </a:ext>
            </a:extLst>
          </p:cNvPr>
          <p:cNvSpPr>
            <a:spLocks noGrp="1"/>
          </p:cNvSpPr>
          <p:nvPr>
            <p:ph idx="1"/>
          </p:nvPr>
        </p:nvSpPr>
        <p:spPr>
          <a:xfrm>
            <a:off x="1229363" y="4194460"/>
            <a:ext cx="4162423" cy="2272187"/>
          </a:xfrm>
        </p:spPr>
        <p:txBody>
          <a:bodyPr>
            <a:normAutofit/>
          </a:bodyPr>
          <a:lstStyle/>
          <a:p>
            <a:pPr marL="0" indent="0" algn="ctr">
              <a:buNone/>
            </a:pPr>
            <a:r>
              <a:rPr lang="en-US" sz="3200" dirty="0"/>
              <a:t>This does </a:t>
            </a:r>
            <a:r>
              <a:rPr lang="en-US" sz="3200" b="1" dirty="0"/>
              <a:t>not</a:t>
            </a:r>
            <a:r>
              <a:rPr lang="en-US" sz="3200" dirty="0"/>
              <a:t> have a unique solution!</a:t>
            </a:r>
          </a:p>
          <a:p>
            <a:pPr marL="0" indent="0" algn="ctr">
              <a:buNone/>
            </a:pPr>
            <a:r>
              <a:rPr lang="en-US" sz="2400" dirty="0"/>
              <a:t>There are more covariates than people, so the linear system is underdetermined.</a:t>
            </a:r>
          </a:p>
        </p:txBody>
      </p:sp>
      <p:grpSp>
        <p:nvGrpSpPr>
          <p:cNvPr id="16" name="Group 15">
            <a:extLst>
              <a:ext uri="{FF2B5EF4-FFF2-40B4-BE49-F238E27FC236}">
                <a16:creationId xmlns:a16="http://schemas.microsoft.com/office/drawing/2014/main" id="{099EFC05-3A9F-51F7-2D4F-78E17557675E}"/>
              </a:ext>
            </a:extLst>
          </p:cNvPr>
          <p:cNvGrpSpPr/>
          <p:nvPr/>
        </p:nvGrpSpPr>
        <p:grpSpPr>
          <a:xfrm>
            <a:off x="931985" y="1972657"/>
            <a:ext cx="6843730" cy="4520218"/>
            <a:chOff x="931985" y="1972657"/>
            <a:chExt cx="6843730" cy="452021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F7DB066-6A59-73C1-0059-FEB6756ED979}"/>
                    </a:ext>
                  </a:extLst>
                </p:cNvPr>
                <p:cNvSpPr txBox="1"/>
                <p:nvPr/>
              </p:nvSpPr>
              <p:spPr>
                <a:xfrm>
                  <a:off x="6699011" y="2485384"/>
                  <a:ext cx="84538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4" name="TextBox 3">
                  <a:extLst>
                    <a:ext uri="{FF2B5EF4-FFF2-40B4-BE49-F238E27FC236}">
                      <a16:creationId xmlns:a16="http://schemas.microsoft.com/office/drawing/2014/main" id="{6F7DB066-6A59-73C1-0059-FEB6756ED979}"/>
                    </a:ext>
                  </a:extLst>
                </p:cNvPr>
                <p:cNvSpPr txBox="1">
                  <a:spLocks noRot="1" noChangeAspect="1" noMove="1" noResize="1" noEditPoints="1" noAdjustHandles="1" noChangeArrowheads="1" noChangeShapeType="1" noTextEdit="1"/>
                </p:cNvSpPr>
                <p:nvPr/>
              </p:nvSpPr>
              <p:spPr>
                <a:xfrm>
                  <a:off x="6699011" y="2485384"/>
                  <a:ext cx="845388" cy="430887"/>
                </a:xfrm>
                <a:prstGeom prst="rect">
                  <a:avLst/>
                </a:prstGeom>
                <a:blipFill>
                  <a:blip r:embed="rId3"/>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FDC43392-B6DC-E61F-ABE6-60778383085A}"/>
                </a:ext>
              </a:extLst>
            </p:cNvPr>
            <p:cNvSpPr/>
            <p:nvPr/>
          </p:nvSpPr>
          <p:spPr>
            <a:xfrm>
              <a:off x="1225759" y="1972657"/>
              <a:ext cx="5089316" cy="145634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X</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7986397-5C9C-0271-A263-7FA25FE89932}"/>
                    </a:ext>
                  </a:extLst>
                </p:cNvPr>
                <p:cNvSpPr/>
                <p:nvPr/>
              </p:nvSpPr>
              <p:spPr>
                <a:xfrm>
                  <a:off x="6467695" y="1992689"/>
                  <a:ext cx="308421" cy="450018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𝜷</m:t>
                        </m:r>
                      </m:oMath>
                    </m:oMathPara>
                  </a14:m>
                  <a:endParaRPr lang="en-US" b="1" dirty="0">
                    <a:solidFill>
                      <a:schemeClr val="tx1"/>
                    </a:solidFill>
                  </a:endParaRPr>
                </a:p>
              </p:txBody>
            </p:sp>
          </mc:Choice>
          <mc:Fallback xmlns="">
            <p:sp>
              <p:nvSpPr>
                <p:cNvPr id="6" name="Rectangle 5">
                  <a:extLst>
                    <a:ext uri="{FF2B5EF4-FFF2-40B4-BE49-F238E27FC236}">
                      <a16:creationId xmlns:a16="http://schemas.microsoft.com/office/drawing/2014/main" id="{F7986397-5C9C-0271-A263-7FA25FE89932}"/>
                    </a:ext>
                  </a:extLst>
                </p:cNvPr>
                <p:cNvSpPr>
                  <a:spLocks noRot="1" noChangeAspect="1" noMove="1" noResize="1" noEditPoints="1" noAdjustHandles="1" noChangeArrowheads="1" noChangeShapeType="1" noTextEdit="1"/>
                </p:cNvSpPr>
                <p:nvPr/>
              </p:nvSpPr>
              <p:spPr>
                <a:xfrm>
                  <a:off x="6467695" y="1992689"/>
                  <a:ext cx="308421" cy="4500186"/>
                </a:xfrm>
                <a:prstGeom prst="rect">
                  <a:avLst/>
                </a:prstGeom>
                <a:blipFill>
                  <a:blip r:embed="rId4"/>
                  <a:stretch>
                    <a:fillRect l="-14815"/>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16853D93-388A-E061-3E03-1CC11E39F57E}"/>
                </a:ext>
              </a:extLst>
            </p:cNvPr>
            <p:cNvSpPr/>
            <p:nvPr/>
          </p:nvSpPr>
          <p:spPr>
            <a:xfrm>
              <a:off x="7467294" y="1977459"/>
              <a:ext cx="308421" cy="145154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grpSp>
          <p:nvGrpSpPr>
            <p:cNvPr id="8" name="Group 7">
              <a:extLst>
                <a:ext uri="{FF2B5EF4-FFF2-40B4-BE49-F238E27FC236}">
                  <a16:creationId xmlns:a16="http://schemas.microsoft.com/office/drawing/2014/main" id="{6E062397-2157-4267-0187-74CCCD0FBE9B}"/>
                </a:ext>
              </a:extLst>
            </p:cNvPr>
            <p:cNvGrpSpPr/>
            <p:nvPr/>
          </p:nvGrpSpPr>
          <p:grpSpPr>
            <a:xfrm>
              <a:off x="931985" y="2029809"/>
              <a:ext cx="236448" cy="1346806"/>
              <a:chOff x="951327" y="2069703"/>
              <a:chExt cx="766351" cy="4492658"/>
            </a:xfrm>
          </p:grpSpPr>
          <p:pic>
            <p:nvPicPr>
              <p:cNvPr id="9" name="Picture 8">
                <a:extLst>
                  <a:ext uri="{FF2B5EF4-FFF2-40B4-BE49-F238E27FC236}">
                    <a16:creationId xmlns:a16="http://schemas.microsoft.com/office/drawing/2014/main" id="{20D293E3-CBBD-07C0-8F5E-67BB08A143A8}"/>
                  </a:ext>
                </a:extLst>
              </p:cNvPr>
              <p:cNvPicPr>
                <a:picLocks noChangeAspect="1"/>
              </p:cNvPicPr>
              <p:nvPr/>
            </p:nvPicPr>
            <p:blipFill>
              <a:blip r:embed="rId5"/>
              <a:stretch>
                <a:fillRect/>
              </a:stretch>
            </p:blipFill>
            <p:spPr>
              <a:xfrm>
                <a:off x="1078479" y="2976453"/>
                <a:ext cx="639199" cy="1000461"/>
              </a:xfrm>
              <a:prstGeom prst="rect">
                <a:avLst/>
              </a:prstGeom>
            </p:spPr>
          </p:pic>
          <p:pic>
            <p:nvPicPr>
              <p:cNvPr id="10" name="Picture 7" descr="Adoptable Rabbits | morabbit">
                <a:extLst>
                  <a:ext uri="{FF2B5EF4-FFF2-40B4-BE49-F238E27FC236}">
                    <a16:creationId xmlns:a16="http://schemas.microsoft.com/office/drawing/2014/main" id="{7B4162DB-3C38-175C-1D3F-5BFC31B035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14DB6BF-BF57-FF6A-84AB-C833ED7D6A79}"/>
                  </a:ext>
                </a:extLst>
              </p:cNvPr>
              <p:cNvPicPr>
                <a:picLocks noChangeAspect="1"/>
              </p:cNvPicPr>
              <p:nvPr/>
            </p:nvPicPr>
            <p:blipFill>
              <a:blip r:embed="rId7"/>
              <a:stretch>
                <a:fillRect/>
              </a:stretch>
            </p:blipFill>
            <p:spPr>
              <a:xfrm>
                <a:off x="1078479" y="4851195"/>
                <a:ext cx="519097" cy="682280"/>
              </a:xfrm>
              <a:prstGeom prst="rect">
                <a:avLst/>
              </a:prstGeom>
            </p:spPr>
          </p:pic>
          <p:pic>
            <p:nvPicPr>
              <p:cNvPr id="12" name="Picture 11">
                <a:extLst>
                  <a:ext uri="{FF2B5EF4-FFF2-40B4-BE49-F238E27FC236}">
                    <a16:creationId xmlns:a16="http://schemas.microsoft.com/office/drawing/2014/main" id="{8D9ADA1F-5C97-BC56-47B2-BF5D99D68B2B}"/>
                  </a:ext>
                </a:extLst>
              </p:cNvPr>
              <p:cNvPicPr>
                <a:picLocks noChangeAspect="1"/>
              </p:cNvPicPr>
              <p:nvPr/>
            </p:nvPicPr>
            <p:blipFill>
              <a:blip r:embed="rId8"/>
              <a:stretch>
                <a:fillRect/>
              </a:stretch>
            </p:blipFill>
            <p:spPr>
              <a:xfrm>
                <a:off x="951327" y="3976914"/>
                <a:ext cx="766351" cy="681203"/>
              </a:xfrm>
              <a:prstGeom prst="rect">
                <a:avLst/>
              </a:prstGeom>
            </p:spPr>
          </p:pic>
          <p:pic>
            <p:nvPicPr>
              <p:cNvPr id="13" name="Picture 12">
                <a:extLst>
                  <a:ext uri="{FF2B5EF4-FFF2-40B4-BE49-F238E27FC236}">
                    <a16:creationId xmlns:a16="http://schemas.microsoft.com/office/drawing/2014/main" id="{8821D45C-4229-8605-6FAB-F52F9800B862}"/>
                  </a:ext>
                </a:extLst>
              </p:cNvPr>
              <p:cNvPicPr>
                <a:picLocks noChangeAspect="1"/>
              </p:cNvPicPr>
              <p:nvPr/>
            </p:nvPicPr>
            <p:blipFill>
              <a:blip r:embed="rId9"/>
              <a:stretch>
                <a:fillRect/>
              </a:stretch>
            </p:blipFill>
            <p:spPr>
              <a:xfrm>
                <a:off x="1099145" y="5726553"/>
                <a:ext cx="597865" cy="835808"/>
              </a:xfrm>
              <a:prstGeom prst="rect">
                <a:avLst/>
              </a:prstGeom>
            </p:spPr>
          </p:pic>
        </p:grpSp>
      </p:grpSp>
      <p:grpSp>
        <p:nvGrpSpPr>
          <p:cNvPr id="17" name="Group 16">
            <a:extLst>
              <a:ext uri="{FF2B5EF4-FFF2-40B4-BE49-F238E27FC236}">
                <a16:creationId xmlns:a16="http://schemas.microsoft.com/office/drawing/2014/main" id="{0DDCBCA6-BDFB-7311-E862-593A2D825FB7}"/>
              </a:ext>
            </a:extLst>
          </p:cNvPr>
          <p:cNvGrpSpPr/>
          <p:nvPr/>
        </p:nvGrpSpPr>
        <p:grpSpPr>
          <a:xfrm>
            <a:off x="8466893" y="577169"/>
            <a:ext cx="3578085" cy="5070811"/>
            <a:chOff x="8466893" y="577169"/>
            <a:chExt cx="3578085" cy="5070811"/>
          </a:xfrm>
        </p:grpSpPr>
        <p:pic>
          <p:nvPicPr>
            <p:cNvPr id="14" name="Picture 13">
              <a:extLst>
                <a:ext uri="{FF2B5EF4-FFF2-40B4-BE49-F238E27FC236}">
                  <a16:creationId xmlns:a16="http://schemas.microsoft.com/office/drawing/2014/main" id="{1600DA12-687F-4D09-9002-7A160986942E}"/>
                </a:ext>
              </a:extLst>
            </p:cNvPr>
            <p:cNvPicPr>
              <a:picLocks noChangeAspect="1"/>
            </p:cNvPicPr>
            <p:nvPr/>
          </p:nvPicPr>
          <p:blipFill>
            <a:blip r:embed="rId10"/>
            <a:stretch>
              <a:fillRect/>
            </a:stretch>
          </p:blipFill>
          <p:spPr>
            <a:xfrm>
              <a:off x="11461922" y="4297950"/>
              <a:ext cx="583056" cy="1350030"/>
            </a:xfrm>
            <a:prstGeom prst="rect">
              <a:avLst/>
            </a:prstGeom>
          </p:spPr>
        </p:pic>
        <p:sp>
          <p:nvSpPr>
            <p:cNvPr id="15" name="TextBox 14">
              <a:extLst>
                <a:ext uri="{FF2B5EF4-FFF2-40B4-BE49-F238E27FC236}">
                  <a16:creationId xmlns:a16="http://schemas.microsoft.com/office/drawing/2014/main" id="{333EF46E-D16C-B3C3-5C0F-332F25F049CF}"/>
                </a:ext>
              </a:extLst>
            </p:cNvPr>
            <p:cNvSpPr txBox="1"/>
            <p:nvPr/>
          </p:nvSpPr>
          <p:spPr>
            <a:xfrm>
              <a:off x="8466893" y="577169"/>
              <a:ext cx="3578085" cy="3816429"/>
            </a:xfrm>
            <a:prstGeom prst="rect">
              <a:avLst/>
            </a:prstGeom>
            <a:noFill/>
          </p:spPr>
          <p:txBody>
            <a:bodyPr wrap="square">
              <a:spAutoFit/>
            </a:bodyPr>
            <a:lstStyle/>
            <a:p>
              <a:pPr algn="r"/>
              <a:r>
                <a:rPr lang="en-US" sz="2800" dirty="0">
                  <a:solidFill>
                    <a:srgbClr val="0070C0"/>
                  </a:solidFill>
                </a:rPr>
                <a:t>The problem here might be described as </a:t>
              </a:r>
              <a:r>
                <a:rPr lang="en-US" sz="2800" b="1" dirty="0">
                  <a:solidFill>
                    <a:srgbClr val="0070C0"/>
                  </a:solidFill>
                </a:rPr>
                <a:t>overfitting</a:t>
              </a:r>
              <a:r>
                <a:rPr lang="en-US" sz="2800" dirty="0">
                  <a:solidFill>
                    <a:srgbClr val="0070C0"/>
                  </a:solidFill>
                </a:rPr>
                <a:t>.  </a:t>
              </a:r>
            </a:p>
            <a:p>
              <a:pPr algn="r"/>
              <a:endParaRPr lang="en-US" sz="1100" dirty="0">
                <a:solidFill>
                  <a:srgbClr val="0070C0"/>
                </a:solidFill>
              </a:endParaRPr>
            </a:p>
            <a:p>
              <a:pPr algn="r"/>
              <a:r>
                <a:rPr lang="en-US" sz="2400" dirty="0">
                  <a:solidFill>
                    <a:srgbClr val="0070C0"/>
                  </a:solidFill>
                </a:rPr>
                <a:t>This model is so expressive that it can explain ln(earnings) perfectly in my data set without even looking at the education variable.</a:t>
              </a:r>
            </a:p>
          </p:txBody>
        </p:sp>
      </p:grpSp>
    </p:spTree>
    <p:extLst>
      <p:ext uri="{BB962C8B-B14F-4D97-AF65-F5344CB8AC3E}">
        <p14:creationId xmlns:p14="http://schemas.microsoft.com/office/powerpoint/2010/main" val="3263728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EF06A-4E24-909A-6CE4-1C5B029F58A2}"/>
              </a:ext>
            </a:extLst>
          </p:cNvPr>
          <p:cNvSpPr>
            <a:spLocks noGrp="1"/>
          </p:cNvSpPr>
          <p:nvPr>
            <p:ph type="title"/>
          </p:nvPr>
        </p:nvSpPr>
        <p:spPr>
          <a:xfrm>
            <a:off x="468953" y="39229"/>
            <a:ext cx="4770293" cy="1325563"/>
          </a:xfrm>
        </p:spPr>
        <p:txBody>
          <a:bodyPr/>
          <a:lstStyle/>
          <a:p>
            <a:r>
              <a:rPr lang="en-US" dirty="0"/>
              <a:t>Extreme version of the problem</a:t>
            </a:r>
          </a:p>
        </p:txBody>
      </p:sp>
      <p:grpSp>
        <p:nvGrpSpPr>
          <p:cNvPr id="4" name="Group 3">
            <a:extLst>
              <a:ext uri="{FF2B5EF4-FFF2-40B4-BE49-F238E27FC236}">
                <a16:creationId xmlns:a16="http://schemas.microsoft.com/office/drawing/2014/main" id="{B54305BE-73C2-6E49-F440-9E7277A7EE74}"/>
              </a:ext>
            </a:extLst>
          </p:cNvPr>
          <p:cNvGrpSpPr/>
          <p:nvPr/>
        </p:nvGrpSpPr>
        <p:grpSpPr>
          <a:xfrm>
            <a:off x="1880785" y="2712086"/>
            <a:ext cx="595623" cy="3018293"/>
            <a:chOff x="951327" y="2069703"/>
            <a:chExt cx="766351" cy="4492658"/>
          </a:xfrm>
        </p:grpSpPr>
        <p:pic>
          <p:nvPicPr>
            <p:cNvPr id="5" name="Picture 4">
              <a:extLst>
                <a:ext uri="{FF2B5EF4-FFF2-40B4-BE49-F238E27FC236}">
                  <a16:creationId xmlns:a16="http://schemas.microsoft.com/office/drawing/2014/main" id="{843FA727-46B7-09BC-A8CF-B5E77F6D9EF5}"/>
                </a:ext>
              </a:extLst>
            </p:cNvPr>
            <p:cNvPicPr>
              <a:picLocks noChangeAspect="1"/>
            </p:cNvPicPr>
            <p:nvPr/>
          </p:nvPicPr>
          <p:blipFill>
            <a:blip r:embed="rId3"/>
            <a:stretch>
              <a:fillRect/>
            </a:stretch>
          </p:blipFill>
          <p:spPr>
            <a:xfrm>
              <a:off x="1078479" y="2976453"/>
              <a:ext cx="639199" cy="1000461"/>
            </a:xfrm>
            <a:prstGeom prst="rect">
              <a:avLst/>
            </a:prstGeom>
          </p:spPr>
        </p:pic>
        <p:pic>
          <p:nvPicPr>
            <p:cNvPr id="6" name="Picture 7" descr="Adoptable Rabbits | morabbit">
              <a:extLst>
                <a:ext uri="{FF2B5EF4-FFF2-40B4-BE49-F238E27FC236}">
                  <a16:creationId xmlns:a16="http://schemas.microsoft.com/office/drawing/2014/main" id="{876A31C0-6E85-8357-2CA5-087A07850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AAD2353-F631-B0D8-B4B9-280735822E5D}"/>
                </a:ext>
              </a:extLst>
            </p:cNvPr>
            <p:cNvPicPr>
              <a:picLocks noChangeAspect="1"/>
            </p:cNvPicPr>
            <p:nvPr/>
          </p:nvPicPr>
          <p:blipFill>
            <a:blip r:embed="rId5"/>
            <a:stretch>
              <a:fillRect/>
            </a:stretch>
          </p:blipFill>
          <p:spPr>
            <a:xfrm>
              <a:off x="1078479" y="4851195"/>
              <a:ext cx="519097" cy="682280"/>
            </a:xfrm>
            <a:prstGeom prst="rect">
              <a:avLst/>
            </a:prstGeom>
          </p:spPr>
        </p:pic>
        <p:pic>
          <p:nvPicPr>
            <p:cNvPr id="8" name="Picture 7">
              <a:extLst>
                <a:ext uri="{FF2B5EF4-FFF2-40B4-BE49-F238E27FC236}">
                  <a16:creationId xmlns:a16="http://schemas.microsoft.com/office/drawing/2014/main" id="{611EB6C0-1A54-00CD-11F8-98C047D643DF}"/>
                </a:ext>
              </a:extLst>
            </p:cNvPr>
            <p:cNvPicPr>
              <a:picLocks noChangeAspect="1"/>
            </p:cNvPicPr>
            <p:nvPr/>
          </p:nvPicPr>
          <p:blipFill>
            <a:blip r:embed="rId6"/>
            <a:stretch>
              <a:fillRect/>
            </a:stretch>
          </p:blipFill>
          <p:spPr>
            <a:xfrm>
              <a:off x="951327" y="3976914"/>
              <a:ext cx="766351" cy="681203"/>
            </a:xfrm>
            <a:prstGeom prst="rect">
              <a:avLst/>
            </a:prstGeom>
          </p:spPr>
        </p:pic>
        <p:pic>
          <p:nvPicPr>
            <p:cNvPr id="9" name="Picture 8">
              <a:extLst>
                <a:ext uri="{FF2B5EF4-FFF2-40B4-BE49-F238E27FC236}">
                  <a16:creationId xmlns:a16="http://schemas.microsoft.com/office/drawing/2014/main" id="{32DD065F-D028-1B2C-7132-9E260C12BBEB}"/>
                </a:ext>
              </a:extLst>
            </p:cNvPr>
            <p:cNvPicPr>
              <a:picLocks noChangeAspect="1"/>
            </p:cNvPicPr>
            <p:nvPr/>
          </p:nvPicPr>
          <p:blipFill>
            <a:blip r:embed="rId7"/>
            <a:stretch>
              <a:fillRect/>
            </a:stretch>
          </p:blipFill>
          <p:spPr>
            <a:xfrm>
              <a:off x="1099145" y="5726553"/>
              <a:ext cx="597865" cy="835808"/>
            </a:xfrm>
            <a:prstGeom prst="rect">
              <a:avLst/>
            </a:prstGeom>
          </p:spPr>
        </p:pic>
      </p:grpSp>
      <p:sp>
        <p:nvSpPr>
          <p:cNvPr id="10" name="TextBox 9">
            <a:extLst>
              <a:ext uri="{FF2B5EF4-FFF2-40B4-BE49-F238E27FC236}">
                <a16:creationId xmlns:a16="http://schemas.microsoft.com/office/drawing/2014/main" id="{BDC9F879-EEF5-C889-E11B-708998D326C4}"/>
              </a:ext>
            </a:extLst>
          </p:cNvPr>
          <p:cNvSpPr txBox="1"/>
          <p:nvPr/>
        </p:nvSpPr>
        <p:spPr>
          <a:xfrm>
            <a:off x="3875303" y="1871393"/>
            <a:ext cx="1389767" cy="646331"/>
          </a:xfrm>
          <a:prstGeom prst="rect">
            <a:avLst/>
          </a:prstGeom>
          <a:noFill/>
        </p:spPr>
        <p:txBody>
          <a:bodyPr wrap="square" rtlCol="0">
            <a:spAutoFit/>
          </a:bodyPr>
          <a:lstStyle/>
          <a:p>
            <a:pPr algn="ctr"/>
            <a:r>
              <a:rPr lang="en-US" dirty="0"/>
              <a:t>Years of education</a:t>
            </a:r>
          </a:p>
        </p:txBody>
      </p:sp>
      <p:sp>
        <p:nvSpPr>
          <p:cNvPr id="11" name="TextBox 10">
            <a:extLst>
              <a:ext uri="{FF2B5EF4-FFF2-40B4-BE49-F238E27FC236}">
                <a16:creationId xmlns:a16="http://schemas.microsoft.com/office/drawing/2014/main" id="{11D8CC16-9204-E353-6A0B-71179854AF63}"/>
              </a:ext>
            </a:extLst>
          </p:cNvPr>
          <p:cNvSpPr txBox="1"/>
          <p:nvPr/>
        </p:nvSpPr>
        <p:spPr>
          <a:xfrm>
            <a:off x="2637119" y="2153312"/>
            <a:ext cx="1366657" cy="369332"/>
          </a:xfrm>
          <a:prstGeom prst="rect">
            <a:avLst/>
          </a:prstGeom>
          <a:noFill/>
        </p:spPr>
        <p:txBody>
          <a:bodyPr wrap="square" rtlCol="0">
            <a:spAutoFit/>
          </a:bodyPr>
          <a:lstStyle/>
          <a:p>
            <a:pPr algn="ctr"/>
            <a:r>
              <a:rPr lang="en-US" dirty="0"/>
              <a:t>ln(Earnings)</a:t>
            </a:r>
          </a:p>
        </p:txBody>
      </p:sp>
      <p:sp>
        <p:nvSpPr>
          <p:cNvPr id="12" name="TextBox 11">
            <a:extLst>
              <a:ext uri="{FF2B5EF4-FFF2-40B4-BE49-F238E27FC236}">
                <a16:creationId xmlns:a16="http://schemas.microsoft.com/office/drawing/2014/main" id="{1415EA92-E0F0-91F7-735F-612AA6D08472}"/>
              </a:ext>
            </a:extLst>
          </p:cNvPr>
          <p:cNvSpPr txBox="1"/>
          <p:nvPr/>
        </p:nvSpPr>
        <p:spPr>
          <a:xfrm>
            <a:off x="5115566" y="1469249"/>
            <a:ext cx="912040" cy="1077218"/>
          </a:xfrm>
          <a:prstGeom prst="rect">
            <a:avLst/>
          </a:prstGeom>
          <a:noFill/>
        </p:spPr>
        <p:txBody>
          <a:bodyPr wrap="square" rtlCol="0">
            <a:spAutoFit/>
          </a:bodyPr>
          <a:lstStyle/>
          <a:p>
            <a:pPr algn="ctr"/>
            <a:r>
              <a:rPr lang="en-US" sz="1600" dirty="0"/>
              <a:t>Had a dog named Fido</a:t>
            </a:r>
          </a:p>
        </p:txBody>
      </p:sp>
      <p:sp>
        <p:nvSpPr>
          <p:cNvPr id="13" name="TextBox 12">
            <a:extLst>
              <a:ext uri="{FF2B5EF4-FFF2-40B4-BE49-F238E27FC236}">
                <a16:creationId xmlns:a16="http://schemas.microsoft.com/office/drawing/2014/main" id="{F0818603-583D-928D-6E83-8D2252167871}"/>
              </a:ext>
            </a:extLst>
          </p:cNvPr>
          <p:cNvSpPr txBox="1"/>
          <p:nvPr/>
        </p:nvSpPr>
        <p:spPr>
          <a:xfrm>
            <a:off x="5803446" y="1715470"/>
            <a:ext cx="1338975" cy="830997"/>
          </a:xfrm>
          <a:prstGeom prst="rect">
            <a:avLst/>
          </a:prstGeom>
          <a:noFill/>
        </p:spPr>
        <p:txBody>
          <a:bodyPr wrap="square" rtlCol="0">
            <a:spAutoFit/>
          </a:bodyPr>
          <a:lstStyle/>
          <a:p>
            <a:pPr algn="ctr"/>
            <a:r>
              <a:rPr lang="en-US" sz="1600" dirty="0"/>
              <a:t>Favorite veggie is broccoli</a:t>
            </a:r>
          </a:p>
        </p:txBody>
      </p:sp>
      <p:sp>
        <p:nvSpPr>
          <p:cNvPr id="14" name="TextBox 13">
            <a:extLst>
              <a:ext uri="{FF2B5EF4-FFF2-40B4-BE49-F238E27FC236}">
                <a16:creationId xmlns:a16="http://schemas.microsoft.com/office/drawing/2014/main" id="{E6013B80-D9F9-B729-6B70-601F5E6E804B}"/>
              </a:ext>
            </a:extLst>
          </p:cNvPr>
          <p:cNvSpPr txBox="1"/>
          <p:nvPr/>
        </p:nvSpPr>
        <p:spPr>
          <a:xfrm>
            <a:off x="8034237" y="1944984"/>
            <a:ext cx="912039" cy="584775"/>
          </a:xfrm>
          <a:prstGeom prst="rect">
            <a:avLst/>
          </a:prstGeom>
          <a:noFill/>
        </p:spPr>
        <p:txBody>
          <a:bodyPr wrap="square" rtlCol="0">
            <a:spAutoFit/>
          </a:bodyPr>
          <a:lstStyle/>
          <a:p>
            <a:pPr algn="ctr"/>
            <a:r>
              <a:rPr lang="en-US" sz="1600" dirty="0"/>
              <a:t>Is a penguin</a:t>
            </a:r>
          </a:p>
        </p:txBody>
      </p:sp>
      <p:sp>
        <p:nvSpPr>
          <p:cNvPr id="15" name="TextBox 14">
            <a:extLst>
              <a:ext uri="{FF2B5EF4-FFF2-40B4-BE49-F238E27FC236}">
                <a16:creationId xmlns:a16="http://schemas.microsoft.com/office/drawing/2014/main" id="{66B8BD50-1415-80D4-5936-DC481E0EABA2}"/>
              </a:ext>
            </a:extLst>
          </p:cNvPr>
          <p:cNvSpPr txBox="1"/>
          <p:nvPr/>
        </p:nvSpPr>
        <p:spPr>
          <a:xfrm>
            <a:off x="7017056" y="1230587"/>
            <a:ext cx="912039" cy="1323439"/>
          </a:xfrm>
          <a:prstGeom prst="rect">
            <a:avLst/>
          </a:prstGeom>
          <a:noFill/>
        </p:spPr>
        <p:txBody>
          <a:bodyPr wrap="square" rtlCol="0">
            <a:spAutoFit/>
          </a:bodyPr>
          <a:lstStyle/>
          <a:p>
            <a:pPr algn="ctr"/>
            <a:r>
              <a:rPr lang="en-US" sz="1600" dirty="0"/>
              <a:t>Is really into the “Mad Max” movies</a:t>
            </a:r>
          </a:p>
        </p:txBody>
      </p:sp>
      <p:graphicFrame>
        <p:nvGraphicFramePr>
          <p:cNvPr id="17" name="Table 16">
            <a:extLst>
              <a:ext uri="{FF2B5EF4-FFF2-40B4-BE49-F238E27FC236}">
                <a16:creationId xmlns:a16="http://schemas.microsoft.com/office/drawing/2014/main" id="{105DBA41-98B0-5F59-06D0-C58D02BA4277}"/>
              </a:ext>
            </a:extLst>
          </p:cNvPr>
          <p:cNvGraphicFramePr>
            <a:graphicFrameLocks noGrp="1"/>
          </p:cNvGraphicFramePr>
          <p:nvPr>
            <p:extLst>
              <p:ext uri="{D42A27DB-BD31-4B8C-83A1-F6EECF244321}">
                <p14:modId xmlns:p14="http://schemas.microsoft.com/office/powerpoint/2010/main" val="3978093298"/>
              </p:ext>
            </p:extLst>
          </p:nvPr>
        </p:nvGraphicFramePr>
        <p:xfrm>
          <a:off x="2677277" y="2604929"/>
          <a:ext cx="7288136" cy="3125450"/>
        </p:xfrm>
        <a:graphic>
          <a:graphicData uri="http://schemas.openxmlformats.org/drawingml/2006/table">
            <a:tbl>
              <a:tblPr firstCol="1" bandRow="1">
                <a:tableStyleId>{5C22544A-7EE6-4342-B048-85BDC9FD1C3A}</a:tableStyleId>
              </a:tblPr>
              <a:tblGrid>
                <a:gridCol w="1310617">
                  <a:extLst>
                    <a:ext uri="{9D8B030D-6E8A-4147-A177-3AD203B41FA5}">
                      <a16:colId xmlns:a16="http://schemas.microsoft.com/office/drawing/2014/main" val="3308591606"/>
                    </a:ext>
                  </a:extLst>
                </a:gridCol>
                <a:gridCol w="1117216">
                  <a:extLst>
                    <a:ext uri="{9D8B030D-6E8A-4147-A177-3AD203B41FA5}">
                      <a16:colId xmlns:a16="http://schemas.microsoft.com/office/drawing/2014/main" val="3210990961"/>
                    </a:ext>
                  </a:extLst>
                </a:gridCol>
                <a:gridCol w="900805">
                  <a:extLst>
                    <a:ext uri="{9D8B030D-6E8A-4147-A177-3AD203B41FA5}">
                      <a16:colId xmlns:a16="http://schemas.microsoft.com/office/drawing/2014/main" val="3608099880"/>
                    </a:ext>
                  </a:extLst>
                </a:gridCol>
                <a:gridCol w="966355">
                  <a:extLst>
                    <a:ext uri="{9D8B030D-6E8A-4147-A177-3AD203B41FA5}">
                      <a16:colId xmlns:a16="http://schemas.microsoft.com/office/drawing/2014/main" val="4265935449"/>
                    </a:ext>
                  </a:extLst>
                </a:gridCol>
                <a:gridCol w="1007918">
                  <a:extLst>
                    <a:ext uri="{9D8B030D-6E8A-4147-A177-3AD203B41FA5}">
                      <a16:colId xmlns:a16="http://schemas.microsoft.com/office/drawing/2014/main" val="2177653149"/>
                    </a:ext>
                  </a:extLst>
                </a:gridCol>
                <a:gridCol w="1018417">
                  <a:extLst>
                    <a:ext uri="{9D8B030D-6E8A-4147-A177-3AD203B41FA5}">
                      <a16:colId xmlns:a16="http://schemas.microsoft.com/office/drawing/2014/main" val="1469058886"/>
                    </a:ext>
                  </a:extLst>
                </a:gridCol>
                <a:gridCol w="966808">
                  <a:extLst>
                    <a:ext uri="{9D8B030D-6E8A-4147-A177-3AD203B41FA5}">
                      <a16:colId xmlns:a16="http://schemas.microsoft.com/office/drawing/2014/main" val="822297879"/>
                    </a:ext>
                  </a:extLst>
                </a:gridCol>
              </a:tblGrid>
              <a:tr h="625090">
                <a:tc>
                  <a:txBody>
                    <a:bodyPr/>
                    <a:lstStyle/>
                    <a:p>
                      <a:pPr algn="ctr"/>
                      <a:r>
                        <a:rPr lang="en-US" sz="2400" dirty="0">
                          <a:solidFill>
                            <a:schemeClr val="bg1"/>
                          </a:solidFill>
                        </a:rPr>
                        <a:t>6.7</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7340"/>
                  </a:ext>
                </a:extLst>
              </a:tr>
              <a:tr h="625090">
                <a:tc>
                  <a:txBody>
                    <a:bodyPr/>
                    <a:lstStyle/>
                    <a:p>
                      <a:pPr algn="ctr"/>
                      <a:r>
                        <a:rPr lang="en-US" sz="2400" dirty="0">
                          <a:solidFill>
                            <a:schemeClr val="bg1"/>
                          </a:solidFill>
                        </a:rPr>
                        <a:t>4.6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tx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24014"/>
                  </a:ext>
                </a:extLst>
              </a:tr>
              <a:tr h="625090">
                <a:tc>
                  <a:txBody>
                    <a:bodyPr/>
                    <a:lstStyle/>
                    <a:p>
                      <a:pPr algn="ctr"/>
                      <a:r>
                        <a:rPr lang="en-US" sz="2400" dirty="0">
                          <a:solidFill>
                            <a:schemeClr val="bg1"/>
                          </a:solidFill>
                        </a:rPr>
                        <a:t>8.4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tx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854585"/>
                  </a:ext>
                </a:extLst>
              </a:tr>
              <a:tr h="625090">
                <a:tc>
                  <a:txBody>
                    <a:bodyPr/>
                    <a:lstStyle/>
                    <a:p>
                      <a:pPr algn="ctr"/>
                      <a:r>
                        <a:rPr lang="en-US" sz="2400" dirty="0">
                          <a:solidFill>
                            <a:schemeClr val="bg1"/>
                          </a:solidFill>
                        </a:rPr>
                        <a:t>2.4</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859408"/>
                  </a:ext>
                </a:extLst>
              </a:tr>
              <a:tr h="625090">
                <a:tc>
                  <a:txBody>
                    <a:bodyPr/>
                    <a:lstStyle/>
                    <a:p>
                      <a:pPr algn="ctr"/>
                      <a:r>
                        <a:rPr lang="en-US" sz="2400" dirty="0">
                          <a:solidFill>
                            <a:schemeClr val="bg1"/>
                          </a:solidFill>
                        </a:rPr>
                        <a:t>5.6</a:t>
                      </a:r>
                    </a:p>
                  </a:txBody>
                  <a:tcPr marL="81940" marR="81940" marT="40970" marB="4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tx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solidFill>
                            <a:schemeClr val="bg2">
                              <a:lumMod val="50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43595"/>
                  </a:ext>
                </a:extLst>
              </a:tr>
            </a:tbl>
          </a:graphicData>
        </a:graphic>
      </p:graphicFrame>
      <p:sp>
        <p:nvSpPr>
          <p:cNvPr id="18" name="TextBox 17">
            <a:extLst>
              <a:ext uri="{FF2B5EF4-FFF2-40B4-BE49-F238E27FC236}">
                <a16:creationId xmlns:a16="http://schemas.microsoft.com/office/drawing/2014/main" id="{C939E91F-9828-77D3-4ADA-44D0B343A655}"/>
              </a:ext>
            </a:extLst>
          </p:cNvPr>
          <p:cNvSpPr txBox="1"/>
          <p:nvPr/>
        </p:nvSpPr>
        <p:spPr>
          <a:xfrm>
            <a:off x="8826340" y="1469249"/>
            <a:ext cx="1359058" cy="1077218"/>
          </a:xfrm>
          <a:prstGeom prst="rect">
            <a:avLst/>
          </a:prstGeom>
          <a:noFill/>
        </p:spPr>
        <p:txBody>
          <a:bodyPr wrap="square" rtlCol="0">
            <a:spAutoFit/>
          </a:bodyPr>
          <a:lstStyle/>
          <a:p>
            <a:pPr algn="ctr"/>
            <a:r>
              <a:rPr lang="en-US" sz="1600" dirty="0"/>
              <a:t>Has a </a:t>
            </a:r>
          </a:p>
          <a:p>
            <a:pPr algn="ctr"/>
            <a:r>
              <a:rPr lang="en-US" sz="1600" dirty="0"/>
              <a:t>Ph.D. in comparative literature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FCBA80C-C214-C7AD-8999-4B5E663B0B0D}"/>
                  </a:ext>
                </a:extLst>
              </p:cNvPr>
              <p:cNvSpPr txBox="1"/>
              <p:nvPr/>
            </p:nvSpPr>
            <p:spPr>
              <a:xfrm>
                <a:off x="5239246" y="938045"/>
                <a:ext cx="70089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accent6"/>
                              </a:solidFill>
                              <a:latin typeface="Cambria Math" panose="02040503050406030204" pitchFamily="18" charset="0"/>
                            </a:rPr>
                          </m:ctrlPr>
                        </m:sSubPr>
                        <m:e>
                          <m:r>
                            <a:rPr lang="en-US" sz="2400" i="1" dirty="0" smtClean="0">
                              <a:solidFill>
                                <a:schemeClr val="accent6"/>
                              </a:solidFill>
                              <a:latin typeface="Cambria Math" panose="02040503050406030204" pitchFamily="18" charset="0"/>
                            </a:rPr>
                            <m:t>𝑊</m:t>
                          </m:r>
                        </m:e>
                        <m:sub>
                          <m:r>
                            <a:rPr lang="en-US" sz="2400" i="1" dirty="0" smtClean="0">
                              <a:solidFill>
                                <a:schemeClr val="accent6"/>
                              </a:solidFill>
                              <a:latin typeface="Cambria Math" panose="02040503050406030204" pitchFamily="18" charset="0"/>
                            </a:rPr>
                            <m:t>1</m:t>
                          </m:r>
                        </m:sub>
                      </m:sSub>
                      <m:r>
                        <a:rPr lang="en-US" sz="2400" i="1" dirty="0" smtClean="0">
                          <a:solidFill>
                            <a:schemeClr val="accent6"/>
                          </a:solidFill>
                          <a:latin typeface="Cambria Math" panose="02040503050406030204" pitchFamily="18" charset="0"/>
                        </a:rPr>
                        <m:t> </m:t>
                      </m:r>
                    </m:oMath>
                  </m:oMathPara>
                </a14:m>
                <a:endParaRPr lang="en-US" sz="2400" dirty="0">
                  <a:solidFill>
                    <a:schemeClr val="accent6"/>
                  </a:solidFill>
                </a:endParaRPr>
              </a:p>
            </p:txBody>
          </p:sp>
        </mc:Choice>
        <mc:Fallback xmlns="">
          <p:sp>
            <p:nvSpPr>
              <p:cNvPr id="19" name="TextBox 18">
                <a:extLst>
                  <a:ext uri="{FF2B5EF4-FFF2-40B4-BE49-F238E27FC236}">
                    <a16:creationId xmlns:a16="http://schemas.microsoft.com/office/drawing/2014/main" id="{BFCBA80C-C214-C7AD-8999-4B5E663B0B0D}"/>
                  </a:ext>
                </a:extLst>
              </p:cNvPr>
              <p:cNvSpPr txBox="1">
                <a:spLocks noRot="1" noChangeAspect="1" noMove="1" noResize="1" noEditPoints="1" noAdjustHandles="1" noChangeArrowheads="1" noChangeShapeType="1" noTextEdit="1"/>
              </p:cNvSpPr>
              <p:nvPr/>
            </p:nvSpPr>
            <p:spPr>
              <a:xfrm>
                <a:off x="5239246" y="938045"/>
                <a:ext cx="700898" cy="461665"/>
              </a:xfrm>
              <a:prstGeom prst="rect">
                <a:avLst/>
              </a:prstGeom>
              <a:blipFill>
                <a:blip r:embed="rId8"/>
                <a:stretch>
                  <a:fillRect r="-3571"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084BD5F-CB6F-6EC6-EE0F-275B6C5B2683}"/>
                  </a:ext>
                </a:extLst>
              </p:cNvPr>
              <p:cNvSpPr txBox="1"/>
              <p:nvPr/>
            </p:nvSpPr>
            <p:spPr>
              <a:xfrm>
                <a:off x="6155898" y="1282996"/>
                <a:ext cx="7080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accent6"/>
                              </a:solidFill>
                              <a:latin typeface="Cambria Math" panose="02040503050406030204" pitchFamily="18" charset="0"/>
                            </a:rPr>
                          </m:ctrlPr>
                        </m:sSubPr>
                        <m:e>
                          <m:r>
                            <a:rPr lang="en-US" sz="2400" i="1" dirty="0" smtClean="0">
                              <a:solidFill>
                                <a:schemeClr val="accent6"/>
                              </a:solidFill>
                              <a:latin typeface="Cambria Math" panose="02040503050406030204" pitchFamily="18" charset="0"/>
                            </a:rPr>
                            <m:t>𝑊</m:t>
                          </m:r>
                        </m:e>
                        <m:sub>
                          <m:r>
                            <a:rPr lang="en-US" sz="2400" b="0" i="1" dirty="0" smtClean="0">
                              <a:solidFill>
                                <a:schemeClr val="accent6"/>
                              </a:solidFill>
                              <a:latin typeface="Cambria Math" panose="02040503050406030204" pitchFamily="18" charset="0"/>
                            </a:rPr>
                            <m:t>2</m:t>
                          </m:r>
                        </m:sub>
                      </m:sSub>
                      <m:r>
                        <a:rPr lang="en-US" sz="2400" i="1" dirty="0" smtClean="0">
                          <a:solidFill>
                            <a:schemeClr val="accent6"/>
                          </a:solidFill>
                          <a:latin typeface="Cambria Math" panose="02040503050406030204" pitchFamily="18" charset="0"/>
                        </a:rPr>
                        <m:t> </m:t>
                      </m:r>
                    </m:oMath>
                  </m:oMathPara>
                </a14:m>
                <a:endParaRPr lang="en-US" sz="2400" dirty="0">
                  <a:solidFill>
                    <a:schemeClr val="accent6"/>
                  </a:solidFill>
                </a:endParaRPr>
              </a:p>
            </p:txBody>
          </p:sp>
        </mc:Choice>
        <mc:Fallback xmlns="">
          <p:sp>
            <p:nvSpPr>
              <p:cNvPr id="20" name="TextBox 19">
                <a:extLst>
                  <a:ext uri="{FF2B5EF4-FFF2-40B4-BE49-F238E27FC236}">
                    <a16:creationId xmlns:a16="http://schemas.microsoft.com/office/drawing/2014/main" id="{0084BD5F-CB6F-6EC6-EE0F-275B6C5B2683}"/>
                  </a:ext>
                </a:extLst>
              </p:cNvPr>
              <p:cNvSpPr txBox="1">
                <a:spLocks noRot="1" noChangeAspect="1" noMove="1" noResize="1" noEditPoints="1" noAdjustHandles="1" noChangeArrowheads="1" noChangeShapeType="1" noTextEdit="1"/>
              </p:cNvSpPr>
              <p:nvPr/>
            </p:nvSpPr>
            <p:spPr>
              <a:xfrm>
                <a:off x="6155898" y="1282996"/>
                <a:ext cx="708014" cy="461665"/>
              </a:xfrm>
              <a:prstGeom prst="rect">
                <a:avLst/>
              </a:prstGeom>
              <a:blipFill>
                <a:blip r:embed="rId9"/>
                <a:stretch>
                  <a:fillRect r="-3509"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9987F9B-1C03-26FF-1375-932ED677A7A4}"/>
                  </a:ext>
                </a:extLst>
              </p:cNvPr>
              <p:cNvSpPr txBox="1"/>
              <p:nvPr/>
            </p:nvSpPr>
            <p:spPr>
              <a:xfrm>
                <a:off x="7162911" y="739691"/>
                <a:ext cx="7080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accent6"/>
                              </a:solidFill>
                              <a:latin typeface="Cambria Math" panose="02040503050406030204" pitchFamily="18" charset="0"/>
                            </a:rPr>
                          </m:ctrlPr>
                        </m:sSubPr>
                        <m:e>
                          <m:r>
                            <a:rPr lang="en-US" sz="2400" i="1" dirty="0" smtClean="0">
                              <a:solidFill>
                                <a:schemeClr val="accent6"/>
                              </a:solidFill>
                              <a:latin typeface="Cambria Math" panose="02040503050406030204" pitchFamily="18" charset="0"/>
                            </a:rPr>
                            <m:t>𝑊</m:t>
                          </m:r>
                        </m:e>
                        <m:sub>
                          <m:r>
                            <a:rPr lang="en-US" sz="2400" b="0" i="1" dirty="0" smtClean="0">
                              <a:solidFill>
                                <a:schemeClr val="accent6"/>
                              </a:solidFill>
                              <a:latin typeface="Cambria Math" panose="02040503050406030204" pitchFamily="18" charset="0"/>
                            </a:rPr>
                            <m:t>3</m:t>
                          </m:r>
                        </m:sub>
                      </m:sSub>
                      <m:r>
                        <a:rPr lang="en-US" sz="2400" i="1" dirty="0" smtClean="0">
                          <a:solidFill>
                            <a:schemeClr val="accent6"/>
                          </a:solidFill>
                          <a:latin typeface="Cambria Math" panose="02040503050406030204" pitchFamily="18" charset="0"/>
                        </a:rPr>
                        <m:t> </m:t>
                      </m:r>
                    </m:oMath>
                  </m:oMathPara>
                </a14:m>
                <a:endParaRPr lang="en-US" sz="2400" dirty="0">
                  <a:solidFill>
                    <a:schemeClr val="accent6"/>
                  </a:solidFill>
                </a:endParaRPr>
              </a:p>
            </p:txBody>
          </p:sp>
        </mc:Choice>
        <mc:Fallback xmlns="">
          <p:sp>
            <p:nvSpPr>
              <p:cNvPr id="21" name="TextBox 20">
                <a:extLst>
                  <a:ext uri="{FF2B5EF4-FFF2-40B4-BE49-F238E27FC236}">
                    <a16:creationId xmlns:a16="http://schemas.microsoft.com/office/drawing/2014/main" id="{49987F9B-1C03-26FF-1375-932ED677A7A4}"/>
                  </a:ext>
                </a:extLst>
              </p:cNvPr>
              <p:cNvSpPr txBox="1">
                <a:spLocks noRot="1" noChangeAspect="1" noMove="1" noResize="1" noEditPoints="1" noAdjustHandles="1" noChangeArrowheads="1" noChangeShapeType="1" noTextEdit="1"/>
              </p:cNvSpPr>
              <p:nvPr/>
            </p:nvSpPr>
            <p:spPr>
              <a:xfrm>
                <a:off x="7162911" y="739691"/>
                <a:ext cx="708014" cy="461665"/>
              </a:xfrm>
              <a:prstGeom prst="rect">
                <a:avLst/>
              </a:prstGeom>
              <a:blipFill>
                <a:blip r:embed="rId10"/>
                <a:stretch>
                  <a:fillRect r="-5357"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2CBA180-D128-B53A-EC6C-3ED471864563}"/>
                  </a:ext>
                </a:extLst>
              </p:cNvPr>
              <p:cNvSpPr txBox="1"/>
              <p:nvPr/>
            </p:nvSpPr>
            <p:spPr>
              <a:xfrm>
                <a:off x="8129844" y="1408149"/>
                <a:ext cx="7080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accent6"/>
                              </a:solidFill>
                              <a:latin typeface="Cambria Math" panose="02040503050406030204" pitchFamily="18" charset="0"/>
                            </a:rPr>
                          </m:ctrlPr>
                        </m:sSubPr>
                        <m:e>
                          <m:r>
                            <a:rPr lang="en-US" sz="2400" i="1" dirty="0" smtClean="0">
                              <a:solidFill>
                                <a:schemeClr val="accent6"/>
                              </a:solidFill>
                              <a:latin typeface="Cambria Math" panose="02040503050406030204" pitchFamily="18" charset="0"/>
                            </a:rPr>
                            <m:t>𝑊</m:t>
                          </m:r>
                        </m:e>
                        <m:sub>
                          <m:r>
                            <a:rPr lang="en-US" sz="2400" b="0" i="1" dirty="0" smtClean="0">
                              <a:solidFill>
                                <a:schemeClr val="accent6"/>
                              </a:solidFill>
                              <a:latin typeface="Cambria Math" panose="02040503050406030204" pitchFamily="18" charset="0"/>
                            </a:rPr>
                            <m:t>4</m:t>
                          </m:r>
                        </m:sub>
                      </m:sSub>
                      <m:r>
                        <a:rPr lang="en-US" sz="2400" i="1" dirty="0" smtClean="0">
                          <a:solidFill>
                            <a:schemeClr val="accent6"/>
                          </a:solidFill>
                          <a:latin typeface="Cambria Math" panose="02040503050406030204" pitchFamily="18" charset="0"/>
                        </a:rPr>
                        <m:t> </m:t>
                      </m:r>
                    </m:oMath>
                  </m:oMathPara>
                </a14:m>
                <a:endParaRPr lang="en-US" sz="2400" dirty="0">
                  <a:solidFill>
                    <a:schemeClr val="accent6"/>
                  </a:solidFill>
                </a:endParaRPr>
              </a:p>
            </p:txBody>
          </p:sp>
        </mc:Choice>
        <mc:Fallback xmlns="">
          <p:sp>
            <p:nvSpPr>
              <p:cNvPr id="22" name="TextBox 21">
                <a:extLst>
                  <a:ext uri="{FF2B5EF4-FFF2-40B4-BE49-F238E27FC236}">
                    <a16:creationId xmlns:a16="http://schemas.microsoft.com/office/drawing/2014/main" id="{52CBA180-D128-B53A-EC6C-3ED471864563}"/>
                  </a:ext>
                </a:extLst>
              </p:cNvPr>
              <p:cNvSpPr txBox="1">
                <a:spLocks noRot="1" noChangeAspect="1" noMove="1" noResize="1" noEditPoints="1" noAdjustHandles="1" noChangeArrowheads="1" noChangeShapeType="1" noTextEdit="1"/>
              </p:cNvSpPr>
              <p:nvPr/>
            </p:nvSpPr>
            <p:spPr>
              <a:xfrm>
                <a:off x="8129844" y="1408149"/>
                <a:ext cx="708014" cy="461665"/>
              </a:xfrm>
              <a:prstGeom prst="rect">
                <a:avLst/>
              </a:prstGeom>
              <a:blipFill>
                <a:blip r:embed="rId11"/>
                <a:stretch>
                  <a:fillRect r="-3571"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5807F3F-6A46-4447-CD6D-250EC565FE21}"/>
                  </a:ext>
                </a:extLst>
              </p:cNvPr>
              <p:cNvSpPr txBox="1"/>
              <p:nvPr/>
            </p:nvSpPr>
            <p:spPr>
              <a:xfrm>
                <a:off x="9151862" y="977034"/>
                <a:ext cx="7080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accent6"/>
                              </a:solidFill>
                              <a:latin typeface="Cambria Math" panose="02040503050406030204" pitchFamily="18" charset="0"/>
                            </a:rPr>
                          </m:ctrlPr>
                        </m:sSubPr>
                        <m:e>
                          <m:r>
                            <a:rPr lang="en-US" sz="2400" i="1" dirty="0" smtClean="0">
                              <a:solidFill>
                                <a:schemeClr val="accent6"/>
                              </a:solidFill>
                              <a:latin typeface="Cambria Math" panose="02040503050406030204" pitchFamily="18" charset="0"/>
                            </a:rPr>
                            <m:t>𝑊</m:t>
                          </m:r>
                        </m:e>
                        <m:sub>
                          <m:r>
                            <a:rPr lang="en-US" sz="2400" b="0" i="1" dirty="0" smtClean="0">
                              <a:solidFill>
                                <a:schemeClr val="accent6"/>
                              </a:solidFill>
                              <a:latin typeface="Cambria Math" panose="02040503050406030204" pitchFamily="18" charset="0"/>
                            </a:rPr>
                            <m:t>5</m:t>
                          </m:r>
                        </m:sub>
                      </m:sSub>
                      <m:r>
                        <a:rPr lang="en-US" sz="2400" i="1" dirty="0" smtClean="0">
                          <a:solidFill>
                            <a:schemeClr val="accent6"/>
                          </a:solidFill>
                          <a:latin typeface="Cambria Math" panose="02040503050406030204" pitchFamily="18" charset="0"/>
                        </a:rPr>
                        <m:t> </m:t>
                      </m:r>
                    </m:oMath>
                  </m:oMathPara>
                </a14:m>
                <a:endParaRPr lang="en-US" sz="2400" dirty="0">
                  <a:solidFill>
                    <a:schemeClr val="accent6"/>
                  </a:solidFill>
                </a:endParaRPr>
              </a:p>
            </p:txBody>
          </p:sp>
        </mc:Choice>
        <mc:Fallback xmlns="">
          <p:sp>
            <p:nvSpPr>
              <p:cNvPr id="23" name="TextBox 22">
                <a:extLst>
                  <a:ext uri="{FF2B5EF4-FFF2-40B4-BE49-F238E27FC236}">
                    <a16:creationId xmlns:a16="http://schemas.microsoft.com/office/drawing/2014/main" id="{D5807F3F-6A46-4447-CD6D-250EC565FE21}"/>
                  </a:ext>
                </a:extLst>
              </p:cNvPr>
              <p:cNvSpPr txBox="1">
                <a:spLocks noRot="1" noChangeAspect="1" noMove="1" noResize="1" noEditPoints="1" noAdjustHandles="1" noChangeArrowheads="1" noChangeShapeType="1" noTextEdit="1"/>
              </p:cNvSpPr>
              <p:nvPr/>
            </p:nvSpPr>
            <p:spPr>
              <a:xfrm>
                <a:off x="9151862" y="977034"/>
                <a:ext cx="708014" cy="461665"/>
              </a:xfrm>
              <a:prstGeom prst="rect">
                <a:avLst/>
              </a:prstGeom>
              <a:blipFill>
                <a:blip r:embed="rId12"/>
                <a:stretch>
                  <a:fillRect r="-3509"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C42B6BA-E89E-E58E-A098-7957BB8B19B7}"/>
                  </a:ext>
                </a:extLst>
              </p:cNvPr>
              <p:cNvSpPr txBox="1"/>
              <p:nvPr/>
            </p:nvSpPr>
            <p:spPr>
              <a:xfrm>
                <a:off x="4295954" y="1380985"/>
                <a:ext cx="45345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2"/>
                          </a:solidFill>
                          <a:latin typeface="Cambria Math" panose="02040503050406030204" pitchFamily="18" charset="0"/>
                        </a:rPr>
                        <m:t>𝑋</m:t>
                      </m:r>
                    </m:oMath>
                  </m:oMathPara>
                </a14:m>
                <a:endParaRPr lang="en-US" sz="2400" dirty="0">
                  <a:solidFill>
                    <a:schemeClr val="accent2"/>
                  </a:solidFill>
                </a:endParaRPr>
              </a:p>
            </p:txBody>
          </p:sp>
        </mc:Choice>
        <mc:Fallback xmlns="">
          <p:sp>
            <p:nvSpPr>
              <p:cNvPr id="24" name="TextBox 23">
                <a:extLst>
                  <a:ext uri="{FF2B5EF4-FFF2-40B4-BE49-F238E27FC236}">
                    <a16:creationId xmlns:a16="http://schemas.microsoft.com/office/drawing/2014/main" id="{6C42B6BA-E89E-E58E-A098-7957BB8B19B7}"/>
                  </a:ext>
                </a:extLst>
              </p:cNvPr>
              <p:cNvSpPr txBox="1">
                <a:spLocks noRot="1" noChangeAspect="1" noMove="1" noResize="1" noEditPoints="1" noAdjustHandles="1" noChangeArrowheads="1" noChangeShapeType="1" noTextEdit="1"/>
              </p:cNvSpPr>
              <p:nvPr/>
            </p:nvSpPr>
            <p:spPr>
              <a:xfrm>
                <a:off x="4295954" y="1380985"/>
                <a:ext cx="453457"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D6D3AEB-80EF-57E8-CADF-D86445F5FEF0}"/>
                  </a:ext>
                </a:extLst>
              </p:cNvPr>
              <p:cNvSpPr txBox="1"/>
              <p:nvPr/>
            </p:nvSpPr>
            <p:spPr>
              <a:xfrm>
                <a:off x="3059872" y="1715470"/>
                <a:ext cx="62927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𝑌</m:t>
                      </m:r>
                    </m:oMath>
                  </m:oMathPara>
                </a14:m>
                <a:endParaRPr lang="en-US" sz="2400" dirty="0">
                  <a:solidFill>
                    <a:schemeClr val="accent5"/>
                  </a:solidFill>
                </a:endParaRPr>
              </a:p>
            </p:txBody>
          </p:sp>
        </mc:Choice>
        <mc:Fallback xmlns="">
          <p:sp>
            <p:nvSpPr>
              <p:cNvPr id="25" name="TextBox 24">
                <a:extLst>
                  <a:ext uri="{FF2B5EF4-FFF2-40B4-BE49-F238E27FC236}">
                    <a16:creationId xmlns:a16="http://schemas.microsoft.com/office/drawing/2014/main" id="{DD6D3AEB-80EF-57E8-CADF-D86445F5FEF0}"/>
                  </a:ext>
                </a:extLst>
              </p:cNvPr>
              <p:cNvSpPr txBox="1">
                <a:spLocks noRot="1" noChangeAspect="1" noMove="1" noResize="1" noEditPoints="1" noAdjustHandles="1" noChangeArrowheads="1" noChangeShapeType="1" noTextEdit="1"/>
              </p:cNvSpPr>
              <p:nvPr/>
            </p:nvSpPr>
            <p:spPr>
              <a:xfrm>
                <a:off x="3059872" y="1715470"/>
                <a:ext cx="629277" cy="461665"/>
              </a:xfrm>
              <a:prstGeom prst="rect">
                <a:avLst/>
              </a:prstGeom>
              <a:blipFill>
                <a:blip r:embed="rId14"/>
                <a:stretch>
                  <a:fillRect/>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C5A81AAE-7C79-1EFE-0583-1DC5FBF4B6DE}"/>
              </a:ext>
            </a:extLst>
          </p:cNvPr>
          <p:cNvGrpSpPr/>
          <p:nvPr/>
        </p:nvGrpSpPr>
        <p:grpSpPr>
          <a:xfrm>
            <a:off x="606281" y="6027003"/>
            <a:ext cx="11894562" cy="830997"/>
            <a:chOff x="606281" y="6027003"/>
            <a:chExt cx="11894562" cy="830997"/>
          </a:xfrm>
        </p:grpSpPr>
        <p:sp>
          <p:nvSpPr>
            <p:cNvPr id="26" name="TextBox 25">
              <a:extLst>
                <a:ext uri="{FF2B5EF4-FFF2-40B4-BE49-F238E27FC236}">
                  <a16:creationId xmlns:a16="http://schemas.microsoft.com/office/drawing/2014/main" id="{1D8B3AF8-9EF8-D71D-DDC3-94588F3F0E2D}"/>
                </a:ext>
              </a:extLst>
            </p:cNvPr>
            <p:cNvSpPr txBox="1"/>
            <p:nvPr/>
          </p:nvSpPr>
          <p:spPr>
            <a:xfrm>
              <a:off x="10185398" y="6027003"/>
              <a:ext cx="2315445" cy="830997"/>
            </a:xfrm>
            <a:prstGeom prst="rect">
              <a:avLst/>
            </a:prstGeom>
            <a:solidFill>
              <a:schemeClr val="bg1"/>
            </a:solidFill>
          </p:spPr>
          <p:txBody>
            <a:bodyPr wrap="square" rtlCol="0">
              <a:spAutoFit/>
            </a:bodyPr>
            <a:lstStyle/>
            <a:p>
              <a:r>
                <a:rPr lang="en-US" sz="2400" dirty="0"/>
                <a:t>fits the data perfectly!</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71F146E-B018-1951-12F3-229ED8729946}"/>
                    </a:ext>
                  </a:extLst>
                </p:cNvPr>
                <p:cNvSpPr txBox="1"/>
                <p:nvPr/>
              </p:nvSpPr>
              <p:spPr>
                <a:xfrm>
                  <a:off x="606281" y="6181103"/>
                  <a:ext cx="956627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5"/>
                            </a:solidFill>
                            <a:latin typeface="Cambria Math" panose="02040503050406030204" pitchFamily="18" charset="0"/>
                          </a:rPr>
                          <m:t>𝑌</m:t>
                        </m:r>
                        <m:r>
                          <a:rPr lang="en-US" sz="2800" b="0" i="1" smtClean="0">
                            <a:latin typeface="Cambria Math" panose="02040503050406030204" pitchFamily="18" charset="0"/>
                          </a:rPr>
                          <m:t>=0⋅</m:t>
                        </m:r>
                        <m:r>
                          <a:rPr lang="en-US" sz="2800" b="0" i="1" smtClean="0">
                            <a:solidFill>
                              <a:schemeClr val="accent2"/>
                            </a:solidFill>
                            <a:latin typeface="Cambria Math" panose="02040503050406030204" pitchFamily="18" charset="0"/>
                          </a:rPr>
                          <m:t>𝑋</m:t>
                        </m:r>
                        <m:r>
                          <a:rPr lang="en-US" sz="2800" b="0" i="1" smtClean="0">
                            <a:latin typeface="Cambria Math" panose="02040503050406030204" pitchFamily="18" charset="0"/>
                          </a:rPr>
                          <m:t>+6.7⋅</m:t>
                        </m:r>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1</m:t>
                            </m:r>
                          </m:sub>
                        </m:sSub>
                        <m:r>
                          <a:rPr lang="en-US" sz="2800" b="0" i="1" smtClean="0">
                            <a:latin typeface="Cambria Math" panose="02040503050406030204" pitchFamily="18" charset="0"/>
                          </a:rPr>
                          <m:t>+4.6</m:t>
                        </m:r>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m:t>
                            </m:r>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2</m:t>
                            </m:r>
                          </m:sub>
                        </m:sSub>
                        <m:r>
                          <a:rPr lang="en-US" sz="2800" b="0" i="1" smtClean="0">
                            <a:latin typeface="Cambria Math" panose="02040503050406030204" pitchFamily="18" charset="0"/>
                          </a:rPr>
                          <m:t>+8.4</m:t>
                        </m:r>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m:t>
                            </m:r>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3</m:t>
                            </m:r>
                          </m:sub>
                        </m:sSub>
                        <m:r>
                          <a:rPr lang="en-US" sz="2800" b="0" i="1" smtClean="0">
                            <a:latin typeface="Cambria Math" panose="02040503050406030204" pitchFamily="18" charset="0"/>
                          </a:rPr>
                          <m:t>+2.4⋅</m:t>
                        </m:r>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4</m:t>
                            </m:r>
                          </m:sub>
                        </m:sSub>
                        <m:r>
                          <a:rPr lang="en-US" sz="2800" b="0" i="1" smtClean="0">
                            <a:latin typeface="Cambria Math" panose="02040503050406030204" pitchFamily="18" charset="0"/>
                          </a:rPr>
                          <m:t>+4.6</m:t>
                        </m:r>
                        <m:sSub>
                          <m:sSubPr>
                            <m:ctrlPr>
                              <a:rPr lang="en-US" sz="2800" b="0" i="1" smtClean="0">
                                <a:solidFill>
                                  <a:schemeClr val="accent6"/>
                                </a:solidFill>
                                <a:latin typeface="Cambria Math" panose="02040503050406030204" pitchFamily="18" charset="0"/>
                              </a:rPr>
                            </m:ctrlPr>
                          </m:sSubPr>
                          <m:e>
                            <m:r>
                              <a:rPr lang="en-US" sz="2800" b="0" i="1" smtClean="0">
                                <a:solidFill>
                                  <a:schemeClr val="accent6"/>
                                </a:solidFill>
                                <a:latin typeface="Cambria Math" panose="02040503050406030204" pitchFamily="18" charset="0"/>
                              </a:rPr>
                              <m:t>⋅</m:t>
                            </m:r>
                            <m:r>
                              <a:rPr lang="en-US" sz="2800" b="0" i="1" smtClean="0">
                                <a:solidFill>
                                  <a:schemeClr val="accent6"/>
                                </a:solidFill>
                                <a:latin typeface="Cambria Math" panose="02040503050406030204" pitchFamily="18" charset="0"/>
                              </a:rPr>
                              <m:t>𝑊</m:t>
                            </m:r>
                          </m:e>
                          <m:sub>
                            <m:r>
                              <a:rPr lang="en-US" sz="2800" b="0" i="1" smtClean="0">
                                <a:solidFill>
                                  <a:schemeClr val="accent6"/>
                                </a:solidFill>
                                <a:latin typeface="Cambria Math" panose="02040503050406030204" pitchFamily="18" charset="0"/>
                              </a:rPr>
                              <m:t>5</m:t>
                            </m:r>
                          </m:sub>
                        </m:sSub>
                      </m:oMath>
                    </m:oMathPara>
                  </a14:m>
                  <a:endParaRPr lang="en-US" sz="2800" dirty="0"/>
                </a:p>
              </p:txBody>
            </p:sp>
          </mc:Choice>
          <mc:Fallback xmlns="">
            <p:sp>
              <p:nvSpPr>
                <p:cNvPr id="27" name="TextBox 26">
                  <a:extLst>
                    <a:ext uri="{FF2B5EF4-FFF2-40B4-BE49-F238E27FC236}">
                      <a16:creationId xmlns:a16="http://schemas.microsoft.com/office/drawing/2014/main" id="{F71F146E-B018-1951-12F3-229ED8729946}"/>
                    </a:ext>
                  </a:extLst>
                </p:cNvPr>
                <p:cNvSpPr txBox="1">
                  <a:spLocks noRot="1" noChangeAspect="1" noMove="1" noResize="1" noEditPoints="1" noAdjustHandles="1" noChangeArrowheads="1" noChangeShapeType="1" noTextEdit="1"/>
                </p:cNvSpPr>
                <p:nvPr/>
              </p:nvSpPr>
              <p:spPr>
                <a:xfrm>
                  <a:off x="606281" y="6181103"/>
                  <a:ext cx="9566273" cy="523220"/>
                </a:xfrm>
                <a:prstGeom prst="rect">
                  <a:avLst/>
                </a:prstGeom>
                <a:blipFill>
                  <a:blip r:embed="rId15"/>
                  <a:stretch>
                    <a:fillRect b="-2381"/>
                  </a:stretch>
                </a:blipFill>
              </p:spPr>
              <p:txBody>
                <a:bodyPr/>
                <a:lstStyle/>
                <a:p>
                  <a:r>
                    <a:rPr lang="en-US">
                      <a:noFill/>
                    </a:rPr>
                    <a:t> </a:t>
                  </a:r>
                </a:p>
              </p:txBody>
            </p:sp>
          </mc:Fallback>
        </mc:AlternateContent>
      </p:grpSp>
    </p:spTree>
    <p:extLst>
      <p:ext uri="{BB962C8B-B14F-4D97-AF65-F5344CB8AC3E}">
        <p14:creationId xmlns:p14="http://schemas.microsoft.com/office/powerpoint/2010/main" val="1563760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7EF53-E3AD-AC84-DF77-BC53B6D26294}"/>
              </a:ext>
            </a:extLst>
          </p:cNvPr>
          <p:cNvSpPr>
            <a:spLocks noGrp="1"/>
          </p:cNvSpPr>
          <p:nvPr>
            <p:ph type="title"/>
          </p:nvPr>
        </p:nvSpPr>
        <p:spPr/>
        <p:txBody>
          <a:bodyPr/>
          <a:lstStyle/>
          <a:p>
            <a:r>
              <a:rPr lang="en-US" dirty="0"/>
              <a:t>How to fix this?</a:t>
            </a:r>
          </a:p>
        </p:txBody>
      </p:sp>
      <p:sp>
        <p:nvSpPr>
          <p:cNvPr id="3" name="Content Placeholder 2">
            <a:extLst>
              <a:ext uri="{FF2B5EF4-FFF2-40B4-BE49-F238E27FC236}">
                <a16:creationId xmlns:a16="http://schemas.microsoft.com/office/drawing/2014/main" id="{14FC92BD-9EAD-D841-DBAF-EE480399514B}"/>
              </a:ext>
            </a:extLst>
          </p:cNvPr>
          <p:cNvSpPr>
            <a:spLocks noGrp="1"/>
          </p:cNvSpPr>
          <p:nvPr>
            <p:ph idx="1"/>
          </p:nvPr>
        </p:nvSpPr>
        <p:spPr/>
        <p:txBody>
          <a:bodyPr/>
          <a:lstStyle/>
          <a:p>
            <a:r>
              <a:rPr lang="en-US" dirty="0"/>
              <a:t>Get more people in the dataset!</a:t>
            </a:r>
          </a:p>
          <a:p>
            <a:pPr lvl="1"/>
            <a:r>
              <a:rPr lang="en-US" dirty="0">
                <a:solidFill>
                  <a:schemeClr val="accent1"/>
                </a:solidFill>
              </a:rPr>
              <a:t>That would be ideal, but often isn’t possible.</a:t>
            </a:r>
          </a:p>
          <a:p>
            <a:pPr lvl="1"/>
            <a:endParaRPr lang="en-US" dirty="0"/>
          </a:p>
          <a:p>
            <a:r>
              <a:rPr lang="en-US" dirty="0"/>
              <a:t>Just ignore some of the variables?</a:t>
            </a:r>
          </a:p>
          <a:p>
            <a:pPr lvl="1"/>
            <a:r>
              <a:rPr lang="en-US" dirty="0">
                <a:solidFill>
                  <a:schemeClr val="accent1"/>
                </a:solidFill>
              </a:rPr>
              <a:t>But…</a:t>
            </a:r>
            <a:r>
              <a:rPr lang="en-US" b="1" dirty="0">
                <a:solidFill>
                  <a:schemeClr val="accent1"/>
                </a:solidFill>
              </a:rPr>
              <a:t>are</a:t>
            </a:r>
            <a:r>
              <a:rPr lang="en-US" dirty="0">
                <a:solidFill>
                  <a:schemeClr val="accent1"/>
                </a:solidFill>
              </a:rPr>
              <a:t> we really sure?</a:t>
            </a:r>
          </a:p>
          <a:p>
            <a:pPr lvl="1"/>
            <a:endParaRPr lang="en-US" dirty="0"/>
          </a:p>
          <a:p>
            <a:r>
              <a:rPr lang="en-US" b="1" dirty="0"/>
              <a:t>Today: </a:t>
            </a:r>
            <a:r>
              <a:rPr lang="en-US" dirty="0"/>
              <a:t>two more options:</a:t>
            </a:r>
          </a:p>
          <a:p>
            <a:pPr marL="914400" lvl="1" indent="-457200">
              <a:buFont typeface="+mj-lt"/>
              <a:buAutoNum type="arabicPeriod"/>
            </a:pPr>
            <a:r>
              <a:rPr lang="en-US" dirty="0">
                <a:solidFill>
                  <a:schemeClr val="accent1"/>
                </a:solidFill>
              </a:rPr>
              <a:t>Impose a sparsity assumption (sparse regression / LASSO)</a:t>
            </a:r>
          </a:p>
          <a:p>
            <a:pPr marL="914400" lvl="1" indent="-457200">
              <a:buFont typeface="+mj-lt"/>
              <a:buAutoNum type="arabicPeriod"/>
            </a:pPr>
            <a:r>
              <a:rPr lang="en-US" dirty="0">
                <a:solidFill>
                  <a:schemeClr val="accent1"/>
                </a:solidFill>
              </a:rPr>
              <a:t>Suppose we have many outcomes (say, over time)… then the data can tell us what’s important!  (SVD / PCA)</a:t>
            </a:r>
          </a:p>
        </p:txBody>
      </p:sp>
      <p:grpSp>
        <p:nvGrpSpPr>
          <p:cNvPr id="6" name="Group 5">
            <a:extLst>
              <a:ext uri="{FF2B5EF4-FFF2-40B4-BE49-F238E27FC236}">
                <a16:creationId xmlns:a16="http://schemas.microsoft.com/office/drawing/2014/main" id="{E3ABB627-CD1D-DB56-C974-B55C9AF703C3}"/>
              </a:ext>
            </a:extLst>
          </p:cNvPr>
          <p:cNvGrpSpPr/>
          <p:nvPr/>
        </p:nvGrpSpPr>
        <p:grpSpPr>
          <a:xfrm>
            <a:off x="6500621" y="3090598"/>
            <a:ext cx="4853179" cy="1350030"/>
            <a:chOff x="6500621" y="3090598"/>
            <a:chExt cx="4853179" cy="1350030"/>
          </a:xfrm>
        </p:grpSpPr>
        <p:pic>
          <p:nvPicPr>
            <p:cNvPr id="4" name="Picture 3">
              <a:extLst>
                <a:ext uri="{FF2B5EF4-FFF2-40B4-BE49-F238E27FC236}">
                  <a16:creationId xmlns:a16="http://schemas.microsoft.com/office/drawing/2014/main" id="{A85E34BA-4048-FCCC-56E3-8D78D02AC7DA}"/>
                </a:ext>
              </a:extLst>
            </p:cNvPr>
            <p:cNvPicPr>
              <a:picLocks noChangeAspect="1"/>
            </p:cNvPicPr>
            <p:nvPr/>
          </p:nvPicPr>
          <p:blipFill>
            <a:blip r:embed="rId3"/>
            <a:stretch>
              <a:fillRect/>
            </a:stretch>
          </p:blipFill>
          <p:spPr>
            <a:xfrm>
              <a:off x="10770744" y="3090598"/>
              <a:ext cx="583056" cy="1350030"/>
            </a:xfrm>
            <a:prstGeom prst="rect">
              <a:avLst/>
            </a:prstGeom>
          </p:spPr>
        </p:pic>
        <p:sp>
          <p:nvSpPr>
            <p:cNvPr id="5" name="TextBox 4">
              <a:extLst>
                <a:ext uri="{FF2B5EF4-FFF2-40B4-BE49-F238E27FC236}">
                  <a16:creationId xmlns:a16="http://schemas.microsoft.com/office/drawing/2014/main" id="{F6A7B261-8076-7113-DBF9-4CE7E1BFFA08}"/>
                </a:ext>
              </a:extLst>
            </p:cNvPr>
            <p:cNvSpPr txBox="1"/>
            <p:nvPr/>
          </p:nvSpPr>
          <p:spPr>
            <a:xfrm>
              <a:off x="6500621" y="3090598"/>
              <a:ext cx="4270123" cy="1015663"/>
            </a:xfrm>
            <a:prstGeom prst="rect">
              <a:avLst/>
            </a:prstGeom>
            <a:noFill/>
          </p:spPr>
          <p:txBody>
            <a:bodyPr wrap="square">
              <a:spAutoFit/>
            </a:bodyPr>
            <a:lstStyle/>
            <a:p>
              <a:pPr algn="r"/>
              <a:r>
                <a:rPr lang="en-US" sz="2000" dirty="0">
                  <a:solidFill>
                    <a:srgbClr val="0070C0"/>
                  </a:solidFill>
                </a:rPr>
                <a:t>I’m pretty sure that having a dog named Fido isn’t relevant.  </a:t>
              </a:r>
            </a:p>
            <a:p>
              <a:pPr algn="r"/>
              <a:r>
                <a:rPr lang="en-US" sz="2000" dirty="0">
                  <a:solidFill>
                    <a:srgbClr val="0070C0"/>
                  </a:solidFill>
                </a:rPr>
                <a:t>We can get rid of that column…</a:t>
              </a:r>
            </a:p>
          </p:txBody>
        </p:sp>
      </p:grpSp>
    </p:spTree>
    <p:extLst>
      <p:ext uri="{BB962C8B-B14F-4D97-AF65-F5344CB8AC3E}">
        <p14:creationId xmlns:p14="http://schemas.microsoft.com/office/powerpoint/2010/main" val="1157137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25F57-0DDC-419B-7C72-97D0156F76AB}"/>
              </a:ext>
            </a:extLst>
          </p:cNvPr>
          <p:cNvSpPr>
            <a:spLocks noGrp="1"/>
          </p:cNvSpPr>
          <p:nvPr>
            <p:ph type="title"/>
          </p:nvPr>
        </p:nvSpPr>
        <p:spPr/>
        <p:txBody>
          <a:bodyPr/>
          <a:lstStyle/>
          <a:p>
            <a:r>
              <a:rPr lang="en-US" dirty="0"/>
              <a:t>Sparsity and LASSO</a:t>
            </a:r>
          </a:p>
        </p:txBody>
      </p:sp>
      <p:sp>
        <p:nvSpPr>
          <p:cNvPr id="3" name="Text Placeholder 2">
            <a:extLst>
              <a:ext uri="{FF2B5EF4-FFF2-40B4-BE49-F238E27FC236}">
                <a16:creationId xmlns:a16="http://schemas.microsoft.com/office/drawing/2014/main" id="{91312CCE-D286-BD8D-A4C7-CD8C24F092F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94465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F4564-3889-2A74-0CDE-28CEB6C7E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D9F59-C9CF-868D-1154-3C1F50C74B7B}"/>
              </a:ext>
            </a:extLst>
          </p:cNvPr>
          <p:cNvSpPr>
            <a:spLocks noGrp="1"/>
          </p:cNvSpPr>
          <p:nvPr>
            <p:ph type="title"/>
          </p:nvPr>
        </p:nvSpPr>
        <p:spPr/>
        <p:txBody>
          <a:bodyPr/>
          <a:lstStyle/>
          <a:p>
            <a:r>
              <a:rPr lang="en-US" dirty="0"/>
              <a:t>Back to this problem</a:t>
            </a:r>
          </a:p>
        </p:txBody>
      </p:sp>
      <p:sp>
        <p:nvSpPr>
          <p:cNvPr id="3" name="Content Placeholder 2">
            <a:extLst>
              <a:ext uri="{FF2B5EF4-FFF2-40B4-BE49-F238E27FC236}">
                <a16:creationId xmlns:a16="http://schemas.microsoft.com/office/drawing/2014/main" id="{57DF011C-53D2-4EF4-DF96-F9E07D946E67}"/>
              </a:ext>
            </a:extLst>
          </p:cNvPr>
          <p:cNvSpPr>
            <a:spLocks noGrp="1"/>
          </p:cNvSpPr>
          <p:nvPr>
            <p:ph idx="1"/>
          </p:nvPr>
        </p:nvSpPr>
        <p:spPr/>
        <p:txBody>
          <a:bodyPr/>
          <a:lstStyle/>
          <a:p>
            <a:r>
              <a:rPr lang="en-US" dirty="0"/>
              <a:t>We have tons of covariates, but not as many data points</a:t>
            </a:r>
          </a:p>
          <a:p>
            <a:r>
              <a:rPr lang="en-US" b="1" dirty="0"/>
              <a:t>Assumption: </a:t>
            </a:r>
            <a:r>
              <a:rPr lang="en-US" dirty="0"/>
              <a:t>Not too many covariates are important.</a:t>
            </a:r>
          </a:p>
          <a:p>
            <a:pPr lvl="1"/>
            <a:r>
              <a:rPr lang="en-US" dirty="0">
                <a:solidFill>
                  <a:schemeClr val="accent1"/>
                </a:solidFill>
              </a:rPr>
              <a:t>But!  We don’t know which ones the important ones are.</a:t>
            </a:r>
          </a:p>
          <a:p>
            <a:pPr lvl="1"/>
            <a:endParaRPr lang="en-US" dirty="0">
              <a:solidFill>
                <a:schemeClr val="accent1"/>
              </a:solidFill>
            </a:endParaRPr>
          </a:p>
          <a:p>
            <a:pPr marL="0" indent="0">
              <a:buNone/>
            </a:pPr>
            <a:endParaRPr lang="en-US" dirty="0"/>
          </a:p>
          <a:p>
            <a:endParaRPr lang="en-US" dirty="0"/>
          </a:p>
        </p:txBody>
      </p:sp>
      <p:grpSp>
        <p:nvGrpSpPr>
          <p:cNvPr id="14" name="Group 13">
            <a:extLst>
              <a:ext uri="{FF2B5EF4-FFF2-40B4-BE49-F238E27FC236}">
                <a16:creationId xmlns:a16="http://schemas.microsoft.com/office/drawing/2014/main" id="{7498DBB1-1218-E3D1-5456-EAB059106A32}"/>
              </a:ext>
            </a:extLst>
          </p:cNvPr>
          <p:cNvGrpSpPr/>
          <p:nvPr/>
        </p:nvGrpSpPr>
        <p:grpSpPr>
          <a:xfrm>
            <a:off x="7228152" y="407626"/>
            <a:ext cx="4574440" cy="3021374"/>
            <a:chOff x="931985" y="1972657"/>
            <a:chExt cx="6843730" cy="452021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303B795-6093-5842-B139-E788162C24EC}"/>
                    </a:ext>
                  </a:extLst>
                </p:cNvPr>
                <p:cNvSpPr txBox="1"/>
                <p:nvPr/>
              </p:nvSpPr>
              <p:spPr>
                <a:xfrm>
                  <a:off x="6699011" y="2485384"/>
                  <a:ext cx="84538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4" name="TextBox 3">
                  <a:extLst>
                    <a:ext uri="{FF2B5EF4-FFF2-40B4-BE49-F238E27FC236}">
                      <a16:creationId xmlns:a16="http://schemas.microsoft.com/office/drawing/2014/main" id="{D9BA63F1-6B5A-88D1-E16C-0E5CCCF189FE}"/>
                    </a:ext>
                  </a:extLst>
                </p:cNvPr>
                <p:cNvSpPr txBox="1">
                  <a:spLocks noRot="1" noChangeAspect="1" noMove="1" noResize="1" noEditPoints="1" noAdjustHandles="1" noChangeArrowheads="1" noChangeShapeType="1" noTextEdit="1"/>
                </p:cNvSpPr>
                <p:nvPr/>
              </p:nvSpPr>
              <p:spPr>
                <a:xfrm>
                  <a:off x="6699011" y="2485384"/>
                  <a:ext cx="845388" cy="430887"/>
                </a:xfrm>
                <a:prstGeom prst="rect">
                  <a:avLst/>
                </a:prstGeom>
                <a:blipFill>
                  <a:blip r:embed="rId3"/>
                  <a:stretch>
                    <a:fillRect b="-43478"/>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F13044DD-D3DB-70C1-315B-A511CE2B89F4}"/>
                </a:ext>
              </a:extLst>
            </p:cNvPr>
            <p:cNvSpPr/>
            <p:nvPr/>
          </p:nvSpPr>
          <p:spPr>
            <a:xfrm>
              <a:off x="1225759" y="1972657"/>
              <a:ext cx="5089316" cy="145634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X</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39FDCE9-3DBD-6AAE-AC8E-E7E6D296CBBD}"/>
                    </a:ext>
                  </a:extLst>
                </p:cNvPr>
                <p:cNvSpPr/>
                <p:nvPr/>
              </p:nvSpPr>
              <p:spPr>
                <a:xfrm>
                  <a:off x="6467695" y="1992689"/>
                  <a:ext cx="308421" cy="450018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𝜷</m:t>
                        </m:r>
                      </m:oMath>
                    </m:oMathPara>
                  </a14:m>
                  <a:endParaRPr lang="en-US" b="1" dirty="0">
                    <a:solidFill>
                      <a:schemeClr val="tx1"/>
                    </a:solidFill>
                  </a:endParaRPr>
                </a:p>
              </p:txBody>
            </p:sp>
          </mc:Choice>
          <mc:Fallback xmlns="">
            <p:sp>
              <p:nvSpPr>
                <p:cNvPr id="6" name="Rectangle 5">
                  <a:extLst>
                    <a:ext uri="{FF2B5EF4-FFF2-40B4-BE49-F238E27FC236}">
                      <a16:creationId xmlns:a16="http://schemas.microsoft.com/office/drawing/2014/main" id="{A10C4FB0-8A4B-8A0F-B3BD-6C8540201010}"/>
                    </a:ext>
                  </a:extLst>
                </p:cNvPr>
                <p:cNvSpPr>
                  <a:spLocks noRot="1" noChangeAspect="1" noMove="1" noResize="1" noEditPoints="1" noAdjustHandles="1" noChangeArrowheads="1" noChangeShapeType="1" noTextEdit="1"/>
                </p:cNvSpPr>
                <p:nvPr/>
              </p:nvSpPr>
              <p:spPr>
                <a:xfrm>
                  <a:off x="6467695" y="1992689"/>
                  <a:ext cx="308421" cy="4500186"/>
                </a:xfrm>
                <a:prstGeom prst="rect">
                  <a:avLst/>
                </a:prstGeom>
                <a:blipFill>
                  <a:blip r:embed="rId4"/>
                  <a:stretch>
                    <a:fillRect l="-44444" r="-2222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8CD34CAB-AA4E-0D04-B39E-22E1B75B20B1}"/>
                </a:ext>
              </a:extLst>
            </p:cNvPr>
            <p:cNvSpPr/>
            <p:nvPr/>
          </p:nvSpPr>
          <p:spPr>
            <a:xfrm>
              <a:off x="7467294" y="1977459"/>
              <a:ext cx="308421" cy="145154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grpSp>
          <p:nvGrpSpPr>
            <p:cNvPr id="8" name="Group 7">
              <a:extLst>
                <a:ext uri="{FF2B5EF4-FFF2-40B4-BE49-F238E27FC236}">
                  <a16:creationId xmlns:a16="http://schemas.microsoft.com/office/drawing/2014/main" id="{0A061368-BA65-36A6-DF0A-8D3F44E0EF34}"/>
                </a:ext>
              </a:extLst>
            </p:cNvPr>
            <p:cNvGrpSpPr/>
            <p:nvPr/>
          </p:nvGrpSpPr>
          <p:grpSpPr>
            <a:xfrm>
              <a:off x="931985" y="2029809"/>
              <a:ext cx="236448" cy="1346806"/>
              <a:chOff x="951327" y="2069703"/>
              <a:chExt cx="766351" cy="4492658"/>
            </a:xfrm>
          </p:grpSpPr>
          <p:pic>
            <p:nvPicPr>
              <p:cNvPr id="9" name="Picture 8">
                <a:extLst>
                  <a:ext uri="{FF2B5EF4-FFF2-40B4-BE49-F238E27FC236}">
                    <a16:creationId xmlns:a16="http://schemas.microsoft.com/office/drawing/2014/main" id="{31C4C908-E6C6-A66F-6DA0-AAFB7042F4FC}"/>
                  </a:ext>
                </a:extLst>
              </p:cNvPr>
              <p:cNvPicPr>
                <a:picLocks noChangeAspect="1"/>
              </p:cNvPicPr>
              <p:nvPr/>
            </p:nvPicPr>
            <p:blipFill>
              <a:blip r:embed="rId5"/>
              <a:stretch>
                <a:fillRect/>
              </a:stretch>
            </p:blipFill>
            <p:spPr>
              <a:xfrm>
                <a:off x="1078479" y="2976453"/>
                <a:ext cx="639199" cy="1000461"/>
              </a:xfrm>
              <a:prstGeom prst="rect">
                <a:avLst/>
              </a:prstGeom>
            </p:spPr>
          </p:pic>
          <p:pic>
            <p:nvPicPr>
              <p:cNvPr id="10" name="Picture 7" descr="Adoptable Rabbits | morabbit">
                <a:extLst>
                  <a:ext uri="{FF2B5EF4-FFF2-40B4-BE49-F238E27FC236}">
                    <a16:creationId xmlns:a16="http://schemas.microsoft.com/office/drawing/2014/main" id="{69967A18-E831-E94F-47CB-BC13060310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1193A99-7682-ED63-18EA-EF26BF285B00}"/>
                  </a:ext>
                </a:extLst>
              </p:cNvPr>
              <p:cNvPicPr>
                <a:picLocks noChangeAspect="1"/>
              </p:cNvPicPr>
              <p:nvPr/>
            </p:nvPicPr>
            <p:blipFill>
              <a:blip r:embed="rId7"/>
              <a:stretch>
                <a:fillRect/>
              </a:stretch>
            </p:blipFill>
            <p:spPr>
              <a:xfrm>
                <a:off x="1078479" y="4851195"/>
                <a:ext cx="519097" cy="682280"/>
              </a:xfrm>
              <a:prstGeom prst="rect">
                <a:avLst/>
              </a:prstGeom>
            </p:spPr>
          </p:pic>
          <p:pic>
            <p:nvPicPr>
              <p:cNvPr id="12" name="Picture 11">
                <a:extLst>
                  <a:ext uri="{FF2B5EF4-FFF2-40B4-BE49-F238E27FC236}">
                    <a16:creationId xmlns:a16="http://schemas.microsoft.com/office/drawing/2014/main" id="{A219050B-D65A-3585-B242-9842E02A2FD0}"/>
                  </a:ext>
                </a:extLst>
              </p:cNvPr>
              <p:cNvPicPr>
                <a:picLocks noChangeAspect="1"/>
              </p:cNvPicPr>
              <p:nvPr/>
            </p:nvPicPr>
            <p:blipFill>
              <a:blip r:embed="rId8"/>
              <a:stretch>
                <a:fillRect/>
              </a:stretch>
            </p:blipFill>
            <p:spPr>
              <a:xfrm>
                <a:off x="951327" y="3976914"/>
                <a:ext cx="766351" cy="681203"/>
              </a:xfrm>
              <a:prstGeom prst="rect">
                <a:avLst/>
              </a:prstGeom>
            </p:spPr>
          </p:pic>
          <p:pic>
            <p:nvPicPr>
              <p:cNvPr id="13" name="Picture 12">
                <a:extLst>
                  <a:ext uri="{FF2B5EF4-FFF2-40B4-BE49-F238E27FC236}">
                    <a16:creationId xmlns:a16="http://schemas.microsoft.com/office/drawing/2014/main" id="{23A559C4-A8CE-C12B-825F-017943EC1B27}"/>
                  </a:ext>
                </a:extLst>
              </p:cNvPr>
              <p:cNvPicPr>
                <a:picLocks noChangeAspect="1"/>
              </p:cNvPicPr>
              <p:nvPr/>
            </p:nvPicPr>
            <p:blipFill>
              <a:blip r:embed="rId9"/>
              <a:stretch>
                <a:fillRect/>
              </a:stretch>
            </p:blipFill>
            <p:spPr>
              <a:xfrm>
                <a:off x="1099145" y="5726553"/>
                <a:ext cx="597865" cy="835808"/>
              </a:xfrm>
              <a:prstGeom prst="rect">
                <a:avLst/>
              </a:prstGeom>
            </p:spPr>
          </p:pic>
        </p:grpSp>
      </p:grpSp>
      <p:cxnSp>
        <p:nvCxnSpPr>
          <p:cNvPr id="16" name="Curved Connector 15">
            <a:extLst>
              <a:ext uri="{FF2B5EF4-FFF2-40B4-BE49-F238E27FC236}">
                <a16:creationId xmlns:a16="http://schemas.microsoft.com/office/drawing/2014/main" id="{EFEDE04F-C19C-7B7E-3604-8ACD60B6E01C}"/>
              </a:ext>
            </a:extLst>
          </p:cNvPr>
          <p:cNvCxnSpPr/>
          <p:nvPr/>
        </p:nvCxnSpPr>
        <p:spPr>
          <a:xfrm flipV="1">
            <a:off x="6096000" y="541071"/>
            <a:ext cx="1008185" cy="530458"/>
          </a:xfrm>
          <a:prstGeom prst="curvedConnector3">
            <a:avLst/>
          </a:prstGeom>
          <a:ln>
            <a:solidFill>
              <a:srgbClr val="8C151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8403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37A9-9BF7-7DE5-DF26-807F51DE2090}"/>
              </a:ext>
            </a:extLst>
          </p:cNvPr>
          <p:cNvSpPr>
            <a:spLocks noGrp="1"/>
          </p:cNvSpPr>
          <p:nvPr>
            <p:ph type="title"/>
          </p:nvPr>
        </p:nvSpPr>
        <p:spPr/>
        <p:txBody>
          <a:bodyPr/>
          <a:lstStyle/>
          <a:p>
            <a:r>
              <a:rPr lang="en-US" dirty="0"/>
              <a:t>Back to this problem</a:t>
            </a:r>
          </a:p>
        </p:txBody>
      </p:sp>
      <p:sp>
        <p:nvSpPr>
          <p:cNvPr id="3" name="Content Placeholder 2">
            <a:extLst>
              <a:ext uri="{FF2B5EF4-FFF2-40B4-BE49-F238E27FC236}">
                <a16:creationId xmlns:a16="http://schemas.microsoft.com/office/drawing/2014/main" id="{1CC85369-49A1-ACF9-1503-CB6A91941A72}"/>
              </a:ext>
            </a:extLst>
          </p:cNvPr>
          <p:cNvSpPr>
            <a:spLocks noGrp="1"/>
          </p:cNvSpPr>
          <p:nvPr>
            <p:ph idx="1"/>
          </p:nvPr>
        </p:nvSpPr>
        <p:spPr/>
        <p:txBody>
          <a:bodyPr/>
          <a:lstStyle/>
          <a:p>
            <a:r>
              <a:rPr lang="en-US" dirty="0"/>
              <a:t>We have tons of covariates, but not as many data points</a:t>
            </a:r>
          </a:p>
          <a:p>
            <a:r>
              <a:rPr lang="en-US" b="1" dirty="0"/>
              <a:t>Assumption: </a:t>
            </a:r>
            <a:r>
              <a:rPr lang="en-US" dirty="0"/>
              <a:t>Not too many covariates are important.</a:t>
            </a:r>
          </a:p>
          <a:p>
            <a:pPr lvl="1"/>
            <a:r>
              <a:rPr lang="en-US" dirty="0">
                <a:solidFill>
                  <a:schemeClr val="accent1"/>
                </a:solidFill>
              </a:rPr>
              <a:t>But!  We don’t know which ones the important ones are.</a:t>
            </a:r>
          </a:p>
          <a:p>
            <a:pPr lvl="1"/>
            <a:endParaRPr lang="en-US" dirty="0">
              <a:solidFill>
                <a:schemeClr val="accent1"/>
              </a:solidFill>
            </a:endParaRPr>
          </a:p>
          <a:p>
            <a:pPr marL="0" indent="0">
              <a:buNone/>
            </a:pPr>
            <a:endParaRPr lang="en-US" dirty="0"/>
          </a:p>
          <a:p>
            <a:endParaRPr lang="en-US" dirty="0"/>
          </a:p>
        </p:txBody>
      </p:sp>
      <p:grpSp>
        <p:nvGrpSpPr>
          <p:cNvPr id="14" name="Group 13">
            <a:extLst>
              <a:ext uri="{FF2B5EF4-FFF2-40B4-BE49-F238E27FC236}">
                <a16:creationId xmlns:a16="http://schemas.microsoft.com/office/drawing/2014/main" id="{EBEEA7A9-186F-89D4-5CD2-C076C1C2D0A6}"/>
              </a:ext>
            </a:extLst>
          </p:cNvPr>
          <p:cNvGrpSpPr/>
          <p:nvPr/>
        </p:nvGrpSpPr>
        <p:grpSpPr>
          <a:xfrm>
            <a:off x="7228152" y="407626"/>
            <a:ext cx="4574440" cy="3021374"/>
            <a:chOff x="931985" y="1972657"/>
            <a:chExt cx="6843730" cy="452021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9BA63F1-6B5A-88D1-E16C-0E5CCCF189FE}"/>
                    </a:ext>
                  </a:extLst>
                </p:cNvPr>
                <p:cNvSpPr txBox="1"/>
                <p:nvPr/>
              </p:nvSpPr>
              <p:spPr>
                <a:xfrm>
                  <a:off x="6699011" y="2485384"/>
                  <a:ext cx="84538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4" name="TextBox 3">
                  <a:extLst>
                    <a:ext uri="{FF2B5EF4-FFF2-40B4-BE49-F238E27FC236}">
                      <a16:creationId xmlns:a16="http://schemas.microsoft.com/office/drawing/2014/main" id="{D9BA63F1-6B5A-88D1-E16C-0E5CCCF189FE}"/>
                    </a:ext>
                  </a:extLst>
                </p:cNvPr>
                <p:cNvSpPr txBox="1">
                  <a:spLocks noRot="1" noChangeAspect="1" noMove="1" noResize="1" noEditPoints="1" noAdjustHandles="1" noChangeArrowheads="1" noChangeShapeType="1" noTextEdit="1"/>
                </p:cNvSpPr>
                <p:nvPr/>
              </p:nvSpPr>
              <p:spPr>
                <a:xfrm>
                  <a:off x="6699011" y="2485384"/>
                  <a:ext cx="845388" cy="430887"/>
                </a:xfrm>
                <a:prstGeom prst="rect">
                  <a:avLst/>
                </a:prstGeom>
                <a:blipFill>
                  <a:blip r:embed="rId3"/>
                  <a:stretch>
                    <a:fillRect b="-43478"/>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D2DB9425-4A57-CD70-9428-3555E5F379C0}"/>
                </a:ext>
              </a:extLst>
            </p:cNvPr>
            <p:cNvSpPr/>
            <p:nvPr/>
          </p:nvSpPr>
          <p:spPr>
            <a:xfrm>
              <a:off x="1225759" y="1972657"/>
              <a:ext cx="5089316" cy="145634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X</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10C4FB0-8A4B-8A0F-B3BD-6C8540201010}"/>
                    </a:ext>
                  </a:extLst>
                </p:cNvPr>
                <p:cNvSpPr/>
                <p:nvPr/>
              </p:nvSpPr>
              <p:spPr>
                <a:xfrm>
                  <a:off x="6467695" y="1992689"/>
                  <a:ext cx="308421" cy="450018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𝜷</m:t>
                        </m:r>
                      </m:oMath>
                    </m:oMathPara>
                  </a14:m>
                  <a:endParaRPr lang="en-US" b="1" dirty="0">
                    <a:solidFill>
                      <a:schemeClr val="tx1"/>
                    </a:solidFill>
                  </a:endParaRPr>
                </a:p>
              </p:txBody>
            </p:sp>
          </mc:Choice>
          <mc:Fallback xmlns="">
            <p:sp>
              <p:nvSpPr>
                <p:cNvPr id="6" name="Rectangle 5">
                  <a:extLst>
                    <a:ext uri="{FF2B5EF4-FFF2-40B4-BE49-F238E27FC236}">
                      <a16:creationId xmlns:a16="http://schemas.microsoft.com/office/drawing/2014/main" id="{A10C4FB0-8A4B-8A0F-B3BD-6C8540201010}"/>
                    </a:ext>
                  </a:extLst>
                </p:cNvPr>
                <p:cNvSpPr>
                  <a:spLocks noRot="1" noChangeAspect="1" noMove="1" noResize="1" noEditPoints="1" noAdjustHandles="1" noChangeArrowheads="1" noChangeShapeType="1" noTextEdit="1"/>
                </p:cNvSpPr>
                <p:nvPr/>
              </p:nvSpPr>
              <p:spPr>
                <a:xfrm>
                  <a:off x="6467695" y="1992689"/>
                  <a:ext cx="308421" cy="4500186"/>
                </a:xfrm>
                <a:prstGeom prst="rect">
                  <a:avLst/>
                </a:prstGeom>
                <a:blipFill>
                  <a:blip r:embed="rId4"/>
                  <a:stretch>
                    <a:fillRect l="-44444" r="-2222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F2694F87-C0C6-A6FD-74F2-445AEB368906}"/>
                </a:ext>
              </a:extLst>
            </p:cNvPr>
            <p:cNvSpPr/>
            <p:nvPr/>
          </p:nvSpPr>
          <p:spPr>
            <a:xfrm>
              <a:off x="7467294" y="1977459"/>
              <a:ext cx="308421" cy="145154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grpSp>
          <p:nvGrpSpPr>
            <p:cNvPr id="8" name="Group 7">
              <a:extLst>
                <a:ext uri="{FF2B5EF4-FFF2-40B4-BE49-F238E27FC236}">
                  <a16:creationId xmlns:a16="http://schemas.microsoft.com/office/drawing/2014/main" id="{85FDFD95-5C96-6081-0B4F-22C973C5A1A2}"/>
                </a:ext>
              </a:extLst>
            </p:cNvPr>
            <p:cNvGrpSpPr/>
            <p:nvPr/>
          </p:nvGrpSpPr>
          <p:grpSpPr>
            <a:xfrm>
              <a:off x="931985" y="2029809"/>
              <a:ext cx="236448" cy="1346806"/>
              <a:chOff x="951327" y="2069703"/>
              <a:chExt cx="766351" cy="4492658"/>
            </a:xfrm>
          </p:grpSpPr>
          <p:pic>
            <p:nvPicPr>
              <p:cNvPr id="9" name="Picture 8">
                <a:extLst>
                  <a:ext uri="{FF2B5EF4-FFF2-40B4-BE49-F238E27FC236}">
                    <a16:creationId xmlns:a16="http://schemas.microsoft.com/office/drawing/2014/main" id="{5A6583F8-3B9B-2750-D87F-CF4B6E12923D}"/>
                  </a:ext>
                </a:extLst>
              </p:cNvPr>
              <p:cNvPicPr>
                <a:picLocks noChangeAspect="1"/>
              </p:cNvPicPr>
              <p:nvPr/>
            </p:nvPicPr>
            <p:blipFill>
              <a:blip r:embed="rId5"/>
              <a:stretch>
                <a:fillRect/>
              </a:stretch>
            </p:blipFill>
            <p:spPr>
              <a:xfrm>
                <a:off x="1078479" y="2976453"/>
                <a:ext cx="639199" cy="1000461"/>
              </a:xfrm>
              <a:prstGeom prst="rect">
                <a:avLst/>
              </a:prstGeom>
            </p:spPr>
          </p:pic>
          <p:pic>
            <p:nvPicPr>
              <p:cNvPr id="10" name="Picture 7" descr="Adoptable Rabbits | morabbit">
                <a:extLst>
                  <a:ext uri="{FF2B5EF4-FFF2-40B4-BE49-F238E27FC236}">
                    <a16:creationId xmlns:a16="http://schemas.microsoft.com/office/drawing/2014/main" id="{F6A82850-4826-BAA1-C89D-D8A080594F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C7488E4-06A6-6877-723E-4E058E02B044}"/>
                  </a:ext>
                </a:extLst>
              </p:cNvPr>
              <p:cNvPicPr>
                <a:picLocks noChangeAspect="1"/>
              </p:cNvPicPr>
              <p:nvPr/>
            </p:nvPicPr>
            <p:blipFill>
              <a:blip r:embed="rId7"/>
              <a:stretch>
                <a:fillRect/>
              </a:stretch>
            </p:blipFill>
            <p:spPr>
              <a:xfrm>
                <a:off x="1078479" y="4851195"/>
                <a:ext cx="519097" cy="682280"/>
              </a:xfrm>
              <a:prstGeom prst="rect">
                <a:avLst/>
              </a:prstGeom>
            </p:spPr>
          </p:pic>
          <p:pic>
            <p:nvPicPr>
              <p:cNvPr id="12" name="Picture 11">
                <a:extLst>
                  <a:ext uri="{FF2B5EF4-FFF2-40B4-BE49-F238E27FC236}">
                    <a16:creationId xmlns:a16="http://schemas.microsoft.com/office/drawing/2014/main" id="{92C9FB8D-0F78-06DA-AB7A-CBAEC4FE8309}"/>
                  </a:ext>
                </a:extLst>
              </p:cNvPr>
              <p:cNvPicPr>
                <a:picLocks noChangeAspect="1"/>
              </p:cNvPicPr>
              <p:nvPr/>
            </p:nvPicPr>
            <p:blipFill>
              <a:blip r:embed="rId8"/>
              <a:stretch>
                <a:fillRect/>
              </a:stretch>
            </p:blipFill>
            <p:spPr>
              <a:xfrm>
                <a:off x="951327" y="3976914"/>
                <a:ext cx="766351" cy="681203"/>
              </a:xfrm>
              <a:prstGeom prst="rect">
                <a:avLst/>
              </a:prstGeom>
            </p:spPr>
          </p:pic>
          <p:pic>
            <p:nvPicPr>
              <p:cNvPr id="13" name="Picture 12">
                <a:extLst>
                  <a:ext uri="{FF2B5EF4-FFF2-40B4-BE49-F238E27FC236}">
                    <a16:creationId xmlns:a16="http://schemas.microsoft.com/office/drawing/2014/main" id="{C6475EF0-C31E-5FE1-9723-9F9093F7667F}"/>
                  </a:ext>
                </a:extLst>
              </p:cNvPr>
              <p:cNvPicPr>
                <a:picLocks noChangeAspect="1"/>
              </p:cNvPicPr>
              <p:nvPr/>
            </p:nvPicPr>
            <p:blipFill>
              <a:blip r:embed="rId9"/>
              <a:stretch>
                <a:fillRect/>
              </a:stretch>
            </p:blipFill>
            <p:spPr>
              <a:xfrm>
                <a:off x="1099145" y="5726553"/>
                <a:ext cx="597865" cy="835808"/>
              </a:xfrm>
              <a:prstGeom prst="rect">
                <a:avLst/>
              </a:prstGeom>
            </p:spPr>
          </p:pic>
        </p:grpSp>
      </p:grpSp>
      <p:cxnSp>
        <p:nvCxnSpPr>
          <p:cNvPr id="16" name="Curved Connector 15">
            <a:extLst>
              <a:ext uri="{FF2B5EF4-FFF2-40B4-BE49-F238E27FC236}">
                <a16:creationId xmlns:a16="http://schemas.microsoft.com/office/drawing/2014/main" id="{F864D3A7-D476-8A6B-161C-B670AD625795}"/>
              </a:ext>
            </a:extLst>
          </p:cNvPr>
          <p:cNvCxnSpPr/>
          <p:nvPr/>
        </p:nvCxnSpPr>
        <p:spPr>
          <a:xfrm flipV="1">
            <a:off x="6096000" y="541071"/>
            <a:ext cx="1008185" cy="530458"/>
          </a:xfrm>
          <a:prstGeom prst="curvedConnector3">
            <a:avLst/>
          </a:prstGeom>
          <a:ln>
            <a:solidFill>
              <a:srgbClr val="8C1516"/>
            </a:solidFill>
            <a:tailEnd type="triangle"/>
          </a:ln>
        </p:spPr>
        <p:style>
          <a:lnRef idx="2">
            <a:schemeClr val="accent1"/>
          </a:lnRef>
          <a:fillRef idx="0">
            <a:schemeClr val="accent1"/>
          </a:fillRef>
          <a:effectRef idx="1">
            <a:schemeClr val="accent1"/>
          </a:effectRef>
          <a:fontRef idx="minor">
            <a:schemeClr val="tx1"/>
          </a:fontRef>
        </p:style>
      </p:cxnSp>
      <p:grpSp>
        <p:nvGrpSpPr>
          <p:cNvPr id="58" name="Group 57">
            <a:extLst>
              <a:ext uri="{FF2B5EF4-FFF2-40B4-BE49-F238E27FC236}">
                <a16:creationId xmlns:a16="http://schemas.microsoft.com/office/drawing/2014/main" id="{78C1BC65-5239-5266-6887-380024E4E3FF}"/>
              </a:ext>
            </a:extLst>
          </p:cNvPr>
          <p:cNvGrpSpPr/>
          <p:nvPr/>
        </p:nvGrpSpPr>
        <p:grpSpPr>
          <a:xfrm>
            <a:off x="4242054" y="3526971"/>
            <a:ext cx="6030728" cy="3117495"/>
            <a:chOff x="4242054" y="3526971"/>
            <a:chExt cx="6030728" cy="3117495"/>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FCFB7C0-7CC0-A0E1-B66B-21E12925CA84}"/>
                    </a:ext>
                  </a:extLst>
                </p:cNvPr>
                <p:cNvSpPr txBox="1"/>
                <p:nvPr/>
              </p:nvSpPr>
              <p:spPr>
                <a:xfrm>
                  <a:off x="9335343" y="3888634"/>
                  <a:ext cx="736043" cy="2880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8" name="TextBox 17">
                  <a:extLst>
                    <a:ext uri="{FF2B5EF4-FFF2-40B4-BE49-F238E27FC236}">
                      <a16:creationId xmlns:a16="http://schemas.microsoft.com/office/drawing/2014/main" id="{9FCFB7C0-7CC0-A0E1-B66B-21E12925CA84}"/>
                    </a:ext>
                  </a:extLst>
                </p:cNvPr>
                <p:cNvSpPr txBox="1">
                  <a:spLocks noRot="1" noChangeAspect="1" noMove="1" noResize="1" noEditPoints="1" noAdjustHandles="1" noChangeArrowheads="1" noChangeShapeType="1" noTextEdit="1"/>
                </p:cNvSpPr>
                <p:nvPr/>
              </p:nvSpPr>
              <p:spPr>
                <a:xfrm>
                  <a:off x="9335343" y="3888634"/>
                  <a:ext cx="736043" cy="288011"/>
                </a:xfrm>
                <a:prstGeom prst="rect">
                  <a:avLst/>
                </a:prstGeom>
                <a:blipFill>
                  <a:blip r:embed="rId10"/>
                  <a:stretch>
                    <a:fillRect b="-43478"/>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0CDCCAE6-784E-8435-14D8-F619DAD1D469}"/>
                </a:ext>
              </a:extLst>
            </p:cNvPr>
            <p:cNvSpPr/>
            <p:nvPr/>
          </p:nvSpPr>
          <p:spPr>
            <a:xfrm>
              <a:off x="4570020" y="3545920"/>
              <a:ext cx="4414612" cy="1037419"/>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X</a:t>
              </a:r>
            </a:p>
          </p:txBody>
        </p:sp>
        <p:sp>
          <p:nvSpPr>
            <p:cNvPr id="20" name="Rectangle 19">
              <a:extLst>
                <a:ext uri="{FF2B5EF4-FFF2-40B4-BE49-F238E27FC236}">
                  <a16:creationId xmlns:a16="http://schemas.microsoft.com/office/drawing/2014/main" id="{54FC99C3-72FB-DDD6-76B8-1971CE2D8853}"/>
                </a:ext>
              </a:extLst>
            </p:cNvPr>
            <p:cNvSpPr/>
            <p:nvPr/>
          </p:nvSpPr>
          <p:spPr>
            <a:xfrm>
              <a:off x="9133946" y="3559310"/>
              <a:ext cx="268529" cy="3007984"/>
            </a:xfrm>
            <a:prstGeom prst="rect">
              <a:avLst/>
            </a:prstGeom>
            <a:solidFill>
              <a:srgbClr val="FFF9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1" name="Rectangle 20">
              <a:extLst>
                <a:ext uri="{FF2B5EF4-FFF2-40B4-BE49-F238E27FC236}">
                  <a16:creationId xmlns:a16="http://schemas.microsoft.com/office/drawing/2014/main" id="{1B9163B4-CF7A-A500-8DD2-233E2F512EF0}"/>
                </a:ext>
              </a:extLst>
            </p:cNvPr>
            <p:cNvSpPr/>
            <p:nvPr/>
          </p:nvSpPr>
          <p:spPr>
            <a:xfrm>
              <a:off x="10004253" y="3549130"/>
              <a:ext cx="268529" cy="10342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grpSp>
          <p:nvGrpSpPr>
            <p:cNvPr id="22" name="Group 21">
              <a:extLst>
                <a:ext uri="{FF2B5EF4-FFF2-40B4-BE49-F238E27FC236}">
                  <a16:creationId xmlns:a16="http://schemas.microsoft.com/office/drawing/2014/main" id="{8C37FAA1-83BE-84EE-D5A9-0B089A746DE9}"/>
                </a:ext>
              </a:extLst>
            </p:cNvPr>
            <p:cNvGrpSpPr/>
            <p:nvPr/>
          </p:nvGrpSpPr>
          <p:grpSpPr>
            <a:xfrm>
              <a:off x="4242054" y="3526971"/>
              <a:ext cx="268529" cy="1037419"/>
              <a:chOff x="951327" y="2069703"/>
              <a:chExt cx="766351" cy="4492658"/>
            </a:xfrm>
          </p:grpSpPr>
          <p:pic>
            <p:nvPicPr>
              <p:cNvPr id="23" name="Picture 22">
                <a:extLst>
                  <a:ext uri="{FF2B5EF4-FFF2-40B4-BE49-F238E27FC236}">
                    <a16:creationId xmlns:a16="http://schemas.microsoft.com/office/drawing/2014/main" id="{E0641BCB-E239-3930-6AFC-D8D95C4B3236}"/>
                  </a:ext>
                </a:extLst>
              </p:cNvPr>
              <p:cNvPicPr>
                <a:picLocks noChangeAspect="1"/>
              </p:cNvPicPr>
              <p:nvPr/>
            </p:nvPicPr>
            <p:blipFill>
              <a:blip r:embed="rId5"/>
              <a:stretch>
                <a:fillRect/>
              </a:stretch>
            </p:blipFill>
            <p:spPr>
              <a:xfrm>
                <a:off x="1078479" y="2976453"/>
                <a:ext cx="639199" cy="1000461"/>
              </a:xfrm>
              <a:prstGeom prst="rect">
                <a:avLst/>
              </a:prstGeom>
            </p:spPr>
          </p:pic>
          <p:pic>
            <p:nvPicPr>
              <p:cNvPr id="24" name="Picture 7" descr="Adoptable Rabbits | morabbit">
                <a:extLst>
                  <a:ext uri="{FF2B5EF4-FFF2-40B4-BE49-F238E27FC236}">
                    <a16:creationId xmlns:a16="http://schemas.microsoft.com/office/drawing/2014/main" id="{414AEDC8-22D5-25B7-A6B3-DE9AD18C1C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1A1935AC-EE80-8C3F-273A-886CED83CF71}"/>
                  </a:ext>
                </a:extLst>
              </p:cNvPr>
              <p:cNvPicPr>
                <a:picLocks noChangeAspect="1"/>
              </p:cNvPicPr>
              <p:nvPr/>
            </p:nvPicPr>
            <p:blipFill>
              <a:blip r:embed="rId7"/>
              <a:stretch>
                <a:fillRect/>
              </a:stretch>
            </p:blipFill>
            <p:spPr>
              <a:xfrm>
                <a:off x="1078479" y="4851195"/>
                <a:ext cx="519097" cy="682280"/>
              </a:xfrm>
              <a:prstGeom prst="rect">
                <a:avLst/>
              </a:prstGeom>
            </p:spPr>
          </p:pic>
          <p:pic>
            <p:nvPicPr>
              <p:cNvPr id="26" name="Picture 25">
                <a:extLst>
                  <a:ext uri="{FF2B5EF4-FFF2-40B4-BE49-F238E27FC236}">
                    <a16:creationId xmlns:a16="http://schemas.microsoft.com/office/drawing/2014/main" id="{649A546B-4C4C-959C-43C1-91DB3A0FA7BA}"/>
                  </a:ext>
                </a:extLst>
              </p:cNvPr>
              <p:cNvPicPr>
                <a:picLocks noChangeAspect="1"/>
              </p:cNvPicPr>
              <p:nvPr/>
            </p:nvPicPr>
            <p:blipFill>
              <a:blip r:embed="rId8"/>
              <a:stretch>
                <a:fillRect/>
              </a:stretch>
            </p:blipFill>
            <p:spPr>
              <a:xfrm>
                <a:off x="951327" y="3976914"/>
                <a:ext cx="766351" cy="681203"/>
              </a:xfrm>
              <a:prstGeom prst="rect">
                <a:avLst/>
              </a:prstGeom>
            </p:spPr>
          </p:pic>
          <p:pic>
            <p:nvPicPr>
              <p:cNvPr id="27" name="Picture 26">
                <a:extLst>
                  <a:ext uri="{FF2B5EF4-FFF2-40B4-BE49-F238E27FC236}">
                    <a16:creationId xmlns:a16="http://schemas.microsoft.com/office/drawing/2014/main" id="{A2C6CE64-14DC-AC7E-9516-CDF5624AA391}"/>
                  </a:ext>
                </a:extLst>
              </p:cNvPr>
              <p:cNvPicPr>
                <a:picLocks noChangeAspect="1"/>
              </p:cNvPicPr>
              <p:nvPr/>
            </p:nvPicPr>
            <p:blipFill>
              <a:blip r:embed="rId9"/>
              <a:stretch>
                <a:fillRect/>
              </a:stretch>
            </p:blipFill>
            <p:spPr>
              <a:xfrm>
                <a:off x="1099145" y="5726553"/>
                <a:ext cx="597865" cy="835808"/>
              </a:xfrm>
              <a:prstGeom prst="rect">
                <a:avLst/>
              </a:prstGeom>
            </p:spPr>
          </p:pic>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42DBB0F-72D0-A8D7-40F8-FA98608D1BA3}"/>
                    </a:ext>
                  </a:extLst>
                </p:cNvPr>
                <p:cNvSpPr txBox="1"/>
                <p:nvPr/>
              </p:nvSpPr>
              <p:spPr>
                <a:xfrm>
                  <a:off x="8984631" y="6275134"/>
                  <a:ext cx="11538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𝜷</m:t>
                        </m:r>
                      </m:oMath>
                    </m:oMathPara>
                  </a14:m>
                  <a:endParaRPr lang="en-US" dirty="0"/>
                </a:p>
              </p:txBody>
            </p:sp>
          </mc:Choice>
          <mc:Fallback xmlns="">
            <p:sp>
              <p:nvSpPr>
                <p:cNvPr id="29" name="TextBox 28">
                  <a:extLst>
                    <a:ext uri="{FF2B5EF4-FFF2-40B4-BE49-F238E27FC236}">
                      <a16:creationId xmlns:a16="http://schemas.microsoft.com/office/drawing/2014/main" id="{D42DBB0F-72D0-A8D7-40F8-FA98608D1BA3}"/>
                    </a:ext>
                  </a:extLst>
                </p:cNvPr>
                <p:cNvSpPr txBox="1">
                  <a:spLocks noRot="1" noChangeAspect="1" noMove="1" noResize="1" noEditPoints="1" noAdjustHandles="1" noChangeArrowheads="1" noChangeShapeType="1" noTextEdit="1"/>
                </p:cNvSpPr>
                <p:nvPr/>
              </p:nvSpPr>
              <p:spPr>
                <a:xfrm>
                  <a:off x="8984631" y="6275134"/>
                  <a:ext cx="1153886" cy="369332"/>
                </a:xfrm>
                <a:prstGeom prst="rect">
                  <a:avLst/>
                </a:prstGeom>
                <a:blipFill>
                  <a:blip r:embed="rId11"/>
                  <a:stretch>
                    <a:fillRect b="-12903"/>
                  </a:stretch>
                </a:blipFill>
              </p:spPr>
              <p:txBody>
                <a:bodyPr/>
                <a:lstStyle/>
                <a:p>
                  <a:r>
                    <a:rPr lang="en-US">
                      <a:noFill/>
                    </a:rPr>
                    <a:t> </a:t>
                  </a:r>
                </a:p>
              </p:txBody>
            </p:sp>
          </mc:Fallback>
        </mc:AlternateContent>
      </p:grpSp>
      <p:grpSp>
        <p:nvGrpSpPr>
          <p:cNvPr id="59" name="Group 58">
            <a:extLst>
              <a:ext uri="{FF2B5EF4-FFF2-40B4-BE49-F238E27FC236}">
                <a16:creationId xmlns:a16="http://schemas.microsoft.com/office/drawing/2014/main" id="{79D35F1C-E5EF-231C-AB55-315E1E2C9A6D}"/>
              </a:ext>
            </a:extLst>
          </p:cNvPr>
          <p:cNvGrpSpPr/>
          <p:nvPr/>
        </p:nvGrpSpPr>
        <p:grpSpPr>
          <a:xfrm>
            <a:off x="9133946" y="4141467"/>
            <a:ext cx="269911" cy="1618779"/>
            <a:chOff x="9133946" y="4141467"/>
            <a:chExt cx="269911" cy="1618779"/>
          </a:xfrm>
        </p:grpSpPr>
        <p:sp>
          <p:nvSpPr>
            <p:cNvPr id="30" name="Rectangle 29">
              <a:extLst>
                <a:ext uri="{FF2B5EF4-FFF2-40B4-BE49-F238E27FC236}">
                  <a16:creationId xmlns:a16="http://schemas.microsoft.com/office/drawing/2014/main" id="{DD09F063-06AD-8023-2539-020177CD31C1}"/>
                </a:ext>
              </a:extLst>
            </p:cNvPr>
            <p:cNvSpPr/>
            <p:nvPr/>
          </p:nvSpPr>
          <p:spPr>
            <a:xfrm>
              <a:off x="9133946" y="4141467"/>
              <a:ext cx="268529" cy="2591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4BED561-1350-0C2E-B28E-D9D9FB39FEED}"/>
                </a:ext>
              </a:extLst>
            </p:cNvPr>
            <p:cNvSpPr/>
            <p:nvPr/>
          </p:nvSpPr>
          <p:spPr>
            <a:xfrm>
              <a:off x="9135328" y="5501107"/>
              <a:ext cx="268529" cy="2591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72C98EA2-6956-2007-AC8E-A95C3781A5E1}"/>
              </a:ext>
            </a:extLst>
          </p:cNvPr>
          <p:cNvSpPr txBox="1"/>
          <p:nvPr/>
        </p:nvSpPr>
        <p:spPr>
          <a:xfrm>
            <a:off x="583296" y="3617140"/>
            <a:ext cx="3074636" cy="830997"/>
          </a:xfrm>
          <a:prstGeom prst="rect">
            <a:avLst/>
          </a:prstGeom>
          <a:noFill/>
        </p:spPr>
        <p:txBody>
          <a:bodyPr wrap="square" rtlCol="0">
            <a:spAutoFit/>
          </a:bodyPr>
          <a:lstStyle/>
          <a:p>
            <a:r>
              <a:rPr lang="en-US" sz="2400" dirty="0"/>
              <a:t>Now there </a:t>
            </a:r>
            <a:r>
              <a:rPr lang="en-US" sz="2400" b="1" dirty="0"/>
              <a:t>is</a:t>
            </a:r>
            <a:r>
              <a:rPr lang="en-US" sz="2400" dirty="0"/>
              <a:t> probably a unique solution:</a:t>
            </a:r>
          </a:p>
        </p:txBody>
      </p:sp>
      <p:grpSp>
        <p:nvGrpSpPr>
          <p:cNvPr id="60" name="Group 59">
            <a:extLst>
              <a:ext uri="{FF2B5EF4-FFF2-40B4-BE49-F238E27FC236}">
                <a16:creationId xmlns:a16="http://schemas.microsoft.com/office/drawing/2014/main" id="{552F3D0E-3E06-8E08-F611-F2CC6C7370F1}"/>
              </a:ext>
            </a:extLst>
          </p:cNvPr>
          <p:cNvGrpSpPr/>
          <p:nvPr/>
        </p:nvGrpSpPr>
        <p:grpSpPr>
          <a:xfrm>
            <a:off x="5122744" y="3197516"/>
            <a:ext cx="2517543" cy="1385823"/>
            <a:chOff x="5122744" y="3197516"/>
            <a:chExt cx="2517543" cy="1385823"/>
          </a:xfrm>
        </p:grpSpPr>
        <p:sp>
          <p:nvSpPr>
            <p:cNvPr id="41" name="Rectangle 40">
              <a:extLst>
                <a:ext uri="{FF2B5EF4-FFF2-40B4-BE49-F238E27FC236}">
                  <a16:creationId xmlns:a16="http://schemas.microsoft.com/office/drawing/2014/main" id="{A70CACCB-F6D4-C41C-6806-51D961102EDD}"/>
                </a:ext>
              </a:extLst>
            </p:cNvPr>
            <p:cNvSpPr/>
            <p:nvPr/>
          </p:nvSpPr>
          <p:spPr>
            <a:xfrm>
              <a:off x="5377218" y="3545920"/>
              <a:ext cx="232012" cy="103741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E8F2E39-00B9-DCB6-0FA9-618574560297}"/>
                </a:ext>
              </a:extLst>
            </p:cNvPr>
            <p:cNvSpPr/>
            <p:nvPr/>
          </p:nvSpPr>
          <p:spPr>
            <a:xfrm>
              <a:off x="7204280" y="3545920"/>
              <a:ext cx="232012" cy="103741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C289A112-531B-814D-F6F8-D6BF48CF9590}"/>
                </a:ext>
              </a:extLst>
            </p:cNvPr>
            <p:cNvSpPr txBox="1"/>
            <p:nvPr/>
          </p:nvSpPr>
          <p:spPr>
            <a:xfrm>
              <a:off x="7082570" y="3197516"/>
              <a:ext cx="557717" cy="369332"/>
            </a:xfrm>
            <a:prstGeom prst="rect">
              <a:avLst/>
            </a:prstGeom>
            <a:noFill/>
          </p:spPr>
          <p:txBody>
            <a:bodyPr wrap="none" rtlCol="0">
              <a:spAutoFit/>
            </a:bodyPr>
            <a:lstStyle/>
            <a:p>
              <a:r>
                <a:rPr lang="en-US" dirty="0"/>
                <a:t>Age</a:t>
              </a:r>
            </a:p>
          </p:txBody>
        </p:sp>
        <p:sp>
          <p:nvSpPr>
            <p:cNvPr id="50" name="TextBox 49">
              <a:extLst>
                <a:ext uri="{FF2B5EF4-FFF2-40B4-BE49-F238E27FC236}">
                  <a16:creationId xmlns:a16="http://schemas.microsoft.com/office/drawing/2014/main" id="{9E43058B-022D-1E43-A72C-27C02F6AC2EE}"/>
                </a:ext>
              </a:extLst>
            </p:cNvPr>
            <p:cNvSpPr txBox="1"/>
            <p:nvPr/>
          </p:nvSpPr>
          <p:spPr>
            <a:xfrm>
              <a:off x="5122744" y="3214348"/>
              <a:ext cx="751552" cy="369332"/>
            </a:xfrm>
            <a:prstGeom prst="rect">
              <a:avLst/>
            </a:prstGeom>
            <a:noFill/>
          </p:spPr>
          <p:txBody>
            <a:bodyPr wrap="none" rtlCol="0">
              <a:spAutoFit/>
            </a:bodyPr>
            <a:lstStyle/>
            <a:p>
              <a:r>
                <a:rPr lang="en-US" dirty="0"/>
                <a:t>Educ.</a:t>
              </a:r>
            </a:p>
          </p:txBody>
        </p:sp>
      </p:grpSp>
    </p:spTree>
    <p:extLst>
      <p:ext uri="{BB962C8B-B14F-4D97-AF65-F5344CB8AC3E}">
        <p14:creationId xmlns:p14="http://schemas.microsoft.com/office/powerpoint/2010/main" val="819053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C246-6D33-A294-0A31-80DAA344D5F5}"/>
              </a:ext>
            </a:extLst>
          </p:cNvPr>
          <p:cNvSpPr>
            <a:spLocks noGrp="1"/>
          </p:cNvSpPr>
          <p:nvPr>
            <p:ph type="title"/>
          </p:nvPr>
        </p:nvSpPr>
        <p:spPr/>
        <p:txBody>
          <a:bodyPr/>
          <a:lstStyle/>
          <a:p>
            <a:r>
              <a:rPr lang="en-US" dirty="0"/>
              <a:t>Formally, want to solve: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C12782-1A7E-D151-A235-AF6BD3DEEA48}"/>
                  </a:ext>
                </a:extLst>
              </p:cNvPr>
              <p:cNvSpPr>
                <a:spLocks noGrp="1"/>
              </p:cNvSpPr>
              <p:nvPr>
                <p:ph idx="1"/>
              </p:nvPr>
            </p:nvSpPr>
            <p:spPr>
              <a:xfrm>
                <a:off x="838199" y="1825625"/>
                <a:ext cx="11117607" cy="4351338"/>
              </a:xfrm>
            </p:spPr>
            <p:txBody>
              <a:bodyPr/>
              <a:lstStyle/>
              <a:p>
                <a:r>
                  <a:rPr lang="en-US" dirty="0"/>
                  <a:t>Given an n-by-m matrix </a:t>
                </a:r>
                <a14:m>
                  <m:oMath xmlns:m="http://schemas.openxmlformats.org/officeDocument/2006/math">
                    <m:r>
                      <a:rPr lang="en-US" i="1" dirty="0" smtClean="0">
                        <a:latin typeface="Cambria Math" panose="02040503050406030204" pitchFamily="18" charset="0"/>
                      </a:rPr>
                      <m:t>𝑋</m:t>
                    </m:r>
                  </m:oMath>
                </a14:m>
                <a:r>
                  <a:rPr lang="en-US" dirty="0"/>
                  <a:t> of data </a:t>
                </a:r>
              </a:p>
              <a:p>
                <a:pPr lvl="1"/>
                <a14:m>
                  <m:oMath xmlns:m="http://schemas.openxmlformats.org/officeDocument/2006/math">
                    <m:r>
                      <a:rPr lang="en-US" i="1" dirty="0" smtClean="0">
                        <a:latin typeface="Cambria Math" panose="02040503050406030204" pitchFamily="18" charset="0"/>
                      </a:rPr>
                      <m:t>𝑛</m:t>
                    </m:r>
                  </m:oMath>
                </a14:m>
                <a:r>
                  <a:rPr lang="en-US" dirty="0"/>
                  <a:t> units and </a:t>
                </a:r>
                <a14:m>
                  <m:oMath xmlns:m="http://schemas.openxmlformats.org/officeDocument/2006/math">
                    <m:r>
                      <a:rPr lang="en-US" i="1" dirty="0" smtClean="0">
                        <a:latin typeface="Cambria Math" panose="02040503050406030204" pitchFamily="18" charset="0"/>
                      </a:rPr>
                      <m:t>𝑚</m:t>
                    </m:r>
                    <m:r>
                      <a:rPr lang="en-US" b="0" i="1" dirty="0" smtClean="0">
                        <a:latin typeface="Cambria Math" panose="02040503050406030204" pitchFamily="18" charset="0"/>
                      </a:rPr>
                      <m:t>&gt;</m:t>
                    </m:r>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a:t>attributes</a:t>
                </a:r>
              </a:p>
              <a:p>
                <a:r>
                  <a:rPr lang="en-US" dirty="0"/>
                  <a:t>Given a vector </a:t>
                </a:r>
                <a14:m>
                  <m:oMath xmlns:m="http://schemas.openxmlformats.org/officeDocument/2006/math">
                    <m:r>
                      <a:rPr lang="en-US" b="0" i="1" smtClean="0">
                        <a:latin typeface="Cambria Math" panose="02040503050406030204" pitchFamily="18" charset="0"/>
                      </a:rPr>
                      <m:t>𝑦</m:t>
                    </m:r>
                  </m:oMath>
                </a14:m>
                <a:r>
                  <a:rPr lang="en-US" dirty="0"/>
                  <a:t> of outcomes</a:t>
                </a:r>
              </a:p>
              <a:p>
                <a:r>
                  <a:rPr lang="en-US" dirty="0"/>
                  <a:t>Find the coefficient vector </a:t>
                </a:r>
                <a14:m>
                  <m:oMath xmlns:m="http://schemas.openxmlformats.org/officeDocument/2006/math">
                    <m:r>
                      <a:rPr lang="en-US" b="0" i="1" smtClean="0">
                        <a:latin typeface="Cambria Math" panose="02040503050406030204" pitchFamily="18" charset="0"/>
                      </a:rPr>
                      <m:t>𝛽</m:t>
                    </m:r>
                  </m:oMath>
                </a14:m>
                <a:r>
                  <a:rPr lang="en-US" dirty="0"/>
                  <a:t> </a:t>
                </a:r>
                <a:r>
                  <a:rPr lang="en-US" b="1" dirty="0"/>
                  <a:t>with at most </a:t>
                </a:r>
                <a14:m>
                  <m:oMath xmlns:m="http://schemas.openxmlformats.org/officeDocument/2006/math">
                    <m:r>
                      <a:rPr lang="en-US" b="1" i="1" dirty="0" smtClean="0">
                        <a:latin typeface="Cambria Math" panose="02040503050406030204" pitchFamily="18" charset="0"/>
                      </a:rPr>
                      <m:t>𝒕</m:t>
                    </m:r>
                  </m:oMath>
                </a14:m>
                <a:r>
                  <a:rPr lang="en-US" b="1" dirty="0"/>
                  <a:t> non-zeros </a:t>
                </a:r>
                <a:r>
                  <a:rPr lang="en-US" dirty="0"/>
                  <a:t>to minimize</a:t>
                </a:r>
              </a:p>
              <a:p>
                <a:pPr marL="0" indent="0">
                  <a:buNone/>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𝑿</m:t>
                              </m:r>
                              <m:r>
                                <a:rPr lang="en-US" b="1" i="1" smtClean="0">
                                  <a:latin typeface="Cambria Math" panose="02040503050406030204" pitchFamily="18" charset="0"/>
                                </a:rPr>
                                <m:t>𝜷</m:t>
                              </m:r>
                              <m:r>
                                <a:rPr lang="en-US" b="1" i="1" smtClean="0">
                                  <a:latin typeface="Cambria Math" panose="02040503050406030204" pitchFamily="18" charset="0"/>
                                </a:rPr>
                                <m:t>−</m:t>
                              </m:r>
                              <m:r>
                                <a:rPr lang="en-US" b="1" i="1" smtClean="0">
                                  <a:latin typeface="Cambria Math" panose="02040503050406030204" pitchFamily="18" charset="0"/>
                                </a:rPr>
                                <m:t>𝒚</m:t>
                              </m:r>
                            </m:e>
                          </m:d>
                        </m:e>
                        <m:sub>
                          <m:r>
                            <a:rPr lang="en-US" b="1" i="1" smtClean="0">
                              <a:latin typeface="Cambria Math" panose="02040503050406030204" pitchFamily="18" charset="0"/>
                            </a:rPr>
                            <m:t>𝟐</m:t>
                          </m:r>
                        </m:sub>
                        <m:sup>
                          <m:r>
                            <a:rPr lang="en-US" b="1" i="1" smtClean="0">
                              <a:latin typeface="Cambria Math" panose="02040503050406030204" pitchFamily="18" charset="0"/>
                            </a:rPr>
                            <m:t>𝟐</m:t>
                          </m:r>
                        </m:sup>
                      </m:sSubSup>
                      <m:r>
                        <a:rPr lang="en-US" b="1"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b="0" i="0" smtClean="0">
                                      <a:solidFill>
                                        <a:schemeClr val="accent2"/>
                                      </a:solidFill>
                                      <a:latin typeface="Cambria Math" panose="02040503050406030204" pitchFamily="18" charset="0"/>
                                    </a:rPr>
                                    <m:t>[</m:t>
                                  </m:r>
                                  <m:r>
                                    <m:rPr>
                                      <m:sty m:val="p"/>
                                    </m:rPr>
                                    <a:rPr lang="en-US" b="0" i="0" smtClean="0">
                                      <a:solidFill>
                                        <a:schemeClr val="accent2"/>
                                      </a:solidFill>
                                      <a:latin typeface="Cambria Math" panose="02040503050406030204" pitchFamily="18" charset="0"/>
                                    </a:rPr>
                                    <m:t>what</m:t>
                                  </m:r>
                                  <m:r>
                                    <a:rPr lang="en-US" b="0" i="0" smtClean="0">
                                      <a:solidFill>
                                        <a:schemeClr val="accent2"/>
                                      </a:solidFill>
                                      <a:latin typeface="Cambria Math" panose="02040503050406030204" pitchFamily="18" charset="0"/>
                                    </a:rPr>
                                    <m:t> </m:t>
                                  </m:r>
                                  <m:r>
                                    <m:rPr>
                                      <m:sty m:val="p"/>
                                    </m:rPr>
                                    <a:rPr lang="en-US" b="0" i="0" smtClean="0">
                                      <a:solidFill>
                                        <a:schemeClr val="accent2"/>
                                      </a:solidFill>
                                      <a:latin typeface="Cambria Math" panose="02040503050406030204" pitchFamily="18" charset="0"/>
                                    </a:rPr>
                                    <m:t>linear</m:t>
                                  </m:r>
                                  <m:r>
                                    <a:rPr lang="en-US" b="0" i="0" smtClean="0">
                                      <a:solidFill>
                                        <a:schemeClr val="accent2"/>
                                      </a:solidFill>
                                      <a:latin typeface="Cambria Math" panose="02040503050406030204" pitchFamily="18" charset="0"/>
                                    </a:rPr>
                                    <m:t> </m:t>
                                  </m:r>
                                  <m:r>
                                    <m:rPr>
                                      <m:sty m:val="p"/>
                                    </m:rPr>
                                    <a:rPr lang="en-US" b="0" i="0" smtClean="0">
                                      <a:solidFill>
                                        <a:schemeClr val="accent2"/>
                                      </a:solidFill>
                                      <a:latin typeface="Cambria Math" panose="02040503050406030204" pitchFamily="18" charset="0"/>
                                    </a:rPr>
                                    <m:t>model</m:t>
                                  </m:r>
                                  <m:r>
                                    <a:rPr lang="en-US" b="0" i="0" smtClean="0">
                                      <a:solidFill>
                                        <a:schemeClr val="accent2"/>
                                      </a:solidFill>
                                      <a:latin typeface="Cambria Math" panose="02040503050406030204" pitchFamily="18" charset="0"/>
                                    </a:rPr>
                                    <m:t> </m:t>
                                  </m:r>
                                  <m:r>
                                    <m:rPr>
                                      <m:sty m:val="p"/>
                                    </m:rPr>
                                    <a:rPr lang="en-US" b="0" i="0" smtClean="0">
                                      <a:solidFill>
                                        <a:schemeClr val="accent2"/>
                                      </a:solidFill>
                                      <a:latin typeface="Cambria Math" panose="02040503050406030204" pitchFamily="18" charset="0"/>
                                    </a:rPr>
                                    <m:t>predicts</m:t>
                                  </m:r>
                                  <m:r>
                                    <a:rPr lang="en-US" b="0" i="0" smtClean="0">
                                      <a:solidFill>
                                        <a:schemeClr val="accent2"/>
                                      </a:solidFill>
                                      <a:latin typeface="Cambria Math" panose="02040503050406030204" pitchFamily="18" charset="0"/>
                                    </a:rPr>
                                    <m:t> </m:t>
                                  </m:r>
                                  <m:r>
                                    <m:rPr>
                                      <m:sty m:val="p"/>
                                    </m:rPr>
                                    <a:rPr lang="en-US" b="0" i="0" smtClean="0">
                                      <a:solidFill>
                                        <a:schemeClr val="accent2"/>
                                      </a:solidFill>
                                      <a:latin typeface="Cambria Math" panose="02040503050406030204" pitchFamily="18" charset="0"/>
                                    </a:rPr>
                                    <m:t>for</m:t>
                                  </m:r>
                                  <m:r>
                                    <a:rPr lang="en-US" b="0" i="0" smtClean="0">
                                      <a:solidFill>
                                        <a:schemeClr val="accent2"/>
                                      </a:solidFill>
                                      <a:latin typeface="Cambria Math" panose="02040503050406030204" pitchFamily="18" charset="0"/>
                                    </a:rPr>
                                    <m:t> </m:t>
                                  </m:r>
                                  <m:r>
                                    <m:rPr>
                                      <m:sty m:val="p"/>
                                    </m:rPr>
                                    <a:rPr lang="en-US" b="0" i="0" smtClean="0">
                                      <a:solidFill>
                                        <a:schemeClr val="accent2"/>
                                      </a:solidFill>
                                      <a:latin typeface="Cambria Math" panose="02040503050406030204" pitchFamily="18" charset="0"/>
                                    </a:rPr>
                                    <m:t>unit</m:t>
                                  </m:r>
                                  <m:r>
                                    <a:rPr lang="en-US" b="0" i="0" smtClean="0">
                                      <a:solidFill>
                                        <a:schemeClr val="accent2"/>
                                      </a:solidFill>
                                      <a:latin typeface="Cambria Math" panose="02040503050406030204" pitchFamily="18" charset="0"/>
                                    </a:rPr>
                                    <m:t> </m:t>
                                  </m:r>
                                  <m:r>
                                    <m:rPr>
                                      <m:sty m:val="p"/>
                                    </m:rPr>
                                    <a:rPr lang="en-US" b="0" i="0" smtClean="0">
                                      <a:solidFill>
                                        <a:schemeClr val="accent2"/>
                                      </a:solidFill>
                                      <a:latin typeface="Cambria Math" panose="02040503050406030204" pitchFamily="18" charset="0"/>
                                    </a:rPr>
                                    <m:t>i</m:t>
                                  </m:r>
                                  <m:r>
                                    <a:rPr lang="en-US" b="0" i="0" smtClean="0">
                                      <a:solidFill>
                                        <a:schemeClr val="accent2"/>
                                      </a:solidFill>
                                      <a:latin typeface="Cambria Math" panose="02040503050406030204" pitchFamily="18" charset="0"/>
                                    </a:rPr>
                                    <m:t>]</m:t>
                                  </m:r>
                                  <m:r>
                                    <a:rPr lang="en-US" b="0" i="1" smtClean="0">
                                      <a:latin typeface="Cambria Math" panose="02040503050406030204" pitchFamily="18" charset="0"/>
                                    </a:rPr>
                                    <m:t>−</m:t>
                                  </m:r>
                                  <m:sSub>
                                    <m:sSubPr>
                                      <m:ctrlPr>
                                        <a:rPr lang="en-US"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𝑦</m:t>
                                      </m:r>
                                    </m:e>
                                    <m:sub>
                                      <m:r>
                                        <a:rPr lang="en-US" b="0" i="1" smtClean="0">
                                          <a:solidFill>
                                            <a:schemeClr val="accent1"/>
                                          </a:solidFill>
                                          <a:latin typeface="Cambria Math" panose="02040503050406030204" pitchFamily="18" charset="0"/>
                                        </a:rPr>
                                        <m:t>𝑖</m:t>
                                      </m:r>
                                    </m:sub>
                                  </m:sSub>
                                </m:e>
                              </m:d>
                            </m:e>
                            <m:sup>
                              <m:r>
                                <a:rPr lang="en-US" b="0" i="1" smtClean="0">
                                  <a:latin typeface="Cambria Math" panose="02040503050406030204" pitchFamily="18" charset="0"/>
                                </a:rPr>
                                <m:t>2</m:t>
                              </m:r>
                            </m:sup>
                          </m:sSup>
                        </m:e>
                      </m:nary>
                    </m:oMath>
                  </m:oMathPara>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FC12782-1A7E-D151-A235-AF6BD3DEEA48}"/>
                  </a:ext>
                </a:extLst>
              </p:cNvPr>
              <p:cNvSpPr>
                <a:spLocks noGrp="1" noRot="1" noChangeAspect="1" noMove="1" noResize="1" noEditPoints="1" noAdjustHandles="1" noChangeArrowheads="1" noChangeShapeType="1" noTextEdit="1"/>
              </p:cNvSpPr>
              <p:nvPr>
                <p:ph idx="1"/>
              </p:nvPr>
            </p:nvSpPr>
            <p:spPr>
              <a:xfrm>
                <a:off x="838199" y="1825625"/>
                <a:ext cx="11117607" cy="4351338"/>
              </a:xfrm>
              <a:blipFill>
                <a:blip r:embed="rId3"/>
                <a:stretch>
                  <a:fillRect l="-912" t="-2326" b="-13372"/>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905FBBD0-5371-9FDF-6F3D-B7A851F61308}"/>
              </a:ext>
            </a:extLst>
          </p:cNvPr>
          <p:cNvGrpSpPr/>
          <p:nvPr/>
        </p:nvGrpSpPr>
        <p:grpSpPr>
          <a:xfrm>
            <a:off x="7370500" y="266878"/>
            <a:ext cx="4585307" cy="2370306"/>
            <a:chOff x="4242054" y="3526971"/>
            <a:chExt cx="6030728" cy="3117495"/>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4614562-A7BD-9CDC-E604-7D6DB18C9354}"/>
                    </a:ext>
                  </a:extLst>
                </p:cNvPr>
                <p:cNvSpPr txBox="1"/>
                <p:nvPr/>
              </p:nvSpPr>
              <p:spPr>
                <a:xfrm>
                  <a:off x="9335343" y="3888634"/>
                  <a:ext cx="736043" cy="2880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4" name="TextBox 3">
                  <a:extLst>
                    <a:ext uri="{FF2B5EF4-FFF2-40B4-BE49-F238E27FC236}">
                      <a16:creationId xmlns:a16="http://schemas.microsoft.com/office/drawing/2014/main" id="{84614562-A7BD-9CDC-E604-7D6DB18C9354}"/>
                    </a:ext>
                  </a:extLst>
                </p:cNvPr>
                <p:cNvSpPr txBox="1">
                  <a:spLocks noRot="1" noChangeAspect="1" noMove="1" noResize="1" noEditPoints="1" noAdjustHandles="1" noChangeArrowheads="1" noChangeShapeType="1" noTextEdit="1"/>
                </p:cNvSpPr>
                <p:nvPr/>
              </p:nvSpPr>
              <p:spPr>
                <a:xfrm>
                  <a:off x="9335343" y="3888634"/>
                  <a:ext cx="736043" cy="288011"/>
                </a:xfrm>
                <a:prstGeom prst="rect">
                  <a:avLst/>
                </a:prstGeom>
                <a:blipFill>
                  <a:blip r:embed="rId4"/>
                  <a:stretch>
                    <a:fillRect b="-789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291F0A3D-4AE4-85E5-CEB6-A69C26BF4926}"/>
                </a:ext>
              </a:extLst>
            </p:cNvPr>
            <p:cNvSpPr/>
            <p:nvPr/>
          </p:nvSpPr>
          <p:spPr>
            <a:xfrm>
              <a:off x="4570020" y="3545920"/>
              <a:ext cx="4414612" cy="1037419"/>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X</a:t>
              </a:r>
            </a:p>
          </p:txBody>
        </p:sp>
        <p:sp>
          <p:nvSpPr>
            <p:cNvPr id="6" name="Rectangle 5">
              <a:extLst>
                <a:ext uri="{FF2B5EF4-FFF2-40B4-BE49-F238E27FC236}">
                  <a16:creationId xmlns:a16="http://schemas.microsoft.com/office/drawing/2014/main" id="{5653DBCA-834F-C5AA-C8F9-8C27B4948795}"/>
                </a:ext>
              </a:extLst>
            </p:cNvPr>
            <p:cNvSpPr/>
            <p:nvPr/>
          </p:nvSpPr>
          <p:spPr>
            <a:xfrm>
              <a:off x="9133946" y="3559310"/>
              <a:ext cx="268529" cy="3007984"/>
            </a:xfrm>
            <a:prstGeom prst="rect">
              <a:avLst/>
            </a:prstGeom>
            <a:solidFill>
              <a:srgbClr val="FFF9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7" name="Rectangle 6">
              <a:extLst>
                <a:ext uri="{FF2B5EF4-FFF2-40B4-BE49-F238E27FC236}">
                  <a16:creationId xmlns:a16="http://schemas.microsoft.com/office/drawing/2014/main" id="{88115B17-2AA4-0604-7617-0349D6804B23}"/>
                </a:ext>
              </a:extLst>
            </p:cNvPr>
            <p:cNvSpPr/>
            <p:nvPr/>
          </p:nvSpPr>
          <p:spPr>
            <a:xfrm>
              <a:off x="10004253" y="3549130"/>
              <a:ext cx="268529" cy="10342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grpSp>
          <p:nvGrpSpPr>
            <p:cNvPr id="8" name="Group 7">
              <a:extLst>
                <a:ext uri="{FF2B5EF4-FFF2-40B4-BE49-F238E27FC236}">
                  <a16:creationId xmlns:a16="http://schemas.microsoft.com/office/drawing/2014/main" id="{E4F4EF35-A740-C6E5-3B6A-CBE488C369C1}"/>
                </a:ext>
              </a:extLst>
            </p:cNvPr>
            <p:cNvGrpSpPr/>
            <p:nvPr/>
          </p:nvGrpSpPr>
          <p:grpSpPr>
            <a:xfrm>
              <a:off x="4242054" y="3526971"/>
              <a:ext cx="268529" cy="1037419"/>
              <a:chOff x="951327" y="2069703"/>
              <a:chExt cx="766351" cy="4492658"/>
            </a:xfrm>
          </p:grpSpPr>
          <p:pic>
            <p:nvPicPr>
              <p:cNvPr id="9" name="Picture 8">
                <a:extLst>
                  <a:ext uri="{FF2B5EF4-FFF2-40B4-BE49-F238E27FC236}">
                    <a16:creationId xmlns:a16="http://schemas.microsoft.com/office/drawing/2014/main" id="{090A02DE-F41E-C058-81E3-A81597503887}"/>
                  </a:ext>
                </a:extLst>
              </p:cNvPr>
              <p:cNvPicPr>
                <a:picLocks noChangeAspect="1"/>
              </p:cNvPicPr>
              <p:nvPr/>
            </p:nvPicPr>
            <p:blipFill>
              <a:blip r:embed="rId5"/>
              <a:stretch>
                <a:fillRect/>
              </a:stretch>
            </p:blipFill>
            <p:spPr>
              <a:xfrm>
                <a:off x="1078479" y="2976453"/>
                <a:ext cx="639199" cy="1000461"/>
              </a:xfrm>
              <a:prstGeom prst="rect">
                <a:avLst/>
              </a:prstGeom>
            </p:spPr>
          </p:pic>
          <p:pic>
            <p:nvPicPr>
              <p:cNvPr id="10" name="Picture 7" descr="Adoptable Rabbits | morabbit">
                <a:extLst>
                  <a:ext uri="{FF2B5EF4-FFF2-40B4-BE49-F238E27FC236}">
                    <a16:creationId xmlns:a16="http://schemas.microsoft.com/office/drawing/2014/main" id="{6E057ACA-D9B9-70BD-7661-0A4AE49448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119574" y="2069703"/>
                <a:ext cx="557011" cy="950648"/>
              </a:xfrm>
              <a:prstGeom prst="rect">
                <a:avLst/>
              </a:prstGeom>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A8EF3C3-2D9F-518E-664A-1E10D9BE8B3E}"/>
                  </a:ext>
                </a:extLst>
              </p:cNvPr>
              <p:cNvPicPr>
                <a:picLocks noChangeAspect="1"/>
              </p:cNvPicPr>
              <p:nvPr/>
            </p:nvPicPr>
            <p:blipFill>
              <a:blip r:embed="rId7"/>
              <a:stretch>
                <a:fillRect/>
              </a:stretch>
            </p:blipFill>
            <p:spPr>
              <a:xfrm>
                <a:off x="1078479" y="4851195"/>
                <a:ext cx="519097" cy="682280"/>
              </a:xfrm>
              <a:prstGeom prst="rect">
                <a:avLst/>
              </a:prstGeom>
            </p:spPr>
          </p:pic>
          <p:pic>
            <p:nvPicPr>
              <p:cNvPr id="12" name="Picture 11">
                <a:extLst>
                  <a:ext uri="{FF2B5EF4-FFF2-40B4-BE49-F238E27FC236}">
                    <a16:creationId xmlns:a16="http://schemas.microsoft.com/office/drawing/2014/main" id="{369DD5C0-0C6B-85FC-4440-DE8C00B40D26}"/>
                  </a:ext>
                </a:extLst>
              </p:cNvPr>
              <p:cNvPicPr>
                <a:picLocks noChangeAspect="1"/>
              </p:cNvPicPr>
              <p:nvPr/>
            </p:nvPicPr>
            <p:blipFill>
              <a:blip r:embed="rId8"/>
              <a:stretch>
                <a:fillRect/>
              </a:stretch>
            </p:blipFill>
            <p:spPr>
              <a:xfrm>
                <a:off x="951327" y="3976914"/>
                <a:ext cx="766351" cy="681203"/>
              </a:xfrm>
              <a:prstGeom prst="rect">
                <a:avLst/>
              </a:prstGeom>
            </p:spPr>
          </p:pic>
          <p:pic>
            <p:nvPicPr>
              <p:cNvPr id="13" name="Picture 12">
                <a:extLst>
                  <a:ext uri="{FF2B5EF4-FFF2-40B4-BE49-F238E27FC236}">
                    <a16:creationId xmlns:a16="http://schemas.microsoft.com/office/drawing/2014/main" id="{BCA1CCEA-4852-D48E-9FF2-D24E5A5FA25B}"/>
                  </a:ext>
                </a:extLst>
              </p:cNvPr>
              <p:cNvPicPr>
                <a:picLocks noChangeAspect="1"/>
              </p:cNvPicPr>
              <p:nvPr/>
            </p:nvPicPr>
            <p:blipFill>
              <a:blip r:embed="rId9"/>
              <a:stretch>
                <a:fillRect/>
              </a:stretch>
            </p:blipFill>
            <p:spPr>
              <a:xfrm>
                <a:off x="1099145" y="5726553"/>
                <a:ext cx="597865" cy="835808"/>
              </a:xfrm>
              <a:prstGeom prst="rect">
                <a:avLst/>
              </a:prstGeom>
            </p:spPr>
          </p:pic>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2605EF-8220-E97D-A751-8D3899ADE48B}"/>
                    </a:ext>
                  </a:extLst>
                </p:cNvPr>
                <p:cNvSpPr txBox="1"/>
                <p:nvPr/>
              </p:nvSpPr>
              <p:spPr>
                <a:xfrm>
                  <a:off x="8984631" y="6275134"/>
                  <a:ext cx="11538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𝜷</m:t>
                        </m:r>
                      </m:oMath>
                    </m:oMathPara>
                  </a14:m>
                  <a:endParaRPr lang="en-US" dirty="0"/>
                </a:p>
              </p:txBody>
            </p:sp>
          </mc:Choice>
          <mc:Fallback xmlns="">
            <p:sp>
              <p:nvSpPr>
                <p:cNvPr id="14" name="TextBox 13">
                  <a:extLst>
                    <a:ext uri="{FF2B5EF4-FFF2-40B4-BE49-F238E27FC236}">
                      <a16:creationId xmlns:a16="http://schemas.microsoft.com/office/drawing/2014/main" id="{E92605EF-8220-E97D-A751-8D3899ADE48B}"/>
                    </a:ext>
                  </a:extLst>
                </p:cNvPr>
                <p:cNvSpPr txBox="1">
                  <a:spLocks noRot="1" noChangeAspect="1" noMove="1" noResize="1" noEditPoints="1" noAdjustHandles="1" noChangeArrowheads="1" noChangeShapeType="1" noTextEdit="1"/>
                </p:cNvSpPr>
                <p:nvPr/>
              </p:nvSpPr>
              <p:spPr>
                <a:xfrm>
                  <a:off x="8984631" y="6275134"/>
                  <a:ext cx="1153886" cy="369332"/>
                </a:xfrm>
                <a:prstGeom prst="rect">
                  <a:avLst/>
                </a:prstGeom>
                <a:blipFill>
                  <a:blip r:embed="rId10"/>
                  <a:stretch>
                    <a:fillRect b="-47826"/>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EE27B4A9-BABA-B383-9070-20642B820A5E}"/>
                </a:ext>
              </a:extLst>
            </p:cNvPr>
            <p:cNvSpPr/>
            <p:nvPr/>
          </p:nvSpPr>
          <p:spPr>
            <a:xfrm>
              <a:off x="9133946" y="4141467"/>
              <a:ext cx="268529" cy="2591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FDABB9-296A-F061-3D3A-111A8A2E8F48}"/>
                </a:ext>
              </a:extLst>
            </p:cNvPr>
            <p:cNvSpPr/>
            <p:nvPr/>
          </p:nvSpPr>
          <p:spPr>
            <a:xfrm>
              <a:off x="9135328" y="5501107"/>
              <a:ext cx="268529" cy="2591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54A60C2-1733-FC78-10EA-BC25E37EB157}"/>
                </a:ext>
              </a:extLst>
            </p:cNvPr>
            <p:cNvSpPr/>
            <p:nvPr/>
          </p:nvSpPr>
          <p:spPr>
            <a:xfrm>
              <a:off x="5377218" y="3545920"/>
              <a:ext cx="232012" cy="103741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BCA181F-ACD5-5E8C-77B5-60C933937D50}"/>
                </a:ext>
              </a:extLst>
            </p:cNvPr>
            <p:cNvSpPr/>
            <p:nvPr/>
          </p:nvSpPr>
          <p:spPr>
            <a:xfrm>
              <a:off x="7204280" y="3545920"/>
              <a:ext cx="232012" cy="103741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A86A53E-F7FC-F467-C863-4386A1A104FF}"/>
              </a:ext>
            </a:extLst>
          </p:cNvPr>
          <p:cNvGrpSpPr/>
          <p:nvPr/>
        </p:nvGrpSpPr>
        <p:grpSpPr>
          <a:xfrm>
            <a:off x="3021495" y="4961870"/>
            <a:ext cx="7273749" cy="1350030"/>
            <a:chOff x="3021495" y="4961870"/>
            <a:chExt cx="7273749" cy="1350030"/>
          </a:xfrm>
        </p:grpSpPr>
        <p:pic>
          <p:nvPicPr>
            <p:cNvPr id="20" name="Picture 19">
              <a:extLst>
                <a:ext uri="{FF2B5EF4-FFF2-40B4-BE49-F238E27FC236}">
                  <a16:creationId xmlns:a16="http://schemas.microsoft.com/office/drawing/2014/main" id="{16280D9F-8027-E88E-FC39-8A63F29EE0C4}"/>
                </a:ext>
              </a:extLst>
            </p:cNvPr>
            <p:cNvPicPr>
              <a:picLocks noChangeAspect="1"/>
            </p:cNvPicPr>
            <p:nvPr/>
          </p:nvPicPr>
          <p:blipFill>
            <a:blip r:embed="rId11"/>
            <a:stretch>
              <a:fillRect/>
            </a:stretch>
          </p:blipFill>
          <p:spPr>
            <a:xfrm>
              <a:off x="9712188" y="4961870"/>
              <a:ext cx="583056" cy="1350030"/>
            </a:xfrm>
            <a:prstGeom prst="rect">
              <a:avLst/>
            </a:prstGeom>
          </p:spPr>
        </p:pic>
        <p:sp>
          <p:nvSpPr>
            <p:cNvPr id="21" name="TextBox 20">
              <a:extLst>
                <a:ext uri="{FF2B5EF4-FFF2-40B4-BE49-F238E27FC236}">
                  <a16:creationId xmlns:a16="http://schemas.microsoft.com/office/drawing/2014/main" id="{C13AEEA3-73DD-4E72-56EC-5998A22C7ACA}"/>
                </a:ext>
              </a:extLst>
            </p:cNvPr>
            <p:cNvSpPr txBox="1"/>
            <p:nvPr/>
          </p:nvSpPr>
          <p:spPr>
            <a:xfrm>
              <a:off x="3021495" y="5022965"/>
              <a:ext cx="6601256" cy="1200329"/>
            </a:xfrm>
            <a:prstGeom prst="rect">
              <a:avLst/>
            </a:prstGeom>
            <a:noFill/>
          </p:spPr>
          <p:txBody>
            <a:bodyPr wrap="square">
              <a:spAutoFit/>
            </a:bodyPr>
            <a:lstStyle/>
            <a:p>
              <a:pPr algn="r"/>
              <a:r>
                <a:rPr lang="en-US" sz="2400" dirty="0">
                  <a:solidFill>
                    <a:srgbClr val="0070C0"/>
                  </a:solidFill>
                </a:rPr>
                <a:t>The only difference between this </a:t>
              </a:r>
            </a:p>
            <a:p>
              <a:pPr algn="r"/>
              <a:r>
                <a:rPr lang="en-US" sz="2400" dirty="0">
                  <a:solidFill>
                    <a:srgbClr val="0070C0"/>
                  </a:solidFill>
                </a:rPr>
                <a:t>and plain-old-regression is the</a:t>
              </a:r>
            </a:p>
            <a:p>
              <a:pPr algn="r"/>
              <a:r>
                <a:rPr lang="en-US" sz="2400" dirty="0">
                  <a:solidFill>
                    <a:srgbClr val="0070C0"/>
                  </a:solidFill>
                </a:rPr>
                <a:t> “with at most t non-zeros” part.</a:t>
              </a:r>
            </a:p>
          </p:txBody>
        </p:sp>
      </p:grpSp>
    </p:spTree>
    <p:extLst>
      <p:ext uri="{BB962C8B-B14F-4D97-AF65-F5344CB8AC3E}">
        <p14:creationId xmlns:p14="http://schemas.microsoft.com/office/powerpoint/2010/main" val="1730692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3F674-DAFC-AAEE-B48F-7B0FD4B98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D7AD7-84A0-8BC3-8ED6-B9389F471D83}"/>
              </a:ext>
            </a:extLst>
          </p:cNvPr>
          <p:cNvSpPr>
            <a:spLocks noGrp="1"/>
          </p:cNvSpPr>
          <p:nvPr>
            <p:ph type="title"/>
          </p:nvPr>
        </p:nvSpPr>
        <p:spPr>
          <a:xfrm>
            <a:off x="838200" y="205298"/>
            <a:ext cx="10515600" cy="1325563"/>
          </a:xfrm>
        </p:spPr>
        <p:txBody>
          <a:bodyPr/>
          <a:lstStyle/>
          <a:p>
            <a:r>
              <a:rPr lang="en-US" dirty="0"/>
              <a:t>How do we implement this?</a:t>
            </a:r>
          </a:p>
        </p:txBody>
      </p:sp>
      <p:sp>
        <p:nvSpPr>
          <p:cNvPr id="3" name="Content Placeholder 2">
            <a:extLst>
              <a:ext uri="{FF2B5EF4-FFF2-40B4-BE49-F238E27FC236}">
                <a16:creationId xmlns:a16="http://schemas.microsoft.com/office/drawing/2014/main" id="{4EBF6348-0027-5E70-EE3F-CB90DFC6293A}"/>
              </a:ext>
            </a:extLst>
          </p:cNvPr>
          <p:cNvSpPr>
            <a:spLocks noGrp="1"/>
          </p:cNvSpPr>
          <p:nvPr>
            <p:ph idx="1"/>
          </p:nvPr>
        </p:nvSpPr>
        <p:spPr>
          <a:xfrm>
            <a:off x="838200" y="1485170"/>
            <a:ext cx="9429206" cy="5979905"/>
          </a:xfrm>
        </p:spPr>
        <p:txBody>
          <a:bodyPr>
            <a:normAutofit/>
          </a:bodyPr>
          <a:lstStyle/>
          <a:p>
            <a:r>
              <a:rPr lang="en-US" dirty="0"/>
              <a:t>Turns out, it’s computationally tricky!</a:t>
            </a:r>
          </a:p>
          <a:p>
            <a:pPr lvl="1"/>
            <a:r>
              <a:rPr lang="en-US" dirty="0">
                <a:solidFill>
                  <a:schemeClr val="accent1"/>
                </a:solidFill>
              </a:rPr>
              <a:t>We don’t want to try all possibilities of t variables, that would take forever!</a:t>
            </a:r>
          </a:p>
          <a:p>
            <a:pPr lvl="1"/>
            <a:endParaRPr lang="en-US" dirty="0">
              <a:solidFill>
                <a:schemeClr val="accent1"/>
              </a:solidFill>
            </a:endParaRPr>
          </a:p>
          <a:p>
            <a:r>
              <a:rPr lang="en-US" dirty="0"/>
              <a:t>Solution: “Convex relaxation”</a:t>
            </a:r>
          </a:p>
          <a:p>
            <a:pPr lvl="1"/>
            <a:r>
              <a:rPr lang="en-US" dirty="0">
                <a:solidFill>
                  <a:schemeClr val="accent1"/>
                </a:solidFill>
              </a:rPr>
              <a:t>Instead of demanding “at most t non-zeros”, demand a proxy that is more computationally feasible.</a:t>
            </a:r>
          </a:p>
          <a:p>
            <a:pPr lvl="1"/>
            <a:endParaRPr lang="en-US" dirty="0">
              <a:solidFill>
                <a:schemeClr val="accent1"/>
              </a:solidFill>
            </a:endParaRPr>
          </a:p>
          <a:p>
            <a:r>
              <a:rPr lang="en-US" dirty="0"/>
              <a:t>This leads to “Sparse Regression” or LASSO</a:t>
            </a:r>
          </a:p>
          <a:p>
            <a:pPr lvl="1"/>
            <a:r>
              <a:rPr lang="en-US" dirty="0">
                <a:solidFill>
                  <a:schemeClr val="accent1"/>
                </a:solidFill>
              </a:rPr>
              <a:t>LASSO = “</a:t>
            </a:r>
            <a:r>
              <a:rPr lang="en-US" b="0" i="0" dirty="0">
                <a:solidFill>
                  <a:schemeClr val="accent1"/>
                </a:solidFill>
                <a:effectLst/>
              </a:rPr>
              <a:t>Least Absolute Shrinkage and Selection Operator”</a:t>
            </a:r>
          </a:p>
          <a:p>
            <a:pPr lvl="1"/>
            <a:r>
              <a:rPr lang="en-US" sz="1800" dirty="0">
                <a:solidFill>
                  <a:schemeClr val="accent1"/>
                </a:solidFill>
              </a:rPr>
              <a:t>Also called “Compressed Sensing” or “Sparse Recovery” in some contexts</a:t>
            </a:r>
          </a:p>
        </p:txBody>
      </p:sp>
      <p:grpSp>
        <p:nvGrpSpPr>
          <p:cNvPr id="7" name="Group 6">
            <a:extLst>
              <a:ext uri="{FF2B5EF4-FFF2-40B4-BE49-F238E27FC236}">
                <a16:creationId xmlns:a16="http://schemas.microsoft.com/office/drawing/2014/main" id="{7C42FC88-CFC8-1F8A-2285-703A245AA008}"/>
              </a:ext>
            </a:extLst>
          </p:cNvPr>
          <p:cNvGrpSpPr/>
          <p:nvPr/>
        </p:nvGrpSpPr>
        <p:grpSpPr>
          <a:xfrm>
            <a:off x="10267406" y="2306372"/>
            <a:ext cx="1668049" cy="3069823"/>
            <a:chOff x="10792644" y="3429857"/>
            <a:chExt cx="1668049" cy="3069823"/>
          </a:xfrm>
        </p:grpSpPr>
        <p:pic>
          <p:nvPicPr>
            <p:cNvPr id="4" name="Picture 3">
              <a:extLst>
                <a:ext uri="{FF2B5EF4-FFF2-40B4-BE49-F238E27FC236}">
                  <a16:creationId xmlns:a16="http://schemas.microsoft.com/office/drawing/2014/main" id="{9750F3DE-B09F-8D59-0231-2F53C2DFEF6D}"/>
                </a:ext>
              </a:extLst>
            </p:cNvPr>
            <p:cNvPicPr>
              <a:picLocks noChangeAspect="1"/>
            </p:cNvPicPr>
            <p:nvPr/>
          </p:nvPicPr>
          <p:blipFill>
            <a:blip r:embed="rId3"/>
            <a:stretch>
              <a:fillRect/>
            </a:stretch>
          </p:blipFill>
          <p:spPr>
            <a:xfrm>
              <a:off x="11774535" y="5149650"/>
              <a:ext cx="583056" cy="1350030"/>
            </a:xfrm>
            <a:prstGeom prst="rect">
              <a:avLst/>
            </a:prstGeom>
          </p:spPr>
        </p:pic>
        <p:sp>
          <p:nvSpPr>
            <p:cNvPr id="5" name="TextBox 4">
              <a:extLst>
                <a:ext uri="{FF2B5EF4-FFF2-40B4-BE49-F238E27FC236}">
                  <a16:creationId xmlns:a16="http://schemas.microsoft.com/office/drawing/2014/main" id="{3A37C8E4-AACB-0C0B-7444-A6C049438771}"/>
                </a:ext>
              </a:extLst>
            </p:cNvPr>
            <p:cNvSpPr txBox="1"/>
            <p:nvPr/>
          </p:nvSpPr>
          <p:spPr>
            <a:xfrm>
              <a:off x="10792644" y="3429857"/>
              <a:ext cx="1668049" cy="1815882"/>
            </a:xfrm>
            <a:prstGeom prst="rect">
              <a:avLst/>
            </a:prstGeom>
            <a:noFill/>
          </p:spPr>
          <p:txBody>
            <a:bodyPr wrap="square">
              <a:spAutoFit/>
            </a:bodyPr>
            <a:lstStyle/>
            <a:p>
              <a:pPr algn="r"/>
              <a:r>
                <a:rPr lang="en-US" sz="1600" dirty="0">
                  <a:solidFill>
                    <a:srgbClr val="0070C0"/>
                  </a:solidFill>
                </a:rPr>
                <a:t>What this proxy is and why it works is beyond the scope of this course </a:t>
              </a:r>
              <a:r>
                <a:rPr lang="en-US" sz="1600" dirty="0">
                  <a:solidFill>
                    <a:srgbClr val="0070C0"/>
                  </a:solidFill>
                  <a:sym typeface="Wingdings" pitchFamily="2" charset="2"/>
                </a:rPr>
                <a:t>– ask us later, or take, e.g. STATS 202</a:t>
              </a:r>
              <a:endParaRPr lang="en-US" sz="1600" dirty="0">
                <a:solidFill>
                  <a:srgbClr val="0070C0"/>
                </a:solidFill>
              </a:endParaRPr>
            </a:p>
          </p:txBody>
        </p:sp>
      </p:grpSp>
      <p:pic>
        <p:nvPicPr>
          <p:cNvPr id="6" name="Picture 5">
            <a:extLst>
              <a:ext uri="{FF2B5EF4-FFF2-40B4-BE49-F238E27FC236}">
                <a16:creationId xmlns:a16="http://schemas.microsoft.com/office/drawing/2014/main" id="{99632DF3-D7E4-F124-1E80-CD4E2D50936E}"/>
              </a:ext>
            </a:extLst>
          </p:cNvPr>
          <p:cNvPicPr>
            <a:picLocks noChangeAspect="1"/>
          </p:cNvPicPr>
          <p:nvPr/>
        </p:nvPicPr>
        <p:blipFill>
          <a:blip r:embed="rId4"/>
          <a:stretch>
            <a:fillRect/>
          </a:stretch>
        </p:blipFill>
        <p:spPr>
          <a:xfrm>
            <a:off x="8046104" y="90156"/>
            <a:ext cx="4046105" cy="1159944"/>
          </a:xfrm>
          <a:prstGeom prst="rect">
            <a:avLst/>
          </a:prstGeom>
          <a:ln>
            <a:solidFill>
              <a:schemeClr val="accent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01870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62C98-7A53-10AB-993A-E87E798E95DE}"/>
              </a:ext>
            </a:extLst>
          </p:cNvPr>
          <p:cNvSpPr>
            <a:spLocks noGrp="1"/>
          </p:cNvSpPr>
          <p:nvPr>
            <p:ph type="title"/>
          </p:nvPr>
        </p:nvSpPr>
        <p:spPr/>
        <p:txBody>
          <a:bodyPr/>
          <a:lstStyle/>
          <a:p>
            <a:r>
              <a:rPr lang="en-US" sz="4400" dirty="0"/>
              <a:t>When we have lots of outcomes </a:t>
            </a:r>
            <a:br>
              <a:rPr lang="en-US" dirty="0"/>
            </a:br>
            <a:r>
              <a:rPr lang="en-US" dirty="0"/>
              <a:t>SVD</a:t>
            </a:r>
          </a:p>
        </p:txBody>
      </p:sp>
      <p:sp>
        <p:nvSpPr>
          <p:cNvPr id="3" name="Text Placeholder 2">
            <a:extLst>
              <a:ext uri="{FF2B5EF4-FFF2-40B4-BE49-F238E27FC236}">
                <a16:creationId xmlns:a16="http://schemas.microsoft.com/office/drawing/2014/main" id="{7ABF7390-248D-925D-67A7-F132C12C661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47673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501B-CFA9-371F-998F-5CDF361EA294}"/>
              </a:ext>
            </a:extLst>
          </p:cNvPr>
          <p:cNvSpPr>
            <a:spLocks noGrp="1"/>
          </p:cNvSpPr>
          <p:nvPr>
            <p:ph type="title"/>
          </p:nvPr>
        </p:nvSpPr>
        <p:spPr/>
        <p:txBody>
          <a:bodyPr/>
          <a:lstStyle/>
          <a:p>
            <a:r>
              <a:rPr lang="en-US" dirty="0"/>
              <a:t>Suppose we have a data matrix!</a:t>
            </a:r>
          </a:p>
        </p:txBody>
      </p:sp>
      <p:sp>
        <p:nvSpPr>
          <p:cNvPr id="3" name="Content Placeholder 2">
            <a:extLst>
              <a:ext uri="{FF2B5EF4-FFF2-40B4-BE49-F238E27FC236}">
                <a16:creationId xmlns:a16="http://schemas.microsoft.com/office/drawing/2014/main" id="{16B7A2B0-01B1-FA7B-9ED3-2565314F2329}"/>
              </a:ext>
            </a:extLst>
          </p:cNvPr>
          <p:cNvSpPr>
            <a:spLocks noGrp="1"/>
          </p:cNvSpPr>
          <p:nvPr>
            <p:ph idx="1"/>
          </p:nvPr>
        </p:nvSpPr>
        <p:spPr/>
        <p:txBody>
          <a:bodyPr/>
          <a:lstStyle/>
          <a:p>
            <a:r>
              <a:rPr lang="en-US" dirty="0"/>
              <a:t>Back to the setting for this unit!</a:t>
            </a:r>
          </a:p>
        </p:txBody>
      </p:sp>
      <p:grpSp>
        <p:nvGrpSpPr>
          <p:cNvPr id="4" name="Group 3">
            <a:extLst>
              <a:ext uri="{FF2B5EF4-FFF2-40B4-BE49-F238E27FC236}">
                <a16:creationId xmlns:a16="http://schemas.microsoft.com/office/drawing/2014/main" id="{C02EA6B7-062D-0764-8F53-0481E30C720F}"/>
              </a:ext>
            </a:extLst>
          </p:cNvPr>
          <p:cNvGrpSpPr/>
          <p:nvPr/>
        </p:nvGrpSpPr>
        <p:grpSpPr>
          <a:xfrm>
            <a:off x="5962074" y="2474236"/>
            <a:ext cx="1368005" cy="2725539"/>
            <a:chOff x="409413" y="2565551"/>
            <a:chExt cx="1368005" cy="2725539"/>
          </a:xfrm>
        </p:grpSpPr>
        <p:sp>
          <p:nvSpPr>
            <p:cNvPr id="5" name="TextBox 4">
              <a:extLst>
                <a:ext uri="{FF2B5EF4-FFF2-40B4-BE49-F238E27FC236}">
                  <a16:creationId xmlns:a16="http://schemas.microsoft.com/office/drawing/2014/main" id="{14940242-0E84-9D7F-2BF7-8BCF7FE6DCD0}"/>
                </a:ext>
              </a:extLst>
            </p:cNvPr>
            <p:cNvSpPr txBox="1"/>
            <p:nvPr/>
          </p:nvSpPr>
          <p:spPr>
            <a:xfrm>
              <a:off x="409413" y="3804929"/>
              <a:ext cx="885563" cy="461665"/>
            </a:xfrm>
            <a:prstGeom prst="rect">
              <a:avLst/>
            </a:prstGeom>
            <a:noFill/>
          </p:spPr>
          <p:txBody>
            <a:bodyPr wrap="none" rtlCol="0">
              <a:spAutoFit/>
            </a:bodyPr>
            <a:lstStyle/>
            <a:p>
              <a:r>
                <a:rPr lang="en-US" sz="2400" dirty="0"/>
                <a:t>Units</a:t>
              </a:r>
            </a:p>
          </p:txBody>
        </p:sp>
        <p:sp>
          <p:nvSpPr>
            <p:cNvPr id="6" name="TextBox 5">
              <a:extLst>
                <a:ext uri="{FF2B5EF4-FFF2-40B4-BE49-F238E27FC236}">
                  <a16:creationId xmlns:a16="http://schemas.microsoft.com/office/drawing/2014/main" id="{B97D9894-7013-6C76-CCD7-679FF2790C96}"/>
                </a:ext>
              </a:extLst>
            </p:cNvPr>
            <p:cNvSpPr txBox="1"/>
            <p:nvPr/>
          </p:nvSpPr>
          <p:spPr>
            <a:xfrm>
              <a:off x="1427642" y="2565551"/>
              <a:ext cx="349776" cy="1701043"/>
            </a:xfrm>
            <a:prstGeom prst="rect">
              <a:avLst/>
            </a:prstGeom>
            <a:noFill/>
          </p:spPr>
          <p:txBody>
            <a:bodyPr wrap="none" rtlCol="0">
              <a:spAutoFit/>
            </a:bodyPr>
            <a:lstStyle/>
            <a:p>
              <a:pPr>
                <a:lnSpc>
                  <a:spcPct val="150000"/>
                </a:lnSpc>
              </a:pPr>
              <a:r>
                <a:rPr lang="en-US" sz="2400" b="1" dirty="0"/>
                <a:t>1</a:t>
              </a:r>
            </a:p>
            <a:p>
              <a:pPr>
                <a:lnSpc>
                  <a:spcPct val="150000"/>
                </a:lnSpc>
              </a:pPr>
              <a:r>
                <a:rPr lang="en-US" sz="2400" b="1" dirty="0"/>
                <a:t>2</a:t>
              </a:r>
            </a:p>
            <a:p>
              <a:pPr>
                <a:lnSpc>
                  <a:spcPct val="150000"/>
                </a:lnSpc>
              </a:pPr>
              <a:r>
                <a:rPr lang="en-US" sz="2400" b="1" dirty="0"/>
                <a:t>3</a:t>
              </a:r>
            </a:p>
          </p:txBody>
        </p:sp>
        <p:sp>
          <p:nvSpPr>
            <p:cNvPr id="7" name="TextBox 6">
              <a:extLst>
                <a:ext uri="{FF2B5EF4-FFF2-40B4-BE49-F238E27FC236}">
                  <a16:creationId xmlns:a16="http://schemas.microsoft.com/office/drawing/2014/main" id="{687A4F4D-0EFB-A36A-AF0F-821325609221}"/>
                </a:ext>
              </a:extLst>
            </p:cNvPr>
            <p:cNvSpPr txBox="1"/>
            <p:nvPr/>
          </p:nvSpPr>
          <p:spPr>
            <a:xfrm>
              <a:off x="1414818" y="4829425"/>
              <a:ext cx="362600" cy="461665"/>
            </a:xfrm>
            <a:prstGeom prst="rect">
              <a:avLst/>
            </a:prstGeom>
            <a:noFill/>
          </p:spPr>
          <p:txBody>
            <a:bodyPr wrap="none" rtlCol="0">
              <a:spAutoFit/>
            </a:bodyPr>
            <a:lstStyle/>
            <a:p>
              <a:r>
                <a:rPr lang="en-US" sz="2400" b="1" dirty="0"/>
                <a:t>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8EC8E10-E890-4E30-FD41-F4F4F8BBE099}"/>
                    </a:ext>
                  </a:extLst>
                </p:cNvPr>
                <p:cNvSpPr txBox="1"/>
                <p:nvPr/>
              </p:nvSpPr>
              <p:spPr>
                <a:xfrm>
                  <a:off x="142764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C9846D7F-2704-85CD-C1AC-0F0880A2369B}"/>
                    </a:ext>
                  </a:extLst>
                </p:cNvPr>
                <p:cNvSpPr txBox="1">
                  <a:spLocks noRot="1" noChangeAspect="1" noMove="1" noResize="1" noEditPoints="1" noAdjustHandles="1" noChangeArrowheads="1" noChangeShapeType="1" noTextEdit="1"/>
                </p:cNvSpPr>
                <p:nvPr/>
              </p:nvSpPr>
              <p:spPr>
                <a:xfrm>
                  <a:off x="1427642" y="4363343"/>
                  <a:ext cx="303288" cy="369332"/>
                </a:xfrm>
                <a:prstGeom prst="rect">
                  <a:avLst/>
                </a:prstGeom>
                <a:blipFill>
                  <a:blip r:embed="rId3"/>
                  <a:stretch>
                    <a:fillRect/>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1399930D-F4AA-17FE-97A1-E35731829A6D}"/>
              </a:ext>
            </a:extLst>
          </p:cNvPr>
          <p:cNvGrpSpPr/>
          <p:nvPr/>
        </p:nvGrpSpPr>
        <p:grpSpPr>
          <a:xfrm>
            <a:off x="7399543" y="2506487"/>
            <a:ext cx="4249118" cy="3418149"/>
            <a:chOff x="1846882" y="2597802"/>
            <a:chExt cx="4249118" cy="3418149"/>
          </a:xfrm>
        </p:grpSpPr>
        <p:sp>
          <p:nvSpPr>
            <p:cNvPr id="10" name="Rectangle 9">
              <a:extLst>
                <a:ext uri="{FF2B5EF4-FFF2-40B4-BE49-F238E27FC236}">
                  <a16:creationId xmlns:a16="http://schemas.microsoft.com/office/drawing/2014/main" id="{EB56C017-F530-8A93-1A56-16BFFA575260}"/>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8BCF939-74BD-11DE-4F60-DF900AF83316}"/>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11" name="TextBox 10">
                  <a:extLst>
                    <a:ext uri="{FF2B5EF4-FFF2-40B4-BE49-F238E27FC236}">
                      <a16:creationId xmlns:a16="http://schemas.microsoft.com/office/drawing/2014/main" id="{B8BCF939-74BD-11DE-4F60-DF900AF83316}"/>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4"/>
                  <a:stretch>
                    <a:fillRect b="-1153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A42039E5-7414-1F41-8D45-68D36BFF7C42}"/>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56FB684-3A5D-1E23-09B3-38FE8B665A11}"/>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13" name="TextBox 12">
                  <a:extLst>
                    <a:ext uri="{FF2B5EF4-FFF2-40B4-BE49-F238E27FC236}">
                      <a16:creationId xmlns:a16="http://schemas.microsoft.com/office/drawing/2014/main" id="{956FB684-3A5D-1E23-09B3-38FE8B665A11}"/>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5"/>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1F012E9-EF9C-6775-88EA-3497F01BE76D}"/>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4" name="TextBox 13">
                  <a:extLst>
                    <a:ext uri="{FF2B5EF4-FFF2-40B4-BE49-F238E27FC236}">
                      <a16:creationId xmlns:a16="http://schemas.microsoft.com/office/drawing/2014/main" id="{21F012E9-EF9C-6775-88EA-3497F01BE76D}"/>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6"/>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8875F7-DEEE-881D-158E-93B53D09974E}"/>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15" name="TextBox 14">
                  <a:extLst>
                    <a:ext uri="{FF2B5EF4-FFF2-40B4-BE49-F238E27FC236}">
                      <a16:creationId xmlns:a16="http://schemas.microsoft.com/office/drawing/2014/main" id="{258875F7-DEEE-881D-158E-93B53D09974E}"/>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7"/>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B28E4DB-ED7F-774F-CA99-A87663B3744E}"/>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16" name="TextBox 15">
                  <a:extLst>
                    <a:ext uri="{FF2B5EF4-FFF2-40B4-BE49-F238E27FC236}">
                      <a16:creationId xmlns:a16="http://schemas.microsoft.com/office/drawing/2014/main" id="{4B28E4DB-ED7F-774F-CA99-A87663B3744E}"/>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8"/>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A524683-E428-788F-DD57-8444B322B7AB}"/>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7" name="TextBox 16">
                  <a:extLst>
                    <a:ext uri="{FF2B5EF4-FFF2-40B4-BE49-F238E27FC236}">
                      <a16:creationId xmlns:a16="http://schemas.microsoft.com/office/drawing/2014/main" id="{BA524683-E428-788F-DD57-8444B322B7AB}"/>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9"/>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8F1940E-65A0-4DA8-FB6E-B93BBDDBF226}"/>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18" name="TextBox 17">
                  <a:extLst>
                    <a:ext uri="{FF2B5EF4-FFF2-40B4-BE49-F238E27FC236}">
                      <a16:creationId xmlns:a16="http://schemas.microsoft.com/office/drawing/2014/main" id="{38F1940E-65A0-4DA8-FB6E-B93BBDDBF226}"/>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10"/>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A0B4A25-0C9C-58E2-6107-D4BD3C67F03B}"/>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19" name="TextBox 18">
                  <a:extLst>
                    <a:ext uri="{FF2B5EF4-FFF2-40B4-BE49-F238E27FC236}">
                      <a16:creationId xmlns:a16="http://schemas.microsoft.com/office/drawing/2014/main" id="{AA0B4A25-0C9C-58E2-6107-D4BD3C67F03B}"/>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1"/>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302FC45-E2DA-BCC7-B4B0-FA3F38696C39}"/>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0" name="TextBox 19">
                  <a:extLst>
                    <a:ext uri="{FF2B5EF4-FFF2-40B4-BE49-F238E27FC236}">
                      <a16:creationId xmlns:a16="http://schemas.microsoft.com/office/drawing/2014/main" id="{2302FC45-E2DA-BCC7-B4B0-FA3F38696C39}"/>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2"/>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97CC81E-4558-F69C-EBE8-6BAE4A476A88}"/>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21" name="TextBox 20">
                  <a:extLst>
                    <a:ext uri="{FF2B5EF4-FFF2-40B4-BE49-F238E27FC236}">
                      <a16:creationId xmlns:a16="http://schemas.microsoft.com/office/drawing/2014/main" id="{697CC81E-4558-F69C-EBE8-6BAE4A476A88}"/>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3"/>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34E7A44-E8A3-E146-6D0B-558B2E684C04}"/>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22" name="TextBox 21">
                  <a:extLst>
                    <a:ext uri="{FF2B5EF4-FFF2-40B4-BE49-F238E27FC236}">
                      <a16:creationId xmlns:a16="http://schemas.microsoft.com/office/drawing/2014/main" id="{734E7A44-E8A3-E146-6D0B-558B2E684C04}"/>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4"/>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2527143-1846-500C-D5C1-6C1C1E9DC96B}"/>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3" name="TextBox 22">
                  <a:extLst>
                    <a:ext uri="{FF2B5EF4-FFF2-40B4-BE49-F238E27FC236}">
                      <a16:creationId xmlns:a16="http://schemas.microsoft.com/office/drawing/2014/main" id="{E2527143-1846-500C-D5C1-6C1C1E9DC96B}"/>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15"/>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6CA5C9B-6E28-B98D-6394-973A289277F8}"/>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4" name="TextBox 23">
                  <a:extLst>
                    <a:ext uri="{FF2B5EF4-FFF2-40B4-BE49-F238E27FC236}">
                      <a16:creationId xmlns:a16="http://schemas.microsoft.com/office/drawing/2014/main" id="{A6CA5C9B-6E28-B98D-6394-973A289277F8}"/>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C444061-2357-3A16-EC11-C2918A4AB538}"/>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5" name="TextBox 24">
                  <a:extLst>
                    <a:ext uri="{FF2B5EF4-FFF2-40B4-BE49-F238E27FC236}">
                      <a16:creationId xmlns:a16="http://schemas.microsoft.com/office/drawing/2014/main" id="{0C444061-2357-3A16-EC11-C2918A4AB538}"/>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5E6D484-4807-DAAD-402E-3C4AD3C5244B}"/>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6" name="TextBox 25">
                  <a:extLst>
                    <a:ext uri="{FF2B5EF4-FFF2-40B4-BE49-F238E27FC236}">
                      <a16:creationId xmlns:a16="http://schemas.microsoft.com/office/drawing/2014/main" id="{05E6D484-4807-DAAD-402E-3C4AD3C5244B}"/>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586ABD7-A079-DDA9-14EE-4128CE84BA8A}"/>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7" name="TextBox 26">
                  <a:extLst>
                    <a:ext uri="{FF2B5EF4-FFF2-40B4-BE49-F238E27FC236}">
                      <a16:creationId xmlns:a16="http://schemas.microsoft.com/office/drawing/2014/main" id="{F586ABD7-A079-DDA9-14EE-4128CE84BA8A}"/>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0B29836-73F5-1D6C-FF95-02D4C137FE16}"/>
                    </a:ext>
                  </a:extLst>
                </p:cNvPr>
                <p:cNvSpPr txBox="1"/>
                <p:nvPr/>
              </p:nvSpPr>
              <p:spPr>
                <a:xfrm>
                  <a:off x="2548191" y="5554286"/>
                  <a:ext cx="2992166" cy="461665"/>
                </a:xfrm>
                <a:prstGeom prst="rect">
                  <a:avLst/>
                </a:prstGeom>
                <a:noFill/>
              </p:spPr>
              <p:txBody>
                <a:bodyPr wrap="none" rtlCol="0">
                  <a:spAutoFit/>
                </a:bodyPr>
                <a:lstStyle/>
                <a:p>
                  <a:r>
                    <a:rPr lang="en-US" sz="2400" dirty="0">
                      <a:solidFill>
                        <a:schemeClr val="accent1"/>
                      </a:solidFill>
                    </a:rPr>
                    <a:t>Matrix </a:t>
                  </a:r>
                  <a14:m>
                    <m:oMath xmlns:m="http://schemas.openxmlformats.org/officeDocument/2006/math">
                      <m:r>
                        <a:rPr lang="en-US" sz="2400" b="1" i="1" smtClean="0">
                          <a:solidFill>
                            <a:schemeClr val="accent1"/>
                          </a:solidFill>
                          <a:latin typeface="Cambria Math" panose="02040503050406030204" pitchFamily="18" charset="0"/>
                        </a:rPr>
                        <m:t>𝒀</m:t>
                      </m:r>
                    </m:oMath>
                  </a14:m>
                  <a:r>
                    <a:rPr lang="en-US" sz="2400" b="1" dirty="0">
                      <a:solidFill>
                        <a:schemeClr val="accent1"/>
                      </a:solidFill>
                    </a:rPr>
                    <a:t> </a:t>
                  </a:r>
                  <a:r>
                    <a:rPr lang="en-US" sz="2400" dirty="0">
                      <a:solidFill>
                        <a:schemeClr val="accent1"/>
                      </a:solidFill>
                    </a:rPr>
                    <a:t>of outcomes</a:t>
                  </a:r>
                </a:p>
              </p:txBody>
            </p:sp>
          </mc:Choice>
          <mc:Fallback xmlns="">
            <p:sp>
              <p:nvSpPr>
                <p:cNvPr id="31" name="TextBox 30">
                  <a:extLst>
                    <a:ext uri="{FF2B5EF4-FFF2-40B4-BE49-F238E27FC236}">
                      <a16:creationId xmlns:a16="http://schemas.microsoft.com/office/drawing/2014/main" id="{581069B6-F21B-E792-A225-581D737AA8CF}"/>
                    </a:ext>
                  </a:extLst>
                </p:cNvPr>
                <p:cNvSpPr txBox="1">
                  <a:spLocks noRot="1" noChangeAspect="1" noMove="1" noResize="1" noEditPoints="1" noAdjustHandles="1" noChangeArrowheads="1" noChangeShapeType="1" noTextEdit="1"/>
                </p:cNvSpPr>
                <p:nvPr/>
              </p:nvSpPr>
              <p:spPr>
                <a:xfrm>
                  <a:off x="2548191" y="5554286"/>
                  <a:ext cx="2992166" cy="461665"/>
                </a:xfrm>
                <a:prstGeom prst="rect">
                  <a:avLst/>
                </a:prstGeom>
                <a:blipFill>
                  <a:blip r:embed="rId20"/>
                  <a:stretch>
                    <a:fillRect l="-3376" t="-10811" r="-2110" b="-29730"/>
                  </a:stretch>
                </a:blipFill>
              </p:spPr>
              <p:txBody>
                <a:bodyPr/>
                <a:lstStyle/>
                <a:p>
                  <a:r>
                    <a:rPr lang="en-US">
                      <a:noFill/>
                    </a:rPr>
                    <a:t> </a:t>
                  </a:r>
                </a:p>
              </p:txBody>
            </p:sp>
          </mc:Fallback>
        </mc:AlternateContent>
      </p:grpSp>
      <p:grpSp>
        <p:nvGrpSpPr>
          <p:cNvPr id="29" name="Group 28">
            <a:extLst>
              <a:ext uri="{FF2B5EF4-FFF2-40B4-BE49-F238E27FC236}">
                <a16:creationId xmlns:a16="http://schemas.microsoft.com/office/drawing/2014/main" id="{0C22045E-DB16-0523-DFCD-0B4945F56F68}"/>
              </a:ext>
            </a:extLst>
          </p:cNvPr>
          <p:cNvGrpSpPr/>
          <p:nvPr/>
        </p:nvGrpSpPr>
        <p:grpSpPr>
          <a:xfrm>
            <a:off x="7330079" y="1599373"/>
            <a:ext cx="4091367" cy="856129"/>
            <a:chOff x="1777418" y="1690688"/>
            <a:chExt cx="4091367" cy="856129"/>
          </a:xfrm>
        </p:grpSpPr>
        <p:sp>
          <p:nvSpPr>
            <p:cNvPr id="30" name="TextBox 29">
              <a:extLst>
                <a:ext uri="{FF2B5EF4-FFF2-40B4-BE49-F238E27FC236}">
                  <a16:creationId xmlns:a16="http://schemas.microsoft.com/office/drawing/2014/main" id="{65E2CF49-CB16-66A6-FB38-45153DED7703}"/>
                </a:ext>
              </a:extLst>
            </p:cNvPr>
            <p:cNvSpPr txBox="1"/>
            <p:nvPr/>
          </p:nvSpPr>
          <p:spPr>
            <a:xfrm>
              <a:off x="3698169" y="1690688"/>
              <a:ext cx="830677" cy="461665"/>
            </a:xfrm>
            <a:prstGeom prst="rect">
              <a:avLst/>
            </a:prstGeom>
            <a:noFill/>
          </p:spPr>
          <p:txBody>
            <a:bodyPr wrap="none" rtlCol="0">
              <a:spAutoFit/>
            </a:bodyPr>
            <a:lstStyle/>
            <a:p>
              <a:r>
                <a:rPr lang="en-US" sz="2400" dirty="0"/>
                <a:t>Time</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D6A8292-CF42-82D1-CEFB-081D348F9FED}"/>
                    </a:ext>
                  </a:extLst>
                </p:cNvPr>
                <p:cNvSpPr txBox="1"/>
                <p:nvPr/>
              </p:nvSpPr>
              <p:spPr>
                <a:xfrm>
                  <a:off x="1777418" y="2085152"/>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𝟏</m:t>
                        </m:r>
                      </m:oMath>
                    </m:oMathPara>
                  </a14:m>
                  <a:endParaRPr lang="en-US" sz="2400" b="1" dirty="0"/>
                </a:p>
              </p:txBody>
            </p:sp>
          </mc:Choice>
          <mc:Fallback xmlns="">
            <p:sp>
              <p:nvSpPr>
                <p:cNvPr id="11" name="TextBox 10">
                  <a:extLst>
                    <a:ext uri="{FF2B5EF4-FFF2-40B4-BE49-F238E27FC236}">
                      <a16:creationId xmlns:a16="http://schemas.microsoft.com/office/drawing/2014/main" id="{B7D92E36-EB85-9D0A-D41C-8613155172BB}"/>
                    </a:ext>
                  </a:extLst>
                </p:cNvPr>
                <p:cNvSpPr txBox="1">
                  <a:spLocks noRot="1" noChangeAspect="1" noMove="1" noResize="1" noEditPoints="1" noAdjustHandles="1" noChangeArrowheads="1" noChangeShapeType="1" noTextEdit="1"/>
                </p:cNvSpPr>
                <p:nvPr/>
              </p:nvSpPr>
              <p:spPr>
                <a:xfrm>
                  <a:off x="1777418" y="2085152"/>
                  <a:ext cx="721672" cy="461665"/>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AD022EB-17C5-AD86-7318-2044BB1AA40C}"/>
                    </a:ext>
                  </a:extLst>
                </p:cNvPr>
                <p:cNvSpPr txBox="1"/>
                <p:nvPr/>
              </p:nvSpPr>
              <p:spPr>
                <a:xfrm>
                  <a:off x="2642674" y="2063418"/>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𝟐</m:t>
                        </m:r>
                      </m:oMath>
                    </m:oMathPara>
                  </a14:m>
                  <a:endParaRPr lang="en-US" sz="2400" b="1" dirty="0"/>
                </a:p>
              </p:txBody>
            </p:sp>
          </mc:Choice>
          <mc:Fallback xmlns="">
            <p:sp>
              <p:nvSpPr>
                <p:cNvPr id="12" name="TextBox 11">
                  <a:extLst>
                    <a:ext uri="{FF2B5EF4-FFF2-40B4-BE49-F238E27FC236}">
                      <a16:creationId xmlns:a16="http://schemas.microsoft.com/office/drawing/2014/main" id="{402FB0DE-75EC-4664-69FD-75A6C795D5BB}"/>
                    </a:ext>
                  </a:extLst>
                </p:cNvPr>
                <p:cNvSpPr txBox="1">
                  <a:spLocks noRot="1" noChangeAspect="1" noMove="1" noResize="1" noEditPoints="1" noAdjustHandles="1" noChangeArrowheads="1" noChangeShapeType="1" noTextEdit="1"/>
                </p:cNvSpPr>
                <p:nvPr/>
              </p:nvSpPr>
              <p:spPr>
                <a:xfrm>
                  <a:off x="2642674" y="2063418"/>
                  <a:ext cx="721672" cy="461665"/>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34E22B4-66DC-3C76-A0AF-4DA0C6C14930}"/>
                    </a:ext>
                  </a:extLst>
                </p:cNvPr>
                <p:cNvSpPr txBox="1"/>
                <p:nvPr/>
              </p:nvSpPr>
              <p:spPr>
                <a:xfrm>
                  <a:off x="5147113" y="2048610"/>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𝑻</m:t>
                        </m:r>
                      </m:oMath>
                    </m:oMathPara>
                  </a14:m>
                  <a:endParaRPr lang="en-US" sz="2400" b="1" dirty="0"/>
                </a:p>
              </p:txBody>
            </p:sp>
          </mc:Choice>
          <mc:Fallback xmlns="">
            <p:sp>
              <p:nvSpPr>
                <p:cNvPr id="13" name="TextBox 12">
                  <a:extLst>
                    <a:ext uri="{FF2B5EF4-FFF2-40B4-BE49-F238E27FC236}">
                      <a16:creationId xmlns:a16="http://schemas.microsoft.com/office/drawing/2014/main" id="{0E20781C-3533-5AF7-36CD-BEED3C47AB88}"/>
                    </a:ext>
                  </a:extLst>
                </p:cNvPr>
                <p:cNvSpPr txBox="1">
                  <a:spLocks noRot="1" noChangeAspect="1" noMove="1" noResize="1" noEditPoints="1" noAdjustHandles="1" noChangeArrowheads="1" noChangeShapeType="1" noTextEdit="1"/>
                </p:cNvSpPr>
                <p:nvPr/>
              </p:nvSpPr>
              <p:spPr>
                <a:xfrm>
                  <a:off x="5147113" y="2048610"/>
                  <a:ext cx="721672" cy="461665"/>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37B8852-1185-1B2E-4C5A-28451462483F}"/>
                    </a:ext>
                  </a:extLst>
                </p:cNvPr>
                <p:cNvSpPr txBox="1"/>
                <p:nvPr/>
              </p:nvSpPr>
              <p:spPr>
                <a:xfrm>
                  <a:off x="3712952" y="2139732"/>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p:txBody>
            </p:sp>
          </mc:Choice>
          <mc:Fallback xmlns="">
            <p:sp>
              <p:nvSpPr>
                <p:cNvPr id="65" name="TextBox 64">
                  <a:extLst>
                    <a:ext uri="{FF2B5EF4-FFF2-40B4-BE49-F238E27FC236}">
                      <a16:creationId xmlns:a16="http://schemas.microsoft.com/office/drawing/2014/main" id="{06E9F7E0-0F29-534C-92C0-DAAFE0E6029A}"/>
                    </a:ext>
                  </a:extLst>
                </p:cNvPr>
                <p:cNvSpPr txBox="1">
                  <a:spLocks noRot="1" noChangeAspect="1" noMove="1" noResize="1" noEditPoints="1" noAdjustHandles="1" noChangeArrowheads="1" noChangeShapeType="1" noTextEdit="1"/>
                </p:cNvSpPr>
                <p:nvPr/>
              </p:nvSpPr>
              <p:spPr>
                <a:xfrm>
                  <a:off x="3712952" y="2139732"/>
                  <a:ext cx="850773" cy="369332"/>
                </a:xfrm>
                <a:prstGeom prst="rect">
                  <a:avLst/>
                </a:prstGeom>
                <a:blipFill>
                  <a:blip r:embed="rId40"/>
                  <a:stretch>
                    <a:fillRect/>
                  </a:stretch>
                </a:blipFill>
              </p:spPr>
              <p:txBody>
                <a:bodyPr/>
                <a:lstStyle/>
                <a:p>
                  <a:r>
                    <a:rPr lang="en-US">
                      <a:noFill/>
                    </a:rPr>
                    <a:t> </a:t>
                  </a:r>
                </a:p>
              </p:txBody>
            </p:sp>
          </mc:Fallback>
        </mc:AlternateContent>
      </p:grpSp>
      <p:grpSp>
        <p:nvGrpSpPr>
          <p:cNvPr id="37" name="Group 36">
            <a:extLst>
              <a:ext uri="{FF2B5EF4-FFF2-40B4-BE49-F238E27FC236}">
                <a16:creationId xmlns:a16="http://schemas.microsoft.com/office/drawing/2014/main" id="{F29D1E6D-8C9E-44FD-C9B3-696D43280EC9}"/>
              </a:ext>
            </a:extLst>
          </p:cNvPr>
          <p:cNvGrpSpPr/>
          <p:nvPr/>
        </p:nvGrpSpPr>
        <p:grpSpPr>
          <a:xfrm>
            <a:off x="765294" y="2892236"/>
            <a:ext cx="4483221" cy="3657569"/>
            <a:chOff x="765294" y="2892236"/>
            <a:chExt cx="4483221" cy="3657569"/>
          </a:xfrm>
        </p:grpSpPr>
        <p:pic>
          <p:nvPicPr>
            <p:cNvPr id="35" name="Picture 34">
              <a:extLst>
                <a:ext uri="{FF2B5EF4-FFF2-40B4-BE49-F238E27FC236}">
                  <a16:creationId xmlns:a16="http://schemas.microsoft.com/office/drawing/2014/main" id="{11985D11-B04A-BBB7-8142-D74CDC22C99F}"/>
                </a:ext>
              </a:extLst>
            </p:cNvPr>
            <p:cNvPicPr>
              <a:picLocks noChangeAspect="1"/>
            </p:cNvPicPr>
            <p:nvPr/>
          </p:nvPicPr>
          <p:blipFill>
            <a:blip r:embed="rId41"/>
            <a:stretch>
              <a:fillRect/>
            </a:stretch>
          </p:blipFill>
          <p:spPr>
            <a:xfrm flipH="1">
              <a:off x="765294" y="5199775"/>
              <a:ext cx="665941" cy="1350030"/>
            </a:xfrm>
            <a:prstGeom prst="rect">
              <a:avLst/>
            </a:prstGeom>
          </p:spPr>
        </p:pic>
        <p:sp>
          <p:nvSpPr>
            <p:cNvPr id="36" name="TextBox 35">
              <a:extLst>
                <a:ext uri="{FF2B5EF4-FFF2-40B4-BE49-F238E27FC236}">
                  <a16:creationId xmlns:a16="http://schemas.microsoft.com/office/drawing/2014/main" id="{082FC350-99EA-5E0A-B2A9-D728E63982DB}"/>
                </a:ext>
              </a:extLst>
            </p:cNvPr>
            <p:cNvSpPr txBox="1"/>
            <p:nvPr/>
          </p:nvSpPr>
          <p:spPr>
            <a:xfrm>
              <a:off x="872891" y="2892236"/>
              <a:ext cx="4375624" cy="2677656"/>
            </a:xfrm>
            <a:prstGeom prst="rect">
              <a:avLst/>
            </a:prstGeom>
            <a:noFill/>
          </p:spPr>
          <p:txBody>
            <a:bodyPr wrap="square">
              <a:spAutoFit/>
            </a:bodyPr>
            <a:lstStyle/>
            <a:p>
              <a:r>
                <a:rPr lang="en-US" sz="2400" dirty="0">
                  <a:solidFill>
                    <a:srgbClr val="0070C0"/>
                  </a:solidFill>
                </a:rPr>
                <a:t>Everything we’ll talk about works when the columns are something other than time too:</a:t>
              </a:r>
            </a:p>
            <a:p>
              <a:pPr marL="342900" indent="-342900">
                <a:buFont typeface="Arial" panose="020B0604020202020204" pitchFamily="34" charset="0"/>
                <a:buChar char="•"/>
              </a:pPr>
              <a:r>
                <a:rPr lang="en-US" dirty="0">
                  <a:solidFill>
                    <a:srgbClr val="0070C0"/>
                  </a:solidFill>
                </a:rPr>
                <a:t>Netflix users rating movies</a:t>
              </a:r>
            </a:p>
            <a:p>
              <a:pPr marL="342900" indent="-342900">
                <a:buFont typeface="Arial" panose="020B0604020202020204" pitchFamily="34" charset="0"/>
                <a:buChar char="•"/>
              </a:pPr>
              <a:r>
                <a:rPr lang="en-US" dirty="0">
                  <a:solidFill>
                    <a:srgbClr val="0070C0"/>
                  </a:solidFill>
                </a:rPr>
                <a:t>Politicians voting on bills</a:t>
              </a:r>
            </a:p>
            <a:p>
              <a:pPr marL="342900" indent="-342900">
                <a:buFont typeface="Arial" panose="020B0604020202020204" pitchFamily="34" charset="0"/>
                <a:buChar char="•"/>
              </a:pPr>
              <a:r>
                <a:rPr lang="en-US" dirty="0">
                  <a:solidFill>
                    <a:srgbClr val="0070C0"/>
                  </a:solidFill>
                </a:rPr>
                <a:t>Shoppers buying items</a:t>
              </a:r>
            </a:p>
            <a:p>
              <a:pPr marL="342900" indent="-342900">
                <a:buFont typeface="Arial" panose="020B0604020202020204" pitchFamily="34" charset="0"/>
                <a:buChar char="•"/>
              </a:pPr>
              <a:r>
                <a:rPr lang="en-US" dirty="0">
                  <a:solidFill>
                    <a:srgbClr val="0070C0"/>
                  </a:solidFill>
                </a:rPr>
                <a:t>…</a:t>
              </a:r>
            </a:p>
            <a:p>
              <a:pPr marL="342900" indent="-342900">
                <a:buFont typeface="Arial" panose="020B0604020202020204" pitchFamily="34" charset="0"/>
                <a:buChar char="•"/>
              </a:pPr>
              <a:endParaRPr lang="en-US" sz="2400" dirty="0">
                <a:solidFill>
                  <a:srgbClr val="0070C0"/>
                </a:solidFill>
              </a:endParaRPr>
            </a:p>
          </p:txBody>
        </p:sp>
      </p:grpSp>
    </p:spTree>
    <p:extLst>
      <p:ext uri="{BB962C8B-B14F-4D97-AF65-F5344CB8AC3E}">
        <p14:creationId xmlns:p14="http://schemas.microsoft.com/office/powerpoint/2010/main" val="3805268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67CC320-F212-15E8-F0D2-CFCB67C68DCB}"/>
              </a:ext>
            </a:extLst>
          </p:cNvPr>
          <p:cNvGrpSpPr/>
          <p:nvPr/>
        </p:nvGrpSpPr>
        <p:grpSpPr>
          <a:xfrm>
            <a:off x="4068246" y="2747773"/>
            <a:ext cx="4249118" cy="3418149"/>
            <a:chOff x="1846882" y="2597802"/>
            <a:chExt cx="4249118" cy="3418149"/>
          </a:xfrm>
        </p:grpSpPr>
        <p:sp>
          <p:nvSpPr>
            <p:cNvPr id="53" name="Rectangle 52">
              <a:extLst>
                <a:ext uri="{FF2B5EF4-FFF2-40B4-BE49-F238E27FC236}">
                  <a16:creationId xmlns:a16="http://schemas.microsoft.com/office/drawing/2014/main" id="{15C8DBD4-60A7-6C6D-4889-540C5C1C2097}"/>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60C3E53-A3B6-6432-A225-2EB182D2A397}"/>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54" name="TextBox 53">
                  <a:extLst>
                    <a:ext uri="{FF2B5EF4-FFF2-40B4-BE49-F238E27FC236}">
                      <a16:creationId xmlns:a16="http://schemas.microsoft.com/office/drawing/2014/main" id="{460C3E53-A3B6-6432-A225-2EB182D2A397}"/>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3"/>
                  <a:stretch>
                    <a:fillRect b="-11538"/>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64D3DC19-E98E-0CD1-7D31-5F92361C46A2}"/>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80BD987-9A91-EE3D-7E4B-4B4F007758BD}"/>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56" name="TextBox 55">
                  <a:extLst>
                    <a:ext uri="{FF2B5EF4-FFF2-40B4-BE49-F238E27FC236}">
                      <a16:creationId xmlns:a16="http://schemas.microsoft.com/office/drawing/2014/main" id="{280BD987-9A91-EE3D-7E4B-4B4F007758BD}"/>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4"/>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602711E-015D-62B1-2A29-5B96A0309C7D}"/>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57" name="TextBox 56">
                  <a:extLst>
                    <a:ext uri="{FF2B5EF4-FFF2-40B4-BE49-F238E27FC236}">
                      <a16:creationId xmlns:a16="http://schemas.microsoft.com/office/drawing/2014/main" id="{2602711E-015D-62B1-2A29-5B96A0309C7D}"/>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5"/>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BE595D0-A8BD-166A-1795-9B1B839E819A}"/>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58" name="TextBox 57">
                  <a:extLst>
                    <a:ext uri="{FF2B5EF4-FFF2-40B4-BE49-F238E27FC236}">
                      <a16:creationId xmlns:a16="http://schemas.microsoft.com/office/drawing/2014/main" id="{9BE595D0-A8BD-166A-1795-9B1B839E819A}"/>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6"/>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FF0C2EA-7102-55CB-EFCC-C86147699562}"/>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59" name="TextBox 58">
                  <a:extLst>
                    <a:ext uri="{FF2B5EF4-FFF2-40B4-BE49-F238E27FC236}">
                      <a16:creationId xmlns:a16="http://schemas.microsoft.com/office/drawing/2014/main" id="{AFF0C2EA-7102-55CB-EFCC-C86147699562}"/>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7"/>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E9520C5-41B9-ED59-2D4C-61A705670694}"/>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60" name="TextBox 59">
                  <a:extLst>
                    <a:ext uri="{FF2B5EF4-FFF2-40B4-BE49-F238E27FC236}">
                      <a16:creationId xmlns:a16="http://schemas.microsoft.com/office/drawing/2014/main" id="{AE9520C5-41B9-ED59-2D4C-61A705670694}"/>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8"/>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3A98BFF-BF68-0EBF-834E-87D37981AD7A}"/>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61" name="TextBox 60">
                  <a:extLst>
                    <a:ext uri="{FF2B5EF4-FFF2-40B4-BE49-F238E27FC236}">
                      <a16:creationId xmlns:a16="http://schemas.microsoft.com/office/drawing/2014/main" id="{63A98BFF-BF68-0EBF-834E-87D37981AD7A}"/>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9"/>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6D16020-3B8F-C31C-DF87-AB66A6549F38}"/>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62" name="TextBox 61">
                  <a:extLst>
                    <a:ext uri="{FF2B5EF4-FFF2-40B4-BE49-F238E27FC236}">
                      <a16:creationId xmlns:a16="http://schemas.microsoft.com/office/drawing/2014/main" id="{16D16020-3B8F-C31C-DF87-AB66A6549F38}"/>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0"/>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4C74F91-DD2C-3EE4-F0DD-F01182527494}"/>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63" name="TextBox 62">
                  <a:extLst>
                    <a:ext uri="{FF2B5EF4-FFF2-40B4-BE49-F238E27FC236}">
                      <a16:creationId xmlns:a16="http://schemas.microsoft.com/office/drawing/2014/main" id="{14C74F91-DD2C-3EE4-F0DD-F01182527494}"/>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1"/>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BD1CD64-49CC-4418-4DE0-28C7D7B4029F}"/>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64" name="TextBox 63">
                  <a:extLst>
                    <a:ext uri="{FF2B5EF4-FFF2-40B4-BE49-F238E27FC236}">
                      <a16:creationId xmlns:a16="http://schemas.microsoft.com/office/drawing/2014/main" id="{3BD1CD64-49CC-4418-4DE0-28C7D7B4029F}"/>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2"/>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214DF174-F447-CF78-C589-B9E0AEB9155B}"/>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65" name="TextBox 64">
                  <a:extLst>
                    <a:ext uri="{FF2B5EF4-FFF2-40B4-BE49-F238E27FC236}">
                      <a16:creationId xmlns:a16="http://schemas.microsoft.com/office/drawing/2014/main" id="{214DF174-F447-CF78-C589-B9E0AEB9155B}"/>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3"/>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55060DDA-A75F-C02C-DD39-92E1243022A2}"/>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66" name="TextBox 65">
                  <a:extLst>
                    <a:ext uri="{FF2B5EF4-FFF2-40B4-BE49-F238E27FC236}">
                      <a16:creationId xmlns:a16="http://schemas.microsoft.com/office/drawing/2014/main" id="{55060DDA-A75F-C02C-DD39-92E1243022A2}"/>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14"/>
                  <a:stretch>
                    <a:fillRect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F1343D5-0539-2D21-B581-8DF016D5E1BF}"/>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67" name="TextBox 66">
                  <a:extLst>
                    <a:ext uri="{FF2B5EF4-FFF2-40B4-BE49-F238E27FC236}">
                      <a16:creationId xmlns:a16="http://schemas.microsoft.com/office/drawing/2014/main" id="{3F1343D5-0539-2D21-B581-8DF016D5E1BF}"/>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CA7AE41-53A5-2E1C-3333-A23FCEE71BB5}"/>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68" name="TextBox 67">
                  <a:extLst>
                    <a:ext uri="{FF2B5EF4-FFF2-40B4-BE49-F238E27FC236}">
                      <a16:creationId xmlns:a16="http://schemas.microsoft.com/office/drawing/2014/main" id="{DCA7AE41-53A5-2E1C-3333-A23FCEE71BB5}"/>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A96569AE-B44D-7BB8-E58B-5C71EB36A028}"/>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69" name="TextBox 68">
                  <a:extLst>
                    <a:ext uri="{FF2B5EF4-FFF2-40B4-BE49-F238E27FC236}">
                      <a16:creationId xmlns:a16="http://schemas.microsoft.com/office/drawing/2014/main" id="{A96569AE-B44D-7BB8-E58B-5C71EB36A028}"/>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1368D38-D4BA-6F55-537C-459130CDD228}"/>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01368D38-D4BA-6F55-537C-459130CDD228}"/>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A4EC85B-03E8-F998-27CA-B644445A7259}"/>
                    </a:ext>
                  </a:extLst>
                </p:cNvPr>
                <p:cNvSpPr txBox="1"/>
                <p:nvPr/>
              </p:nvSpPr>
              <p:spPr>
                <a:xfrm>
                  <a:off x="2548191" y="5554286"/>
                  <a:ext cx="2992166" cy="461665"/>
                </a:xfrm>
                <a:prstGeom prst="rect">
                  <a:avLst/>
                </a:prstGeom>
                <a:noFill/>
              </p:spPr>
              <p:txBody>
                <a:bodyPr wrap="none" rtlCol="0">
                  <a:spAutoFit/>
                </a:bodyPr>
                <a:lstStyle/>
                <a:p>
                  <a:r>
                    <a:rPr lang="en-US" sz="2400" dirty="0">
                      <a:solidFill>
                        <a:schemeClr val="accent1"/>
                      </a:solidFill>
                    </a:rPr>
                    <a:t>Matrix </a:t>
                  </a:r>
                  <a14:m>
                    <m:oMath xmlns:m="http://schemas.openxmlformats.org/officeDocument/2006/math">
                      <m:r>
                        <a:rPr lang="en-US" sz="2400" b="1" i="1" smtClean="0">
                          <a:solidFill>
                            <a:schemeClr val="accent1"/>
                          </a:solidFill>
                          <a:latin typeface="Cambria Math" panose="02040503050406030204" pitchFamily="18" charset="0"/>
                        </a:rPr>
                        <m:t>𝒀</m:t>
                      </m:r>
                    </m:oMath>
                  </a14:m>
                  <a:r>
                    <a:rPr lang="en-US" sz="2400" b="1" dirty="0">
                      <a:solidFill>
                        <a:schemeClr val="accent1"/>
                      </a:solidFill>
                    </a:rPr>
                    <a:t> </a:t>
                  </a:r>
                  <a:r>
                    <a:rPr lang="en-US" sz="2400" dirty="0">
                      <a:solidFill>
                        <a:schemeClr val="accent1"/>
                      </a:solidFill>
                    </a:rPr>
                    <a:t>of outcomes</a:t>
                  </a:r>
                </a:p>
              </p:txBody>
            </p:sp>
          </mc:Choice>
          <mc:Fallback xmlns="">
            <p:sp>
              <p:nvSpPr>
                <p:cNvPr id="31" name="TextBox 30">
                  <a:extLst>
                    <a:ext uri="{FF2B5EF4-FFF2-40B4-BE49-F238E27FC236}">
                      <a16:creationId xmlns:a16="http://schemas.microsoft.com/office/drawing/2014/main" id="{581069B6-F21B-E792-A225-581D737AA8CF}"/>
                    </a:ext>
                  </a:extLst>
                </p:cNvPr>
                <p:cNvSpPr txBox="1">
                  <a:spLocks noRot="1" noChangeAspect="1" noMove="1" noResize="1" noEditPoints="1" noAdjustHandles="1" noChangeArrowheads="1" noChangeShapeType="1" noTextEdit="1"/>
                </p:cNvSpPr>
                <p:nvPr/>
              </p:nvSpPr>
              <p:spPr>
                <a:xfrm>
                  <a:off x="2548191" y="5554286"/>
                  <a:ext cx="2992166" cy="461665"/>
                </a:xfrm>
                <a:prstGeom prst="rect">
                  <a:avLst/>
                </a:prstGeom>
                <a:blipFill>
                  <a:blip r:embed="rId19"/>
                  <a:stretch>
                    <a:fillRect l="-3376" t="-10811" r="-2110" b="-29730"/>
                  </a:stretch>
                </a:blipFill>
              </p:spPr>
              <p:txBody>
                <a:bodyPr/>
                <a:lstStyle/>
                <a:p>
                  <a:r>
                    <a:rPr lang="en-US">
                      <a:noFill/>
                    </a:rPr>
                    <a:t> </a:t>
                  </a:r>
                </a:p>
              </p:txBody>
            </p:sp>
          </mc:Fallback>
        </mc:AlternateContent>
      </p:grpSp>
      <p:sp>
        <p:nvSpPr>
          <p:cNvPr id="2" name="Title 1">
            <a:extLst>
              <a:ext uri="{FF2B5EF4-FFF2-40B4-BE49-F238E27FC236}">
                <a16:creationId xmlns:a16="http://schemas.microsoft.com/office/drawing/2014/main" id="{A5C059EB-9FE1-2B2C-B74A-18AFD448ABD4}"/>
              </a:ext>
            </a:extLst>
          </p:cNvPr>
          <p:cNvSpPr>
            <a:spLocks noGrp="1"/>
          </p:cNvSpPr>
          <p:nvPr>
            <p:ph type="title"/>
          </p:nvPr>
        </p:nvSpPr>
        <p:spPr/>
        <p:txBody>
          <a:bodyPr/>
          <a:lstStyle/>
          <a:p>
            <a:r>
              <a:rPr lang="en-US" dirty="0"/>
              <a:t>Let’s go back to our OECD nations</a:t>
            </a:r>
            <a:br>
              <a:rPr lang="en-US" dirty="0"/>
            </a:br>
            <a:r>
              <a:rPr lang="en-US" sz="2400" dirty="0"/>
              <a:t>No Brexit yet…</a:t>
            </a:r>
            <a:endParaRPr lang="en-US" dirty="0"/>
          </a:p>
        </p:txBody>
      </p:sp>
      <p:grpSp>
        <p:nvGrpSpPr>
          <p:cNvPr id="4" name="Group 3">
            <a:extLst>
              <a:ext uri="{FF2B5EF4-FFF2-40B4-BE49-F238E27FC236}">
                <a16:creationId xmlns:a16="http://schemas.microsoft.com/office/drawing/2014/main" id="{24BCEFB6-D956-E3F1-1731-EA231DD85615}"/>
              </a:ext>
            </a:extLst>
          </p:cNvPr>
          <p:cNvGrpSpPr/>
          <p:nvPr/>
        </p:nvGrpSpPr>
        <p:grpSpPr>
          <a:xfrm>
            <a:off x="1861960" y="2659056"/>
            <a:ext cx="2012678" cy="2725539"/>
            <a:chOff x="-235260" y="2565551"/>
            <a:chExt cx="2012678" cy="2725539"/>
          </a:xfrm>
        </p:grpSpPr>
        <p:sp>
          <p:nvSpPr>
            <p:cNvPr id="5" name="TextBox 4">
              <a:extLst>
                <a:ext uri="{FF2B5EF4-FFF2-40B4-BE49-F238E27FC236}">
                  <a16:creationId xmlns:a16="http://schemas.microsoft.com/office/drawing/2014/main" id="{FCBB16FF-F994-25A6-8F04-EC96AC807EC4}"/>
                </a:ext>
              </a:extLst>
            </p:cNvPr>
            <p:cNvSpPr txBox="1"/>
            <p:nvPr/>
          </p:nvSpPr>
          <p:spPr>
            <a:xfrm>
              <a:off x="-235260" y="3599921"/>
              <a:ext cx="1495922" cy="461665"/>
            </a:xfrm>
            <a:prstGeom prst="rect">
              <a:avLst/>
            </a:prstGeom>
            <a:noFill/>
          </p:spPr>
          <p:txBody>
            <a:bodyPr wrap="none" rtlCol="0">
              <a:spAutoFit/>
            </a:bodyPr>
            <a:lstStyle/>
            <a:p>
              <a:r>
                <a:rPr lang="en-US" sz="2400" dirty="0"/>
                <a:t>Countries</a:t>
              </a:r>
            </a:p>
          </p:txBody>
        </p:sp>
        <p:sp>
          <p:nvSpPr>
            <p:cNvPr id="6" name="TextBox 5">
              <a:extLst>
                <a:ext uri="{FF2B5EF4-FFF2-40B4-BE49-F238E27FC236}">
                  <a16:creationId xmlns:a16="http://schemas.microsoft.com/office/drawing/2014/main" id="{DCF8C5E5-B95F-C47F-20A3-77292943A9D5}"/>
                </a:ext>
              </a:extLst>
            </p:cNvPr>
            <p:cNvSpPr txBox="1"/>
            <p:nvPr/>
          </p:nvSpPr>
          <p:spPr>
            <a:xfrm>
              <a:off x="1427642" y="2565551"/>
              <a:ext cx="349776" cy="1701043"/>
            </a:xfrm>
            <a:prstGeom prst="rect">
              <a:avLst/>
            </a:prstGeom>
            <a:noFill/>
          </p:spPr>
          <p:txBody>
            <a:bodyPr wrap="none" rtlCol="0">
              <a:spAutoFit/>
            </a:bodyPr>
            <a:lstStyle/>
            <a:p>
              <a:pPr>
                <a:lnSpc>
                  <a:spcPct val="150000"/>
                </a:lnSpc>
              </a:pPr>
              <a:r>
                <a:rPr lang="en-US" sz="2400" b="1" dirty="0"/>
                <a:t>1</a:t>
              </a:r>
            </a:p>
            <a:p>
              <a:pPr>
                <a:lnSpc>
                  <a:spcPct val="150000"/>
                </a:lnSpc>
              </a:pPr>
              <a:r>
                <a:rPr lang="en-US" sz="2400" b="1" dirty="0"/>
                <a:t>2</a:t>
              </a:r>
            </a:p>
            <a:p>
              <a:pPr>
                <a:lnSpc>
                  <a:spcPct val="150000"/>
                </a:lnSpc>
              </a:pPr>
              <a:r>
                <a:rPr lang="en-US" sz="2400" b="1" dirty="0"/>
                <a:t>3</a:t>
              </a:r>
            </a:p>
          </p:txBody>
        </p:sp>
        <p:sp>
          <p:nvSpPr>
            <p:cNvPr id="7" name="TextBox 6">
              <a:extLst>
                <a:ext uri="{FF2B5EF4-FFF2-40B4-BE49-F238E27FC236}">
                  <a16:creationId xmlns:a16="http://schemas.microsoft.com/office/drawing/2014/main" id="{1AE79A29-4552-BE8A-22CF-D282E7919036}"/>
                </a:ext>
              </a:extLst>
            </p:cNvPr>
            <p:cNvSpPr txBox="1"/>
            <p:nvPr/>
          </p:nvSpPr>
          <p:spPr>
            <a:xfrm>
              <a:off x="1414818" y="4829425"/>
              <a:ext cx="362600" cy="461665"/>
            </a:xfrm>
            <a:prstGeom prst="rect">
              <a:avLst/>
            </a:prstGeom>
            <a:noFill/>
          </p:spPr>
          <p:txBody>
            <a:bodyPr wrap="none" rtlCol="0">
              <a:spAutoFit/>
            </a:bodyPr>
            <a:lstStyle/>
            <a:p>
              <a:r>
                <a:rPr lang="en-US" sz="2400" b="1" dirty="0"/>
                <a:t>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05FC18-6FB5-D0E1-5708-7D758ACAEF62}"/>
                    </a:ext>
                  </a:extLst>
                </p:cNvPr>
                <p:cNvSpPr txBox="1"/>
                <p:nvPr/>
              </p:nvSpPr>
              <p:spPr>
                <a:xfrm>
                  <a:off x="142764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C9846D7F-2704-85CD-C1AC-0F0880A2369B}"/>
                    </a:ext>
                  </a:extLst>
                </p:cNvPr>
                <p:cNvSpPr txBox="1">
                  <a:spLocks noRot="1" noChangeAspect="1" noMove="1" noResize="1" noEditPoints="1" noAdjustHandles="1" noChangeArrowheads="1" noChangeShapeType="1" noTextEdit="1"/>
                </p:cNvSpPr>
                <p:nvPr/>
              </p:nvSpPr>
              <p:spPr>
                <a:xfrm>
                  <a:off x="1427642" y="4363343"/>
                  <a:ext cx="303288" cy="369332"/>
                </a:xfrm>
                <a:prstGeom prst="rect">
                  <a:avLst/>
                </a:prstGeom>
                <a:blipFill>
                  <a:blip r:embed="rId20"/>
                  <a:stretch>
                    <a:fillRect/>
                  </a:stretch>
                </a:blipFill>
              </p:spPr>
              <p:txBody>
                <a:bodyPr/>
                <a:lstStyle/>
                <a:p>
                  <a:r>
                    <a:rPr lang="en-US">
                      <a:noFill/>
                    </a:rPr>
                    <a:t> </a:t>
                  </a:r>
                </a:p>
              </p:txBody>
            </p:sp>
          </mc:Fallback>
        </mc:AlternateContent>
      </p:grpSp>
      <p:grpSp>
        <p:nvGrpSpPr>
          <p:cNvPr id="29" name="Group 28">
            <a:extLst>
              <a:ext uri="{FF2B5EF4-FFF2-40B4-BE49-F238E27FC236}">
                <a16:creationId xmlns:a16="http://schemas.microsoft.com/office/drawing/2014/main" id="{196CD27B-259B-31B0-1130-F936F09EE1B3}"/>
              </a:ext>
            </a:extLst>
          </p:cNvPr>
          <p:cNvGrpSpPr/>
          <p:nvPr/>
        </p:nvGrpSpPr>
        <p:grpSpPr>
          <a:xfrm>
            <a:off x="3964023" y="1824661"/>
            <a:ext cx="4091367" cy="856129"/>
            <a:chOff x="1777418" y="1690688"/>
            <a:chExt cx="4091367" cy="856129"/>
          </a:xfrm>
        </p:grpSpPr>
        <p:sp>
          <p:nvSpPr>
            <p:cNvPr id="30" name="TextBox 29">
              <a:extLst>
                <a:ext uri="{FF2B5EF4-FFF2-40B4-BE49-F238E27FC236}">
                  <a16:creationId xmlns:a16="http://schemas.microsoft.com/office/drawing/2014/main" id="{F6E573F8-E35C-39E6-7FC4-862A198F1332}"/>
                </a:ext>
              </a:extLst>
            </p:cNvPr>
            <p:cNvSpPr txBox="1"/>
            <p:nvPr/>
          </p:nvSpPr>
          <p:spPr>
            <a:xfrm>
              <a:off x="3698169" y="1690688"/>
              <a:ext cx="903965" cy="461665"/>
            </a:xfrm>
            <a:prstGeom prst="rect">
              <a:avLst/>
            </a:prstGeom>
            <a:noFill/>
          </p:spPr>
          <p:txBody>
            <a:bodyPr wrap="none" rtlCol="0">
              <a:spAutoFit/>
            </a:bodyPr>
            <a:lstStyle/>
            <a:p>
              <a:r>
                <a:rPr lang="en-US" sz="2400" dirty="0"/>
                <a:t>Years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E969405-EE4A-78C8-1E1B-A28198D8B780}"/>
                    </a:ext>
                  </a:extLst>
                </p:cNvPr>
                <p:cNvSpPr txBox="1"/>
                <p:nvPr/>
              </p:nvSpPr>
              <p:spPr>
                <a:xfrm>
                  <a:off x="1777418" y="2085152"/>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𝟏</m:t>
                        </m:r>
                      </m:oMath>
                    </m:oMathPara>
                  </a14:m>
                  <a:endParaRPr lang="en-US" sz="2400" b="1" dirty="0"/>
                </a:p>
              </p:txBody>
            </p:sp>
          </mc:Choice>
          <mc:Fallback xmlns="">
            <p:sp>
              <p:nvSpPr>
                <p:cNvPr id="11" name="TextBox 10">
                  <a:extLst>
                    <a:ext uri="{FF2B5EF4-FFF2-40B4-BE49-F238E27FC236}">
                      <a16:creationId xmlns:a16="http://schemas.microsoft.com/office/drawing/2014/main" id="{B7D92E36-EB85-9D0A-D41C-8613155172BB}"/>
                    </a:ext>
                  </a:extLst>
                </p:cNvPr>
                <p:cNvSpPr txBox="1">
                  <a:spLocks noRot="1" noChangeAspect="1" noMove="1" noResize="1" noEditPoints="1" noAdjustHandles="1" noChangeArrowheads="1" noChangeShapeType="1" noTextEdit="1"/>
                </p:cNvSpPr>
                <p:nvPr/>
              </p:nvSpPr>
              <p:spPr>
                <a:xfrm>
                  <a:off x="1777418" y="2085152"/>
                  <a:ext cx="721672" cy="461665"/>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485C81B-9710-83E7-AED6-E3455BAA0A0B}"/>
                    </a:ext>
                  </a:extLst>
                </p:cNvPr>
                <p:cNvSpPr txBox="1"/>
                <p:nvPr/>
              </p:nvSpPr>
              <p:spPr>
                <a:xfrm>
                  <a:off x="2642674" y="2063418"/>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𝟐</m:t>
                        </m:r>
                      </m:oMath>
                    </m:oMathPara>
                  </a14:m>
                  <a:endParaRPr lang="en-US" sz="2400" b="1" dirty="0"/>
                </a:p>
              </p:txBody>
            </p:sp>
          </mc:Choice>
          <mc:Fallback xmlns="">
            <p:sp>
              <p:nvSpPr>
                <p:cNvPr id="12" name="TextBox 11">
                  <a:extLst>
                    <a:ext uri="{FF2B5EF4-FFF2-40B4-BE49-F238E27FC236}">
                      <a16:creationId xmlns:a16="http://schemas.microsoft.com/office/drawing/2014/main" id="{402FB0DE-75EC-4664-69FD-75A6C795D5BB}"/>
                    </a:ext>
                  </a:extLst>
                </p:cNvPr>
                <p:cNvSpPr txBox="1">
                  <a:spLocks noRot="1" noChangeAspect="1" noMove="1" noResize="1" noEditPoints="1" noAdjustHandles="1" noChangeArrowheads="1" noChangeShapeType="1" noTextEdit="1"/>
                </p:cNvSpPr>
                <p:nvPr/>
              </p:nvSpPr>
              <p:spPr>
                <a:xfrm>
                  <a:off x="2642674" y="2063418"/>
                  <a:ext cx="721672" cy="461665"/>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77DD5DB-185F-B57F-2EFB-553D68E02A98}"/>
                    </a:ext>
                  </a:extLst>
                </p:cNvPr>
                <p:cNvSpPr txBox="1"/>
                <p:nvPr/>
              </p:nvSpPr>
              <p:spPr>
                <a:xfrm>
                  <a:off x="5147113" y="2048610"/>
                  <a:ext cx="721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𝑻</m:t>
                        </m:r>
                      </m:oMath>
                    </m:oMathPara>
                  </a14:m>
                  <a:endParaRPr lang="en-US" sz="2400" b="1" dirty="0"/>
                </a:p>
              </p:txBody>
            </p:sp>
          </mc:Choice>
          <mc:Fallback xmlns="">
            <p:sp>
              <p:nvSpPr>
                <p:cNvPr id="13" name="TextBox 12">
                  <a:extLst>
                    <a:ext uri="{FF2B5EF4-FFF2-40B4-BE49-F238E27FC236}">
                      <a16:creationId xmlns:a16="http://schemas.microsoft.com/office/drawing/2014/main" id="{0E20781C-3533-5AF7-36CD-BEED3C47AB88}"/>
                    </a:ext>
                  </a:extLst>
                </p:cNvPr>
                <p:cNvSpPr txBox="1">
                  <a:spLocks noRot="1" noChangeAspect="1" noMove="1" noResize="1" noEditPoints="1" noAdjustHandles="1" noChangeArrowheads="1" noChangeShapeType="1" noTextEdit="1"/>
                </p:cNvSpPr>
                <p:nvPr/>
              </p:nvSpPr>
              <p:spPr>
                <a:xfrm>
                  <a:off x="5147113" y="2048610"/>
                  <a:ext cx="721672" cy="461665"/>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2E92067-3944-95B4-5B17-6132993FB76F}"/>
                    </a:ext>
                  </a:extLst>
                </p:cNvPr>
                <p:cNvSpPr txBox="1"/>
                <p:nvPr/>
              </p:nvSpPr>
              <p:spPr>
                <a:xfrm>
                  <a:off x="3712952" y="2139732"/>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p:txBody>
            </p:sp>
          </mc:Choice>
          <mc:Fallback xmlns="">
            <p:sp>
              <p:nvSpPr>
                <p:cNvPr id="65" name="TextBox 64">
                  <a:extLst>
                    <a:ext uri="{FF2B5EF4-FFF2-40B4-BE49-F238E27FC236}">
                      <a16:creationId xmlns:a16="http://schemas.microsoft.com/office/drawing/2014/main" id="{06E9F7E0-0F29-534C-92C0-DAAFE0E6029A}"/>
                    </a:ext>
                  </a:extLst>
                </p:cNvPr>
                <p:cNvSpPr txBox="1">
                  <a:spLocks noRot="1" noChangeAspect="1" noMove="1" noResize="1" noEditPoints="1" noAdjustHandles="1" noChangeArrowheads="1" noChangeShapeType="1" noTextEdit="1"/>
                </p:cNvSpPr>
                <p:nvPr/>
              </p:nvSpPr>
              <p:spPr>
                <a:xfrm>
                  <a:off x="3712952" y="2139732"/>
                  <a:ext cx="850773" cy="369332"/>
                </a:xfrm>
                <a:prstGeom prst="rect">
                  <a:avLst/>
                </a:prstGeom>
                <a:blipFill>
                  <a:blip r:embed="rId40"/>
                  <a:stretch>
                    <a:fillRect/>
                  </a:stretch>
                </a:blipFill>
              </p:spPr>
              <p:txBody>
                <a:bodyPr/>
                <a:lstStyle/>
                <a:p>
                  <a:r>
                    <a:rPr lang="en-US">
                      <a:noFill/>
                    </a:rPr>
                    <a:t> </a:t>
                  </a:r>
                </a:p>
              </p:txBody>
            </p:sp>
          </mc:Fallback>
        </mc:AlternateContent>
      </p:grpSp>
      <p:sp>
        <p:nvSpPr>
          <p:cNvPr id="35" name="Oval 34">
            <a:extLst>
              <a:ext uri="{FF2B5EF4-FFF2-40B4-BE49-F238E27FC236}">
                <a16:creationId xmlns:a16="http://schemas.microsoft.com/office/drawing/2014/main" id="{5C482B97-05AF-449C-897D-1F81183F6D4A}"/>
              </a:ext>
            </a:extLst>
          </p:cNvPr>
          <p:cNvSpPr/>
          <p:nvPr/>
        </p:nvSpPr>
        <p:spPr>
          <a:xfrm>
            <a:off x="4685695" y="3720381"/>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441B1D7-067C-5E74-A1B5-43DF6C1DCC81}"/>
              </a:ext>
            </a:extLst>
          </p:cNvPr>
          <p:cNvSpPr txBox="1"/>
          <p:nvPr/>
        </p:nvSpPr>
        <p:spPr>
          <a:xfrm>
            <a:off x="8667506" y="3396046"/>
            <a:ext cx="2403899" cy="830997"/>
          </a:xfrm>
          <a:prstGeom prst="rect">
            <a:avLst/>
          </a:prstGeom>
          <a:noFill/>
        </p:spPr>
        <p:txBody>
          <a:bodyPr wrap="square" rtlCol="0">
            <a:spAutoFit/>
          </a:bodyPr>
          <a:lstStyle/>
          <a:p>
            <a:pPr algn="ctr"/>
            <a:r>
              <a:rPr lang="en-US" sz="2400" dirty="0">
                <a:solidFill>
                  <a:schemeClr val="accent2"/>
                </a:solidFill>
              </a:rPr>
              <a:t>GDP of country 3 in time period 2</a:t>
            </a:r>
          </a:p>
        </p:txBody>
      </p:sp>
      <p:cxnSp>
        <p:nvCxnSpPr>
          <p:cNvPr id="38" name="Curved Connector 37">
            <a:extLst>
              <a:ext uri="{FF2B5EF4-FFF2-40B4-BE49-F238E27FC236}">
                <a16:creationId xmlns:a16="http://schemas.microsoft.com/office/drawing/2014/main" id="{3B6A126A-233F-23AA-79E8-CB38B43B5D86}"/>
              </a:ext>
            </a:extLst>
          </p:cNvPr>
          <p:cNvCxnSpPr>
            <a:cxnSpLocks/>
            <a:stCxn id="36" idx="1"/>
            <a:endCxn id="35" idx="6"/>
          </p:cNvCxnSpPr>
          <p:nvPr/>
        </p:nvCxnSpPr>
        <p:spPr>
          <a:xfrm rot="10800000" flipV="1">
            <a:off x="5791200" y="3811545"/>
            <a:ext cx="2876306" cy="297304"/>
          </a:xfrm>
          <a:prstGeom prst="curvedConnector3">
            <a:avLst>
              <a:gd name="adj1" fmla="val 50000"/>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4856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53DF3-6F2E-0DAE-AF27-87C37706F1A5}"/>
              </a:ext>
            </a:extLst>
          </p:cNvPr>
          <p:cNvSpPr>
            <a:spLocks noGrp="1"/>
          </p:cNvSpPr>
          <p:nvPr>
            <p:ph type="title"/>
          </p:nvPr>
        </p:nvSpPr>
        <p:spPr>
          <a:xfrm>
            <a:off x="838200" y="109122"/>
            <a:ext cx="10515600" cy="1325563"/>
          </a:xfrm>
        </p:spPr>
        <p:txBody>
          <a:bodyPr>
            <a:normAutofit/>
          </a:bodyPr>
          <a:lstStyle/>
          <a:p>
            <a:r>
              <a:rPr lang="en-US" sz="4000" dirty="0"/>
              <a:t>We have lots of information about countries…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1BABBA-EA21-B4EE-F7B0-4673714CDBCE}"/>
                  </a:ext>
                </a:extLst>
              </p:cNvPr>
              <p:cNvSpPr>
                <a:spLocks noGrp="1"/>
              </p:cNvSpPr>
              <p:nvPr>
                <p:ph idx="1"/>
              </p:nvPr>
            </p:nvSpPr>
            <p:spPr>
              <a:xfrm>
                <a:off x="838200" y="1531667"/>
                <a:ext cx="10515600" cy="5423315"/>
              </a:xfrm>
            </p:spPr>
            <p:txBody>
              <a:bodyPr>
                <a:normAutofit lnSpcReduction="10000"/>
              </a:bodyPr>
              <a:lstStyle/>
              <a:p>
                <a:r>
                  <a:rPr lang="en-US" dirty="0"/>
                  <a:t>Population and demographics</a:t>
                </a:r>
              </a:p>
              <a:p>
                <a:r>
                  <a:rPr lang="en-US" dirty="0"/>
                  <a:t>Education system</a:t>
                </a:r>
              </a:p>
              <a:p>
                <a:r>
                  <a:rPr lang="en-US" dirty="0"/>
                  <a:t>Tax system</a:t>
                </a:r>
              </a:p>
              <a:p>
                <a:r>
                  <a:rPr lang="en-US" dirty="0"/>
                  <a:t>International trade </a:t>
                </a:r>
              </a:p>
              <a:p>
                <a:r>
                  <a:rPr lang="en-US" dirty="0"/>
                  <a:t>Immigration </a:t>
                </a:r>
              </a:p>
              <a:p>
                <a:r>
                  <a:rPr lang="en-US" dirty="0"/>
                  <a:t>Social safety net</a:t>
                </a:r>
              </a:p>
              <a:p>
                <a:r>
                  <a:rPr lang="en-US" sz="2400" dirty="0"/>
                  <a:t>Number of large lakes</a:t>
                </a:r>
              </a:p>
              <a:p>
                <a:r>
                  <a:rPr lang="en-US" sz="2400" dirty="0"/>
                  <a:t>How big are the mountains?</a:t>
                </a:r>
              </a:p>
              <a:p>
                <a:r>
                  <a:rPr lang="en-US" sz="2400" dirty="0"/>
                  <a:t>Whether the name of the country starts with a “P”</a:t>
                </a:r>
              </a:p>
              <a:p>
                <a:r>
                  <a:rPr lang="en-US" sz="2000" dirty="0"/>
                  <a:t>If that country had a dog growing up</a:t>
                </a:r>
              </a:p>
              <a:p>
                <a:r>
                  <a:rPr lang="en-US" sz="1800" dirty="0"/>
                  <a:t>If that dog’s name was Fido</a:t>
                </a:r>
              </a:p>
              <a:p>
                <a:r>
                  <a:rPr lang="en-US" sz="1200" b="0" dirty="0"/>
                  <a:t> </a:t>
                </a:r>
                <a14:m>
                  <m:oMath xmlns:m="http://schemas.openxmlformats.org/officeDocument/2006/math">
                    <m:r>
                      <a:rPr lang="en-US" b="0" i="1" dirty="0" smtClean="0">
                        <a:latin typeface="Cambria Math" panose="02040503050406030204" pitchFamily="18" charset="0"/>
                      </a:rPr>
                      <m:t>⋮</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981BABBA-EA21-B4EE-F7B0-4673714CDBCE}"/>
                  </a:ext>
                </a:extLst>
              </p:cNvPr>
              <p:cNvSpPr>
                <a:spLocks noGrp="1" noRot="1" noChangeAspect="1" noMove="1" noResize="1" noEditPoints="1" noAdjustHandles="1" noChangeArrowheads="1" noChangeShapeType="1" noTextEdit="1"/>
              </p:cNvSpPr>
              <p:nvPr>
                <p:ph idx="1"/>
              </p:nvPr>
            </p:nvSpPr>
            <p:spPr>
              <a:xfrm>
                <a:off x="838200" y="1531667"/>
                <a:ext cx="10515600" cy="5423315"/>
              </a:xfrm>
              <a:blipFill>
                <a:blip r:embed="rId3"/>
                <a:stretch>
                  <a:fillRect l="-1086" t="-2570"/>
                </a:stretch>
              </a:blipFill>
            </p:spPr>
            <p:txBody>
              <a:bodyPr/>
              <a:lstStyle/>
              <a:p>
                <a:r>
                  <a:rPr lang="en-US">
                    <a:noFill/>
                  </a:rPr>
                  <a:t> </a:t>
                </a:r>
              </a:p>
            </p:txBody>
          </p:sp>
        </mc:Fallback>
      </mc:AlternateContent>
    </p:spTree>
    <p:extLst>
      <p:ext uri="{BB962C8B-B14F-4D97-AF65-F5344CB8AC3E}">
        <p14:creationId xmlns:p14="http://schemas.microsoft.com/office/powerpoint/2010/main" val="523573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C8592-C4FC-3FD4-2BEB-1009DE0E324B}"/>
              </a:ext>
            </a:extLst>
          </p:cNvPr>
          <p:cNvSpPr>
            <a:spLocks noGrp="1"/>
          </p:cNvSpPr>
          <p:nvPr>
            <p:ph type="title"/>
          </p:nvPr>
        </p:nvSpPr>
        <p:spPr>
          <a:xfrm>
            <a:off x="838200" y="23765"/>
            <a:ext cx="10515600" cy="1325563"/>
          </a:xfrm>
        </p:spPr>
        <p:txBody>
          <a:bodyPr>
            <a:normAutofit/>
          </a:bodyPr>
          <a:lstStyle/>
          <a:p>
            <a:r>
              <a:rPr lang="en-US" sz="2800" dirty="0"/>
              <a:t>If we pick a few covariates, </a:t>
            </a:r>
            <a:br>
              <a:rPr lang="en-US" dirty="0"/>
            </a:br>
            <a:r>
              <a:rPr lang="en-US" dirty="0"/>
              <a:t>we can do T regressions!</a:t>
            </a:r>
          </a:p>
        </p:txBody>
      </p:sp>
      <p:sp>
        <p:nvSpPr>
          <p:cNvPr id="5" name="Rectangle 4">
            <a:extLst>
              <a:ext uri="{FF2B5EF4-FFF2-40B4-BE49-F238E27FC236}">
                <a16:creationId xmlns:a16="http://schemas.microsoft.com/office/drawing/2014/main" id="{8DBEA0FE-1632-A47F-24A3-634F59A405B0}"/>
              </a:ext>
            </a:extLst>
          </p:cNvPr>
          <p:cNvSpPr/>
          <p:nvPr/>
        </p:nvSpPr>
        <p:spPr>
          <a:xfrm>
            <a:off x="1669773" y="2372139"/>
            <a:ext cx="2252869"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 name="TextBox 5">
            <a:extLst>
              <a:ext uri="{FF2B5EF4-FFF2-40B4-BE49-F238E27FC236}">
                <a16:creationId xmlns:a16="http://schemas.microsoft.com/office/drawing/2014/main" id="{10A0030B-B811-3405-0345-D10EFD3B341C}"/>
              </a:ext>
            </a:extLst>
          </p:cNvPr>
          <p:cNvSpPr txBox="1"/>
          <p:nvPr/>
        </p:nvSpPr>
        <p:spPr>
          <a:xfrm>
            <a:off x="-29817" y="4029524"/>
            <a:ext cx="1186070" cy="369332"/>
          </a:xfrm>
          <a:prstGeom prst="rect">
            <a:avLst/>
          </a:prstGeom>
          <a:solidFill>
            <a:schemeClr val="bg1"/>
          </a:solidFill>
        </p:spPr>
        <p:txBody>
          <a:bodyPr wrap="square" rtlCol="0">
            <a:spAutoFit/>
          </a:bodyPr>
          <a:lstStyle/>
          <a:p>
            <a:pPr algn="r"/>
            <a:r>
              <a:rPr lang="en-US" dirty="0"/>
              <a:t>Country </a:t>
            </a:r>
            <a:r>
              <a:rPr lang="en-US" dirty="0" err="1"/>
              <a:t>i</a:t>
            </a:r>
            <a:endParaRPr lang="en-US" dirty="0"/>
          </a:p>
        </p:txBody>
      </p:sp>
      <p:sp>
        <p:nvSpPr>
          <p:cNvPr id="7" name="Right Arrow 6">
            <a:extLst>
              <a:ext uri="{FF2B5EF4-FFF2-40B4-BE49-F238E27FC236}">
                <a16:creationId xmlns:a16="http://schemas.microsoft.com/office/drawing/2014/main" id="{F902C47E-B600-D4B8-FC96-4537A73DB97E}"/>
              </a:ext>
            </a:extLst>
          </p:cNvPr>
          <p:cNvSpPr/>
          <p:nvPr/>
        </p:nvSpPr>
        <p:spPr>
          <a:xfrm>
            <a:off x="1186070" y="4068416"/>
            <a:ext cx="364434" cy="2915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8DAD96-ACAC-DA75-D422-AAB7C334B733}"/>
              </a:ext>
            </a:extLst>
          </p:cNvPr>
          <p:cNvSpPr txBox="1"/>
          <p:nvPr/>
        </p:nvSpPr>
        <p:spPr>
          <a:xfrm rot="2497090">
            <a:off x="1218720" y="1881119"/>
            <a:ext cx="902106" cy="276999"/>
          </a:xfrm>
          <a:prstGeom prst="rect">
            <a:avLst/>
          </a:prstGeom>
          <a:noFill/>
        </p:spPr>
        <p:txBody>
          <a:bodyPr wrap="none" rtlCol="0">
            <a:spAutoFit/>
          </a:bodyPr>
          <a:lstStyle/>
          <a:p>
            <a:r>
              <a:rPr lang="en-US" sz="1200" dirty="0"/>
              <a:t>Population</a:t>
            </a:r>
          </a:p>
        </p:txBody>
      </p:sp>
      <p:sp>
        <p:nvSpPr>
          <p:cNvPr id="9" name="TextBox 8">
            <a:extLst>
              <a:ext uri="{FF2B5EF4-FFF2-40B4-BE49-F238E27FC236}">
                <a16:creationId xmlns:a16="http://schemas.microsoft.com/office/drawing/2014/main" id="{B61B3C12-77BC-0385-3153-F001D9D66EA2}"/>
              </a:ext>
            </a:extLst>
          </p:cNvPr>
          <p:cNvSpPr txBox="1"/>
          <p:nvPr/>
        </p:nvSpPr>
        <p:spPr>
          <a:xfrm rot="2497090">
            <a:off x="1804221" y="1881118"/>
            <a:ext cx="733149" cy="276999"/>
          </a:xfrm>
          <a:prstGeom prst="rect">
            <a:avLst/>
          </a:prstGeom>
          <a:noFill/>
        </p:spPr>
        <p:txBody>
          <a:bodyPr wrap="none" rtlCol="0">
            <a:spAutoFit/>
          </a:bodyPr>
          <a:lstStyle/>
          <a:p>
            <a:r>
              <a:rPr lang="en-US" sz="1200" dirty="0"/>
              <a:t>Inflation</a:t>
            </a:r>
          </a:p>
        </p:txBody>
      </p:sp>
      <p:sp>
        <p:nvSpPr>
          <p:cNvPr id="10" name="TextBox 9">
            <a:extLst>
              <a:ext uri="{FF2B5EF4-FFF2-40B4-BE49-F238E27FC236}">
                <a16:creationId xmlns:a16="http://schemas.microsoft.com/office/drawing/2014/main" id="{D2D47CC5-E47B-FAF8-69C9-5843FC0EBBF8}"/>
              </a:ext>
            </a:extLst>
          </p:cNvPr>
          <p:cNvSpPr txBox="1"/>
          <p:nvPr/>
        </p:nvSpPr>
        <p:spPr>
          <a:xfrm rot="2497090">
            <a:off x="2359453" y="1960480"/>
            <a:ext cx="548292" cy="276999"/>
          </a:xfrm>
          <a:prstGeom prst="rect">
            <a:avLst/>
          </a:prstGeom>
          <a:noFill/>
        </p:spPr>
        <p:txBody>
          <a:bodyPr wrap="none" rtlCol="0">
            <a:spAutoFit/>
          </a:bodyPr>
          <a:lstStyle/>
          <a:p>
            <a:r>
              <a:rPr lang="en-US" sz="1200" dirty="0"/>
              <a:t>Trade</a:t>
            </a:r>
          </a:p>
        </p:txBody>
      </p:sp>
      <p:sp>
        <p:nvSpPr>
          <p:cNvPr id="11" name="TextBox 10">
            <a:extLst>
              <a:ext uri="{FF2B5EF4-FFF2-40B4-BE49-F238E27FC236}">
                <a16:creationId xmlns:a16="http://schemas.microsoft.com/office/drawing/2014/main" id="{786CCFCC-A5F5-8DE8-D041-3264014172DF}"/>
              </a:ext>
            </a:extLst>
          </p:cNvPr>
          <p:cNvSpPr txBox="1"/>
          <p:nvPr/>
        </p:nvSpPr>
        <p:spPr>
          <a:xfrm rot="2497090">
            <a:off x="2438798" y="1866661"/>
            <a:ext cx="983474" cy="276999"/>
          </a:xfrm>
          <a:prstGeom prst="rect">
            <a:avLst/>
          </a:prstGeom>
          <a:noFill/>
        </p:spPr>
        <p:txBody>
          <a:bodyPr wrap="none" rtlCol="0">
            <a:spAutoFit/>
          </a:bodyPr>
          <a:lstStyle/>
          <a:p>
            <a:r>
              <a:rPr lang="en-US" sz="1200" dirty="0"/>
              <a:t>Immigration</a:t>
            </a:r>
          </a:p>
        </p:txBody>
      </p:sp>
      <p:sp>
        <p:nvSpPr>
          <p:cNvPr id="12" name="TextBox 11">
            <a:extLst>
              <a:ext uri="{FF2B5EF4-FFF2-40B4-BE49-F238E27FC236}">
                <a16:creationId xmlns:a16="http://schemas.microsoft.com/office/drawing/2014/main" id="{01DE66A7-B35C-97E2-F151-C29C24D5A1DC}"/>
              </a:ext>
            </a:extLst>
          </p:cNvPr>
          <p:cNvSpPr txBox="1"/>
          <p:nvPr/>
        </p:nvSpPr>
        <p:spPr>
          <a:xfrm rot="2497090">
            <a:off x="3367150" y="2056062"/>
            <a:ext cx="314510" cy="276999"/>
          </a:xfrm>
          <a:prstGeom prst="rect">
            <a:avLst/>
          </a:prstGeom>
          <a:noFill/>
        </p:spPr>
        <p:txBody>
          <a:bodyPr wrap="none" rtlCol="0">
            <a:spAutoFit/>
          </a:bodyPr>
          <a:lstStyle/>
          <a:p>
            <a:r>
              <a:rPr lang="en-US" sz="1200" dirty="0"/>
              <a:t>…</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571D92-0258-C69A-09D7-13DB358D4292}"/>
                  </a:ext>
                </a:extLst>
              </p:cNvPr>
              <p:cNvSpPr txBox="1"/>
              <p:nvPr/>
            </p:nvSpPr>
            <p:spPr>
              <a:xfrm>
                <a:off x="569064" y="4981741"/>
                <a:ext cx="843949" cy="646331"/>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𝑛</m:t>
                    </m:r>
                  </m:oMath>
                </a14:m>
                <a:r>
                  <a:rPr lang="en-US" dirty="0"/>
                  <a:t> rows</a:t>
                </a:r>
              </a:p>
              <a:p>
                <a:pPr algn="ctr"/>
                <a:r>
                  <a:rPr lang="en-US" dirty="0"/>
                  <a:t>total </a:t>
                </a:r>
              </a:p>
            </p:txBody>
          </p:sp>
        </mc:Choice>
        <mc:Fallback xmlns="">
          <p:sp>
            <p:nvSpPr>
              <p:cNvPr id="13" name="TextBox 12">
                <a:extLst>
                  <a:ext uri="{FF2B5EF4-FFF2-40B4-BE49-F238E27FC236}">
                    <a16:creationId xmlns:a16="http://schemas.microsoft.com/office/drawing/2014/main" id="{8F571D92-0258-C69A-09D7-13DB358D4292}"/>
                  </a:ext>
                </a:extLst>
              </p:cNvPr>
              <p:cNvSpPr txBox="1">
                <a:spLocks noRot="1" noChangeAspect="1" noMove="1" noResize="1" noEditPoints="1" noAdjustHandles="1" noChangeArrowheads="1" noChangeShapeType="1" noTextEdit="1"/>
              </p:cNvSpPr>
              <p:nvPr/>
            </p:nvSpPr>
            <p:spPr>
              <a:xfrm>
                <a:off x="569064" y="4981741"/>
                <a:ext cx="843949" cy="646331"/>
              </a:xfrm>
              <a:prstGeom prst="rect">
                <a:avLst/>
              </a:prstGeom>
              <a:blipFill>
                <a:blip r:embed="rId3"/>
                <a:stretch>
                  <a:fillRect t="-3846" r="-4412"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9FDDF82-1484-A3AF-740E-52118D3A273B}"/>
                  </a:ext>
                </a:extLst>
              </p:cNvPr>
              <p:cNvSpPr/>
              <p:nvPr/>
            </p:nvSpPr>
            <p:spPr>
              <a:xfrm>
                <a:off x="4088451" y="2384598"/>
                <a:ext cx="390782" cy="19753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𝜷</m:t>
                          </m:r>
                        </m:e>
                        <m:sub>
                          <m:r>
                            <a:rPr lang="en-US" b="1" i="1" smtClean="0">
                              <a:solidFill>
                                <a:schemeClr val="tx1"/>
                              </a:solidFill>
                              <a:latin typeface="Cambria Math" panose="02040503050406030204" pitchFamily="18" charset="0"/>
                            </a:rPr>
                            <m:t>𝒕</m:t>
                          </m:r>
                        </m:sub>
                      </m:sSub>
                    </m:oMath>
                  </m:oMathPara>
                </a14:m>
                <a:endParaRPr lang="en-US" b="1" dirty="0">
                  <a:solidFill>
                    <a:schemeClr val="tx1"/>
                  </a:solidFill>
                </a:endParaRPr>
              </a:p>
            </p:txBody>
          </p:sp>
        </mc:Choice>
        <mc:Fallback xmlns="">
          <p:sp>
            <p:nvSpPr>
              <p:cNvPr id="14" name="Rectangle 13">
                <a:extLst>
                  <a:ext uri="{FF2B5EF4-FFF2-40B4-BE49-F238E27FC236}">
                    <a16:creationId xmlns:a16="http://schemas.microsoft.com/office/drawing/2014/main" id="{F9FDDF82-1484-A3AF-740E-52118D3A273B}"/>
                  </a:ext>
                </a:extLst>
              </p:cNvPr>
              <p:cNvSpPr>
                <a:spLocks noRot="1" noChangeAspect="1" noMove="1" noResize="1" noEditPoints="1" noAdjustHandles="1" noChangeArrowheads="1" noChangeShapeType="1" noTextEdit="1"/>
              </p:cNvSpPr>
              <p:nvPr/>
            </p:nvSpPr>
            <p:spPr>
              <a:xfrm>
                <a:off x="4088451" y="2384598"/>
                <a:ext cx="390782" cy="1975367"/>
              </a:xfrm>
              <a:prstGeom prst="rect">
                <a:avLst/>
              </a:prstGeom>
              <a:blipFill>
                <a:blip r:embed="rId4"/>
                <a:stretch>
                  <a:fillRect l="-12121"/>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3EF2990C-2863-4C65-8E6C-132D4F2C6F18}"/>
              </a:ext>
            </a:extLst>
          </p:cNvPr>
          <p:cNvSpPr/>
          <p:nvPr/>
        </p:nvSpPr>
        <p:spPr>
          <a:xfrm>
            <a:off x="5569812" y="2384598"/>
            <a:ext cx="526188" cy="357739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5C834A-D976-2AF3-1E9C-9402CFEE3DD5}"/>
                  </a:ext>
                </a:extLst>
              </p:cNvPr>
              <p:cNvSpPr txBox="1"/>
              <p:nvPr/>
            </p:nvSpPr>
            <p:spPr>
              <a:xfrm>
                <a:off x="1703945" y="4068416"/>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m:rPr>
                            <m:sty m:val="p"/>
                          </m:rPr>
                          <a:rPr lang="en-US" b="0" i="0" smtClean="0">
                            <a:latin typeface="Cambria Math" panose="02040503050406030204" pitchFamily="18" charset="0"/>
                          </a:rPr>
                          <m:t>i</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m:rPr>
                            <m:sty m:val="p"/>
                          </m:rPr>
                          <a:rPr lang="en-US" b="0" i="0" smtClean="0">
                            <a:latin typeface="Cambria Math" panose="02040503050406030204" pitchFamily="18" charset="0"/>
                          </a:rPr>
                          <m:t>i</m:t>
                        </m:r>
                      </m:sub>
                    </m:sSub>
                  </m:oMath>
                </a14:m>
                <a:r>
                  <a:rPr lang="en-US" dirty="0"/>
                  <a:t> …</a:t>
                </a:r>
              </a:p>
            </p:txBody>
          </p:sp>
        </mc:Choice>
        <mc:Fallback xmlns="">
          <p:sp>
            <p:nvSpPr>
              <p:cNvPr id="16" name="TextBox 15">
                <a:extLst>
                  <a:ext uri="{FF2B5EF4-FFF2-40B4-BE49-F238E27FC236}">
                    <a16:creationId xmlns:a16="http://schemas.microsoft.com/office/drawing/2014/main" id="{B25C834A-D976-2AF3-1E9C-9402CFEE3DD5}"/>
                  </a:ext>
                </a:extLst>
              </p:cNvPr>
              <p:cNvSpPr txBox="1">
                <a:spLocks noRot="1" noChangeAspect="1" noMove="1" noResize="1" noEditPoints="1" noAdjustHandles="1" noChangeArrowheads="1" noChangeShapeType="1" noTextEdit="1"/>
              </p:cNvSpPr>
              <p:nvPr/>
            </p:nvSpPr>
            <p:spPr>
              <a:xfrm>
                <a:off x="1703945" y="4068416"/>
                <a:ext cx="2175975" cy="381515"/>
              </a:xfrm>
              <a:prstGeom prst="rect">
                <a:avLst/>
              </a:prstGeom>
              <a:blipFill>
                <a:blip r:embed="rId5"/>
                <a:stretch>
                  <a:fillRect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1FEE47-DEBF-5D66-E0D3-3B81388B3389}"/>
                  </a:ext>
                </a:extLst>
              </p:cNvPr>
              <p:cNvSpPr txBox="1"/>
              <p:nvPr/>
            </p:nvSpPr>
            <p:spPr>
              <a:xfrm>
                <a:off x="4708973" y="3637529"/>
                <a:ext cx="63109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FD1FEE47-DEBF-5D66-E0D3-3B81388B3389}"/>
                  </a:ext>
                </a:extLst>
              </p:cNvPr>
              <p:cNvSpPr txBox="1">
                <a:spLocks noRot="1" noChangeAspect="1" noMove="1" noResize="1" noEditPoints="1" noAdjustHandles="1" noChangeArrowheads="1" noChangeShapeType="1" noTextEdit="1"/>
              </p:cNvSpPr>
              <p:nvPr/>
            </p:nvSpPr>
            <p:spPr>
              <a:xfrm>
                <a:off x="4708973" y="3637529"/>
                <a:ext cx="631098"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3F01592-588D-F6EB-4D20-0074524BD175}"/>
                  </a:ext>
                </a:extLst>
              </p:cNvPr>
              <p:cNvSpPr txBox="1"/>
              <p:nvPr/>
            </p:nvSpPr>
            <p:spPr>
              <a:xfrm>
                <a:off x="1701941" y="2464209"/>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a:rPr lang="en-US" b="0" i="0" smtClean="0">
                            <a:latin typeface="Cambria Math" panose="02040503050406030204" pitchFamily="18" charset="0"/>
                          </a:rPr>
                          <m:t>1</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a:rPr lang="en-US" b="0" i="0" smtClean="0">
                            <a:latin typeface="Cambria Math" panose="02040503050406030204" pitchFamily="18" charset="0"/>
                          </a:rPr>
                          <m:t>1</m:t>
                        </m:r>
                      </m:sub>
                    </m:sSub>
                  </m:oMath>
                </a14:m>
                <a:r>
                  <a:rPr lang="en-US" dirty="0"/>
                  <a:t> …</a:t>
                </a:r>
              </a:p>
            </p:txBody>
          </p:sp>
        </mc:Choice>
        <mc:Fallback xmlns="">
          <p:sp>
            <p:nvSpPr>
              <p:cNvPr id="20" name="TextBox 19">
                <a:extLst>
                  <a:ext uri="{FF2B5EF4-FFF2-40B4-BE49-F238E27FC236}">
                    <a16:creationId xmlns:a16="http://schemas.microsoft.com/office/drawing/2014/main" id="{83F01592-588D-F6EB-4D20-0074524BD175}"/>
                  </a:ext>
                </a:extLst>
              </p:cNvPr>
              <p:cNvSpPr txBox="1">
                <a:spLocks noRot="1" noChangeAspect="1" noMove="1" noResize="1" noEditPoints="1" noAdjustHandles="1" noChangeArrowheads="1" noChangeShapeType="1" noTextEdit="1"/>
              </p:cNvSpPr>
              <p:nvPr/>
            </p:nvSpPr>
            <p:spPr>
              <a:xfrm>
                <a:off x="1701941" y="2464209"/>
                <a:ext cx="2175975" cy="381515"/>
              </a:xfrm>
              <a:prstGeom prst="rect">
                <a:avLst/>
              </a:prstGeom>
              <a:blipFill>
                <a:blip r:embed="rId7"/>
                <a:stretch>
                  <a:fillRect t="-3125"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3BB26F3-FA3F-F73A-FB82-EDFD50C3238D}"/>
                  </a:ext>
                </a:extLst>
              </p:cNvPr>
              <p:cNvSpPr txBox="1"/>
              <p:nvPr/>
            </p:nvSpPr>
            <p:spPr>
              <a:xfrm>
                <a:off x="1701940" y="2954699"/>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a:rPr lang="en-US" b="0" i="0" smtClean="0">
                            <a:latin typeface="Cambria Math" panose="02040503050406030204" pitchFamily="18" charset="0"/>
                          </a:rPr>
                          <m:t>2</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a:rPr lang="en-US" b="0" i="0" smtClean="0">
                            <a:latin typeface="Cambria Math" panose="02040503050406030204" pitchFamily="18" charset="0"/>
                          </a:rPr>
                          <m:t>2</m:t>
                        </m:r>
                      </m:sub>
                    </m:sSub>
                  </m:oMath>
                </a14:m>
                <a:r>
                  <a:rPr lang="en-US" dirty="0"/>
                  <a:t> …</a:t>
                </a:r>
              </a:p>
            </p:txBody>
          </p:sp>
        </mc:Choice>
        <mc:Fallback xmlns="">
          <p:sp>
            <p:nvSpPr>
              <p:cNvPr id="21" name="TextBox 20">
                <a:extLst>
                  <a:ext uri="{FF2B5EF4-FFF2-40B4-BE49-F238E27FC236}">
                    <a16:creationId xmlns:a16="http://schemas.microsoft.com/office/drawing/2014/main" id="{53BB26F3-FA3F-F73A-FB82-EDFD50C3238D}"/>
                  </a:ext>
                </a:extLst>
              </p:cNvPr>
              <p:cNvSpPr txBox="1">
                <a:spLocks noRot="1" noChangeAspect="1" noMove="1" noResize="1" noEditPoints="1" noAdjustHandles="1" noChangeArrowheads="1" noChangeShapeType="1" noTextEdit="1"/>
              </p:cNvSpPr>
              <p:nvPr/>
            </p:nvSpPr>
            <p:spPr>
              <a:xfrm>
                <a:off x="1701940" y="2954699"/>
                <a:ext cx="2175975" cy="381515"/>
              </a:xfrm>
              <a:prstGeom prst="rect">
                <a:avLst/>
              </a:prstGeom>
              <a:blipFill>
                <a:blip r:embed="rId8"/>
                <a:stretch>
                  <a:fillRect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478F7FE-1709-4D21-88CE-01462D2ABF53}"/>
                  </a:ext>
                </a:extLst>
              </p:cNvPr>
              <p:cNvSpPr txBox="1"/>
              <p:nvPr/>
            </p:nvSpPr>
            <p:spPr>
              <a:xfrm>
                <a:off x="5340071" y="4068416"/>
                <a:ext cx="1013789"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𝑖</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𝑡</m:t>
                          </m:r>
                        </m:sub>
                      </m:sSub>
                    </m:oMath>
                  </m:oMathPara>
                </a14:m>
                <a:endParaRPr lang="en-US" dirty="0"/>
              </a:p>
            </p:txBody>
          </p:sp>
        </mc:Choice>
        <mc:Fallback xmlns="">
          <p:sp>
            <p:nvSpPr>
              <p:cNvPr id="23" name="TextBox 22">
                <a:extLst>
                  <a:ext uri="{FF2B5EF4-FFF2-40B4-BE49-F238E27FC236}">
                    <a16:creationId xmlns:a16="http://schemas.microsoft.com/office/drawing/2014/main" id="{2478F7FE-1709-4D21-88CE-01462D2ABF53}"/>
                  </a:ext>
                </a:extLst>
              </p:cNvPr>
              <p:cNvSpPr txBox="1">
                <a:spLocks noRot="1" noChangeAspect="1" noMove="1" noResize="1" noEditPoints="1" noAdjustHandles="1" noChangeArrowheads="1" noChangeShapeType="1" noTextEdit="1"/>
              </p:cNvSpPr>
              <p:nvPr/>
            </p:nvSpPr>
            <p:spPr>
              <a:xfrm>
                <a:off x="5340071" y="4068416"/>
                <a:ext cx="1013789" cy="38151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2C46EBD-3C97-1209-90B1-A8233196CD98}"/>
                  </a:ext>
                </a:extLst>
              </p:cNvPr>
              <p:cNvSpPr txBox="1"/>
              <p:nvPr/>
            </p:nvSpPr>
            <p:spPr>
              <a:xfrm>
                <a:off x="5326011" y="2435295"/>
                <a:ext cx="1013789"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1,</m:t>
                          </m:r>
                          <m:r>
                            <a:rPr lang="en-US" b="0" i="1" smtClean="0">
                              <a:solidFill>
                                <a:schemeClr val="bg1"/>
                              </a:solidFill>
                              <a:latin typeface="Cambria Math" panose="02040503050406030204" pitchFamily="18" charset="0"/>
                            </a:rPr>
                            <m:t>𝑡</m:t>
                          </m:r>
                        </m:sub>
                      </m:sSub>
                    </m:oMath>
                  </m:oMathPara>
                </a14:m>
                <a:endParaRPr lang="en-US" dirty="0"/>
              </a:p>
            </p:txBody>
          </p:sp>
        </mc:Choice>
        <mc:Fallback xmlns="">
          <p:sp>
            <p:nvSpPr>
              <p:cNvPr id="24" name="TextBox 23">
                <a:extLst>
                  <a:ext uri="{FF2B5EF4-FFF2-40B4-BE49-F238E27FC236}">
                    <a16:creationId xmlns:a16="http://schemas.microsoft.com/office/drawing/2014/main" id="{12C46EBD-3C97-1209-90B1-A8233196CD98}"/>
                  </a:ext>
                </a:extLst>
              </p:cNvPr>
              <p:cNvSpPr txBox="1">
                <a:spLocks noRot="1" noChangeAspect="1" noMove="1" noResize="1" noEditPoints="1" noAdjustHandles="1" noChangeArrowheads="1" noChangeShapeType="1" noTextEdit="1"/>
              </p:cNvSpPr>
              <p:nvPr/>
            </p:nvSpPr>
            <p:spPr>
              <a:xfrm>
                <a:off x="5326011" y="2435295"/>
                <a:ext cx="1013789" cy="3815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2670B74-30F7-7575-8D2A-21EBA8818E78}"/>
                  </a:ext>
                </a:extLst>
              </p:cNvPr>
              <p:cNvSpPr txBox="1"/>
              <p:nvPr/>
            </p:nvSpPr>
            <p:spPr>
              <a:xfrm>
                <a:off x="5340071" y="2909059"/>
                <a:ext cx="1013789"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rPr>
                            <m:t>𝑡</m:t>
                          </m:r>
                        </m:sub>
                      </m:sSub>
                    </m:oMath>
                  </m:oMathPara>
                </a14:m>
                <a:endParaRPr lang="en-US" dirty="0"/>
              </a:p>
            </p:txBody>
          </p:sp>
        </mc:Choice>
        <mc:Fallback xmlns="">
          <p:sp>
            <p:nvSpPr>
              <p:cNvPr id="25" name="TextBox 24">
                <a:extLst>
                  <a:ext uri="{FF2B5EF4-FFF2-40B4-BE49-F238E27FC236}">
                    <a16:creationId xmlns:a16="http://schemas.microsoft.com/office/drawing/2014/main" id="{C2670B74-30F7-7575-8D2A-21EBA8818E78}"/>
                  </a:ext>
                </a:extLst>
              </p:cNvPr>
              <p:cNvSpPr txBox="1">
                <a:spLocks noRot="1" noChangeAspect="1" noMove="1" noResize="1" noEditPoints="1" noAdjustHandles="1" noChangeArrowheads="1" noChangeShapeType="1" noTextEdit="1"/>
              </p:cNvSpPr>
              <p:nvPr/>
            </p:nvSpPr>
            <p:spPr>
              <a:xfrm>
                <a:off x="5340071" y="2909059"/>
                <a:ext cx="1013789" cy="38151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0E99964-ED84-F56C-072C-D5BB28743FCD}"/>
                  </a:ext>
                </a:extLst>
              </p:cNvPr>
              <p:cNvSpPr txBox="1"/>
              <p:nvPr/>
            </p:nvSpPr>
            <p:spPr>
              <a:xfrm>
                <a:off x="432131" y="1193484"/>
                <a:ext cx="1852815" cy="523220"/>
              </a:xfrm>
              <a:prstGeom prst="rect">
                <a:avLst/>
              </a:prstGeom>
              <a:noFill/>
            </p:spPr>
            <p:txBody>
              <a:bodyPr wrap="none" rtlCol="0">
                <a:spAutoFit/>
              </a:bodyPr>
              <a:lstStyle/>
              <a:p>
                <a:r>
                  <a:rPr lang="en-US" sz="2800" dirty="0">
                    <a:solidFill>
                      <a:srgbClr val="8C1516"/>
                    </a:solidFill>
                  </a:rPr>
                  <a:t>For each </a:t>
                </a:r>
                <a14:m>
                  <m:oMath xmlns:m="http://schemas.openxmlformats.org/officeDocument/2006/math">
                    <m:r>
                      <a:rPr lang="en-US" sz="2800" i="1" dirty="0" smtClean="0">
                        <a:solidFill>
                          <a:srgbClr val="8C1516"/>
                        </a:solidFill>
                        <a:latin typeface="Cambria Math" panose="02040503050406030204" pitchFamily="18" charset="0"/>
                      </a:rPr>
                      <m:t>𝑡</m:t>
                    </m:r>
                  </m:oMath>
                </a14:m>
                <a:r>
                  <a:rPr lang="en-US" sz="2800" dirty="0">
                    <a:solidFill>
                      <a:srgbClr val="8C1516"/>
                    </a:solidFill>
                  </a:rPr>
                  <a:t>:</a:t>
                </a:r>
              </a:p>
            </p:txBody>
          </p:sp>
        </mc:Choice>
        <mc:Fallback xmlns="">
          <p:sp>
            <p:nvSpPr>
              <p:cNvPr id="26" name="TextBox 25">
                <a:extLst>
                  <a:ext uri="{FF2B5EF4-FFF2-40B4-BE49-F238E27FC236}">
                    <a16:creationId xmlns:a16="http://schemas.microsoft.com/office/drawing/2014/main" id="{40E99964-ED84-F56C-072C-D5BB28743FCD}"/>
                  </a:ext>
                </a:extLst>
              </p:cNvPr>
              <p:cNvSpPr txBox="1">
                <a:spLocks noRot="1" noChangeAspect="1" noMove="1" noResize="1" noEditPoints="1" noAdjustHandles="1" noChangeArrowheads="1" noChangeShapeType="1" noTextEdit="1"/>
              </p:cNvSpPr>
              <p:nvPr/>
            </p:nvSpPr>
            <p:spPr>
              <a:xfrm>
                <a:off x="432131" y="1193484"/>
                <a:ext cx="1852815" cy="523220"/>
              </a:xfrm>
              <a:prstGeom prst="rect">
                <a:avLst/>
              </a:prstGeom>
              <a:blipFill>
                <a:blip r:embed="rId12"/>
                <a:stretch>
                  <a:fillRect l="-6849" t="-14286" r="-6164" b="-30952"/>
                </a:stretch>
              </a:blipFill>
            </p:spPr>
            <p:txBody>
              <a:bodyPr/>
              <a:lstStyle/>
              <a:p>
                <a:r>
                  <a:rPr lang="en-US">
                    <a:noFill/>
                  </a:rPr>
                  <a:t> </a:t>
                </a:r>
              </a:p>
            </p:txBody>
          </p:sp>
        </mc:Fallback>
      </mc:AlternateContent>
    </p:spTree>
    <p:extLst>
      <p:ext uri="{BB962C8B-B14F-4D97-AF65-F5344CB8AC3E}">
        <p14:creationId xmlns:p14="http://schemas.microsoft.com/office/powerpoint/2010/main" val="3282441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DBEA0FE-1632-A47F-24A3-634F59A405B0}"/>
              </a:ext>
            </a:extLst>
          </p:cNvPr>
          <p:cNvSpPr/>
          <p:nvPr/>
        </p:nvSpPr>
        <p:spPr>
          <a:xfrm>
            <a:off x="1669773" y="2372139"/>
            <a:ext cx="2252869"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 name="TextBox 5">
            <a:extLst>
              <a:ext uri="{FF2B5EF4-FFF2-40B4-BE49-F238E27FC236}">
                <a16:creationId xmlns:a16="http://schemas.microsoft.com/office/drawing/2014/main" id="{10A0030B-B811-3405-0345-D10EFD3B341C}"/>
              </a:ext>
            </a:extLst>
          </p:cNvPr>
          <p:cNvSpPr txBox="1"/>
          <p:nvPr/>
        </p:nvSpPr>
        <p:spPr>
          <a:xfrm>
            <a:off x="-29817" y="4029524"/>
            <a:ext cx="1186070" cy="369332"/>
          </a:xfrm>
          <a:prstGeom prst="rect">
            <a:avLst/>
          </a:prstGeom>
          <a:solidFill>
            <a:schemeClr val="bg1"/>
          </a:solidFill>
        </p:spPr>
        <p:txBody>
          <a:bodyPr wrap="square" rtlCol="0">
            <a:spAutoFit/>
          </a:bodyPr>
          <a:lstStyle/>
          <a:p>
            <a:pPr algn="r"/>
            <a:r>
              <a:rPr lang="en-US" dirty="0"/>
              <a:t>Country </a:t>
            </a:r>
            <a:r>
              <a:rPr lang="en-US" dirty="0" err="1"/>
              <a:t>i</a:t>
            </a:r>
            <a:endParaRPr lang="en-US" dirty="0"/>
          </a:p>
        </p:txBody>
      </p:sp>
      <p:sp>
        <p:nvSpPr>
          <p:cNvPr id="7" name="Right Arrow 6">
            <a:extLst>
              <a:ext uri="{FF2B5EF4-FFF2-40B4-BE49-F238E27FC236}">
                <a16:creationId xmlns:a16="http://schemas.microsoft.com/office/drawing/2014/main" id="{F902C47E-B600-D4B8-FC96-4537A73DB97E}"/>
              </a:ext>
            </a:extLst>
          </p:cNvPr>
          <p:cNvSpPr/>
          <p:nvPr/>
        </p:nvSpPr>
        <p:spPr>
          <a:xfrm>
            <a:off x="1186070" y="4068416"/>
            <a:ext cx="364434" cy="2915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8DAD96-ACAC-DA75-D422-AAB7C334B733}"/>
              </a:ext>
            </a:extLst>
          </p:cNvPr>
          <p:cNvSpPr txBox="1"/>
          <p:nvPr/>
        </p:nvSpPr>
        <p:spPr>
          <a:xfrm rot="2497090">
            <a:off x="1218720" y="1881119"/>
            <a:ext cx="902106" cy="276999"/>
          </a:xfrm>
          <a:prstGeom prst="rect">
            <a:avLst/>
          </a:prstGeom>
          <a:noFill/>
        </p:spPr>
        <p:txBody>
          <a:bodyPr wrap="none" rtlCol="0">
            <a:spAutoFit/>
          </a:bodyPr>
          <a:lstStyle/>
          <a:p>
            <a:r>
              <a:rPr lang="en-US" sz="1200" dirty="0"/>
              <a:t>Population</a:t>
            </a:r>
          </a:p>
        </p:txBody>
      </p:sp>
      <p:sp>
        <p:nvSpPr>
          <p:cNvPr id="9" name="TextBox 8">
            <a:extLst>
              <a:ext uri="{FF2B5EF4-FFF2-40B4-BE49-F238E27FC236}">
                <a16:creationId xmlns:a16="http://schemas.microsoft.com/office/drawing/2014/main" id="{B61B3C12-77BC-0385-3153-F001D9D66EA2}"/>
              </a:ext>
            </a:extLst>
          </p:cNvPr>
          <p:cNvSpPr txBox="1"/>
          <p:nvPr/>
        </p:nvSpPr>
        <p:spPr>
          <a:xfrm rot="2497090">
            <a:off x="1804221" y="1881118"/>
            <a:ext cx="733149" cy="276999"/>
          </a:xfrm>
          <a:prstGeom prst="rect">
            <a:avLst/>
          </a:prstGeom>
          <a:noFill/>
        </p:spPr>
        <p:txBody>
          <a:bodyPr wrap="none" rtlCol="0">
            <a:spAutoFit/>
          </a:bodyPr>
          <a:lstStyle/>
          <a:p>
            <a:r>
              <a:rPr lang="en-US" sz="1200" dirty="0"/>
              <a:t>Inflation</a:t>
            </a:r>
          </a:p>
        </p:txBody>
      </p:sp>
      <p:sp>
        <p:nvSpPr>
          <p:cNvPr id="10" name="TextBox 9">
            <a:extLst>
              <a:ext uri="{FF2B5EF4-FFF2-40B4-BE49-F238E27FC236}">
                <a16:creationId xmlns:a16="http://schemas.microsoft.com/office/drawing/2014/main" id="{D2D47CC5-E47B-FAF8-69C9-5843FC0EBBF8}"/>
              </a:ext>
            </a:extLst>
          </p:cNvPr>
          <p:cNvSpPr txBox="1"/>
          <p:nvPr/>
        </p:nvSpPr>
        <p:spPr>
          <a:xfrm rot="2497090">
            <a:off x="2359453" y="1960480"/>
            <a:ext cx="548292" cy="276999"/>
          </a:xfrm>
          <a:prstGeom prst="rect">
            <a:avLst/>
          </a:prstGeom>
          <a:noFill/>
        </p:spPr>
        <p:txBody>
          <a:bodyPr wrap="none" rtlCol="0">
            <a:spAutoFit/>
          </a:bodyPr>
          <a:lstStyle/>
          <a:p>
            <a:r>
              <a:rPr lang="en-US" sz="1200" dirty="0"/>
              <a:t>Trade</a:t>
            </a:r>
          </a:p>
        </p:txBody>
      </p:sp>
      <p:sp>
        <p:nvSpPr>
          <p:cNvPr id="11" name="TextBox 10">
            <a:extLst>
              <a:ext uri="{FF2B5EF4-FFF2-40B4-BE49-F238E27FC236}">
                <a16:creationId xmlns:a16="http://schemas.microsoft.com/office/drawing/2014/main" id="{786CCFCC-A5F5-8DE8-D041-3264014172DF}"/>
              </a:ext>
            </a:extLst>
          </p:cNvPr>
          <p:cNvSpPr txBox="1"/>
          <p:nvPr/>
        </p:nvSpPr>
        <p:spPr>
          <a:xfrm rot="2497090">
            <a:off x="2438798" y="1866661"/>
            <a:ext cx="983474" cy="276999"/>
          </a:xfrm>
          <a:prstGeom prst="rect">
            <a:avLst/>
          </a:prstGeom>
          <a:noFill/>
        </p:spPr>
        <p:txBody>
          <a:bodyPr wrap="none" rtlCol="0">
            <a:spAutoFit/>
          </a:bodyPr>
          <a:lstStyle/>
          <a:p>
            <a:r>
              <a:rPr lang="en-US" sz="1200" dirty="0"/>
              <a:t>Immigration</a:t>
            </a:r>
          </a:p>
        </p:txBody>
      </p:sp>
      <p:sp>
        <p:nvSpPr>
          <p:cNvPr id="12" name="TextBox 11">
            <a:extLst>
              <a:ext uri="{FF2B5EF4-FFF2-40B4-BE49-F238E27FC236}">
                <a16:creationId xmlns:a16="http://schemas.microsoft.com/office/drawing/2014/main" id="{01DE66A7-B35C-97E2-F151-C29C24D5A1DC}"/>
              </a:ext>
            </a:extLst>
          </p:cNvPr>
          <p:cNvSpPr txBox="1"/>
          <p:nvPr/>
        </p:nvSpPr>
        <p:spPr>
          <a:xfrm rot="2497090">
            <a:off x="3367150" y="2056062"/>
            <a:ext cx="314510" cy="276999"/>
          </a:xfrm>
          <a:prstGeom prst="rect">
            <a:avLst/>
          </a:prstGeom>
          <a:noFill/>
        </p:spPr>
        <p:txBody>
          <a:bodyPr wrap="none" rtlCol="0">
            <a:spAutoFit/>
          </a:bodyPr>
          <a:lstStyle/>
          <a:p>
            <a:r>
              <a:rPr lang="en-US" sz="1200" dirty="0"/>
              <a:t>…</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571D92-0258-C69A-09D7-13DB358D4292}"/>
                  </a:ext>
                </a:extLst>
              </p:cNvPr>
              <p:cNvSpPr txBox="1"/>
              <p:nvPr/>
            </p:nvSpPr>
            <p:spPr>
              <a:xfrm>
                <a:off x="569064" y="4981741"/>
                <a:ext cx="843949" cy="646331"/>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𝑛</m:t>
                    </m:r>
                  </m:oMath>
                </a14:m>
                <a:r>
                  <a:rPr lang="en-US" dirty="0"/>
                  <a:t> rows</a:t>
                </a:r>
              </a:p>
              <a:p>
                <a:pPr algn="ctr"/>
                <a:r>
                  <a:rPr lang="en-US" dirty="0"/>
                  <a:t>total </a:t>
                </a:r>
              </a:p>
            </p:txBody>
          </p:sp>
        </mc:Choice>
        <mc:Fallback xmlns="">
          <p:sp>
            <p:nvSpPr>
              <p:cNvPr id="13" name="TextBox 12">
                <a:extLst>
                  <a:ext uri="{FF2B5EF4-FFF2-40B4-BE49-F238E27FC236}">
                    <a16:creationId xmlns:a16="http://schemas.microsoft.com/office/drawing/2014/main" id="{8F571D92-0258-C69A-09D7-13DB358D4292}"/>
                  </a:ext>
                </a:extLst>
              </p:cNvPr>
              <p:cNvSpPr txBox="1">
                <a:spLocks noRot="1" noChangeAspect="1" noMove="1" noResize="1" noEditPoints="1" noAdjustHandles="1" noChangeArrowheads="1" noChangeShapeType="1" noTextEdit="1"/>
              </p:cNvSpPr>
              <p:nvPr/>
            </p:nvSpPr>
            <p:spPr>
              <a:xfrm>
                <a:off x="569064" y="4981741"/>
                <a:ext cx="843949" cy="646331"/>
              </a:xfrm>
              <a:prstGeom prst="rect">
                <a:avLst/>
              </a:prstGeom>
              <a:blipFill>
                <a:blip r:embed="rId3"/>
                <a:stretch>
                  <a:fillRect t="-3846" r="-4412"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9FDDF82-1484-A3AF-740E-52118D3A273B}"/>
                  </a:ext>
                </a:extLst>
              </p:cNvPr>
              <p:cNvSpPr/>
              <p:nvPr/>
            </p:nvSpPr>
            <p:spPr>
              <a:xfrm>
                <a:off x="4088451" y="2384598"/>
                <a:ext cx="390782" cy="19753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𝜷</m:t>
                          </m:r>
                        </m:e>
                        <m:sub>
                          <m:r>
                            <a:rPr lang="en-US" b="1" i="1" smtClean="0">
                              <a:solidFill>
                                <a:schemeClr val="tx1"/>
                              </a:solidFill>
                              <a:latin typeface="Cambria Math" panose="02040503050406030204" pitchFamily="18" charset="0"/>
                            </a:rPr>
                            <m:t>𝟏</m:t>
                          </m:r>
                        </m:sub>
                      </m:sSub>
                    </m:oMath>
                  </m:oMathPara>
                </a14:m>
                <a:endParaRPr lang="en-US" b="1" dirty="0">
                  <a:solidFill>
                    <a:schemeClr val="tx1"/>
                  </a:solidFill>
                </a:endParaRPr>
              </a:p>
            </p:txBody>
          </p:sp>
        </mc:Choice>
        <mc:Fallback xmlns="">
          <p:sp>
            <p:nvSpPr>
              <p:cNvPr id="14" name="Rectangle 13">
                <a:extLst>
                  <a:ext uri="{FF2B5EF4-FFF2-40B4-BE49-F238E27FC236}">
                    <a16:creationId xmlns:a16="http://schemas.microsoft.com/office/drawing/2014/main" id="{F9FDDF82-1484-A3AF-740E-52118D3A273B}"/>
                  </a:ext>
                </a:extLst>
              </p:cNvPr>
              <p:cNvSpPr>
                <a:spLocks noRot="1" noChangeAspect="1" noMove="1" noResize="1" noEditPoints="1" noAdjustHandles="1" noChangeArrowheads="1" noChangeShapeType="1" noTextEdit="1"/>
              </p:cNvSpPr>
              <p:nvPr/>
            </p:nvSpPr>
            <p:spPr>
              <a:xfrm>
                <a:off x="4088451" y="2384598"/>
                <a:ext cx="390782" cy="1975367"/>
              </a:xfrm>
              <a:prstGeom prst="rect">
                <a:avLst/>
              </a:prstGeom>
              <a:blipFill>
                <a:blip r:embed="rId4"/>
                <a:stretch>
                  <a:fillRect l="-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5C834A-D976-2AF3-1E9C-9402CFEE3DD5}"/>
                  </a:ext>
                </a:extLst>
              </p:cNvPr>
              <p:cNvSpPr txBox="1"/>
              <p:nvPr/>
            </p:nvSpPr>
            <p:spPr>
              <a:xfrm>
                <a:off x="1703945" y="4068416"/>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m:rPr>
                            <m:sty m:val="p"/>
                          </m:rPr>
                          <a:rPr lang="en-US" b="0" i="0" smtClean="0">
                            <a:latin typeface="Cambria Math" panose="02040503050406030204" pitchFamily="18" charset="0"/>
                          </a:rPr>
                          <m:t>i</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m:rPr>
                            <m:sty m:val="p"/>
                          </m:rPr>
                          <a:rPr lang="en-US" b="0" i="0" smtClean="0">
                            <a:latin typeface="Cambria Math" panose="02040503050406030204" pitchFamily="18" charset="0"/>
                          </a:rPr>
                          <m:t>i</m:t>
                        </m:r>
                      </m:sub>
                    </m:sSub>
                  </m:oMath>
                </a14:m>
                <a:r>
                  <a:rPr lang="en-US" dirty="0"/>
                  <a:t> …</a:t>
                </a:r>
              </a:p>
            </p:txBody>
          </p:sp>
        </mc:Choice>
        <mc:Fallback xmlns="">
          <p:sp>
            <p:nvSpPr>
              <p:cNvPr id="16" name="TextBox 15">
                <a:extLst>
                  <a:ext uri="{FF2B5EF4-FFF2-40B4-BE49-F238E27FC236}">
                    <a16:creationId xmlns:a16="http://schemas.microsoft.com/office/drawing/2014/main" id="{B25C834A-D976-2AF3-1E9C-9402CFEE3DD5}"/>
                  </a:ext>
                </a:extLst>
              </p:cNvPr>
              <p:cNvSpPr txBox="1">
                <a:spLocks noRot="1" noChangeAspect="1" noMove="1" noResize="1" noEditPoints="1" noAdjustHandles="1" noChangeArrowheads="1" noChangeShapeType="1" noTextEdit="1"/>
              </p:cNvSpPr>
              <p:nvPr/>
            </p:nvSpPr>
            <p:spPr>
              <a:xfrm>
                <a:off x="1703945" y="4068416"/>
                <a:ext cx="2175975" cy="381515"/>
              </a:xfrm>
              <a:prstGeom prst="rect">
                <a:avLst/>
              </a:prstGeom>
              <a:blipFill>
                <a:blip r:embed="rId5"/>
                <a:stretch>
                  <a:fillRect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1FEE47-DEBF-5D66-E0D3-3B81388B3389}"/>
                  </a:ext>
                </a:extLst>
              </p:cNvPr>
              <p:cNvSpPr txBox="1"/>
              <p:nvPr/>
            </p:nvSpPr>
            <p:spPr>
              <a:xfrm>
                <a:off x="7033597" y="3770048"/>
                <a:ext cx="63109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FD1FEE47-DEBF-5D66-E0D3-3B81388B3389}"/>
                  </a:ext>
                </a:extLst>
              </p:cNvPr>
              <p:cNvSpPr txBox="1">
                <a:spLocks noRot="1" noChangeAspect="1" noMove="1" noResize="1" noEditPoints="1" noAdjustHandles="1" noChangeArrowheads="1" noChangeShapeType="1" noTextEdit="1"/>
              </p:cNvSpPr>
              <p:nvPr/>
            </p:nvSpPr>
            <p:spPr>
              <a:xfrm>
                <a:off x="7033597" y="3770048"/>
                <a:ext cx="631098"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3F01592-588D-F6EB-4D20-0074524BD175}"/>
                  </a:ext>
                </a:extLst>
              </p:cNvPr>
              <p:cNvSpPr txBox="1"/>
              <p:nvPr/>
            </p:nvSpPr>
            <p:spPr>
              <a:xfrm>
                <a:off x="1701941" y="2464209"/>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a:rPr lang="en-US" b="0" i="0" smtClean="0">
                            <a:latin typeface="Cambria Math" panose="02040503050406030204" pitchFamily="18" charset="0"/>
                          </a:rPr>
                          <m:t>1</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a:rPr lang="en-US" b="0" i="0" smtClean="0">
                            <a:latin typeface="Cambria Math" panose="02040503050406030204" pitchFamily="18" charset="0"/>
                          </a:rPr>
                          <m:t>1</m:t>
                        </m:r>
                      </m:sub>
                    </m:sSub>
                  </m:oMath>
                </a14:m>
                <a:r>
                  <a:rPr lang="en-US" dirty="0"/>
                  <a:t> …</a:t>
                </a:r>
              </a:p>
            </p:txBody>
          </p:sp>
        </mc:Choice>
        <mc:Fallback xmlns="">
          <p:sp>
            <p:nvSpPr>
              <p:cNvPr id="20" name="TextBox 19">
                <a:extLst>
                  <a:ext uri="{FF2B5EF4-FFF2-40B4-BE49-F238E27FC236}">
                    <a16:creationId xmlns:a16="http://schemas.microsoft.com/office/drawing/2014/main" id="{83F01592-588D-F6EB-4D20-0074524BD175}"/>
                  </a:ext>
                </a:extLst>
              </p:cNvPr>
              <p:cNvSpPr txBox="1">
                <a:spLocks noRot="1" noChangeAspect="1" noMove="1" noResize="1" noEditPoints="1" noAdjustHandles="1" noChangeArrowheads="1" noChangeShapeType="1" noTextEdit="1"/>
              </p:cNvSpPr>
              <p:nvPr/>
            </p:nvSpPr>
            <p:spPr>
              <a:xfrm>
                <a:off x="1701941" y="2464209"/>
                <a:ext cx="2175975" cy="381515"/>
              </a:xfrm>
              <a:prstGeom prst="rect">
                <a:avLst/>
              </a:prstGeom>
              <a:blipFill>
                <a:blip r:embed="rId7"/>
                <a:stretch>
                  <a:fillRect t="-3125"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3BB26F3-FA3F-F73A-FB82-EDFD50C3238D}"/>
                  </a:ext>
                </a:extLst>
              </p:cNvPr>
              <p:cNvSpPr txBox="1"/>
              <p:nvPr/>
            </p:nvSpPr>
            <p:spPr>
              <a:xfrm>
                <a:off x="1701940" y="2954699"/>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a:rPr lang="en-US" b="0" i="0" smtClean="0">
                            <a:latin typeface="Cambria Math" panose="02040503050406030204" pitchFamily="18" charset="0"/>
                          </a:rPr>
                          <m:t>2</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a:rPr lang="en-US" b="0" i="0" smtClean="0">
                            <a:latin typeface="Cambria Math" panose="02040503050406030204" pitchFamily="18" charset="0"/>
                          </a:rPr>
                          <m:t>2</m:t>
                        </m:r>
                      </m:sub>
                    </m:sSub>
                  </m:oMath>
                </a14:m>
                <a:r>
                  <a:rPr lang="en-US" dirty="0"/>
                  <a:t> …</a:t>
                </a:r>
              </a:p>
            </p:txBody>
          </p:sp>
        </mc:Choice>
        <mc:Fallback xmlns="">
          <p:sp>
            <p:nvSpPr>
              <p:cNvPr id="21" name="TextBox 20">
                <a:extLst>
                  <a:ext uri="{FF2B5EF4-FFF2-40B4-BE49-F238E27FC236}">
                    <a16:creationId xmlns:a16="http://schemas.microsoft.com/office/drawing/2014/main" id="{53BB26F3-FA3F-F73A-FB82-EDFD50C3238D}"/>
                  </a:ext>
                </a:extLst>
              </p:cNvPr>
              <p:cNvSpPr txBox="1">
                <a:spLocks noRot="1" noChangeAspect="1" noMove="1" noResize="1" noEditPoints="1" noAdjustHandles="1" noChangeArrowheads="1" noChangeShapeType="1" noTextEdit="1"/>
              </p:cNvSpPr>
              <p:nvPr/>
            </p:nvSpPr>
            <p:spPr>
              <a:xfrm>
                <a:off x="1701940" y="2954699"/>
                <a:ext cx="2175975" cy="381515"/>
              </a:xfrm>
              <a:prstGeom prst="rect">
                <a:avLst/>
              </a:prstGeom>
              <a:blipFill>
                <a:blip r:embed="rId8"/>
                <a:stretch>
                  <a:fillRect t="-6452" b="-22581"/>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4A30A3B0-582F-B8D1-A9DB-5F3A3575345B}"/>
              </a:ext>
            </a:extLst>
          </p:cNvPr>
          <p:cNvGrpSpPr/>
          <p:nvPr/>
        </p:nvGrpSpPr>
        <p:grpSpPr>
          <a:xfrm>
            <a:off x="7712769" y="2492665"/>
            <a:ext cx="4249118" cy="3443049"/>
            <a:chOff x="1846882" y="2597802"/>
            <a:chExt cx="4249118" cy="2693288"/>
          </a:xfrm>
        </p:grpSpPr>
        <p:sp>
          <p:nvSpPr>
            <p:cNvPr id="4" name="Rectangle 3">
              <a:extLst>
                <a:ext uri="{FF2B5EF4-FFF2-40B4-BE49-F238E27FC236}">
                  <a16:creationId xmlns:a16="http://schemas.microsoft.com/office/drawing/2014/main" id="{7CC50647-8847-98EF-DEED-5AD96D965B78}"/>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350DBEB-2F66-1773-BBCE-0E8FCBD2D06C}"/>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17" name="TextBox 16">
                  <a:extLst>
                    <a:ext uri="{FF2B5EF4-FFF2-40B4-BE49-F238E27FC236}">
                      <a16:creationId xmlns:a16="http://schemas.microsoft.com/office/drawing/2014/main" id="{D350DBEB-2F66-1773-BBCE-0E8FCBD2D06C}"/>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9"/>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251771D-94D2-142D-9855-55B890938BA3}"/>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F14DC2F-6CE2-A84C-D57F-0536C734D2DD}"/>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22" name="TextBox 21">
                  <a:extLst>
                    <a:ext uri="{FF2B5EF4-FFF2-40B4-BE49-F238E27FC236}">
                      <a16:creationId xmlns:a16="http://schemas.microsoft.com/office/drawing/2014/main" id="{9F14DC2F-6CE2-A84C-D57F-0536C734D2DD}"/>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61B519B-100D-0927-EB9B-646D36C2CB13}"/>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7" name="TextBox 26">
                  <a:extLst>
                    <a:ext uri="{FF2B5EF4-FFF2-40B4-BE49-F238E27FC236}">
                      <a16:creationId xmlns:a16="http://schemas.microsoft.com/office/drawing/2014/main" id="{061B519B-100D-0927-EB9B-646D36C2CB13}"/>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24EB8C6-9861-9101-3FB7-070F395797FF}"/>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28" name="TextBox 27">
                  <a:extLst>
                    <a:ext uri="{FF2B5EF4-FFF2-40B4-BE49-F238E27FC236}">
                      <a16:creationId xmlns:a16="http://schemas.microsoft.com/office/drawing/2014/main" id="{B24EB8C6-9861-9101-3FB7-070F395797FF}"/>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9C3CE12-A337-B6D7-BC4A-5ABD96FCFA15}"/>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29" name="TextBox 28">
                  <a:extLst>
                    <a:ext uri="{FF2B5EF4-FFF2-40B4-BE49-F238E27FC236}">
                      <a16:creationId xmlns:a16="http://schemas.microsoft.com/office/drawing/2014/main" id="{79C3CE12-A337-B6D7-BC4A-5ABD96FCFA15}"/>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9F00839-F6EC-9D55-7A25-8003352E0CD7}"/>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30" name="TextBox 29">
                  <a:extLst>
                    <a:ext uri="{FF2B5EF4-FFF2-40B4-BE49-F238E27FC236}">
                      <a16:creationId xmlns:a16="http://schemas.microsoft.com/office/drawing/2014/main" id="{19F00839-F6EC-9D55-7A25-8003352E0CD7}"/>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591A97E-1D4D-4CA2-0F4E-B0DE84A59907}"/>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31" name="TextBox 30">
                  <a:extLst>
                    <a:ext uri="{FF2B5EF4-FFF2-40B4-BE49-F238E27FC236}">
                      <a16:creationId xmlns:a16="http://schemas.microsoft.com/office/drawing/2014/main" id="{F591A97E-1D4D-4CA2-0F4E-B0DE84A59907}"/>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510F0DA-6B68-A756-842F-8CF776A4FAE2}"/>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32" name="TextBox 31">
                  <a:extLst>
                    <a:ext uri="{FF2B5EF4-FFF2-40B4-BE49-F238E27FC236}">
                      <a16:creationId xmlns:a16="http://schemas.microsoft.com/office/drawing/2014/main" id="{D510F0DA-6B68-A756-842F-8CF776A4FAE2}"/>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713AFF6-4C8F-BC99-97E8-34AF7F613D23}"/>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33" name="TextBox 32">
                  <a:extLst>
                    <a:ext uri="{FF2B5EF4-FFF2-40B4-BE49-F238E27FC236}">
                      <a16:creationId xmlns:a16="http://schemas.microsoft.com/office/drawing/2014/main" id="{E713AFF6-4C8F-BC99-97E8-34AF7F613D23}"/>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46D56C8-D56A-2AF7-265C-60D7AF559BB1}"/>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34" name="TextBox 33">
                  <a:extLst>
                    <a:ext uri="{FF2B5EF4-FFF2-40B4-BE49-F238E27FC236}">
                      <a16:creationId xmlns:a16="http://schemas.microsoft.com/office/drawing/2014/main" id="{A46D56C8-D56A-2AF7-265C-60D7AF559BB1}"/>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5F31212-5A8F-DFD4-528B-C035B85802E7}"/>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35" name="TextBox 34">
                  <a:extLst>
                    <a:ext uri="{FF2B5EF4-FFF2-40B4-BE49-F238E27FC236}">
                      <a16:creationId xmlns:a16="http://schemas.microsoft.com/office/drawing/2014/main" id="{75F31212-5A8F-DFD4-528B-C035B85802E7}"/>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1C1EF69-3D8C-6178-46C3-8A2F6C7B98F1}"/>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36" name="TextBox 35">
                  <a:extLst>
                    <a:ext uri="{FF2B5EF4-FFF2-40B4-BE49-F238E27FC236}">
                      <a16:creationId xmlns:a16="http://schemas.microsoft.com/office/drawing/2014/main" id="{61C1EF69-3D8C-6178-46C3-8A2F6C7B98F1}"/>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D7B05E9-E1D6-0C5D-2C47-84C49756AF80}"/>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7" name="TextBox 36">
                  <a:extLst>
                    <a:ext uri="{FF2B5EF4-FFF2-40B4-BE49-F238E27FC236}">
                      <a16:creationId xmlns:a16="http://schemas.microsoft.com/office/drawing/2014/main" id="{1D7B05E9-E1D6-0C5D-2C47-84C49756AF80}"/>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BD58046-A978-E82F-D5AD-9196B97CC8E9}"/>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8" name="TextBox 37">
                  <a:extLst>
                    <a:ext uri="{FF2B5EF4-FFF2-40B4-BE49-F238E27FC236}">
                      <a16:creationId xmlns:a16="http://schemas.microsoft.com/office/drawing/2014/main" id="{0BD58046-A978-E82F-D5AD-9196B97CC8E9}"/>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981705C-EE0B-86A9-A098-A7F48E7F8B2B}"/>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9" name="TextBox 38">
                  <a:extLst>
                    <a:ext uri="{FF2B5EF4-FFF2-40B4-BE49-F238E27FC236}">
                      <a16:creationId xmlns:a16="http://schemas.microsoft.com/office/drawing/2014/main" id="{A981705C-EE0B-86A9-A098-A7F48E7F8B2B}"/>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D478A31-AC8C-7FD3-3EC7-FC168C6B7FB0}"/>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40" name="TextBox 39">
                  <a:extLst>
                    <a:ext uri="{FF2B5EF4-FFF2-40B4-BE49-F238E27FC236}">
                      <a16:creationId xmlns:a16="http://schemas.microsoft.com/office/drawing/2014/main" id="{4D478A31-AC8C-7FD3-3EC7-FC168C6B7FB0}"/>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2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68F59F8F-A450-4D2D-9640-755FFC5CD244}"/>
                  </a:ext>
                </a:extLst>
              </p:cNvPr>
              <p:cNvSpPr/>
              <p:nvPr/>
            </p:nvSpPr>
            <p:spPr>
              <a:xfrm>
                <a:off x="4612276" y="2395537"/>
                <a:ext cx="390782" cy="19753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𝜷</m:t>
                          </m:r>
                        </m:e>
                        <m:sub>
                          <m:r>
                            <a:rPr lang="en-US" b="1" i="1" smtClean="0">
                              <a:solidFill>
                                <a:schemeClr val="tx1"/>
                              </a:solidFill>
                              <a:latin typeface="Cambria Math" panose="02040503050406030204" pitchFamily="18" charset="0"/>
                            </a:rPr>
                            <m:t>𝟐</m:t>
                          </m:r>
                        </m:sub>
                      </m:sSub>
                    </m:oMath>
                  </m:oMathPara>
                </a14:m>
                <a:endParaRPr lang="en-US" b="1" dirty="0">
                  <a:solidFill>
                    <a:schemeClr val="tx1"/>
                  </a:solidFill>
                </a:endParaRPr>
              </a:p>
            </p:txBody>
          </p:sp>
        </mc:Choice>
        <mc:Fallback xmlns="">
          <p:sp>
            <p:nvSpPr>
              <p:cNvPr id="42" name="Rectangle 41">
                <a:extLst>
                  <a:ext uri="{FF2B5EF4-FFF2-40B4-BE49-F238E27FC236}">
                    <a16:creationId xmlns:a16="http://schemas.microsoft.com/office/drawing/2014/main" id="{68F59F8F-A450-4D2D-9640-755FFC5CD244}"/>
                  </a:ext>
                </a:extLst>
              </p:cNvPr>
              <p:cNvSpPr>
                <a:spLocks noRot="1" noChangeAspect="1" noMove="1" noResize="1" noEditPoints="1" noAdjustHandles="1" noChangeArrowheads="1" noChangeShapeType="1" noTextEdit="1"/>
              </p:cNvSpPr>
              <p:nvPr/>
            </p:nvSpPr>
            <p:spPr>
              <a:xfrm>
                <a:off x="4612276" y="2395537"/>
                <a:ext cx="390782" cy="1975367"/>
              </a:xfrm>
              <a:prstGeom prst="rect">
                <a:avLst/>
              </a:prstGeom>
              <a:blipFill>
                <a:blip r:embed="rId25"/>
                <a:stretch>
                  <a:fillRect l="-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86FAA1E4-4062-B880-1523-004FD17EE124}"/>
                  </a:ext>
                </a:extLst>
              </p:cNvPr>
              <p:cNvSpPr/>
              <p:nvPr/>
            </p:nvSpPr>
            <p:spPr>
              <a:xfrm>
                <a:off x="5136101" y="2389291"/>
                <a:ext cx="390782" cy="19753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𝜷</m:t>
                          </m:r>
                        </m:e>
                        <m:sub>
                          <m:r>
                            <a:rPr lang="en-US" b="1" i="1" smtClean="0">
                              <a:solidFill>
                                <a:schemeClr val="tx1"/>
                              </a:solidFill>
                              <a:latin typeface="Cambria Math" panose="02040503050406030204" pitchFamily="18" charset="0"/>
                            </a:rPr>
                            <m:t>𝟑</m:t>
                          </m:r>
                        </m:sub>
                      </m:sSub>
                    </m:oMath>
                  </m:oMathPara>
                </a14:m>
                <a:endParaRPr lang="en-US" b="1" dirty="0">
                  <a:solidFill>
                    <a:schemeClr val="tx1"/>
                  </a:solidFill>
                </a:endParaRPr>
              </a:p>
            </p:txBody>
          </p:sp>
        </mc:Choice>
        <mc:Fallback xmlns="">
          <p:sp>
            <p:nvSpPr>
              <p:cNvPr id="43" name="Rectangle 42">
                <a:extLst>
                  <a:ext uri="{FF2B5EF4-FFF2-40B4-BE49-F238E27FC236}">
                    <a16:creationId xmlns:a16="http://schemas.microsoft.com/office/drawing/2014/main" id="{86FAA1E4-4062-B880-1523-004FD17EE124}"/>
                  </a:ext>
                </a:extLst>
              </p:cNvPr>
              <p:cNvSpPr>
                <a:spLocks noRot="1" noChangeAspect="1" noMove="1" noResize="1" noEditPoints="1" noAdjustHandles="1" noChangeArrowheads="1" noChangeShapeType="1" noTextEdit="1"/>
              </p:cNvSpPr>
              <p:nvPr/>
            </p:nvSpPr>
            <p:spPr>
              <a:xfrm>
                <a:off x="5136101" y="2389291"/>
                <a:ext cx="390782" cy="1975367"/>
              </a:xfrm>
              <a:prstGeom prst="rect">
                <a:avLst/>
              </a:prstGeom>
              <a:blipFill>
                <a:blip r:embed="rId26"/>
                <a:stretch>
                  <a:fillRect l="-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4324F042-8DC6-F0E2-40D0-A25B3B9A8420}"/>
                  </a:ext>
                </a:extLst>
              </p:cNvPr>
              <p:cNvSpPr/>
              <p:nvPr/>
            </p:nvSpPr>
            <p:spPr>
              <a:xfrm>
                <a:off x="6602437" y="2435916"/>
                <a:ext cx="390782" cy="19753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𝜷</m:t>
                          </m:r>
                        </m:e>
                        <m:sub>
                          <m:r>
                            <a:rPr lang="en-US" b="1" i="1" smtClean="0">
                              <a:solidFill>
                                <a:schemeClr val="tx1"/>
                              </a:solidFill>
                              <a:latin typeface="Cambria Math" panose="02040503050406030204" pitchFamily="18" charset="0"/>
                            </a:rPr>
                            <m:t>𝑻</m:t>
                          </m:r>
                        </m:sub>
                      </m:sSub>
                    </m:oMath>
                  </m:oMathPara>
                </a14:m>
                <a:endParaRPr lang="en-US" b="1" dirty="0">
                  <a:solidFill>
                    <a:schemeClr val="tx1"/>
                  </a:solidFill>
                </a:endParaRPr>
              </a:p>
            </p:txBody>
          </p:sp>
        </mc:Choice>
        <mc:Fallback xmlns="">
          <p:sp>
            <p:nvSpPr>
              <p:cNvPr id="44" name="Rectangle 43">
                <a:extLst>
                  <a:ext uri="{FF2B5EF4-FFF2-40B4-BE49-F238E27FC236}">
                    <a16:creationId xmlns:a16="http://schemas.microsoft.com/office/drawing/2014/main" id="{4324F042-8DC6-F0E2-40D0-A25B3B9A8420}"/>
                  </a:ext>
                </a:extLst>
              </p:cNvPr>
              <p:cNvSpPr>
                <a:spLocks noRot="1" noChangeAspect="1" noMove="1" noResize="1" noEditPoints="1" noAdjustHandles="1" noChangeArrowheads="1" noChangeShapeType="1" noTextEdit="1"/>
              </p:cNvSpPr>
              <p:nvPr/>
            </p:nvSpPr>
            <p:spPr>
              <a:xfrm>
                <a:off x="6602437" y="2435916"/>
                <a:ext cx="390782" cy="1975367"/>
              </a:xfrm>
              <a:prstGeom prst="rect">
                <a:avLst/>
              </a:prstGeom>
              <a:blipFill>
                <a:blip r:embed="rId27"/>
                <a:stretch>
                  <a:fillRect l="-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AFE400B-69BF-A28F-8D27-130D9AE68A69}"/>
                  </a:ext>
                </a:extLst>
              </p:cNvPr>
              <p:cNvSpPr txBox="1"/>
              <p:nvPr/>
            </p:nvSpPr>
            <p:spPr>
              <a:xfrm>
                <a:off x="5730853" y="3167379"/>
                <a:ext cx="63109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45" name="TextBox 44">
                <a:extLst>
                  <a:ext uri="{FF2B5EF4-FFF2-40B4-BE49-F238E27FC236}">
                    <a16:creationId xmlns:a16="http://schemas.microsoft.com/office/drawing/2014/main" id="{BAFE400B-69BF-A28F-8D27-130D9AE68A69}"/>
                  </a:ext>
                </a:extLst>
              </p:cNvPr>
              <p:cNvSpPr txBox="1">
                <a:spLocks noRot="1" noChangeAspect="1" noMove="1" noResize="1" noEditPoints="1" noAdjustHandles="1" noChangeArrowheads="1" noChangeShapeType="1" noTextEdit="1"/>
              </p:cNvSpPr>
              <p:nvPr/>
            </p:nvSpPr>
            <p:spPr>
              <a:xfrm>
                <a:off x="5730853" y="3167379"/>
                <a:ext cx="631098" cy="430887"/>
              </a:xfrm>
              <a:prstGeom prst="rect">
                <a:avLst/>
              </a:prstGeom>
              <a:blipFill>
                <a:blip r:embed="rId28"/>
                <a:stretch>
                  <a:fillRect/>
                </a:stretch>
              </a:blipFill>
            </p:spPr>
            <p:txBody>
              <a:bodyPr/>
              <a:lstStyle/>
              <a:p>
                <a:r>
                  <a:rPr lang="en-US">
                    <a:noFill/>
                  </a:rPr>
                  <a:t> </a:t>
                </a:r>
              </a:p>
            </p:txBody>
          </p:sp>
        </mc:Fallback>
      </mc:AlternateContent>
      <p:sp>
        <p:nvSpPr>
          <p:cNvPr id="48" name="Title 1">
            <a:extLst>
              <a:ext uri="{FF2B5EF4-FFF2-40B4-BE49-F238E27FC236}">
                <a16:creationId xmlns:a16="http://schemas.microsoft.com/office/drawing/2014/main" id="{3778C1E2-9F5F-D7D1-7499-80FDF490DFA3}"/>
              </a:ext>
            </a:extLst>
          </p:cNvPr>
          <p:cNvSpPr txBox="1">
            <a:spLocks/>
          </p:cNvSpPr>
          <p:nvPr/>
        </p:nvSpPr>
        <p:spPr>
          <a:xfrm>
            <a:off x="838200" y="237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a:lstStyle>
          <a:p>
            <a:r>
              <a:rPr lang="en-US" sz="2800"/>
              <a:t>If we pick a few covariates, </a:t>
            </a:r>
            <a:br>
              <a:rPr lang="en-US"/>
            </a:br>
            <a:r>
              <a:rPr lang="en-US"/>
              <a:t>we can do T regressions!</a:t>
            </a:r>
            <a:endParaRPr lang="en-US" dirty="0"/>
          </a:p>
        </p:txBody>
      </p:sp>
    </p:spTree>
    <p:extLst>
      <p:ext uri="{BB962C8B-B14F-4D97-AF65-F5344CB8AC3E}">
        <p14:creationId xmlns:p14="http://schemas.microsoft.com/office/powerpoint/2010/main" val="903386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DBEA0FE-1632-A47F-24A3-634F59A405B0}"/>
              </a:ext>
            </a:extLst>
          </p:cNvPr>
          <p:cNvSpPr/>
          <p:nvPr/>
        </p:nvSpPr>
        <p:spPr>
          <a:xfrm>
            <a:off x="1669773" y="2372139"/>
            <a:ext cx="2252869"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 name="TextBox 5">
            <a:extLst>
              <a:ext uri="{FF2B5EF4-FFF2-40B4-BE49-F238E27FC236}">
                <a16:creationId xmlns:a16="http://schemas.microsoft.com/office/drawing/2014/main" id="{10A0030B-B811-3405-0345-D10EFD3B341C}"/>
              </a:ext>
            </a:extLst>
          </p:cNvPr>
          <p:cNvSpPr txBox="1"/>
          <p:nvPr/>
        </p:nvSpPr>
        <p:spPr>
          <a:xfrm>
            <a:off x="-29817" y="4029524"/>
            <a:ext cx="1186070" cy="369332"/>
          </a:xfrm>
          <a:prstGeom prst="rect">
            <a:avLst/>
          </a:prstGeom>
          <a:solidFill>
            <a:schemeClr val="bg1"/>
          </a:solidFill>
        </p:spPr>
        <p:txBody>
          <a:bodyPr wrap="square" rtlCol="0">
            <a:spAutoFit/>
          </a:bodyPr>
          <a:lstStyle/>
          <a:p>
            <a:pPr algn="r"/>
            <a:r>
              <a:rPr lang="en-US" dirty="0"/>
              <a:t>Country </a:t>
            </a:r>
            <a:r>
              <a:rPr lang="en-US" dirty="0" err="1"/>
              <a:t>i</a:t>
            </a:r>
            <a:endParaRPr lang="en-US" dirty="0"/>
          </a:p>
        </p:txBody>
      </p:sp>
      <p:sp>
        <p:nvSpPr>
          <p:cNvPr id="7" name="Right Arrow 6">
            <a:extLst>
              <a:ext uri="{FF2B5EF4-FFF2-40B4-BE49-F238E27FC236}">
                <a16:creationId xmlns:a16="http://schemas.microsoft.com/office/drawing/2014/main" id="{F902C47E-B600-D4B8-FC96-4537A73DB97E}"/>
              </a:ext>
            </a:extLst>
          </p:cNvPr>
          <p:cNvSpPr/>
          <p:nvPr/>
        </p:nvSpPr>
        <p:spPr>
          <a:xfrm>
            <a:off x="1186070" y="4068416"/>
            <a:ext cx="364434" cy="2915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8DAD96-ACAC-DA75-D422-AAB7C334B733}"/>
              </a:ext>
            </a:extLst>
          </p:cNvPr>
          <p:cNvSpPr txBox="1"/>
          <p:nvPr/>
        </p:nvSpPr>
        <p:spPr>
          <a:xfrm rot="2497090">
            <a:off x="1218720" y="1881119"/>
            <a:ext cx="902106" cy="276999"/>
          </a:xfrm>
          <a:prstGeom prst="rect">
            <a:avLst/>
          </a:prstGeom>
          <a:noFill/>
        </p:spPr>
        <p:txBody>
          <a:bodyPr wrap="none" rtlCol="0">
            <a:spAutoFit/>
          </a:bodyPr>
          <a:lstStyle/>
          <a:p>
            <a:r>
              <a:rPr lang="en-US" sz="1200" dirty="0"/>
              <a:t>Population</a:t>
            </a:r>
          </a:p>
        </p:txBody>
      </p:sp>
      <p:sp>
        <p:nvSpPr>
          <p:cNvPr id="9" name="TextBox 8">
            <a:extLst>
              <a:ext uri="{FF2B5EF4-FFF2-40B4-BE49-F238E27FC236}">
                <a16:creationId xmlns:a16="http://schemas.microsoft.com/office/drawing/2014/main" id="{B61B3C12-77BC-0385-3153-F001D9D66EA2}"/>
              </a:ext>
            </a:extLst>
          </p:cNvPr>
          <p:cNvSpPr txBox="1"/>
          <p:nvPr/>
        </p:nvSpPr>
        <p:spPr>
          <a:xfrm rot="2497090">
            <a:off x="1804221" y="1881118"/>
            <a:ext cx="733149" cy="276999"/>
          </a:xfrm>
          <a:prstGeom prst="rect">
            <a:avLst/>
          </a:prstGeom>
          <a:noFill/>
        </p:spPr>
        <p:txBody>
          <a:bodyPr wrap="none" rtlCol="0">
            <a:spAutoFit/>
          </a:bodyPr>
          <a:lstStyle/>
          <a:p>
            <a:r>
              <a:rPr lang="en-US" sz="1200" dirty="0"/>
              <a:t>Inflation</a:t>
            </a:r>
          </a:p>
        </p:txBody>
      </p:sp>
      <p:sp>
        <p:nvSpPr>
          <p:cNvPr id="10" name="TextBox 9">
            <a:extLst>
              <a:ext uri="{FF2B5EF4-FFF2-40B4-BE49-F238E27FC236}">
                <a16:creationId xmlns:a16="http://schemas.microsoft.com/office/drawing/2014/main" id="{D2D47CC5-E47B-FAF8-69C9-5843FC0EBBF8}"/>
              </a:ext>
            </a:extLst>
          </p:cNvPr>
          <p:cNvSpPr txBox="1"/>
          <p:nvPr/>
        </p:nvSpPr>
        <p:spPr>
          <a:xfrm rot="2497090">
            <a:off x="2359453" y="1960480"/>
            <a:ext cx="548292" cy="276999"/>
          </a:xfrm>
          <a:prstGeom prst="rect">
            <a:avLst/>
          </a:prstGeom>
          <a:noFill/>
        </p:spPr>
        <p:txBody>
          <a:bodyPr wrap="none" rtlCol="0">
            <a:spAutoFit/>
          </a:bodyPr>
          <a:lstStyle/>
          <a:p>
            <a:r>
              <a:rPr lang="en-US" sz="1200" dirty="0"/>
              <a:t>Trade</a:t>
            </a:r>
          </a:p>
        </p:txBody>
      </p:sp>
      <p:sp>
        <p:nvSpPr>
          <p:cNvPr id="11" name="TextBox 10">
            <a:extLst>
              <a:ext uri="{FF2B5EF4-FFF2-40B4-BE49-F238E27FC236}">
                <a16:creationId xmlns:a16="http://schemas.microsoft.com/office/drawing/2014/main" id="{786CCFCC-A5F5-8DE8-D041-3264014172DF}"/>
              </a:ext>
            </a:extLst>
          </p:cNvPr>
          <p:cNvSpPr txBox="1"/>
          <p:nvPr/>
        </p:nvSpPr>
        <p:spPr>
          <a:xfrm rot="2497090">
            <a:off x="2438798" y="1866661"/>
            <a:ext cx="983474" cy="276999"/>
          </a:xfrm>
          <a:prstGeom prst="rect">
            <a:avLst/>
          </a:prstGeom>
          <a:noFill/>
        </p:spPr>
        <p:txBody>
          <a:bodyPr wrap="none" rtlCol="0">
            <a:spAutoFit/>
          </a:bodyPr>
          <a:lstStyle/>
          <a:p>
            <a:r>
              <a:rPr lang="en-US" sz="1200" dirty="0"/>
              <a:t>Immigration</a:t>
            </a:r>
          </a:p>
        </p:txBody>
      </p:sp>
      <p:sp>
        <p:nvSpPr>
          <p:cNvPr id="12" name="TextBox 11">
            <a:extLst>
              <a:ext uri="{FF2B5EF4-FFF2-40B4-BE49-F238E27FC236}">
                <a16:creationId xmlns:a16="http://schemas.microsoft.com/office/drawing/2014/main" id="{01DE66A7-B35C-97E2-F151-C29C24D5A1DC}"/>
              </a:ext>
            </a:extLst>
          </p:cNvPr>
          <p:cNvSpPr txBox="1"/>
          <p:nvPr/>
        </p:nvSpPr>
        <p:spPr>
          <a:xfrm rot="2497090">
            <a:off x="3367150" y="2056062"/>
            <a:ext cx="314510" cy="276999"/>
          </a:xfrm>
          <a:prstGeom prst="rect">
            <a:avLst/>
          </a:prstGeom>
          <a:noFill/>
        </p:spPr>
        <p:txBody>
          <a:bodyPr wrap="none" rtlCol="0">
            <a:spAutoFit/>
          </a:bodyPr>
          <a:lstStyle/>
          <a:p>
            <a:r>
              <a:rPr lang="en-US" sz="1200" dirty="0"/>
              <a:t>…</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571D92-0258-C69A-09D7-13DB358D4292}"/>
                  </a:ext>
                </a:extLst>
              </p:cNvPr>
              <p:cNvSpPr txBox="1"/>
              <p:nvPr/>
            </p:nvSpPr>
            <p:spPr>
              <a:xfrm>
                <a:off x="569064" y="4981741"/>
                <a:ext cx="843949" cy="646331"/>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𝑛</m:t>
                    </m:r>
                  </m:oMath>
                </a14:m>
                <a:r>
                  <a:rPr lang="en-US" dirty="0"/>
                  <a:t> rows</a:t>
                </a:r>
              </a:p>
              <a:p>
                <a:pPr algn="ctr"/>
                <a:r>
                  <a:rPr lang="en-US" dirty="0"/>
                  <a:t>total </a:t>
                </a:r>
              </a:p>
            </p:txBody>
          </p:sp>
        </mc:Choice>
        <mc:Fallback xmlns="">
          <p:sp>
            <p:nvSpPr>
              <p:cNvPr id="13" name="TextBox 12">
                <a:extLst>
                  <a:ext uri="{FF2B5EF4-FFF2-40B4-BE49-F238E27FC236}">
                    <a16:creationId xmlns:a16="http://schemas.microsoft.com/office/drawing/2014/main" id="{8F571D92-0258-C69A-09D7-13DB358D4292}"/>
                  </a:ext>
                </a:extLst>
              </p:cNvPr>
              <p:cNvSpPr txBox="1">
                <a:spLocks noRot="1" noChangeAspect="1" noMove="1" noResize="1" noEditPoints="1" noAdjustHandles="1" noChangeArrowheads="1" noChangeShapeType="1" noTextEdit="1"/>
              </p:cNvSpPr>
              <p:nvPr/>
            </p:nvSpPr>
            <p:spPr>
              <a:xfrm>
                <a:off x="569064" y="4981741"/>
                <a:ext cx="843949" cy="646331"/>
              </a:xfrm>
              <a:prstGeom prst="rect">
                <a:avLst/>
              </a:prstGeom>
              <a:blipFill>
                <a:blip r:embed="rId3"/>
                <a:stretch>
                  <a:fillRect t="-3846" r="-4412"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9FDDF82-1484-A3AF-740E-52118D3A273B}"/>
                  </a:ext>
                </a:extLst>
              </p:cNvPr>
              <p:cNvSpPr/>
              <p:nvPr/>
            </p:nvSpPr>
            <p:spPr>
              <a:xfrm>
                <a:off x="4088451" y="2384598"/>
                <a:ext cx="3122018" cy="19753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𝐵</m:t>
                      </m:r>
                    </m:oMath>
                  </m:oMathPara>
                </a14:m>
                <a:endParaRPr lang="en-US" dirty="0">
                  <a:solidFill>
                    <a:schemeClr val="tx1"/>
                  </a:solidFill>
                </a:endParaRPr>
              </a:p>
            </p:txBody>
          </p:sp>
        </mc:Choice>
        <mc:Fallback xmlns="">
          <p:sp>
            <p:nvSpPr>
              <p:cNvPr id="14" name="Rectangle 13">
                <a:extLst>
                  <a:ext uri="{FF2B5EF4-FFF2-40B4-BE49-F238E27FC236}">
                    <a16:creationId xmlns:a16="http://schemas.microsoft.com/office/drawing/2014/main" id="{F9FDDF82-1484-A3AF-740E-52118D3A273B}"/>
                  </a:ext>
                </a:extLst>
              </p:cNvPr>
              <p:cNvSpPr>
                <a:spLocks noRot="1" noChangeAspect="1" noMove="1" noResize="1" noEditPoints="1" noAdjustHandles="1" noChangeArrowheads="1" noChangeShapeType="1" noTextEdit="1"/>
              </p:cNvSpPr>
              <p:nvPr/>
            </p:nvSpPr>
            <p:spPr>
              <a:xfrm>
                <a:off x="4088451" y="2384598"/>
                <a:ext cx="3122018" cy="197536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5C834A-D976-2AF3-1E9C-9402CFEE3DD5}"/>
                  </a:ext>
                </a:extLst>
              </p:cNvPr>
              <p:cNvSpPr txBox="1"/>
              <p:nvPr/>
            </p:nvSpPr>
            <p:spPr>
              <a:xfrm>
                <a:off x="1703945" y="4068416"/>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m:rPr>
                            <m:sty m:val="p"/>
                          </m:rPr>
                          <a:rPr lang="en-US" b="0" i="0" smtClean="0">
                            <a:latin typeface="Cambria Math" panose="02040503050406030204" pitchFamily="18" charset="0"/>
                          </a:rPr>
                          <m:t>i</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m:rPr>
                            <m:sty m:val="p"/>
                          </m:rPr>
                          <a:rPr lang="en-US" b="0" i="0" smtClean="0">
                            <a:latin typeface="Cambria Math" panose="02040503050406030204" pitchFamily="18" charset="0"/>
                          </a:rPr>
                          <m:t>i</m:t>
                        </m:r>
                      </m:sub>
                    </m:sSub>
                  </m:oMath>
                </a14:m>
                <a:r>
                  <a:rPr lang="en-US" dirty="0"/>
                  <a:t> …</a:t>
                </a:r>
              </a:p>
            </p:txBody>
          </p:sp>
        </mc:Choice>
        <mc:Fallback xmlns="">
          <p:sp>
            <p:nvSpPr>
              <p:cNvPr id="16" name="TextBox 15">
                <a:extLst>
                  <a:ext uri="{FF2B5EF4-FFF2-40B4-BE49-F238E27FC236}">
                    <a16:creationId xmlns:a16="http://schemas.microsoft.com/office/drawing/2014/main" id="{B25C834A-D976-2AF3-1E9C-9402CFEE3DD5}"/>
                  </a:ext>
                </a:extLst>
              </p:cNvPr>
              <p:cNvSpPr txBox="1">
                <a:spLocks noRot="1" noChangeAspect="1" noMove="1" noResize="1" noEditPoints="1" noAdjustHandles="1" noChangeArrowheads="1" noChangeShapeType="1" noTextEdit="1"/>
              </p:cNvSpPr>
              <p:nvPr/>
            </p:nvSpPr>
            <p:spPr>
              <a:xfrm>
                <a:off x="1703945" y="4068416"/>
                <a:ext cx="2175975" cy="381515"/>
              </a:xfrm>
              <a:prstGeom prst="rect">
                <a:avLst/>
              </a:prstGeom>
              <a:blipFill>
                <a:blip r:embed="rId5"/>
                <a:stretch>
                  <a:fillRect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1FEE47-DEBF-5D66-E0D3-3B81388B3389}"/>
                  </a:ext>
                </a:extLst>
              </p:cNvPr>
              <p:cNvSpPr txBox="1"/>
              <p:nvPr/>
            </p:nvSpPr>
            <p:spPr>
              <a:xfrm>
                <a:off x="7150242" y="3756480"/>
                <a:ext cx="63109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FD1FEE47-DEBF-5D66-E0D3-3B81388B3389}"/>
                  </a:ext>
                </a:extLst>
              </p:cNvPr>
              <p:cNvSpPr txBox="1">
                <a:spLocks noRot="1" noChangeAspect="1" noMove="1" noResize="1" noEditPoints="1" noAdjustHandles="1" noChangeArrowheads="1" noChangeShapeType="1" noTextEdit="1"/>
              </p:cNvSpPr>
              <p:nvPr/>
            </p:nvSpPr>
            <p:spPr>
              <a:xfrm>
                <a:off x="7150242" y="3756480"/>
                <a:ext cx="631098"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3F01592-588D-F6EB-4D20-0074524BD175}"/>
                  </a:ext>
                </a:extLst>
              </p:cNvPr>
              <p:cNvSpPr txBox="1"/>
              <p:nvPr/>
            </p:nvSpPr>
            <p:spPr>
              <a:xfrm>
                <a:off x="1701941" y="2464209"/>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a:rPr lang="en-US" b="0" i="0" smtClean="0">
                            <a:latin typeface="Cambria Math" panose="02040503050406030204" pitchFamily="18" charset="0"/>
                          </a:rPr>
                          <m:t>1</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a:rPr lang="en-US" b="0" i="0" smtClean="0">
                            <a:latin typeface="Cambria Math" panose="02040503050406030204" pitchFamily="18" charset="0"/>
                          </a:rPr>
                          <m:t>1</m:t>
                        </m:r>
                      </m:sub>
                    </m:sSub>
                  </m:oMath>
                </a14:m>
                <a:r>
                  <a:rPr lang="en-US" dirty="0"/>
                  <a:t> …</a:t>
                </a:r>
              </a:p>
            </p:txBody>
          </p:sp>
        </mc:Choice>
        <mc:Fallback xmlns="">
          <p:sp>
            <p:nvSpPr>
              <p:cNvPr id="20" name="TextBox 19">
                <a:extLst>
                  <a:ext uri="{FF2B5EF4-FFF2-40B4-BE49-F238E27FC236}">
                    <a16:creationId xmlns:a16="http://schemas.microsoft.com/office/drawing/2014/main" id="{83F01592-588D-F6EB-4D20-0074524BD175}"/>
                  </a:ext>
                </a:extLst>
              </p:cNvPr>
              <p:cNvSpPr txBox="1">
                <a:spLocks noRot="1" noChangeAspect="1" noMove="1" noResize="1" noEditPoints="1" noAdjustHandles="1" noChangeArrowheads="1" noChangeShapeType="1" noTextEdit="1"/>
              </p:cNvSpPr>
              <p:nvPr/>
            </p:nvSpPr>
            <p:spPr>
              <a:xfrm>
                <a:off x="1701941" y="2464209"/>
                <a:ext cx="2175975" cy="381515"/>
              </a:xfrm>
              <a:prstGeom prst="rect">
                <a:avLst/>
              </a:prstGeom>
              <a:blipFill>
                <a:blip r:embed="rId7"/>
                <a:stretch>
                  <a:fillRect t="-3125"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3BB26F3-FA3F-F73A-FB82-EDFD50C3238D}"/>
                  </a:ext>
                </a:extLst>
              </p:cNvPr>
              <p:cNvSpPr txBox="1"/>
              <p:nvPr/>
            </p:nvSpPr>
            <p:spPr>
              <a:xfrm>
                <a:off x="1701940" y="2954699"/>
                <a:ext cx="2175975" cy="381515"/>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Po</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m:t>
                        </m:r>
                      </m:e>
                      <m:sub>
                        <m:r>
                          <a:rPr lang="en-US" b="0" i="0" smtClean="0">
                            <a:latin typeface="Cambria Math" panose="02040503050406030204" pitchFamily="18" charset="0"/>
                          </a:rPr>
                          <m:t>2</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Infl</m:t>
                        </m:r>
                      </m:e>
                      <m:sub>
                        <m:r>
                          <a:rPr lang="en-US" b="0" i="0" smtClean="0">
                            <a:latin typeface="Cambria Math" panose="02040503050406030204" pitchFamily="18" charset="0"/>
                          </a:rPr>
                          <m:t>2</m:t>
                        </m:r>
                      </m:sub>
                    </m:sSub>
                  </m:oMath>
                </a14:m>
                <a:r>
                  <a:rPr lang="en-US" dirty="0"/>
                  <a:t> …</a:t>
                </a:r>
              </a:p>
            </p:txBody>
          </p:sp>
        </mc:Choice>
        <mc:Fallback xmlns="">
          <p:sp>
            <p:nvSpPr>
              <p:cNvPr id="21" name="TextBox 20">
                <a:extLst>
                  <a:ext uri="{FF2B5EF4-FFF2-40B4-BE49-F238E27FC236}">
                    <a16:creationId xmlns:a16="http://schemas.microsoft.com/office/drawing/2014/main" id="{53BB26F3-FA3F-F73A-FB82-EDFD50C3238D}"/>
                  </a:ext>
                </a:extLst>
              </p:cNvPr>
              <p:cNvSpPr txBox="1">
                <a:spLocks noRot="1" noChangeAspect="1" noMove="1" noResize="1" noEditPoints="1" noAdjustHandles="1" noChangeArrowheads="1" noChangeShapeType="1" noTextEdit="1"/>
              </p:cNvSpPr>
              <p:nvPr/>
            </p:nvSpPr>
            <p:spPr>
              <a:xfrm>
                <a:off x="1701940" y="2954699"/>
                <a:ext cx="2175975" cy="381515"/>
              </a:xfrm>
              <a:prstGeom prst="rect">
                <a:avLst/>
              </a:prstGeom>
              <a:blipFill>
                <a:blip r:embed="rId8"/>
                <a:stretch>
                  <a:fillRect t="-6452" b="-22581"/>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4A30A3B0-582F-B8D1-A9DB-5F3A3575345B}"/>
              </a:ext>
            </a:extLst>
          </p:cNvPr>
          <p:cNvGrpSpPr/>
          <p:nvPr/>
        </p:nvGrpSpPr>
        <p:grpSpPr>
          <a:xfrm>
            <a:off x="7712769" y="2492665"/>
            <a:ext cx="4249118" cy="3443049"/>
            <a:chOff x="1846882" y="2597802"/>
            <a:chExt cx="4249118" cy="2693288"/>
          </a:xfrm>
        </p:grpSpPr>
        <p:sp>
          <p:nvSpPr>
            <p:cNvPr id="4" name="Rectangle 3">
              <a:extLst>
                <a:ext uri="{FF2B5EF4-FFF2-40B4-BE49-F238E27FC236}">
                  <a16:creationId xmlns:a16="http://schemas.microsoft.com/office/drawing/2014/main" id="{7CC50647-8847-98EF-DEED-5AD96D965B78}"/>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350DBEB-2F66-1773-BBCE-0E8FCBD2D06C}"/>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17" name="TextBox 16">
                  <a:extLst>
                    <a:ext uri="{FF2B5EF4-FFF2-40B4-BE49-F238E27FC236}">
                      <a16:creationId xmlns:a16="http://schemas.microsoft.com/office/drawing/2014/main" id="{D350DBEB-2F66-1773-BBCE-0E8FCBD2D06C}"/>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9"/>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251771D-94D2-142D-9855-55B890938BA3}"/>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F14DC2F-6CE2-A84C-D57F-0536C734D2DD}"/>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22" name="TextBox 21">
                  <a:extLst>
                    <a:ext uri="{FF2B5EF4-FFF2-40B4-BE49-F238E27FC236}">
                      <a16:creationId xmlns:a16="http://schemas.microsoft.com/office/drawing/2014/main" id="{9F14DC2F-6CE2-A84C-D57F-0536C734D2DD}"/>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61B519B-100D-0927-EB9B-646D36C2CB13}"/>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7" name="TextBox 26">
                  <a:extLst>
                    <a:ext uri="{FF2B5EF4-FFF2-40B4-BE49-F238E27FC236}">
                      <a16:creationId xmlns:a16="http://schemas.microsoft.com/office/drawing/2014/main" id="{061B519B-100D-0927-EB9B-646D36C2CB13}"/>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24EB8C6-9861-9101-3FB7-070F395797FF}"/>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28" name="TextBox 27">
                  <a:extLst>
                    <a:ext uri="{FF2B5EF4-FFF2-40B4-BE49-F238E27FC236}">
                      <a16:creationId xmlns:a16="http://schemas.microsoft.com/office/drawing/2014/main" id="{B24EB8C6-9861-9101-3FB7-070F395797FF}"/>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9C3CE12-A337-B6D7-BC4A-5ABD96FCFA15}"/>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29" name="TextBox 28">
                  <a:extLst>
                    <a:ext uri="{FF2B5EF4-FFF2-40B4-BE49-F238E27FC236}">
                      <a16:creationId xmlns:a16="http://schemas.microsoft.com/office/drawing/2014/main" id="{79C3CE12-A337-B6D7-BC4A-5ABD96FCFA15}"/>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9F00839-F6EC-9D55-7A25-8003352E0CD7}"/>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30" name="TextBox 29">
                  <a:extLst>
                    <a:ext uri="{FF2B5EF4-FFF2-40B4-BE49-F238E27FC236}">
                      <a16:creationId xmlns:a16="http://schemas.microsoft.com/office/drawing/2014/main" id="{19F00839-F6EC-9D55-7A25-8003352E0CD7}"/>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591A97E-1D4D-4CA2-0F4E-B0DE84A59907}"/>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31" name="TextBox 30">
                  <a:extLst>
                    <a:ext uri="{FF2B5EF4-FFF2-40B4-BE49-F238E27FC236}">
                      <a16:creationId xmlns:a16="http://schemas.microsoft.com/office/drawing/2014/main" id="{F591A97E-1D4D-4CA2-0F4E-B0DE84A59907}"/>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510F0DA-6B68-A756-842F-8CF776A4FAE2}"/>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32" name="TextBox 31">
                  <a:extLst>
                    <a:ext uri="{FF2B5EF4-FFF2-40B4-BE49-F238E27FC236}">
                      <a16:creationId xmlns:a16="http://schemas.microsoft.com/office/drawing/2014/main" id="{D510F0DA-6B68-A756-842F-8CF776A4FAE2}"/>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713AFF6-4C8F-BC99-97E8-34AF7F613D23}"/>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33" name="TextBox 32">
                  <a:extLst>
                    <a:ext uri="{FF2B5EF4-FFF2-40B4-BE49-F238E27FC236}">
                      <a16:creationId xmlns:a16="http://schemas.microsoft.com/office/drawing/2014/main" id="{E713AFF6-4C8F-BC99-97E8-34AF7F613D23}"/>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46D56C8-D56A-2AF7-265C-60D7AF559BB1}"/>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34" name="TextBox 33">
                  <a:extLst>
                    <a:ext uri="{FF2B5EF4-FFF2-40B4-BE49-F238E27FC236}">
                      <a16:creationId xmlns:a16="http://schemas.microsoft.com/office/drawing/2014/main" id="{A46D56C8-D56A-2AF7-265C-60D7AF559BB1}"/>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5F31212-5A8F-DFD4-528B-C035B85802E7}"/>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35" name="TextBox 34">
                  <a:extLst>
                    <a:ext uri="{FF2B5EF4-FFF2-40B4-BE49-F238E27FC236}">
                      <a16:creationId xmlns:a16="http://schemas.microsoft.com/office/drawing/2014/main" id="{75F31212-5A8F-DFD4-528B-C035B85802E7}"/>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1C1EF69-3D8C-6178-46C3-8A2F6C7B98F1}"/>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36" name="TextBox 35">
                  <a:extLst>
                    <a:ext uri="{FF2B5EF4-FFF2-40B4-BE49-F238E27FC236}">
                      <a16:creationId xmlns:a16="http://schemas.microsoft.com/office/drawing/2014/main" id="{61C1EF69-3D8C-6178-46C3-8A2F6C7B98F1}"/>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D7B05E9-E1D6-0C5D-2C47-84C49756AF80}"/>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7" name="TextBox 36">
                  <a:extLst>
                    <a:ext uri="{FF2B5EF4-FFF2-40B4-BE49-F238E27FC236}">
                      <a16:creationId xmlns:a16="http://schemas.microsoft.com/office/drawing/2014/main" id="{1D7B05E9-E1D6-0C5D-2C47-84C49756AF80}"/>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BD58046-A978-E82F-D5AD-9196B97CC8E9}"/>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8" name="TextBox 37">
                  <a:extLst>
                    <a:ext uri="{FF2B5EF4-FFF2-40B4-BE49-F238E27FC236}">
                      <a16:creationId xmlns:a16="http://schemas.microsoft.com/office/drawing/2014/main" id="{0BD58046-A978-E82F-D5AD-9196B97CC8E9}"/>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981705C-EE0B-86A9-A098-A7F48E7F8B2B}"/>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9" name="TextBox 38">
                  <a:extLst>
                    <a:ext uri="{FF2B5EF4-FFF2-40B4-BE49-F238E27FC236}">
                      <a16:creationId xmlns:a16="http://schemas.microsoft.com/office/drawing/2014/main" id="{A981705C-EE0B-86A9-A098-A7F48E7F8B2B}"/>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D478A31-AC8C-7FD3-3EC7-FC168C6B7FB0}"/>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40" name="TextBox 39">
                  <a:extLst>
                    <a:ext uri="{FF2B5EF4-FFF2-40B4-BE49-F238E27FC236}">
                      <a16:creationId xmlns:a16="http://schemas.microsoft.com/office/drawing/2014/main" id="{4D478A31-AC8C-7FD3-3EC7-FC168C6B7FB0}"/>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24"/>
                  <a:stretch>
                    <a:fillRect/>
                  </a:stretch>
                </a:blipFill>
              </p:spPr>
              <p:txBody>
                <a:bodyPr/>
                <a:lstStyle/>
                <a:p>
                  <a:r>
                    <a:rPr lang="en-US">
                      <a:noFill/>
                    </a:rPr>
                    <a:t> </a:t>
                  </a:r>
                </a:p>
              </p:txBody>
            </p:sp>
          </mc:Fallback>
        </mc:AlternateContent>
      </p:grpSp>
      <p:sp>
        <p:nvSpPr>
          <p:cNvPr id="41" name="Title 1">
            <a:extLst>
              <a:ext uri="{FF2B5EF4-FFF2-40B4-BE49-F238E27FC236}">
                <a16:creationId xmlns:a16="http://schemas.microsoft.com/office/drawing/2014/main" id="{C74D85DC-B383-B603-C8C6-928404A67B94}"/>
              </a:ext>
            </a:extLst>
          </p:cNvPr>
          <p:cNvSpPr txBox="1">
            <a:spLocks/>
          </p:cNvSpPr>
          <p:nvPr/>
        </p:nvSpPr>
        <p:spPr>
          <a:xfrm>
            <a:off x="838200" y="237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a:lstStyle>
          <a:p>
            <a:r>
              <a:rPr lang="en-US" sz="2800"/>
              <a:t>If we pick a few covariates, </a:t>
            </a:r>
            <a:br>
              <a:rPr lang="en-US"/>
            </a:br>
            <a:r>
              <a:rPr lang="en-US"/>
              <a:t>we can do T regressions!</a:t>
            </a:r>
            <a:endParaRPr lang="en-US" dirty="0"/>
          </a:p>
        </p:txBody>
      </p:sp>
    </p:spTree>
    <p:extLst>
      <p:ext uri="{BB962C8B-B14F-4D97-AF65-F5344CB8AC3E}">
        <p14:creationId xmlns:p14="http://schemas.microsoft.com/office/powerpoint/2010/main" val="1688645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852-517C-23CF-190A-DFE21E77A663}"/>
              </a:ext>
            </a:extLst>
          </p:cNvPr>
          <p:cNvSpPr>
            <a:spLocks noGrp="1"/>
          </p:cNvSpPr>
          <p:nvPr>
            <p:ph type="title"/>
          </p:nvPr>
        </p:nvSpPr>
        <p:spPr/>
        <p:txBody>
          <a:bodyPr/>
          <a:lstStyle/>
          <a:p>
            <a:r>
              <a:rPr lang="en-US" dirty="0"/>
              <a:t>Same question…</a:t>
            </a:r>
          </a:p>
        </p:txBody>
      </p:sp>
      <p:sp>
        <p:nvSpPr>
          <p:cNvPr id="3" name="Content Placeholder 2">
            <a:extLst>
              <a:ext uri="{FF2B5EF4-FFF2-40B4-BE49-F238E27FC236}">
                <a16:creationId xmlns:a16="http://schemas.microsoft.com/office/drawing/2014/main" id="{6332230D-56E9-FEB8-955F-9F41D8630989}"/>
              </a:ext>
            </a:extLst>
          </p:cNvPr>
          <p:cNvSpPr>
            <a:spLocks noGrp="1"/>
          </p:cNvSpPr>
          <p:nvPr>
            <p:ph idx="1"/>
          </p:nvPr>
        </p:nvSpPr>
        <p:spPr/>
        <p:txBody>
          <a:bodyPr/>
          <a:lstStyle/>
          <a:p>
            <a:r>
              <a:rPr lang="en-US" dirty="0"/>
              <a:t>How do we pick the covariates?</a:t>
            </a:r>
          </a:p>
          <a:p>
            <a:pPr lvl="1"/>
            <a:r>
              <a:rPr lang="en-US" dirty="0">
                <a:solidFill>
                  <a:schemeClr val="accent1"/>
                </a:solidFill>
              </a:rPr>
              <a:t>Pick a few and we may leave out something important</a:t>
            </a:r>
          </a:p>
          <a:p>
            <a:pPr lvl="2"/>
            <a:r>
              <a:rPr lang="en-US" dirty="0">
                <a:solidFill>
                  <a:schemeClr val="accent1"/>
                </a:solidFill>
              </a:rPr>
              <a:t>Omitted variable bias!</a:t>
            </a:r>
          </a:p>
          <a:p>
            <a:pPr lvl="1"/>
            <a:r>
              <a:rPr lang="en-US" dirty="0">
                <a:solidFill>
                  <a:schemeClr val="accent1"/>
                </a:solidFill>
              </a:rPr>
              <a:t>Pick all of them and we’ll have more covariates than countries </a:t>
            </a:r>
          </a:p>
          <a:p>
            <a:pPr lvl="2"/>
            <a:r>
              <a:rPr lang="en-US" dirty="0">
                <a:solidFill>
                  <a:schemeClr val="accent1"/>
                </a:solidFill>
              </a:rPr>
              <a:t>Overfitting!</a:t>
            </a:r>
          </a:p>
          <a:p>
            <a:pPr lvl="2"/>
            <a:endParaRPr lang="en-US" dirty="0">
              <a:solidFill>
                <a:schemeClr val="accent1"/>
              </a:solidFill>
            </a:endParaRPr>
          </a:p>
        </p:txBody>
      </p:sp>
      <p:grpSp>
        <p:nvGrpSpPr>
          <p:cNvPr id="27" name="Group 26">
            <a:extLst>
              <a:ext uri="{FF2B5EF4-FFF2-40B4-BE49-F238E27FC236}">
                <a16:creationId xmlns:a16="http://schemas.microsoft.com/office/drawing/2014/main" id="{75145F50-8423-84CB-3FB5-BCE237C44245}"/>
              </a:ext>
            </a:extLst>
          </p:cNvPr>
          <p:cNvGrpSpPr/>
          <p:nvPr/>
        </p:nvGrpSpPr>
        <p:grpSpPr>
          <a:xfrm>
            <a:off x="7426308" y="148094"/>
            <a:ext cx="4548830" cy="1759624"/>
            <a:chOff x="1669773" y="1968236"/>
            <a:chExt cx="10292114" cy="398130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559DECC-0BFE-50CA-B247-265086BA1220}"/>
                    </a:ext>
                  </a:extLst>
                </p:cNvPr>
                <p:cNvSpPr/>
                <p:nvPr/>
              </p:nvSpPr>
              <p:spPr>
                <a:xfrm>
                  <a:off x="1669773" y="2372139"/>
                  <a:ext cx="1782528"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𝑋</m:t>
                        </m:r>
                      </m:oMath>
                    </m:oMathPara>
                  </a14:m>
                  <a:endParaRPr lang="en-US" sz="1000" dirty="0">
                    <a:solidFill>
                      <a:schemeClr val="tx1"/>
                    </a:solidFill>
                  </a:endParaRPr>
                </a:p>
              </p:txBody>
            </p:sp>
          </mc:Choice>
          <mc:Fallback xmlns="">
            <p:sp>
              <p:nvSpPr>
                <p:cNvPr id="4" name="Rectangle 3">
                  <a:extLst>
                    <a:ext uri="{FF2B5EF4-FFF2-40B4-BE49-F238E27FC236}">
                      <a16:creationId xmlns:a16="http://schemas.microsoft.com/office/drawing/2014/main" id="{A559DECC-0BFE-50CA-B247-265086BA1220}"/>
                    </a:ext>
                  </a:extLst>
                </p:cNvPr>
                <p:cNvSpPr>
                  <a:spLocks noRot="1" noChangeAspect="1" noMove="1" noResize="1" noEditPoints="1" noAdjustHandles="1" noChangeArrowheads="1" noChangeShapeType="1" noTextEdit="1"/>
                </p:cNvSpPr>
                <p:nvPr/>
              </p:nvSpPr>
              <p:spPr>
                <a:xfrm>
                  <a:off x="1669773" y="2372139"/>
                  <a:ext cx="1782528" cy="3577397"/>
                </a:xfrm>
                <a:prstGeom prst="rect">
                  <a:avLst/>
                </a:prstGeom>
                <a:blipFill>
                  <a:blip r:embed="rId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A08189F-E296-4405-E878-E1A9CDB41012}"/>
                </a:ext>
              </a:extLst>
            </p:cNvPr>
            <p:cNvSpPr txBox="1"/>
            <p:nvPr/>
          </p:nvSpPr>
          <p:spPr>
            <a:xfrm rot="2497090">
              <a:off x="3232077" y="1968236"/>
              <a:ext cx="584661" cy="452642"/>
            </a:xfrm>
            <a:prstGeom prst="rect">
              <a:avLst/>
            </a:prstGeom>
            <a:noFill/>
          </p:spPr>
          <p:txBody>
            <a:bodyPr wrap="none" rtlCol="0">
              <a:spAutoFit/>
            </a:bodyPr>
            <a:lstStyle/>
            <a:p>
              <a:r>
                <a:rPr lang="en-US" sz="700" dirty="0"/>
                <a:t>…</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43C3EA7-CF0C-D6EC-E0C2-A68ECDAEBE8B}"/>
                    </a:ext>
                  </a:extLst>
                </p:cNvPr>
                <p:cNvSpPr/>
                <p:nvPr/>
              </p:nvSpPr>
              <p:spPr>
                <a:xfrm>
                  <a:off x="3704624" y="2384597"/>
                  <a:ext cx="3122019" cy="137188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𝐵</m:t>
                        </m:r>
                      </m:oMath>
                    </m:oMathPara>
                  </a14:m>
                  <a:endParaRPr lang="en-US" sz="1000" dirty="0">
                    <a:solidFill>
                      <a:schemeClr val="tx1"/>
                    </a:solidFill>
                  </a:endParaRPr>
                </a:p>
              </p:txBody>
            </p:sp>
          </mc:Choice>
          <mc:Fallback xmlns="">
            <p:sp>
              <p:nvSpPr>
                <p:cNvPr id="6" name="Rectangle 5">
                  <a:extLst>
                    <a:ext uri="{FF2B5EF4-FFF2-40B4-BE49-F238E27FC236}">
                      <a16:creationId xmlns:a16="http://schemas.microsoft.com/office/drawing/2014/main" id="{643C3EA7-CF0C-D6EC-E0C2-A68ECDAEBE8B}"/>
                    </a:ext>
                  </a:extLst>
                </p:cNvPr>
                <p:cNvSpPr>
                  <a:spLocks noRot="1" noChangeAspect="1" noMove="1" noResize="1" noEditPoints="1" noAdjustHandles="1" noChangeArrowheads="1" noChangeShapeType="1" noTextEdit="1"/>
                </p:cNvSpPr>
                <p:nvPr/>
              </p:nvSpPr>
              <p:spPr>
                <a:xfrm>
                  <a:off x="3704624" y="2384597"/>
                  <a:ext cx="3122019" cy="137188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A911CB-D6ED-BA51-6125-A07D67DA64AB}"/>
                    </a:ext>
                  </a:extLst>
                </p:cNvPr>
                <p:cNvSpPr txBox="1"/>
                <p:nvPr/>
              </p:nvSpPr>
              <p:spPr>
                <a:xfrm>
                  <a:off x="6922791" y="3756477"/>
                  <a:ext cx="858549" cy="8356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00A911CB-D6ED-BA51-6125-A07D67DA64AB}"/>
                    </a:ext>
                  </a:extLst>
                </p:cNvPr>
                <p:cNvSpPr txBox="1">
                  <a:spLocks noRot="1" noChangeAspect="1" noMove="1" noResize="1" noEditPoints="1" noAdjustHandles="1" noChangeArrowheads="1" noChangeShapeType="1" noTextEdit="1"/>
                </p:cNvSpPr>
                <p:nvPr/>
              </p:nvSpPr>
              <p:spPr>
                <a:xfrm>
                  <a:off x="6922791" y="3756477"/>
                  <a:ext cx="858549" cy="835645"/>
                </a:xfrm>
                <a:prstGeom prst="rect">
                  <a:avLst/>
                </a:prstGeom>
                <a:blipFill>
                  <a:blip r:embed="rId5"/>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FFC09C31-CB58-0F78-65E4-E2A5D488EC0C}"/>
                </a:ext>
              </a:extLst>
            </p:cNvPr>
            <p:cNvGrpSpPr/>
            <p:nvPr/>
          </p:nvGrpSpPr>
          <p:grpSpPr>
            <a:xfrm>
              <a:off x="7712769" y="2492665"/>
              <a:ext cx="4249118" cy="3443049"/>
              <a:chOff x="1846882" y="2597802"/>
              <a:chExt cx="4249118" cy="2693288"/>
            </a:xfrm>
          </p:grpSpPr>
          <p:sp>
            <p:nvSpPr>
              <p:cNvPr id="9" name="Rectangle 8">
                <a:extLst>
                  <a:ext uri="{FF2B5EF4-FFF2-40B4-BE49-F238E27FC236}">
                    <a16:creationId xmlns:a16="http://schemas.microsoft.com/office/drawing/2014/main" id="{C1DB9876-FABE-2AAA-B810-11E6388EFF0C}"/>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01897E-2223-2D05-A83E-21ECEA7CA104}"/>
                      </a:ext>
                    </a:extLst>
                  </p:cNvPr>
                  <p:cNvSpPr txBox="1"/>
                  <p:nvPr/>
                </p:nvSpPr>
                <p:spPr>
                  <a:xfrm>
                    <a:off x="1939777"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1,1</m:t>
                              </m:r>
                            </m:sub>
                          </m:sSub>
                        </m:oMath>
                      </m:oMathPara>
                    </a14:m>
                    <a:endParaRPr lang="en-US" sz="1050" dirty="0">
                      <a:solidFill>
                        <a:schemeClr val="bg1"/>
                      </a:solidFill>
                    </a:endParaRPr>
                  </a:p>
                </p:txBody>
              </p:sp>
            </mc:Choice>
            <mc:Fallback xmlns="">
              <p:sp>
                <p:nvSpPr>
                  <p:cNvPr id="10" name="TextBox 9">
                    <a:extLst>
                      <a:ext uri="{FF2B5EF4-FFF2-40B4-BE49-F238E27FC236}">
                        <a16:creationId xmlns:a16="http://schemas.microsoft.com/office/drawing/2014/main" id="{2A01897E-2223-2D05-A83E-21ECEA7CA104}"/>
                      </a:ext>
                    </a:extLst>
                  </p:cNvPr>
                  <p:cNvSpPr txBox="1">
                    <a:spLocks noRot="1" noChangeAspect="1" noMove="1" noResize="1" noEditPoints="1" noAdjustHandles="1" noChangeArrowheads="1" noChangeShapeType="1" noTextEdit="1"/>
                  </p:cNvSpPr>
                  <p:nvPr/>
                </p:nvSpPr>
                <p:spPr>
                  <a:xfrm>
                    <a:off x="1939777" y="2788226"/>
                    <a:ext cx="656855" cy="298466"/>
                  </a:xfrm>
                  <a:prstGeom prst="rect">
                    <a:avLst/>
                  </a:prstGeom>
                  <a:blipFill>
                    <a:blip r:embed="rId6"/>
                    <a:stretch>
                      <a:fillRect b="-1428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8F495E6-87BE-0226-71C3-D2E96BDE0C6F}"/>
                  </a:ext>
                </a:extLst>
              </p:cNvPr>
              <p:cNvSpPr txBox="1"/>
              <p:nvPr/>
            </p:nvSpPr>
            <p:spPr>
              <a:xfrm>
                <a:off x="5667213" y="2892741"/>
                <a:ext cx="258306" cy="435782"/>
              </a:xfrm>
              <a:prstGeom prst="rect">
                <a:avLst/>
              </a:prstGeom>
              <a:noFill/>
            </p:spPr>
            <p:txBody>
              <a:bodyPr wrap="square" rtlCol="0">
                <a:spAutoFit/>
              </a:bodyPr>
              <a:lstStyle/>
              <a:p>
                <a:endParaRPr lang="en-US" sz="10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6C5597-8FD8-471E-2B46-C0D8C3D5B3F3}"/>
                      </a:ext>
                    </a:extLst>
                  </p:cNvPr>
                  <p:cNvSpPr txBox="1"/>
                  <p:nvPr/>
                </p:nvSpPr>
                <p:spPr>
                  <a:xfrm>
                    <a:off x="2692783"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1,2</m:t>
                              </m:r>
                            </m:sub>
                          </m:sSub>
                        </m:oMath>
                      </m:oMathPara>
                    </a14:m>
                    <a:endParaRPr lang="en-US" sz="1050" dirty="0">
                      <a:solidFill>
                        <a:schemeClr val="bg1"/>
                      </a:solidFill>
                    </a:endParaRPr>
                  </a:p>
                </p:txBody>
              </p:sp>
            </mc:Choice>
            <mc:Fallback xmlns="">
              <p:sp>
                <p:nvSpPr>
                  <p:cNvPr id="12" name="TextBox 11">
                    <a:extLst>
                      <a:ext uri="{FF2B5EF4-FFF2-40B4-BE49-F238E27FC236}">
                        <a16:creationId xmlns:a16="http://schemas.microsoft.com/office/drawing/2014/main" id="{526C5597-8FD8-471E-2B46-C0D8C3D5B3F3}"/>
                      </a:ext>
                    </a:extLst>
                  </p:cNvPr>
                  <p:cNvSpPr txBox="1">
                    <a:spLocks noRot="1" noChangeAspect="1" noMove="1" noResize="1" noEditPoints="1" noAdjustHandles="1" noChangeArrowheads="1" noChangeShapeType="1" noTextEdit="1"/>
                  </p:cNvSpPr>
                  <p:nvPr/>
                </p:nvSpPr>
                <p:spPr>
                  <a:xfrm>
                    <a:off x="2692783" y="2788226"/>
                    <a:ext cx="656855" cy="298466"/>
                  </a:xfrm>
                  <a:prstGeom prst="rect">
                    <a:avLst/>
                  </a:prstGeom>
                  <a:blipFill>
                    <a:blip r:embed="rId7"/>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CE92E74-BA85-E4E4-C7CB-16B306C7C105}"/>
                      </a:ext>
                    </a:extLst>
                  </p:cNvPr>
                  <p:cNvSpPr txBox="1"/>
                  <p:nvPr/>
                </p:nvSpPr>
                <p:spPr>
                  <a:xfrm>
                    <a:off x="5179522"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3" name="TextBox 12">
                    <a:extLst>
                      <a:ext uri="{FF2B5EF4-FFF2-40B4-BE49-F238E27FC236}">
                        <a16:creationId xmlns:a16="http://schemas.microsoft.com/office/drawing/2014/main" id="{ECE92E74-BA85-E4E4-C7CB-16B306C7C105}"/>
                      </a:ext>
                    </a:extLst>
                  </p:cNvPr>
                  <p:cNvSpPr txBox="1">
                    <a:spLocks noRot="1" noChangeAspect="1" noMove="1" noResize="1" noEditPoints="1" noAdjustHandles="1" noChangeArrowheads="1" noChangeShapeType="1" noTextEdit="1"/>
                  </p:cNvSpPr>
                  <p:nvPr/>
                </p:nvSpPr>
                <p:spPr>
                  <a:xfrm>
                    <a:off x="5179522" y="2788226"/>
                    <a:ext cx="656855" cy="298466"/>
                  </a:xfrm>
                  <a:prstGeom prst="rect">
                    <a:avLst/>
                  </a:prstGeom>
                  <a:blipFill>
                    <a:blip r:embed="rId8"/>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2008E63-0EF1-B302-29F8-614637AF4A71}"/>
                      </a:ext>
                    </a:extLst>
                  </p:cNvPr>
                  <p:cNvSpPr txBox="1"/>
                  <p:nvPr/>
                </p:nvSpPr>
                <p:spPr>
                  <a:xfrm>
                    <a:off x="1972186"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2,1</m:t>
                              </m:r>
                            </m:sub>
                          </m:sSub>
                        </m:oMath>
                      </m:oMathPara>
                    </a14:m>
                    <a:endParaRPr lang="en-US" sz="1050" dirty="0">
                      <a:solidFill>
                        <a:schemeClr val="bg1"/>
                      </a:solidFill>
                    </a:endParaRPr>
                  </a:p>
                </p:txBody>
              </p:sp>
            </mc:Choice>
            <mc:Fallback xmlns="">
              <p:sp>
                <p:nvSpPr>
                  <p:cNvPr id="14" name="TextBox 13">
                    <a:extLst>
                      <a:ext uri="{FF2B5EF4-FFF2-40B4-BE49-F238E27FC236}">
                        <a16:creationId xmlns:a16="http://schemas.microsoft.com/office/drawing/2014/main" id="{E2008E63-0EF1-B302-29F8-614637AF4A71}"/>
                      </a:ext>
                    </a:extLst>
                  </p:cNvPr>
                  <p:cNvSpPr txBox="1">
                    <a:spLocks noRot="1" noChangeAspect="1" noMove="1" noResize="1" noEditPoints="1" noAdjustHandles="1" noChangeArrowheads="1" noChangeShapeType="1" noTextEdit="1"/>
                  </p:cNvSpPr>
                  <p:nvPr/>
                </p:nvSpPr>
                <p:spPr>
                  <a:xfrm>
                    <a:off x="1972186" y="3265230"/>
                    <a:ext cx="656855" cy="298466"/>
                  </a:xfrm>
                  <a:prstGeom prst="rect">
                    <a:avLst/>
                  </a:prstGeom>
                  <a:blipFill>
                    <a:blip r:embed="rId9"/>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D33CBF-2E20-EC4E-75A7-75CD0CCCEB43}"/>
                      </a:ext>
                    </a:extLst>
                  </p:cNvPr>
                  <p:cNvSpPr txBox="1"/>
                  <p:nvPr/>
                </p:nvSpPr>
                <p:spPr>
                  <a:xfrm>
                    <a:off x="2725190"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2,2</m:t>
                              </m:r>
                            </m:sub>
                          </m:sSub>
                        </m:oMath>
                      </m:oMathPara>
                    </a14:m>
                    <a:endParaRPr lang="en-US" sz="1050" dirty="0">
                      <a:solidFill>
                        <a:schemeClr val="bg1"/>
                      </a:solidFill>
                    </a:endParaRPr>
                  </a:p>
                </p:txBody>
              </p:sp>
            </mc:Choice>
            <mc:Fallback xmlns="">
              <p:sp>
                <p:nvSpPr>
                  <p:cNvPr id="15" name="TextBox 14">
                    <a:extLst>
                      <a:ext uri="{FF2B5EF4-FFF2-40B4-BE49-F238E27FC236}">
                        <a16:creationId xmlns:a16="http://schemas.microsoft.com/office/drawing/2014/main" id="{BAD33CBF-2E20-EC4E-75A7-75CD0CCCEB43}"/>
                      </a:ext>
                    </a:extLst>
                  </p:cNvPr>
                  <p:cNvSpPr txBox="1">
                    <a:spLocks noRot="1" noChangeAspect="1" noMove="1" noResize="1" noEditPoints="1" noAdjustHandles="1" noChangeArrowheads="1" noChangeShapeType="1" noTextEdit="1"/>
                  </p:cNvSpPr>
                  <p:nvPr/>
                </p:nvSpPr>
                <p:spPr>
                  <a:xfrm>
                    <a:off x="2725190" y="3265230"/>
                    <a:ext cx="656855" cy="298466"/>
                  </a:xfrm>
                  <a:prstGeom prst="rect">
                    <a:avLst/>
                  </a:prstGeom>
                  <a:blipFill>
                    <a:blip r:embed="rId10"/>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01E2C4-74AC-2A63-32E5-80604A751BF7}"/>
                      </a:ext>
                    </a:extLst>
                  </p:cNvPr>
                  <p:cNvSpPr txBox="1"/>
                  <p:nvPr/>
                </p:nvSpPr>
                <p:spPr>
                  <a:xfrm>
                    <a:off x="5211929"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6" name="TextBox 15">
                    <a:extLst>
                      <a:ext uri="{FF2B5EF4-FFF2-40B4-BE49-F238E27FC236}">
                        <a16:creationId xmlns:a16="http://schemas.microsoft.com/office/drawing/2014/main" id="{AE01E2C4-74AC-2A63-32E5-80604A751BF7}"/>
                      </a:ext>
                    </a:extLst>
                  </p:cNvPr>
                  <p:cNvSpPr txBox="1">
                    <a:spLocks noRot="1" noChangeAspect="1" noMove="1" noResize="1" noEditPoints="1" noAdjustHandles="1" noChangeArrowheads="1" noChangeShapeType="1" noTextEdit="1"/>
                  </p:cNvSpPr>
                  <p:nvPr/>
                </p:nvSpPr>
                <p:spPr>
                  <a:xfrm>
                    <a:off x="5211929" y="3265230"/>
                    <a:ext cx="656855" cy="298466"/>
                  </a:xfrm>
                  <a:prstGeom prst="rect">
                    <a:avLst/>
                  </a:prstGeom>
                  <a:blipFill>
                    <a:blip r:embed="rId11"/>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CD35230-2E5E-DFFE-2CB7-D078ACE5E4B3}"/>
                      </a:ext>
                    </a:extLst>
                  </p:cNvPr>
                  <p:cNvSpPr txBox="1"/>
                  <p:nvPr/>
                </p:nvSpPr>
                <p:spPr>
                  <a:xfrm>
                    <a:off x="1972186"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3,1</m:t>
                              </m:r>
                            </m:sub>
                          </m:sSub>
                        </m:oMath>
                      </m:oMathPara>
                    </a14:m>
                    <a:endParaRPr lang="en-US" sz="1050" dirty="0">
                      <a:solidFill>
                        <a:schemeClr val="bg1"/>
                      </a:solidFill>
                    </a:endParaRPr>
                  </a:p>
                </p:txBody>
              </p:sp>
            </mc:Choice>
            <mc:Fallback xmlns="">
              <p:sp>
                <p:nvSpPr>
                  <p:cNvPr id="17" name="TextBox 16">
                    <a:extLst>
                      <a:ext uri="{FF2B5EF4-FFF2-40B4-BE49-F238E27FC236}">
                        <a16:creationId xmlns:a16="http://schemas.microsoft.com/office/drawing/2014/main" id="{2CD35230-2E5E-DFFE-2CB7-D078ACE5E4B3}"/>
                      </a:ext>
                    </a:extLst>
                  </p:cNvPr>
                  <p:cNvSpPr txBox="1">
                    <a:spLocks noRot="1" noChangeAspect="1" noMove="1" noResize="1" noEditPoints="1" noAdjustHandles="1" noChangeArrowheads="1" noChangeShapeType="1" noTextEdit="1"/>
                  </p:cNvSpPr>
                  <p:nvPr/>
                </p:nvSpPr>
                <p:spPr>
                  <a:xfrm>
                    <a:off x="1972186" y="3802731"/>
                    <a:ext cx="656855" cy="298466"/>
                  </a:xfrm>
                  <a:prstGeom prst="rect">
                    <a:avLst/>
                  </a:prstGeom>
                  <a:blipFill>
                    <a:blip r:embed="rId12"/>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137A225-FDF3-8542-13C0-2169C93DB141}"/>
                      </a:ext>
                    </a:extLst>
                  </p:cNvPr>
                  <p:cNvSpPr txBox="1"/>
                  <p:nvPr/>
                </p:nvSpPr>
                <p:spPr>
                  <a:xfrm>
                    <a:off x="2725190"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3,2</m:t>
                              </m:r>
                            </m:sub>
                          </m:sSub>
                        </m:oMath>
                      </m:oMathPara>
                    </a14:m>
                    <a:endParaRPr lang="en-US" sz="1050" dirty="0">
                      <a:solidFill>
                        <a:schemeClr val="bg1"/>
                      </a:solidFill>
                    </a:endParaRPr>
                  </a:p>
                </p:txBody>
              </p:sp>
            </mc:Choice>
            <mc:Fallback xmlns="">
              <p:sp>
                <p:nvSpPr>
                  <p:cNvPr id="18" name="TextBox 17">
                    <a:extLst>
                      <a:ext uri="{FF2B5EF4-FFF2-40B4-BE49-F238E27FC236}">
                        <a16:creationId xmlns:a16="http://schemas.microsoft.com/office/drawing/2014/main" id="{A137A225-FDF3-8542-13C0-2169C93DB141}"/>
                      </a:ext>
                    </a:extLst>
                  </p:cNvPr>
                  <p:cNvSpPr txBox="1">
                    <a:spLocks noRot="1" noChangeAspect="1" noMove="1" noResize="1" noEditPoints="1" noAdjustHandles="1" noChangeArrowheads="1" noChangeShapeType="1" noTextEdit="1"/>
                  </p:cNvSpPr>
                  <p:nvPr/>
                </p:nvSpPr>
                <p:spPr>
                  <a:xfrm>
                    <a:off x="2725190" y="3802731"/>
                    <a:ext cx="656855" cy="298466"/>
                  </a:xfrm>
                  <a:prstGeom prst="rect">
                    <a:avLst/>
                  </a:prstGeom>
                  <a:blipFill>
                    <a:blip r:embed="rId13"/>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FA78E3A-2260-BABB-D3BC-561554654958}"/>
                      </a:ext>
                    </a:extLst>
                  </p:cNvPr>
                  <p:cNvSpPr txBox="1"/>
                  <p:nvPr/>
                </p:nvSpPr>
                <p:spPr>
                  <a:xfrm>
                    <a:off x="5211929"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9" name="TextBox 18">
                    <a:extLst>
                      <a:ext uri="{FF2B5EF4-FFF2-40B4-BE49-F238E27FC236}">
                        <a16:creationId xmlns:a16="http://schemas.microsoft.com/office/drawing/2014/main" id="{4FA78E3A-2260-BABB-D3BC-561554654958}"/>
                      </a:ext>
                    </a:extLst>
                  </p:cNvPr>
                  <p:cNvSpPr txBox="1">
                    <a:spLocks noRot="1" noChangeAspect="1" noMove="1" noResize="1" noEditPoints="1" noAdjustHandles="1" noChangeArrowheads="1" noChangeShapeType="1" noTextEdit="1"/>
                  </p:cNvSpPr>
                  <p:nvPr/>
                </p:nvSpPr>
                <p:spPr>
                  <a:xfrm>
                    <a:off x="5211929" y="3802731"/>
                    <a:ext cx="656855" cy="298466"/>
                  </a:xfrm>
                  <a:prstGeom prst="rect">
                    <a:avLst/>
                  </a:prstGeom>
                  <a:blipFill>
                    <a:blip r:embed="rId14"/>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182815D-7922-B074-5233-800747A4086B}"/>
                      </a:ext>
                    </a:extLst>
                  </p:cNvPr>
                  <p:cNvSpPr txBox="1"/>
                  <p:nvPr/>
                </p:nvSpPr>
                <p:spPr>
                  <a:xfrm>
                    <a:off x="1977447"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,1</m:t>
                              </m:r>
                            </m:sub>
                          </m:sSub>
                        </m:oMath>
                      </m:oMathPara>
                    </a14:m>
                    <a:endParaRPr lang="en-US" sz="1050" dirty="0">
                      <a:solidFill>
                        <a:schemeClr val="bg1"/>
                      </a:solidFill>
                    </a:endParaRPr>
                  </a:p>
                </p:txBody>
              </p:sp>
            </mc:Choice>
            <mc:Fallback xmlns="">
              <p:sp>
                <p:nvSpPr>
                  <p:cNvPr id="20" name="TextBox 19">
                    <a:extLst>
                      <a:ext uri="{FF2B5EF4-FFF2-40B4-BE49-F238E27FC236}">
                        <a16:creationId xmlns:a16="http://schemas.microsoft.com/office/drawing/2014/main" id="{3182815D-7922-B074-5233-800747A4086B}"/>
                      </a:ext>
                    </a:extLst>
                  </p:cNvPr>
                  <p:cNvSpPr txBox="1">
                    <a:spLocks noRot="1" noChangeAspect="1" noMove="1" noResize="1" noEditPoints="1" noAdjustHandles="1" noChangeArrowheads="1" noChangeShapeType="1" noTextEdit="1"/>
                  </p:cNvSpPr>
                  <p:nvPr/>
                </p:nvSpPr>
                <p:spPr>
                  <a:xfrm>
                    <a:off x="1977447" y="4810901"/>
                    <a:ext cx="656855" cy="298466"/>
                  </a:xfrm>
                  <a:prstGeom prst="rect">
                    <a:avLst/>
                  </a:prstGeom>
                  <a:blipFill>
                    <a:blip r:embed="rId1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E486E26-0C47-E9CD-EC1F-B51B0CDDE91B}"/>
                      </a:ext>
                    </a:extLst>
                  </p:cNvPr>
                  <p:cNvSpPr txBox="1"/>
                  <p:nvPr/>
                </p:nvSpPr>
                <p:spPr>
                  <a:xfrm>
                    <a:off x="2730451"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,2</m:t>
                              </m:r>
                            </m:sub>
                          </m:sSub>
                        </m:oMath>
                      </m:oMathPara>
                    </a14:m>
                    <a:endParaRPr lang="en-US" sz="1050" dirty="0">
                      <a:solidFill>
                        <a:schemeClr val="bg1"/>
                      </a:solidFill>
                    </a:endParaRPr>
                  </a:p>
                </p:txBody>
              </p:sp>
            </mc:Choice>
            <mc:Fallback xmlns="">
              <p:sp>
                <p:nvSpPr>
                  <p:cNvPr id="21" name="TextBox 20">
                    <a:extLst>
                      <a:ext uri="{FF2B5EF4-FFF2-40B4-BE49-F238E27FC236}">
                        <a16:creationId xmlns:a16="http://schemas.microsoft.com/office/drawing/2014/main" id="{AE486E26-0C47-E9CD-EC1F-B51B0CDDE91B}"/>
                      </a:ext>
                    </a:extLst>
                  </p:cNvPr>
                  <p:cNvSpPr txBox="1">
                    <a:spLocks noRot="1" noChangeAspect="1" noMove="1" noResize="1" noEditPoints="1" noAdjustHandles="1" noChangeArrowheads="1" noChangeShapeType="1" noTextEdit="1"/>
                  </p:cNvSpPr>
                  <p:nvPr/>
                </p:nvSpPr>
                <p:spPr>
                  <a:xfrm>
                    <a:off x="2730451" y="4810901"/>
                    <a:ext cx="656855" cy="298466"/>
                  </a:xfrm>
                  <a:prstGeom prst="rect">
                    <a:avLst/>
                  </a:prstGeom>
                  <a:blipFill>
                    <a:blip r:embed="rId1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BE5F55D-E237-4B77-18BC-BF90A64909F0}"/>
                      </a:ext>
                    </a:extLst>
                  </p:cNvPr>
                  <p:cNvSpPr txBox="1"/>
                  <p:nvPr/>
                </p:nvSpPr>
                <p:spPr>
                  <a:xfrm>
                    <a:off x="5217190"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22" name="TextBox 21">
                    <a:extLst>
                      <a:ext uri="{FF2B5EF4-FFF2-40B4-BE49-F238E27FC236}">
                        <a16:creationId xmlns:a16="http://schemas.microsoft.com/office/drawing/2014/main" id="{7BE5F55D-E237-4B77-18BC-BF90A64909F0}"/>
                      </a:ext>
                    </a:extLst>
                  </p:cNvPr>
                  <p:cNvSpPr txBox="1">
                    <a:spLocks noRot="1" noChangeAspect="1" noMove="1" noResize="1" noEditPoints="1" noAdjustHandles="1" noChangeArrowheads="1" noChangeShapeType="1" noTextEdit="1"/>
                  </p:cNvSpPr>
                  <p:nvPr/>
                </p:nvSpPr>
                <p:spPr>
                  <a:xfrm>
                    <a:off x="5217190" y="4810901"/>
                    <a:ext cx="656855" cy="298466"/>
                  </a:xfrm>
                  <a:prstGeom prst="rect">
                    <a:avLst/>
                  </a:prstGeom>
                  <a:blipFill>
                    <a:blip r:embed="rId17"/>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B899D03-B9B7-6E7E-404A-CFB4CF9F758C}"/>
                      </a:ext>
                    </a:extLst>
                  </p:cNvPr>
                  <p:cNvSpPr txBox="1"/>
                  <p:nvPr/>
                </p:nvSpPr>
                <p:spPr>
                  <a:xfrm>
                    <a:off x="2116562" y="4363342"/>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3" name="TextBox 22">
                    <a:extLst>
                      <a:ext uri="{FF2B5EF4-FFF2-40B4-BE49-F238E27FC236}">
                        <a16:creationId xmlns:a16="http://schemas.microsoft.com/office/drawing/2014/main" id="{CB899D03-B9B7-6E7E-404A-CFB4CF9F758C}"/>
                      </a:ext>
                    </a:extLst>
                  </p:cNvPr>
                  <p:cNvSpPr txBox="1">
                    <a:spLocks noRot="1" noChangeAspect="1" noMove="1" noResize="1" noEditPoints="1" noAdjustHandles="1" noChangeArrowheads="1" noChangeShapeType="1" noTextEdit="1"/>
                  </p:cNvSpPr>
                  <p:nvPr/>
                </p:nvSpPr>
                <p:spPr>
                  <a:xfrm>
                    <a:off x="2116562" y="4363342"/>
                    <a:ext cx="566529" cy="43578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A1B9368-8708-2C99-E668-BCB3F1B4FBE5}"/>
                      </a:ext>
                    </a:extLst>
                  </p:cNvPr>
                  <p:cNvSpPr txBox="1"/>
                  <p:nvPr/>
                </p:nvSpPr>
                <p:spPr>
                  <a:xfrm>
                    <a:off x="5356305" y="4338167"/>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4" name="TextBox 23">
                    <a:extLst>
                      <a:ext uri="{FF2B5EF4-FFF2-40B4-BE49-F238E27FC236}">
                        <a16:creationId xmlns:a16="http://schemas.microsoft.com/office/drawing/2014/main" id="{5A1B9368-8708-2C99-E668-BCB3F1B4FBE5}"/>
                      </a:ext>
                    </a:extLst>
                  </p:cNvPr>
                  <p:cNvSpPr txBox="1">
                    <a:spLocks noRot="1" noChangeAspect="1" noMove="1" noResize="1" noEditPoints="1" noAdjustHandles="1" noChangeArrowheads="1" noChangeShapeType="1" noTextEdit="1"/>
                  </p:cNvSpPr>
                  <p:nvPr/>
                </p:nvSpPr>
                <p:spPr>
                  <a:xfrm>
                    <a:off x="5356305" y="4338167"/>
                    <a:ext cx="566529" cy="43578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892E421-00EB-2B79-88A8-6E4A90DB9F16}"/>
                      </a:ext>
                    </a:extLst>
                  </p:cNvPr>
                  <p:cNvSpPr txBox="1"/>
                  <p:nvPr/>
                </p:nvSpPr>
                <p:spPr>
                  <a:xfrm>
                    <a:off x="3804923" y="2798886"/>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5" name="TextBox 24">
                    <a:extLst>
                      <a:ext uri="{FF2B5EF4-FFF2-40B4-BE49-F238E27FC236}">
                        <a16:creationId xmlns:a16="http://schemas.microsoft.com/office/drawing/2014/main" id="{6892E421-00EB-2B79-88A8-6E4A90DB9F16}"/>
                      </a:ext>
                    </a:extLst>
                  </p:cNvPr>
                  <p:cNvSpPr txBox="1">
                    <a:spLocks noRot="1" noChangeAspect="1" noMove="1" noResize="1" noEditPoints="1" noAdjustHandles="1" noChangeArrowheads="1" noChangeShapeType="1" noTextEdit="1"/>
                  </p:cNvSpPr>
                  <p:nvPr/>
                </p:nvSpPr>
                <p:spPr>
                  <a:xfrm>
                    <a:off x="3804923" y="2798886"/>
                    <a:ext cx="850773" cy="43578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C4B1195-4BA8-9E1E-44A6-F2177DE5FB08}"/>
                      </a:ext>
                    </a:extLst>
                  </p:cNvPr>
                  <p:cNvSpPr txBox="1"/>
                  <p:nvPr/>
                </p:nvSpPr>
                <p:spPr>
                  <a:xfrm>
                    <a:off x="3799341" y="4829425"/>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6" name="TextBox 25">
                    <a:extLst>
                      <a:ext uri="{FF2B5EF4-FFF2-40B4-BE49-F238E27FC236}">
                        <a16:creationId xmlns:a16="http://schemas.microsoft.com/office/drawing/2014/main" id="{DC4B1195-4BA8-9E1E-44A6-F2177DE5FB08}"/>
                      </a:ext>
                    </a:extLst>
                  </p:cNvPr>
                  <p:cNvSpPr txBox="1">
                    <a:spLocks noRot="1" noChangeAspect="1" noMove="1" noResize="1" noEditPoints="1" noAdjustHandles="1" noChangeArrowheads="1" noChangeShapeType="1" noTextEdit="1"/>
                  </p:cNvSpPr>
                  <p:nvPr/>
                </p:nvSpPr>
                <p:spPr>
                  <a:xfrm>
                    <a:off x="3799341" y="4829425"/>
                    <a:ext cx="850773" cy="435782"/>
                  </a:xfrm>
                  <a:prstGeom prst="rect">
                    <a:avLst/>
                  </a:prstGeom>
                  <a:blipFill>
                    <a:blip r:embed="rId21"/>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1266998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B4BFE-32D5-1581-BB48-8EE7B7725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BD50E-5282-CE89-8F0D-18724303B128}"/>
              </a:ext>
            </a:extLst>
          </p:cNvPr>
          <p:cNvSpPr>
            <a:spLocks noGrp="1"/>
          </p:cNvSpPr>
          <p:nvPr>
            <p:ph type="title"/>
          </p:nvPr>
        </p:nvSpPr>
        <p:spPr/>
        <p:txBody>
          <a:bodyPr/>
          <a:lstStyle/>
          <a:p>
            <a:r>
              <a:rPr lang="en-US" dirty="0"/>
              <a:t>Same question…</a:t>
            </a:r>
          </a:p>
        </p:txBody>
      </p:sp>
      <p:sp>
        <p:nvSpPr>
          <p:cNvPr id="3" name="Content Placeholder 2">
            <a:extLst>
              <a:ext uri="{FF2B5EF4-FFF2-40B4-BE49-F238E27FC236}">
                <a16:creationId xmlns:a16="http://schemas.microsoft.com/office/drawing/2014/main" id="{3DBD663C-6E83-E2B8-ED73-051BF7C5894A}"/>
              </a:ext>
            </a:extLst>
          </p:cNvPr>
          <p:cNvSpPr>
            <a:spLocks noGrp="1"/>
          </p:cNvSpPr>
          <p:nvPr>
            <p:ph idx="1"/>
          </p:nvPr>
        </p:nvSpPr>
        <p:spPr/>
        <p:txBody>
          <a:bodyPr/>
          <a:lstStyle/>
          <a:p>
            <a:r>
              <a:rPr lang="en-US" dirty="0"/>
              <a:t>How do we pick the covariates?</a:t>
            </a:r>
          </a:p>
          <a:p>
            <a:pPr lvl="1"/>
            <a:r>
              <a:rPr lang="en-US" dirty="0">
                <a:solidFill>
                  <a:schemeClr val="accent1"/>
                </a:solidFill>
              </a:rPr>
              <a:t>Pick a few and we may leave out something important</a:t>
            </a:r>
          </a:p>
          <a:p>
            <a:pPr lvl="2"/>
            <a:r>
              <a:rPr lang="en-US" dirty="0">
                <a:solidFill>
                  <a:schemeClr val="accent1"/>
                </a:solidFill>
              </a:rPr>
              <a:t>Omitted variable bias!</a:t>
            </a:r>
          </a:p>
          <a:p>
            <a:pPr lvl="1"/>
            <a:r>
              <a:rPr lang="en-US" dirty="0">
                <a:solidFill>
                  <a:schemeClr val="accent1"/>
                </a:solidFill>
              </a:rPr>
              <a:t>Pick all of them and we’ll have more covariates than countries </a:t>
            </a:r>
          </a:p>
          <a:p>
            <a:pPr lvl="2"/>
            <a:r>
              <a:rPr lang="en-US" dirty="0">
                <a:solidFill>
                  <a:schemeClr val="accent1"/>
                </a:solidFill>
              </a:rPr>
              <a:t>Overfitting!</a:t>
            </a:r>
          </a:p>
          <a:p>
            <a:pPr lvl="2"/>
            <a:endParaRPr lang="en-US" dirty="0">
              <a:solidFill>
                <a:schemeClr val="accent1"/>
              </a:solidFill>
            </a:endParaRPr>
          </a:p>
          <a:p>
            <a:r>
              <a:rPr lang="en-US" b="1" dirty="0"/>
              <a:t>Solution: </a:t>
            </a:r>
            <a:r>
              <a:rPr lang="en-US" dirty="0"/>
              <a:t>don’t look at any covariate information at all!</a:t>
            </a:r>
          </a:p>
          <a:p>
            <a:pPr lvl="1"/>
            <a:r>
              <a:rPr lang="en-US" dirty="0">
                <a:solidFill>
                  <a:schemeClr val="accent1"/>
                </a:solidFill>
              </a:rPr>
              <a:t>Let the Y matrix “tell us” what they should be</a:t>
            </a:r>
          </a:p>
        </p:txBody>
      </p:sp>
      <p:grpSp>
        <p:nvGrpSpPr>
          <p:cNvPr id="27" name="Group 26">
            <a:extLst>
              <a:ext uri="{FF2B5EF4-FFF2-40B4-BE49-F238E27FC236}">
                <a16:creationId xmlns:a16="http://schemas.microsoft.com/office/drawing/2014/main" id="{B8AD5FB1-12F0-54AE-34FE-37CDA2EA5384}"/>
              </a:ext>
            </a:extLst>
          </p:cNvPr>
          <p:cNvGrpSpPr/>
          <p:nvPr/>
        </p:nvGrpSpPr>
        <p:grpSpPr>
          <a:xfrm>
            <a:off x="7426308" y="148094"/>
            <a:ext cx="4548830" cy="1759624"/>
            <a:chOff x="1669773" y="1968236"/>
            <a:chExt cx="10292114" cy="398130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43FF8FE-A138-11AF-6F41-BE4550F0B1E7}"/>
                    </a:ext>
                  </a:extLst>
                </p:cNvPr>
                <p:cNvSpPr/>
                <p:nvPr/>
              </p:nvSpPr>
              <p:spPr>
                <a:xfrm>
                  <a:off x="1669773" y="2372139"/>
                  <a:ext cx="1782528"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𝑋</m:t>
                        </m:r>
                      </m:oMath>
                    </m:oMathPara>
                  </a14:m>
                  <a:endParaRPr lang="en-US" sz="1000" dirty="0">
                    <a:solidFill>
                      <a:schemeClr val="tx1"/>
                    </a:solidFill>
                  </a:endParaRPr>
                </a:p>
              </p:txBody>
            </p:sp>
          </mc:Choice>
          <mc:Fallback xmlns="">
            <p:sp>
              <p:nvSpPr>
                <p:cNvPr id="4" name="Rectangle 3">
                  <a:extLst>
                    <a:ext uri="{FF2B5EF4-FFF2-40B4-BE49-F238E27FC236}">
                      <a16:creationId xmlns:a16="http://schemas.microsoft.com/office/drawing/2014/main" id="{A559DECC-0BFE-50CA-B247-265086BA1220}"/>
                    </a:ext>
                  </a:extLst>
                </p:cNvPr>
                <p:cNvSpPr>
                  <a:spLocks noRot="1" noChangeAspect="1" noMove="1" noResize="1" noEditPoints="1" noAdjustHandles="1" noChangeArrowheads="1" noChangeShapeType="1" noTextEdit="1"/>
                </p:cNvSpPr>
                <p:nvPr/>
              </p:nvSpPr>
              <p:spPr>
                <a:xfrm>
                  <a:off x="1669773" y="2372139"/>
                  <a:ext cx="1782528" cy="3577397"/>
                </a:xfrm>
                <a:prstGeom prst="rect">
                  <a:avLst/>
                </a:prstGeom>
                <a:blipFill>
                  <a:blip r:embed="rId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4F5073E5-64F8-260E-4510-7A78C8665AB1}"/>
                </a:ext>
              </a:extLst>
            </p:cNvPr>
            <p:cNvSpPr txBox="1"/>
            <p:nvPr/>
          </p:nvSpPr>
          <p:spPr>
            <a:xfrm rot="2497090">
              <a:off x="3232077" y="1968236"/>
              <a:ext cx="584661" cy="452642"/>
            </a:xfrm>
            <a:prstGeom prst="rect">
              <a:avLst/>
            </a:prstGeom>
            <a:noFill/>
          </p:spPr>
          <p:txBody>
            <a:bodyPr wrap="none" rtlCol="0">
              <a:spAutoFit/>
            </a:bodyPr>
            <a:lstStyle/>
            <a:p>
              <a:r>
                <a:rPr lang="en-US" sz="700" dirty="0"/>
                <a:t>…</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0F8E9DC-29EB-DFE8-EC19-45907CA9BE59}"/>
                    </a:ext>
                  </a:extLst>
                </p:cNvPr>
                <p:cNvSpPr/>
                <p:nvPr/>
              </p:nvSpPr>
              <p:spPr>
                <a:xfrm>
                  <a:off x="3704624" y="2384597"/>
                  <a:ext cx="3122019" cy="137188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𝐵</m:t>
                        </m:r>
                      </m:oMath>
                    </m:oMathPara>
                  </a14:m>
                  <a:endParaRPr lang="en-US" sz="1000" dirty="0">
                    <a:solidFill>
                      <a:schemeClr val="tx1"/>
                    </a:solidFill>
                  </a:endParaRPr>
                </a:p>
              </p:txBody>
            </p:sp>
          </mc:Choice>
          <mc:Fallback xmlns="">
            <p:sp>
              <p:nvSpPr>
                <p:cNvPr id="6" name="Rectangle 5">
                  <a:extLst>
                    <a:ext uri="{FF2B5EF4-FFF2-40B4-BE49-F238E27FC236}">
                      <a16:creationId xmlns:a16="http://schemas.microsoft.com/office/drawing/2014/main" id="{643C3EA7-CF0C-D6EC-E0C2-A68ECDAEBE8B}"/>
                    </a:ext>
                  </a:extLst>
                </p:cNvPr>
                <p:cNvSpPr>
                  <a:spLocks noRot="1" noChangeAspect="1" noMove="1" noResize="1" noEditPoints="1" noAdjustHandles="1" noChangeArrowheads="1" noChangeShapeType="1" noTextEdit="1"/>
                </p:cNvSpPr>
                <p:nvPr/>
              </p:nvSpPr>
              <p:spPr>
                <a:xfrm>
                  <a:off x="3704624" y="2384597"/>
                  <a:ext cx="3122019" cy="137188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54F314-3F76-D99C-49AF-372AFE9ECE6B}"/>
                    </a:ext>
                  </a:extLst>
                </p:cNvPr>
                <p:cNvSpPr txBox="1"/>
                <p:nvPr/>
              </p:nvSpPr>
              <p:spPr>
                <a:xfrm>
                  <a:off x="6922791" y="3756477"/>
                  <a:ext cx="858549" cy="8356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00A911CB-D6ED-BA51-6125-A07D67DA64AB}"/>
                    </a:ext>
                  </a:extLst>
                </p:cNvPr>
                <p:cNvSpPr txBox="1">
                  <a:spLocks noRot="1" noChangeAspect="1" noMove="1" noResize="1" noEditPoints="1" noAdjustHandles="1" noChangeArrowheads="1" noChangeShapeType="1" noTextEdit="1"/>
                </p:cNvSpPr>
                <p:nvPr/>
              </p:nvSpPr>
              <p:spPr>
                <a:xfrm>
                  <a:off x="6922791" y="3756477"/>
                  <a:ext cx="858549" cy="835645"/>
                </a:xfrm>
                <a:prstGeom prst="rect">
                  <a:avLst/>
                </a:prstGeom>
                <a:blipFill>
                  <a:blip r:embed="rId5"/>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E11030D5-938D-C0AF-4D77-536DDC9E4983}"/>
                </a:ext>
              </a:extLst>
            </p:cNvPr>
            <p:cNvGrpSpPr/>
            <p:nvPr/>
          </p:nvGrpSpPr>
          <p:grpSpPr>
            <a:xfrm>
              <a:off x="7712769" y="2492665"/>
              <a:ext cx="4249118" cy="3443049"/>
              <a:chOff x="1846882" y="2597802"/>
              <a:chExt cx="4249118" cy="2693288"/>
            </a:xfrm>
          </p:grpSpPr>
          <p:sp>
            <p:nvSpPr>
              <p:cNvPr id="9" name="Rectangle 8">
                <a:extLst>
                  <a:ext uri="{FF2B5EF4-FFF2-40B4-BE49-F238E27FC236}">
                    <a16:creationId xmlns:a16="http://schemas.microsoft.com/office/drawing/2014/main" id="{B6EF7CEB-D257-DA0B-6E95-960989D72BB2}"/>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1D17EDD-593F-565B-0FFF-62D1FF4ABA77}"/>
                      </a:ext>
                    </a:extLst>
                  </p:cNvPr>
                  <p:cNvSpPr txBox="1"/>
                  <p:nvPr/>
                </p:nvSpPr>
                <p:spPr>
                  <a:xfrm>
                    <a:off x="1939777"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1,1</m:t>
                              </m:r>
                            </m:sub>
                          </m:sSub>
                        </m:oMath>
                      </m:oMathPara>
                    </a14:m>
                    <a:endParaRPr lang="en-US" sz="1050" dirty="0">
                      <a:solidFill>
                        <a:schemeClr val="bg1"/>
                      </a:solidFill>
                    </a:endParaRPr>
                  </a:p>
                </p:txBody>
              </p:sp>
            </mc:Choice>
            <mc:Fallback xmlns="">
              <p:sp>
                <p:nvSpPr>
                  <p:cNvPr id="10" name="TextBox 9">
                    <a:extLst>
                      <a:ext uri="{FF2B5EF4-FFF2-40B4-BE49-F238E27FC236}">
                        <a16:creationId xmlns:a16="http://schemas.microsoft.com/office/drawing/2014/main" id="{2A01897E-2223-2D05-A83E-21ECEA7CA104}"/>
                      </a:ext>
                    </a:extLst>
                  </p:cNvPr>
                  <p:cNvSpPr txBox="1">
                    <a:spLocks noRot="1" noChangeAspect="1" noMove="1" noResize="1" noEditPoints="1" noAdjustHandles="1" noChangeArrowheads="1" noChangeShapeType="1" noTextEdit="1"/>
                  </p:cNvSpPr>
                  <p:nvPr/>
                </p:nvSpPr>
                <p:spPr>
                  <a:xfrm>
                    <a:off x="1939777" y="2788226"/>
                    <a:ext cx="656855" cy="298466"/>
                  </a:xfrm>
                  <a:prstGeom prst="rect">
                    <a:avLst/>
                  </a:prstGeom>
                  <a:blipFill>
                    <a:blip r:embed="rId6"/>
                    <a:stretch>
                      <a:fillRect b="-1428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7910A92-2892-B58E-64E3-DC04B766E39F}"/>
                  </a:ext>
                </a:extLst>
              </p:cNvPr>
              <p:cNvSpPr txBox="1"/>
              <p:nvPr/>
            </p:nvSpPr>
            <p:spPr>
              <a:xfrm>
                <a:off x="5667213" y="2892741"/>
                <a:ext cx="258306" cy="435782"/>
              </a:xfrm>
              <a:prstGeom prst="rect">
                <a:avLst/>
              </a:prstGeom>
              <a:noFill/>
            </p:spPr>
            <p:txBody>
              <a:bodyPr wrap="square" rtlCol="0">
                <a:spAutoFit/>
              </a:bodyPr>
              <a:lstStyle/>
              <a:p>
                <a:endParaRPr lang="en-US" sz="10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4B9E4EF-8D9B-8E7A-3EF1-0087582322BB}"/>
                      </a:ext>
                    </a:extLst>
                  </p:cNvPr>
                  <p:cNvSpPr txBox="1"/>
                  <p:nvPr/>
                </p:nvSpPr>
                <p:spPr>
                  <a:xfrm>
                    <a:off x="2692783"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1,2</m:t>
                              </m:r>
                            </m:sub>
                          </m:sSub>
                        </m:oMath>
                      </m:oMathPara>
                    </a14:m>
                    <a:endParaRPr lang="en-US" sz="1050" dirty="0">
                      <a:solidFill>
                        <a:schemeClr val="bg1"/>
                      </a:solidFill>
                    </a:endParaRPr>
                  </a:p>
                </p:txBody>
              </p:sp>
            </mc:Choice>
            <mc:Fallback xmlns="">
              <p:sp>
                <p:nvSpPr>
                  <p:cNvPr id="12" name="TextBox 11">
                    <a:extLst>
                      <a:ext uri="{FF2B5EF4-FFF2-40B4-BE49-F238E27FC236}">
                        <a16:creationId xmlns:a16="http://schemas.microsoft.com/office/drawing/2014/main" id="{526C5597-8FD8-471E-2B46-C0D8C3D5B3F3}"/>
                      </a:ext>
                    </a:extLst>
                  </p:cNvPr>
                  <p:cNvSpPr txBox="1">
                    <a:spLocks noRot="1" noChangeAspect="1" noMove="1" noResize="1" noEditPoints="1" noAdjustHandles="1" noChangeArrowheads="1" noChangeShapeType="1" noTextEdit="1"/>
                  </p:cNvSpPr>
                  <p:nvPr/>
                </p:nvSpPr>
                <p:spPr>
                  <a:xfrm>
                    <a:off x="2692783" y="2788226"/>
                    <a:ext cx="656855" cy="298466"/>
                  </a:xfrm>
                  <a:prstGeom prst="rect">
                    <a:avLst/>
                  </a:prstGeom>
                  <a:blipFill>
                    <a:blip r:embed="rId7"/>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AF77C9B-2A79-CF79-F425-F4F1CB9BF79A}"/>
                      </a:ext>
                    </a:extLst>
                  </p:cNvPr>
                  <p:cNvSpPr txBox="1"/>
                  <p:nvPr/>
                </p:nvSpPr>
                <p:spPr>
                  <a:xfrm>
                    <a:off x="5179522"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3" name="TextBox 12">
                    <a:extLst>
                      <a:ext uri="{FF2B5EF4-FFF2-40B4-BE49-F238E27FC236}">
                        <a16:creationId xmlns:a16="http://schemas.microsoft.com/office/drawing/2014/main" id="{ECE92E74-BA85-E4E4-C7CB-16B306C7C105}"/>
                      </a:ext>
                    </a:extLst>
                  </p:cNvPr>
                  <p:cNvSpPr txBox="1">
                    <a:spLocks noRot="1" noChangeAspect="1" noMove="1" noResize="1" noEditPoints="1" noAdjustHandles="1" noChangeArrowheads="1" noChangeShapeType="1" noTextEdit="1"/>
                  </p:cNvSpPr>
                  <p:nvPr/>
                </p:nvSpPr>
                <p:spPr>
                  <a:xfrm>
                    <a:off x="5179522" y="2788226"/>
                    <a:ext cx="656855" cy="298466"/>
                  </a:xfrm>
                  <a:prstGeom prst="rect">
                    <a:avLst/>
                  </a:prstGeom>
                  <a:blipFill>
                    <a:blip r:embed="rId8"/>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7851F02-D1DF-9C6B-4B3F-1B123B2F59CE}"/>
                      </a:ext>
                    </a:extLst>
                  </p:cNvPr>
                  <p:cNvSpPr txBox="1"/>
                  <p:nvPr/>
                </p:nvSpPr>
                <p:spPr>
                  <a:xfrm>
                    <a:off x="1972186"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2,1</m:t>
                              </m:r>
                            </m:sub>
                          </m:sSub>
                        </m:oMath>
                      </m:oMathPara>
                    </a14:m>
                    <a:endParaRPr lang="en-US" sz="1050" dirty="0">
                      <a:solidFill>
                        <a:schemeClr val="bg1"/>
                      </a:solidFill>
                    </a:endParaRPr>
                  </a:p>
                </p:txBody>
              </p:sp>
            </mc:Choice>
            <mc:Fallback xmlns="">
              <p:sp>
                <p:nvSpPr>
                  <p:cNvPr id="14" name="TextBox 13">
                    <a:extLst>
                      <a:ext uri="{FF2B5EF4-FFF2-40B4-BE49-F238E27FC236}">
                        <a16:creationId xmlns:a16="http://schemas.microsoft.com/office/drawing/2014/main" id="{E2008E63-0EF1-B302-29F8-614637AF4A71}"/>
                      </a:ext>
                    </a:extLst>
                  </p:cNvPr>
                  <p:cNvSpPr txBox="1">
                    <a:spLocks noRot="1" noChangeAspect="1" noMove="1" noResize="1" noEditPoints="1" noAdjustHandles="1" noChangeArrowheads="1" noChangeShapeType="1" noTextEdit="1"/>
                  </p:cNvSpPr>
                  <p:nvPr/>
                </p:nvSpPr>
                <p:spPr>
                  <a:xfrm>
                    <a:off x="1972186" y="3265230"/>
                    <a:ext cx="656855" cy="298466"/>
                  </a:xfrm>
                  <a:prstGeom prst="rect">
                    <a:avLst/>
                  </a:prstGeom>
                  <a:blipFill>
                    <a:blip r:embed="rId9"/>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E3AD837-8338-FE56-0FE4-171C19954F9F}"/>
                      </a:ext>
                    </a:extLst>
                  </p:cNvPr>
                  <p:cNvSpPr txBox="1"/>
                  <p:nvPr/>
                </p:nvSpPr>
                <p:spPr>
                  <a:xfrm>
                    <a:off x="2725190"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2,2</m:t>
                              </m:r>
                            </m:sub>
                          </m:sSub>
                        </m:oMath>
                      </m:oMathPara>
                    </a14:m>
                    <a:endParaRPr lang="en-US" sz="1050" dirty="0">
                      <a:solidFill>
                        <a:schemeClr val="bg1"/>
                      </a:solidFill>
                    </a:endParaRPr>
                  </a:p>
                </p:txBody>
              </p:sp>
            </mc:Choice>
            <mc:Fallback xmlns="">
              <p:sp>
                <p:nvSpPr>
                  <p:cNvPr id="15" name="TextBox 14">
                    <a:extLst>
                      <a:ext uri="{FF2B5EF4-FFF2-40B4-BE49-F238E27FC236}">
                        <a16:creationId xmlns:a16="http://schemas.microsoft.com/office/drawing/2014/main" id="{BAD33CBF-2E20-EC4E-75A7-75CD0CCCEB43}"/>
                      </a:ext>
                    </a:extLst>
                  </p:cNvPr>
                  <p:cNvSpPr txBox="1">
                    <a:spLocks noRot="1" noChangeAspect="1" noMove="1" noResize="1" noEditPoints="1" noAdjustHandles="1" noChangeArrowheads="1" noChangeShapeType="1" noTextEdit="1"/>
                  </p:cNvSpPr>
                  <p:nvPr/>
                </p:nvSpPr>
                <p:spPr>
                  <a:xfrm>
                    <a:off x="2725190" y="3265230"/>
                    <a:ext cx="656855" cy="298466"/>
                  </a:xfrm>
                  <a:prstGeom prst="rect">
                    <a:avLst/>
                  </a:prstGeom>
                  <a:blipFill>
                    <a:blip r:embed="rId10"/>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A0D5725-4561-2EAC-15FD-4E28B4E633B0}"/>
                      </a:ext>
                    </a:extLst>
                  </p:cNvPr>
                  <p:cNvSpPr txBox="1"/>
                  <p:nvPr/>
                </p:nvSpPr>
                <p:spPr>
                  <a:xfrm>
                    <a:off x="5211929"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6" name="TextBox 15">
                    <a:extLst>
                      <a:ext uri="{FF2B5EF4-FFF2-40B4-BE49-F238E27FC236}">
                        <a16:creationId xmlns:a16="http://schemas.microsoft.com/office/drawing/2014/main" id="{AE01E2C4-74AC-2A63-32E5-80604A751BF7}"/>
                      </a:ext>
                    </a:extLst>
                  </p:cNvPr>
                  <p:cNvSpPr txBox="1">
                    <a:spLocks noRot="1" noChangeAspect="1" noMove="1" noResize="1" noEditPoints="1" noAdjustHandles="1" noChangeArrowheads="1" noChangeShapeType="1" noTextEdit="1"/>
                  </p:cNvSpPr>
                  <p:nvPr/>
                </p:nvSpPr>
                <p:spPr>
                  <a:xfrm>
                    <a:off x="5211929" y="3265230"/>
                    <a:ext cx="656855" cy="298466"/>
                  </a:xfrm>
                  <a:prstGeom prst="rect">
                    <a:avLst/>
                  </a:prstGeom>
                  <a:blipFill>
                    <a:blip r:embed="rId11"/>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AD1BA6E-C5A5-4EE8-50DA-0F164C2063A4}"/>
                      </a:ext>
                    </a:extLst>
                  </p:cNvPr>
                  <p:cNvSpPr txBox="1"/>
                  <p:nvPr/>
                </p:nvSpPr>
                <p:spPr>
                  <a:xfrm>
                    <a:off x="1972186"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3,1</m:t>
                              </m:r>
                            </m:sub>
                          </m:sSub>
                        </m:oMath>
                      </m:oMathPara>
                    </a14:m>
                    <a:endParaRPr lang="en-US" sz="1050" dirty="0">
                      <a:solidFill>
                        <a:schemeClr val="bg1"/>
                      </a:solidFill>
                    </a:endParaRPr>
                  </a:p>
                </p:txBody>
              </p:sp>
            </mc:Choice>
            <mc:Fallback xmlns="">
              <p:sp>
                <p:nvSpPr>
                  <p:cNvPr id="17" name="TextBox 16">
                    <a:extLst>
                      <a:ext uri="{FF2B5EF4-FFF2-40B4-BE49-F238E27FC236}">
                        <a16:creationId xmlns:a16="http://schemas.microsoft.com/office/drawing/2014/main" id="{2CD35230-2E5E-DFFE-2CB7-D078ACE5E4B3}"/>
                      </a:ext>
                    </a:extLst>
                  </p:cNvPr>
                  <p:cNvSpPr txBox="1">
                    <a:spLocks noRot="1" noChangeAspect="1" noMove="1" noResize="1" noEditPoints="1" noAdjustHandles="1" noChangeArrowheads="1" noChangeShapeType="1" noTextEdit="1"/>
                  </p:cNvSpPr>
                  <p:nvPr/>
                </p:nvSpPr>
                <p:spPr>
                  <a:xfrm>
                    <a:off x="1972186" y="3802731"/>
                    <a:ext cx="656855" cy="298466"/>
                  </a:xfrm>
                  <a:prstGeom prst="rect">
                    <a:avLst/>
                  </a:prstGeom>
                  <a:blipFill>
                    <a:blip r:embed="rId12"/>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D12F8B4-0106-C132-A018-53C354C9E52B}"/>
                      </a:ext>
                    </a:extLst>
                  </p:cNvPr>
                  <p:cNvSpPr txBox="1"/>
                  <p:nvPr/>
                </p:nvSpPr>
                <p:spPr>
                  <a:xfrm>
                    <a:off x="2725190"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3,2</m:t>
                              </m:r>
                            </m:sub>
                          </m:sSub>
                        </m:oMath>
                      </m:oMathPara>
                    </a14:m>
                    <a:endParaRPr lang="en-US" sz="1050" dirty="0">
                      <a:solidFill>
                        <a:schemeClr val="bg1"/>
                      </a:solidFill>
                    </a:endParaRPr>
                  </a:p>
                </p:txBody>
              </p:sp>
            </mc:Choice>
            <mc:Fallback xmlns="">
              <p:sp>
                <p:nvSpPr>
                  <p:cNvPr id="18" name="TextBox 17">
                    <a:extLst>
                      <a:ext uri="{FF2B5EF4-FFF2-40B4-BE49-F238E27FC236}">
                        <a16:creationId xmlns:a16="http://schemas.microsoft.com/office/drawing/2014/main" id="{A137A225-FDF3-8542-13C0-2169C93DB141}"/>
                      </a:ext>
                    </a:extLst>
                  </p:cNvPr>
                  <p:cNvSpPr txBox="1">
                    <a:spLocks noRot="1" noChangeAspect="1" noMove="1" noResize="1" noEditPoints="1" noAdjustHandles="1" noChangeArrowheads="1" noChangeShapeType="1" noTextEdit="1"/>
                  </p:cNvSpPr>
                  <p:nvPr/>
                </p:nvSpPr>
                <p:spPr>
                  <a:xfrm>
                    <a:off x="2725190" y="3802731"/>
                    <a:ext cx="656855" cy="298466"/>
                  </a:xfrm>
                  <a:prstGeom prst="rect">
                    <a:avLst/>
                  </a:prstGeom>
                  <a:blipFill>
                    <a:blip r:embed="rId13"/>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C198BAA-1954-4A3E-F7FA-416E4DD61C77}"/>
                      </a:ext>
                    </a:extLst>
                  </p:cNvPr>
                  <p:cNvSpPr txBox="1"/>
                  <p:nvPr/>
                </p:nvSpPr>
                <p:spPr>
                  <a:xfrm>
                    <a:off x="5211929"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9" name="TextBox 18">
                    <a:extLst>
                      <a:ext uri="{FF2B5EF4-FFF2-40B4-BE49-F238E27FC236}">
                        <a16:creationId xmlns:a16="http://schemas.microsoft.com/office/drawing/2014/main" id="{4FA78E3A-2260-BABB-D3BC-561554654958}"/>
                      </a:ext>
                    </a:extLst>
                  </p:cNvPr>
                  <p:cNvSpPr txBox="1">
                    <a:spLocks noRot="1" noChangeAspect="1" noMove="1" noResize="1" noEditPoints="1" noAdjustHandles="1" noChangeArrowheads="1" noChangeShapeType="1" noTextEdit="1"/>
                  </p:cNvSpPr>
                  <p:nvPr/>
                </p:nvSpPr>
                <p:spPr>
                  <a:xfrm>
                    <a:off x="5211929" y="3802731"/>
                    <a:ext cx="656855" cy="298466"/>
                  </a:xfrm>
                  <a:prstGeom prst="rect">
                    <a:avLst/>
                  </a:prstGeom>
                  <a:blipFill>
                    <a:blip r:embed="rId14"/>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DC3F4FB-75C5-FD72-E140-70C329043AFF}"/>
                      </a:ext>
                    </a:extLst>
                  </p:cNvPr>
                  <p:cNvSpPr txBox="1"/>
                  <p:nvPr/>
                </p:nvSpPr>
                <p:spPr>
                  <a:xfrm>
                    <a:off x="1977447"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,1</m:t>
                              </m:r>
                            </m:sub>
                          </m:sSub>
                        </m:oMath>
                      </m:oMathPara>
                    </a14:m>
                    <a:endParaRPr lang="en-US" sz="1050" dirty="0">
                      <a:solidFill>
                        <a:schemeClr val="bg1"/>
                      </a:solidFill>
                    </a:endParaRPr>
                  </a:p>
                </p:txBody>
              </p:sp>
            </mc:Choice>
            <mc:Fallback xmlns="">
              <p:sp>
                <p:nvSpPr>
                  <p:cNvPr id="20" name="TextBox 19">
                    <a:extLst>
                      <a:ext uri="{FF2B5EF4-FFF2-40B4-BE49-F238E27FC236}">
                        <a16:creationId xmlns:a16="http://schemas.microsoft.com/office/drawing/2014/main" id="{3182815D-7922-B074-5233-800747A4086B}"/>
                      </a:ext>
                    </a:extLst>
                  </p:cNvPr>
                  <p:cNvSpPr txBox="1">
                    <a:spLocks noRot="1" noChangeAspect="1" noMove="1" noResize="1" noEditPoints="1" noAdjustHandles="1" noChangeArrowheads="1" noChangeShapeType="1" noTextEdit="1"/>
                  </p:cNvSpPr>
                  <p:nvPr/>
                </p:nvSpPr>
                <p:spPr>
                  <a:xfrm>
                    <a:off x="1977447" y="4810901"/>
                    <a:ext cx="656855" cy="298466"/>
                  </a:xfrm>
                  <a:prstGeom prst="rect">
                    <a:avLst/>
                  </a:prstGeom>
                  <a:blipFill>
                    <a:blip r:embed="rId1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D452D01-221D-DDE8-97B3-5947B2C26452}"/>
                      </a:ext>
                    </a:extLst>
                  </p:cNvPr>
                  <p:cNvSpPr txBox="1"/>
                  <p:nvPr/>
                </p:nvSpPr>
                <p:spPr>
                  <a:xfrm>
                    <a:off x="2730451"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,2</m:t>
                              </m:r>
                            </m:sub>
                          </m:sSub>
                        </m:oMath>
                      </m:oMathPara>
                    </a14:m>
                    <a:endParaRPr lang="en-US" sz="1050" dirty="0">
                      <a:solidFill>
                        <a:schemeClr val="bg1"/>
                      </a:solidFill>
                    </a:endParaRPr>
                  </a:p>
                </p:txBody>
              </p:sp>
            </mc:Choice>
            <mc:Fallback xmlns="">
              <p:sp>
                <p:nvSpPr>
                  <p:cNvPr id="21" name="TextBox 20">
                    <a:extLst>
                      <a:ext uri="{FF2B5EF4-FFF2-40B4-BE49-F238E27FC236}">
                        <a16:creationId xmlns:a16="http://schemas.microsoft.com/office/drawing/2014/main" id="{AE486E26-0C47-E9CD-EC1F-B51B0CDDE91B}"/>
                      </a:ext>
                    </a:extLst>
                  </p:cNvPr>
                  <p:cNvSpPr txBox="1">
                    <a:spLocks noRot="1" noChangeAspect="1" noMove="1" noResize="1" noEditPoints="1" noAdjustHandles="1" noChangeArrowheads="1" noChangeShapeType="1" noTextEdit="1"/>
                  </p:cNvSpPr>
                  <p:nvPr/>
                </p:nvSpPr>
                <p:spPr>
                  <a:xfrm>
                    <a:off x="2730451" y="4810901"/>
                    <a:ext cx="656855" cy="298466"/>
                  </a:xfrm>
                  <a:prstGeom prst="rect">
                    <a:avLst/>
                  </a:prstGeom>
                  <a:blipFill>
                    <a:blip r:embed="rId1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0503CD-428E-970A-A09D-CD1C86110A4B}"/>
                      </a:ext>
                    </a:extLst>
                  </p:cNvPr>
                  <p:cNvSpPr txBox="1"/>
                  <p:nvPr/>
                </p:nvSpPr>
                <p:spPr>
                  <a:xfrm>
                    <a:off x="5217190"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22" name="TextBox 21">
                    <a:extLst>
                      <a:ext uri="{FF2B5EF4-FFF2-40B4-BE49-F238E27FC236}">
                        <a16:creationId xmlns:a16="http://schemas.microsoft.com/office/drawing/2014/main" id="{7BE5F55D-E237-4B77-18BC-BF90A64909F0}"/>
                      </a:ext>
                    </a:extLst>
                  </p:cNvPr>
                  <p:cNvSpPr txBox="1">
                    <a:spLocks noRot="1" noChangeAspect="1" noMove="1" noResize="1" noEditPoints="1" noAdjustHandles="1" noChangeArrowheads="1" noChangeShapeType="1" noTextEdit="1"/>
                  </p:cNvSpPr>
                  <p:nvPr/>
                </p:nvSpPr>
                <p:spPr>
                  <a:xfrm>
                    <a:off x="5217190" y="4810901"/>
                    <a:ext cx="656855" cy="298466"/>
                  </a:xfrm>
                  <a:prstGeom prst="rect">
                    <a:avLst/>
                  </a:prstGeom>
                  <a:blipFill>
                    <a:blip r:embed="rId17"/>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2254C5-58CA-611A-31EA-5A96A63F607E}"/>
                      </a:ext>
                    </a:extLst>
                  </p:cNvPr>
                  <p:cNvSpPr txBox="1"/>
                  <p:nvPr/>
                </p:nvSpPr>
                <p:spPr>
                  <a:xfrm>
                    <a:off x="2116562" y="4363342"/>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3" name="TextBox 22">
                    <a:extLst>
                      <a:ext uri="{FF2B5EF4-FFF2-40B4-BE49-F238E27FC236}">
                        <a16:creationId xmlns:a16="http://schemas.microsoft.com/office/drawing/2014/main" id="{CB899D03-B9B7-6E7E-404A-CFB4CF9F758C}"/>
                      </a:ext>
                    </a:extLst>
                  </p:cNvPr>
                  <p:cNvSpPr txBox="1">
                    <a:spLocks noRot="1" noChangeAspect="1" noMove="1" noResize="1" noEditPoints="1" noAdjustHandles="1" noChangeArrowheads="1" noChangeShapeType="1" noTextEdit="1"/>
                  </p:cNvSpPr>
                  <p:nvPr/>
                </p:nvSpPr>
                <p:spPr>
                  <a:xfrm>
                    <a:off x="2116562" y="4363342"/>
                    <a:ext cx="566529" cy="43578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AE3E944-A9B6-24F5-7060-4049F0111A6C}"/>
                      </a:ext>
                    </a:extLst>
                  </p:cNvPr>
                  <p:cNvSpPr txBox="1"/>
                  <p:nvPr/>
                </p:nvSpPr>
                <p:spPr>
                  <a:xfrm>
                    <a:off x="5356305" y="4338167"/>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4" name="TextBox 23">
                    <a:extLst>
                      <a:ext uri="{FF2B5EF4-FFF2-40B4-BE49-F238E27FC236}">
                        <a16:creationId xmlns:a16="http://schemas.microsoft.com/office/drawing/2014/main" id="{5A1B9368-8708-2C99-E668-BCB3F1B4FBE5}"/>
                      </a:ext>
                    </a:extLst>
                  </p:cNvPr>
                  <p:cNvSpPr txBox="1">
                    <a:spLocks noRot="1" noChangeAspect="1" noMove="1" noResize="1" noEditPoints="1" noAdjustHandles="1" noChangeArrowheads="1" noChangeShapeType="1" noTextEdit="1"/>
                  </p:cNvSpPr>
                  <p:nvPr/>
                </p:nvSpPr>
                <p:spPr>
                  <a:xfrm>
                    <a:off x="5356305" y="4338167"/>
                    <a:ext cx="566529" cy="43578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7E7EA07-34D6-F92C-117A-5CAC2AF8C389}"/>
                      </a:ext>
                    </a:extLst>
                  </p:cNvPr>
                  <p:cNvSpPr txBox="1"/>
                  <p:nvPr/>
                </p:nvSpPr>
                <p:spPr>
                  <a:xfrm>
                    <a:off x="3804923" y="2798886"/>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5" name="TextBox 24">
                    <a:extLst>
                      <a:ext uri="{FF2B5EF4-FFF2-40B4-BE49-F238E27FC236}">
                        <a16:creationId xmlns:a16="http://schemas.microsoft.com/office/drawing/2014/main" id="{6892E421-00EB-2B79-88A8-6E4A90DB9F16}"/>
                      </a:ext>
                    </a:extLst>
                  </p:cNvPr>
                  <p:cNvSpPr txBox="1">
                    <a:spLocks noRot="1" noChangeAspect="1" noMove="1" noResize="1" noEditPoints="1" noAdjustHandles="1" noChangeArrowheads="1" noChangeShapeType="1" noTextEdit="1"/>
                  </p:cNvSpPr>
                  <p:nvPr/>
                </p:nvSpPr>
                <p:spPr>
                  <a:xfrm>
                    <a:off x="3804923" y="2798886"/>
                    <a:ext cx="850773" cy="43578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04BAEFE-8784-50B6-F77A-CCEB244DB823}"/>
                      </a:ext>
                    </a:extLst>
                  </p:cNvPr>
                  <p:cNvSpPr txBox="1"/>
                  <p:nvPr/>
                </p:nvSpPr>
                <p:spPr>
                  <a:xfrm>
                    <a:off x="3799341" y="4829425"/>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6" name="TextBox 25">
                    <a:extLst>
                      <a:ext uri="{FF2B5EF4-FFF2-40B4-BE49-F238E27FC236}">
                        <a16:creationId xmlns:a16="http://schemas.microsoft.com/office/drawing/2014/main" id="{DC4B1195-4BA8-9E1E-44A6-F2177DE5FB08}"/>
                      </a:ext>
                    </a:extLst>
                  </p:cNvPr>
                  <p:cNvSpPr txBox="1">
                    <a:spLocks noRot="1" noChangeAspect="1" noMove="1" noResize="1" noEditPoints="1" noAdjustHandles="1" noChangeArrowheads="1" noChangeShapeType="1" noTextEdit="1"/>
                  </p:cNvSpPr>
                  <p:nvPr/>
                </p:nvSpPr>
                <p:spPr>
                  <a:xfrm>
                    <a:off x="3799341" y="4829425"/>
                    <a:ext cx="850773" cy="435782"/>
                  </a:xfrm>
                  <a:prstGeom prst="rect">
                    <a:avLst/>
                  </a:prstGeom>
                  <a:blipFill>
                    <a:blip r:embed="rId21"/>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3993692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B7E4-6109-B9EC-D1F2-056900AD64E2}"/>
              </a:ext>
            </a:extLst>
          </p:cNvPr>
          <p:cNvSpPr>
            <a:spLocks noGrp="1"/>
          </p:cNvSpPr>
          <p:nvPr>
            <p:ph type="title"/>
          </p:nvPr>
        </p:nvSpPr>
        <p:spPr>
          <a:xfrm>
            <a:off x="828452" y="119554"/>
            <a:ext cx="10515600" cy="1325563"/>
          </a:xfrm>
        </p:spPr>
        <p:txBody>
          <a:bodyPr/>
          <a:lstStyle/>
          <a:p>
            <a:r>
              <a:rPr lang="en-US" dirty="0"/>
              <a:t>Low-rank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7C0BB1-0D22-6557-2E11-1CF3746E4FCA}"/>
                  </a:ext>
                </a:extLst>
              </p:cNvPr>
              <p:cNvSpPr>
                <a:spLocks noGrp="1"/>
              </p:cNvSpPr>
              <p:nvPr>
                <p:ph idx="1"/>
              </p:nvPr>
            </p:nvSpPr>
            <p:spPr>
              <a:xfrm>
                <a:off x="838200" y="1438046"/>
                <a:ext cx="10515600" cy="5668148"/>
              </a:xfrm>
            </p:spPr>
            <p:txBody>
              <a:bodyPr>
                <a:normAutofit/>
              </a:bodyPr>
              <a:lstStyle/>
              <a:p>
                <a:r>
                  <a:rPr lang="en-US" dirty="0"/>
                  <a:t>Not every matrix can be written like this:</a:t>
                </a:r>
              </a:p>
              <a:p>
                <a:endParaRPr lang="en-US" dirty="0"/>
              </a:p>
              <a:p>
                <a:endParaRPr lang="en-US" dirty="0"/>
              </a:p>
              <a:p>
                <a:endParaRPr lang="en-US" dirty="0"/>
              </a:p>
              <a:p>
                <a:endParaRPr lang="en-US" dirty="0"/>
              </a:p>
              <a:p>
                <a:pPr marL="0" indent="0">
                  <a:buNone/>
                </a:pPr>
                <a:endParaRPr lang="en-US" dirty="0"/>
              </a:p>
              <a:p>
                <a:r>
                  <a:rPr lang="en-US" dirty="0"/>
                  <a:t>A matrix that can is </a:t>
                </a:r>
                <a:r>
                  <a:rPr lang="en-US" b="1" dirty="0"/>
                  <a:t>low-rank</a:t>
                </a:r>
                <a:r>
                  <a:rPr lang="en-US" dirty="0"/>
                  <a:t> (rank </a:t>
                </a:r>
                <a14:m>
                  <m:oMath xmlns:m="http://schemas.openxmlformats.org/officeDocument/2006/math">
                    <m:r>
                      <a:rPr lang="en-US" i="1" dirty="0" smtClean="0">
                        <a:latin typeface="Cambria Math" panose="02040503050406030204" pitchFamily="18" charset="0"/>
                      </a:rPr>
                      <m:t>𝑟</m:t>
                    </m:r>
                  </m:oMath>
                </a14:m>
                <a:r>
                  <a:rPr lang="en-US" dirty="0"/>
                  <a:t>)</a:t>
                </a:r>
              </a:p>
              <a:p>
                <a:r>
                  <a:rPr lang="en-US" dirty="0"/>
                  <a:t>Assuming that Y is (approximately) low-rank is analogous to the sparsity assumption we made for sparse regression.</a:t>
                </a:r>
              </a:p>
              <a:p>
                <a:pPr lvl="1"/>
                <a:r>
                  <a:rPr lang="en-US" dirty="0">
                    <a:solidFill>
                      <a:schemeClr val="accent1"/>
                    </a:solidFill>
                  </a:rPr>
                  <a:t>Not that many variables are important</a:t>
                </a:r>
              </a:p>
              <a:p>
                <a:pPr lvl="1"/>
                <a:r>
                  <a:rPr lang="en-US" dirty="0">
                    <a:solidFill>
                      <a:schemeClr val="accent1"/>
                    </a:solidFill>
                  </a:rPr>
                  <a:t>Lots of real-life data is (approximately) low-rank!</a:t>
                </a:r>
              </a:p>
            </p:txBody>
          </p:sp>
        </mc:Choice>
        <mc:Fallback xmlns="">
          <p:sp>
            <p:nvSpPr>
              <p:cNvPr id="3" name="Content Placeholder 2">
                <a:extLst>
                  <a:ext uri="{FF2B5EF4-FFF2-40B4-BE49-F238E27FC236}">
                    <a16:creationId xmlns:a16="http://schemas.microsoft.com/office/drawing/2014/main" id="{547C0BB1-0D22-6557-2E11-1CF3746E4FCA}"/>
                  </a:ext>
                </a:extLst>
              </p:cNvPr>
              <p:cNvSpPr>
                <a:spLocks noGrp="1" noRot="1" noChangeAspect="1" noMove="1" noResize="1" noEditPoints="1" noAdjustHandles="1" noChangeArrowheads="1" noChangeShapeType="1" noTextEdit="1"/>
              </p:cNvSpPr>
              <p:nvPr>
                <p:ph idx="1"/>
              </p:nvPr>
            </p:nvSpPr>
            <p:spPr>
              <a:xfrm>
                <a:off x="838200" y="1438046"/>
                <a:ext cx="10515600" cy="5668148"/>
              </a:xfrm>
              <a:blipFill>
                <a:blip r:embed="rId3"/>
                <a:stretch>
                  <a:fillRect l="-1086" t="-1790" r="-1327"/>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278512E9-ED1E-C120-458E-A67BA58784EA}"/>
              </a:ext>
            </a:extLst>
          </p:cNvPr>
          <p:cNvGrpSpPr/>
          <p:nvPr/>
        </p:nvGrpSpPr>
        <p:grpSpPr>
          <a:xfrm>
            <a:off x="2567879" y="2011762"/>
            <a:ext cx="5888485" cy="2263893"/>
            <a:chOff x="2554816" y="2387712"/>
            <a:chExt cx="5888485" cy="2263893"/>
          </a:xfrm>
        </p:grpSpPr>
        <p:grpSp>
          <p:nvGrpSpPr>
            <p:cNvPr id="4" name="Group 3">
              <a:extLst>
                <a:ext uri="{FF2B5EF4-FFF2-40B4-BE49-F238E27FC236}">
                  <a16:creationId xmlns:a16="http://schemas.microsoft.com/office/drawing/2014/main" id="{4F234BAF-DAD4-F79E-BD5D-AFD6CD803244}"/>
                </a:ext>
              </a:extLst>
            </p:cNvPr>
            <p:cNvGrpSpPr/>
            <p:nvPr/>
          </p:nvGrpSpPr>
          <p:grpSpPr>
            <a:xfrm>
              <a:off x="3271620" y="2387712"/>
              <a:ext cx="5171681" cy="1759624"/>
              <a:chOff x="260515" y="1968236"/>
              <a:chExt cx="11701372" cy="398130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B03CEE4-74C2-4851-3643-7AF62581B189}"/>
                      </a:ext>
                    </a:extLst>
                  </p:cNvPr>
                  <p:cNvSpPr/>
                  <p:nvPr/>
                </p:nvSpPr>
                <p:spPr>
                  <a:xfrm>
                    <a:off x="260515" y="2372139"/>
                    <a:ext cx="1782528"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𝑋</m:t>
                          </m:r>
                        </m:oMath>
                      </m:oMathPara>
                    </a14:m>
                    <a:endParaRPr lang="en-US" sz="1000" dirty="0">
                      <a:solidFill>
                        <a:schemeClr val="tx1"/>
                      </a:solidFill>
                    </a:endParaRPr>
                  </a:p>
                </p:txBody>
              </p:sp>
            </mc:Choice>
            <mc:Fallback xmlns="">
              <p:sp>
                <p:nvSpPr>
                  <p:cNvPr id="5" name="Rectangle 4">
                    <a:extLst>
                      <a:ext uri="{FF2B5EF4-FFF2-40B4-BE49-F238E27FC236}">
                        <a16:creationId xmlns:a16="http://schemas.microsoft.com/office/drawing/2014/main" id="{DB03CEE4-74C2-4851-3643-7AF62581B189}"/>
                      </a:ext>
                    </a:extLst>
                  </p:cNvPr>
                  <p:cNvSpPr>
                    <a:spLocks noRot="1" noChangeAspect="1" noMove="1" noResize="1" noEditPoints="1" noAdjustHandles="1" noChangeArrowheads="1" noChangeShapeType="1" noTextEdit="1"/>
                  </p:cNvSpPr>
                  <p:nvPr/>
                </p:nvSpPr>
                <p:spPr>
                  <a:xfrm>
                    <a:off x="260515" y="2372139"/>
                    <a:ext cx="1782528" cy="3577397"/>
                  </a:xfrm>
                  <a:prstGeom prst="rect">
                    <a:avLst/>
                  </a:prstGeom>
                  <a:blipFill>
                    <a:blip r:embed="rId4"/>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3B71DB9-7576-68C3-5457-8EE19633C1F5}"/>
                  </a:ext>
                </a:extLst>
              </p:cNvPr>
              <p:cNvSpPr txBox="1"/>
              <p:nvPr/>
            </p:nvSpPr>
            <p:spPr>
              <a:xfrm rot="2497090">
                <a:off x="3232077" y="1968236"/>
                <a:ext cx="584661" cy="452642"/>
              </a:xfrm>
              <a:prstGeom prst="rect">
                <a:avLst/>
              </a:prstGeom>
              <a:noFill/>
            </p:spPr>
            <p:txBody>
              <a:bodyPr wrap="none" rtlCol="0">
                <a:spAutoFit/>
              </a:bodyPr>
              <a:lstStyle/>
              <a:p>
                <a:r>
                  <a:rPr lang="en-US" sz="700" dirty="0"/>
                  <a:t>…</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F1ADC69-9284-DEE2-5EC4-1CEBC9166059}"/>
                      </a:ext>
                    </a:extLst>
                  </p:cNvPr>
                  <p:cNvSpPr/>
                  <p:nvPr/>
                </p:nvSpPr>
                <p:spPr>
                  <a:xfrm>
                    <a:off x="2416347" y="2384595"/>
                    <a:ext cx="3446199" cy="164842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𝐵</m:t>
                          </m:r>
                        </m:oMath>
                      </m:oMathPara>
                    </a14:m>
                    <a:endParaRPr lang="en-US" sz="1000" dirty="0">
                      <a:solidFill>
                        <a:schemeClr val="tx1"/>
                      </a:solidFill>
                    </a:endParaRPr>
                  </a:p>
                </p:txBody>
              </p:sp>
            </mc:Choice>
            <mc:Fallback xmlns="">
              <p:sp>
                <p:nvSpPr>
                  <p:cNvPr id="7" name="Rectangle 6">
                    <a:extLst>
                      <a:ext uri="{FF2B5EF4-FFF2-40B4-BE49-F238E27FC236}">
                        <a16:creationId xmlns:a16="http://schemas.microsoft.com/office/drawing/2014/main" id="{7F1ADC69-9284-DEE2-5EC4-1CEBC9166059}"/>
                      </a:ext>
                    </a:extLst>
                  </p:cNvPr>
                  <p:cNvSpPr>
                    <a:spLocks noRot="1" noChangeAspect="1" noMove="1" noResize="1" noEditPoints="1" noAdjustHandles="1" noChangeArrowheads="1" noChangeShapeType="1" noTextEdit="1"/>
                  </p:cNvSpPr>
                  <p:nvPr/>
                </p:nvSpPr>
                <p:spPr>
                  <a:xfrm>
                    <a:off x="2416347" y="2384595"/>
                    <a:ext cx="3446199" cy="164842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E26B18-EE54-53BC-50CC-E95B92319E66}"/>
                      </a:ext>
                    </a:extLst>
                  </p:cNvPr>
                  <p:cNvSpPr txBox="1"/>
                  <p:nvPr/>
                </p:nvSpPr>
                <p:spPr>
                  <a:xfrm>
                    <a:off x="6652937" y="3756477"/>
                    <a:ext cx="858549" cy="8356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8" name="TextBox 7">
                    <a:extLst>
                      <a:ext uri="{FF2B5EF4-FFF2-40B4-BE49-F238E27FC236}">
                        <a16:creationId xmlns:a16="http://schemas.microsoft.com/office/drawing/2014/main" id="{7FE26B18-EE54-53BC-50CC-E95B92319E66}"/>
                      </a:ext>
                    </a:extLst>
                  </p:cNvPr>
                  <p:cNvSpPr txBox="1">
                    <a:spLocks noRot="1" noChangeAspect="1" noMove="1" noResize="1" noEditPoints="1" noAdjustHandles="1" noChangeArrowheads="1" noChangeShapeType="1" noTextEdit="1"/>
                  </p:cNvSpPr>
                  <p:nvPr/>
                </p:nvSpPr>
                <p:spPr>
                  <a:xfrm>
                    <a:off x="6652937" y="3756477"/>
                    <a:ext cx="858549" cy="835645"/>
                  </a:xfrm>
                  <a:prstGeom prst="rect">
                    <a:avLst/>
                  </a:prstGeom>
                  <a:blipFill>
                    <a:blip r:embed="rId6"/>
                    <a:stretch>
                      <a:fillRect/>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D6810EB2-94F5-D455-2A32-C6244F7A369C}"/>
                  </a:ext>
                </a:extLst>
              </p:cNvPr>
              <p:cNvGrpSpPr/>
              <p:nvPr/>
            </p:nvGrpSpPr>
            <p:grpSpPr>
              <a:xfrm>
                <a:off x="7712769" y="2492665"/>
                <a:ext cx="4249118" cy="3443049"/>
                <a:chOff x="1846882" y="2597802"/>
                <a:chExt cx="4249118" cy="2693288"/>
              </a:xfrm>
            </p:grpSpPr>
            <p:sp>
              <p:nvSpPr>
                <p:cNvPr id="10" name="Rectangle 9">
                  <a:extLst>
                    <a:ext uri="{FF2B5EF4-FFF2-40B4-BE49-F238E27FC236}">
                      <a16:creationId xmlns:a16="http://schemas.microsoft.com/office/drawing/2014/main" id="{24647A72-7842-6AE3-E23E-F438EF760679}"/>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020E9C-F05F-E8FC-48E8-19716CAFA8A0}"/>
                        </a:ext>
                      </a:extLst>
                    </p:cNvPr>
                    <p:cNvSpPr txBox="1"/>
                    <p:nvPr/>
                  </p:nvSpPr>
                  <p:spPr>
                    <a:xfrm>
                      <a:off x="1939777"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1,1</m:t>
                                </m:r>
                              </m:sub>
                            </m:sSub>
                          </m:oMath>
                        </m:oMathPara>
                      </a14:m>
                      <a:endParaRPr lang="en-US" sz="1050" dirty="0">
                        <a:solidFill>
                          <a:schemeClr val="bg1"/>
                        </a:solidFill>
                      </a:endParaRPr>
                    </a:p>
                  </p:txBody>
                </p:sp>
              </mc:Choice>
              <mc:Fallback xmlns="">
                <p:sp>
                  <p:nvSpPr>
                    <p:cNvPr id="11" name="TextBox 10">
                      <a:extLst>
                        <a:ext uri="{FF2B5EF4-FFF2-40B4-BE49-F238E27FC236}">
                          <a16:creationId xmlns:a16="http://schemas.microsoft.com/office/drawing/2014/main" id="{2F020E9C-F05F-E8FC-48E8-19716CAFA8A0}"/>
                        </a:ext>
                      </a:extLst>
                    </p:cNvPr>
                    <p:cNvSpPr txBox="1">
                      <a:spLocks noRot="1" noChangeAspect="1" noMove="1" noResize="1" noEditPoints="1" noAdjustHandles="1" noChangeArrowheads="1" noChangeShapeType="1" noTextEdit="1"/>
                    </p:cNvSpPr>
                    <p:nvPr/>
                  </p:nvSpPr>
                  <p:spPr>
                    <a:xfrm>
                      <a:off x="1939777" y="2788226"/>
                      <a:ext cx="656855" cy="298466"/>
                    </a:xfrm>
                    <a:prstGeom prst="rect">
                      <a:avLst/>
                    </a:prstGeom>
                    <a:blipFill>
                      <a:blip r:embed="rId7"/>
                      <a:stretch>
                        <a:fillRect b="-666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0F30859-7851-76C8-C9EB-6A238AA6F783}"/>
                    </a:ext>
                  </a:extLst>
                </p:cNvPr>
                <p:cNvSpPr txBox="1"/>
                <p:nvPr/>
              </p:nvSpPr>
              <p:spPr>
                <a:xfrm>
                  <a:off x="5667213" y="2892741"/>
                  <a:ext cx="258306" cy="435782"/>
                </a:xfrm>
                <a:prstGeom prst="rect">
                  <a:avLst/>
                </a:prstGeom>
                <a:noFill/>
              </p:spPr>
              <p:txBody>
                <a:bodyPr wrap="square" rtlCol="0">
                  <a:spAutoFit/>
                </a:bodyPr>
                <a:lstStyle/>
                <a:p>
                  <a:endParaRPr lang="en-US" sz="10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C4D157-E184-2DE8-599A-CEEA6FA875BE}"/>
                        </a:ext>
                      </a:extLst>
                    </p:cNvPr>
                    <p:cNvSpPr txBox="1"/>
                    <p:nvPr/>
                  </p:nvSpPr>
                  <p:spPr>
                    <a:xfrm>
                      <a:off x="2692783"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1,2</m:t>
                                </m:r>
                              </m:sub>
                            </m:sSub>
                          </m:oMath>
                        </m:oMathPara>
                      </a14:m>
                      <a:endParaRPr lang="en-US" sz="1050" dirty="0">
                        <a:solidFill>
                          <a:schemeClr val="bg1"/>
                        </a:solidFill>
                      </a:endParaRPr>
                    </a:p>
                  </p:txBody>
                </p:sp>
              </mc:Choice>
              <mc:Fallback xmlns="">
                <p:sp>
                  <p:nvSpPr>
                    <p:cNvPr id="13" name="TextBox 12">
                      <a:extLst>
                        <a:ext uri="{FF2B5EF4-FFF2-40B4-BE49-F238E27FC236}">
                          <a16:creationId xmlns:a16="http://schemas.microsoft.com/office/drawing/2014/main" id="{77C4D157-E184-2DE8-599A-CEEA6FA875BE}"/>
                        </a:ext>
                      </a:extLst>
                    </p:cNvPr>
                    <p:cNvSpPr txBox="1">
                      <a:spLocks noRot="1" noChangeAspect="1" noMove="1" noResize="1" noEditPoints="1" noAdjustHandles="1" noChangeArrowheads="1" noChangeShapeType="1" noTextEdit="1"/>
                    </p:cNvSpPr>
                    <p:nvPr/>
                  </p:nvSpPr>
                  <p:spPr>
                    <a:xfrm>
                      <a:off x="2692783" y="2788226"/>
                      <a:ext cx="656855" cy="298466"/>
                    </a:xfrm>
                    <a:prstGeom prst="rect">
                      <a:avLst/>
                    </a:prstGeom>
                    <a:blipFill>
                      <a:blip r:embed="rId8"/>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6A46B4A-4635-95B2-484A-1035C66EFE0A}"/>
                        </a:ext>
                      </a:extLst>
                    </p:cNvPr>
                    <p:cNvSpPr txBox="1"/>
                    <p:nvPr/>
                  </p:nvSpPr>
                  <p:spPr>
                    <a:xfrm>
                      <a:off x="5179522"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1,</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4" name="TextBox 13">
                      <a:extLst>
                        <a:ext uri="{FF2B5EF4-FFF2-40B4-BE49-F238E27FC236}">
                          <a16:creationId xmlns:a16="http://schemas.microsoft.com/office/drawing/2014/main" id="{66A46B4A-4635-95B2-484A-1035C66EFE0A}"/>
                        </a:ext>
                      </a:extLst>
                    </p:cNvPr>
                    <p:cNvSpPr txBox="1">
                      <a:spLocks noRot="1" noChangeAspect="1" noMove="1" noResize="1" noEditPoints="1" noAdjustHandles="1" noChangeArrowheads="1" noChangeShapeType="1" noTextEdit="1"/>
                    </p:cNvSpPr>
                    <p:nvPr/>
                  </p:nvSpPr>
                  <p:spPr>
                    <a:xfrm>
                      <a:off x="5179522" y="2788226"/>
                      <a:ext cx="656855" cy="298466"/>
                    </a:xfrm>
                    <a:prstGeom prst="rect">
                      <a:avLst/>
                    </a:prstGeom>
                    <a:blipFill>
                      <a:blip r:embed="rId9"/>
                      <a:stretch>
                        <a:fillRect l="-4348"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3F6B106-8626-A2E8-5CE3-E5CE38E36F50}"/>
                        </a:ext>
                      </a:extLst>
                    </p:cNvPr>
                    <p:cNvSpPr txBox="1"/>
                    <p:nvPr/>
                  </p:nvSpPr>
                  <p:spPr>
                    <a:xfrm>
                      <a:off x="1972186"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2,1</m:t>
                                </m:r>
                              </m:sub>
                            </m:sSub>
                          </m:oMath>
                        </m:oMathPara>
                      </a14:m>
                      <a:endParaRPr lang="en-US" sz="1050" dirty="0">
                        <a:solidFill>
                          <a:schemeClr val="bg1"/>
                        </a:solidFill>
                      </a:endParaRPr>
                    </a:p>
                  </p:txBody>
                </p:sp>
              </mc:Choice>
              <mc:Fallback xmlns="">
                <p:sp>
                  <p:nvSpPr>
                    <p:cNvPr id="15" name="TextBox 14">
                      <a:extLst>
                        <a:ext uri="{FF2B5EF4-FFF2-40B4-BE49-F238E27FC236}">
                          <a16:creationId xmlns:a16="http://schemas.microsoft.com/office/drawing/2014/main" id="{A3F6B106-8626-A2E8-5CE3-E5CE38E36F50}"/>
                        </a:ext>
                      </a:extLst>
                    </p:cNvPr>
                    <p:cNvSpPr txBox="1">
                      <a:spLocks noRot="1" noChangeAspect="1" noMove="1" noResize="1" noEditPoints="1" noAdjustHandles="1" noChangeArrowheads="1" noChangeShapeType="1" noTextEdit="1"/>
                    </p:cNvSpPr>
                    <p:nvPr/>
                  </p:nvSpPr>
                  <p:spPr>
                    <a:xfrm>
                      <a:off x="1972186" y="3265230"/>
                      <a:ext cx="656855" cy="298466"/>
                    </a:xfrm>
                    <a:prstGeom prst="rect">
                      <a:avLst/>
                    </a:prstGeom>
                    <a:blipFill>
                      <a:blip r:embed="rId10"/>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8F3B96E-EE3F-F8D2-211D-B234FAF54220}"/>
                        </a:ext>
                      </a:extLst>
                    </p:cNvPr>
                    <p:cNvSpPr txBox="1"/>
                    <p:nvPr/>
                  </p:nvSpPr>
                  <p:spPr>
                    <a:xfrm>
                      <a:off x="2725190"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2,2</m:t>
                                </m:r>
                              </m:sub>
                            </m:sSub>
                          </m:oMath>
                        </m:oMathPara>
                      </a14:m>
                      <a:endParaRPr lang="en-US" sz="1050" dirty="0">
                        <a:solidFill>
                          <a:schemeClr val="bg1"/>
                        </a:solidFill>
                      </a:endParaRPr>
                    </a:p>
                  </p:txBody>
                </p:sp>
              </mc:Choice>
              <mc:Fallback xmlns="">
                <p:sp>
                  <p:nvSpPr>
                    <p:cNvPr id="16" name="TextBox 15">
                      <a:extLst>
                        <a:ext uri="{FF2B5EF4-FFF2-40B4-BE49-F238E27FC236}">
                          <a16:creationId xmlns:a16="http://schemas.microsoft.com/office/drawing/2014/main" id="{38F3B96E-EE3F-F8D2-211D-B234FAF54220}"/>
                        </a:ext>
                      </a:extLst>
                    </p:cNvPr>
                    <p:cNvSpPr txBox="1">
                      <a:spLocks noRot="1" noChangeAspect="1" noMove="1" noResize="1" noEditPoints="1" noAdjustHandles="1" noChangeArrowheads="1" noChangeShapeType="1" noTextEdit="1"/>
                    </p:cNvSpPr>
                    <p:nvPr/>
                  </p:nvSpPr>
                  <p:spPr>
                    <a:xfrm>
                      <a:off x="2725190" y="3265230"/>
                      <a:ext cx="656855" cy="298466"/>
                    </a:xfrm>
                    <a:prstGeom prst="rect">
                      <a:avLst/>
                    </a:prstGeom>
                    <a:blipFill>
                      <a:blip r:embed="rId11"/>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2B3CD70-DCA4-614D-7496-4084606D90BC}"/>
                        </a:ext>
                      </a:extLst>
                    </p:cNvPr>
                    <p:cNvSpPr txBox="1"/>
                    <p:nvPr/>
                  </p:nvSpPr>
                  <p:spPr>
                    <a:xfrm>
                      <a:off x="5211929"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2,</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17" name="TextBox 16">
                      <a:extLst>
                        <a:ext uri="{FF2B5EF4-FFF2-40B4-BE49-F238E27FC236}">
                          <a16:creationId xmlns:a16="http://schemas.microsoft.com/office/drawing/2014/main" id="{42B3CD70-DCA4-614D-7496-4084606D90BC}"/>
                        </a:ext>
                      </a:extLst>
                    </p:cNvPr>
                    <p:cNvSpPr txBox="1">
                      <a:spLocks noRot="1" noChangeAspect="1" noMove="1" noResize="1" noEditPoints="1" noAdjustHandles="1" noChangeArrowheads="1" noChangeShapeType="1" noTextEdit="1"/>
                    </p:cNvSpPr>
                    <p:nvPr/>
                  </p:nvSpPr>
                  <p:spPr>
                    <a:xfrm>
                      <a:off x="5211929" y="3265230"/>
                      <a:ext cx="656855" cy="298466"/>
                    </a:xfrm>
                    <a:prstGeom prst="rect">
                      <a:avLst/>
                    </a:prstGeom>
                    <a:blipFill>
                      <a:blip r:embed="rId12"/>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CD03F9-68CA-20CD-F691-10E352F03F75}"/>
                        </a:ext>
                      </a:extLst>
                    </p:cNvPr>
                    <p:cNvSpPr txBox="1"/>
                    <p:nvPr/>
                  </p:nvSpPr>
                  <p:spPr>
                    <a:xfrm>
                      <a:off x="1972186"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3,1</m:t>
                                </m:r>
                              </m:sub>
                            </m:sSub>
                          </m:oMath>
                        </m:oMathPara>
                      </a14:m>
                      <a:endParaRPr lang="en-US" sz="1050" dirty="0">
                        <a:solidFill>
                          <a:schemeClr val="bg1"/>
                        </a:solidFill>
                      </a:endParaRPr>
                    </a:p>
                  </p:txBody>
                </p:sp>
              </mc:Choice>
              <mc:Fallback xmlns="">
                <p:sp>
                  <p:nvSpPr>
                    <p:cNvPr id="18" name="TextBox 17">
                      <a:extLst>
                        <a:ext uri="{FF2B5EF4-FFF2-40B4-BE49-F238E27FC236}">
                          <a16:creationId xmlns:a16="http://schemas.microsoft.com/office/drawing/2014/main" id="{43CD03F9-68CA-20CD-F691-10E352F03F75}"/>
                        </a:ext>
                      </a:extLst>
                    </p:cNvPr>
                    <p:cNvSpPr txBox="1">
                      <a:spLocks noRot="1" noChangeAspect="1" noMove="1" noResize="1" noEditPoints="1" noAdjustHandles="1" noChangeArrowheads="1" noChangeShapeType="1" noTextEdit="1"/>
                    </p:cNvSpPr>
                    <p:nvPr/>
                  </p:nvSpPr>
                  <p:spPr>
                    <a:xfrm>
                      <a:off x="1972186" y="3802731"/>
                      <a:ext cx="656855" cy="298466"/>
                    </a:xfrm>
                    <a:prstGeom prst="rect">
                      <a:avLst/>
                    </a:prstGeom>
                    <a:blipFill>
                      <a:blip r:embed="rId1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DABBF24-FCC4-2C66-FE5C-9098E7BDB0E7}"/>
                        </a:ext>
                      </a:extLst>
                    </p:cNvPr>
                    <p:cNvSpPr txBox="1"/>
                    <p:nvPr/>
                  </p:nvSpPr>
                  <p:spPr>
                    <a:xfrm>
                      <a:off x="2725190"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3,2</m:t>
                                </m:r>
                              </m:sub>
                            </m:sSub>
                          </m:oMath>
                        </m:oMathPara>
                      </a14:m>
                      <a:endParaRPr lang="en-US" sz="1050" dirty="0">
                        <a:solidFill>
                          <a:schemeClr val="bg1"/>
                        </a:solidFill>
                      </a:endParaRPr>
                    </a:p>
                  </p:txBody>
                </p:sp>
              </mc:Choice>
              <mc:Fallback xmlns="">
                <p:sp>
                  <p:nvSpPr>
                    <p:cNvPr id="19" name="TextBox 18">
                      <a:extLst>
                        <a:ext uri="{FF2B5EF4-FFF2-40B4-BE49-F238E27FC236}">
                          <a16:creationId xmlns:a16="http://schemas.microsoft.com/office/drawing/2014/main" id="{7DABBF24-FCC4-2C66-FE5C-9098E7BDB0E7}"/>
                        </a:ext>
                      </a:extLst>
                    </p:cNvPr>
                    <p:cNvSpPr txBox="1">
                      <a:spLocks noRot="1" noChangeAspect="1" noMove="1" noResize="1" noEditPoints="1" noAdjustHandles="1" noChangeArrowheads="1" noChangeShapeType="1" noTextEdit="1"/>
                    </p:cNvSpPr>
                    <p:nvPr/>
                  </p:nvSpPr>
                  <p:spPr>
                    <a:xfrm>
                      <a:off x="2725190" y="3802731"/>
                      <a:ext cx="656855" cy="298466"/>
                    </a:xfrm>
                    <a:prstGeom prst="rect">
                      <a:avLst/>
                    </a:prstGeom>
                    <a:blipFill>
                      <a:blip r:embed="rId1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C50957C-7814-DB2F-2306-96FFB935C5EB}"/>
                        </a:ext>
                      </a:extLst>
                    </p:cNvPr>
                    <p:cNvSpPr txBox="1"/>
                    <p:nvPr/>
                  </p:nvSpPr>
                  <p:spPr>
                    <a:xfrm>
                      <a:off x="5211929"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3,</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20" name="TextBox 19">
                      <a:extLst>
                        <a:ext uri="{FF2B5EF4-FFF2-40B4-BE49-F238E27FC236}">
                          <a16:creationId xmlns:a16="http://schemas.microsoft.com/office/drawing/2014/main" id="{8C50957C-7814-DB2F-2306-96FFB935C5EB}"/>
                        </a:ext>
                      </a:extLst>
                    </p:cNvPr>
                    <p:cNvSpPr txBox="1">
                      <a:spLocks noRot="1" noChangeAspect="1" noMove="1" noResize="1" noEditPoints="1" noAdjustHandles="1" noChangeArrowheads="1" noChangeShapeType="1" noTextEdit="1"/>
                    </p:cNvSpPr>
                    <p:nvPr/>
                  </p:nvSpPr>
                  <p:spPr>
                    <a:xfrm>
                      <a:off x="5211929" y="3802731"/>
                      <a:ext cx="656855" cy="298466"/>
                    </a:xfrm>
                    <a:prstGeom prst="rect">
                      <a:avLst/>
                    </a:prstGeom>
                    <a:blipFill>
                      <a:blip r:embed="rId15"/>
                      <a:stretch>
                        <a:fillRect l="-416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AA541B3-27F9-5FF4-B643-F1D88F3C5121}"/>
                        </a:ext>
                      </a:extLst>
                    </p:cNvPr>
                    <p:cNvSpPr txBox="1"/>
                    <p:nvPr/>
                  </p:nvSpPr>
                  <p:spPr>
                    <a:xfrm>
                      <a:off x="1977447"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,1</m:t>
                                </m:r>
                              </m:sub>
                            </m:sSub>
                          </m:oMath>
                        </m:oMathPara>
                      </a14:m>
                      <a:endParaRPr lang="en-US" sz="1050" dirty="0">
                        <a:solidFill>
                          <a:schemeClr val="bg1"/>
                        </a:solidFill>
                      </a:endParaRPr>
                    </a:p>
                  </p:txBody>
                </p:sp>
              </mc:Choice>
              <mc:Fallback xmlns="">
                <p:sp>
                  <p:nvSpPr>
                    <p:cNvPr id="21" name="TextBox 20">
                      <a:extLst>
                        <a:ext uri="{FF2B5EF4-FFF2-40B4-BE49-F238E27FC236}">
                          <a16:creationId xmlns:a16="http://schemas.microsoft.com/office/drawing/2014/main" id="{0AA541B3-27F9-5FF4-B643-F1D88F3C5121}"/>
                        </a:ext>
                      </a:extLst>
                    </p:cNvPr>
                    <p:cNvSpPr txBox="1">
                      <a:spLocks noRot="1" noChangeAspect="1" noMove="1" noResize="1" noEditPoints="1" noAdjustHandles="1" noChangeArrowheads="1" noChangeShapeType="1" noTextEdit="1"/>
                    </p:cNvSpPr>
                    <p:nvPr/>
                  </p:nvSpPr>
                  <p:spPr>
                    <a:xfrm>
                      <a:off x="1977447" y="4810901"/>
                      <a:ext cx="656855" cy="298466"/>
                    </a:xfrm>
                    <a:prstGeom prst="rect">
                      <a:avLst/>
                    </a:prstGeom>
                    <a:blipFill>
                      <a:blip r:embed="rId16"/>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C6034C5-9FD6-8ACE-B19D-7353D050E6A8}"/>
                        </a:ext>
                      </a:extLst>
                    </p:cNvPr>
                    <p:cNvSpPr txBox="1"/>
                    <p:nvPr/>
                  </p:nvSpPr>
                  <p:spPr>
                    <a:xfrm>
                      <a:off x="2730451"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,2</m:t>
                                </m:r>
                              </m:sub>
                            </m:sSub>
                          </m:oMath>
                        </m:oMathPara>
                      </a14:m>
                      <a:endParaRPr lang="en-US" sz="1050" dirty="0">
                        <a:solidFill>
                          <a:schemeClr val="bg1"/>
                        </a:solidFill>
                      </a:endParaRPr>
                    </a:p>
                  </p:txBody>
                </p:sp>
              </mc:Choice>
              <mc:Fallback xmlns="">
                <p:sp>
                  <p:nvSpPr>
                    <p:cNvPr id="22" name="TextBox 21">
                      <a:extLst>
                        <a:ext uri="{FF2B5EF4-FFF2-40B4-BE49-F238E27FC236}">
                          <a16:creationId xmlns:a16="http://schemas.microsoft.com/office/drawing/2014/main" id="{1C6034C5-9FD6-8ACE-B19D-7353D050E6A8}"/>
                        </a:ext>
                      </a:extLst>
                    </p:cNvPr>
                    <p:cNvSpPr txBox="1">
                      <a:spLocks noRot="1" noChangeAspect="1" noMove="1" noResize="1" noEditPoints="1" noAdjustHandles="1" noChangeArrowheads="1" noChangeShapeType="1" noTextEdit="1"/>
                    </p:cNvSpPr>
                    <p:nvPr/>
                  </p:nvSpPr>
                  <p:spPr>
                    <a:xfrm>
                      <a:off x="2730451" y="4810901"/>
                      <a:ext cx="656855" cy="298466"/>
                    </a:xfrm>
                    <a:prstGeom prst="rect">
                      <a:avLst/>
                    </a:prstGeom>
                    <a:blipFill>
                      <a:blip r:embed="rId17"/>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525955D-FD04-334A-B4E6-83CB2936F3B1}"/>
                        </a:ext>
                      </a:extLst>
                    </p:cNvPr>
                    <p:cNvSpPr txBox="1"/>
                    <p:nvPr/>
                  </p:nvSpPr>
                  <p:spPr>
                    <a:xfrm>
                      <a:off x="5217190"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1"/>
                                    </a:solidFill>
                                    <a:latin typeface="Cambria Math" panose="02040503050406030204" pitchFamily="18" charset="0"/>
                                  </a:rPr>
                                </m:ctrlPr>
                              </m:sSubPr>
                              <m:e>
                                <m:r>
                                  <a:rPr lang="en-US" sz="1050" b="0" i="1" smtClean="0">
                                    <a:solidFill>
                                      <a:schemeClr val="bg1"/>
                                    </a:solidFill>
                                    <a:latin typeface="Cambria Math" panose="02040503050406030204" pitchFamily="18" charset="0"/>
                                  </a:rPr>
                                  <m:t>𝑌</m:t>
                                </m:r>
                              </m:e>
                              <m:sub>
                                <m:r>
                                  <a:rPr lang="en-US" sz="1050" b="0" i="1" smtClean="0">
                                    <a:solidFill>
                                      <a:schemeClr val="bg1"/>
                                    </a:solidFill>
                                    <a:latin typeface="Cambria Math" panose="02040503050406030204" pitchFamily="18" charset="0"/>
                                  </a:rPr>
                                  <m:t>𝑛</m:t>
                                </m:r>
                                <m:r>
                                  <a:rPr lang="en-US" sz="1050" b="0" i="1" smtClean="0">
                                    <a:solidFill>
                                      <a:schemeClr val="bg1"/>
                                    </a:solidFill>
                                    <a:latin typeface="Cambria Math" panose="02040503050406030204" pitchFamily="18" charset="0"/>
                                  </a:rPr>
                                  <m:t>,</m:t>
                                </m:r>
                                <m:r>
                                  <a:rPr lang="en-US" sz="1050" b="0" i="1" smtClean="0">
                                    <a:solidFill>
                                      <a:schemeClr val="bg1"/>
                                    </a:solidFill>
                                    <a:latin typeface="Cambria Math" panose="02040503050406030204" pitchFamily="18" charset="0"/>
                                  </a:rPr>
                                  <m:t>𝑇</m:t>
                                </m:r>
                              </m:sub>
                            </m:sSub>
                          </m:oMath>
                        </m:oMathPara>
                      </a14:m>
                      <a:endParaRPr lang="en-US" sz="1050" dirty="0">
                        <a:solidFill>
                          <a:schemeClr val="bg1"/>
                        </a:solidFill>
                      </a:endParaRPr>
                    </a:p>
                  </p:txBody>
                </p:sp>
              </mc:Choice>
              <mc:Fallback xmlns="">
                <p:sp>
                  <p:nvSpPr>
                    <p:cNvPr id="23" name="TextBox 22">
                      <a:extLst>
                        <a:ext uri="{FF2B5EF4-FFF2-40B4-BE49-F238E27FC236}">
                          <a16:creationId xmlns:a16="http://schemas.microsoft.com/office/drawing/2014/main" id="{E525955D-FD04-334A-B4E6-83CB2936F3B1}"/>
                        </a:ext>
                      </a:extLst>
                    </p:cNvPr>
                    <p:cNvSpPr txBox="1">
                      <a:spLocks noRot="1" noChangeAspect="1" noMove="1" noResize="1" noEditPoints="1" noAdjustHandles="1" noChangeArrowheads="1" noChangeShapeType="1" noTextEdit="1"/>
                    </p:cNvSpPr>
                    <p:nvPr/>
                  </p:nvSpPr>
                  <p:spPr>
                    <a:xfrm>
                      <a:off x="5217190" y="4810901"/>
                      <a:ext cx="656855" cy="298466"/>
                    </a:xfrm>
                    <a:prstGeom prst="rect">
                      <a:avLst/>
                    </a:prstGeom>
                    <a:blipFill>
                      <a:blip r:embed="rId18"/>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64074F3-0329-87FC-443E-83CFEEFEB574}"/>
                        </a:ext>
                      </a:extLst>
                    </p:cNvPr>
                    <p:cNvSpPr txBox="1"/>
                    <p:nvPr/>
                  </p:nvSpPr>
                  <p:spPr>
                    <a:xfrm>
                      <a:off x="2116562" y="4363342"/>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4" name="TextBox 23">
                      <a:extLst>
                        <a:ext uri="{FF2B5EF4-FFF2-40B4-BE49-F238E27FC236}">
                          <a16:creationId xmlns:a16="http://schemas.microsoft.com/office/drawing/2014/main" id="{964074F3-0329-87FC-443E-83CFEEFEB574}"/>
                        </a:ext>
                      </a:extLst>
                    </p:cNvPr>
                    <p:cNvSpPr txBox="1">
                      <a:spLocks noRot="1" noChangeAspect="1" noMove="1" noResize="1" noEditPoints="1" noAdjustHandles="1" noChangeArrowheads="1" noChangeShapeType="1" noTextEdit="1"/>
                    </p:cNvSpPr>
                    <p:nvPr/>
                  </p:nvSpPr>
                  <p:spPr>
                    <a:xfrm>
                      <a:off x="2116562" y="4363342"/>
                      <a:ext cx="566529" cy="43578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E479C47-B465-F27F-0AE0-04C626390166}"/>
                        </a:ext>
                      </a:extLst>
                    </p:cNvPr>
                    <p:cNvSpPr txBox="1"/>
                    <p:nvPr/>
                  </p:nvSpPr>
                  <p:spPr>
                    <a:xfrm>
                      <a:off x="5356305" y="4338167"/>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5" name="TextBox 24">
                      <a:extLst>
                        <a:ext uri="{FF2B5EF4-FFF2-40B4-BE49-F238E27FC236}">
                          <a16:creationId xmlns:a16="http://schemas.microsoft.com/office/drawing/2014/main" id="{2E479C47-B465-F27F-0AE0-04C626390166}"/>
                        </a:ext>
                      </a:extLst>
                    </p:cNvPr>
                    <p:cNvSpPr txBox="1">
                      <a:spLocks noRot="1" noChangeAspect="1" noMove="1" noResize="1" noEditPoints="1" noAdjustHandles="1" noChangeArrowheads="1" noChangeShapeType="1" noTextEdit="1"/>
                    </p:cNvSpPr>
                    <p:nvPr/>
                  </p:nvSpPr>
                  <p:spPr>
                    <a:xfrm>
                      <a:off x="5356305" y="4338167"/>
                      <a:ext cx="566529" cy="43578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271D135-118D-7F3A-A6D8-B80FD7F8638C}"/>
                        </a:ext>
                      </a:extLst>
                    </p:cNvPr>
                    <p:cNvSpPr txBox="1"/>
                    <p:nvPr/>
                  </p:nvSpPr>
                  <p:spPr>
                    <a:xfrm>
                      <a:off x="3804923" y="2798886"/>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6" name="TextBox 25">
                      <a:extLst>
                        <a:ext uri="{FF2B5EF4-FFF2-40B4-BE49-F238E27FC236}">
                          <a16:creationId xmlns:a16="http://schemas.microsoft.com/office/drawing/2014/main" id="{B271D135-118D-7F3A-A6D8-B80FD7F8638C}"/>
                        </a:ext>
                      </a:extLst>
                    </p:cNvPr>
                    <p:cNvSpPr txBox="1">
                      <a:spLocks noRot="1" noChangeAspect="1" noMove="1" noResize="1" noEditPoints="1" noAdjustHandles="1" noChangeArrowheads="1" noChangeShapeType="1" noTextEdit="1"/>
                    </p:cNvSpPr>
                    <p:nvPr/>
                  </p:nvSpPr>
                  <p:spPr>
                    <a:xfrm>
                      <a:off x="3804923" y="2798886"/>
                      <a:ext cx="850773" cy="43578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F468D7A-DF26-AC65-89B3-B4726958FA9A}"/>
                        </a:ext>
                      </a:extLst>
                    </p:cNvPr>
                    <p:cNvSpPr txBox="1"/>
                    <p:nvPr/>
                  </p:nvSpPr>
                  <p:spPr>
                    <a:xfrm>
                      <a:off x="3799341" y="4829425"/>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1"/>
                                </a:solidFill>
                                <a:latin typeface="Cambria Math" panose="02040503050406030204" pitchFamily="18" charset="0"/>
                              </a:rPr>
                              <m:t>⋯</m:t>
                            </m:r>
                          </m:oMath>
                        </m:oMathPara>
                      </a14:m>
                      <a:endParaRPr lang="en-US" sz="1000" dirty="0">
                        <a:solidFill>
                          <a:schemeClr val="bg1"/>
                        </a:solidFill>
                      </a:endParaRPr>
                    </a:p>
                  </p:txBody>
                </p:sp>
              </mc:Choice>
              <mc:Fallback xmlns="">
                <p:sp>
                  <p:nvSpPr>
                    <p:cNvPr id="27" name="TextBox 26">
                      <a:extLst>
                        <a:ext uri="{FF2B5EF4-FFF2-40B4-BE49-F238E27FC236}">
                          <a16:creationId xmlns:a16="http://schemas.microsoft.com/office/drawing/2014/main" id="{0F468D7A-DF26-AC65-89B3-B4726958FA9A}"/>
                        </a:ext>
                      </a:extLst>
                    </p:cNvPr>
                    <p:cNvSpPr txBox="1">
                      <a:spLocks noRot="1" noChangeAspect="1" noMove="1" noResize="1" noEditPoints="1" noAdjustHandles="1" noChangeArrowheads="1" noChangeShapeType="1" noTextEdit="1"/>
                    </p:cNvSpPr>
                    <p:nvPr/>
                  </p:nvSpPr>
                  <p:spPr>
                    <a:xfrm>
                      <a:off x="3799341" y="4829425"/>
                      <a:ext cx="850773" cy="435782"/>
                    </a:xfrm>
                    <a:prstGeom prst="rect">
                      <a:avLst/>
                    </a:prstGeom>
                    <a:blipFill>
                      <a:blip r:embed="rId21"/>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3AB2E27-C565-A5A6-0481-CBFEFA5219E9}"/>
                    </a:ext>
                  </a:extLst>
                </p:cNvPr>
                <p:cNvSpPr txBox="1"/>
                <p:nvPr/>
              </p:nvSpPr>
              <p:spPr>
                <a:xfrm>
                  <a:off x="3370335" y="4282273"/>
                  <a:ext cx="6891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𝑟</m:t>
                        </m:r>
                      </m:oMath>
                    </m:oMathPara>
                  </a14:m>
                  <a:endParaRPr lang="en-US" dirty="0">
                    <a:solidFill>
                      <a:schemeClr val="accent5"/>
                    </a:solidFill>
                  </a:endParaRPr>
                </a:p>
              </p:txBody>
            </p:sp>
          </mc:Choice>
          <mc:Fallback xmlns="">
            <p:sp>
              <p:nvSpPr>
                <p:cNvPr id="28" name="TextBox 27">
                  <a:extLst>
                    <a:ext uri="{FF2B5EF4-FFF2-40B4-BE49-F238E27FC236}">
                      <a16:creationId xmlns:a16="http://schemas.microsoft.com/office/drawing/2014/main" id="{D3AB2E27-C565-A5A6-0481-CBFEFA5219E9}"/>
                    </a:ext>
                  </a:extLst>
                </p:cNvPr>
                <p:cNvSpPr txBox="1">
                  <a:spLocks noRot="1" noChangeAspect="1" noMove="1" noResize="1" noEditPoints="1" noAdjustHandles="1" noChangeArrowheads="1" noChangeShapeType="1" noTextEdit="1"/>
                </p:cNvSpPr>
                <p:nvPr/>
              </p:nvSpPr>
              <p:spPr>
                <a:xfrm>
                  <a:off x="3370335" y="4282273"/>
                  <a:ext cx="689113"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B48E1EE-F41F-94D4-3AC6-0AD30CEDB37D}"/>
                    </a:ext>
                  </a:extLst>
                </p:cNvPr>
                <p:cNvSpPr txBox="1"/>
                <p:nvPr/>
              </p:nvSpPr>
              <p:spPr>
                <a:xfrm>
                  <a:off x="2554816" y="3165234"/>
                  <a:ext cx="6891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𝑛</m:t>
                        </m:r>
                      </m:oMath>
                    </m:oMathPara>
                  </a14:m>
                  <a:endParaRPr lang="en-US" dirty="0">
                    <a:solidFill>
                      <a:schemeClr val="accent5"/>
                    </a:solidFill>
                  </a:endParaRPr>
                </a:p>
              </p:txBody>
            </p:sp>
          </mc:Choice>
          <mc:Fallback xmlns="">
            <p:sp>
              <p:nvSpPr>
                <p:cNvPr id="29" name="TextBox 28">
                  <a:extLst>
                    <a:ext uri="{FF2B5EF4-FFF2-40B4-BE49-F238E27FC236}">
                      <a16:creationId xmlns:a16="http://schemas.microsoft.com/office/drawing/2014/main" id="{5B48E1EE-F41F-94D4-3AC6-0AD30CEDB37D}"/>
                    </a:ext>
                  </a:extLst>
                </p:cNvPr>
                <p:cNvSpPr txBox="1">
                  <a:spLocks noRot="1" noChangeAspect="1" noMove="1" noResize="1" noEditPoints="1" noAdjustHandles="1" noChangeArrowheads="1" noChangeShapeType="1" noTextEdit="1"/>
                </p:cNvSpPr>
                <p:nvPr/>
              </p:nvSpPr>
              <p:spPr>
                <a:xfrm>
                  <a:off x="2554816" y="3165234"/>
                  <a:ext cx="689113"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DE8CB0-701D-C8CF-8810-A6E13468FE0E}"/>
                    </a:ext>
                  </a:extLst>
                </p:cNvPr>
                <p:cNvSpPr txBox="1"/>
                <p:nvPr/>
              </p:nvSpPr>
              <p:spPr>
                <a:xfrm>
                  <a:off x="4654350" y="3493930"/>
                  <a:ext cx="6891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𝑇</m:t>
                        </m:r>
                      </m:oMath>
                    </m:oMathPara>
                  </a14:m>
                  <a:endParaRPr lang="en-US" dirty="0">
                    <a:solidFill>
                      <a:schemeClr val="accent2"/>
                    </a:solidFill>
                  </a:endParaRPr>
                </a:p>
              </p:txBody>
            </p:sp>
          </mc:Choice>
          <mc:Fallback xmlns="">
            <p:sp>
              <p:nvSpPr>
                <p:cNvPr id="30" name="TextBox 29">
                  <a:extLst>
                    <a:ext uri="{FF2B5EF4-FFF2-40B4-BE49-F238E27FC236}">
                      <a16:creationId xmlns:a16="http://schemas.microsoft.com/office/drawing/2014/main" id="{01DE8CB0-701D-C8CF-8810-A6E13468FE0E}"/>
                    </a:ext>
                  </a:extLst>
                </p:cNvPr>
                <p:cNvSpPr txBox="1">
                  <a:spLocks noRot="1" noChangeAspect="1" noMove="1" noResize="1" noEditPoints="1" noAdjustHandles="1" noChangeArrowheads="1" noChangeShapeType="1" noTextEdit="1"/>
                </p:cNvSpPr>
                <p:nvPr/>
              </p:nvSpPr>
              <p:spPr>
                <a:xfrm>
                  <a:off x="4654350" y="3493930"/>
                  <a:ext cx="689113" cy="369332"/>
                </a:xfrm>
                <a:prstGeom prst="rect">
                  <a:avLst/>
                </a:prstGeom>
                <a:blipFill>
                  <a:blip r:embed="rId24"/>
                  <a:stretch>
                    <a:fillRect/>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DD748537-08A2-EF28-C214-8C35A36F5599}"/>
                </a:ext>
              </a:extLst>
            </p:cNvPr>
            <p:cNvGrpSpPr/>
            <p:nvPr/>
          </p:nvGrpSpPr>
          <p:grpSpPr>
            <a:xfrm>
              <a:off x="5741696" y="2566226"/>
              <a:ext cx="689113" cy="734065"/>
              <a:chOff x="5741696" y="2566226"/>
              <a:chExt cx="689113" cy="734065"/>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304A4E4-F200-6E42-02EB-4C552AB4936B}"/>
                      </a:ext>
                    </a:extLst>
                  </p:cNvPr>
                  <p:cNvSpPr txBox="1"/>
                  <p:nvPr/>
                </p:nvSpPr>
                <p:spPr>
                  <a:xfrm>
                    <a:off x="5741696" y="2741265"/>
                    <a:ext cx="6891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𝑟</m:t>
                          </m:r>
                        </m:oMath>
                      </m:oMathPara>
                    </a14:m>
                    <a:endParaRPr lang="en-US" dirty="0">
                      <a:solidFill>
                        <a:schemeClr val="accent2"/>
                      </a:solidFill>
                    </a:endParaRPr>
                  </a:p>
                </p:txBody>
              </p:sp>
            </mc:Choice>
            <mc:Fallback xmlns="">
              <p:sp>
                <p:nvSpPr>
                  <p:cNvPr id="31" name="TextBox 30">
                    <a:extLst>
                      <a:ext uri="{FF2B5EF4-FFF2-40B4-BE49-F238E27FC236}">
                        <a16:creationId xmlns:a16="http://schemas.microsoft.com/office/drawing/2014/main" id="{7304A4E4-F200-6E42-02EB-4C552AB4936B}"/>
                      </a:ext>
                    </a:extLst>
                  </p:cNvPr>
                  <p:cNvSpPr txBox="1">
                    <a:spLocks noRot="1" noChangeAspect="1" noMove="1" noResize="1" noEditPoints="1" noAdjustHandles="1" noChangeArrowheads="1" noChangeShapeType="1" noTextEdit="1"/>
                  </p:cNvSpPr>
                  <p:nvPr/>
                </p:nvSpPr>
                <p:spPr>
                  <a:xfrm>
                    <a:off x="5741696" y="2741265"/>
                    <a:ext cx="689113" cy="369332"/>
                  </a:xfrm>
                  <a:prstGeom prst="rect">
                    <a:avLst/>
                  </a:prstGeom>
                  <a:blipFill>
                    <a:blip r:embed="rId25"/>
                    <a:stretch>
                      <a:fillRect/>
                    </a:stretch>
                  </a:blipFill>
                </p:spPr>
                <p:txBody>
                  <a:bodyPr/>
                  <a:lstStyle/>
                  <a:p>
                    <a:r>
                      <a:rPr lang="en-US">
                        <a:noFill/>
                      </a:rPr>
                      <a:t> </a:t>
                    </a:r>
                  </a:p>
                </p:txBody>
              </p:sp>
            </mc:Fallback>
          </mc:AlternateContent>
          <p:sp>
            <p:nvSpPr>
              <p:cNvPr id="32" name="Right Brace 31">
                <a:extLst>
                  <a:ext uri="{FF2B5EF4-FFF2-40B4-BE49-F238E27FC236}">
                    <a16:creationId xmlns:a16="http://schemas.microsoft.com/office/drawing/2014/main" id="{EA08C0D1-F13F-B904-9CBE-708B080BD745}"/>
                  </a:ext>
                </a:extLst>
              </p:cNvPr>
              <p:cNvSpPr/>
              <p:nvPr/>
            </p:nvSpPr>
            <p:spPr>
              <a:xfrm>
                <a:off x="5741696" y="2566226"/>
                <a:ext cx="235034" cy="734065"/>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34" name="Right Brace 33">
              <a:extLst>
                <a:ext uri="{FF2B5EF4-FFF2-40B4-BE49-F238E27FC236}">
                  <a16:creationId xmlns:a16="http://schemas.microsoft.com/office/drawing/2014/main" id="{96D3EC89-118A-D04A-6DCC-1815790ADC46}"/>
                </a:ext>
              </a:extLst>
            </p:cNvPr>
            <p:cNvSpPr/>
            <p:nvPr/>
          </p:nvSpPr>
          <p:spPr>
            <a:xfrm rot="5400000">
              <a:off x="4863145" y="2673618"/>
              <a:ext cx="219393" cy="1523124"/>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Right Brace 34">
              <a:extLst>
                <a:ext uri="{FF2B5EF4-FFF2-40B4-BE49-F238E27FC236}">
                  <a16:creationId xmlns:a16="http://schemas.microsoft.com/office/drawing/2014/main" id="{40295851-B446-0117-E36A-E78F8F11B60C}"/>
                </a:ext>
              </a:extLst>
            </p:cNvPr>
            <p:cNvSpPr/>
            <p:nvPr/>
          </p:nvSpPr>
          <p:spPr>
            <a:xfrm rot="5400000">
              <a:off x="3558562" y="3885585"/>
              <a:ext cx="213943" cy="787828"/>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Right Brace 35">
              <a:extLst>
                <a:ext uri="{FF2B5EF4-FFF2-40B4-BE49-F238E27FC236}">
                  <a16:creationId xmlns:a16="http://schemas.microsoft.com/office/drawing/2014/main" id="{0EC518FC-04DC-4F3B-C601-C7F0454A6CB6}"/>
                </a:ext>
              </a:extLst>
            </p:cNvPr>
            <p:cNvSpPr/>
            <p:nvPr/>
          </p:nvSpPr>
          <p:spPr>
            <a:xfrm rot="10800000">
              <a:off x="3002591" y="2579373"/>
              <a:ext cx="194755" cy="1561854"/>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009738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C6E1A-0CB7-E71F-29D3-C1E2A444C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FD612-E696-4FA4-54A3-9AECBDDB454F}"/>
              </a:ext>
            </a:extLst>
          </p:cNvPr>
          <p:cNvSpPr>
            <a:spLocks noGrp="1"/>
          </p:cNvSpPr>
          <p:nvPr>
            <p:ph type="title"/>
          </p:nvPr>
        </p:nvSpPr>
        <p:spPr/>
        <p:txBody>
          <a:bodyPr/>
          <a:lstStyle/>
          <a:p>
            <a:r>
              <a:rPr lang="en-US" dirty="0"/>
              <a:t>Question:</a:t>
            </a:r>
            <a:br>
              <a:rPr lang="en-US" dirty="0"/>
            </a:br>
            <a:r>
              <a:rPr lang="en-US" dirty="0"/>
              <a:t>How to pick covariates?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65D3E2-08AD-3A90-34F8-3A1B19934464}"/>
                  </a:ext>
                </a:extLst>
              </p:cNvPr>
              <p:cNvSpPr>
                <a:spLocks noGrp="1"/>
              </p:cNvSpPr>
              <p:nvPr>
                <p:ph idx="1"/>
              </p:nvPr>
            </p:nvSpPr>
            <p:spPr>
              <a:xfrm>
                <a:off x="838200" y="2249257"/>
                <a:ext cx="10515600" cy="3927705"/>
              </a:xfrm>
            </p:spPr>
            <p:txBody>
              <a:bodyPr/>
              <a:lstStyle/>
              <a:p>
                <a:r>
                  <a:rPr lang="en-US" b="1" dirty="0"/>
                  <a:t>Solution: </a:t>
                </a:r>
                <a:r>
                  <a:rPr lang="en-US" dirty="0"/>
                  <a:t>don’t look at any covariate information at all!</a:t>
                </a:r>
              </a:p>
              <a:p>
                <a:pPr lvl="1"/>
                <a:r>
                  <a:rPr lang="en-US" dirty="0">
                    <a:solidFill>
                      <a:schemeClr val="accent1"/>
                    </a:solidFill>
                  </a:rPr>
                  <a:t>Let the </a:t>
                </a:r>
                <a14:m>
                  <m:oMath xmlns:m="http://schemas.openxmlformats.org/officeDocument/2006/math">
                    <m:r>
                      <a:rPr lang="en-US" b="1" i="1" dirty="0" smtClean="0">
                        <a:solidFill>
                          <a:schemeClr val="accent1"/>
                        </a:solidFill>
                        <a:latin typeface="Cambria Math" panose="02040503050406030204" pitchFamily="18" charset="0"/>
                      </a:rPr>
                      <m:t>𝒀</m:t>
                    </m:r>
                    <m:r>
                      <a:rPr lang="en-US" b="1" i="1" dirty="0">
                        <a:solidFill>
                          <a:schemeClr val="accent1"/>
                        </a:solidFill>
                        <a:latin typeface="Cambria Math" panose="02040503050406030204" pitchFamily="18" charset="0"/>
                      </a:rPr>
                      <m:t> </m:t>
                    </m:r>
                  </m:oMath>
                </a14:m>
                <a:r>
                  <a:rPr lang="en-US" dirty="0">
                    <a:solidFill>
                      <a:schemeClr val="accent1"/>
                    </a:solidFill>
                  </a:rPr>
                  <a:t>matrix “tell us” what they should be</a:t>
                </a:r>
              </a:p>
              <a:p>
                <a:pPr lvl="1"/>
                <a:endParaRPr lang="en-US" dirty="0">
                  <a:solidFill>
                    <a:schemeClr val="accent1"/>
                  </a:solidFill>
                </a:endParaRPr>
              </a:p>
            </p:txBody>
          </p:sp>
        </mc:Choice>
        <mc:Fallback xmlns="">
          <p:sp>
            <p:nvSpPr>
              <p:cNvPr id="3" name="Content Placeholder 2">
                <a:extLst>
                  <a:ext uri="{FF2B5EF4-FFF2-40B4-BE49-F238E27FC236}">
                    <a16:creationId xmlns:a16="http://schemas.microsoft.com/office/drawing/2014/main" id="{CD65D3E2-08AD-3A90-34F8-3A1B19934464}"/>
                  </a:ext>
                </a:extLst>
              </p:cNvPr>
              <p:cNvSpPr>
                <a:spLocks noGrp="1" noRot="1" noChangeAspect="1" noMove="1" noResize="1" noEditPoints="1" noAdjustHandles="1" noChangeArrowheads="1" noChangeShapeType="1" noTextEdit="1"/>
              </p:cNvSpPr>
              <p:nvPr>
                <p:ph idx="1"/>
              </p:nvPr>
            </p:nvSpPr>
            <p:spPr>
              <a:xfrm>
                <a:off x="838200" y="2249257"/>
                <a:ext cx="10515600" cy="3927705"/>
              </a:xfrm>
              <a:blipFill>
                <a:blip r:embed="rId3"/>
                <a:stretch>
                  <a:fillRect l="-1086" t="-2903"/>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0F8CAABA-D2E9-0CCD-936B-44A5145E84E0}"/>
              </a:ext>
            </a:extLst>
          </p:cNvPr>
          <p:cNvGrpSpPr/>
          <p:nvPr/>
        </p:nvGrpSpPr>
        <p:grpSpPr>
          <a:xfrm>
            <a:off x="7426308" y="148094"/>
            <a:ext cx="4548830" cy="1759624"/>
            <a:chOff x="1669773" y="1968236"/>
            <a:chExt cx="10292114" cy="398130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0BEBAC0-0299-9257-377C-34E27F995800}"/>
                    </a:ext>
                  </a:extLst>
                </p:cNvPr>
                <p:cNvSpPr/>
                <p:nvPr/>
              </p:nvSpPr>
              <p:spPr>
                <a:xfrm>
                  <a:off x="1669773" y="2372139"/>
                  <a:ext cx="1782528"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4" name="Rectangle 3">
                  <a:extLst>
                    <a:ext uri="{FF2B5EF4-FFF2-40B4-BE49-F238E27FC236}">
                      <a16:creationId xmlns:a16="http://schemas.microsoft.com/office/drawing/2014/main" id="{A559DECC-0BFE-50CA-B247-265086BA1220}"/>
                    </a:ext>
                  </a:extLst>
                </p:cNvPr>
                <p:cNvSpPr>
                  <a:spLocks noRot="1" noChangeAspect="1" noMove="1" noResize="1" noEditPoints="1" noAdjustHandles="1" noChangeArrowheads="1" noChangeShapeType="1" noTextEdit="1"/>
                </p:cNvSpPr>
                <p:nvPr/>
              </p:nvSpPr>
              <p:spPr>
                <a:xfrm>
                  <a:off x="1669773" y="2372139"/>
                  <a:ext cx="1782528" cy="3577397"/>
                </a:xfrm>
                <a:prstGeom prst="rect">
                  <a:avLst/>
                </a:prstGeom>
                <a:blipFill>
                  <a:blip r:embed="rId4"/>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696BC5C-5165-E719-BBF0-01C37E83DFFA}"/>
                </a:ext>
              </a:extLst>
            </p:cNvPr>
            <p:cNvSpPr txBox="1"/>
            <p:nvPr/>
          </p:nvSpPr>
          <p:spPr>
            <a:xfrm rot="2497090">
              <a:off x="3232077" y="1968236"/>
              <a:ext cx="584661" cy="452642"/>
            </a:xfrm>
            <a:prstGeom prst="rect">
              <a:avLst/>
            </a:prstGeom>
            <a:noFill/>
          </p:spPr>
          <p:txBody>
            <a:bodyPr wrap="none" rtlCol="0">
              <a:spAutoFit/>
            </a:bodyPr>
            <a:lstStyle/>
            <a:p>
              <a:r>
                <a:rPr lang="en-US" sz="700" dirty="0"/>
                <a:t>…</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9C7DDD2-8C0A-B39D-D220-A4E475140F8C}"/>
                    </a:ext>
                  </a:extLst>
                </p:cNvPr>
                <p:cNvSpPr/>
                <p:nvPr/>
              </p:nvSpPr>
              <p:spPr>
                <a:xfrm>
                  <a:off x="3704624" y="2384597"/>
                  <a:ext cx="3122019" cy="137188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6" name="Rectangle 5">
                  <a:extLst>
                    <a:ext uri="{FF2B5EF4-FFF2-40B4-BE49-F238E27FC236}">
                      <a16:creationId xmlns:a16="http://schemas.microsoft.com/office/drawing/2014/main" id="{643C3EA7-CF0C-D6EC-E0C2-A68ECDAEBE8B}"/>
                    </a:ext>
                  </a:extLst>
                </p:cNvPr>
                <p:cNvSpPr>
                  <a:spLocks noRot="1" noChangeAspect="1" noMove="1" noResize="1" noEditPoints="1" noAdjustHandles="1" noChangeArrowheads="1" noChangeShapeType="1" noTextEdit="1"/>
                </p:cNvSpPr>
                <p:nvPr/>
              </p:nvSpPr>
              <p:spPr>
                <a:xfrm>
                  <a:off x="3704624" y="2384597"/>
                  <a:ext cx="3122019" cy="137188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91D953C-B9B6-E6E0-A239-AF158FE70940}"/>
                    </a:ext>
                  </a:extLst>
                </p:cNvPr>
                <p:cNvSpPr txBox="1"/>
                <p:nvPr/>
              </p:nvSpPr>
              <p:spPr>
                <a:xfrm>
                  <a:off x="6922791" y="3756477"/>
                  <a:ext cx="858549" cy="8356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00A911CB-D6ED-BA51-6125-A07D67DA64AB}"/>
                    </a:ext>
                  </a:extLst>
                </p:cNvPr>
                <p:cNvSpPr txBox="1">
                  <a:spLocks noRot="1" noChangeAspect="1" noMove="1" noResize="1" noEditPoints="1" noAdjustHandles="1" noChangeArrowheads="1" noChangeShapeType="1" noTextEdit="1"/>
                </p:cNvSpPr>
                <p:nvPr/>
              </p:nvSpPr>
              <p:spPr>
                <a:xfrm>
                  <a:off x="6922791" y="3756477"/>
                  <a:ext cx="858549" cy="835645"/>
                </a:xfrm>
                <a:prstGeom prst="rect">
                  <a:avLst/>
                </a:prstGeom>
                <a:blipFill>
                  <a:blip r:embed="rId6"/>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9F6BFB2A-E198-7ACC-2AA7-D725C7FE29A3}"/>
                </a:ext>
              </a:extLst>
            </p:cNvPr>
            <p:cNvGrpSpPr/>
            <p:nvPr/>
          </p:nvGrpSpPr>
          <p:grpSpPr>
            <a:xfrm>
              <a:off x="7712769" y="2492665"/>
              <a:ext cx="4249118" cy="3443049"/>
              <a:chOff x="1846882" y="2597802"/>
              <a:chExt cx="4249118" cy="2693288"/>
            </a:xfrm>
          </p:grpSpPr>
          <p:sp>
            <p:nvSpPr>
              <p:cNvPr id="9" name="Rectangle 8">
                <a:extLst>
                  <a:ext uri="{FF2B5EF4-FFF2-40B4-BE49-F238E27FC236}">
                    <a16:creationId xmlns:a16="http://schemas.microsoft.com/office/drawing/2014/main" id="{8BF5423F-4B31-1527-7043-7225D95F671F}"/>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2">
                      <a:lumMod val="75000"/>
                    </a:schemeClr>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644E8F-2D12-609A-CDEA-87E30556B671}"/>
                      </a:ext>
                    </a:extLst>
                  </p:cNvPr>
                  <p:cNvSpPr txBox="1"/>
                  <p:nvPr/>
                </p:nvSpPr>
                <p:spPr>
                  <a:xfrm>
                    <a:off x="1939777"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1,1</m:t>
                              </m:r>
                            </m:sub>
                          </m:sSub>
                        </m:oMath>
                      </m:oMathPara>
                    </a14:m>
                    <a:endParaRPr lang="en-US" sz="1050" dirty="0">
                      <a:solidFill>
                        <a:schemeClr val="bg2">
                          <a:lumMod val="75000"/>
                        </a:schemeClr>
                      </a:solidFill>
                    </a:endParaRPr>
                  </a:p>
                </p:txBody>
              </p:sp>
            </mc:Choice>
            <mc:Fallback xmlns="">
              <p:sp>
                <p:nvSpPr>
                  <p:cNvPr id="10" name="TextBox 9">
                    <a:extLst>
                      <a:ext uri="{FF2B5EF4-FFF2-40B4-BE49-F238E27FC236}">
                        <a16:creationId xmlns:a16="http://schemas.microsoft.com/office/drawing/2014/main" id="{2A01897E-2223-2D05-A83E-21ECEA7CA104}"/>
                      </a:ext>
                    </a:extLst>
                  </p:cNvPr>
                  <p:cNvSpPr txBox="1">
                    <a:spLocks noRot="1" noChangeAspect="1" noMove="1" noResize="1" noEditPoints="1" noAdjustHandles="1" noChangeArrowheads="1" noChangeShapeType="1" noTextEdit="1"/>
                  </p:cNvSpPr>
                  <p:nvPr/>
                </p:nvSpPr>
                <p:spPr>
                  <a:xfrm>
                    <a:off x="1939777" y="2788226"/>
                    <a:ext cx="656855" cy="298466"/>
                  </a:xfrm>
                  <a:prstGeom prst="rect">
                    <a:avLst/>
                  </a:prstGeom>
                  <a:blipFill>
                    <a:blip r:embed="rId7"/>
                    <a:stretch>
                      <a:fillRect b="-1428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2641383-691F-B32F-E7FD-422985E72E0F}"/>
                  </a:ext>
                </a:extLst>
              </p:cNvPr>
              <p:cNvSpPr txBox="1"/>
              <p:nvPr/>
            </p:nvSpPr>
            <p:spPr>
              <a:xfrm>
                <a:off x="5667213" y="2892741"/>
                <a:ext cx="258306" cy="435782"/>
              </a:xfrm>
              <a:prstGeom prst="rect">
                <a:avLst/>
              </a:prstGeom>
              <a:noFill/>
            </p:spPr>
            <p:txBody>
              <a:bodyPr wrap="square" rtlCol="0">
                <a:spAutoFit/>
              </a:bodyPr>
              <a:lstStyle/>
              <a:p>
                <a:endParaRPr lang="en-US" sz="10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B9619A-644B-4C9E-16FE-CC42004FEA61}"/>
                      </a:ext>
                    </a:extLst>
                  </p:cNvPr>
                  <p:cNvSpPr txBox="1"/>
                  <p:nvPr/>
                </p:nvSpPr>
                <p:spPr>
                  <a:xfrm>
                    <a:off x="2692783"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1,2</m:t>
                              </m:r>
                            </m:sub>
                          </m:sSub>
                        </m:oMath>
                      </m:oMathPara>
                    </a14:m>
                    <a:endParaRPr lang="en-US" sz="1050" dirty="0">
                      <a:solidFill>
                        <a:schemeClr val="bg2">
                          <a:lumMod val="75000"/>
                        </a:schemeClr>
                      </a:solidFill>
                    </a:endParaRPr>
                  </a:p>
                </p:txBody>
              </p:sp>
            </mc:Choice>
            <mc:Fallback xmlns="">
              <p:sp>
                <p:nvSpPr>
                  <p:cNvPr id="12" name="TextBox 11">
                    <a:extLst>
                      <a:ext uri="{FF2B5EF4-FFF2-40B4-BE49-F238E27FC236}">
                        <a16:creationId xmlns:a16="http://schemas.microsoft.com/office/drawing/2014/main" id="{526C5597-8FD8-471E-2B46-C0D8C3D5B3F3}"/>
                      </a:ext>
                    </a:extLst>
                  </p:cNvPr>
                  <p:cNvSpPr txBox="1">
                    <a:spLocks noRot="1" noChangeAspect="1" noMove="1" noResize="1" noEditPoints="1" noAdjustHandles="1" noChangeArrowheads="1" noChangeShapeType="1" noTextEdit="1"/>
                  </p:cNvSpPr>
                  <p:nvPr/>
                </p:nvSpPr>
                <p:spPr>
                  <a:xfrm>
                    <a:off x="2692783" y="2788226"/>
                    <a:ext cx="656855" cy="298466"/>
                  </a:xfrm>
                  <a:prstGeom prst="rect">
                    <a:avLst/>
                  </a:prstGeom>
                  <a:blipFill>
                    <a:blip r:embed="rId8"/>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91BD8E9-C3A1-2D67-DC7A-2C8D759E1127}"/>
                      </a:ext>
                    </a:extLst>
                  </p:cNvPr>
                  <p:cNvSpPr txBox="1"/>
                  <p:nvPr/>
                </p:nvSpPr>
                <p:spPr>
                  <a:xfrm>
                    <a:off x="5179522"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1,</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13" name="TextBox 12">
                    <a:extLst>
                      <a:ext uri="{FF2B5EF4-FFF2-40B4-BE49-F238E27FC236}">
                        <a16:creationId xmlns:a16="http://schemas.microsoft.com/office/drawing/2014/main" id="{ECE92E74-BA85-E4E4-C7CB-16B306C7C105}"/>
                      </a:ext>
                    </a:extLst>
                  </p:cNvPr>
                  <p:cNvSpPr txBox="1">
                    <a:spLocks noRot="1" noChangeAspect="1" noMove="1" noResize="1" noEditPoints="1" noAdjustHandles="1" noChangeArrowheads="1" noChangeShapeType="1" noTextEdit="1"/>
                  </p:cNvSpPr>
                  <p:nvPr/>
                </p:nvSpPr>
                <p:spPr>
                  <a:xfrm>
                    <a:off x="5179522" y="2788226"/>
                    <a:ext cx="656855" cy="298466"/>
                  </a:xfrm>
                  <a:prstGeom prst="rect">
                    <a:avLst/>
                  </a:prstGeom>
                  <a:blipFill>
                    <a:blip r:embed="rId9"/>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0E32F77-8EFA-CB3C-BFF7-52BB16023C80}"/>
                      </a:ext>
                    </a:extLst>
                  </p:cNvPr>
                  <p:cNvSpPr txBox="1"/>
                  <p:nvPr/>
                </p:nvSpPr>
                <p:spPr>
                  <a:xfrm>
                    <a:off x="1972186"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2,1</m:t>
                              </m:r>
                            </m:sub>
                          </m:sSub>
                        </m:oMath>
                      </m:oMathPara>
                    </a14:m>
                    <a:endParaRPr lang="en-US" sz="1050" dirty="0">
                      <a:solidFill>
                        <a:schemeClr val="bg2">
                          <a:lumMod val="75000"/>
                        </a:schemeClr>
                      </a:solidFill>
                    </a:endParaRPr>
                  </a:p>
                </p:txBody>
              </p:sp>
            </mc:Choice>
            <mc:Fallback xmlns="">
              <p:sp>
                <p:nvSpPr>
                  <p:cNvPr id="14" name="TextBox 13">
                    <a:extLst>
                      <a:ext uri="{FF2B5EF4-FFF2-40B4-BE49-F238E27FC236}">
                        <a16:creationId xmlns:a16="http://schemas.microsoft.com/office/drawing/2014/main" id="{E2008E63-0EF1-B302-29F8-614637AF4A71}"/>
                      </a:ext>
                    </a:extLst>
                  </p:cNvPr>
                  <p:cNvSpPr txBox="1">
                    <a:spLocks noRot="1" noChangeAspect="1" noMove="1" noResize="1" noEditPoints="1" noAdjustHandles="1" noChangeArrowheads="1" noChangeShapeType="1" noTextEdit="1"/>
                  </p:cNvSpPr>
                  <p:nvPr/>
                </p:nvSpPr>
                <p:spPr>
                  <a:xfrm>
                    <a:off x="1972186" y="3265230"/>
                    <a:ext cx="656855" cy="298466"/>
                  </a:xfrm>
                  <a:prstGeom prst="rect">
                    <a:avLst/>
                  </a:prstGeom>
                  <a:blipFill>
                    <a:blip r:embed="rId10"/>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18D9579-D67C-DADD-9BD9-2138EECBFFDE}"/>
                      </a:ext>
                    </a:extLst>
                  </p:cNvPr>
                  <p:cNvSpPr txBox="1"/>
                  <p:nvPr/>
                </p:nvSpPr>
                <p:spPr>
                  <a:xfrm>
                    <a:off x="2725190"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2,2</m:t>
                              </m:r>
                            </m:sub>
                          </m:sSub>
                        </m:oMath>
                      </m:oMathPara>
                    </a14:m>
                    <a:endParaRPr lang="en-US" sz="1050" dirty="0">
                      <a:solidFill>
                        <a:schemeClr val="bg2">
                          <a:lumMod val="75000"/>
                        </a:schemeClr>
                      </a:solidFill>
                    </a:endParaRPr>
                  </a:p>
                </p:txBody>
              </p:sp>
            </mc:Choice>
            <mc:Fallback xmlns="">
              <p:sp>
                <p:nvSpPr>
                  <p:cNvPr id="15" name="TextBox 14">
                    <a:extLst>
                      <a:ext uri="{FF2B5EF4-FFF2-40B4-BE49-F238E27FC236}">
                        <a16:creationId xmlns:a16="http://schemas.microsoft.com/office/drawing/2014/main" id="{BAD33CBF-2E20-EC4E-75A7-75CD0CCCEB43}"/>
                      </a:ext>
                    </a:extLst>
                  </p:cNvPr>
                  <p:cNvSpPr txBox="1">
                    <a:spLocks noRot="1" noChangeAspect="1" noMove="1" noResize="1" noEditPoints="1" noAdjustHandles="1" noChangeArrowheads="1" noChangeShapeType="1" noTextEdit="1"/>
                  </p:cNvSpPr>
                  <p:nvPr/>
                </p:nvSpPr>
                <p:spPr>
                  <a:xfrm>
                    <a:off x="2725190" y="3265230"/>
                    <a:ext cx="656855" cy="298466"/>
                  </a:xfrm>
                  <a:prstGeom prst="rect">
                    <a:avLst/>
                  </a:prstGeom>
                  <a:blipFill>
                    <a:blip r:embed="rId11"/>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DCBECB5-F663-F33A-7579-887CD33F94B5}"/>
                      </a:ext>
                    </a:extLst>
                  </p:cNvPr>
                  <p:cNvSpPr txBox="1"/>
                  <p:nvPr/>
                </p:nvSpPr>
                <p:spPr>
                  <a:xfrm>
                    <a:off x="5211929"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2,</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16" name="TextBox 15">
                    <a:extLst>
                      <a:ext uri="{FF2B5EF4-FFF2-40B4-BE49-F238E27FC236}">
                        <a16:creationId xmlns:a16="http://schemas.microsoft.com/office/drawing/2014/main" id="{AE01E2C4-74AC-2A63-32E5-80604A751BF7}"/>
                      </a:ext>
                    </a:extLst>
                  </p:cNvPr>
                  <p:cNvSpPr txBox="1">
                    <a:spLocks noRot="1" noChangeAspect="1" noMove="1" noResize="1" noEditPoints="1" noAdjustHandles="1" noChangeArrowheads="1" noChangeShapeType="1" noTextEdit="1"/>
                  </p:cNvSpPr>
                  <p:nvPr/>
                </p:nvSpPr>
                <p:spPr>
                  <a:xfrm>
                    <a:off x="5211929" y="3265230"/>
                    <a:ext cx="656855" cy="298466"/>
                  </a:xfrm>
                  <a:prstGeom prst="rect">
                    <a:avLst/>
                  </a:prstGeom>
                  <a:blipFill>
                    <a:blip r:embed="rId12"/>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40AADE8-B5AC-8A33-BBD0-FD5C3BEBA740}"/>
                      </a:ext>
                    </a:extLst>
                  </p:cNvPr>
                  <p:cNvSpPr txBox="1"/>
                  <p:nvPr/>
                </p:nvSpPr>
                <p:spPr>
                  <a:xfrm>
                    <a:off x="1972186"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3,1</m:t>
                              </m:r>
                            </m:sub>
                          </m:sSub>
                        </m:oMath>
                      </m:oMathPara>
                    </a14:m>
                    <a:endParaRPr lang="en-US" sz="1050" dirty="0">
                      <a:solidFill>
                        <a:schemeClr val="bg2">
                          <a:lumMod val="75000"/>
                        </a:schemeClr>
                      </a:solidFill>
                    </a:endParaRPr>
                  </a:p>
                </p:txBody>
              </p:sp>
            </mc:Choice>
            <mc:Fallback xmlns="">
              <p:sp>
                <p:nvSpPr>
                  <p:cNvPr id="17" name="TextBox 16">
                    <a:extLst>
                      <a:ext uri="{FF2B5EF4-FFF2-40B4-BE49-F238E27FC236}">
                        <a16:creationId xmlns:a16="http://schemas.microsoft.com/office/drawing/2014/main" id="{2CD35230-2E5E-DFFE-2CB7-D078ACE5E4B3}"/>
                      </a:ext>
                    </a:extLst>
                  </p:cNvPr>
                  <p:cNvSpPr txBox="1">
                    <a:spLocks noRot="1" noChangeAspect="1" noMove="1" noResize="1" noEditPoints="1" noAdjustHandles="1" noChangeArrowheads="1" noChangeShapeType="1" noTextEdit="1"/>
                  </p:cNvSpPr>
                  <p:nvPr/>
                </p:nvSpPr>
                <p:spPr>
                  <a:xfrm>
                    <a:off x="1972186" y="3802731"/>
                    <a:ext cx="656855" cy="298466"/>
                  </a:xfrm>
                  <a:prstGeom prst="rect">
                    <a:avLst/>
                  </a:prstGeom>
                  <a:blipFill>
                    <a:blip r:embed="rId13"/>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C7D2A6-976C-1834-C032-DE7EDBD17457}"/>
                      </a:ext>
                    </a:extLst>
                  </p:cNvPr>
                  <p:cNvSpPr txBox="1"/>
                  <p:nvPr/>
                </p:nvSpPr>
                <p:spPr>
                  <a:xfrm>
                    <a:off x="2725190"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3,2</m:t>
                              </m:r>
                            </m:sub>
                          </m:sSub>
                        </m:oMath>
                      </m:oMathPara>
                    </a14:m>
                    <a:endParaRPr lang="en-US" sz="1050" dirty="0">
                      <a:solidFill>
                        <a:schemeClr val="bg2">
                          <a:lumMod val="75000"/>
                        </a:schemeClr>
                      </a:solidFill>
                    </a:endParaRPr>
                  </a:p>
                </p:txBody>
              </p:sp>
            </mc:Choice>
            <mc:Fallback xmlns="">
              <p:sp>
                <p:nvSpPr>
                  <p:cNvPr id="18" name="TextBox 17">
                    <a:extLst>
                      <a:ext uri="{FF2B5EF4-FFF2-40B4-BE49-F238E27FC236}">
                        <a16:creationId xmlns:a16="http://schemas.microsoft.com/office/drawing/2014/main" id="{A137A225-FDF3-8542-13C0-2169C93DB141}"/>
                      </a:ext>
                    </a:extLst>
                  </p:cNvPr>
                  <p:cNvSpPr txBox="1">
                    <a:spLocks noRot="1" noChangeAspect="1" noMove="1" noResize="1" noEditPoints="1" noAdjustHandles="1" noChangeArrowheads="1" noChangeShapeType="1" noTextEdit="1"/>
                  </p:cNvSpPr>
                  <p:nvPr/>
                </p:nvSpPr>
                <p:spPr>
                  <a:xfrm>
                    <a:off x="2725190" y="3802731"/>
                    <a:ext cx="656855" cy="298466"/>
                  </a:xfrm>
                  <a:prstGeom prst="rect">
                    <a:avLst/>
                  </a:prstGeom>
                  <a:blipFill>
                    <a:blip r:embed="rId14"/>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9C0BB8F-4730-E99D-4535-E5A6EE0FBE17}"/>
                      </a:ext>
                    </a:extLst>
                  </p:cNvPr>
                  <p:cNvSpPr txBox="1"/>
                  <p:nvPr/>
                </p:nvSpPr>
                <p:spPr>
                  <a:xfrm>
                    <a:off x="5211929"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3,</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19" name="TextBox 18">
                    <a:extLst>
                      <a:ext uri="{FF2B5EF4-FFF2-40B4-BE49-F238E27FC236}">
                        <a16:creationId xmlns:a16="http://schemas.microsoft.com/office/drawing/2014/main" id="{4FA78E3A-2260-BABB-D3BC-561554654958}"/>
                      </a:ext>
                    </a:extLst>
                  </p:cNvPr>
                  <p:cNvSpPr txBox="1">
                    <a:spLocks noRot="1" noChangeAspect="1" noMove="1" noResize="1" noEditPoints="1" noAdjustHandles="1" noChangeArrowheads="1" noChangeShapeType="1" noTextEdit="1"/>
                  </p:cNvSpPr>
                  <p:nvPr/>
                </p:nvSpPr>
                <p:spPr>
                  <a:xfrm>
                    <a:off x="5211929" y="3802731"/>
                    <a:ext cx="656855" cy="298466"/>
                  </a:xfrm>
                  <a:prstGeom prst="rect">
                    <a:avLst/>
                  </a:prstGeom>
                  <a:blipFill>
                    <a:blip r:embed="rId15"/>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E1FB34B-625C-3D54-BE8E-AD541A819898}"/>
                      </a:ext>
                    </a:extLst>
                  </p:cNvPr>
                  <p:cNvSpPr txBox="1"/>
                  <p:nvPr/>
                </p:nvSpPr>
                <p:spPr>
                  <a:xfrm>
                    <a:off x="1977447"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𝑛</m:t>
                              </m:r>
                              <m:r>
                                <a:rPr lang="en-US" sz="1050" b="0" i="1" smtClean="0">
                                  <a:solidFill>
                                    <a:schemeClr val="bg2">
                                      <a:lumMod val="75000"/>
                                    </a:schemeClr>
                                  </a:solidFill>
                                  <a:latin typeface="Cambria Math" panose="02040503050406030204" pitchFamily="18" charset="0"/>
                                </a:rPr>
                                <m:t>,1</m:t>
                              </m:r>
                            </m:sub>
                          </m:sSub>
                        </m:oMath>
                      </m:oMathPara>
                    </a14:m>
                    <a:endParaRPr lang="en-US" sz="1050" dirty="0">
                      <a:solidFill>
                        <a:schemeClr val="bg2">
                          <a:lumMod val="75000"/>
                        </a:schemeClr>
                      </a:solidFill>
                    </a:endParaRPr>
                  </a:p>
                </p:txBody>
              </p:sp>
            </mc:Choice>
            <mc:Fallback xmlns="">
              <p:sp>
                <p:nvSpPr>
                  <p:cNvPr id="20" name="TextBox 19">
                    <a:extLst>
                      <a:ext uri="{FF2B5EF4-FFF2-40B4-BE49-F238E27FC236}">
                        <a16:creationId xmlns:a16="http://schemas.microsoft.com/office/drawing/2014/main" id="{3182815D-7922-B074-5233-800747A4086B}"/>
                      </a:ext>
                    </a:extLst>
                  </p:cNvPr>
                  <p:cNvSpPr txBox="1">
                    <a:spLocks noRot="1" noChangeAspect="1" noMove="1" noResize="1" noEditPoints="1" noAdjustHandles="1" noChangeArrowheads="1" noChangeShapeType="1" noTextEdit="1"/>
                  </p:cNvSpPr>
                  <p:nvPr/>
                </p:nvSpPr>
                <p:spPr>
                  <a:xfrm>
                    <a:off x="1977447" y="4810901"/>
                    <a:ext cx="656855" cy="298466"/>
                  </a:xfrm>
                  <a:prstGeom prst="rect">
                    <a:avLst/>
                  </a:prstGeom>
                  <a:blipFill>
                    <a:blip r:embed="rId1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55B354A-DB36-6C95-BA75-3FF3DAD730A4}"/>
                      </a:ext>
                    </a:extLst>
                  </p:cNvPr>
                  <p:cNvSpPr txBox="1"/>
                  <p:nvPr/>
                </p:nvSpPr>
                <p:spPr>
                  <a:xfrm>
                    <a:off x="2730451"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𝑛</m:t>
                              </m:r>
                              <m:r>
                                <a:rPr lang="en-US" sz="1050" b="0" i="1" smtClean="0">
                                  <a:solidFill>
                                    <a:schemeClr val="bg2">
                                      <a:lumMod val="75000"/>
                                    </a:schemeClr>
                                  </a:solidFill>
                                  <a:latin typeface="Cambria Math" panose="02040503050406030204" pitchFamily="18" charset="0"/>
                                </a:rPr>
                                <m:t>,2</m:t>
                              </m:r>
                            </m:sub>
                          </m:sSub>
                        </m:oMath>
                      </m:oMathPara>
                    </a14:m>
                    <a:endParaRPr lang="en-US" sz="1050" dirty="0">
                      <a:solidFill>
                        <a:schemeClr val="bg2">
                          <a:lumMod val="75000"/>
                        </a:schemeClr>
                      </a:solidFill>
                    </a:endParaRPr>
                  </a:p>
                </p:txBody>
              </p:sp>
            </mc:Choice>
            <mc:Fallback xmlns="">
              <p:sp>
                <p:nvSpPr>
                  <p:cNvPr id="21" name="TextBox 20">
                    <a:extLst>
                      <a:ext uri="{FF2B5EF4-FFF2-40B4-BE49-F238E27FC236}">
                        <a16:creationId xmlns:a16="http://schemas.microsoft.com/office/drawing/2014/main" id="{AE486E26-0C47-E9CD-EC1F-B51B0CDDE91B}"/>
                      </a:ext>
                    </a:extLst>
                  </p:cNvPr>
                  <p:cNvSpPr txBox="1">
                    <a:spLocks noRot="1" noChangeAspect="1" noMove="1" noResize="1" noEditPoints="1" noAdjustHandles="1" noChangeArrowheads="1" noChangeShapeType="1" noTextEdit="1"/>
                  </p:cNvSpPr>
                  <p:nvPr/>
                </p:nvSpPr>
                <p:spPr>
                  <a:xfrm>
                    <a:off x="2730451" y="4810901"/>
                    <a:ext cx="656855" cy="298466"/>
                  </a:xfrm>
                  <a:prstGeom prst="rect">
                    <a:avLst/>
                  </a:prstGeom>
                  <a:blipFill>
                    <a:blip r:embed="rId17"/>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0922DB0-5682-DBF0-4E81-64D8C909683F}"/>
                      </a:ext>
                    </a:extLst>
                  </p:cNvPr>
                  <p:cNvSpPr txBox="1"/>
                  <p:nvPr/>
                </p:nvSpPr>
                <p:spPr>
                  <a:xfrm>
                    <a:off x="5217190"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𝑛</m:t>
                              </m:r>
                              <m:r>
                                <a:rPr lang="en-US" sz="1050" b="0" i="1" smtClean="0">
                                  <a:solidFill>
                                    <a:schemeClr val="bg2">
                                      <a:lumMod val="75000"/>
                                    </a:schemeClr>
                                  </a:solidFill>
                                  <a:latin typeface="Cambria Math" panose="02040503050406030204" pitchFamily="18" charset="0"/>
                                </a:rPr>
                                <m:t>,</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22" name="TextBox 21">
                    <a:extLst>
                      <a:ext uri="{FF2B5EF4-FFF2-40B4-BE49-F238E27FC236}">
                        <a16:creationId xmlns:a16="http://schemas.microsoft.com/office/drawing/2014/main" id="{7BE5F55D-E237-4B77-18BC-BF90A64909F0}"/>
                      </a:ext>
                    </a:extLst>
                  </p:cNvPr>
                  <p:cNvSpPr txBox="1">
                    <a:spLocks noRot="1" noChangeAspect="1" noMove="1" noResize="1" noEditPoints="1" noAdjustHandles="1" noChangeArrowheads="1" noChangeShapeType="1" noTextEdit="1"/>
                  </p:cNvSpPr>
                  <p:nvPr/>
                </p:nvSpPr>
                <p:spPr>
                  <a:xfrm>
                    <a:off x="5217190" y="4810901"/>
                    <a:ext cx="656855" cy="298466"/>
                  </a:xfrm>
                  <a:prstGeom prst="rect">
                    <a:avLst/>
                  </a:prstGeom>
                  <a:blipFill>
                    <a:blip r:embed="rId18"/>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AC425EB-11C1-874D-4886-8EDAEBECE7CE}"/>
                      </a:ext>
                    </a:extLst>
                  </p:cNvPr>
                  <p:cNvSpPr txBox="1"/>
                  <p:nvPr/>
                </p:nvSpPr>
                <p:spPr>
                  <a:xfrm>
                    <a:off x="2116562" y="4363342"/>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3" name="TextBox 22">
                    <a:extLst>
                      <a:ext uri="{FF2B5EF4-FFF2-40B4-BE49-F238E27FC236}">
                        <a16:creationId xmlns:a16="http://schemas.microsoft.com/office/drawing/2014/main" id="{CB899D03-B9B7-6E7E-404A-CFB4CF9F758C}"/>
                      </a:ext>
                    </a:extLst>
                  </p:cNvPr>
                  <p:cNvSpPr txBox="1">
                    <a:spLocks noRot="1" noChangeAspect="1" noMove="1" noResize="1" noEditPoints="1" noAdjustHandles="1" noChangeArrowheads="1" noChangeShapeType="1" noTextEdit="1"/>
                  </p:cNvSpPr>
                  <p:nvPr/>
                </p:nvSpPr>
                <p:spPr>
                  <a:xfrm>
                    <a:off x="2116562" y="4363342"/>
                    <a:ext cx="566529" cy="43578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25DB9B8-86CB-0334-4454-0C9179892737}"/>
                      </a:ext>
                    </a:extLst>
                  </p:cNvPr>
                  <p:cNvSpPr txBox="1"/>
                  <p:nvPr/>
                </p:nvSpPr>
                <p:spPr>
                  <a:xfrm>
                    <a:off x="5356305" y="4338167"/>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4" name="TextBox 23">
                    <a:extLst>
                      <a:ext uri="{FF2B5EF4-FFF2-40B4-BE49-F238E27FC236}">
                        <a16:creationId xmlns:a16="http://schemas.microsoft.com/office/drawing/2014/main" id="{5A1B9368-8708-2C99-E668-BCB3F1B4FBE5}"/>
                      </a:ext>
                    </a:extLst>
                  </p:cNvPr>
                  <p:cNvSpPr txBox="1">
                    <a:spLocks noRot="1" noChangeAspect="1" noMove="1" noResize="1" noEditPoints="1" noAdjustHandles="1" noChangeArrowheads="1" noChangeShapeType="1" noTextEdit="1"/>
                  </p:cNvSpPr>
                  <p:nvPr/>
                </p:nvSpPr>
                <p:spPr>
                  <a:xfrm>
                    <a:off x="5356305" y="4338167"/>
                    <a:ext cx="566529" cy="43578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E41F7FA-87A8-8012-FF0D-733B5053AF3C}"/>
                      </a:ext>
                    </a:extLst>
                  </p:cNvPr>
                  <p:cNvSpPr txBox="1"/>
                  <p:nvPr/>
                </p:nvSpPr>
                <p:spPr>
                  <a:xfrm>
                    <a:off x="3804923" y="2798886"/>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5" name="TextBox 24">
                    <a:extLst>
                      <a:ext uri="{FF2B5EF4-FFF2-40B4-BE49-F238E27FC236}">
                        <a16:creationId xmlns:a16="http://schemas.microsoft.com/office/drawing/2014/main" id="{6892E421-00EB-2B79-88A8-6E4A90DB9F16}"/>
                      </a:ext>
                    </a:extLst>
                  </p:cNvPr>
                  <p:cNvSpPr txBox="1">
                    <a:spLocks noRot="1" noChangeAspect="1" noMove="1" noResize="1" noEditPoints="1" noAdjustHandles="1" noChangeArrowheads="1" noChangeShapeType="1" noTextEdit="1"/>
                  </p:cNvSpPr>
                  <p:nvPr/>
                </p:nvSpPr>
                <p:spPr>
                  <a:xfrm>
                    <a:off x="3804923" y="2798886"/>
                    <a:ext cx="850773" cy="43578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D2F73BC-E809-7F10-F9D6-A030CAE830FE}"/>
                      </a:ext>
                    </a:extLst>
                  </p:cNvPr>
                  <p:cNvSpPr txBox="1"/>
                  <p:nvPr/>
                </p:nvSpPr>
                <p:spPr>
                  <a:xfrm>
                    <a:off x="3799341" y="4829425"/>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6" name="TextBox 25">
                    <a:extLst>
                      <a:ext uri="{FF2B5EF4-FFF2-40B4-BE49-F238E27FC236}">
                        <a16:creationId xmlns:a16="http://schemas.microsoft.com/office/drawing/2014/main" id="{DC4B1195-4BA8-9E1E-44A6-F2177DE5FB08}"/>
                      </a:ext>
                    </a:extLst>
                  </p:cNvPr>
                  <p:cNvSpPr txBox="1">
                    <a:spLocks noRot="1" noChangeAspect="1" noMove="1" noResize="1" noEditPoints="1" noAdjustHandles="1" noChangeArrowheads="1" noChangeShapeType="1" noTextEdit="1"/>
                  </p:cNvSpPr>
                  <p:nvPr/>
                </p:nvSpPr>
                <p:spPr>
                  <a:xfrm>
                    <a:off x="3799341" y="4829425"/>
                    <a:ext cx="850773" cy="435782"/>
                  </a:xfrm>
                  <a:prstGeom prst="rect">
                    <a:avLst/>
                  </a:prstGeom>
                  <a:blipFill>
                    <a:blip r:embed="rId22"/>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65D1A78-2E76-4547-920F-A570D752F597}"/>
                  </a:ext>
                </a:extLst>
              </p:cNvPr>
              <p:cNvSpPr txBox="1"/>
              <p:nvPr/>
            </p:nvSpPr>
            <p:spPr>
              <a:xfrm>
                <a:off x="10844299" y="817577"/>
                <a:ext cx="50031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b="1" i="1" dirty="0" smtClean="0">
                          <a:solidFill>
                            <a:schemeClr val="bg1"/>
                          </a:solidFill>
                          <a:latin typeface="Cambria Math" panose="02040503050406030204" pitchFamily="18" charset="0"/>
                        </a:rPr>
                        <m:t>𝒀</m:t>
                      </m:r>
                    </m:oMath>
                  </m:oMathPara>
                </a14:m>
                <a:endParaRPr lang="en-US" sz="3600" dirty="0">
                  <a:solidFill>
                    <a:schemeClr val="bg1"/>
                  </a:solidFill>
                </a:endParaRPr>
              </a:p>
            </p:txBody>
          </p:sp>
        </mc:Choice>
        <mc:Fallback xmlns="">
          <p:sp>
            <p:nvSpPr>
              <p:cNvPr id="29" name="TextBox 28">
                <a:extLst>
                  <a:ext uri="{FF2B5EF4-FFF2-40B4-BE49-F238E27FC236}">
                    <a16:creationId xmlns:a16="http://schemas.microsoft.com/office/drawing/2014/main" id="{AA5CDEA5-C384-1575-C0FD-C9295A376150}"/>
                  </a:ext>
                </a:extLst>
              </p:cNvPr>
              <p:cNvSpPr txBox="1">
                <a:spLocks noRot="1" noChangeAspect="1" noMove="1" noResize="1" noEditPoints="1" noAdjustHandles="1" noChangeArrowheads="1" noChangeShapeType="1" noTextEdit="1"/>
              </p:cNvSpPr>
              <p:nvPr/>
            </p:nvSpPr>
            <p:spPr>
              <a:xfrm>
                <a:off x="10844299" y="817577"/>
                <a:ext cx="500314" cy="646331"/>
              </a:xfrm>
              <a:prstGeom prst="rect">
                <a:avLst/>
              </a:prstGeom>
              <a:blipFill>
                <a:blip r:embed="rId23"/>
                <a:stretch>
                  <a:fillRect l="-7317" r="-9756"/>
                </a:stretch>
              </a:blipFill>
            </p:spPr>
            <p:txBody>
              <a:bodyPr/>
              <a:lstStyle/>
              <a:p>
                <a:r>
                  <a:rPr lang="en-US">
                    <a:noFill/>
                  </a:rPr>
                  <a:t> </a:t>
                </a:r>
              </a:p>
            </p:txBody>
          </p:sp>
        </mc:Fallback>
      </mc:AlternateContent>
    </p:spTree>
    <p:extLst>
      <p:ext uri="{BB962C8B-B14F-4D97-AF65-F5344CB8AC3E}">
        <p14:creationId xmlns:p14="http://schemas.microsoft.com/office/powerpoint/2010/main" val="1523751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852-517C-23CF-190A-DFE21E77A663}"/>
              </a:ext>
            </a:extLst>
          </p:cNvPr>
          <p:cNvSpPr>
            <a:spLocks noGrp="1"/>
          </p:cNvSpPr>
          <p:nvPr>
            <p:ph type="title"/>
          </p:nvPr>
        </p:nvSpPr>
        <p:spPr/>
        <p:txBody>
          <a:bodyPr/>
          <a:lstStyle/>
          <a:p>
            <a:r>
              <a:rPr lang="en-US" dirty="0"/>
              <a:t>Question:</a:t>
            </a:r>
            <a:br>
              <a:rPr lang="en-US" dirty="0"/>
            </a:br>
            <a:r>
              <a:rPr lang="en-US" dirty="0"/>
              <a:t>How to pick covariates?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32230D-56E9-FEB8-955F-9F41D8630989}"/>
                  </a:ext>
                </a:extLst>
              </p:cNvPr>
              <p:cNvSpPr>
                <a:spLocks noGrp="1"/>
              </p:cNvSpPr>
              <p:nvPr>
                <p:ph idx="1"/>
              </p:nvPr>
            </p:nvSpPr>
            <p:spPr>
              <a:xfrm>
                <a:off x="838200" y="2249257"/>
                <a:ext cx="10515600" cy="3927705"/>
              </a:xfrm>
            </p:spPr>
            <p:txBody>
              <a:bodyPr/>
              <a:lstStyle/>
              <a:p>
                <a:r>
                  <a:rPr lang="en-US" b="1" dirty="0"/>
                  <a:t>Solution: </a:t>
                </a:r>
                <a:r>
                  <a:rPr lang="en-US" dirty="0"/>
                  <a:t>don’t look at any covariate information at all!</a:t>
                </a:r>
              </a:p>
              <a:p>
                <a:pPr lvl="1"/>
                <a:r>
                  <a:rPr lang="en-US" dirty="0">
                    <a:solidFill>
                      <a:schemeClr val="accent1"/>
                    </a:solidFill>
                  </a:rPr>
                  <a:t>Let the </a:t>
                </a:r>
                <a14:m>
                  <m:oMath xmlns:m="http://schemas.openxmlformats.org/officeDocument/2006/math">
                    <m:r>
                      <a:rPr lang="en-US" b="1" i="1" dirty="0" smtClean="0">
                        <a:solidFill>
                          <a:schemeClr val="accent1"/>
                        </a:solidFill>
                        <a:latin typeface="Cambria Math" panose="02040503050406030204" pitchFamily="18" charset="0"/>
                      </a:rPr>
                      <m:t>𝒀</m:t>
                    </m:r>
                    <m:r>
                      <a:rPr lang="en-US" b="1" i="1" dirty="0">
                        <a:solidFill>
                          <a:schemeClr val="accent1"/>
                        </a:solidFill>
                        <a:latin typeface="Cambria Math" panose="02040503050406030204" pitchFamily="18" charset="0"/>
                      </a:rPr>
                      <m:t> </m:t>
                    </m:r>
                  </m:oMath>
                </a14:m>
                <a:r>
                  <a:rPr lang="en-US" dirty="0">
                    <a:solidFill>
                      <a:schemeClr val="accent1"/>
                    </a:solidFill>
                  </a:rPr>
                  <a:t>matrix “tell us” what they should be</a:t>
                </a:r>
              </a:p>
              <a:p>
                <a:pPr lvl="1"/>
                <a:endParaRPr lang="en-US" dirty="0">
                  <a:solidFill>
                    <a:schemeClr val="accent1"/>
                  </a:solidFill>
                </a:endParaRPr>
              </a:p>
              <a:p>
                <a:r>
                  <a:rPr lang="en-US" dirty="0"/>
                  <a:t>That is, find the best low-rank approximation to </a:t>
                </a:r>
                <a14:m>
                  <m:oMath xmlns:m="http://schemas.openxmlformats.org/officeDocument/2006/math">
                    <m:r>
                      <a:rPr lang="en-US" b="1" i="1" dirty="0" smtClean="0">
                        <a:latin typeface="Cambria Math" panose="02040503050406030204" pitchFamily="18" charset="0"/>
                      </a:rPr>
                      <m:t>𝒀</m:t>
                    </m:r>
                  </m:oMath>
                </a14:m>
                <a:r>
                  <a:rPr lang="en-US" dirty="0"/>
                  <a:t>:</a:t>
                </a:r>
              </a:p>
              <a:p>
                <a:pPr lvl="1"/>
                <a:r>
                  <a:rPr lang="en-US" dirty="0"/>
                  <a:t>Given a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𝑇</m:t>
                    </m:r>
                  </m:oMath>
                </a14:m>
                <a:r>
                  <a:rPr lang="en-US" dirty="0"/>
                  <a:t> matrix </a:t>
                </a:r>
                <a14:m>
                  <m:oMath xmlns:m="http://schemas.openxmlformats.org/officeDocument/2006/math">
                    <m:r>
                      <a:rPr lang="en-US" b="1" i="1" dirty="0" smtClean="0">
                        <a:latin typeface="Cambria Math" panose="02040503050406030204" pitchFamily="18" charset="0"/>
                      </a:rPr>
                      <m:t>𝒀</m:t>
                    </m:r>
                  </m:oMath>
                </a14:m>
                <a:r>
                  <a:rPr lang="en-US" dirty="0"/>
                  <a:t>, find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𝑟</m:t>
                    </m:r>
                  </m:oMath>
                </a14:m>
                <a:r>
                  <a:rPr lang="en-US" dirty="0"/>
                  <a:t> matrix </a:t>
                </a:r>
                <a14:m>
                  <m:oMath xmlns:m="http://schemas.openxmlformats.org/officeDocument/2006/math">
                    <m:r>
                      <a:rPr lang="en-US" b="1" i="1" dirty="0" smtClean="0">
                        <a:latin typeface="Cambria Math" panose="02040503050406030204" pitchFamily="18" charset="0"/>
                      </a:rPr>
                      <m:t>𝑿</m:t>
                    </m:r>
                    <m:r>
                      <a:rPr lang="en-US" i="1" dirty="0">
                        <a:latin typeface="Cambria Math" panose="02040503050406030204" pitchFamily="18" charset="0"/>
                      </a:rPr>
                      <m:t> </m:t>
                    </m:r>
                  </m:oMath>
                </a14:m>
                <a:r>
                  <a:rPr lang="en-US" dirty="0"/>
                  <a:t>and </a:t>
                </a:r>
                <a14:m>
                  <m:oMath xmlns:m="http://schemas.openxmlformats.org/officeDocument/2006/math">
                    <m:r>
                      <a:rPr lang="en-US" b="0" i="1" smtClean="0">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𝑇</m:t>
                    </m:r>
                  </m:oMath>
                </a14:m>
                <a:r>
                  <a:rPr lang="en-US" dirty="0"/>
                  <a:t> matrix </a:t>
                </a:r>
                <a14:m>
                  <m:oMath xmlns:m="http://schemas.openxmlformats.org/officeDocument/2006/math">
                    <m:r>
                      <a:rPr lang="en-US" b="1" i="1" dirty="0" smtClean="0">
                        <a:latin typeface="Cambria Math" panose="02040503050406030204" pitchFamily="18" charset="0"/>
                      </a:rPr>
                      <m:t>𝑩</m:t>
                    </m:r>
                  </m:oMath>
                </a14:m>
                <a:r>
                  <a:rPr lang="en-US" dirty="0"/>
                  <a:t> so that </a:t>
                </a:r>
              </a:p>
            </p:txBody>
          </p:sp>
        </mc:Choice>
        <mc:Fallback xmlns="">
          <p:sp>
            <p:nvSpPr>
              <p:cNvPr id="3" name="Content Placeholder 2">
                <a:extLst>
                  <a:ext uri="{FF2B5EF4-FFF2-40B4-BE49-F238E27FC236}">
                    <a16:creationId xmlns:a16="http://schemas.microsoft.com/office/drawing/2014/main" id="{6332230D-56E9-FEB8-955F-9F41D8630989}"/>
                  </a:ext>
                </a:extLst>
              </p:cNvPr>
              <p:cNvSpPr>
                <a:spLocks noGrp="1" noRot="1" noChangeAspect="1" noMove="1" noResize="1" noEditPoints="1" noAdjustHandles="1" noChangeArrowheads="1" noChangeShapeType="1" noTextEdit="1"/>
              </p:cNvSpPr>
              <p:nvPr>
                <p:ph idx="1"/>
              </p:nvPr>
            </p:nvSpPr>
            <p:spPr>
              <a:xfrm>
                <a:off x="838200" y="2249257"/>
                <a:ext cx="10515600" cy="3927705"/>
              </a:xfrm>
              <a:blipFill>
                <a:blip r:embed="rId3"/>
                <a:stretch>
                  <a:fillRect l="-1086" t="-2903"/>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75145F50-8423-84CB-3FB5-BCE237C44245}"/>
              </a:ext>
            </a:extLst>
          </p:cNvPr>
          <p:cNvGrpSpPr/>
          <p:nvPr/>
        </p:nvGrpSpPr>
        <p:grpSpPr>
          <a:xfrm>
            <a:off x="7426308" y="148094"/>
            <a:ext cx="4548830" cy="1759624"/>
            <a:chOff x="1669773" y="1968236"/>
            <a:chExt cx="10292114" cy="398130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559DECC-0BFE-50CA-B247-265086BA1220}"/>
                    </a:ext>
                  </a:extLst>
                </p:cNvPr>
                <p:cNvSpPr/>
                <p:nvPr/>
              </p:nvSpPr>
              <p:spPr>
                <a:xfrm>
                  <a:off x="1669773" y="2372139"/>
                  <a:ext cx="1782528"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4" name="Rectangle 3">
                  <a:extLst>
                    <a:ext uri="{FF2B5EF4-FFF2-40B4-BE49-F238E27FC236}">
                      <a16:creationId xmlns:a16="http://schemas.microsoft.com/office/drawing/2014/main" id="{A559DECC-0BFE-50CA-B247-265086BA1220}"/>
                    </a:ext>
                  </a:extLst>
                </p:cNvPr>
                <p:cNvSpPr>
                  <a:spLocks noRot="1" noChangeAspect="1" noMove="1" noResize="1" noEditPoints="1" noAdjustHandles="1" noChangeArrowheads="1" noChangeShapeType="1" noTextEdit="1"/>
                </p:cNvSpPr>
                <p:nvPr/>
              </p:nvSpPr>
              <p:spPr>
                <a:xfrm>
                  <a:off x="1669773" y="2372139"/>
                  <a:ext cx="1782528" cy="3577397"/>
                </a:xfrm>
                <a:prstGeom prst="rect">
                  <a:avLst/>
                </a:prstGeom>
                <a:blipFill>
                  <a:blip r:embed="rId4"/>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A08189F-E296-4405-E878-E1A9CDB41012}"/>
                </a:ext>
              </a:extLst>
            </p:cNvPr>
            <p:cNvSpPr txBox="1"/>
            <p:nvPr/>
          </p:nvSpPr>
          <p:spPr>
            <a:xfrm rot="2497090">
              <a:off x="3232077" y="1968236"/>
              <a:ext cx="584661" cy="452642"/>
            </a:xfrm>
            <a:prstGeom prst="rect">
              <a:avLst/>
            </a:prstGeom>
            <a:noFill/>
          </p:spPr>
          <p:txBody>
            <a:bodyPr wrap="none" rtlCol="0">
              <a:spAutoFit/>
            </a:bodyPr>
            <a:lstStyle/>
            <a:p>
              <a:r>
                <a:rPr lang="en-US" sz="700" dirty="0"/>
                <a:t>…</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43C3EA7-CF0C-D6EC-E0C2-A68ECDAEBE8B}"/>
                    </a:ext>
                  </a:extLst>
                </p:cNvPr>
                <p:cNvSpPr/>
                <p:nvPr/>
              </p:nvSpPr>
              <p:spPr>
                <a:xfrm>
                  <a:off x="3704624" y="2384597"/>
                  <a:ext cx="3122019" cy="137188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6" name="Rectangle 5">
                  <a:extLst>
                    <a:ext uri="{FF2B5EF4-FFF2-40B4-BE49-F238E27FC236}">
                      <a16:creationId xmlns:a16="http://schemas.microsoft.com/office/drawing/2014/main" id="{643C3EA7-CF0C-D6EC-E0C2-A68ECDAEBE8B}"/>
                    </a:ext>
                  </a:extLst>
                </p:cNvPr>
                <p:cNvSpPr>
                  <a:spLocks noRot="1" noChangeAspect="1" noMove="1" noResize="1" noEditPoints="1" noAdjustHandles="1" noChangeArrowheads="1" noChangeShapeType="1" noTextEdit="1"/>
                </p:cNvSpPr>
                <p:nvPr/>
              </p:nvSpPr>
              <p:spPr>
                <a:xfrm>
                  <a:off x="3704624" y="2384597"/>
                  <a:ext cx="3122019" cy="137188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A911CB-D6ED-BA51-6125-A07D67DA64AB}"/>
                    </a:ext>
                  </a:extLst>
                </p:cNvPr>
                <p:cNvSpPr txBox="1"/>
                <p:nvPr/>
              </p:nvSpPr>
              <p:spPr>
                <a:xfrm>
                  <a:off x="6922791" y="3756477"/>
                  <a:ext cx="858549" cy="8356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00A911CB-D6ED-BA51-6125-A07D67DA64AB}"/>
                    </a:ext>
                  </a:extLst>
                </p:cNvPr>
                <p:cNvSpPr txBox="1">
                  <a:spLocks noRot="1" noChangeAspect="1" noMove="1" noResize="1" noEditPoints="1" noAdjustHandles="1" noChangeArrowheads="1" noChangeShapeType="1" noTextEdit="1"/>
                </p:cNvSpPr>
                <p:nvPr/>
              </p:nvSpPr>
              <p:spPr>
                <a:xfrm>
                  <a:off x="6922791" y="3756477"/>
                  <a:ext cx="858549" cy="835645"/>
                </a:xfrm>
                <a:prstGeom prst="rect">
                  <a:avLst/>
                </a:prstGeom>
                <a:blipFill>
                  <a:blip r:embed="rId6"/>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FFC09C31-CB58-0F78-65E4-E2A5D488EC0C}"/>
                </a:ext>
              </a:extLst>
            </p:cNvPr>
            <p:cNvGrpSpPr/>
            <p:nvPr/>
          </p:nvGrpSpPr>
          <p:grpSpPr>
            <a:xfrm>
              <a:off x="7712769" y="2492665"/>
              <a:ext cx="4249118" cy="3443049"/>
              <a:chOff x="1846882" y="2597802"/>
              <a:chExt cx="4249118" cy="2693288"/>
            </a:xfrm>
          </p:grpSpPr>
          <p:sp>
            <p:nvSpPr>
              <p:cNvPr id="9" name="Rectangle 8">
                <a:extLst>
                  <a:ext uri="{FF2B5EF4-FFF2-40B4-BE49-F238E27FC236}">
                    <a16:creationId xmlns:a16="http://schemas.microsoft.com/office/drawing/2014/main" id="{C1DB9876-FABE-2AAA-B810-11E6388EFF0C}"/>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2">
                      <a:lumMod val="75000"/>
                    </a:schemeClr>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01897E-2223-2D05-A83E-21ECEA7CA104}"/>
                      </a:ext>
                    </a:extLst>
                  </p:cNvPr>
                  <p:cNvSpPr txBox="1"/>
                  <p:nvPr/>
                </p:nvSpPr>
                <p:spPr>
                  <a:xfrm>
                    <a:off x="1939777"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1,1</m:t>
                              </m:r>
                            </m:sub>
                          </m:sSub>
                        </m:oMath>
                      </m:oMathPara>
                    </a14:m>
                    <a:endParaRPr lang="en-US" sz="1050" dirty="0">
                      <a:solidFill>
                        <a:schemeClr val="bg2">
                          <a:lumMod val="75000"/>
                        </a:schemeClr>
                      </a:solidFill>
                    </a:endParaRPr>
                  </a:p>
                </p:txBody>
              </p:sp>
            </mc:Choice>
            <mc:Fallback xmlns="">
              <p:sp>
                <p:nvSpPr>
                  <p:cNvPr id="10" name="TextBox 9">
                    <a:extLst>
                      <a:ext uri="{FF2B5EF4-FFF2-40B4-BE49-F238E27FC236}">
                        <a16:creationId xmlns:a16="http://schemas.microsoft.com/office/drawing/2014/main" id="{2A01897E-2223-2D05-A83E-21ECEA7CA104}"/>
                      </a:ext>
                    </a:extLst>
                  </p:cNvPr>
                  <p:cNvSpPr txBox="1">
                    <a:spLocks noRot="1" noChangeAspect="1" noMove="1" noResize="1" noEditPoints="1" noAdjustHandles="1" noChangeArrowheads="1" noChangeShapeType="1" noTextEdit="1"/>
                  </p:cNvSpPr>
                  <p:nvPr/>
                </p:nvSpPr>
                <p:spPr>
                  <a:xfrm>
                    <a:off x="1939777" y="2788226"/>
                    <a:ext cx="656855" cy="298466"/>
                  </a:xfrm>
                  <a:prstGeom prst="rect">
                    <a:avLst/>
                  </a:prstGeom>
                  <a:blipFill>
                    <a:blip r:embed="rId7"/>
                    <a:stretch>
                      <a:fillRect b="-1428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8F495E6-87BE-0226-71C3-D2E96BDE0C6F}"/>
                  </a:ext>
                </a:extLst>
              </p:cNvPr>
              <p:cNvSpPr txBox="1"/>
              <p:nvPr/>
            </p:nvSpPr>
            <p:spPr>
              <a:xfrm>
                <a:off x="5667213" y="2892741"/>
                <a:ext cx="258306" cy="435782"/>
              </a:xfrm>
              <a:prstGeom prst="rect">
                <a:avLst/>
              </a:prstGeom>
              <a:noFill/>
            </p:spPr>
            <p:txBody>
              <a:bodyPr wrap="square" rtlCol="0">
                <a:spAutoFit/>
              </a:bodyPr>
              <a:lstStyle/>
              <a:p>
                <a:endParaRPr lang="en-US" sz="10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6C5597-8FD8-471E-2B46-C0D8C3D5B3F3}"/>
                      </a:ext>
                    </a:extLst>
                  </p:cNvPr>
                  <p:cNvSpPr txBox="1"/>
                  <p:nvPr/>
                </p:nvSpPr>
                <p:spPr>
                  <a:xfrm>
                    <a:off x="2692783"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1,2</m:t>
                              </m:r>
                            </m:sub>
                          </m:sSub>
                        </m:oMath>
                      </m:oMathPara>
                    </a14:m>
                    <a:endParaRPr lang="en-US" sz="1050" dirty="0">
                      <a:solidFill>
                        <a:schemeClr val="bg2">
                          <a:lumMod val="75000"/>
                        </a:schemeClr>
                      </a:solidFill>
                    </a:endParaRPr>
                  </a:p>
                </p:txBody>
              </p:sp>
            </mc:Choice>
            <mc:Fallback xmlns="">
              <p:sp>
                <p:nvSpPr>
                  <p:cNvPr id="12" name="TextBox 11">
                    <a:extLst>
                      <a:ext uri="{FF2B5EF4-FFF2-40B4-BE49-F238E27FC236}">
                        <a16:creationId xmlns:a16="http://schemas.microsoft.com/office/drawing/2014/main" id="{526C5597-8FD8-471E-2B46-C0D8C3D5B3F3}"/>
                      </a:ext>
                    </a:extLst>
                  </p:cNvPr>
                  <p:cNvSpPr txBox="1">
                    <a:spLocks noRot="1" noChangeAspect="1" noMove="1" noResize="1" noEditPoints="1" noAdjustHandles="1" noChangeArrowheads="1" noChangeShapeType="1" noTextEdit="1"/>
                  </p:cNvSpPr>
                  <p:nvPr/>
                </p:nvSpPr>
                <p:spPr>
                  <a:xfrm>
                    <a:off x="2692783" y="2788226"/>
                    <a:ext cx="656855" cy="298466"/>
                  </a:xfrm>
                  <a:prstGeom prst="rect">
                    <a:avLst/>
                  </a:prstGeom>
                  <a:blipFill>
                    <a:blip r:embed="rId8"/>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CE92E74-BA85-E4E4-C7CB-16B306C7C105}"/>
                      </a:ext>
                    </a:extLst>
                  </p:cNvPr>
                  <p:cNvSpPr txBox="1"/>
                  <p:nvPr/>
                </p:nvSpPr>
                <p:spPr>
                  <a:xfrm>
                    <a:off x="5179522" y="2788226"/>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1,</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13" name="TextBox 12">
                    <a:extLst>
                      <a:ext uri="{FF2B5EF4-FFF2-40B4-BE49-F238E27FC236}">
                        <a16:creationId xmlns:a16="http://schemas.microsoft.com/office/drawing/2014/main" id="{ECE92E74-BA85-E4E4-C7CB-16B306C7C105}"/>
                      </a:ext>
                    </a:extLst>
                  </p:cNvPr>
                  <p:cNvSpPr txBox="1">
                    <a:spLocks noRot="1" noChangeAspect="1" noMove="1" noResize="1" noEditPoints="1" noAdjustHandles="1" noChangeArrowheads="1" noChangeShapeType="1" noTextEdit="1"/>
                  </p:cNvSpPr>
                  <p:nvPr/>
                </p:nvSpPr>
                <p:spPr>
                  <a:xfrm>
                    <a:off x="5179522" y="2788226"/>
                    <a:ext cx="656855" cy="298466"/>
                  </a:xfrm>
                  <a:prstGeom prst="rect">
                    <a:avLst/>
                  </a:prstGeom>
                  <a:blipFill>
                    <a:blip r:embed="rId9"/>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2008E63-0EF1-B302-29F8-614637AF4A71}"/>
                      </a:ext>
                    </a:extLst>
                  </p:cNvPr>
                  <p:cNvSpPr txBox="1"/>
                  <p:nvPr/>
                </p:nvSpPr>
                <p:spPr>
                  <a:xfrm>
                    <a:off x="1972186"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2,1</m:t>
                              </m:r>
                            </m:sub>
                          </m:sSub>
                        </m:oMath>
                      </m:oMathPara>
                    </a14:m>
                    <a:endParaRPr lang="en-US" sz="1050" dirty="0">
                      <a:solidFill>
                        <a:schemeClr val="bg2">
                          <a:lumMod val="75000"/>
                        </a:schemeClr>
                      </a:solidFill>
                    </a:endParaRPr>
                  </a:p>
                </p:txBody>
              </p:sp>
            </mc:Choice>
            <mc:Fallback xmlns="">
              <p:sp>
                <p:nvSpPr>
                  <p:cNvPr id="14" name="TextBox 13">
                    <a:extLst>
                      <a:ext uri="{FF2B5EF4-FFF2-40B4-BE49-F238E27FC236}">
                        <a16:creationId xmlns:a16="http://schemas.microsoft.com/office/drawing/2014/main" id="{E2008E63-0EF1-B302-29F8-614637AF4A71}"/>
                      </a:ext>
                    </a:extLst>
                  </p:cNvPr>
                  <p:cNvSpPr txBox="1">
                    <a:spLocks noRot="1" noChangeAspect="1" noMove="1" noResize="1" noEditPoints="1" noAdjustHandles="1" noChangeArrowheads="1" noChangeShapeType="1" noTextEdit="1"/>
                  </p:cNvSpPr>
                  <p:nvPr/>
                </p:nvSpPr>
                <p:spPr>
                  <a:xfrm>
                    <a:off x="1972186" y="3265230"/>
                    <a:ext cx="656855" cy="298466"/>
                  </a:xfrm>
                  <a:prstGeom prst="rect">
                    <a:avLst/>
                  </a:prstGeom>
                  <a:blipFill>
                    <a:blip r:embed="rId10"/>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D33CBF-2E20-EC4E-75A7-75CD0CCCEB43}"/>
                      </a:ext>
                    </a:extLst>
                  </p:cNvPr>
                  <p:cNvSpPr txBox="1"/>
                  <p:nvPr/>
                </p:nvSpPr>
                <p:spPr>
                  <a:xfrm>
                    <a:off x="2725190"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2,2</m:t>
                              </m:r>
                            </m:sub>
                          </m:sSub>
                        </m:oMath>
                      </m:oMathPara>
                    </a14:m>
                    <a:endParaRPr lang="en-US" sz="1050" dirty="0">
                      <a:solidFill>
                        <a:schemeClr val="bg2">
                          <a:lumMod val="75000"/>
                        </a:schemeClr>
                      </a:solidFill>
                    </a:endParaRPr>
                  </a:p>
                </p:txBody>
              </p:sp>
            </mc:Choice>
            <mc:Fallback xmlns="">
              <p:sp>
                <p:nvSpPr>
                  <p:cNvPr id="15" name="TextBox 14">
                    <a:extLst>
                      <a:ext uri="{FF2B5EF4-FFF2-40B4-BE49-F238E27FC236}">
                        <a16:creationId xmlns:a16="http://schemas.microsoft.com/office/drawing/2014/main" id="{BAD33CBF-2E20-EC4E-75A7-75CD0CCCEB43}"/>
                      </a:ext>
                    </a:extLst>
                  </p:cNvPr>
                  <p:cNvSpPr txBox="1">
                    <a:spLocks noRot="1" noChangeAspect="1" noMove="1" noResize="1" noEditPoints="1" noAdjustHandles="1" noChangeArrowheads="1" noChangeShapeType="1" noTextEdit="1"/>
                  </p:cNvSpPr>
                  <p:nvPr/>
                </p:nvSpPr>
                <p:spPr>
                  <a:xfrm>
                    <a:off x="2725190" y="3265230"/>
                    <a:ext cx="656855" cy="298466"/>
                  </a:xfrm>
                  <a:prstGeom prst="rect">
                    <a:avLst/>
                  </a:prstGeom>
                  <a:blipFill>
                    <a:blip r:embed="rId11"/>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01E2C4-74AC-2A63-32E5-80604A751BF7}"/>
                      </a:ext>
                    </a:extLst>
                  </p:cNvPr>
                  <p:cNvSpPr txBox="1"/>
                  <p:nvPr/>
                </p:nvSpPr>
                <p:spPr>
                  <a:xfrm>
                    <a:off x="5211929" y="3265230"/>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2,</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16" name="TextBox 15">
                    <a:extLst>
                      <a:ext uri="{FF2B5EF4-FFF2-40B4-BE49-F238E27FC236}">
                        <a16:creationId xmlns:a16="http://schemas.microsoft.com/office/drawing/2014/main" id="{AE01E2C4-74AC-2A63-32E5-80604A751BF7}"/>
                      </a:ext>
                    </a:extLst>
                  </p:cNvPr>
                  <p:cNvSpPr txBox="1">
                    <a:spLocks noRot="1" noChangeAspect="1" noMove="1" noResize="1" noEditPoints="1" noAdjustHandles="1" noChangeArrowheads="1" noChangeShapeType="1" noTextEdit="1"/>
                  </p:cNvSpPr>
                  <p:nvPr/>
                </p:nvSpPr>
                <p:spPr>
                  <a:xfrm>
                    <a:off x="5211929" y="3265230"/>
                    <a:ext cx="656855" cy="298466"/>
                  </a:xfrm>
                  <a:prstGeom prst="rect">
                    <a:avLst/>
                  </a:prstGeom>
                  <a:blipFill>
                    <a:blip r:embed="rId12"/>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CD35230-2E5E-DFFE-2CB7-D078ACE5E4B3}"/>
                      </a:ext>
                    </a:extLst>
                  </p:cNvPr>
                  <p:cNvSpPr txBox="1"/>
                  <p:nvPr/>
                </p:nvSpPr>
                <p:spPr>
                  <a:xfrm>
                    <a:off x="1972186"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3,1</m:t>
                              </m:r>
                            </m:sub>
                          </m:sSub>
                        </m:oMath>
                      </m:oMathPara>
                    </a14:m>
                    <a:endParaRPr lang="en-US" sz="1050" dirty="0">
                      <a:solidFill>
                        <a:schemeClr val="bg2">
                          <a:lumMod val="75000"/>
                        </a:schemeClr>
                      </a:solidFill>
                    </a:endParaRPr>
                  </a:p>
                </p:txBody>
              </p:sp>
            </mc:Choice>
            <mc:Fallback xmlns="">
              <p:sp>
                <p:nvSpPr>
                  <p:cNvPr id="17" name="TextBox 16">
                    <a:extLst>
                      <a:ext uri="{FF2B5EF4-FFF2-40B4-BE49-F238E27FC236}">
                        <a16:creationId xmlns:a16="http://schemas.microsoft.com/office/drawing/2014/main" id="{2CD35230-2E5E-DFFE-2CB7-D078ACE5E4B3}"/>
                      </a:ext>
                    </a:extLst>
                  </p:cNvPr>
                  <p:cNvSpPr txBox="1">
                    <a:spLocks noRot="1" noChangeAspect="1" noMove="1" noResize="1" noEditPoints="1" noAdjustHandles="1" noChangeArrowheads="1" noChangeShapeType="1" noTextEdit="1"/>
                  </p:cNvSpPr>
                  <p:nvPr/>
                </p:nvSpPr>
                <p:spPr>
                  <a:xfrm>
                    <a:off x="1972186" y="3802731"/>
                    <a:ext cx="656855" cy="298466"/>
                  </a:xfrm>
                  <a:prstGeom prst="rect">
                    <a:avLst/>
                  </a:prstGeom>
                  <a:blipFill>
                    <a:blip r:embed="rId13"/>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137A225-FDF3-8542-13C0-2169C93DB141}"/>
                      </a:ext>
                    </a:extLst>
                  </p:cNvPr>
                  <p:cNvSpPr txBox="1"/>
                  <p:nvPr/>
                </p:nvSpPr>
                <p:spPr>
                  <a:xfrm>
                    <a:off x="2725190"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3,2</m:t>
                              </m:r>
                            </m:sub>
                          </m:sSub>
                        </m:oMath>
                      </m:oMathPara>
                    </a14:m>
                    <a:endParaRPr lang="en-US" sz="1050" dirty="0">
                      <a:solidFill>
                        <a:schemeClr val="bg2">
                          <a:lumMod val="75000"/>
                        </a:schemeClr>
                      </a:solidFill>
                    </a:endParaRPr>
                  </a:p>
                </p:txBody>
              </p:sp>
            </mc:Choice>
            <mc:Fallback xmlns="">
              <p:sp>
                <p:nvSpPr>
                  <p:cNvPr id="18" name="TextBox 17">
                    <a:extLst>
                      <a:ext uri="{FF2B5EF4-FFF2-40B4-BE49-F238E27FC236}">
                        <a16:creationId xmlns:a16="http://schemas.microsoft.com/office/drawing/2014/main" id="{A137A225-FDF3-8542-13C0-2169C93DB141}"/>
                      </a:ext>
                    </a:extLst>
                  </p:cNvPr>
                  <p:cNvSpPr txBox="1">
                    <a:spLocks noRot="1" noChangeAspect="1" noMove="1" noResize="1" noEditPoints="1" noAdjustHandles="1" noChangeArrowheads="1" noChangeShapeType="1" noTextEdit="1"/>
                  </p:cNvSpPr>
                  <p:nvPr/>
                </p:nvSpPr>
                <p:spPr>
                  <a:xfrm>
                    <a:off x="2725190" y="3802731"/>
                    <a:ext cx="656855" cy="298466"/>
                  </a:xfrm>
                  <a:prstGeom prst="rect">
                    <a:avLst/>
                  </a:prstGeom>
                  <a:blipFill>
                    <a:blip r:embed="rId14"/>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FA78E3A-2260-BABB-D3BC-561554654958}"/>
                      </a:ext>
                    </a:extLst>
                  </p:cNvPr>
                  <p:cNvSpPr txBox="1"/>
                  <p:nvPr/>
                </p:nvSpPr>
                <p:spPr>
                  <a:xfrm>
                    <a:off x="5211929" y="380273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3,</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19" name="TextBox 18">
                    <a:extLst>
                      <a:ext uri="{FF2B5EF4-FFF2-40B4-BE49-F238E27FC236}">
                        <a16:creationId xmlns:a16="http://schemas.microsoft.com/office/drawing/2014/main" id="{4FA78E3A-2260-BABB-D3BC-561554654958}"/>
                      </a:ext>
                    </a:extLst>
                  </p:cNvPr>
                  <p:cNvSpPr txBox="1">
                    <a:spLocks noRot="1" noChangeAspect="1" noMove="1" noResize="1" noEditPoints="1" noAdjustHandles="1" noChangeArrowheads="1" noChangeShapeType="1" noTextEdit="1"/>
                  </p:cNvSpPr>
                  <p:nvPr/>
                </p:nvSpPr>
                <p:spPr>
                  <a:xfrm>
                    <a:off x="5211929" y="3802731"/>
                    <a:ext cx="656855" cy="298466"/>
                  </a:xfrm>
                  <a:prstGeom prst="rect">
                    <a:avLst/>
                  </a:prstGeom>
                  <a:blipFill>
                    <a:blip r:embed="rId15"/>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182815D-7922-B074-5233-800747A4086B}"/>
                      </a:ext>
                    </a:extLst>
                  </p:cNvPr>
                  <p:cNvSpPr txBox="1"/>
                  <p:nvPr/>
                </p:nvSpPr>
                <p:spPr>
                  <a:xfrm>
                    <a:off x="1977447"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𝑛</m:t>
                              </m:r>
                              <m:r>
                                <a:rPr lang="en-US" sz="1050" b="0" i="1" smtClean="0">
                                  <a:solidFill>
                                    <a:schemeClr val="bg2">
                                      <a:lumMod val="75000"/>
                                    </a:schemeClr>
                                  </a:solidFill>
                                  <a:latin typeface="Cambria Math" panose="02040503050406030204" pitchFamily="18" charset="0"/>
                                </a:rPr>
                                <m:t>,1</m:t>
                              </m:r>
                            </m:sub>
                          </m:sSub>
                        </m:oMath>
                      </m:oMathPara>
                    </a14:m>
                    <a:endParaRPr lang="en-US" sz="1050" dirty="0">
                      <a:solidFill>
                        <a:schemeClr val="bg2">
                          <a:lumMod val="75000"/>
                        </a:schemeClr>
                      </a:solidFill>
                    </a:endParaRPr>
                  </a:p>
                </p:txBody>
              </p:sp>
            </mc:Choice>
            <mc:Fallback xmlns="">
              <p:sp>
                <p:nvSpPr>
                  <p:cNvPr id="20" name="TextBox 19">
                    <a:extLst>
                      <a:ext uri="{FF2B5EF4-FFF2-40B4-BE49-F238E27FC236}">
                        <a16:creationId xmlns:a16="http://schemas.microsoft.com/office/drawing/2014/main" id="{3182815D-7922-B074-5233-800747A4086B}"/>
                      </a:ext>
                    </a:extLst>
                  </p:cNvPr>
                  <p:cNvSpPr txBox="1">
                    <a:spLocks noRot="1" noChangeAspect="1" noMove="1" noResize="1" noEditPoints="1" noAdjustHandles="1" noChangeArrowheads="1" noChangeShapeType="1" noTextEdit="1"/>
                  </p:cNvSpPr>
                  <p:nvPr/>
                </p:nvSpPr>
                <p:spPr>
                  <a:xfrm>
                    <a:off x="1977447" y="4810901"/>
                    <a:ext cx="656855" cy="298466"/>
                  </a:xfrm>
                  <a:prstGeom prst="rect">
                    <a:avLst/>
                  </a:prstGeom>
                  <a:blipFill>
                    <a:blip r:embed="rId1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E486E26-0C47-E9CD-EC1F-B51B0CDDE91B}"/>
                      </a:ext>
                    </a:extLst>
                  </p:cNvPr>
                  <p:cNvSpPr txBox="1"/>
                  <p:nvPr/>
                </p:nvSpPr>
                <p:spPr>
                  <a:xfrm>
                    <a:off x="2730451"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𝑛</m:t>
                              </m:r>
                              <m:r>
                                <a:rPr lang="en-US" sz="1050" b="0" i="1" smtClean="0">
                                  <a:solidFill>
                                    <a:schemeClr val="bg2">
                                      <a:lumMod val="75000"/>
                                    </a:schemeClr>
                                  </a:solidFill>
                                  <a:latin typeface="Cambria Math" panose="02040503050406030204" pitchFamily="18" charset="0"/>
                                </a:rPr>
                                <m:t>,2</m:t>
                              </m:r>
                            </m:sub>
                          </m:sSub>
                        </m:oMath>
                      </m:oMathPara>
                    </a14:m>
                    <a:endParaRPr lang="en-US" sz="1050" dirty="0">
                      <a:solidFill>
                        <a:schemeClr val="bg2">
                          <a:lumMod val="75000"/>
                        </a:schemeClr>
                      </a:solidFill>
                    </a:endParaRPr>
                  </a:p>
                </p:txBody>
              </p:sp>
            </mc:Choice>
            <mc:Fallback xmlns="">
              <p:sp>
                <p:nvSpPr>
                  <p:cNvPr id="21" name="TextBox 20">
                    <a:extLst>
                      <a:ext uri="{FF2B5EF4-FFF2-40B4-BE49-F238E27FC236}">
                        <a16:creationId xmlns:a16="http://schemas.microsoft.com/office/drawing/2014/main" id="{AE486E26-0C47-E9CD-EC1F-B51B0CDDE91B}"/>
                      </a:ext>
                    </a:extLst>
                  </p:cNvPr>
                  <p:cNvSpPr txBox="1">
                    <a:spLocks noRot="1" noChangeAspect="1" noMove="1" noResize="1" noEditPoints="1" noAdjustHandles="1" noChangeArrowheads="1" noChangeShapeType="1" noTextEdit="1"/>
                  </p:cNvSpPr>
                  <p:nvPr/>
                </p:nvSpPr>
                <p:spPr>
                  <a:xfrm>
                    <a:off x="2730451" y="4810901"/>
                    <a:ext cx="656855" cy="298466"/>
                  </a:xfrm>
                  <a:prstGeom prst="rect">
                    <a:avLst/>
                  </a:prstGeom>
                  <a:blipFill>
                    <a:blip r:embed="rId17"/>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BE5F55D-E237-4B77-18BC-BF90A64909F0}"/>
                      </a:ext>
                    </a:extLst>
                  </p:cNvPr>
                  <p:cNvSpPr txBox="1"/>
                  <p:nvPr/>
                </p:nvSpPr>
                <p:spPr>
                  <a:xfrm>
                    <a:off x="5217190" y="4810901"/>
                    <a:ext cx="656855" cy="2984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50" b="0" i="1" smtClean="0">
                                  <a:solidFill>
                                    <a:schemeClr val="bg2">
                                      <a:lumMod val="75000"/>
                                    </a:schemeClr>
                                  </a:solidFill>
                                  <a:latin typeface="Cambria Math" panose="02040503050406030204" pitchFamily="18" charset="0"/>
                                </a:rPr>
                              </m:ctrlPr>
                            </m:sSubPr>
                            <m:e>
                              <m:r>
                                <a:rPr lang="en-US" sz="1050" b="0" i="1" smtClean="0">
                                  <a:solidFill>
                                    <a:schemeClr val="bg2">
                                      <a:lumMod val="75000"/>
                                    </a:schemeClr>
                                  </a:solidFill>
                                  <a:latin typeface="Cambria Math" panose="02040503050406030204" pitchFamily="18" charset="0"/>
                                </a:rPr>
                                <m:t>𝑌</m:t>
                              </m:r>
                            </m:e>
                            <m:sub>
                              <m:r>
                                <a:rPr lang="en-US" sz="1050" b="0" i="1" smtClean="0">
                                  <a:solidFill>
                                    <a:schemeClr val="bg2">
                                      <a:lumMod val="75000"/>
                                    </a:schemeClr>
                                  </a:solidFill>
                                  <a:latin typeface="Cambria Math" panose="02040503050406030204" pitchFamily="18" charset="0"/>
                                </a:rPr>
                                <m:t>𝑛</m:t>
                              </m:r>
                              <m:r>
                                <a:rPr lang="en-US" sz="1050" b="0" i="1" smtClean="0">
                                  <a:solidFill>
                                    <a:schemeClr val="bg2">
                                      <a:lumMod val="75000"/>
                                    </a:schemeClr>
                                  </a:solidFill>
                                  <a:latin typeface="Cambria Math" panose="02040503050406030204" pitchFamily="18" charset="0"/>
                                </a:rPr>
                                <m:t>,</m:t>
                              </m:r>
                              <m:r>
                                <a:rPr lang="en-US" sz="1050" b="0" i="1" smtClean="0">
                                  <a:solidFill>
                                    <a:schemeClr val="bg2">
                                      <a:lumMod val="75000"/>
                                    </a:schemeClr>
                                  </a:solidFill>
                                  <a:latin typeface="Cambria Math" panose="02040503050406030204" pitchFamily="18" charset="0"/>
                                </a:rPr>
                                <m:t>𝑇</m:t>
                              </m:r>
                            </m:sub>
                          </m:sSub>
                        </m:oMath>
                      </m:oMathPara>
                    </a14:m>
                    <a:endParaRPr lang="en-US" sz="1050" dirty="0">
                      <a:solidFill>
                        <a:schemeClr val="bg2">
                          <a:lumMod val="75000"/>
                        </a:schemeClr>
                      </a:solidFill>
                    </a:endParaRPr>
                  </a:p>
                </p:txBody>
              </p:sp>
            </mc:Choice>
            <mc:Fallback xmlns="">
              <p:sp>
                <p:nvSpPr>
                  <p:cNvPr id="22" name="TextBox 21">
                    <a:extLst>
                      <a:ext uri="{FF2B5EF4-FFF2-40B4-BE49-F238E27FC236}">
                        <a16:creationId xmlns:a16="http://schemas.microsoft.com/office/drawing/2014/main" id="{7BE5F55D-E237-4B77-18BC-BF90A64909F0}"/>
                      </a:ext>
                    </a:extLst>
                  </p:cNvPr>
                  <p:cNvSpPr txBox="1">
                    <a:spLocks noRot="1" noChangeAspect="1" noMove="1" noResize="1" noEditPoints="1" noAdjustHandles="1" noChangeArrowheads="1" noChangeShapeType="1" noTextEdit="1"/>
                  </p:cNvSpPr>
                  <p:nvPr/>
                </p:nvSpPr>
                <p:spPr>
                  <a:xfrm>
                    <a:off x="5217190" y="4810901"/>
                    <a:ext cx="656855" cy="298466"/>
                  </a:xfrm>
                  <a:prstGeom prst="rect">
                    <a:avLst/>
                  </a:prstGeom>
                  <a:blipFill>
                    <a:blip r:embed="rId18"/>
                    <a:stretch>
                      <a:fillRect l="-416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B899D03-B9B7-6E7E-404A-CFB4CF9F758C}"/>
                      </a:ext>
                    </a:extLst>
                  </p:cNvPr>
                  <p:cNvSpPr txBox="1"/>
                  <p:nvPr/>
                </p:nvSpPr>
                <p:spPr>
                  <a:xfrm>
                    <a:off x="2116562" y="4363342"/>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3" name="TextBox 22">
                    <a:extLst>
                      <a:ext uri="{FF2B5EF4-FFF2-40B4-BE49-F238E27FC236}">
                        <a16:creationId xmlns:a16="http://schemas.microsoft.com/office/drawing/2014/main" id="{CB899D03-B9B7-6E7E-404A-CFB4CF9F758C}"/>
                      </a:ext>
                    </a:extLst>
                  </p:cNvPr>
                  <p:cNvSpPr txBox="1">
                    <a:spLocks noRot="1" noChangeAspect="1" noMove="1" noResize="1" noEditPoints="1" noAdjustHandles="1" noChangeArrowheads="1" noChangeShapeType="1" noTextEdit="1"/>
                  </p:cNvSpPr>
                  <p:nvPr/>
                </p:nvSpPr>
                <p:spPr>
                  <a:xfrm>
                    <a:off x="2116562" y="4363342"/>
                    <a:ext cx="566529" cy="43578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A1B9368-8708-2C99-E668-BCB3F1B4FBE5}"/>
                      </a:ext>
                    </a:extLst>
                  </p:cNvPr>
                  <p:cNvSpPr txBox="1"/>
                  <p:nvPr/>
                </p:nvSpPr>
                <p:spPr>
                  <a:xfrm>
                    <a:off x="5356305" y="4338167"/>
                    <a:ext cx="566529" cy="4357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00" b="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4" name="TextBox 23">
                    <a:extLst>
                      <a:ext uri="{FF2B5EF4-FFF2-40B4-BE49-F238E27FC236}">
                        <a16:creationId xmlns:a16="http://schemas.microsoft.com/office/drawing/2014/main" id="{5A1B9368-8708-2C99-E668-BCB3F1B4FBE5}"/>
                      </a:ext>
                    </a:extLst>
                  </p:cNvPr>
                  <p:cNvSpPr txBox="1">
                    <a:spLocks noRot="1" noChangeAspect="1" noMove="1" noResize="1" noEditPoints="1" noAdjustHandles="1" noChangeArrowheads="1" noChangeShapeType="1" noTextEdit="1"/>
                  </p:cNvSpPr>
                  <p:nvPr/>
                </p:nvSpPr>
                <p:spPr>
                  <a:xfrm>
                    <a:off x="5356305" y="4338167"/>
                    <a:ext cx="566529" cy="43578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892E421-00EB-2B79-88A8-6E4A90DB9F16}"/>
                      </a:ext>
                    </a:extLst>
                  </p:cNvPr>
                  <p:cNvSpPr txBox="1"/>
                  <p:nvPr/>
                </p:nvSpPr>
                <p:spPr>
                  <a:xfrm>
                    <a:off x="3804923" y="2798886"/>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5" name="TextBox 24">
                    <a:extLst>
                      <a:ext uri="{FF2B5EF4-FFF2-40B4-BE49-F238E27FC236}">
                        <a16:creationId xmlns:a16="http://schemas.microsoft.com/office/drawing/2014/main" id="{6892E421-00EB-2B79-88A8-6E4A90DB9F16}"/>
                      </a:ext>
                    </a:extLst>
                  </p:cNvPr>
                  <p:cNvSpPr txBox="1">
                    <a:spLocks noRot="1" noChangeAspect="1" noMove="1" noResize="1" noEditPoints="1" noAdjustHandles="1" noChangeArrowheads="1" noChangeShapeType="1" noTextEdit="1"/>
                  </p:cNvSpPr>
                  <p:nvPr/>
                </p:nvSpPr>
                <p:spPr>
                  <a:xfrm>
                    <a:off x="3804923" y="2798886"/>
                    <a:ext cx="850773" cy="43578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C4B1195-4BA8-9E1E-44A6-F2177DE5FB08}"/>
                      </a:ext>
                    </a:extLst>
                  </p:cNvPr>
                  <p:cNvSpPr txBox="1"/>
                  <p:nvPr/>
                </p:nvSpPr>
                <p:spPr>
                  <a:xfrm>
                    <a:off x="3799341" y="4829425"/>
                    <a:ext cx="850773" cy="4357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i="1" smtClean="0">
                              <a:solidFill>
                                <a:schemeClr val="bg2">
                                  <a:lumMod val="75000"/>
                                </a:schemeClr>
                              </a:solidFill>
                              <a:latin typeface="Cambria Math" panose="02040503050406030204" pitchFamily="18" charset="0"/>
                            </a:rPr>
                            <m:t>⋯</m:t>
                          </m:r>
                        </m:oMath>
                      </m:oMathPara>
                    </a14:m>
                    <a:endParaRPr lang="en-US" sz="1000" dirty="0">
                      <a:solidFill>
                        <a:schemeClr val="bg2">
                          <a:lumMod val="75000"/>
                        </a:schemeClr>
                      </a:solidFill>
                    </a:endParaRPr>
                  </a:p>
                </p:txBody>
              </p:sp>
            </mc:Choice>
            <mc:Fallback xmlns="">
              <p:sp>
                <p:nvSpPr>
                  <p:cNvPr id="26" name="TextBox 25">
                    <a:extLst>
                      <a:ext uri="{FF2B5EF4-FFF2-40B4-BE49-F238E27FC236}">
                        <a16:creationId xmlns:a16="http://schemas.microsoft.com/office/drawing/2014/main" id="{DC4B1195-4BA8-9E1E-44A6-F2177DE5FB08}"/>
                      </a:ext>
                    </a:extLst>
                  </p:cNvPr>
                  <p:cNvSpPr txBox="1">
                    <a:spLocks noRot="1" noChangeAspect="1" noMove="1" noResize="1" noEditPoints="1" noAdjustHandles="1" noChangeArrowheads="1" noChangeShapeType="1" noTextEdit="1"/>
                  </p:cNvSpPr>
                  <p:nvPr/>
                </p:nvSpPr>
                <p:spPr>
                  <a:xfrm>
                    <a:off x="3799341" y="4829425"/>
                    <a:ext cx="850773" cy="435782"/>
                  </a:xfrm>
                  <a:prstGeom prst="rect">
                    <a:avLst/>
                  </a:prstGeom>
                  <a:blipFill>
                    <a:blip r:embed="rId22"/>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A5CDEA5-C384-1575-C0FD-C9295A376150}"/>
                  </a:ext>
                </a:extLst>
              </p:cNvPr>
              <p:cNvSpPr txBox="1"/>
              <p:nvPr/>
            </p:nvSpPr>
            <p:spPr>
              <a:xfrm>
                <a:off x="10844299" y="817577"/>
                <a:ext cx="50031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b="1" i="1" dirty="0" smtClean="0">
                          <a:solidFill>
                            <a:schemeClr val="bg1"/>
                          </a:solidFill>
                          <a:latin typeface="Cambria Math" panose="02040503050406030204" pitchFamily="18" charset="0"/>
                        </a:rPr>
                        <m:t>𝒀</m:t>
                      </m:r>
                    </m:oMath>
                  </m:oMathPara>
                </a14:m>
                <a:endParaRPr lang="en-US" sz="3600" dirty="0">
                  <a:solidFill>
                    <a:schemeClr val="bg1"/>
                  </a:solidFill>
                </a:endParaRPr>
              </a:p>
            </p:txBody>
          </p:sp>
        </mc:Choice>
        <mc:Fallback xmlns="">
          <p:sp>
            <p:nvSpPr>
              <p:cNvPr id="29" name="TextBox 28">
                <a:extLst>
                  <a:ext uri="{FF2B5EF4-FFF2-40B4-BE49-F238E27FC236}">
                    <a16:creationId xmlns:a16="http://schemas.microsoft.com/office/drawing/2014/main" id="{AA5CDEA5-C384-1575-C0FD-C9295A376150}"/>
                  </a:ext>
                </a:extLst>
              </p:cNvPr>
              <p:cNvSpPr txBox="1">
                <a:spLocks noRot="1" noChangeAspect="1" noMove="1" noResize="1" noEditPoints="1" noAdjustHandles="1" noChangeArrowheads="1" noChangeShapeType="1" noTextEdit="1"/>
              </p:cNvSpPr>
              <p:nvPr/>
            </p:nvSpPr>
            <p:spPr>
              <a:xfrm>
                <a:off x="10844299" y="817577"/>
                <a:ext cx="500314" cy="646331"/>
              </a:xfrm>
              <a:prstGeom prst="rect">
                <a:avLst/>
              </a:prstGeom>
              <a:blipFill>
                <a:blip r:embed="rId23"/>
                <a:stretch>
                  <a:fillRect l="-7317" r="-9756"/>
                </a:stretch>
              </a:blipFill>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BD4F2508-C9B0-82FB-3295-9478B0F2A2CB}"/>
              </a:ext>
            </a:extLst>
          </p:cNvPr>
          <p:cNvGrpSpPr/>
          <p:nvPr/>
        </p:nvGrpSpPr>
        <p:grpSpPr>
          <a:xfrm>
            <a:off x="3538849" y="4486586"/>
            <a:ext cx="8812218" cy="2336638"/>
            <a:chOff x="3538849" y="4486586"/>
            <a:chExt cx="8812218" cy="2336638"/>
          </a:xfrm>
        </p:grpSpPr>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FCD5248-BE5A-260D-61FD-0A27853A7F9C}"/>
                    </a:ext>
                  </a:extLst>
                </p:cNvPr>
                <p:cNvSpPr/>
                <p:nvPr/>
              </p:nvSpPr>
              <p:spPr>
                <a:xfrm>
                  <a:off x="3861731" y="4783551"/>
                  <a:ext cx="472762" cy="124048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30" name="Rectangle 29">
                  <a:extLst>
                    <a:ext uri="{FF2B5EF4-FFF2-40B4-BE49-F238E27FC236}">
                      <a16:creationId xmlns:a16="http://schemas.microsoft.com/office/drawing/2014/main" id="{3FCD5248-BE5A-260D-61FD-0A27853A7F9C}"/>
                    </a:ext>
                  </a:extLst>
                </p:cNvPr>
                <p:cNvSpPr>
                  <a:spLocks noRot="1" noChangeAspect="1" noMove="1" noResize="1" noEditPoints="1" noAdjustHandles="1" noChangeArrowheads="1" noChangeShapeType="1" noTextEdit="1"/>
                </p:cNvSpPr>
                <p:nvPr/>
              </p:nvSpPr>
              <p:spPr>
                <a:xfrm>
                  <a:off x="3861731" y="4783551"/>
                  <a:ext cx="472762" cy="124048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89409B47-4EE7-3D7B-B09C-2FF96AE8E6FB}"/>
                    </a:ext>
                  </a:extLst>
                </p:cNvPr>
                <p:cNvSpPr/>
                <p:nvPr/>
              </p:nvSpPr>
              <p:spPr>
                <a:xfrm>
                  <a:off x="4405818" y="4783551"/>
                  <a:ext cx="1175583" cy="47570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31" name="Rectangle 30">
                  <a:extLst>
                    <a:ext uri="{FF2B5EF4-FFF2-40B4-BE49-F238E27FC236}">
                      <a16:creationId xmlns:a16="http://schemas.microsoft.com/office/drawing/2014/main" id="{89409B47-4EE7-3D7B-B09C-2FF96AE8E6FB}"/>
                    </a:ext>
                  </a:extLst>
                </p:cNvPr>
                <p:cNvSpPr>
                  <a:spLocks noRot="1" noChangeAspect="1" noMove="1" noResize="1" noEditPoints="1" noAdjustHandles="1" noChangeArrowheads="1" noChangeShapeType="1" noTextEdit="1"/>
                </p:cNvSpPr>
                <p:nvPr/>
              </p:nvSpPr>
              <p:spPr>
                <a:xfrm>
                  <a:off x="4405818" y="4783551"/>
                  <a:ext cx="1175583" cy="475708"/>
                </a:xfrm>
                <a:prstGeom prst="rect">
                  <a:avLst/>
                </a:prstGeom>
                <a:blipFill>
                  <a:blip r:embed="rId25"/>
                  <a:stretch>
                    <a:fillRect/>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B94C0D1B-26D0-AC2E-0645-CF20F4930EE9}"/>
                </a:ext>
              </a:extLst>
            </p:cNvPr>
            <p:cNvSpPr/>
            <p:nvPr/>
          </p:nvSpPr>
          <p:spPr>
            <a:xfrm>
              <a:off x="6253261" y="4783551"/>
              <a:ext cx="1502099" cy="1240482"/>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bg2">
                    <a:lumMod val="75000"/>
                  </a:schemeClr>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E255074-7B38-163F-DF61-E37B8B274320}"/>
                    </a:ext>
                  </a:extLst>
                </p:cNvPr>
                <p:cNvSpPr txBox="1"/>
                <p:nvPr/>
              </p:nvSpPr>
              <p:spPr>
                <a:xfrm>
                  <a:off x="6754153" y="5172958"/>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2400" b="1" dirty="0">
                    <a:solidFill>
                      <a:schemeClr val="bg1"/>
                    </a:solidFill>
                  </a:endParaRPr>
                </a:p>
              </p:txBody>
            </p:sp>
          </mc:Choice>
          <mc:Fallback xmlns="">
            <p:sp>
              <p:nvSpPr>
                <p:cNvPr id="33" name="TextBox 32">
                  <a:extLst>
                    <a:ext uri="{FF2B5EF4-FFF2-40B4-BE49-F238E27FC236}">
                      <a16:creationId xmlns:a16="http://schemas.microsoft.com/office/drawing/2014/main" id="{FE255074-7B38-163F-DF61-E37B8B274320}"/>
                    </a:ext>
                  </a:extLst>
                </p:cNvPr>
                <p:cNvSpPr txBox="1">
                  <a:spLocks noRot="1" noChangeAspect="1" noMove="1" noResize="1" noEditPoints="1" noAdjustHandles="1" noChangeArrowheads="1" noChangeShapeType="1" noTextEdit="1"/>
                </p:cNvSpPr>
                <p:nvPr/>
              </p:nvSpPr>
              <p:spPr>
                <a:xfrm>
                  <a:off x="6754153" y="5172958"/>
                  <a:ext cx="500314" cy="461665"/>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CB7E632-AD46-87BC-94DB-5B6278BEF198}"/>
                    </a:ext>
                  </a:extLst>
                </p:cNvPr>
                <p:cNvSpPr txBox="1"/>
                <p:nvPr/>
              </p:nvSpPr>
              <p:spPr>
                <a:xfrm>
                  <a:off x="5648522" y="5267890"/>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34" name="TextBox 33">
                  <a:extLst>
                    <a:ext uri="{FF2B5EF4-FFF2-40B4-BE49-F238E27FC236}">
                      <a16:creationId xmlns:a16="http://schemas.microsoft.com/office/drawing/2014/main" id="{DCB7E632-AD46-87BC-94DB-5B6278BEF198}"/>
                    </a:ext>
                  </a:extLst>
                </p:cNvPr>
                <p:cNvSpPr txBox="1">
                  <a:spLocks noRot="1" noChangeAspect="1" noMove="1" noResize="1" noEditPoints="1" noAdjustHandles="1" noChangeArrowheads="1" noChangeShapeType="1" noTextEdit="1"/>
                </p:cNvSpPr>
                <p:nvPr/>
              </p:nvSpPr>
              <p:spPr>
                <a:xfrm>
                  <a:off x="5648522" y="5267890"/>
                  <a:ext cx="500314" cy="461665"/>
                </a:xfrm>
                <a:prstGeom prst="rect">
                  <a:avLst/>
                </a:prstGeom>
                <a:blipFill>
                  <a:blip r:embed="rId27"/>
                  <a:stretch>
                    <a:fillRect/>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36A89100-417C-AB20-2BAC-C7A1C7E9E76A}"/>
                </a:ext>
              </a:extLst>
            </p:cNvPr>
            <p:cNvCxnSpPr/>
            <p:nvPr/>
          </p:nvCxnSpPr>
          <p:spPr>
            <a:xfrm>
              <a:off x="3610099" y="4643252"/>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FC77BB21-CE3D-33FE-BADC-23F5A176AEAD}"/>
                </a:ext>
              </a:extLst>
            </p:cNvPr>
            <p:cNvCxnSpPr/>
            <p:nvPr/>
          </p:nvCxnSpPr>
          <p:spPr>
            <a:xfrm>
              <a:off x="3538849" y="4643251"/>
              <a:ext cx="0" cy="1603169"/>
            </a:xfrm>
            <a:prstGeom prst="line">
              <a:avLst/>
            </a:prstGeom>
          </p:spPr>
          <p:style>
            <a:lnRef idx="2">
              <a:schemeClr val="dk1"/>
            </a:lnRef>
            <a:fillRef idx="0">
              <a:schemeClr val="dk1"/>
            </a:fillRef>
            <a:effectRef idx="1">
              <a:schemeClr val="dk1"/>
            </a:effectRef>
            <a:fontRef idx="minor">
              <a:schemeClr val="tx1"/>
            </a:fontRef>
          </p:style>
        </p:cxnSp>
        <p:grpSp>
          <p:nvGrpSpPr>
            <p:cNvPr id="40" name="Group 39">
              <a:extLst>
                <a:ext uri="{FF2B5EF4-FFF2-40B4-BE49-F238E27FC236}">
                  <a16:creationId xmlns:a16="http://schemas.microsoft.com/office/drawing/2014/main" id="{3C50E58B-0338-C5A2-0F7D-062DA1E692E3}"/>
                </a:ext>
              </a:extLst>
            </p:cNvPr>
            <p:cNvGrpSpPr/>
            <p:nvPr/>
          </p:nvGrpSpPr>
          <p:grpSpPr>
            <a:xfrm>
              <a:off x="7994318" y="4602207"/>
              <a:ext cx="71250" cy="1603170"/>
              <a:chOff x="3691249" y="4605646"/>
              <a:chExt cx="71250" cy="1603170"/>
            </a:xfrm>
          </p:grpSpPr>
          <p:cxnSp>
            <p:nvCxnSpPr>
              <p:cNvPr id="38" name="Straight Connector 37">
                <a:extLst>
                  <a:ext uri="{FF2B5EF4-FFF2-40B4-BE49-F238E27FC236}">
                    <a16:creationId xmlns:a16="http://schemas.microsoft.com/office/drawing/2014/main" id="{6FA7E6B7-2319-D4B1-9968-31AE169C8944}"/>
                  </a:ext>
                </a:extLst>
              </p:cNvPr>
              <p:cNvCxnSpPr/>
              <p:nvPr/>
            </p:nvCxnSpPr>
            <p:spPr>
              <a:xfrm>
                <a:off x="3762499" y="46056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BD10D564-2972-E5DE-8121-66FED9707575}"/>
                  </a:ext>
                </a:extLst>
              </p:cNvPr>
              <p:cNvCxnSpPr/>
              <p:nvPr/>
            </p:nvCxnSpPr>
            <p:spPr>
              <a:xfrm>
                <a:off x="3691249" y="46056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648A80E-3AEB-2C4C-16F4-94F8A26E1301}"/>
                    </a:ext>
                  </a:extLst>
                </p:cNvPr>
                <p:cNvSpPr txBox="1"/>
                <p:nvPr/>
              </p:nvSpPr>
              <p:spPr>
                <a:xfrm>
                  <a:off x="7786625" y="6006739"/>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oMath>
                    </m:oMathPara>
                  </a14:m>
                  <a:endParaRPr lang="en-US" dirty="0"/>
                </a:p>
              </p:txBody>
            </p:sp>
          </mc:Choice>
          <mc:Fallback xmlns="">
            <p:sp>
              <p:nvSpPr>
                <p:cNvPr id="41" name="TextBox 40">
                  <a:extLst>
                    <a:ext uri="{FF2B5EF4-FFF2-40B4-BE49-F238E27FC236}">
                      <a16:creationId xmlns:a16="http://schemas.microsoft.com/office/drawing/2014/main" id="{C648A80E-3AEB-2C4C-16F4-94F8A26E1301}"/>
                    </a:ext>
                  </a:extLst>
                </p:cNvPr>
                <p:cNvSpPr txBox="1">
                  <a:spLocks noRot="1" noChangeAspect="1" noMove="1" noResize="1" noEditPoints="1" noAdjustHandles="1" noChangeArrowheads="1" noChangeShapeType="1" noTextEdit="1"/>
                </p:cNvSpPr>
                <p:nvPr/>
              </p:nvSpPr>
              <p:spPr>
                <a:xfrm>
                  <a:off x="7786625" y="6006739"/>
                  <a:ext cx="855021"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D0E8938-0024-F867-4DAF-D25CDBD5D97D}"/>
                    </a:ext>
                  </a:extLst>
                </p:cNvPr>
                <p:cNvSpPr txBox="1"/>
                <p:nvPr/>
              </p:nvSpPr>
              <p:spPr>
                <a:xfrm>
                  <a:off x="7758917" y="4486586"/>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42" name="TextBox 41">
                  <a:extLst>
                    <a:ext uri="{FF2B5EF4-FFF2-40B4-BE49-F238E27FC236}">
                      <a16:creationId xmlns:a16="http://schemas.microsoft.com/office/drawing/2014/main" id="{0D0E8938-0024-F867-4DAF-D25CDBD5D97D}"/>
                    </a:ext>
                  </a:extLst>
                </p:cNvPr>
                <p:cNvSpPr txBox="1">
                  <a:spLocks noRot="1" noChangeAspect="1" noMove="1" noResize="1" noEditPoints="1" noAdjustHandles="1" noChangeArrowheads="1" noChangeShapeType="1" noTextEdit="1"/>
                </p:cNvSpPr>
                <p:nvPr/>
              </p:nvSpPr>
              <p:spPr>
                <a:xfrm>
                  <a:off x="7758917" y="4486586"/>
                  <a:ext cx="855021" cy="369332"/>
                </a:xfrm>
                <a:prstGeom prst="rect">
                  <a:avLst/>
                </a:prstGeom>
                <a:blipFill>
                  <a:blip r:embed="rId29"/>
                  <a:stretch>
                    <a:fillRect/>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C41663E1-2759-6424-8957-7DEDE673D031}"/>
                </a:ext>
              </a:extLst>
            </p:cNvPr>
            <p:cNvSpPr txBox="1"/>
            <p:nvPr/>
          </p:nvSpPr>
          <p:spPr>
            <a:xfrm>
              <a:off x="8580520" y="5219124"/>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44" name="TextBox 43">
              <a:extLst>
                <a:ext uri="{FF2B5EF4-FFF2-40B4-BE49-F238E27FC236}">
                  <a16:creationId xmlns:a16="http://schemas.microsoft.com/office/drawing/2014/main" id="{F19C25F5-4345-B7CF-AF31-541852C4043E}"/>
                </a:ext>
              </a:extLst>
            </p:cNvPr>
            <p:cNvSpPr txBox="1"/>
            <p:nvPr/>
          </p:nvSpPr>
          <p:spPr>
            <a:xfrm>
              <a:off x="8505961" y="6238449"/>
              <a:ext cx="3845106" cy="584775"/>
            </a:xfrm>
            <a:prstGeom prst="rect">
              <a:avLst/>
            </a:prstGeom>
            <a:solidFill>
              <a:schemeClr val="bg1"/>
            </a:solidFill>
          </p:spPr>
          <p:txBody>
            <a:bodyPr wrap="square" rtlCol="0">
              <a:spAutoFit/>
            </a:bodyPr>
            <a:lstStyle/>
            <a:p>
              <a:r>
                <a:rPr lang="en-US" sz="1600" dirty="0">
                  <a:solidFill>
                    <a:schemeClr val="accent5"/>
                  </a:solidFill>
                </a:rPr>
                <a:t>This notation means “</a:t>
              </a:r>
              <a:r>
                <a:rPr lang="en-US" sz="1600" dirty="0" err="1">
                  <a:solidFill>
                    <a:schemeClr val="accent5"/>
                  </a:solidFill>
                </a:rPr>
                <a:t>Frobenius</a:t>
              </a:r>
              <a:r>
                <a:rPr lang="en-US" sz="1600" dirty="0">
                  <a:solidFill>
                    <a:schemeClr val="accent5"/>
                  </a:solidFill>
                </a:rPr>
                <a:t> norm,” the sum of the squares of the entries.</a:t>
              </a:r>
            </a:p>
          </p:txBody>
        </p:sp>
        <p:cxnSp>
          <p:nvCxnSpPr>
            <p:cNvPr id="46" name="Straight Arrow Connector 45">
              <a:extLst>
                <a:ext uri="{FF2B5EF4-FFF2-40B4-BE49-F238E27FC236}">
                  <a16:creationId xmlns:a16="http://schemas.microsoft.com/office/drawing/2014/main" id="{23C04206-060A-8F22-5FCA-D8F468088D8D}"/>
                </a:ext>
              </a:extLst>
            </p:cNvPr>
            <p:cNvCxnSpPr>
              <a:stCxn id="44" idx="1"/>
            </p:cNvCxnSpPr>
            <p:nvPr/>
          </p:nvCxnSpPr>
          <p:spPr>
            <a:xfrm flipH="1" flipV="1">
              <a:off x="8325656" y="6246420"/>
              <a:ext cx="180305" cy="284417"/>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09619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2596-8B08-BE40-A2D7-148D2184FC70}"/>
              </a:ext>
            </a:extLst>
          </p:cNvPr>
          <p:cNvSpPr>
            <a:spLocks noGrp="1"/>
          </p:cNvSpPr>
          <p:nvPr>
            <p:ph type="title"/>
          </p:nvPr>
        </p:nvSpPr>
        <p:spPr>
          <a:xfrm>
            <a:off x="838200" y="365125"/>
            <a:ext cx="8402782" cy="1325563"/>
          </a:xfrm>
        </p:spPr>
        <p:txBody>
          <a:bodyPr/>
          <a:lstStyle/>
          <a:p>
            <a:r>
              <a:rPr lang="en-US" dirty="0"/>
              <a:t>What are the differences between this and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E53E4C-5E2D-1250-86DE-439896F002D4}"/>
                  </a:ext>
                </a:extLst>
              </p:cNvPr>
              <p:cNvSpPr>
                <a:spLocks noGrp="1"/>
              </p:cNvSpPr>
              <p:nvPr>
                <p:ph idx="1"/>
              </p:nvPr>
            </p:nvSpPr>
            <p:spPr/>
            <p:txBody>
              <a:bodyPr>
                <a:normAutofit/>
              </a:bodyPr>
              <a:lstStyle/>
              <a:p>
                <a:r>
                  <a:rPr lang="en-US" sz="2400" dirty="0"/>
                  <a:t>Given a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𝒀</m:t>
                    </m:r>
                  </m:oMath>
                </a14:m>
                <a:r>
                  <a:rPr lang="en-US" sz="2400" dirty="0"/>
                  <a:t>, find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r>
                      <a:rPr lang="en-US" sz="2400" i="1" dirty="0">
                        <a:latin typeface="Cambria Math" panose="02040503050406030204" pitchFamily="18" charset="0"/>
                      </a:rPr>
                      <m:t> </m:t>
                    </m:r>
                  </m:oMath>
                </a14:m>
                <a:r>
                  <a:rPr lang="en-US" sz="2400" dirty="0"/>
                  <a:t>and </a:t>
                </a:r>
                <a14:m>
                  <m:oMath xmlns:m="http://schemas.openxmlformats.org/officeDocument/2006/math">
                    <m:r>
                      <a:rPr lang="en-US" sz="2400" b="0" i="1" smtClean="0">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𝑩</m:t>
                    </m:r>
                  </m:oMath>
                </a14:m>
                <a:r>
                  <a:rPr lang="en-US" sz="2400" dirty="0"/>
                  <a:t> so that:</a:t>
                </a:r>
              </a:p>
              <a:p>
                <a:endParaRPr lang="en-US" sz="2400" dirty="0"/>
              </a:p>
            </p:txBody>
          </p:sp>
        </mc:Choice>
        <mc:Fallback xmlns="">
          <p:sp>
            <p:nvSpPr>
              <p:cNvPr id="3" name="Content Placeholder 2">
                <a:extLst>
                  <a:ext uri="{FF2B5EF4-FFF2-40B4-BE49-F238E27FC236}">
                    <a16:creationId xmlns:a16="http://schemas.microsoft.com/office/drawing/2014/main" id="{23E53E4C-5E2D-1250-86DE-439896F002D4}"/>
                  </a:ext>
                </a:extLst>
              </p:cNvPr>
              <p:cNvSpPr>
                <a:spLocks noGrp="1" noRot="1" noChangeAspect="1" noMove="1" noResize="1" noEditPoints="1" noAdjustHandles="1" noChangeArrowheads="1" noChangeShapeType="1" noTextEdit="1"/>
              </p:cNvSpPr>
              <p:nvPr>
                <p:ph idx="1"/>
              </p:nvPr>
            </p:nvSpPr>
            <p:spPr>
              <a:blipFill>
                <a:blip r:embed="rId3"/>
                <a:stretch>
                  <a:fillRect l="-844" t="-2035"/>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E3E97507-F965-7F5F-14DD-5F44EE9A7343}"/>
              </a:ext>
            </a:extLst>
          </p:cNvPr>
          <p:cNvGrpSpPr/>
          <p:nvPr/>
        </p:nvGrpSpPr>
        <p:grpSpPr>
          <a:xfrm>
            <a:off x="2068395" y="2260681"/>
            <a:ext cx="8812218" cy="2336638"/>
            <a:chOff x="3538849" y="4486586"/>
            <a:chExt cx="8812218" cy="2336638"/>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096E838-5120-1CCE-0F0D-419C71EBF3DD}"/>
                    </a:ext>
                  </a:extLst>
                </p:cNvPr>
                <p:cNvSpPr/>
                <p:nvPr/>
              </p:nvSpPr>
              <p:spPr>
                <a:xfrm>
                  <a:off x="3861731" y="4783551"/>
                  <a:ext cx="472762" cy="124048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4" name="Rectangle 3">
                  <a:extLst>
                    <a:ext uri="{FF2B5EF4-FFF2-40B4-BE49-F238E27FC236}">
                      <a16:creationId xmlns:a16="http://schemas.microsoft.com/office/drawing/2014/main" id="{2096E838-5120-1CCE-0F0D-419C71EBF3DD}"/>
                    </a:ext>
                  </a:extLst>
                </p:cNvPr>
                <p:cNvSpPr>
                  <a:spLocks noRot="1" noChangeAspect="1" noMove="1" noResize="1" noEditPoints="1" noAdjustHandles="1" noChangeArrowheads="1" noChangeShapeType="1" noTextEdit="1"/>
                </p:cNvSpPr>
                <p:nvPr/>
              </p:nvSpPr>
              <p:spPr>
                <a:xfrm>
                  <a:off x="3861731" y="4783551"/>
                  <a:ext cx="472762" cy="12404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1412D71-1D49-BC32-58AA-848907795F8F}"/>
                    </a:ext>
                  </a:extLst>
                </p:cNvPr>
                <p:cNvSpPr/>
                <p:nvPr/>
              </p:nvSpPr>
              <p:spPr>
                <a:xfrm>
                  <a:off x="4405818" y="4783551"/>
                  <a:ext cx="1175583" cy="47570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5" name="Rectangle 4">
                  <a:extLst>
                    <a:ext uri="{FF2B5EF4-FFF2-40B4-BE49-F238E27FC236}">
                      <a16:creationId xmlns:a16="http://schemas.microsoft.com/office/drawing/2014/main" id="{E1412D71-1D49-BC32-58AA-848907795F8F}"/>
                    </a:ext>
                  </a:extLst>
                </p:cNvPr>
                <p:cNvSpPr>
                  <a:spLocks noRot="1" noChangeAspect="1" noMove="1" noResize="1" noEditPoints="1" noAdjustHandles="1" noChangeArrowheads="1" noChangeShapeType="1" noTextEdit="1"/>
                </p:cNvSpPr>
                <p:nvPr/>
              </p:nvSpPr>
              <p:spPr>
                <a:xfrm>
                  <a:off x="4405818" y="4783551"/>
                  <a:ext cx="1175583" cy="475708"/>
                </a:xfrm>
                <a:prstGeom prst="rect">
                  <a:avLst/>
                </a:prstGeom>
                <a:blipFill>
                  <a:blip r:embed="rId5"/>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6AF77D06-0DC2-F123-810D-0F89CEEA4DBB}"/>
                </a:ext>
              </a:extLst>
            </p:cNvPr>
            <p:cNvSpPr/>
            <p:nvPr/>
          </p:nvSpPr>
          <p:spPr>
            <a:xfrm>
              <a:off x="6253261" y="4783551"/>
              <a:ext cx="1502099" cy="1240482"/>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bg2">
                    <a:lumMod val="75000"/>
                  </a:schemeClr>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91E524-8B6B-1B8B-F92E-D5980D918A51}"/>
                    </a:ext>
                  </a:extLst>
                </p:cNvPr>
                <p:cNvSpPr txBox="1"/>
                <p:nvPr/>
              </p:nvSpPr>
              <p:spPr>
                <a:xfrm>
                  <a:off x="6754153" y="5172958"/>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2400" b="1" dirty="0">
                    <a:solidFill>
                      <a:schemeClr val="bg1"/>
                    </a:solidFill>
                  </a:endParaRPr>
                </a:p>
              </p:txBody>
            </p:sp>
          </mc:Choice>
          <mc:Fallback xmlns="">
            <p:sp>
              <p:nvSpPr>
                <p:cNvPr id="7" name="TextBox 6">
                  <a:extLst>
                    <a:ext uri="{FF2B5EF4-FFF2-40B4-BE49-F238E27FC236}">
                      <a16:creationId xmlns:a16="http://schemas.microsoft.com/office/drawing/2014/main" id="{DB91E524-8B6B-1B8B-F92E-D5980D918A51}"/>
                    </a:ext>
                  </a:extLst>
                </p:cNvPr>
                <p:cNvSpPr txBox="1">
                  <a:spLocks noRot="1" noChangeAspect="1" noMove="1" noResize="1" noEditPoints="1" noAdjustHandles="1" noChangeArrowheads="1" noChangeShapeType="1" noTextEdit="1"/>
                </p:cNvSpPr>
                <p:nvPr/>
              </p:nvSpPr>
              <p:spPr>
                <a:xfrm>
                  <a:off x="6754153" y="5172958"/>
                  <a:ext cx="50031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D881D42-E937-F37B-C3E1-C5CBDCC48C8E}"/>
                    </a:ext>
                  </a:extLst>
                </p:cNvPr>
                <p:cNvSpPr txBox="1"/>
                <p:nvPr/>
              </p:nvSpPr>
              <p:spPr>
                <a:xfrm>
                  <a:off x="5648522" y="5267890"/>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8" name="TextBox 7">
                  <a:extLst>
                    <a:ext uri="{FF2B5EF4-FFF2-40B4-BE49-F238E27FC236}">
                      <a16:creationId xmlns:a16="http://schemas.microsoft.com/office/drawing/2014/main" id="{5D881D42-E937-F37B-C3E1-C5CBDCC48C8E}"/>
                    </a:ext>
                  </a:extLst>
                </p:cNvPr>
                <p:cNvSpPr txBox="1">
                  <a:spLocks noRot="1" noChangeAspect="1" noMove="1" noResize="1" noEditPoints="1" noAdjustHandles="1" noChangeArrowheads="1" noChangeShapeType="1" noTextEdit="1"/>
                </p:cNvSpPr>
                <p:nvPr/>
              </p:nvSpPr>
              <p:spPr>
                <a:xfrm>
                  <a:off x="5648522" y="5267890"/>
                  <a:ext cx="500314" cy="461665"/>
                </a:xfrm>
                <a:prstGeom prst="rect">
                  <a:avLst/>
                </a:prstGeom>
                <a:blipFill>
                  <a:blip r:embed="rId7"/>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233EF1C6-54A4-C819-F9E6-A7D65A936A92}"/>
                </a:ext>
              </a:extLst>
            </p:cNvPr>
            <p:cNvCxnSpPr/>
            <p:nvPr/>
          </p:nvCxnSpPr>
          <p:spPr>
            <a:xfrm>
              <a:off x="3610099" y="4643252"/>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DC7A8262-2BA3-AAF6-7C06-6F22F1AFE9F2}"/>
                </a:ext>
              </a:extLst>
            </p:cNvPr>
            <p:cNvCxnSpPr/>
            <p:nvPr/>
          </p:nvCxnSpPr>
          <p:spPr>
            <a:xfrm>
              <a:off x="3538849" y="4643251"/>
              <a:ext cx="0" cy="1603169"/>
            </a:xfrm>
            <a:prstGeom prst="line">
              <a:avLst/>
            </a:prstGeom>
          </p:spPr>
          <p:style>
            <a:lnRef idx="2">
              <a:schemeClr val="dk1"/>
            </a:lnRef>
            <a:fillRef idx="0">
              <a:schemeClr val="dk1"/>
            </a:fillRef>
            <a:effectRef idx="1">
              <a:schemeClr val="dk1"/>
            </a:effectRef>
            <a:fontRef idx="minor">
              <a:schemeClr val="tx1"/>
            </a:fontRef>
          </p:style>
        </p:cxnSp>
        <p:grpSp>
          <p:nvGrpSpPr>
            <p:cNvPr id="11" name="Group 10">
              <a:extLst>
                <a:ext uri="{FF2B5EF4-FFF2-40B4-BE49-F238E27FC236}">
                  <a16:creationId xmlns:a16="http://schemas.microsoft.com/office/drawing/2014/main" id="{301D1E11-425F-D249-0F43-1501A22E2EA7}"/>
                </a:ext>
              </a:extLst>
            </p:cNvPr>
            <p:cNvGrpSpPr/>
            <p:nvPr/>
          </p:nvGrpSpPr>
          <p:grpSpPr>
            <a:xfrm>
              <a:off x="7994318" y="4602207"/>
              <a:ext cx="71250" cy="1603170"/>
              <a:chOff x="3691249" y="4605646"/>
              <a:chExt cx="71250" cy="1603170"/>
            </a:xfrm>
          </p:grpSpPr>
          <p:cxnSp>
            <p:nvCxnSpPr>
              <p:cNvPr id="12" name="Straight Connector 11">
                <a:extLst>
                  <a:ext uri="{FF2B5EF4-FFF2-40B4-BE49-F238E27FC236}">
                    <a16:creationId xmlns:a16="http://schemas.microsoft.com/office/drawing/2014/main" id="{E8596643-46D8-7976-B430-01B24A3187C2}"/>
                  </a:ext>
                </a:extLst>
              </p:cNvPr>
              <p:cNvCxnSpPr/>
              <p:nvPr/>
            </p:nvCxnSpPr>
            <p:spPr>
              <a:xfrm>
                <a:off x="3762499" y="46056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201E90B1-8C0D-A8BB-6A4D-5950A6FB7ECB}"/>
                  </a:ext>
                </a:extLst>
              </p:cNvPr>
              <p:cNvCxnSpPr/>
              <p:nvPr/>
            </p:nvCxnSpPr>
            <p:spPr>
              <a:xfrm>
                <a:off x="3691249" y="46056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646EBE4-276A-A4AA-70CA-02F729106245}"/>
                    </a:ext>
                  </a:extLst>
                </p:cNvPr>
                <p:cNvSpPr txBox="1"/>
                <p:nvPr/>
              </p:nvSpPr>
              <p:spPr>
                <a:xfrm>
                  <a:off x="7786625" y="6006739"/>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oMath>
                    </m:oMathPara>
                  </a14:m>
                  <a:endParaRPr lang="en-US" dirty="0"/>
                </a:p>
              </p:txBody>
            </p:sp>
          </mc:Choice>
          <mc:Fallback xmlns="">
            <p:sp>
              <p:nvSpPr>
                <p:cNvPr id="14" name="TextBox 13">
                  <a:extLst>
                    <a:ext uri="{FF2B5EF4-FFF2-40B4-BE49-F238E27FC236}">
                      <a16:creationId xmlns:a16="http://schemas.microsoft.com/office/drawing/2014/main" id="{B646EBE4-276A-A4AA-70CA-02F729106245}"/>
                    </a:ext>
                  </a:extLst>
                </p:cNvPr>
                <p:cNvSpPr txBox="1">
                  <a:spLocks noRot="1" noChangeAspect="1" noMove="1" noResize="1" noEditPoints="1" noAdjustHandles="1" noChangeArrowheads="1" noChangeShapeType="1" noTextEdit="1"/>
                </p:cNvSpPr>
                <p:nvPr/>
              </p:nvSpPr>
              <p:spPr>
                <a:xfrm>
                  <a:off x="7786625" y="6006739"/>
                  <a:ext cx="85502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9A81284-F277-8B55-A53E-6B8F9F3BEE02}"/>
                    </a:ext>
                  </a:extLst>
                </p:cNvPr>
                <p:cNvSpPr txBox="1"/>
                <p:nvPr/>
              </p:nvSpPr>
              <p:spPr>
                <a:xfrm>
                  <a:off x="7758917" y="4486586"/>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15" name="TextBox 14">
                  <a:extLst>
                    <a:ext uri="{FF2B5EF4-FFF2-40B4-BE49-F238E27FC236}">
                      <a16:creationId xmlns:a16="http://schemas.microsoft.com/office/drawing/2014/main" id="{D9A81284-F277-8B55-A53E-6B8F9F3BEE02}"/>
                    </a:ext>
                  </a:extLst>
                </p:cNvPr>
                <p:cNvSpPr txBox="1">
                  <a:spLocks noRot="1" noChangeAspect="1" noMove="1" noResize="1" noEditPoints="1" noAdjustHandles="1" noChangeArrowheads="1" noChangeShapeType="1" noTextEdit="1"/>
                </p:cNvSpPr>
                <p:nvPr/>
              </p:nvSpPr>
              <p:spPr>
                <a:xfrm>
                  <a:off x="7758917" y="4486586"/>
                  <a:ext cx="855021" cy="369332"/>
                </a:xfrm>
                <a:prstGeom prst="rect">
                  <a:avLst/>
                </a:prstGeom>
                <a:blipFill>
                  <a:blip r:embed="rId9"/>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549207E-855C-437C-FD04-CCF775E43E25}"/>
                </a:ext>
              </a:extLst>
            </p:cNvPr>
            <p:cNvSpPr txBox="1"/>
            <p:nvPr/>
          </p:nvSpPr>
          <p:spPr>
            <a:xfrm>
              <a:off x="8580520" y="5219124"/>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17" name="TextBox 16">
              <a:extLst>
                <a:ext uri="{FF2B5EF4-FFF2-40B4-BE49-F238E27FC236}">
                  <a16:creationId xmlns:a16="http://schemas.microsoft.com/office/drawing/2014/main" id="{816E94D8-BDB5-C237-9E3D-CAF7762441EC}"/>
                </a:ext>
              </a:extLst>
            </p:cNvPr>
            <p:cNvSpPr txBox="1"/>
            <p:nvPr/>
          </p:nvSpPr>
          <p:spPr>
            <a:xfrm>
              <a:off x="8505961" y="6238449"/>
              <a:ext cx="3845106" cy="584775"/>
            </a:xfrm>
            <a:prstGeom prst="rect">
              <a:avLst/>
            </a:prstGeom>
            <a:solidFill>
              <a:schemeClr val="bg1"/>
            </a:solidFill>
          </p:spPr>
          <p:txBody>
            <a:bodyPr wrap="square" rtlCol="0">
              <a:spAutoFit/>
            </a:bodyPr>
            <a:lstStyle/>
            <a:p>
              <a:r>
                <a:rPr lang="en-US" sz="1600" dirty="0">
                  <a:solidFill>
                    <a:schemeClr val="accent5"/>
                  </a:solidFill>
                </a:rPr>
                <a:t>This notation means “</a:t>
              </a:r>
              <a:r>
                <a:rPr lang="en-US" sz="1600" dirty="0" err="1">
                  <a:solidFill>
                    <a:schemeClr val="accent5"/>
                  </a:solidFill>
                </a:rPr>
                <a:t>Frobenius</a:t>
              </a:r>
              <a:r>
                <a:rPr lang="en-US" sz="1600" dirty="0">
                  <a:solidFill>
                    <a:schemeClr val="accent5"/>
                  </a:solidFill>
                </a:rPr>
                <a:t> norm,” the sum of the squares of the entries.</a:t>
              </a:r>
            </a:p>
          </p:txBody>
        </p:sp>
        <p:cxnSp>
          <p:nvCxnSpPr>
            <p:cNvPr id="18" name="Straight Arrow Connector 17">
              <a:extLst>
                <a:ext uri="{FF2B5EF4-FFF2-40B4-BE49-F238E27FC236}">
                  <a16:creationId xmlns:a16="http://schemas.microsoft.com/office/drawing/2014/main" id="{6B16EF4E-6E8E-B61D-FCE9-194F0AC6F291}"/>
                </a:ext>
              </a:extLst>
            </p:cNvPr>
            <p:cNvCxnSpPr>
              <a:stCxn id="17" idx="1"/>
            </p:cNvCxnSpPr>
            <p:nvPr/>
          </p:nvCxnSpPr>
          <p:spPr>
            <a:xfrm flipH="1" flipV="1">
              <a:off x="8325656" y="6246420"/>
              <a:ext cx="180305" cy="284417"/>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E740D13-0834-1930-A7FE-8567726F7343}"/>
              </a:ext>
            </a:extLst>
          </p:cNvPr>
          <p:cNvGrpSpPr/>
          <p:nvPr/>
        </p:nvGrpSpPr>
        <p:grpSpPr>
          <a:xfrm>
            <a:off x="743465" y="4879305"/>
            <a:ext cx="10515600" cy="1994337"/>
            <a:chOff x="743465" y="4879305"/>
            <a:chExt cx="10515600" cy="1994337"/>
          </a:xfrm>
        </p:grpSpPr>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06D39ABB-1E4A-F53D-D334-92CD8CF6F9E1}"/>
                    </a:ext>
                  </a:extLst>
                </p:cNvPr>
                <p:cNvSpPr txBox="1">
                  <a:spLocks/>
                </p:cNvSpPr>
                <p:nvPr/>
              </p:nvSpPr>
              <p:spPr>
                <a:xfrm>
                  <a:off x="743465" y="4879305"/>
                  <a:ext cx="10515600" cy="1492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Regression: </a:t>
                  </a:r>
                  <a:r>
                    <a:rPr lang="en-US" sz="2400" dirty="0"/>
                    <a:t>Given a vector </a:t>
                  </a:r>
                  <a14:m>
                    <m:oMath xmlns:m="http://schemas.openxmlformats.org/officeDocument/2006/math">
                      <m:r>
                        <a:rPr lang="en-US" sz="2400" b="1" i="1" dirty="0" smtClean="0">
                          <a:latin typeface="Cambria Math" panose="02040503050406030204" pitchFamily="18" charset="0"/>
                        </a:rPr>
                        <m:t>𝒚</m:t>
                      </m:r>
                    </m:oMath>
                  </a14:m>
                  <a:r>
                    <a:rPr lang="en-US" sz="2400" dirty="0"/>
                    <a:t> and an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oMath>
                  </a14:m>
                  <a:r>
                    <a:rPr lang="en-US" sz="2400" dirty="0"/>
                    <a:t>, find </a:t>
                  </a:r>
                  <a14:m>
                    <m:oMath xmlns:m="http://schemas.openxmlformats.org/officeDocument/2006/math">
                      <m:r>
                        <a:rPr lang="en-US" sz="2400" b="1" i="1" smtClean="0">
                          <a:latin typeface="Cambria Math" panose="02040503050406030204" pitchFamily="18" charset="0"/>
                        </a:rPr>
                        <m:t>𝜷</m:t>
                      </m:r>
                    </m:oMath>
                  </a14:m>
                  <a:r>
                    <a:rPr lang="en-US" sz="2400" dirty="0"/>
                    <a:t> so that: </a:t>
                  </a:r>
                </a:p>
                <a:p>
                  <a:endParaRPr lang="en-US" sz="2400" dirty="0"/>
                </a:p>
              </p:txBody>
            </p:sp>
          </mc:Choice>
          <mc:Fallback xmlns="">
            <p:sp>
              <p:nvSpPr>
                <p:cNvPr id="20" name="Content Placeholder 2">
                  <a:extLst>
                    <a:ext uri="{FF2B5EF4-FFF2-40B4-BE49-F238E27FC236}">
                      <a16:creationId xmlns:a16="http://schemas.microsoft.com/office/drawing/2014/main" id="{06D39ABB-1E4A-F53D-D334-92CD8CF6F9E1}"/>
                    </a:ext>
                  </a:extLst>
                </p:cNvPr>
                <p:cNvSpPr txBox="1">
                  <a:spLocks noRot="1" noChangeAspect="1" noMove="1" noResize="1" noEditPoints="1" noAdjustHandles="1" noChangeArrowheads="1" noChangeShapeType="1" noTextEdit="1"/>
                </p:cNvSpPr>
                <p:nvPr/>
              </p:nvSpPr>
              <p:spPr>
                <a:xfrm>
                  <a:off x="743465" y="4879305"/>
                  <a:ext cx="10515600" cy="1492363"/>
                </a:xfrm>
                <a:prstGeom prst="rect">
                  <a:avLst/>
                </a:prstGeom>
                <a:blipFill>
                  <a:blip r:embed="rId10"/>
                  <a:stretch>
                    <a:fillRect l="-844" t="-5932"/>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67ADE69A-CF7F-D3F7-629A-2C1E2A3AF82C}"/>
                </a:ext>
              </a:extLst>
            </p:cNvPr>
            <p:cNvGrpSpPr/>
            <p:nvPr/>
          </p:nvGrpSpPr>
          <p:grpSpPr>
            <a:xfrm>
              <a:off x="2391277" y="5464569"/>
              <a:ext cx="45719" cy="1165702"/>
              <a:chOff x="2220795" y="2569746"/>
              <a:chExt cx="71250" cy="1603170"/>
            </a:xfrm>
          </p:grpSpPr>
          <p:cxnSp>
            <p:nvCxnSpPr>
              <p:cNvPr id="21" name="Straight Connector 20">
                <a:extLst>
                  <a:ext uri="{FF2B5EF4-FFF2-40B4-BE49-F238E27FC236}">
                    <a16:creationId xmlns:a16="http://schemas.microsoft.com/office/drawing/2014/main" id="{30BC8556-D857-41BD-6E66-EEFB6F3E077D}"/>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CA1F19B2-ECB6-1127-3134-316B93A5986A}"/>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7154DA3-C0F7-2E23-B356-5D8FF6232292}"/>
                    </a:ext>
                  </a:extLst>
                </p:cNvPr>
                <p:cNvSpPr/>
                <p:nvPr/>
              </p:nvSpPr>
              <p:spPr>
                <a:xfrm>
                  <a:off x="2620108" y="5513585"/>
                  <a:ext cx="461747" cy="106767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24" name="Rectangle 23">
                  <a:extLst>
                    <a:ext uri="{FF2B5EF4-FFF2-40B4-BE49-F238E27FC236}">
                      <a16:creationId xmlns:a16="http://schemas.microsoft.com/office/drawing/2014/main" id="{57154DA3-C0F7-2E23-B356-5D8FF6232292}"/>
                    </a:ext>
                  </a:extLst>
                </p:cNvPr>
                <p:cNvSpPr>
                  <a:spLocks noRot="1" noChangeAspect="1" noMove="1" noResize="1" noEditPoints="1" noAdjustHandles="1" noChangeArrowheads="1" noChangeShapeType="1" noTextEdit="1"/>
                </p:cNvSpPr>
                <p:nvPr/>
              </p:nvSpPr>
              <p:spPr>
                <a:xfrm>
                  <a:off x="2620108" y="5513585"/>
                  <a:ext cx="461747" cy="106767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596CA96C-EEC6-9A5A-55B4-A237D1E2C231}"/>
                    </a:ext>
                  </a:extLst>
                </p:cNvPr>
                <p:cNvSpPr/>
                <p:nvPr/>
              </p:nvSpPr>
              <p:spPr>
                <a:xfrm>
                  <a:off x="3176591" y="5515088"/>
                  <a:ext cx="227010" cy="57194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𝜷</m:t>
                        </m:r>
                      </m:oMath>
                    </m:oMathPara>
                  </a14:m>
                  <a:endParaRPr lang="en-US" sz="1000" b="1" dirty="0">
                    <a:solidFill>
                      <a:schemeClr val="tx1"/>
                    </a:solidFill>
                  </a:endParaRPr>
                </a:p>
              </p:txBody>
            </p:sp>
          </mc:Choice>
          <mc:Fallback xmlns="">
            <p:sp>
              <p:nvSpPr>
                <p:cNvPr id="25" name="Rectangle 24">
                  <a:extLst>
                    <a:ext uri="{FF2B5EF4-FFF2-40B4-BE49-F238E27FC236}">
                      <a16:creationId xmlns:a16="http://schemas.microsoft.com/office/drawing/2014/main" id="{596CA96C-EEC6-9A5A-55B4-A237D1E2C231}"/>
                    </a:ext>
                  </a:extLst>
                </p:cNvPr>
                <p:cNvSpPr>
                  <a:spLocks noRot="1" noChangeAspect="1" noMove="1" noResize="1" noEditPoints="1" noAdjustHandles="1" noChangeArrowheads="1" noChangeShapeType="1" noTextEdit="1"/>
                </p:cNvSpPr>
                <p:nvPr/>
              </p:nvSpPr>
              <p:spPr>
                <a:xfrm>
                  <a:off x="3176591" y="5515088"/>
                  <a:ext cx="227010" cy="571946"/>
                </a:xfrm>
                <a:prstGeom prst="rect">
                  <a:avLst/>
                </a:prstGeom>
                <a:blipFill>
                  <a:blip r:embed="rId12"/>
                  <a:stretch>
                    <a:fillRect l="-25000" r="-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1D0A1CD-1F7B-BC45-0A68-31F1E28FA1A5}"/>
                    </a:ext>
                  </a:extLst>
                </p:cNvPr>
                <p:cNvSpPr/>
                <p:nvPr/>
              </p:nvSpPr>
              <p:spPr>
                <a:xfrm>
                  <a:off x="3815967" y="5513585"/>
                  <a:ext cx="223124" cy="1116685"/>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000" b="1" i="1" dirty="0" smtClean="0">
                            <a:solidFill>
                              <a:schemeClr val="bg1"/>
                            </a:solidFill>
                            <a:latin typeface="Cambria Math" panose="02040503050406030204" pitchFamily="18" charset="0"/>
                          </a:rPr>
                          <m:t>𝒚</m:t>
                        </m:r>
                      </m:oMath>
                    </m:oMathPara>
                  </a14:m>
                  <a:endParaRPr lang="en-US" sz="1000" b="1" dirty="0">
                    <a:solidFill>
                      <a:schemeClr val="bg2">
                        <a:lumMod val="75000"/>
                      </a:schemeClr>
                    </a:solidFill>
                  </a:endParaRPr>
                </a:p>
              </p:txBody>
            </p:sp>
          </mc:Choice>
          <mc:Fallback xmlns="">
            <p:sp>
              <p:nvSpPr>
                <p:cNvPr id="26" name="Rectangle 25">
                  <a:extLst>
                    <a:ext uri="{FF2B5EF4-FFF2-40B4-BE49-F238E27FC236}">
                      <a16:creationId xmlns:a16="http://schemas.microsoft.com/office/drawing/2014/main" id="{C1D0A1CD-1F7B-BC45-0A68-31F1E28FA1A5}"/>
                    </a:ext>
                  </a:extLst>
                </p:cNvPr>
                <p:cNvSpPr>
                  <a:spLocks noRot="1" noChangeAspect="1" noMove="1" noResize="1" noEditPoints="1" noAdjustHandles="1" noChangeArrowheads="1" noChangeShapeType="1" noTextEdit="1"/>
                </p:cNvSpPr>
                <p:nvPr/>
              </p:nvSpPr>
              <p:spPr>
                <a:xfrm>
                  <a:off x="3815967" y="5513585"/>
                  <a:ext cx="223124" cy="1116685"/>
                </a:xfrm>
                <a:prstGeom prst="rect">
                  <a:avLst/>
                </a:prstGeom>
                <a:blipFill>
                  <a:blip r:embed="rId1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05D5D-DBBF-AFB7-29FD-967CCA1F5573}"/>
                    </a:ext>
                  </a:extLst>
                </p:cNvPr>
                <p:cNvSpPr txBox="1"/>
                <p:nvPr/>
              </p:nvSpPr>
              <p:spPr>
                <a:xfrm>
                  <a:off x="3359627" y="5887261"/>
                  <a:ext cx="5003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27" name="TextBox 26">
                  <a:extLst>
                    <a:ext uri="{FF2B5EF4-FFF2-40B4-BE49-F238E27FC236}">
                      <a16:creationId xmlns:a16="http://schemas.microsoft.com/office/drawing/2014/main" id="{CFF05D5D-DBBF-AFB7-29FD-967CCA1F5573}"/>
                    </a:ext>
                  </a:extLst>
                </p:cNvPr>
                <p:cNvSpPr txBox="1">
                  <a:spLocks noRot="1" noChangeAspect="1" noMove="1" noResize="1" noEditPoints="1" noAdjustHandles="1" noChangeArrowheads="1" noChangeShapeType="1" noTextEdit="1"/>
                </p:cNvSpPr>
                <p:nvPr/>
              </p:nvSpPr>
              <p:spPr>
                <a:xfrm>
                  <a:off x="3359627" y="5887261"/>
                  <a:ext cx="500314" cy="369332"/>
                </a:xfrm>
                <a:prstGeom prst="rect">
                  <a:avLst/>
                </a:prstGeom>
                <a:blipFill>
                  <a:blip r:embed="rId14"/>
                  <a:stretch>
                    <a:fillRect/>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FEB1E025-A9A6-132F-1D05-2EBFB4A07C83}"/>
                </a:ext>
              </a:extLst>
            </p:cNvPr>
            <p:cNvGrpSpPr/>
            <p:nvPr/>
          </p:nvGrpSpPr>
          <p:grpSpPr>
            <a:xfrm>
              <a:off x="4226588" y="5505900"/>
              <a:ext cx="45719" cy="1165702"/>
              <a:chOff x="2220795" y="2569746"/>
              <a:chExt cx="71250" cy="1603170"/>
            </a:xfrm>
          </p:grpSpPr>
          <p:cxnSp>
            <p:nvCxnSpPr>
              <p:cNvPr id="29" name="Straight Connector 28">
                <a:extLst>
                  <a:ext uri="{FF2B5EF4-FFF2-40B4-BE49-F238E27FC236}">
                    <a16:creationId xmlns:a16="http://schemas.microsoft.com/office/drawing/2014/main" id="{3087DAEC-30EE-44D4-DDEA-B3E99AE579DB}"/>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FFB95026-E63B-F13F-2E16-33381FD41117}"/>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5EE070E-64DE-9362-8A14-2B88F4679B0E}"/>
                    </a:ext>
                  </a:extLst>
                </p:cNvPr>
                <p:cNvSpPr txBox="1"/>
                <p:nvPr/>
              </p:nvSpPr>
              <p:spPr>
                <a:xfrm>
                  <a:off x="3944355" y="5349601"/>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2" name="TextBox 31">
                  <a:extLst>
                    <a:ext uri="{FF2B5EF4-FFF2-40B4-BE49-F238E27FC236}">
                      <a16:creationId xmlns:a16="http://schemas.microsoft.com/office/drawing/2014/main" id="{A5EE070E-64DE-9362-8A14-2B88F4679B0E}"/>
                    </a:ext>
                  </a:extLst>
                </p:cNvPr>
                <p:cNvSpPr txBox="1">
                  <a:spLocks noRot="1" noChangeAspect="1" noMove="1" noResize="1" noEditPoints="1" noAdjustHandles="1" noChangeArrowheads="1" noChangeShapeType="1" noTextEdit="1"/>
                </p:cNvSpPr>
                <p:nvPr/>
              </p:nvSpPr>
              <p:spPr>
                <a:xfrm>
                  <a:off x="3944355" y="5349601"/>
                  <a:ext cx="855021"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F23C22A-06DE-15A0-756F-A132139E22BE}"/>
                    </a:ext>
                  </a:extLst>
                </p:cNvPr>
                <p:cNvSpPr txBox="1"/>
                <p:nvPr/>
              </p:nvSpPr>
              <p:spPr>
                <a:xfrm>
                  <a:off x="3949501" y="6473928"/>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3" name="TextBox 32">
                  <a:extLst>
                    <a:ext uri="{FF2B5EF4-FFF2-40B4-BE49-F238E27FC236}">
                      <a16:creationId xmlns:a16="http://schemas.microsoft.com/office/drawing/2014/main" id="{5F23C22A-06DE-15A0-756F-A132139E22BE}"/>
                    </a:ext>
                  </a:extLst>
                </p:cNvPr>
                <p:cNvSpPr txBox="1">
                  <a:spLocks noRot="1" noChangeAspect="1" noMove="1" noResize="1" noEditPoints="1" noAdjustHandles="1" noChangeArrowheads="1" noChangeShapeType="1" noTextEdit="1"/>
                </p:cNvSpPr>
                <p:nvPr/>
              </p:nvSpPr>
              <p:spPr>
                <a:xfrm>
                  <a:off x="3949501" y="6473928"/>
                  <a:ext cx="855021" cy="369332"/>
                </a:xfrm>
                <a:prstGeom prst="rect">
                  <a:avLst/>
                </a:prstGeom>
                <a:blipFill>
                  <a:blip r:embed="rId16"/>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96D2D090-F35B-3F8F-BD9B-2AE3D1A3793A}"/>
                </a:ext>
              </a:extLst>
            </p:cNvPr>
            <p:cNvSpPr txBox="1"/>
            <p:nvPr/>
          </p:nvSpPr>
          <p:spPr>
            <a:xfrm>
              <a:off x="4495431" y="5833843"/>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35" name="TextBox 34">
              <a:extLst>
                <a:ext uri="{FF2B5EF4-FFF2-40B4-BE49-F238E27FC236}">
                  <a16:creationId xmlns:a16="http://schemas.microsoft.com/office/drawing/2014/main" id="{75C341BE-3F76-9E71-92E2-0366379B73D0}"/>
                </a:ext>
              </a:extLst>
            </p:cNvPr>
            <p:cNvSpPr txBox="1"/>
            <p:nvPr/>
          </p:nvSpPr>
          <p:spPr>
            <a:xfrm>
              <a:off x="5172324" y="6288867"/>
              <a:ext cx="3845106" cy="584775"/>
            </a:xfrm>
            <a:prstGeom prst="rect">
              <a:avLst/>
            </a:prstGeom>
            <a:solidFill>
              <a:schemeClr val="bg1"/>
            </a:solidFill>
          </p:spPr>
          <p:txBody>
            <a:bodyPr wrap="square" rtlCol="0">
              <a:spAutoFit/>
            </a:bodyPr>
            <a:lstStyle/>
            <a:p>
              <a:r>
                <a:rPr lang="en-US" sz="1600" dirty="0">
                  <a:solidFill>
                    <a:schemeClr val="accent5"/>
                  </a:solidFill>
                </a:rPr>
                <a:t>This notation also means the sum of the squares of the entries.</a:t>
              </a:r>
            </a:p>
          </p:txBody>
        </p:sp>
        <p:cxnSp>
          <p:nvCxnSpPr>
            <p:cNvPr id="36" name="Straight Arrow Connector 35">
              <a:extLst>
                <a:ext uri="{FF2B5EF4-FFF2-40B4-BE49-F238E27FC236}">
                  <a16:creationId xmlns:a16="http://schemas.microsoft.com/office/drawing/2014/main" id="{C26F6328-ED72-6451-2EA2-7231271F3972}"/>
                </a:ext>
              </a:extLst>
            </p:cNvPr>
            <p:cNvCxnSpPr>
              <a:cxnSpLocks/>
              <a:stCxn id="35" idx="1"/>
            </p:cNvCxnSpPr>
            <p:nvPr/>
          </p:nvCxnSpPr>
          <p:spPr>
            <a:xfrm flipH="1">
              <a:off x="4503676" y="6581255"/>
              <a:ext cx="668648" cy="72399"/>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51359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01F1-055D-9271-7BA7-9D69525D2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12578-B1A2-E86E-959E-9E9BE93E7E46}"/>
              </a:ext>
            </a:extLst>
          </p:cNvPr>
          <p:cNvSpPr>
            <a:spLocks noGrp="1"/>
          </p:cNvSpPr>
          <p:nvPr>
            <p:ph type="title"/>
          </p:nvPr>
        </p:nvSpPr>
        <p:spPr>
          <a:xfrm>
            <a:off x="838200" y="365125"/>
            <a:ext cx="8402782" cy="1325563"/>
          </a:xfrm>
        </p:spPr>
        <p:txBody>
          <a:bodyPr/>
          <a:lstStyle/>
          <a:p>
            <a:r>
              <a:rPr lang="en-US" dirty="0"/>
              <a:t>What are the differences between this and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4B1EB5-E0B7-2766-A0A0-02D7EDC9EF75}"/>
                  </a:ext>
                </a:extLst>
              </p:cNvPr>
              <p:cNvSpPr>
                <a:spLocks noGrp="1"/>
              </p:cNvSpPr>
              <p:nvPr>
                <p:ph idx="1"/>
              </p:nvPr>
            </p:nvSpPr>
            <p:spPr/>
            <p:txBody>
              <a:bodyPr>
                <a:normAutofit/>
              </a:bodyPr>
              <a:lstStyle/>
              <a:p>
                <a:r>
                  <a:rPr lang="en-US" sz="2400" dirty="0"/>
                  <a:t>Given a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𝒀</m:t>
                    </m:r>
                  </m:oMath>
                </a14:m>
                <a:r>
                  <a:rPr lang="en-US" sz="2400" dirty="0"/>
                  <a:t>, find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r>
                      <a:rPr lang="en-US" sz="2400" i="1" dirty="0">
                        <a:latin typeface="Cambria Math" panose="02040503050406030204" pitchFamily="18" charset="0"/>
                      </a:rPr>
                      <m:t> </m:t>
                    </m:r>
                  </m:oMath>
                </a14:m>
                <a:r>
                  <a:rPr lang="en-US" sz="2400" dirty="0"/>
                  <a:t>and </a:t>
                </a:r>
                <a14:m>
                  <m:oMath xmlns:m="http://schemas.openxmlformats.org/officeDocument/2006/math">
                    <m:r>
                      <a:rPr lang="en-US" sz="2400" b="0" i="1" smtClean="0">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𝑩</m:t>
                    </m:r>
                  </m:oMath>
                </a14:m>
                <a:r>
                  <a:rPr lang="en-US" sz="2400" dirty="0"/>
                  <a:t> so that:</a:t>
                </a:r>
              </a:p>
              <a:p>
                <a:endParaRPr lang="en-US" sz="2400" dirty="0"/>
              </a:p>
            </p:txBody>
          </p:sp>
        </mc:Choice>
        <mc:Fallback xmlns="">
          <p:sp>
            <p:nvSpPr>
              <p:cNvPr id="3" name="Content Placeholder 2">
                <a:extLst>
                  <a:ext uri="{FF2B5EF4-FFF2-40B4-BE49-F238E27FC236}">
                    <a16:creationId xmlns:a16="http://schemas.microsoft.com/office/drawing/2014/main" id="{23E53E4C-5E2D-1250-86DE-439896F002D4}"/>
                  </a:ext>
                </a:extLst>
              </p:cNvPr>
              <p:cNvSpPr>
                <a:spLocks noGrp="1" noRot="1" noChangeAspect="1" noMove="1" noResize="1" noEditPoints="1" noAdjustHandles="1" noChangeArrowheads="1" noChangeShapeType="1" noTextEdit="1"/>
              </p:cNvSpPr>
              <p:nvPr>
                <p:ph idx="1"/>
              </p:nvPr>
            </p:nvSpPr>
            <p:spPr>
              <a:blipFill>
                <a:blip r:embed="rId3"/>
                <a:stretch>
                  <a:fillRect l="-844" t="-2035"/>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18786433-1DD6-EE00-1925-A3F829B323BA}"/>
              </a:ext>
            </a:extLst>
          </p:cNvPr>
          <p:cNvGrpSpPr/>
          <p:nvPr/>
        </p:nvGrpSpPr>
        <p:grpSpPr>
          <a:xfrm>
            <a:off x="2068395" y="2260681"/>
            <a:ext cx="8812218" cy="2336638"/>
            <a:chOff x="3538849" y="4486586"/>
            <a:chExt cx="8812218" cy="2336638"/>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FABD20D-EDD5-9A0B-26D3-5426930516B6}"/>
                    </a:ext>
                  </a:extLst>
                </p:cNvPr>
                <p:cNvSpPr/>
                <p:nvPr/>
              </p:nvSpPr>
              <p:spPr>
                <a:xfrm>
                  <a:off x="3861731" y="4783551"/>
                  <a:ext cx="472762" cy="124048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4" name="Rectangle 3">
                  <a:extLst>
                    <a:ext uri="{FF2B5EF4-FFF2-40B4-BE49-F238E27FC236}">
                      <a16:creationId xmlns:a16="http://schemas.microsoft.com/office/drawing/2014/main" id="{2096E838-5120-1CCE-0F0D-419C71EBF3DD}"/>
                    </a:ext>
                  </a:extLst>
                </p:cNvPr>
                <p:cNvSpPr>
                  <a:spLocks noRot="1" noChangeAspect="1" noMove="1" noResize="1" noEditPoints="1" noAdjustHandles="1" noChangeArrowheads="1" noChangeShapeType="1" noTextEdit="1"/>
                </p:cNvSpPr>
                <p:nvPr/>
              </p:nvSpPr>
              <p:spPr>
                <a:xfrm>
                  <a:off x="3861731" y="4783551"/>
                  <a:ext cx="472762" cy="12404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DE8758C-58E5-7031-B64E-00C523675B9D}"/>
                    </a:ext>
                  </a:extLst>
                </p:cNvPr>
                <p:cNvSpPr/>
                <p:nvPr/>
              </p:nvSpPr>
              <p:spPr>
                <a:xfrm>
                  <a:off x="4405818" y="4783551"/>
                  <a:ext cx="1175583" cy="47570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5" name="Rectangle 4">
                  <a:extLst>
                    <a:ext uri="{FF2B5EF4-FFF2-40B4-BE49-F238E27FC236}">
                      <a16:creationId xmlns:a16="http://schemas.microsoft.com/office/drawing/2014/main" id="{E1412D71-1D49-BC32-58AA-848907795F8F}"/>
                    </a:ext>
                  </a:extLst>
                </p:cNvPr>
                <p:cNvSpPr>
                  <a:spLocks noRot="1" noChangeAspect="1" noMove="1" noResize="1" noEditPoints="1" noAdjustHandles="1" noChangeArrowheads="1" noChangeShapeType="1" noTextEdit="1"/>
                </p:cNvSpPr>
                <p:nvPr/>
              </p:nvSpPr>
              <p:spPr>
                <a:xfrm>
                  <a:off x="4405818" y="4783551"/>
                  <a:ext cx="1175583" cy="475708"/>
                </a:xfrm>
                <a:prstGeom prst="rect">
                  <a:avLst/>
                </a:prstGeom>
                <a:blipFill>
                  <a:blip r:embed="rId5"/>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168BB048-B6D5-A276-3763-FCC29E7E6FCF}"/>
                </a:ext>
              </a:extLst>
            </p:cNvPr>
            <p:cNvSpPr/>
            <p:nvPr/>
          </p:nvSpPr>
          <p:spPr>
            <a:xfrm>
              <a:off x="6253261" y="4783551"/>
              <a:ext cx="1502099" cy="1240482"/>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bg2">
                    <a:lumMod val="75000"/>
                  </a:schemeClr>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246DFD4-00D5-6B6A-A5C3-37A1BB9B2A6A}"/>
                    </a:ext>
                  </a:extLst>
                </p:cNvPr>
                <p:cNvSpPr txBox="1"/>
                <p:nvPr/>
              </p:nvSpPr>
              <p:spPr>
                <a:xfrm>
                  <a:off x="6754153" y="5172958"/>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2400" b="1" dirty="0">
                    <a:solidFill>
                      <a:schemeClr val="bg1"/>
                    </a:solidFill>
                  </a:endParaRPr>
                </a:p>
              </p:txBody>
            </p:sp>
          </mc:Choice>
          <mc:Fallback xmlns="">
            <p:sp>
              <p:nvSpPr>
                <p:cNvPr id="7" name="TextBox 6">
                  <a:extLst>
                    <a:ext uri="{FF2B5EF4-FFF2-40B4-BE49-F238E27FC236}">
                      <a16:creationId xmlns:a16="http://schemas.microsoft.com/office/drawing/2014/main" id="{DB91E524-8B6B-1B8B-F92E-D5980D918A51}"/>
                    </a:ext>
                  </a:extLst>
                </p:cNvPr>
                <p:cNvSpPr txBox="1">
                  <a:spLocks noRot="1" noChangeAspect="1" noMove="1" noResize="1" noEditPoints="1" noAdjustHandles="1" noChangeArrowheads="1" noChangeShapeType="1" noTextEdit="1"/>
                </p:cNvSpPr>
                <p:nvPr/>
              </p:nvSpPr>
              <p:spPr>
                <a:xfrm>
                  <a:off x="6754153" y="5172958"/>
                  <a:ext cx="50031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AF6C6E-09EE-7206-B478-0439DF293C30}"/>
                    </a:ext>
                  </a:extLst>
                </p:cNvPr>
                <p:cNvSpPr txBox="1"/>
                <p:nvPr/>
              </p:nvSpPr>
              <p:spPr>
                <a:xfrm>
                  <a:off x="5648522" y="5267890"/>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8" name="TextBox 7">
                  <a:extLst>
                    <a:ext uri="{FF2B5EF4-FFF2-40B4-BE49-F238E27FC236}">
                      <a16:creationId xmlns:a16="http://schemas.microsoft.com/office/drawing/2014/main" id="{5D881D42-E937-F37B-C3E1-C5CBDCC48C8E}"/>
                    </a:ext>
                  </a:extLst>
                </p:cNvPr>
                <p:cNvSpPr txBox="1">
                  <a:spLocks noRot="1" noChangeAspect="1" noMove="1" noResize="1" noEditPoints="1" noAdjustHandles="1" noChangeArrowheads="1" noChangeShapeType="1" noTextEdit="1"/>
                </p:cNvSpPr>
                <p:nvPr/>
              </p:nvSpPr>
              <p:spPr>
                <a:xfrm>
                  <a:off x="5648522" y="5267890"/>
                  <a:ext cx="500314" cy="461665"/>
                </a:xfrm>
                <a:prstGeom prst="rect">
                  <a:avLst/>
                </a:prstGeom>
                <a:blipFill>
                  <a:blip r:embed="rId7"/>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CDF8C124-061E-C7A9-52A5-AC243744139C}"/>
                </a:ext>
              </a:extLst>
            </p:cNvPr>
            <p:cNvCxnSpPr/>
            <p:nvPr/>
          </p:nvCxnSpPr>
          <p:spPr>
            <a:xfrm>
              <a:off x="3610099" y="4643252"/>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2C86D58E-0237-336C-82F4-4BE285DCE3F8}"/>
                </a:ext>
              </a:extLst>
            </p:cNvPr>
            <p:cNvCxnSpPr/>
            <p:nvPr/>
          </p:nvCxnSpPr>
          <p:spPr>
            <a:xfrm>
              <a:off x="3538849" y="4643251"/>
              <a:ext cx="0" cy="1603169"/>
            </a:xfrm>
            <a:prstGeom prst="line">
              <a:avLst/>
            </a:prstGeom>
          </p:spPr>
          <p:style>
            <a:lnRef idx="2">
              <a:schemeClr val="dk1"/>
            </a:lnRef>
            <a:fillRef idx="0">
              <a:schemeClr val="dk1"/>
            </a:fillRef>
            <a:effectRef idx="1">
              <a:schemeClr val="dk1"/>
            </a:effectRef>
            <a:fontRef idx="minor">
              <a:schemeClr val="tx1"/>
            </a:fontRef>
          </p:style>
        </p:cxnSp>
        <p:grpSp>
          <p:nvGrpSpPr>
            <p:cNvPr id="11" name="Group 10">
              <a:extLst>
                <a:ext uri="{FF2B5EF4-FFF2-40B4-BE49-F238E27FC236}">
                  <a16:creationId xmlns:a16="http://schemas.microsoft.com/office/drawing/2014/main" id="{DA3C8363-B426-35C7-A130-4D783DB9C5F3}"/>
                </a:ext>
              </a:extLst>
            </p:cNvPr>
            <p:cNvGrpSpPr/>
            <p:nvPr/>
          </p:nvGrpSpPr>
          <p:grpSpPr>
            <a:xfrm>
              <a:off x="7994318" y="4602207"/>
              <a:ext cx="71250" cy="1603170"/>
              <a:chOff x="3691249" y="4605646"/>
              <a:chExt cx="71250" cy="1603170"/>
            </a:xfrm>
          </p:grpSpPr>
          <p:cxnSp>
            <p:nvCxnSpPr>
              <p:cNvPr id="12" name="Straight Connector 11">
                <a:extLst>
                  <a:ext uri="{FF2B5EF4-FFF2-40B4-BE49-F238E27FC236}">
                    <a16:creationId xmlns:a16="http://schemas.microsoft.com/office/drawing/2014/main" id="{1FA2F8DC-718A-80BA-C686-1CE41B4A6495}"/>
                  </a:ext>
                </a:extLst>
              </p:cNvPr>
              <p:cNvCxnSpPr/>
              <p:nvPr/>
            </p:nvCxnSpPr>
            <p:spPr>
              <a:xfrm>
                <a:off x="3762499" y="46056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24BFCFD3-C451-F4CD-F34F-E37C8CD91095}"/>
                  </a:ext>
                </a:extLst>
              </p:cNvPr>
              <p:cNvCxnSpPr/>
              <p:nvPr/>
            </p:nvCxnSpPr>
            <p:spPr>
              <a:xfrm>
                <a:off x="3691249" y="46056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58F74E1-6B06-9EB8-E971-6A8CAB7CAC43}"/>
                    </a:ext>
                  </a:extLst>
                </p:cNvPr>
                <p:cNvSpPr txBox="1"/>
                <p:nvPr/>
              </p:nvSpPr>
              <p:spPr>
                <a:xfrm>
                  <a:off x="7786625" y="6006739"/>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oMath>
                    </m:oMathPara>
                  </a14:m>
                  <a:endParaRPr lang="en-US" dirty="0"/>
                </a:p>
              </p:txBody>
            </p:sp>
          </mc:Choice>
          <mc:Fallback xmlns="">
            <p:sp>
              <p:nvSpPr>
                <p:cNvPr id="14" name="TextBox 13">
                  <a:extLst>
                    <a:ext uri="{FF2B5EF4-FFF2-40B4-BE49-F238E27FC236}">
                      <a16:creationId xmlns:a16="http://schemas.microsoft.com/office/drawing/2014/main" id="{B646EBE4-276A-A4AA-70CA-02F729106245}"/>
                    </a:ext>
                  </a:extLst>
                </p:cNvPr>
                <p:cNvSpPr txBox="1">
                  <a:spLocks noRot="1" noChangeAspect="1" noMove="1" noResize="1" noEditPoints="1" noAdjustHandles="1" noChangeArrowheads="1" noChangeShapeType="1" noTextEdit="1"/>
                </p:cNvSpPr>
                <p:nvPr/>
              </p:nvSpPr>
              <p:spPr>
                <a:xfrm>
                  <a:off x="7786625" y="6006739"/>
                  <a:ext cx="85502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31E6086-CFB7-3C47-372E-1B630D36385D}"/>
                    </a:ext>
                  </a:extLst>
                </p:cNvPr>
                <p:cNvSpPr txBox="1"/>
                <p:nvPr/>
              </p:nvSpPr>
              <p:spPr>
                <a:xfrm>
                  <a:off x="7758917" y="4486586"/>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15" name="TextBox 14">
                  <a:extLst>
                    <a:ext uri="{FF2B5EF4-FFF2-40B4-BE49-F238E27FC236}">
                      <a16:creationId xmlns:a16="http://schemas.microsoft.com/office/drawing/2014/main" id="{D9A81284-F277-8B55-A53E-6B8F9F3BEE02}"/>
                    </a:ext>
                  </a:extLst>
                </p:cNvPr>
                <p:cNvSpPr txBox="1">
                  <a:spLocks noRot="1" noChangeAspect="1" noMove="1" noResize="1" noEditPoints="1" noAdjustHandles="1" noChangeArrowheads="1" noChangeShapeType="1" noTextEdit="1"/>
                </p:cNvSpPr>
                <p:nvPr/>
              </p:nvSpPr>
              <p:spPr>
                <a:xfrm>
                  <a:off x="7758917" y="4486586"/>
                  <a:ext cx="855021" cy="369332"/>
                </a:xfrm>
                <a:prstGeom prst="rect">
                  <a:avLst/>
                </a:prstGeom>
                <a:blipFill>
                  <a:blip r:embed="rId9"/>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BD01919D-4B45-C8B2-8270-79A7C691B847}"/>
                </a:ext>
              </a:extLst>
            </p:cNvPr>
            <p:cNvSpPr txBox="1"/>
            <p:nvPr/>
          </p:nvSpPr>
          <p:spPr>
            <a:xfrm>
              <a:off x="8580520" y="5219124"/>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17" name="TextBox 16">
              <a:extLst>
                <a:ext uri="{FF2B5EF4-FFF2-40B4-BE49-F238E27FC236}">
                  <a16:creationId xmlns:a16="http://schemas.microsoft.com/office/drawing/2014/main" id="{86EDDC3A-216F-3A5D-1D14-6874E1F72FD5}"/>
                </a:ext>
              </a:extLst>
            </p:cNvPr>
            <p:cNvSpPr txBox="1"/>
            <p:nvPr/>
          </p:nvSpPr>
          <p:spPr>
            <a:xfrm>
              <a:off x="8505961" y="6238449"/>
              <a:ext cx="3845106" cy="584775"/>
            </a:xfrm>
            <a:prstGeom prst="rect">
              <a:avLst/>
            </a:prstGeom>
            <a:solidFill>
              <a:schemeClr val="bg1"/>
            </a:solidFill>
          </p:spPr>
          <p:txBody>
            <a:bodyPr wrap="square" rtlCol="0">
              <a:spAutoFit/>
            </a:bodyPr>
            <a:lstStyle/>
            <a:p>
              <a:r>
                <a:rPr lang="en-US" sz="1600" dirty="0">
                  <a:solidFill>
                    <a:schemeClr val="accent5"/>
                  </a:solidFill>
                </a:rPr>
                <a:t>This notation means “</a:t>
              </a:r>
              <a:r>
                <a:rPr lang="en-US" sz="1600" dirty="0" err="1">
                  <a:solidFill>
                    <a:schemeClr val="accent5"/>
                  </a:solidFill>
                </a:rPr>
                <a:t>Frobenius</a:t>
              </a:r>
              <a:r>
                <a:rPr lang="en-US" sz="1600" dirty="0">
                  <a:solidFill>
                    <a:schemeClr val="accent5"/>
                  </a:solidFill>
                </a:rPr>
                <a:t> norm,” the sum of the squares of the entries.</a:t>
              </a:r>
            </a:p>
          </p:txBody>
        </p:sp>
        <p:cxnSp>
          <p:nvCxnSpPr>
            <p:cNvPr id="18" name="Straight Arrow Connector 17">
              <a:extLst>
                <a:ext uri="{FF2B5EF4-FFF2-40B4-BE49-F238E27FC236}">
                  <a16:creationId xmlns:a16="http://schemas.microsoft.com/office/drawing/2014/main" id="{442D782A-2EB8-22DC-E59E-A9A2D70E494E}"/>
                </a:ext>
              </a:extLst>
            </p:cNvPr>
            <p:cNvCxnSpPr>
              <a:stCxn id="17" idx="1"/>
            </p:cNvCxnSpPr>
            <p:nvPr/>
          </p:nvCxnSpPr>
          <p:spPr>
            <a:xfrm flipH="1" flipV="1">
              <a:off x="8325656" y="6246420"/>
              <a:ext cx="180305" cy="284417"/>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A581D73A-D12E-7C62-3D96-BD1C69DECE66}"/>
              </a:ext>
            </a:extLst>
          </p:cNvPr>
          <p:cNvGrpSpPr/>
          <p:nvPr/>
        </p:nvGrpSpPr>
        <p:grpSpPr>
          <a:xfrm>
            <a:off x="743465" y="4879305"/>
            <a:ext cx="10515600" cy="1994337"/>
            <a:chOff x="743465" y="4879305"/>
            <a:chExt cx="10515600" cy="1994337"/>
          </a:xfrm>
        </p:grpSpPr>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BAF4EBE5-2AA9-030E-3F98-2268A4AC344C}"/>
                    </a:ext>
                  </a:extLst>
                </p:cNvPr>
                <p:cNvSpPr txBox="1">
                  <a:spLocks/>
                </p:cNvSpPr>
                <p:nvPr/>
              </p:nvSpPr>
              <p:spPr>
                <a:xfrm>
                  <a:off x="743465" y="4879305"/>
                  <a:ext cx="10515600" cy="1492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Regression: </a:t>
                  </a:r>
                  <a:r>
                    <a:rPr lang="en-US" sz="2400" dirty="0"/>
                    <a:t>Given a vector </a:t>
                  </a:r>
                  <a14:m>
                    <m:oMath xmlns:m="http://schemas.openxmlformats.org/officeDocument/2006/math">
                      <m:r>
                        <a:rPr lang="en-US" sz="2400" b="1" i="1" dirty="0" smtClean="0">
                          <a:latin typeface="Cambria Math" panose="02040503050406030204" pitchFamily="18" charset="0"/>
                        </a:rPr>
                        <m:t>𝒚</m:t>
                      </m:r>
                    </m:oMath>
                  </a14:m>
                  <a:r>
                    <a:rPr lang="en-US" sz="2400" dirty="0"/>
                    <a:t> and an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oMath>
                  </a14:m>
                  <a:r>
                    <a:rPr lang="en-US" sz="2400" dirty="0"/>
                    <a:t>, find </a:t>
                  </a:r>
                  <a14:m>
                    <m:oMath xmlns:m="http://schemas.openxmlformats.org/officeDocument/2006/math">
                      <m:r>
                        <a:rPr lang="en-US" sz="2400" b="1" i="1" smtClean="0">
                          <a:latin typeface="Cambria Math" panose="02040503050406030204" pitchFamily="18" charset="0"/>
                        </a:rPr>
                        <m:t>𝜷</m:t>
                      </m:r>
                    </m:oMath>
                  </a14:m>
                  <a:r>
                    <a:rPr lang="en-US" sz="2400" dirty="0"/>
                    <a:t> so that: </a:t>
                  </a:r>
                </a:p>
                <a:p>
                  <a:endParaRPr lang="en-US" sz="2400" dirty="0"/>
                </a:p>
              </p:txBody>
            </p:sp>
          </mc:Choice>
          <mc:Fallback xmlns="">
            <p:sp>
              <p:nvSpPr>
                <p:cNvPr id="20" name="Content Placeholder 2">
                  <a:extLst>
                    <a:ext uri="{FF2B5EF4-FFF2-40B4-BE49-F238E27FC236}">
                      <a16:creationId xmlns:a16="http://schemas.microsoft.com/office/drawing/2014/main" id="{06D39ABB-1E4A-F53D-D334-92CD8CF6F9E1}"/>
                    </a:ext>
                  </a:extLst>
                </p:cNvPr>
                <p:cNvSpPr txBox="1">
                  <a:spLocks noRot="1" noChangeAspect="1" noMove="1" noResize="1" noEditPoints="1" noAdjustHandles="1" noChangeArrowheads="1" noChangeShapeType="1" noTextEdit="1"/>
                </p:cNvSpPr>
                <p:nvPr/>
              </p:nvSpPr>
              <p:spPr>
                <a:xfrm>
                  <a:off x="743465" y="4879305"/>
                  <a:ext cx="10515600" cy="1492363"/>
                </a:xfrm>
                <a:prstGeom prst="rect">
                  <a:avLst/>
                </a:prstGeom>
                <a:blipFill>
                  <a:blip r:embed="rId10"/>
                  <a:stretch>
                    <a:fillRect l="-844" t="-5932"/>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E41EDA4A-BD08-626E-FB93-34FBF2B3A606}"/>
                </a:ext>
              </a:extLst>
            </p:cNvPr>
            <p:cNvGrpSpPr/>
            <p:nvPr/>
          </p:nvGrpSpPr>
          <p:grpSpPr>
            <a:xfrm>
              <a:off x="2391277" y="5464569"/>
              <a:ext cx="45719" cy="1165702"/>
              <a:chOff x="2220795" y="2569746"/>
              <a:chExt cx="71250" cy="1603170"/>
            </a:xfrm>
          </p:grpSpPr>
          <p:cxnSp>
            <p:nvCxnSpPr>
              <p:cNvPr id="21" name="Straight Connector 20">
                <a:extLst>
                  <a:ext uri="{FF2B5EF4-FFF2-40B4-BE49-F238E27FC236}">
                    <a16:creationId xmlns:a16="http://schemas.microsoft.com/office/drawing/2014/main" id="{70A8A6EC-95C2-982D-3326-6978B8770FAE}"/>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D06AC78B-64FB-EF51-FF88-7DC41A33C4BD}"/>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C72E602-FE2C-13AE-E311-AEFC77C1DA7E}"/>
                    </a:ext>
                  </a:extLst>
                </p:cNvPr>
                <p:cNvSpPr/>
                <p:nvPr/>
              </p:nvSpPr>
              <p:spPr>
                <a:xfrm>
                  <a:off x="2620108" y="5513585"/>
                  <a:ext cx="461747" cy="106767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24" name="Rectangle 23">
                  <a:extLst>
                    <a:ext uri="{FF2B5EF4-FFF2-40B4-BE49-F238E27FC236}">
                      <a16:creationId xmlns:a16="http://schemas.microsoft.com/office/drawing/2014/main" id="{57154DA3-C0F7-2E23-B356-5D8FF6232292}"/>
                    </a:ext>
                  </a:extLst>
                </p:cNvPr>
                <p:cNvSpPr>
                  <a:spLocks noRot="1" noChangeAspect="1" noMove="1" noResize="1" noEditPoints="1" noAdjustHandles="1" noChangeArrowheads="1" noChangeShapeType="1" noTextEdit="1"/>
                </p:cNvSpPr>
                <p:nvPr/>
              </p:nvSpPr>
              <p:spPr>
                <a:xfrm>
                  <a:off x="2620108" y="5513585"/>
                  <a:ext cx="461747" cy="106767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339021D-EF1A-DA9D-4512-661FE032E62D}"/>
                    </a:ext>
                  </a:extLst>
                </p:cNvPr>
                <p:cNvSpPr/>
                <p:nvPr/>
              </p:nvSpPr>
              <p:spPr>
                <a:xfrm>
                  <a:off x="3176591" y="5515088"/>
                  <a:ext cx="227010" cy="57194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𝜷</m:t>
                        </m:r>
                      </m:oMath>
                    </m:oMathPara>
                  </a14:m>
                  <a:endParaRPr lang="en-US" sz="1000" b="1" dirty="0">
                    <a:solidFill>
                      <a:schemeClr val="tx1"/>
                    </a:solidFill>
                  </a:endParaRPr>
                </a:p>
              </p:txBody>
            </p:sp>
          </mc:Choice>
          <mc:Fallback xmlns="">
            <p:sp>
              <p:nvSpPr>
                <p:cNvPr id="25" name="Rectangle 24">
                  <a:extLst>
                    <a:ext uri="{FF2B5EF4-FFF2-40B4-BE49-F238E27FC236}">
                      <a16:creationId xmlns:a16="http://schemas.microsoft.com/office/drawing/2014/main" id="{596CA96C-EEC6-9A5A-55B4-A237D1E2C231}"/>
                    </a:ext>
                  </a:extLst>
                </p:cNvPr>
                <p:cNvSpPr>
                  <a:spLocks noRot="1" noChangeAspect="1" noMove="1" noResize="1" noEditPoints="1" noAdjustHandles="1" noChangeArrowheads="1" noChangeShapeType="1" noTextEdit="1"/>
                </p:cNvSpPr>
                <p:nvPr/>
              </p:nvSpPr>
              <p:spPr>
                <a:xfrm>
                  <a:off x="3176591" y="5515088"/>
                  <a:ext cx="227010" cy="571946"/>
                </a:xfrm>
                <a:prstGeom prst="rect">
                  <a:avLst/>
                </a:prstGeom>
                <a:blipFill>
                  <a:blip r:embed="rId12"/>
                  <a:stretch>
                    <a:fillRect l="-25000" r="-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A8B68D6-E08A-C011-FC01-6853B4AC9FC6}"/>
                    </a:ext>
                  </a:extLst>
                </p:cNvPr>
                <p:cNvSpPr/>
                <p:nvPr/>
              </p:nvSpPr>
              <p:spPr>
                <a:xfrm>
                  <a:off x="3815967" y="5513585"/>
                  <a:ext cx="223124" cy="1116685"/>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000" b="1" i="1" dirty="0" smtClean="0">
                            <a:solidFill>
                              <a:schemeClr val="bg1"/>
                            </a:solidFill>
                            <a:latin typeface="Cambria Math" panose="02040503050406030204" pitchFamily="18" charset="0"/>
                          </a:rPr>
                          <m:t>𝒚</m:t>
                        </m:r>
                      </m:oMath>
                    </m:oMathPara>
                  </a14:m>
                  <a:endParaRPr lang="en-US" sz="1000" b="1" dirty="0">
                    <a:solidFill>
                      <a:schemeClr val="bg2">
                        <a:lumMod val="75000"/>
                      </a:schemeClr>
                    </a:solidFill>
                  </a:endParaRPr>
                </a:p>
              </p:txBody>
            </p:sp>
          </mc:Choice>
          <mc:Fallback xmlns="">
            <p:sp>
              <p:nvSpPr>
                <p:cNvPr id="26" name="Rectangle 25">
                  <a:extLst>
                    <a:ext uri="{FF2B5EF4-FFF2-40B4-BE49-F238E27FC236}">
                      <a16:creationId xmlns:a16="http://schemas.microsoft.com/office/drawing/2014/main" id="{C1D0A1CD-1F7B-BC45-0A68-31F1E28FA1A5}"/>
                    </a:ext>
                  </a:extLst>
                </p:cNvPr>
                <p:cNvSpPr>
                  <a:spLocks noRot="1" noChangeAspect="1" noMove="1" noResize="1" noEditPoints="1" noAdjustHandles="1" noChangeArrowheads="1" noChangeShapeType="1" noTextEdit="1"/>
                </p:cNvSpPr>
                <p:nvPr/>
              </p:nvSpPr>
              <p:spPr>
                <a:xfrm>
                  <a:off x="3815967" y="5513585"/>
                  <a:ext cx="223124" cy="1116685"/>
                </a:xfrm>
                <a:prstGeom prst="rect">
                  <a:avLst/>
                </a:prstGeom>
                <a:blipFill>
                  <a:blip r:embed="rId1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C5E3099-43EB-7B1A-92D2-3581F48E9EA2}"/>
                    </a:ext>
                  </a:extLst>
                </p:cNvPr>
                <p:cNvSpPr txBox="1"/>
                <p:nvPr/>
              </p:nvSpPr>
              <p:spPr>
                <a:xfrm>
                  <a:off x="3359627" y="5887261"/>
                  <a:ext cx="5003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27" name="TextBox 26">
                  <a:extLst>
                    <a:ext uri="{FF2B5EF4-FFF2-40B4-BE49-F238E27FC236}">
                      <a16:creationId xmlns:a16="http://schemas.microsoft.com/office/drawing/2014/main" id="{CFF05D5D-DBBF-AFB7-29FD-967CCA1F5573}"/>
                    </a:ext>
                  </a:extLst>
                </p:cNvPr>
                <p:cNvSpPr txBox="1">
                  <a:spLocks noRot="1" noChangeAspect="1" noMove="1" noResize="1" noEditPoints="1" noAdjustHandles="1" noChangeArrowheads="1" noChangeShapeType="1" noTextEdit="1"/>
                </p:cNvSpPr>
                <p:nvPr/>
              </p:nvSpPr>
              <p:spPr>
                <a:xfrm>
                  <a:off x="3359627" y="5887261"/>
                  <a:ext cx="500314" cy="369332"/>
                </a:xfrm>
                <a:prstGeom prst="rect">
                  <a:avLst/>
                </a:prstGeom>
                <a:blipFill>
                  <a:blip r:embed="rId14"/>
                  <a:stretch>
                    <a:fillRect/>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FC098E02-8860-0FD2-AD35-B2849D5D7DA1}"/>
                </a:ext>
              </a:extLst>
            </p:cNvPr>
            <p:cNvGrpSpPr/>
            <p:nvPr/>
          </p:nvGrpSpPr>
          <p:grpSpPr>
            <a:xfrm>
              <a:off x="4226588" y="5505900"/>
              <a:ext cx="45719" cy="1165702"/>
              <a:chOff x="2220795" y="2569746"/>
              <a:chExt cx="71250" cy="1603170"/>
            </a:xfrm>
          </p:grpSpPr>
          <p:cxnSp>
            <p:nvCxnSpPr>
              <p:cNvPr id="29" name="Straight Connector 28">
                <a:extLst>
                  <a:ext uri="{FF2B5EF4-FFF2-40B4-BE49-F238E27FC236}">
                    <a16:creationId xmlns:a16="http://schemas.microsoft.com/office/drawing/2014/main" id="{51A92F42-6BBE-A8F2-F347-139BD71761A1}"/>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D9B5684C-F1F8-D96E-8922-AC6C88D778C5}"/>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B6BC394-3925-2C5B-F7A7-690D2F1EC8A6}"/>
                    </a:ext>
                  </a:extLst>
                </p:cNvPr>
                <p:cNvSpPr txBox="1"/>
                <p:nvPr/>
              </p:nvSpPr>
              <p:spPr>
                <a:xfrm>
                  <a:off x="3944355" y="5349601"/>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2" name="TextBox 31">
                  <a:extLst>
                    <a:ext uri="{FF2B5EF4-FFF2-40B4-BE49-F238E27FC236}">
                      <a16:creationId xmlns:a16="http://schemas.microsoft.com/office/drawing/2014/main" id="{A5EE070E-64DE-9362-8A14-2B88F4679B0E}"/>
                    </a:ext>
                  </a:extLst>
                </p:cNvPr>
                <p:cNvSpPr txBox="1">
                  <a:spLocks noRot="1" noChangeAspect="1" noMove="1" noResize="1" noEditPoints="1" noAdjustHandles="1" noChangeArrowheads="1" noChangeShapeType="1" noTextEdit="1"/>
                </p:cNvSpPr>
                <p:nvPr/>
              </p:nvSpPr>
              <p:spPr>
                <a:xfrm>
                  <a:off x="3944355" y="5349601"/>
                  <a:ext cx="855021"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23B4CEF-A280-5DED-F806-BD03C8902FD6}"/>
                    </a:ext>
                  </a:extLst>
                </p:cNvPr>
                <p:cNvSpPr txBox="1"/>
                <p:nvPr/>
              </p:nvSpPr>
              <p:spPr>
                <a:xfrm>
                  <a:off x="3949501" y="6473928"/>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3" name="TextBox 32">
                  <a:extLst>
                    <a:ext uri="{FF2B5EF4-FFF2-40B4-BE49-F238E27FC236}">
                      <a16:creationId xmlns:a16="http://schemas.microsoft.com/office/drawing/2014/main" id="{5F23C22A-06DE-15A0-756F-A132139E22BE}"/>
                    </a:ext>
                  </a:extLst>
                </p:cNvPr>
                <p:cNvSpPr txBox="1">
                  <a:spLocks noRot="1" noChangeAspect="1" noMove="1" noResize="1" noEditPoints="1" noAdjustHandles="1" noChangeArrowheads="1" noChangeShapeType="1" noTextEdit="1"/>
                </p:cNvSpPr>
                <p:nvPr/>
              </p:nvSpPr>
              <p:spPr>
                <a:xfrm>
                  <a:off x="3949501" y="6473928"/>
                  <a:ext cx="855021" cy="369332"/>
                </a:xfrm>
                <a:prstGeom prst="rect">
                  <a:avLst/>
                </a:prstGeom>
                <a:blipFill>
                  <a:blip r:embed="rId16"/>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75A3CBF9-FFAE-F28B-2ED0-E04379361841}"/>
                </a:ext>
              </a:extLst>
            </p:cNvPr>
            <p:cNvSpPr txBox="1"/>
            <p:nvPr/>
          </p:nvSpPr>
          <p:spPr>
            <a:xfrm>
              <a:off x="4495431" y="5833843"/>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35" name="TextBox 34">
              <a:extLst>
                <a:ext uri="{FF2B5EF4-FFF2-40B4-BE49-F238E27FC236}">
                  <a16:creationId xmlns:a16="http://schemas.microsoft.com/office/drawing/2014/main" id="{DC84ECFE-E960-23A4-846A-E4D66CC3E170}"/>
                </a:ext>
              </a:extLst>
            </p:cNvPr>
            <p:cNvSpPr txBox="1"/>
            <p:nvPr/>
          </p:nvSpPr>
          <p:spPr>
            <a:xfrm>
              <a:off x="5172324" y="6288867"/>
              <a:ext cx="3845106" cy="584775"/>
            </a:xfrm>
            <a:prstGeom prst="rect">
              <a:avLst/>
            </a:prstGeom>
            <a:solidFill>
              <a:schemeClr val="bg1"/>
            </a:solidFill>
          </p:spPr>
          <p:txBody>
            <a:bodyPr wrap="square" rtlCol="0">
              <a:spAutoFit/>
            </a:bodyPr>
            <a:lstStyle/>
            <a:p>
              <a:r>
                <a:rPr lang="en-US" sz="1600" dirty="0">
                  <a:solidFill>
                    <a:schemeClr val="accent5"/>
                  </a:solidFill>
                </a:rPr>
                <a:t>This notation also means the sum of the squares of the entries.</a:t>
              </a:r>
            </a:p>
          </p:txBody>
        </p:sp>
        <p:cxnSp>
          <p:nvCxnSpPr>
            <p:cNvPr id="36" name="Straight Arrow Connector 35">
              <a:extLst>
                <a:ext uri="{FF2B5EF4-FFF2-40B4-BE49-F238E27FC236}">
                  <a16:creationId xmlns:a16="http://schemas.microsoft.com/office/drawing/2014/main" id="{8BA96F20-B62F-55C4-82B9-A80F740F1BE5}"/>
                </a:ext>
              </a:extLst>
            </p:cNvPr>
            <p:cNvCxnSpPr>
              <a:cxnSpLocks/>
              <a:stCxn id="35" idx="1"/>
            </p:cNvCxnSpPr>
            <p:nvPr/>
          </p:nvCxnSpPr>
          <p:spPr>
            <a:xfrm flipH="1">
              <a:off x="4503676" y="6581255"/>
              <a:ext cx="668648" cy="72399"/>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C61A0B4C-7F01-EBDD-2DF5-7CA8C04EB869}"/>
              </a:ext>
            </a:extLst>
          </p:cNvPr>
          <p:cNvGrpSpPr/>
          <p:nvPr/>
        </p:nvGrpSpPr>
        <p:grpSpPr>
          <a:xfrm>
            <a:off x="10089546" y="151611"/>
            <a:ext cx="1833435" cy="2206361"/>
            <a:chOff x="10089546" y="151611"/>
            <a:chExt cx="1833435" cy="2206361"/>
          </a:xfrm>
        </p:grpSpPr>
        <p:pic>
          <p:nvPicPr>
            <p:cNvPr id="38" name="Picture 37">
              <a:extLst>
                <a:ext uri="{FF2B5EF4-FFF2-40B4-BE49-F238E27FC236}">
                  <a16:creationId xmlns:a16="http://schemas.microsoft.com/office/drawing/2014/main" id="{77008A75-E256-7649-5A09-2270FE943E62}"/>
                </a:ext>
              </a:extLst>
            </p:cNvPr>
            <p:cNvPicPr>
              <a:picLocks noChangeAspect="1"/>
            </p:cNvPicPr>
            <p:nvPr/>
          </p:nvPicPr>
          <p:blipFill>
            <a:blip r:embed="rId17"/>
            <a:stretch>
              <a:fillRect/>
            </a:stretch>
          </p:blipFill>
          <p:spPr>
            <a:xfrm>
              <a:off x="10089546" y="151611"/>
              <a:ext cx="1814875" cy="1609066"/>
            </a:xfrm>
            <a:prstGeom prst="rect">
              <a:avLst/>
            </a:prstGeom>
          </p:spPr>
        </p:pic>
        <p:sp>
          <p:nvSpPr>
            <p:cNvPr id="39" name="TextBox 38">
              <a:extLst>
                <a:ext uri="{FF2B5EF4-FFF2-40B4-BE49-F238E27FC236}">
                  <a16:creationId xmlns:a16="http://schemas.microsoft.com/office/drawing/2014/main" id="{8B6AC6AA-37FD-5FB8-F6CE-FB98A8E2BAB6}"/>
                </a:ext>
              </a:extLst>
            </p:cNvPr>
            <p:cNvSpPr txBox="1"/>
            <p:nvPr/>
          </p:nvSpPr>
          <p:spPr>
            <a:xfrm>
              <a:off x="10319657" y="1834752"/>
              <a:ext cx="1603324" cy="523220"/>
            </a:xfrm>
            <a:prstGeom prst="rect">
              <a:avLst/>
            </a:prstGeom>
            <a:noFill/>
          </p:spPr>
          <p:txBody>
            <a:bodyPr wrap="none" rtlCol="0">
              <a:spAutoFit/>
            </a:bodyPr>
            <a:lstStyle/>
            <a:p>
              <a:r>
                <a:rPr lang="en-US" sz="2800" b="1" dirty="0">
                  <a:solidFill>
                    <a:schemeClr val="accent1"/>
                  </a:solidFill>
                </a:rPr>
                <a:t>Discuss!</a:t>
              </a:r>
            </a:p>
          </p:txBody>
        </p:sp>
      </p:grpSp>
    </p:spTree>
    <p:extLst>
      <p:ext uri="{BB962C8B-B14F-4D97-AF65-F5344CB8AC3E}">
        <p14:creationId xmlns:p14="http://schemas.microsoft.com/office/powerpoint/2010/main" val="724648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2596-8B08-BE40-A2D7-148D2184FC70}"/>
              </a:ext>
            </a:extLst>
          </p:cNvPr>
          <p:cNvSpPr>
            <a:spLocks noGrp="1"/>
          </p:cNvSpPr>
          <p:nvPr>
            <p:ph type="title"/>
          </p:nvPr>
        </p:nvSpPr>
        <p:spPr>
          <a:xfrm>
            <a:off x="838200" y="365125"/>
            <a:ext cx="8402782" cy="1325563"/>
          </a:xfrm>
        </p:spPr>
        <p:txBody>
          <a:bodyPr/>
          <a:lstStyle/>
          <a:p>
            <a:r>
              <a:rPr lang="en-US" dirty="0"/>
              <a:t>What are the differences between this and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E53E4C-5E2D-1250-86DE-439896F002D4}"/>
                  </a:ext>
                </a:extLst>
              </p:cNvPr>
              <p:cNvSpPr>
                <a:spLocks noGrp="1"/>
              </p:cNvSpPr>
              <p:nvPr>
                <p:ph idx="1"/>
              </p:nvPr>
            </p:nvSpPr>
            <p:spPr/>
            <p:txBody>
              <a:bodyPr>
                <a:normAutofit/>
              </a:bodyPr>
              <a:lstStyle/>
              <a:p>
                <a:r>
                  <a:rPr lang="en-US" sz="2400" dirty="0"/>
                  <a:t>Given a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𝒀</m:t>
                    </m:r>
                  </m:oMath>
                </a14:m>
                <a:r>
                  <a:rPr lang="en-US" sz="2400" dirty="0"/>
                  <a:t>, find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r>
                      <a:rPr lang="en-US" sz="2400" i="1" dirty="0">
                        <a:latin typeface="Cambria Math" panose="02040503050406030204" pitchFamily="18" charset="0"/>
                      </a:rPr>
                      <m:t> </m:t>
                    </m:r>
                  </m:oMath>
                </a14:m>
                <a:r>
                  <a:rPr lang="en-US" sz="2400" dirty="0"/>
                  <a:t>and </a:t>
                </a:r>
                <a14:m>
                  <m:oMath xmlns:m="http://schemas.openxmlformats.org/officeDocument/2006/math">
                    <m:r>
                      <a:rPr lang="en-US" sz="2400" b="0" i="1" smtClean="0">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𝑩</m:t>
                    </m:r>
                  </m:oMath>
                </a14:m>
                <a:r>
                  <a:rPr lang="en-US" sz="2400" dirty="0"/>
                  <a:t> so that:</a:t>
                </a:r>
              </a:p>
              <a:p>
                <a:endParaRPr lang="en-US" sz="2400" dirty="0"/>
              </a:p>
            </p:txBody>
          </p:sp>
        </mc:Choice>
        <mc:Fallback xmlns="">
          <p:sp>
            <p:nvSpPr>
              <p:cNvPr id="3" name="Content Placeholder 2">
                <a:extLst>
                  <a:ext uri="{FF2B5EF4-FFF2-40B4-BE49-F238E27FC236}">
                    <a16:creationId xmlns:a16="http://schemas.microsoft.com/office/drawing/2014/main" id="{23E53E4C-5E2D-1250-86DE-439896F002D4}"/>
                  </a:ext>
                </a:extLst>
              </p:cNvPr>
              <p:cNvSpPr>
                <a:spLocks noGrp="1" noRot="1" noChangeAspect="1" noMove="1" noResize="1" noEditPoints="1" noAdjustHandles="1" noChangeArrowheads="1" noChangeShapeType="1" noTextEdit="1"/>
              </p:cNvSpPr>
              <p:nvPr>
                <p:ph idx="1"/>
              </p:nvPr>
            </p:nvSpPr>
            <p:spPr>
              <a:blipFill>
                <a:blip r:embed="rId3"/>
                <a:stretch>
                  <a:fillRect l="-844" t="-2035"/>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E3E97507-F965-7F5F-14DD-5F44EE9A7343}"/>
              </a:ext>
            </a:extLst>
          </p:cNvPr>
          <p:cNvGrpSpPr/>
          <p:nvPr/>
        </p:nvGrpSpPr>
        <p:grpSpPr>
          <a:xfrm>
            <a:off x="2068395" y="2260681"/>
            <a:ext cx="8812218" cy="2336638"/>
            <a:chOff x="3538849" y="4486586"/>
            <a:chExt cx="8812218" cy="2336638"/>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096E838-5120-1CCE-0F0D-419C71EBF3DD}"/>
                    </a:ext>
                  </a:extLst>
                </p:cNvPr>
                <p:cNvSpPr/>
                <p:nvPr/>
              </p:nvSpPr>
              <p:spPr>
                <a:xfrm>
                  <a:off x="3861731" y="4783551"/>
                  <a:ext cx="472762" cy="124048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4" name="Rectangle 3">
                  <a:extLst>
                    <a:ext uri="{FF2B5EF4-FFF2-40B4-BE49-F238E27FC236}">
                      <a16:creationId xmlns:a16="http://schemas.microsoft.com/office/drawing/2014/main" id="{2096E838-5120-1CCE-0F0D-419C71EBF3DD}"/>
                    </a:ext>
                  </a:extLst>
                </p:cNvPr>
                <p:cNvSpPr>
                  <a:spLocks noRot="1" noChangeAspect="1" noMove="1" noResize="1" noEditPoints="1" noAdjustHandles="1" noChangeArrowheads="1" noChangeShapeType="1" noTextEdit="1"/>
                </p:cNvSpPr>
                <p:nvPr/>
              </p:nvSpPr>
              <p:spPr>
                <a:xfrm>
                  <a:off x="3861731" y="4783551"/>
                  <a:ext cx="472762" cy="12404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1412D71-1D49-BC32-58AA-848907795F8F}"/>
                    </a:ext>
                  </a:extLst>
                </p:cNvPr>
                <p:cNvSpPr/>
                <p:nvPr/>
              </p:nvSpPr>
              <p:spPr>
                <a:xfrm>
                  <a:off x="4405818" y="4783551"/>
                  <a:ext cx="1175583" cy="47570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5" name="Rectangle 4">
                  <a:extLst>
                    <a:ext uri="{FF2B5EF4-FFF2-40B4-BE49-F238E27FC236}">
                      <a16:creationId xmlns:a16="http://schemas.microsoft.com/office/drawing/2014/main" id="{E1412D71-1D49-BC32-58AA-848907795F8F}"/>
                    </a:ext>
                  </a:extLst>
                </p:cNvPr>
                <p:cNvSpPr>
                  <a:spLocks noRot="1" noChangeAspect="1" noMove="1" noResize="1" noEditPoints="1" noAdjustHandles="1" noChangeArrowheads="1" noChangeShapeType="1" noTextEdit="1"/>
                </p:cNvSpPr>
                <p:nvPr/>
              </p:nvSpPr>
              <p:spPr>
                <a:xfrm>
                  <a:off x="4405818" y="4783551"/>
                  <a:ext cx="1175583" cy="475708"/>
                </a:xfrm>
                <a:prstGeom prst="rect">
                  <a:avLst/>
                </a:prstGeom>
                <a:blipFill>
                  <a:blip r:embed="rId5"/>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6AF77D06-0DC2-F123-810D-0F89CEEA4DBB}"/>
                </a:ext>
              </a:extLst>
            </p:cNvPr>
            <p:cNvSpPr/>
            <p:nvPr/>
          </p:nvSpPr>
          <p:spPr>
            <a:xfrm>
              <a:off x="6253261" y="4783551"/>
              <a:ext cx="1502099" cy="1240482"/>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bg2">
                    <a:lumMod val="75000"/>
                  </a:schemeClr>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91E524-8B6B-1B8B-F92E-D5980D918A51}"/>
                    </a:ext>
                  </a:extLst>
                </p:cNvPr>
                <p:cNvSpPr txBox="1"/>
                <p:nvPr/>
              </p:nvSpPr>
              <p:spPr>
                <a:xfrm>
                  <a:off x="6754153" y="5172958"/>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2400" b="1" dirty="0">
                    <a:solidFill>
                      <a:schemeClr val="bg1"/>
                    </a:solidFill>
                  </a:endParaRPr>
                </a:p>
              </p:txBody>
            </p:sp>
          </mc:Choice>
          <mc:Fallback xmlns="">
            <p:sp>
              <p:nvSpPr>
                <p:cNvPr id="7" name="TextBox 6">
                  <a:extLst>
                    <a:ext uri="{FF2B5EF4-FFF2-40B4-BE49-F238E27FC236}">
                      <a16:creationId xmlns:a16="http://schemas.microsoft.com/office/drawing/2014/main" id="{DB91E524-8B6B-1B8B-F92E-D5980D918A51}"/>
                    </a:ext>
                  </a:extLst>
                </p:cNvPr>
                <p:cNvSpPr txBox="1">
                  <a:spLocks noRot="1" noChangeAspect="1" noMove="1" noResize="1" noEditPoints="1" noAdjustHandles="1" noChangeArrowheads="1" noChangeShapeType="1" noTextEdit="1"/>
                </p:cNvSpPr>
                <p:nvPr/>
              </p:nvSpPr>
              <p:spPr>
                <a:xfrm>
                  <a:off x="6754153" y="5172958"/>
                  <a:ext cx="50031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D881D42-E937-F37B-C3E1-C5CBDCC48C8E}"/>
                    </a:ext>
                  </a:extLst>
                </p:cNvPr>
                <p:cNvSpPr txBox="1"/>
                <p:nvPr/>
              </p:nvSpPr>
              <p:spPr>
                <a:xfrm>
                  <a:off x="5648522" y="5267890"/>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8" name="TextBox 7">
                  <a:extLst>
                    <a:ext uri="{FF2B5EF4-FFF2-40B4-BE49-F238E27FC236}">
                      <a16:creationId xmlns:a16="http://schemas.microsoft.com/office/drawing/2014/main" id="{5D881D42-E937-F37B-C3E1-C5CBDCC48C8E}"/>
                    </a:ext>
                  </a:extLst>
                </p:cNvPr>
                <p:cNvSpPr txBox="1">
                  <a:spLocks noRot="1" noChangeAspect="1" noMove="1" noResize="1" noEditPoints="1" noAdjustHandles="1" noChangeArrowheads="1" noChangeShapeType="1" noTextEdit="1"/>
                </p:cNvSpPr>
                <p:nvPr/>
              </p:nvSpPr>
              <p:spPr>
                <a:xfrm>
                  <a:off x="5648522" y="5267890"/>
                  <a:ext cx="500314" cy="461665"/>
                </a:xfrm>
                <a:prstGeom prst="rect">
                  <a:avLst/>
                </a:prstGeom>
                <a:blipFill>
                  <a:blip r:embed="rId7"/>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233EF1C6-54A4-C819-F9E6-A7D65A936A92}"/>
                </a:ext>
              </a:extLst>
            </p:cNvPr>
            <p:cNvCxnSpPr/>
            <p:nvPr/>
          </p:nvCxnSpPr>
          <p:spPr>
            <a:xfrm>
              <a:off x="3610099" y="4643252"/>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DC7A8262-2BA3-AAF6-7C06-6F22F1AFE9F2}"/>
                </a:ext>
              </a:extLst>
            </p:cNvPr>
            <p:cNvCxnSpPr/>
            <p:nvPr/>
          </p:nvCxnSpPr>
          <p:spPr>
            <a:xfrm>
              <a:off x="3538849" y="4643251"/>
              <a:ext cx="0" cy="1603169"/>
            </a:xfrm>
            <a:prstGeom prst="line">
              <a:avLst/>
            </a:prstGeom>
          </p:spPr>
          <p:style>
            <a:lnRef idx="2">
              <a:schemeClr val="dk1"/>
            </a:lnRef>
            <a:fillRef idx="0">
              <a:schemeClr val="dk1"/>
            </a:fillRef>
            <a:effectRef idx="1">
              <a:schemeClr val="dk1"/>
            </a:effectRef>
            <a:fontRef idx="minor">
              <a:schemeClr val="tx1"/>
            </a:fontRef>
          </p:style>
        </p:cxnSp>
        <p:grpSp>
          <p:nvGrpSpPr>
            <p:cNvPr id="11" name="Group 10">
              <a:extLst>
                <a:ext uri="{FF2B5EF4-FFF2-40B4-BE49-F238E27FC236}">
                  <a16:creationId xmlns:a16="http://schemas.microsoft.com/office/drawing/2014/main" id="{301D1E11-425F-D249-0F43-1501A22E2EA7}"/>
                </a:ext>
              </a:extLst>
            </p:cNvPr>
            <p:cNvGrpSpPr/>
            <p:nvPr/>
          </p:nvGrpSpPr>
          <p:grpSpPr>
            <a:xfrm>
              <a:off x="7994318" y="4602207"/>
              <a:ext cx="71250" cy="1603170"/>
              <a:chOff x="3691249" y="4605646"/>
              <a:chExt cx="71250" cy="1603170"/>
            </a:xfrm>
          </p:grpSpPr>
          <p:cxnSp>
            <p:nvCxnSpPr>
              <p:cNvPr id="12" name="Straight Connector 11">
                <a:extLst>
                  <a:ext uri="{FF2B5EF4-FFF2-40B4-BE49-F238E27FC236}">
                    <a16:creationId xmlns:a16="http://schemas.microsoft.com/office/drawing/2014/main" id="{E8596643-46D8-7976-B430-01B24A3187C2}"/>
                  </a:ext>
                </a:extLst>
              </p:cNvPr>
              <p:cNvCxnSpPr/>
              <p:nvPr/>
            </p:nvCxnSpPr>
            <p:spPr>
              <a:xfrm>
                <a:off x="3762499" y="46056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201E90B1-8C0D-A8BB-6A4D-5950A6FB7ECB}"/>
                  </a:ext>
                </a:extLst>
              </p:cNvPr>
              <p:cNvCxnSpPr/>
              <p:nvPr/>
            </p:nvCxnSpPr>
            <p:spPr>
              <a:xfrm>
                <a:off x="3691249" y="46056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646EBE4-276A-A4AA-70CA-02F729106245}"/>
                    </a:ext>
                  </a:extLst>
                </p:cNvPr>
                <p:cNvSpPr txBox="1"/>
                <p:nvPr/>
              </p:nvSpPr>
              <p:spPr>
                <a:xfrm>
                  <a:off x="7786625" y="6006739"/>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oMath>
                    </m:oMathPara>
                  </a14:m>
                  <a:endParaRPr lang="en-US" dirty="0"/>
                </a:p>
              </p:txBody>
            </p:sp>
          </mc:Choice>
          <mc:Fallback xmlns="">
            <p:sp>
              <p:nvSpPr>
                <p:cNvPr id="14" name="TextBox 13">
                  <a:extLst>
                    <a:ext uri="{FF2B5EF4-FFF2-40B4-BE49-F238E27FC236}">
                      <a16:creationId xmlns:a16="http://schemas.microsoft.com/office/drawing/2014/main" id="{B646EBE4-276A-A4AA-70CA-02F729106245}"/>
                    </a:ext>
                  </a:extLst>
                </p:cNvPr>
                <p:cNvSpPr txBox="1">
                  <a:spLocks noRot="1" noChangeAspect="1" noMove="1" noResize="1" noEditPoints="1" noAdjustHandles="1" noChangeArrowheads="1" noChangeShapeType="1" noTextEdit="1"/>
                </p:cNvSpPr>
                <p:nvPr/>
              </p:nvSpPr>
              <p:spPr>
                <a:xfrm>
                  <a:off x="7786625" y="6006739"/>
                  <a:ext cx="85502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9A81284-F277-8B55-A53E-6B8F9F3BEE02}"/>
                    </a:ext>
                  </a:extLst>
                </p:cNvPr>
                <p:cNvSpPr txBox="1"/>
                <p:nvPr/>
              </p:nvSpPr>
              <p:spPr>
                <a:xfrm>
                  <a:off x="7758917" y="4486586"/>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15" name="TextBox 14">
                  <a:extLst>
                    <a:ext uri="{FF2B5EF4-FFF2-40B4-BE49-F238E27FC236}">
                      <a16:creationId xmlns:a16="http://schemas.microsoft.com/office/drawing/2014/main" id="{D9A81284-F277-8B55-A53E-6B8F9F3BEE02}"/>
                    </a:ext>
                  </a:extLst>
                </p:cNvPr>
                <p:cNvSpPr txBox="1">
                  <a:spLocks noRot="1" noChangeAspect="1" noMove="1" noResize="1" noEditPoints="1" noAdjustHandles="1" noChangeArrowheads="1" noChangeShapeType="1" noTextEdit="1"/>
                </p:cNvSpPr>
                <p:nvPr/>
              </p:nvSpPr>
              <p:spPr>
                <a:xfrm>
                  <a:off x="7758917" y="4486586"/>
                  <a:ext cx="855021" cy="369332"/>
                </a:xfrm>
                <a:prstGeom prst="rect">
                  <a:avLst/>
                </a:prstGeom>
                <a:blipFill>
                  <a:blip r:embed="rId9"/>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549207E-855C-437C-FD04-CCF775E43E25}"/>
                </a:ext>
              </a:extLst>
            </p:cNvPr>
            <p:cNvSpPr txBox="1"/>
            <p:nvPr/>
          </p:nvSpPr>
          <p:spPr>
            <a:xfrm>
              <a:off x="8580520" y="5219124"/>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17" name="TextBox 16">
              <a:extLst>
                <a:ext uri="{FF2B5EF4-FFF2-40B4-BE49-F238E27FC236}">
                  <a16:creationId xmlns:a16="http://schemas.microsoft.com/office/drawing/2014/main" id="{816E94D8-BDB5-C237-9E3D-CAF7762441EC}"/>
                </a:ext>
              </a:extLst>
            </p:cNvPr>
            <p:cNvSpPr txBox="1"/>
            <p:nvPr/>
          </p:nvSpPr>
          <p:spPr>
            <a:xfrm>
              <a:off x="8505961" y="6238449"/>
              <a:ext cx="3845106" cy="584775"/>
            </a:xfrm>
            <a:prstGeom prst="rect">
              <a:avLst/>
            </a:prstGeom>
            <a:solidFill>
              <a:schemeClr val="bg1"/>
            </a:solidFill>
          </p:spPr>
          <p:txBody>
            <a:bodyPr wrap="square" rtlCol="0">
              <a:spAutoFit/>
            </a:bodyPr>
            <a:lstStyle/>
            <a:p>
              <a:r>
                <a:rPr lang="en-US" sz="1600" dirty="0">
                  <a:solidFill>
                    <a:schemeClr val="accent5"/>
                  </a:solidFill>
                </a:rPr>
                <a:t>This notation means “</a:t>
              </a:r>
              <a:r>
                <a:rPr lang="en-US" sz="1600" dirty="0" err="1">
                  <a:solidFill>
                    <a:schemeClr val="accent5"/>
                  </a:solidFill>
                </a:rPr>
                <a:t>Frobenius</a:t>
              </a:r>
              <a:r>
                <a:rPr lang="en-US" sz="1600" dirty="0">
                  <a:solidFill>
                    <a:schemeClr val="accent5"/>
                  </a:solidFill>
                </a:rPr>
                <a:t> norm,” the sum of the squares of the entries.</a:t>
              </a:r>
            </a:p>
          </p:txBody>
        </p:sp>
        <p:cxnSp>
          <p:nvCxnSpPr>
            <p:cNvPr id="18" name="Straight Arrow Connector 17">
              <a:extLst>
                <a:ext uri="{FF2B5EF4-FFF2-40B4-BE49-F238E27FC236}">
                  <a16:creationId xmlns:a16="http://schemas.microsoft.com/office/drawing/2014/main" id="{6B16EF4E-6E8E-B61D-FCE9-194F0AC6F291}"/>
                </a:ext>
              </a:extLst>
            </p:cNvPr>
            <p:cNvCxnSpPr>
              <a:stCxn id="17" idx="1"/>
            </p:cNvCxnSpPr>
            <p:nvPr/>
          </p:nvCxnSpPr>
          <p:spPr>
            <a:xfrm flipH="1" flipV="1">
              <a:off x="8325656" y="6246420"/>
              <a:ext cx="180305" cy="284417"/>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06D39ABB-1E4A-F53D-D334-92CD8CF6F9E1}"/>
                  </a:ext>
                </a:extLst>
              </p:cNvPr>
              <p:cNvSpPr txBox="1">
                <a:spLocks/>
              </p:cNvSpPr>
              <p:nvPr/>
            </p:nvSpPr>
            <p:spPr>
              <a:xfrm>
                <a:off x="743465" y="4879305"/>
                <a:ext cx="10515600" cy="1492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Regression: </a:t>
                </a:r>
                <a:r>
                  <a:rPr lang="en-US" sz="2400" dirty="0"/>
                  <a:t>Given a vector </a:t>
                </a:r>
                <a14:m>
                  <m:oMath xmlns:m="http://schemas.openxmlformats.org/officeDocument/2006/math">
                    <m:r>
                      <a:rPr lang="en-US" sz="2400" b="1" i="1" dirty="0" smtClean="0">
                        <a:latin typeface="Cambria Math" panose="02040503050406030204" pitchFamily="18" charset="0"/>
                      </a:rPr>
                      <m:t>𝒚</m:t>
                    </m:r>
                  </m:oMath>
                </a14:m>
                <a:r>
                  <a:rPr lang="en-US" sz="2400" dirty="0"/>
                  <a:t> and an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oMath>
                </a14:m>
                <a:r>
                  <a:rPr lang="en-US" sz="2400" dirty="0"/>
                  <a:t>, find </a:t>
                </a:r>
                <a14:m>
                  <m:oMath xmlns:m="http://schemas.openxmlformats.org/officeDocument/2006/math">
                    <m:r>
                      <a:rPr lang="en-US" sz="2400" b="1" i="1" smtClean="0">
                        <a:latin typeface="Cambria Math" panose="02040503050406030204" pitchFamily="18" charset="0"/>
                      </a:rPr>
                      <m:t>𝜷</m:t>
                    </m:r>
                  </m:oMath>
                </a14:m>
                <a:r>
                  <a:rPr lang="en-US" sz="2400" dirty="0"/>
                  <a:t> so that: </a:t>
                </a:r>
              </a:p>
              <a:p>
                <a:endParaRPr lang="en-US" sz="2400" dirty="0"/>
              </a:p>
            </p:txBody>
          </p:sp>
        </mc:Choice>
        <mc:Fallback xmlns="">
          <p:sp>
            <p:nvSpPr>
              <p:cNvPr id="20" name="Content Placeholder 2">
                <a:extLst>
                  <a:ext uri="{FF2B5EF4-FFF2-40B4-BE49-F238E27FC236}">
                    <a16:creationId xmlns:a16="http://schemas.microsoft.com/office/drawing/2014/main" id="{06D39ABB-1E4A-F53D-D334-92CD8CF6F9E1}"/>
                  </a:ext>
                </a:extLst>
              </p:cNvPr>
              <p:cNvSpPr txBox="1">
                <a:spLocks noRot="1" noChangeAspect="1" noMove="1" noResize="1" noEditPoints="1" noAdjustHandles="1" noChangeArrowheads="1" noChangeShapeType="1" noTextEdit="1"/>
              </p:cNvSpPr>
              <p:nvPr/>
            </p:nvSpPr>
            <p:spPr>
              <a:xfrm>
                <a:off x="743465" y="4879305"/>
                <a:ext cx="10515600" cy="1492363"/>
              </a:xfrm>
              <a:prstGeom prst="rect">
                <a:avLst/>
              </a:prstGeom>
              <a:blipFill>
                <a:blip r:embed="rId10"/>
                <a:stretch>
                  <a:fillRect l="-844" t="-5932"/>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67ADE69A-CF7F-D3F7-629A-2C1E2A3AF82C}"/>
              </a:ext>
            </a:extLst>
          </p:cNvPr>
          <p:cNvGrpSpPr/>
          <p:nvPr/>
        </p:nvGrpSpPr>
        <p:grpSpPr>
          <a:xfrm>
            <a:off x="2391277" y="5464569"/>
            <a:ext cx="45719" cy="1165702"/>
            <a:chOff x="2220795" y="2569746"/>
            <a:chExt cx="71250" cy="1603170"/>
          </a:xfrm>
        </p:grpSpPr>
        <p:cxnSp>
          <p:nvCxnSpPr>
            <p:cNvPr id="21" name="Straight Connector 20">
              <a:extLst>
                <a:ext uri="{FF2B5EF4-FFF2-40B4-BE49-F238E27FC236}">
                  <a16:creationId xmlns:a16="http://schemas.microsoft.com/office/drawing/2014/main" id="{30BC8556-D857-41BD-6E66-EEFB6F3E077D}"/>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CA1F19B2-ECB6-1127-3134-316B93A5986A}"/>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7154DA3-C0F7-2E23-B356-5D8FF6232292}"/>
                  </a:ext>
                </a:extLst>
              </p:cNvPr>
              <p:cNvSpPr/>
              <p:nvPr/>
            </p:nvSpPr>
            <p:spPr>
              <a:xfrm>
                <a:off x="2620108" y="5513585"/>
                <a:ext cx="461747" cy="106767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24" name="Rectangle 23">
                <a:extLst>
                  <a:ext uri="{FF2B5EF4-FFF2-40B4-BE49-F238E27FC236}">
                    <a16:creationId xmlns:a16="http://schemas.microsoft.com/office/drawing/2014/main" id="{57154DA3-C0F7-2E23-B356-5D8FF6232292}"/>
                  </a:ext>
                </a:extLst>
              </p:cNvPr>
              <p:cNvSpPr>
                <a:spLocks noRot="1" noChangeAspect="1" noMove="1" noResize="1" noEditPoints="1" noAdjustHandles="1" noChangeArrowheads="1" noChangeShapeType="1" noTextEdit="1"/>
              </p:cNvSpPr>
              <p:nvPr/>
            </p:nvSpPr>
            <p:spPr>
              <a:xfrm>
                <a:off x="2620108" y="5513585"/>
                <a:ext cx="461747" cy="106767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596CA96C-EEC6-9A5A-55B4-A237D1E2C231}"/>
                  </a:ext>
                </a:extLst>
              </p:cNvPr>
              <p:cNvSpPr/>
              <p:nvPr/>
            </p:nvSpPr>
            <p:spPr>
              <a:xfrm>
                <a:off x="3176591" y="5515088"/>
                <a:ext cx="227010" cy="57194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𝜷</m:t>
                      </m:r>
                    </m:oMath>
                  </m:oMathPara>
                </a14:m>
                <a:endParaRPr lang="en-US" sz="1000" b="1" dirty="0">
                  <a:solidFill>
                    <a:schemeClr val="tx1"/>
                  </a:solidFill>
                </a:endParaRPr>
              </a:p>
            </p:txBody>
          </p:sp>
        </mc:Choice>
        <mc:Fallback xmlns="">
          <p:sp>
            <p:nvSpPr>
              <p:cNvPr id="25" name="Rectangle 24">
                <a:extLst>
                  <a:ext uri="{FF2B5EF4-FFF2-40B4-BE49-F238E27FC236}">
                    <a16:creationId xmlns:a16="http://schemas.microsoft.com/office/drawing/2014/main" id="{596CA96C-EEC6-9A5A-55B4-A237D1E2C231}"/>
                  </a:ext>
                </a:extLst>
              </p:cNvPr>
              <p:cNvSpPr>
                <a:spLocks noRot="1" noChangeAspect="1" noMove="1" noResize="1" noEditPoints="1" noAdjustHandles="1" noChangeArrowheads="1" noChangeShapeType="1" noTextEdit="1"/>
              </p:cNvSpPr>
              <p:nvPr/>
            </p:nvSpPr>
            <p:spPr>
              <a:xfrm>
                <a:off x="3176591" y="5515088"/>
                <a:ext cx="227010" cy="571946"/>
              </a:xfrm>
              <a:prstGeom prst="rect">
                <a:avLst/>
              </a:prstGeom>
              <a:blipFill>
                <a:blip r:embed="rId12"/>
                <a:stretch>
                  <a:fillRect l="-25000" r="-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1D0A1CD-1F7B-BC45-0A68-31F1E28FA1A5}"/>
                  </a:ext>
                </a:extLst>
              </p:cNvPr>
              <p:cNvSpPr/>
              <p:nvPr/>
            </p:nvSpPr>
            <p:spPr>
              <a:xfrm>
                <a:off x="3815967" y="5513585"/>
                <a:ext cx="223124" cy="1116685"/>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000" b="1" i="1" dirty="0" smtClean="0">
                          <a:solidFill>
                            <a:schemeClr val="bg1"/>
                          </a:solidFill>
                          <a:latin typeface="Cambria Math" panose="02040503050406030204" pitchFamily="18" charset="0"/>
                        </a:rPr>
                        <m:t>𝒚</m:t>
                      </m:r>
                    </m:oMath>
                  </m:oMathPara>
                </a14:m>
                <a:endParaRPr lang="en-US" sz="1000" b="1" dirty="0">
                  <a:solidFill>
                    <a:schemeClr val="bg2">
                      <a:lumMod val="75000"/>
                    </a:schemeClr>
                  </a:solidFill>
                </a:endParaRPr>
              </a:p>
            </p:txBody>
          </p:sp>
        </mc:Choice>
        <mc:Fallback xmlns="">
          <p:sp>
            <p:nvSpPr>
              <p:cNvPr id="26" name="Rectangle 25">
                <a:extLst>
                  <a:ext uri="{FF2B5EF4-FFF2-40B4-BE49-F238E27FC236}">
                    <a16:creationId xmlns:a16="http://schemas.microsoft.com/office/drawing/2014/main" id="{C1D0A1CD-1F7B-BC45-0A68-31F1E28FA1A5}"/>
                  </a:ext>
                </a:extLst>
              </p:cNvPr>
              <p:cNvSpPr>
                <a:spLocks noRot="1" noChangeAspect="1" noMove="1" noResize="1" noEditPoints="1" noAdjustHandles="1" noChangeArrowheads="1" noChangeShapeType="1" noTextEdit="1"/>
              </p:cNvSpPr>
              <p:nvPr/>
            </p:nvSpPr>
            <p:spPr>
              <a:xfrm>
                <a:off x="3815967" y="5513585"/>
                <a:ext cx="223124" cy="1116685"/>
              </a:xfrm>
              <a:prstGeom prst="rect">
                <a:avLst/>
              </a:prstGeom>
              <a:blipFill>
                <a:blip r:embed="rId1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05D5D-DBBF-AFB7-29FD-967CCA1F5573}"/>
                  </a:ext>
                </a:extLst>
              </p:cNvPr>
              <p:cNvSpPr txBox="1"/>
              <p:nvPr/>
            </p:nvSpPr>
            <p:spPr>
              <a:xfrm>
                <a:off x="3359627" y="5887261"/>
                <a:ext cx="5003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27" name="TextBox 26">
                <a:extLst>
                  <a:ext uri="{FF2B5EF4-FFF2-40B4-BE49-F238E27FC236}">
                    <a16:creationId xmlns:a16="http://schemas.microsoft.com/office/drawing/2014/main" id="{CFF05D5D-DBBF-AFB7-29FD-967CCA1F5573}"/>
                  </a:ext>
                </a:extLst>
              </p:cNvPr>
              <p:cNvSpPr txBox="1">
                <a:spLocks noRot="1" noChangeAspect="1" noMove="1" noResize="1" noEditPoints="1" noAdjustHandles="1" noChangeArrowheads="1" noChangeShapeType="1" noTextEdit="1"/>
              </p:cNvSpPr>
              <p:nvPr/>
            </p:nvSpPr>
            <p:spPr>
              <a:xfrm>
                <a:off x="3359627" y="5887261"/>
                <a:ext cx="500314" cy="369332"/>
              </a:xfrm>
              <a:prstGeom prst="rect">
                <a:avLst/>
              </a:prstGeom>
              <a:blipFill>
                <a:blip r:embed="rId14"/>
                <a:stretch>
                  <a:fillRect/>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FEB1E025-A9A6-132F-1D05-2EBFB4A07C83}"/>
              </a:ext>
            </a:extLst>
          </p:cNvPr>
          <p:cNvGrpSpPr/>
          <p:nvPr/>
        </p:nvGrpSpPr>
        <p:grpSpPr>
          <a:xfrm>
            <a:off x="4226588" y="5505900"/>
            <a:ext cx="45719" cy="1165702"/>
            <a:chOff x="2220795" y="2569746"/>
            <a:chExt cx="71250" cy="1603170"/>
          </a:xfrm>
        </p:grpSpPr>
        <p:cxnSp>
          <p:nvCxnSpPr>
            <p:cNvPr id="29" name="Straight Connector 28">
              <a:extLst>
                <a:ext uri="{FF2B5EF4-FFF2-40B4-BE49-F238E27FC236}">
                  <a16:creationId xmlns:a16="http://schemas.microsoft.com/office/drawing/2014/main" id="{3087DAEC-30EE-44D4-DDEA-B3E99AE579DB}"/>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FFB95026-E63B-F13F-2E16-33381FD41117}"/>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5EE070E-64DE-9362-8A14-2B88F4679B0E}"/>
                  </a:ext>
                </a:extLst>
              </p:cNvPr>
              <p:cNvSpPr txBox="1"/>
              <p:nvPr/>
            </p:nvSpPr>
            <p:spPr>
              <a:xfrm>
                <a:off x="3944355" y="5349601"/>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2" name="TextBox 31">
                <a:extLst>
                  <a:ext uri="{FF2B5EF4-FFF2-40B4-BE49-F238E27FC236}">
                    <a16:creationId xmlns:a16="http://schemas.microsoft.com/office/drawing/2014/main" id="{A5EE070E-64DE-9362-8A14-2B88F4679B0E}"/>
                  </a:ext>
                </a:extLst>
              </p:cNvPr>
              <p:cNvSpPr txBox="1">
                <a:spLocks noRot="1" noChangeAspect="1" noMove="1" noResize="1" noEditPoints="1" noAdjustHandles="1" noChangeArrowheads="1" noChangeShapeType="1" noTextEdit="1"/>
              </p:cNvSpPr>
              <p:nvPr/>
            </p:nvSpPr>
            <p:spPr>
              <a:xfrm>
                <a:off x="3944355" y="5349601"/>
                <a:ext cx="855021"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F23C22A-06DE-15A0-756F-A132139E22BE}"/>
                  </a:ext>
                </a:extLst>
              </p:cNvPr>
              <p:cNvSpPr txBox="1"/>
              <p:nvPr/>
            </p:nvSpPr>
            <p:spPr>
              <a:xfrm>
                <a:off x="3949501" y="6473928"/>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3" name="TextBox 32">
                <a:extLst>
                  <a:ext uri="{FF2B5EF4-FFF2-40B4-BE49-F238E27FC236}">
                    <a16:creationId xmlns:a16="http://schemas.microsoft.com/office/drawing/2014/main" id="{5F23C22A-06DE-15A0-756F-A132139E22BE}"/>
                  </a:ext>
                </a:extLst>
              </p:cNvPr>
              <p:cNvSpPr txBox="1">
                <a:spLocks noRot="1" noChangeAspect="1" noMove="1" noResize="1" noEditPoints="1" noAdjustHandles="1" noChangeArrowheads="1" noChangeShapeType="1" noTextEdit="1"/>
              </p:cNvSpPr>
              <p:nvPr/>
            </p:nvSpPr>
            <p:spPr>
              <a:xfrm>
                <a:off x="3949501" y="6473928"/>
                <a:ext cx="855021" cy="369332"/>
              </a:xfrm>
              <a:prstGeom prst="rect">
                <a:avLst/>
              </a:prstGeom>
              <a:blipFill>
                <a:blip r:embed="rId16"/>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96D2D090-F35B-3F8F-BD9B-2AE3D1A3793A}"/>
              </a:ext>
            </a:extLst>
          </p:cNvPr>
          <p:cNvSpPr txBox="1"/>
          <p:nvPr/>
        </p:nvSpPr>
        <p:spPr>
          <a:xfrm>
            <a:off x="4495431" y="5833843"/>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35" name="TextBox 34">
            <a:extLst>
              <a:ext uri="{FF2B5EF4-FFF2-40B4-BE49-F238E27FC236}">
                <a16:creationId xmlns:a16="http://schemas.microsoft.com/office/drawing/2014/main" id="{75C341BE-3F76-9E71-92E2-0366379B73D0}"/>
              </a:ext>
            </a:extLst>
          </p:cNvPr>
          <p:cNvSpPr txBox="1"/>
          <p:nvPr/>
        </p:nvSpPr>
        <p:spPr>
          <a:xfrm>
            <a:off x="5172324" y="6288867"/>
            <a:ext cx="3845106" cy="584775"/>
          </a:xfrm>
          <a:prstGeom prst="rect">
            <a:avLst/>
          </a:prstGeom>
          <a:solidFill>
            <a:schemeClr val="bg1"/>
          </a:solidFill>
        </p:spPr>
        <p:txBody>
          <a:bodyPr wrap="square" rtlCol="0">
            <a:spAutoFit/>
          </a:bodyPr>
          <a:lstStyle/>
          <a:p>
            <a:r>
              <a:rPr lang="en-US" sz="1600" dirty="0">
                <a:solidFill>
                  <a:schemeClr val="accent5"/>
                </a:solidFill>
              </a:rPr>
              <a:t>This notation also means the sum of the squares of the entries.</a:t>
            </a:r>
          </a:p>
        </p:txBody>
      </p:sp>
      <p:cxnSp>
        <p:nvCxnSpPr>
          <p:cNvPr id="36" name="Straight Arrow Connector 35">
            <a:extLst>
              <a:ext uri="{FF2B5EF4-FFF2-40B4-BE49-F238E27FC236}">
                <a16:creationId xmlns:a16="http://schemas.microsoft.com/office/drawing/2014/main" id="{C26F6328-ED72-6451-2EA2-7231271F3972}"/>
              </a:ext>
            </a:extLst>
          </p:cNvPr>
          <p:cNvCxnSpPr>
            <a:cxnSpLocks/>
            <a:stCxn id="35" idx="1"/>
          </p:cNvCxnSpPr>
          <p:nvPr/>
        </p:nvCxnSpPr>
        <p:spPr>
          <a:xfrm flipH="1">
            <a:off x="4503676" y="6581255"/>
            <a:ext cx="668648" cy="72399"/>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EA92636-EFB2-02EC-8F5E-3AAB30AC6A99}"/>
                  </a:ext>
                </a:extLst>
              </p:cNvPr>
              <p:cNvSpPr txBox="1"/>
              <p:nvPr/>
            </p:nvSpPr>
            <p:spPr>
              <a:xfrm>
                <a:off x="8798075" y="2383791"/>
                <a:ext cx="3212739" cy="461665"/>
              </a:xfrm>
              <a:prstGeom prst="rect">
                <a:avLst/>
              </a:prstGeom>
              <a:noFill/>
            </p:spPr>
            <p:txBody>
              <a:bodyPr wrap="none" rtlCol="0">
                <a:spAutoFit/>
              </a:bodyPr>
              <a:lstStyle/>
              <a:p>
                <a:r>
                  <a:rPr lang="en-US" sz="2400" b="1" dirty="0">
                    <a:solidFill>
                      <a:schemeClr val="accent2"/>
                    </a:solidFill>
                  </a:rPr>
                  <a:t>Multiple columns in </a:t>
                </a:r>
                <a14:m>
                  <m:oMath xmlns:m="http://schemas.openxmlformats.org/officeDocument/2006/math">
                    <m:r>
                      <a:rPr lang="en-US" sz="2400" b="1" i="1" dirty="0" smtClean="0">
                        <a:solidFill>
                          <a:schemeClr val="accent2"/>
                        </a:solidFill>
                        <a:latin typeface="Cambria Math" panose="02040503050406030204" pitchFamily="18" charset="0"/>
                      </a:rPr>
                      <m:t>𝒀</m:t>
                    </m:r>
                  </m:oMath>
                </a14:m>
                <a:endParaRPr lang="en-US" sz="2400" b="1" dirty="0">
                  <a:solidFill>
                    <a:schemeClr val="accent2"/>
                  </a:solidFill>
                </a:endParaRPr>
              </a:p>
            </p:txBody>
          </p:sp>
        </mc:Choice>
        <mc:Fallback xmlns="">
          <p:sp>
            <p:nvSpPr>
              <p:cNvPr id="31" name="TextBox 30">
                <a:extLst>
                  <a:ext uri="{FF2B5EF4-FFF2-40B4-BE49-F238E27FC236}">
                    <a16:creationId xmlns:a16="http://schemas.microsoft.com/office/drawing/2014/main" id="{7EA92636-EFB2-02EC-8F5E-3AAB30AC6A99}"/>
                  </a:ext>
                </a:extLst>
              </p:cNvPr>
              <p:cNvSpPr txBox="1">
                <a:spLocks noRot="1" noChangeAspect="1" noMove="1" noResize="1" noEditPoints="1" noAdjustHandles="1" noChangeArrowheads="1" noChangeShapeType="1" noTextEdit="1"/>
              </p:cNvSpPr>
              <p:nvPr/>
            </p:nvSpPr>
            <p:spPr>
              <a:xfrm>
                <a:off x="8798075" y="2383791"/>
                <a:ext cx="3212739" cy="461665"/>
              </a:xfrm>
              <a:prstGeom prst="rect">
                <a:avLst/>
              </a:prstGeom>
              <a:blipFill>
                <a:blip r:embed="rId17"/>
                <a:stretch>
                  <a:fillRect l="-2756"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71C2C63-160C-F019-C75D-BCFD3CDF16BB}"/>
                  </a:ext>
                </a:extLst>
              </p:cNvPr>
              <p:cNvSpPr txBox="1"/>
              <p:nvPr/>
            </p:nvSpPr>
            <p:spPr>
              <a:xfrm>
                <a:off x="8958060" y="5556060"/>
                <a:ext cx="3132589" cy="461665"/>
              </a:xfrm>
              <a:prstGeom prst="rect">
                <a:avLst/>
              </a:prstGeom>
              <a:noFill/>
            </p:spPr>
            <p:txBody>
              <a:bodyPr wrap="none" rtlCol="0">
                <a:spAutoFit/>
              </a:bodyPr>
              <a:lstStyle/>
              <a:p>
                <a:r>
                  <a:rPr lang="en-US" sz="2400" b="1" dirty="0">
                    <a:solidFill>
                      <a:schemeClr val="accent2"/>
                    </a:solidFill>
                  </a:rPr>
                  <a:t>Only one column in </a:t>
                </a:r>
                <a14:m>
                  <m:oMath xmlns:m="http://schemas.openxmlformats.org/officeDocument/2006/math">
                    <m:r>
                      <a:rPr lang="en-US" sz="2400" b="1" i="1" dirty="0" smtClean="0">
                        <a:solidFill>
                          <a:schemeClr val="accent2"/>
                        </a:solidFill>
                        <a:latin typeface="Cambria Math" panose="02040503050406030204" pitchFamily="18" charset="0"/>
                      </a:rPr>
                      <m:t>𝒀</m:t>
                    </m:r>
                  </m:oMath>
                </a14:m>
                <a:endParaRPr lang="en-US" sz="2400" b="1" dirty="0">
                  <a:solidFill>
                    <a:schemeClr val="accent2"/>
                  </a:solidFill>
                </a:endParaRPr>
              </a:p>
            </p:txBody>
          </p:sp>
        </mc:Choice>
        <mc:Fallback xmlns="">
          <p:sp>
            <p:nvSpPr>
              <p:cNvPr id="37" name="TextBox 36">
                <a:extLst>
                  <a:ext uri="{FF2B5EF4-FFF2-40B4-BE49-F238E27FC236}">
                    <a16:creationId xmlns:a16="http://schemas.microsoft.com/office/drawing/2014/main" id="{371C2C63-160C-F019-C75D-BCFD3CDF16BB}"/>
                  </a:ext>
                </a:extLst>
              </p:cNvPr>
              <p:cNvSpPr txBox="1">
                <a:spLocks noRot="1" noChangeAspect="1" noMove="1" noResize="1" noEditPoints="1" noAdjustHandles="1" noChangeArrowheads="1" noChangeShapeType="1" noTextEdit="1"/>
              </p:cNvSpPr>
              <p:nvPr/>
            </p:nvSpPr>
            <p:spPr>
              <a:xfrm>
                <a:off x="8958060" y="5556060"/>
                <a:ext cx="3132589" cy="461665"/>
              </a:xfrm>
              <a:prstGeom prst="rect">
                <a:avLst/>
              </a:prstGeom>
              <a:blipFill>
                <a:blip r:embed="rId18"/>
                <a:stretch>
                  <a:fillRect l="-3239" t="-10811" b="-29730"/>
                </a:stretch>
              </a:blipFill>
            </p:spPr>
            <p:txBody>
              <a:bodyPr/>
              <a:lstStyle/>
              <a:p>
                <a:r>
                  <a:rPr lang="en-US">
                    <a:noFill/>
                  </a:rPr>
                  <a:t> </a:t>
                </a:r>
              </a:p>
            </p:txBody>
          </p:sp>
        </mc:Fallback>
      </mc:AlternateContent>
    </p:spTree>
    <p:extLst>
      <p:ext uri="{BB962C8B-B14F-4D97-AF65-F5344CB8AC3E}">
        <p14:creationId xmlns:p14="http://schemas.microsoft.com/office/powerpoint/2010/main" val="2080559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2596-8B08-BE40-A2D7-148D2184FC70}"/>
              </a:ext>
            </a:extLst>
          </p:cNvPr>
          <p:cNvSpPr>
            <a:spLocks noGrp="1"/>
          </p:cNvSpPr>
          <p:nvPr>
            <p:ph type="title"/>
          </p:nvPr>
        </p:nvSpPr>
        <p:spPr>
          <a:xfrm>
            <a:off x="838200" y="365125"/>
            <a:ext cx="8402782" cy="1325563"/>
          </a:xfrm>
        </p:spPr>
        <p:txBody>
          <a:bodyPr/>
          <a:lstStyle/>
          <a:p>
            <a:r>
              <a:rPr lang="en-US" dirty="0"/>
              <a:t>What are the differences between this and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E53E4C-5E2D-1250-86DE-439896F002D4}"/>
                  </a:ext>
                </a:extLst>
              </p:cNvPr>
              <p:cNvSpPr>
                <a:spLocks noGrp="1"/>
              </p:cNvSpPr>
              <p:nvPr>
                <p:ph idx="1"/>
              </p:nvPr>
            </p:nvSpPr>
            <p:spPr/>
            <p:txBody>
              <a:bodyPr>
                <a:normAutofit/>
              </a:bodyPr>
              <a:lstStyle/>
              <a:p>
                <a:r>
                  <a:rPr lang="en-US" sz="2400" dirty="0"/>
                  <a:t>Given a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𝒀</m:t>
                    </m:r>
                  </m:oMath>
                </a14:m>
                <a:r>
                  <a:rPr lang="en-US" sz="2400" dirty="0"/>
                  <a:t>, find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r>
                      <a:rPr lang="en-US" sz="2400" i="1" dirty="0">
                        <a:latin typeface="Cambria Math" panose="02040503050406030204" pitchFamily="18" charset="0"/>
                      </a:rPr>
                      <m:t> </m:t>
                    </m:r>
                  </m:oMath>
                </a14:m>
                <a:r>
                  <a:rPr lang="en-US" sz="2400" dirty="0"/>
                  <a:t>and </a:t>
                </a:r>
                <a14:m>
                  <m:oMath xmlns:m="http://schemas.openxmlformats.org/officeDocument/2006/math">
                    <m:r>
                      <a:rPr lang="en-US" sz="2400" b="0" i="1" smtClean="0">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𝑇</m:t>
                    </m:r>
                  </m:oMath>
                </a14:m>
                <a:r>
                  <a:rPr lang="en-US" sz="2400" dirty="0"/>
                  <a:t> matrix </a:t>
                </a:r>
                <a14:m>
                  <m:oMath xmlns:m="http://schemas.openxmlformats.org/officeDocument/2006/math">
                    <m:r>
                      <a:rPr lang="en-US" sz="2400" b="1" i="1" dirty="0" smtClean="0">
                        <a:latin typeface="Cambria Math" panose="02040503050406030204" pitchFamily="18" charset="0"/>
                      </a:rPr>
                      <m:t>𝑩</m:t>
                    </m:r>
                  </m:oMath>
                </a14:m>
                <a:r>
                  <a:rPr lang="en-US" sz="2400" dirty="0"/>
                  <a:t> so that:</a:t>
                </a:r>
              </a:p>
              <a:p>
                <a:endParaRPr lang="en-US" sz="2400" dirty="0"/>
              </a:p>
            </p:txBody>
          </p:sp>
        </mc:Choice>
        <mc:Fallback xmlns="">
          <p:sp>
            <p:nvSpPr>
              <p:cNvPr id="3" name="Content Placeholder 2">
                <a:extLst>
                  <a:ext uri="{FF2B5EF4-FFF2-40B4-BE49-F238E27FC236}">
                    <a16:creationId xmlns:a16="http://schemas.microsoft.com/office/drawing/2014/main" id="{23E53E4C-5E2D-1250-86DE-439896F002D4}"/>
                  </a:ext>
                </a:extLst>
              </p:cNvPr>
              <p:cNvSpPr>
                <a:spLocks noGrp="1" noRot="1" noChangeAspect="1" noMove="1" noResize="1" noEditPoints="1" noAdjustHandles="1" noChangeArrowheads="1" noChangeShapeType="1" noTextEdit="1"/>
              </p:cNvSpPr>
              <p:nvPr>
                <p:ph idx="1"/>
              </p:nvPr>
            </p:nvSpPr>
            <p:spPr>
              <a:blipFill>
                <a:blip r:embed="rId3"/>
                <a:stretch>
                  <a:fillRect l="-844" t="-2035"/>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E3E97507-F965-7F5F-14DD-5F44EE9A7343}"/>
              </a:ext>
            </a:extLst>
          </p:cNvPr>
          <p:cNvGrpSpPr/>
          <p:nvPr/>
        </p:nvGrpSpPr>
        <p:grpSpPr>
          <a:xfrm>
            <a:off x="2068395" y="2260681"/>
            <a:ext cx="8812218" cy="2336638"/>
            <a:chOff x="3538849" y="4486586"/>
            <a:chExt cx="8812218" cy="2336638"/>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096E838-5120-1CCE-0F0D-419C71EBF3DD}"/>
                    </a:ext>
                  </a:extLst>
                </p:cNvPr>
                <p:cNvSpPr/>
                <p:nvPr/>
              </p:nvSpPr>
              <p:spPr>
                <a:xfrm>
                  <a:off x="3861731" y="4783551"/>
                  <a:ext cx="472762" cy="124048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4" name="Rectangle 3">
                  <a:extLst>
                    <a:ext uri="{FF2B5EF4-FFF2-40B4-BE49-F238E27FC236}">
                      <a16:creationId xmlns:a16="http://schemas.microsoft.com/office/drawing/2014/main" id="{2096E838-5120-1CCE-0F0D-419C71EBF3DD}"/>
                    </a:ext>
                  </a:extLst>
                </p:cNvPr>
                <p:cNvSpPr>
                  <a:spLocks noRot="1" noChangeAspect="1" noMove="1" noResize="1" noEditPoints="1" noAdjustHandles="1" noChangeArrowheads="1" noChangeShapeType="1" noTextEdit="1"/>
                </p:cNvSpPr>
                <p:nvPr/>
              </p:nvSpPr>
              <p:spPr>
                <a:xfrm>
                  <a:off x="3861731" y="4783551"/>
                  <a:ext cx="472762" cy="12404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1412D71-1D49-BC32-58AA-848907795F8F}"/>
                    </a:ext>
                  </a:extLst>
                </p:cNvPr>
                <p:cNvSpPr/>
                <p:nvPr/>
              </p:nvSpPr>
              <p:spPr>
                <a:xfrm>
                  <a:off x="4405818" y="4783551"/>
                  <a:ext cx="1175583" cy="47570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𝑩</m:t>
                        </m:r>
                      </m:oMath>
                    </m:oMathPara>
                  </a14:m>
                  <a:endParaRPr lang="en-US" sz="1000" b="1" dirty="0">
                    <a:solidFill>
                      <a:schemeClr val="tx1"/>
                    </a:solidFill>
                  </a:endParaRPr>
                </a:p>
              </p:txBody>
            </p:sp>
          </mc:Choice>
          <mc:Fallback xmlns="">
            <p:sp>
              <p:nvSpPr>
                <p:cNvPr id="5" name="Rectangle 4">
                  <a:extLst>
                    <a:ext uri="{FF2B5EF4-FFF2-40B4-BE49-F238E27FC236}">
                      <a16:creationId xmlns:a16="http://schemas.microsoft.com/office/drawing/2014/main" id="{E1412D71-1D49-BC32-58AA-848907795F8F}"/>
                    </a:ext>
                  </a:extLst>
                </p:cNvPr>
                <p:cNvSpPr>
                  <a:spLocks noRot="1" noChangeAspect="1" noMove="1" noResize="1" noEditPoints="1" noAdjustHandles="1" noChangeArrowheads="1" noChangeShapeType="1" noTextEdit="1"/>
                </p:cNvSpPr>
                <p:nvPr/>
              </p:nvSpPr>
              <p:spPr>
                <a:xfrm>
                  <a:off x="4405818" y="4783551"/>
                  <a:ext cx="1175583" cy="475708"/>
                </a:xfrm>
                <a:prstGeom prst="rect">
                  <a:avLst/>
                </a:prstGeom>
                <a:blipFill>
                  <a:blip r:embed="rId5"/>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6AF77D06-0DC2-F123-810D-0F89CEEA4DBB}"/>
                </a:ext>
              </a:extLst>
            </p:cNvPr>
            <p:cNvSpPr/>
            <p:nvPr/>
          </p:nvSpPr>
          <p:spPr>
            <a:xfrm>
              <a:off x="6253261" y="4783551"/>
              <a:ext cx="1502099" cy="1240482"/>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bg2">
                    <a:lumMod val="75000"/>
                  </a:schemeClr>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91E524-8B6B-1B8B-F92E-D5980D918A51}"/>
                    </a:ext>
                  </a:extLst>
                </p:cNvPr>
                <p:cNvSpPr txBox="1"/>
                <p:nvPr/>
              </p:nvSpPr>
              <p:spPr>
                <a:xfrm>
                  <a:off x="6754153" y="5172958"/>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2400" b="1" dirty="0">
                    <a:solidFill>
                      <a:schemeClr val="bg1"/>
                    </a:solidFill>
                  </a:endParaRPr>
                </a:p>
              </p:txBody>
            </p:sp>
          </mc:Choice>
          <mc:Fallback xmlns="">
            <p:sp>
              <p:nvSpPr>
                <p:cNvPr id="7" name="TextBox 6">
                  <a:extLst>
                    <a:ext uri="{FF2B5EF4-FFF2-40B4-BE49-F238E27FC236}">
                      <a16:creationId xmlns:a16="http://schemas.microsoft.com/office/drawing/2014/main" id="{DB91E524-8B6B-1B8B-F92E-D5980D918A51}"/>
                    </a:ext>
                  </a:extLst>
                </p:cNvPr>
                <p:cNvSpPr txBox="1">
                  <a:spLocks noRot="1" noChangeAspect="1" noMove="1" noResize="1" noEditPoints="1" noAdjustHandles="1" noChangeArrowheads="1" noChangeShapeType="1" noTextEdit="1"/>
                </p:cNvSpPr>
                <p:nvPr/>
              </p:nvSpPr>
              <p:spPr>
                <a:xfrm>
                  <a:off x="6754153" y="5172958"/>
                  <a:ext cx="50031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D881D42-E937-F37B-C3E1-C5CBDCC48C8E}"/>
                    </a:ext>
                  </a:extLst>
                </p:cNvPr>
                <p:cNvSpPr txBox="1"/>
                <p:nvPr/>
              </p:nvSpPr>
              <p:spPr>
                <a:xfrm>
                  <a:off x="5648522" y="5267890"/>
                  <a:ext cx="50031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8" name="TextBox 7">
                  <a:extLst>
                    <a:ext uri="{FF2B5EF4-FFF2-40B4-BE49-F238E27FC236}">
                      <a16:creationId xmlns:a16="http://schemas.microsoft.com/office/drawing/2014/main" id="{5D881D42-E937-F37B-C3E1-C5CBDCC48C8E}"/>
                    </a:ext>
                  </a:extLst>
                </p:cNvPr>
                <p:cNvSpPr txBox="1">
                  <a:spLocks noRot="1" noChangeAspect="1" noMove="1" noResize="1" noEditPoints="1" noAdjustHandles="1" noChangeArrowheads="1" noChangeShapeType="1" noTextEdit="1"/>
                </p:cNvSpPr>
                <p:nvPr/>
              </p:nvSpPr>
              <p:spPr>
                <a:xfrm>
                  <a:off x="5648522" y="5267890"/>
                  <a:ext cx="500314" cy="461665"/>
                </a:xfrm>
                <a:prstGeom prst="rect">
                  <a:avLst/>
                </a:prstGeom>
                <a:blipFill>
                  <a:blip r:embed="rId7"/>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233EF1C6-54A4-C819-F9E6-A7D65A936A92}"/>
                </a:ext>
              </a:extLst>
            </p:cNvPr>
            <p:cNvCxnSpPr/>
            <p:nvPr/>
          </p:nvCxnSpPr>
          <p:spPr>
            <a:xfrm>
              <a:off x="3610099" y="4643252"/>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DC7A8262-2BA3-AAF6-7C06-6F22F1AFE9F2}"/>
                </a:ext>
              </a:extLst>
            </p:cNvPr>
            <p:cNvCxnSpPr/>
            <p:nvPr/>
          </p:nvCxnSpPr>
          <p:spPr>
            <a:xfrm>
              <a:off x="3538849" y="4643251"/>
              <a:ext cx="0" cy="1603169"/>
            </a:xfrm>
            <a:prstGeom prst="line">
              <a:avLst/>
            </a:prstGeom>
          </p:spPr>
          <p:style>
            <a:lnRef idx="2">
              <a:schemeClr val="dk1"/>
            </a:lnRef>
            <a:fillRef idx="0">
              <a:schemeClr val="dk1"/>
            </a:fillRef>
            <a:effectRef idx="1">
              <a:schemeClr val="dk1"/>
            </a:effectRef>
            <a:fontRef idx="minor">
              <a:schemeClr val="tx1"/>
            </a:fontRef>
          </p:style>
        </p:cxnSp>
        <p:grpSp>
          <p:nvGrpSpPr>
            <p:cNvPr id="11" name="Group 10">
              <a:extLst>
                <a:ext uri="{FF2B5EF4-FFF2-40B4-BE49-F238E27FC236}">
                  <a16:creationId xmlns:a16="http://schemas.microsoft.com/office/drawing/2014/main" id="{301D1E11-425F-D249-0F43-1501A22E2EA7}"/>
                </a:ext>
              </a:extLst>
            </p:cNvPr>
            <p:cNvGrpSpPr/>
            <p:nvPr/>
          </p:nvGrpSpPr>
          <p:grpSpPr>
            <a:xfrm>
              <a:off x="7994318" y="4602207"/>
              <a:ext cx="71250" cy="1603170"/>
              <a:chOff x="3691249" y="4605646"/>
              <a:chExt cx="71250" cy="1603170"/>
            </a:xfrm>
          </p:grpSpPr>
          <p:cxnSp>
            <p:nvCxnSpPr>
              <p:cNvPr id="12" name="Straight Connector 11">
                <a:extLst>
                  <a:ext uri="{FF2B5EF4-FFF2-40B4-BE49-F238E27FC236}">
                    <a16:creationId xmlns:a16="http://schemas.microsoft.com/office/drawing/2014/main" id="{E8596643-46D8-7976-B430-01B24A3187C2}"/>
                  </a:ext>
                </a:extLst>
              </p:cNvPr>
              <p:cNvCxnSpPr/>
              <p:nvPr/>
            </p:nvCxnSpPr>
            <p:spPr>
              <a:xfrm>
                <a:off x="3762499" y="46056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201E90B1-8C0D-A8BB-6A4D-5950A6FB7ECB}"/>
                  </a:ext>
                </a:extLst>
              </p:cNvPr>
              <p:cNvCxnSpPr/>
              <p:nvPr/>
            </p:nvCxnSpPr>
            <p:spPr>
              <a:xfrm>
                <a:off x="3691249" y="46056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646EBE4-276A-A4AA-70CA-02F729106245}"/>
                    </a:ext>
                  </a:extLst>
                </p:cNvPr>
                <p:cNvSpPr txBox="1"/>
                <p:nvPr/>
              </p:nvSpPr>
              <p:spPr>
                <a:xfrm>
                  <a:off x="7786625" y="6006739"/>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oMath>
                    </m:oMathPara>
                  </a14:m>
                  <a:endParaRPr lang="en-US" dirty="0"/>
                </a:p>
              </p:txBody>
            </p:sp>
          </mc:Choice>
          <mc:Fallback xmlns="">
            <p:sp>
              <p:nvSpPr>
                <p:cNvPr id="14" name="TextBox 13">
                  <a:extLst>
                    <a:ext uri="{FF2B5EF4-FFF2-40B4-BE49-F238E27FC236}">
                      <a16:creationId xmlns:a16="http://schemas.microsoft.com/office/drawing/2014/main" id="{B646EBE4-276A-A4AA-70CA-02F729106245}"/>
                    </a:ext>
                  </a:extLst>
                </p:cNvPr>
                <p:cNvSpPr txBox="1">
                  <a:spLocks noRot="1" noChangeAspect="1" noMove="1" noResize="1" noEditPoints="1" noAdjustHandles="1" noChangeArrowheads="1" noChangeShapeType="1" noTextEdit="1"/>
                </p:cNvSpPr>
                <p:nvPr/>
              </p:nvSpPr>
              <p:spPr>
                <a:xfrm>
                  <a:off x="7786625" y="6006739"/>
                  <a:ext cx="85502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9A81284-F277-8B55-A53E-6B8F9F3BEE02}"/>
                    </a:ext>
                  </a:extLst>
                </p:cNvPr>
                <p:cNvSpPr txBox="1"/>
                <p:nvPr/>
              </p:nvSpPr>
              <p:spPr>
                <a:xfrm>
                  <a:off x="7758917" y="4486586"/>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15" name="TextBox 14">
                  <a:extLst>
                    <a:ext uri="{FF2B5EF4-FFF2-40B4-BE49-F238E27FC236}">
                      <a16:creationId xmlns:a16="http://schemas.microsoft.com/office/drawing/2014/main" id="{D9A81284-F277-8B55-A53E-6B8F9F3BEE02}"/>
                    </a:ext>
                  </a:extLst>
                </p:cNvPr>
                <p:cNvSpPr txBox="1">
                  <a:spLocks noRot="1" noChangeAspect="1" noMove="1" noResize="1" noEditPoints="1" noAdjustHandles="1" noChangeArrowheads="1" noChangeShapeType="1" noTextEdit="1"/>
                </p:cNvSpPr>
                <p:nvPr/>
              </p:nvSpPr>
              <p:spPr>
                <a:xfrm>
                  <a:off x="7758917" y="4486586"/>
                  <a:ext cx="855021" cy="369332"/>
                </a:xfrm>
                <a:prstGeom prst="rect">
                  <a:avLst/>
                </a:prstGeom>
                <a:blipFill>
                  <a:blip r:embed="rId9"/>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549207E-855C-437C-FD04-CCF775E43E25}"/>
                </a:ext>
              </a:extLst>
            </p:cNvPr>
            <p:cNvSpPr txBox="1"/>
            <p:nvPr/>
          </p:nvSpPr>
          <p:spPr>
            <a:xfrm>
              <a:off x="8580520" y="5219124"/>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17" name="TextBox 16">
              <a:extLst>
                <a:ext uri="{FF2B5EF4-FFF2-40B4-BE49-F238E27FC236}">
                  <a16:creationId xmlns:a16="http://schemas.microsoft.com/office/drawing/2014/main" id="{816E94D8-BDB5-C237-9E3D-CAF7762441EC}"/>
                </a:ext>
              </a:extLst>
            </p:cNvPr>
            <p:cNvSpPr txBox="1"/>
            <p:nvPr/>
          </p:nvSpPr>
          <p:spPr>
            <a:xfrm>
              <a:off x="8505961" y="6238449"/>
              <a:ext cx="3845106" cy="584775"/>
            </a:xfrm>
            <a:prstGeom prst="rect">
              <a:avLst/>
            </a:prstGeom>
            <a:solidFill>
              <a:schemeClr val="bg1"/>
            </a:solidFill>
          </p:spPr>
          <p:txBody>
            <a:bodyPr wrap="square" rtlCol="0">
              <a:spAutoFit/>
            </a:bodyPr>
            <a:lstStyle/>
            <a:p>
              <a:r>
                <a:rPr lang="en-US" sz="1600" dirty="0">
                  <a:solidFill>
                    <a:schemeClr val="accent5"/>
                  </a:solidFill>
                </a:rPr>
                <a:t>This notation means “</a:t>
              </a:r>
              <a:r>
                <a:rPr lang="en-US" sz="1600" dirty="0" err="1">
                  <a:solidFill>
                    <a:schemeClr val="accent5"/>
                  </a:solidFill>
                </a:rPr>
                <a:t>Frobenius</a:t>
              </a:r>
              <a:r>
                <a:rPr lang="en-US" sz="1600" dirty="0">
                  <a:solidFill>
                    <a:schemeClr val="accent5"/>
                  </a:solidFill>
                </a:rPr>
                <a:t> norm,” the sum of the squares of the entries.</a:t>
              </a:r>
            </a:p>
          </p:txBody>
        </p:sp>
        <p:cxnSp>
          <p:nvCxnSpPr>
            <p:cNvPr id="18" name="Straight Arrow Connector 17">
              <a:extLst>
                <a:ext uri="{FF2B5EF4-FFF2-40B4-BE49-F238E27FC236}">
                  <a16:creationId xmlns:a16="http://schemas.microsoft.com/office/drawing/2014/main" id="{6B16EF4E-6E8E-B61D-FCE9-194F0AC6F291}"/>
                </a:ext>
              </a:extLst>
            </p:cNvPr>
            <p:cNvCxnSpPr>
              <a:stCxn id="17" idx="1"/>
            </p:cNvCxnSpPr>
            <p:nvPr/>
          </p:nvCxnSpPr>
          <p:spPr>
            <a:xfrm flipH="1" flipV="1">
              <a:off x="8325656" y="6246420"/>
              <a:ext cx="180305" cy="284417"/>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06D39ABB-1E4A-F53D-D334-92CD8CF6F9E1}"/>
                  </a:ext>
                </a:extLst>
              </p:cNvPr>
              <p:cNvSpPr txBox="1">
                <a:spLocks/>
              </p:cNvSpPr>
              <p:nvPr/>
            </p:nvSpPr>
            <p:spPr>
              <a:xfrm>
                <a:off x="743465" y="4879305"/>
                <a:ext cx="10515600" cy="1492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Regression: </a:t>
                </a:r>
                <a:r>
                  <a:rPr lang="en-US" sz="2400" dirty="0"/>
                  <a:t>Given a vector </a:t>
                </a:r>
                <a14:m>
                  <m:oMath xmlns:m="http://schemas.openxmlformats.org/officeDocument/2006/math">
                    <m:r>
                      <a:rPr lang="en-US" sz="2400" b="1" i="1" dirty="0" smtClean="0">
                        <a:latin typeface="Cambria Math" panose="02040503050406030204" pitchFamily="18" charset="0"/>
                      </a:rPr>
                      <m:t>𝒚</m:t>
                    </m:r>
                  </m:oMath>
                </a14:m>
                <a:r>
                  <a:rPr lang="en-US" sz="2400" dirty="0"/>
                  <a:t> and an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oMath>
                </a14:m>
                <a:r>
                  <a:rPr lang="en-US" sz="2400" dirty="0"/>
                  <a:t> matrix </a:t>
                </a:r>
                <a14:m>
                  <m:oMath xmlns:m="http://schemas.openxmlformats.org/officeDocument/2006/math">
                    <m:r>
                      <a:rPr lang="en-US" sz="2400" b="1" i="1" dirty="0" smtClean="0">
                        <a:latin typeface="Cambria Math" panose="02040503050406030204" pitchFamily="18" charset="0"/>
                      </a:rPr>
                      <m:t>𝑿</m:t>
                    </m:r>
                  </m:oMath>
                </a14:m>
                <a:r>
                  <a:rPr lang="en-US" sz="2400" dirty="0"/>
                  <a:t>, find </a:t>
                </a:r>
                <a14:m>
                  <m:oMath xmlns:m="http://schemas.openxmlformats.org/officeDocument/2006/math">
                    <m:r>
                      <a:rPr lang="en-US" sz="2400" b="1" i="1" smtClean="0">
                        <a:latin typeface="Cambria Math" panose="02040503050406030204" pitchFamily="18" charset="0"/>
                      </a:rPr>
                      <m:t>𝜷</m:t>
                    </m:r>
                  </m:oMath>
                </a14:m>
                <a:r>
                  <a:rPr lang="en-US" sz="2400" dirty="0"/>
                  <a:t> so that: </a:t>
                </a:r>
              </a:p>
              <a:p>
                <a:endParaRPr lang="en-US" sz="2400" dirty="0"/>
              </a:p>
            </p:txBody>
          </p:sp>
        </mc:Choice>
        <mc:Fallback xmlns="">
          <p:sp>
            <p:nvSpPr>
              <p:cNvPr id="20" name="Content Placeholder 2">
                <a:extLst>
                  <a:ext uri="{FF2B5EF4-FFF2-40B4-BE49-F238E27FC236}">
                    <a16:creationId xmlns:a16="http://schemas.microsoft.com/office/drawing/2014/main" id="{06D39ABB-1E4A-F53D-D334-92CD8CF6F9E1}"/>
                  </a:ext>
                </a:extLst>
              </p:cNvPr>
              <p:cNvSpPr txBox="1">
                <a:spLocks noRot="1" noChangeAspect="1" noMove="1" noResize="1" noEditPoints="1" noAdjustHandles="1" noChangeArrowheads="1" noChangeShapeType="1" noTextEdit="1"/>
              </p:cNvSpPr>
              <p:nvPr/>
            </p:nvSpPr>
            <p:spPr>
              <a:xfrm>
                <a:off x="743465" y="4879305"/>
                <a:ext cx="10515600" cy="1492363"/>
              </a:xfrm>
              <a:prstGeom prst="rect">
                <a:avLst/>
              </a:prstGeom>
              <a:blipFill>
                <a:blip r:embed="rId10"/>
                <a:stretch>
                  <a:fillRect l="-844" t="-5932"/>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67ADE69A-CF7F-D3F7-629A-2C1E2A3AF82C}"/>
              </a:ext>
            </a:extLst>
          </p:cNvPr>
          <p:cNvGrpSpPr/>
          <p:nvPr/>
        </p:nvGrpSpPr>
        <p:grpSpPr>
          <a:xfrm>
            <a:off x="2391277" y="5464569"/>
            <a:ext cx="45719" cy="1165702"/>
            <a:chOff x="2220795" y="2569746"/>
            <a:chExt cx="71250" cy="1603170"/>
          </a:xfrm>
        </p:grpSpPr>
        <p:cxnSp>
          <p:nvCxnSpPr>
            <p:cNvPr id="21" name="Straight Connector 20">
              <a:extLst>
                <a:ext uri="{FF2B5EF4-FFF2-40B4-BE49-F238E27FC236}">
                  <a16:creationId xmlns:a16="http://schemas.microsoft.com/office/drawing/2014/main" id="{30BC8556-D857-41BD-6E66-EEFB6F3E077D}"/>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CA1F19B2-ECB6-1127-3134-316B93A5986A}"/>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7154DA3-C0F7-2E23-B356-5D8FF6232292}"/>
                  </a:ext>
                </a:extLst>
              </p:cNvPr>
              <p:cNvSpPr/>
              <p:nvPr/>
            </p:nvSpPr>
            <p:spPr>
              <a:xfrm>
                <a:off x="2620108" y="5513585"/>
                <a:ext cx="461747" cy="106767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24" name="Rectangle 23">
                <a:extLst>
                  <a:ext uri="{FF2B5EF4-FFF2-40B4-BE49-F238E27FC236}">
                    <a16:creationId xmlns:a16="http://schemas.microsoft.com/office/drawing/2014/main" id="{57154DA3-C0F7-2E23-B356-5D8FF6232292}"/>
                  </a:ext>
                </a:extLst>
              </p:cNvPr>
              <p:cNvSpPr>
                <a:spLocks noRot="1" noChangeAspect="1" noMove="1" noResize="1" noEditPoints="1" noAdjustHandles="1" noChangeArrowheads="1" noChangeShapeType="1" noTextEdit="1"/>
              </p:cNvSpPr>
              <p:nvPr/>
            </p:nvSpPr>
            <p:spPr>
              <a:xfrm>
                <a:off x="2620108" y="5513585"/>
                <a:ext cx="461747" cy="106767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596CA96C-EEC6-9A5A-55B4-A237D1E2C231}"/>
                  </a:ext>
                </a:extLst>
              </p:cNvPr>
              <p:cNvSpPr/>
              <p:nvPr/>
            </p:nvSpPr>
            <p:spPr>
              <a:xfrm>
                <a:off x="3176591" y="5515088"/>
                <a:ext cx="227010" cy="57194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rPr>
                        <m:t>𝜷</m:t>
                      </m:r>
                    </m:oMath>
                  </m:oMathPara>
                </a14:m>
                <a:endParaRPr lang="en-US" sz="1000" b="1" dirty="0">
                  <a:solidFill>
                    <a:schemeClr val="tx1"/>
                  </a:solidFill>
                </a:endParaRPr>
              </a:p>
            </p:txBody>
          </p:sp>
        </mc:Choice>
        <mc:Fallback xmlns="">
          <p:sp>
            <p:nvSpPr>
              <p:cNvPr id="25" name="Rectangle 24">
                <a:extLst>
                  <a:ext uri="{FF2B5EF4-FFF2-40B4-BE49-F238E27FC236}">
                    <a16:creationId xmlns:a16="http://schemas.microsoft.com/office/drawing/2014/main" id="{596CA96C-EEC6-9A5A-55B4-A237D1E2C231}"/>
                  </a:ext>
                </a:extLst>
              </p:cNvPr>
              <p:cNvSpPr>
                <a:spLocks noRot="1" noChangeAspect="1" noMove="1" noResize="1" noEditPoints="1" noAdjustHandles="1" noChangeArrowheads="1" noChangeShapeType="1" noTextEdit="1"/>
              </p:cNvSpPr>
              <p:nvPr/>
            </p:nvSpPr>
            <p:spPr>
              <a:xfrm>
                <a:off x="3176591" y="5515088"/>
                <a:ext cx="227010" cy="571946"/>
              </a:xfrm>
              <a:prstGeom prst="rect">
                <a:avLst/>
              </a:prstGeom>
              <a:blipFill>
                <a:blip r:embed="rId12"/>
                <a:stretch>
                  <a:fillRect l="-25000" r="-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1D0A1CD-1F7B-BC45-0A68-31F1E28FA1A5}"/>
                  </a:ext>
                </a:extLst>
              </p:cNvPr>
              <p:cNvSpPr/>
              <p:nvPr/>
            </p:nvSpPr>
            <p:spPr>
              <a:xfrm>
                <a:off x="3815967" y="5513585"/>
                <a:ext cx="223124" cy="1116685"/>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000" b="1" i="1" dirty="0" smtClean="0">
                          <a:solidFill>
                            <a:schemeClr val="bg1"/>
                          </a:solidFill>
                          <a:latin typeface="Cambria Math" panose="02040503050406030204" pitchFamily="18" charset="0"/>
                        </a:rPr>
                        <m:t>𝒚</m:t>
                      </m:r>
                    </m:oMath>
                  </m:oMathPara>
                </a14:m>
                <a:endParaRPr lang="en-US" sz="1000" b="1" dirty="0">
                  <a:solidFill>
                    <a:schemeClr val="bg2">
                      <a:lumMod val="75000"/>
                    </a:schemeClr>
                  </a:solidFill>
                </a:endParaRPr>
              </a:p>
            </p:txBody>
          </p:sp>
        </mc:Choice>
        <mc:Fallback xmlns="">
          <p:sp>
            <p:nvSpPr>
              <p:cNvPr id="26" name="Rectangle 25">
                <a:extLst>
                  <a:ext uri="{FF2B5EF4-FFF2-40B4-BE49-F238E27FC236}">
                    <a16:creationId xmlns:a16="http://schemas.microsoft.com/office/drawing/2014/main" id="{C1D0A1CD-1F7B-BC45-0A68-31F1E28FA1A5}"/>
                  </a:ext>
                </a:extLst>
              </p:cNvPr>
              <p:cNvSpPr>
                <a:spLocks noRot="1" noChangeAspect="1" noMove="1" noResize="1" noEditPoints="1" noAdjustHandles="1" noChangeArrowheads="1" noChangeShapeType="1" noTextEdit="1"/>
              </p:cNvSpPr>
              <p:nvPr/>
            </p:nvSpPr>
            <p:spPr>
              <a:xfrm>
                <a:off x="3815967" y="5513585"/>
                <a:ext cx="223124" cy="1116685"/>
              </a:xfrm>
              <a:prstGeom prst="rect">
                <a:avLst/>
              </a:prstGeom>
              <a:blipFill>
                <a:blip r:embed="rId1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05D5D-DBBF-AFB7-29FD-967CCA1F5573}"/>
                  </a:ext>
                </a:extLst>
              </p:cNvPr>
              <p:cNvSpPr txBox="1"/>
              <p:nvPr/>
            </p:nvSpPr>
            <p:spPr>
              <a:xfrm>
                <a:off x="3359627" y="5887261"/>
                <a:ext cx="5003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27" name="TextBox 26">
                <a:extLst>
                  <a:ext uri="{FF2B5EF4-FFF2-40B4-BE49-F238E27FC236}">
                    <a16:creationId xmlns:a16="http://schemas.microsoft.com/office/drawing/2014/main" id="{CFF05D5D-DBBF-AFB7-29FD-967CCA1F5573}"/>
                  </a:ext>
                </a:extLst>
              </p:cNvPr>
              <p:cNvSpPr txBox="1">
                <a:spLocks noRot="1" noChangeAspect="1" noMove="1" noResize="1" noEditPoints="1" noAdjustHandles="1" noChangeArrowheads="1" noChangeShapeType="1" noTextEdit="1"/>
              </p:cNvSpPr>
              <p:nvPr/>
            </p:nvSpPr>
            <p:spPr>
              <a:xfrm>
                <a:off x="3359627" y="5887261"/>
                <a:ext cx="500314" cy="369332"/>
              </a:xfrm>
              <a:prstGeom prst="rect">
                <a:avLst/>
              </a:prstGeom>
              <a:blipFill>
                <a:blip r:embed="rId14"/>
                <a:stretch>
                  <a:fillRect/>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FEB1E025-A9A6-132F-1D05-2EBFB4A07C83}"/>
              </a:ext>
            </a:extLst>
          </p:cNvPr>
          <p:cNvGrpSpPr/>
          <p:nvPr/>
        </p:nvGrpSpPr>
        <p:grpSpPr>
          <a:xfrm>
            <a:off x="4226588" y="5505900"/>
            <a:ext cx="45719" cy="1165702"/>
            <a:chOff x="2220795" y="2569746"/>
            <a:chExt cx="71250" cy="1603170"/>
          </a:xfrm>
        </p:grpSpPr>
        <p:cxnSp>
          <p:nvCxnSpPr>
            <p:cNvPr id="29" name="Straight Connector 28">
              <a:extLst>
                <a:ext uri="{FF2B5EF4-FFF2-40B4-BE49-F238E27FC236}">
                  <a16:creationId xmlns:a16="http://schemas.microsoft.com/office/drawing/2014/main" id="{3087DAEC-30EE-44D4-DDEA-B3E99AE579DB}"/>
                </a:ext>
              </a:extLst>
            </p:cNvPr>
            <p:cNvCxnSpPr/>
            <p:nvPr/>
          </p:nvCxnSpPr>
          <p:spPr>
            <a:xfrm>
              <a:off x="2292045" y="2569747"/>
              <a:ext cx="0" cy="1603169"/>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FFB95026-E63B-F13F-2E16-33381FD41117}"/>
                </a:ext>
              </a:extLst>
            </p:cNvPr>
            <p:cNvCxnSpPr/>
            <p:nvPr/>
          </p:nvCxnSpPr>
          <p:spPr>
            <a:xfrm>
              <a:off x="2220795" y="2569746"/>
              <a:ext cx="0" cy="160316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5EE070E-64DE-9362-8A14-2B88F4679B0E}"/>
                  </a:ext>
                </a:extLst>
              </p:cNvPr>
              <p:cNvSpPr txBox="1"/>
              <p:nvPr/>
            </p:nvSpPr>
            <p:spPr>
              <a:xfrm>
                <a:off x="3944355" y="5349601"/>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2" name="TextBox 31">
                <a:extLst>
                  <a:ext uri="{FF2B5EF4-FFF2-40B4-BE49-F238E27FC236}">
                    <a16:creationId xmlns:a16="http://schemas.microsoft.com/office/drawing/2014/main" id="{A5EE070E-64DE-9362-8A14-2B88F4679B0E}"/>
                  </a:ext>
                </a:extLst>
              </p:cNvPr>
              <p:cNvSpPr txBox="1">
                <a:spLocks noRot="1" noChangeAspect="1" noMove="1" noResize="1" noEditPoints="1" noAdjustHandles="1" noChangeArrowheads="1" noChangeShapeType="1" noTextEdit="1"/>
              </p:cNvSpPr>
              <p:nvPr/>
            </p:nvSpPr>
            <p:spPr>
              <a:xfrm>
                <a:off x="3944355" y="5349601"/>
                <a:ext cx="855021"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F23C22A-06DE-15A0-756F-A132139E22BE}"/>
                  </a:ext>
                </a:extLst>
              </p:cNvPr>
              <p:cNvSpPr txBox="1"/>
              <p:nvPr/>
            </p:nvSpPr>
            <p:spPr>
              <a:xfrm>
                <a:off x="3949501" y="6473928"/>
                <a:ext cx="8550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US" dirty="0"/>
              </a:p>
            </p:txBody>
          </p:sp>
        </mc:Choice>
        <mc:Fallback xmlns="">
          <p:sp>
            <p:nvSpPr>
              <p:cNvPr id="33" name="TextBox 32">
                <a:extLst>
                  <a:ext uri="{FF2B5EF4-FFF2-40B4-BE49-F238E27FC236}">
                    <a16:creationId xmlns:a16="http://schemas.microsoft.com/office/drawing/2014/main" id="{5F23C22A-06DE-15A0-756F-A132139E22BE}"/>
                  </a:ext>
                </a:extLst>
              </p:cNvPr>
              <p:cNvSpPr txBox="1">
                <a:spLocks noRot="1" noChangeAspect="1" noMove="1" noResize="1" noEditPoints="1" noAdjustHandles="1" noChangeArrowheads="1" noChangeShapeType="1" noTextEdit="1"/>
              </p:cNvSpPr>
              <p:nvPr/>
            </p:nvSpPr>
            <p:spPr>
              <a:xfrm>
                <a:off x="3949501" y="6473928"/>
                <a:ext cx="855021" cy="369332"/>
              </a:xfrm>
              <a:prstGeom prst="rect">
                <a:avLst/>
              </a:prstGeom>
              <a:blipFill>
                <a:blip r:embed="rId16"/>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96D2D090-F35B-3F8F-BD9B-2AE3D1A3793A}"/>
              </a:ext>
            </a:extLst>
          </p:cNvPr>
          <p:cNvSpPr txBox="1"/>
          <p:nvPr/>
        </p:nvSpPr>
        <p:spPr>
          <a:xfrm>
            <a:off x="4495431" y="5833843"/>
            <a:ext cx="324960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is as small as possible</a:t>
            </a:r>
          </a:p>
        </p:txBody>
      </p:sp>
      <p:sp>
        <p:nvSpPr>
          <p:cNvPr id="35" name="TextBox 34">
            <a:extLst>
              <a:ext uri="{FF2B5EF4-FFF2-40B4-BE49-F238E27FC236}">
                <a16:creationId xmlns:a16="http://schemas.microsoft.com/office/drawing/2014/main" id="{75C341BE-3F76-9E71-92E2-0366379B73D0}"/>
              </a:ext>
            </a:extLst>
          </p:cNvPr>
          <p:cNvSpPr txBox="1"/>
          <p:nvPr/>
        </p:nvSpPr>
        <p:spPr>
          <a:xfrm>
            <a:off x="5172324" y="6288867"/>
            <a:ext cx="3845106" cy="584775"/>
          </a:xfrm>
          <a:prstGeom prst="rect">
            <a:avLst/>
          </a:prstGeom>
          <a:solidFill>
            <a:schemeClr val="bg1"/>
          </a:solidFill>
        </p:spPr>
        <p:txBody>
          <a:bodyPr wrap="square" rtlCol="0">
            <a:spAutoFit/>
          </a:bodyPr>
          <a:lstStyle/>
          <a:p>
            <a:r>
              <a:rPr lang="en-US" sz="1600" dirty="0">
                <a:solidFill>
                  <a:schemeClr val="accent5"/>
                </a:solidFill>
              </a:rPr>
              <a:t>This notation also means the sum of the squares of the entries.</a:t>
            </a:r>
          </a:p>
        </p:txBody>
      </p:sp>
      <p:cxnSp>
        <p:nvCxnSpPr>
          <p:cNvPr id="36" name="Straight Arrow Connector 35">
            <a:extLst>
              <a:ext uri="{FF2B5EF4-FFF2-40B4-BE49-F238E27FC236}">
                <a16:creationId xmlns:a16="http://schemas.microsoft.com/office/drawing/2014/main" id="{C26F6328-ED72-6451-2EA2-7231271F3972}"/>
              </a:ext>
            </a:extLst>
          </p:cNvPr>
          <p:cNvCxnSpPr>
            <a:cxnSpLocks/>
            <a:stCxn id="35" idx="1"/>
          </p:cNvCxnSpPr>
          <p:nvPr/>
        </p:nvCxnSpPr>
        <p:spPr>
          <a:xfrm flipH="1">
            <a:off x="4503676" y="6581255"/>
            <a:ext cx="668648" cy="72399"/>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EA92636-EFB2-02EC-8F5E-3AAB30AC6A99}"/>
                  </a:ext>
                </a:extLst>
              </p:cNvPr>
              <p:cNvSpPr txBox="1"/>
              <p:nvPr/>
            </p:nvSpPr>
            <p:spPr>
              <a:xfrm>
                <a:off x="9133662" y="2399180"/>
                <a:ext cx="2606226" cy="461665"/>
              </a:xfrm>
              <a:prstGeom prst="rect">
                <a:avLst/>
              </a:prstGeom>
              <a:noFill/>
            </p:spPr>
            <p:txBody>
              <a:bodyPr wrap="none" rtlCol="0">
                <a:spAutoFit/>
              </a:bodyPr>
              <a:lstStyle/>
              <a:p>
                <a:r>
                  <a:rPr lang="en-US" sz="2400" b="1" dirty="0">
                    <a:solidFill>
                      <a:schemeClr val="accent2"/>
                    </a:solidFill>
                  </a:rPr>
                  <a:t>We don’t know </a:t>
                </a:r>
                <a14:m>
                  <m:oMath xmlns:m="http://schemas.openxmlformats.org/officeDocument/2006/math">
                    <m:r>
                      <a:rPr lang="en-US" sz="2400" b="1" i="1" dirty="0" smtClean="0">
                        <a:solidFill>
                          <a:schemeClr val="accent2"/>
                        </a:solidFill>
                        <a:latin typeface="Cambria Math" panose="02040503050406030204" pitchFamily="18" charset="0"/>
                      </a:rPr>
                      <m:t>𝑿</m:t>
                    </m:r>
                  </m:oMath>
                </a14:m>
                <a:r>
                  <a:rPr lang="en-US" sz="2400" b="1" dirty="0">
                    <a:solidFill>
                      <a:schemeClr val="accent2"/>
                    </a:solidFill>
                  </a:rPr>
                  <a:t>!</a:t>
                </a:r>
              </a:p>
            </p:txBody>
          </p:sp>
        </mc:Choice>
        <mc:Fallback xmlns="">
          <p:sp>
            <p:nvSpPr>
              <p:cNvPr id="31" name="TextBox 30">
                <a:extLst>
                  <a:ext uri="{FF2B5EF4-FFF2-40B4-BE49-F238E27FC236}">
                    <a16:creationId xmlns:a16="http://schemas.microsoft.com/office/drawing/2014/main" id="{7EA92636-EFB2-02EC-8F5E-3AAB30AC6A99}"/>
                  </a:ext>
                </a:extLst>
              </p:cNvPr>
              <p:cNvSpPr txBox="1">
                <a:spLocks noRot="1" noChangeAspect="1" noMove="1" noResize="1" noEditPoints="1" noAdjustHandles="1" noChangeArrowheads="1" noChangeShapeType="1" noTextEdit="1"/>
              </p:cNvSpPr>
              <p:nvPr/>
            </p:nvSpPr>
            <p:spPr>
              <a:xfrm>
                <a:off x="9133662" y="2399180"/>
                <a:ext cx="2606226" cy="461665"/>
              </a:xfrm>
              <a:prstGeom prst="rect">
                <a:avLst/>
              </a:prstGeom>
              <a:blipFill>
                <a:blip r:embed="rId17"/>
                <a:stretch>
                  <a:fillRect l="-3883" t="-13514" r="-2427"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71C2C63-160C-F019-C75D-BCFD3CDF16BB}"/>
                  </a:ext>
                </a:extLst>
              </p:cNvPr>
              <p:cNvSpPr txBox="1"/>
              <p:nvPr/>
            </p:nvSpPr>
            <p:spPr>
              <a:xfrm>
                <a:off x="9197032" y="5555292"/>
                <a:ext cx="1817292" cy="461665"/>
              </a:xfrm>
              <a:prstGeom prst="rect">
                <a:avLst/>
              </a:prstGeom>
              <a:noFill/>
            </p:spPr>
            <p:txBody>
              <a:bodyPr wrap="none" rtlCol="0">
                <a:spAutoFit/>
              </a:bodyPr>
              <a:lstStyle/>
              <a:p>
                <a:r>
                  <a:rPr lang="en-US" sz="2400" b="1" dirty="0">
                    <a:solidFill>
                      <a:schemeClr val="accent2"/>
                    </a:solidFill>
                  </a:rPr>
                  <a:t>We know </a:t>
                </a:r>
                <a14:m>
                  <m:oMath xmlns:m="http://schemas.openxmlformats.org/officeDocument/2006/math">
                    <m:r>
                      <a:rPr lang="en-US" sz="2400" b="1" i="1" dirty="0" smtClean="0">
                        <a:solidFill>
                          <a:schemeClr val="accent2"/>
                        </a:solidFill>
                        <a:latin typeface="Cambria Math" panose="02040503050406030204" pitchFamily="18" charset="0"/>
                      </a:rPr>
                      <m:t>𝑿</m:t>
                    </m:r>
                  </m:oMath>
                </a14:m>
                <a:r>
                  <a:rPr lang="en-US" sz="2400" b="1" dirty="0">
                    <a:solidFill>
                      <a:schemeClr val="accent2"/>
                    </a:solidFill>
                  </a:rPr>
                  <a:t>.</a:t>
                </a:r>
              </a:p>
            </p:txBody>
          </p:sp>
        </mc:Choice>
        <mc:Fallback xmlns="">
          <p:sp>
            <p:nvSpPr>
              <p:cNvPr id="37" name="TextBox 36">
                <a:extLst>
                  <a:ext uri="{FF2B5EF4-FFF2-40B4-BE49-F238E27FC236}">
                    <a16:creationId xmlns:a16="http://schemas.microsoft.com/office/drawing/2014/main" id="{371C2C63-160C-F019-C75D-BCFD3CDF16BB}"/>
                  </a:ext>
                </a:extLst>
              </p:cNvPr>
              <p:cNvSpPr txBox="1">
                <a:spLocks noRot="1" noChangeAspect="1" noMove="1" noResize="1" noEditPoints="1" noAdjustHandles="1" noChangeArrowheads="1" noChangeShapeType="1" noTextEdit="1"/>
              </p:cNvSpPr>
              <p:nvPr/>
            </p:nvSpPr>
            <p:spPr>
              <a:xfrm>
                <a:off x="9197032" y="5555292"/>
                <a:ext cx="1817292" cy="461665"/>
              </a:xfrm>
              <a:prstGeom prst="rect">
                <a:avLst/>
              </a:prstGeom>
              <a:blipFill>
                <a:blip r:embed="rId18"/>
                <a:stretch>
                  <a:fillRect l="-5556" t="-10811" r="-4167" b="-29730"/>
                </a:stretch>
              </a:blipFill>
            </p:spPr>
            <p:txBody>
              <a:bodyPr/>
              <a:lstStyle/>
              <a:p>
                <a:r>
                  <a:rPr lang="en-US">
                    <a:noFill/>
                  </a:rPr>
                  <a:t> </a:t>
                </a:r>
              </a:p>
            </p:txBody>
          </p:sp>
        </mc:Fallback>
      </mc:AlternateContent>
    </p:spTree>
    <p:extLst>
      <p:ext uri="{BB962C8B-B14F-4D97-AF65-F5344CB8AC3E}">
        <p14:creationId xmlns:p14="http://schemas.microsoft.com/office/powerpoint/2010/main" val="4272783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684B-D175-9112-95B3-BD9EE3A7F891}"/>
              </a:ext>
            </a:extLst>
          </p:cNvPr>
          <p:cNvSpPr>
            <a:spLocks noGrp="1"/>
          </p:cNvSpPr>
          <p:nvPr>
            <p:ph type="title"/>
          </p:nvPr>
        </p:nvSpPr>
        <p:spPr>
          <a:xfrm>
            <a:off x="838200" y="665683"/>
            <a:ext cx="10515600" cy="778727"/>
          </a:xfrm>
        </p:spPr>
        <p:txBody>
          <a:bodyPr/>
          <a:lstStyle/>
          <a:p>
            <a:r>
              <a:rPr lang="en-US" dirty="0"/>
              <a:t>How can we solve this?</a:t>
            </a:r>
          </a:p>
        </p:txBody>
      </p:sp>
      <p:sp>
        <p:nvSpPr>
          <p:cNvPr id="3" name="Content Placeholder 2">
            <a:extLst>
              <a:ext uri="{FF2B5EF4-FFF2-40B4-BE49-F238E27FC236}">
                <a16:creationId xmlns:a16="http://schemas.microsoft.com/office/drawing/2014/main" id="{90B79A1E-8AB5-6036-B230-322F069237DE}"/>
              </a:ext>
            </a:extLst>
          </p:cNvPr>
          <p:cNvSpPr>
            <a:spLocks noGrp="1"/>
          </p:cNvSpPr>
          <p:nvPr>
            <p:ph idx="1"/>
          </p:nvPr>
        </p:nvSpPr>
        <p:spPr>
          <a:xfrm>
            <a:off x="838200" y="1763486"/>
            <a:ext cx="10515600" cy="3829640"/>
          </a:xfrm>
        </p:spPr>
        <p:txBody>
          <a:bodyPr/>
          <a:lstStyle/>
          <a:p>
            <a:r>
              <a:rPr lang="en-US" dirty="0"/>
              <a:t>With </a:t>
            </a:r>
            <a:r>
              <a:rPr lang="en-US" b="1" dirty="0"/>
              <a:t>Singular Value Decomposition </a:t>
            </a:r>
            <a:r>
              <a:rPr lang="en-US" dirty="0"/>
              <a:t>(SVD)</a:t>
            </a:r>
          </a:p>
          <a:p>
            <a:pPr lvl="1"/>
            <a:r>
              <a:rPr lang="en-US" dirty="0">
                <a:solidFill>
                  <a:schemeClr val="accent1"/>
                </a:solidFill>
              </a:rPr>
              <a:t>Related to </a:t>
            </a:r>
            <a:r>
              <a:rPr lang="en-US" i="1" dirty="0">
                <a:solidFill>
                  <a:schemeClr val="accent1"/>
                </a:solidFill>
              </a:rPr>
              <a:t>Principal Component Analysis </a:t>
            </a:r>
            <a:r>
              <a:rPr lang="en-US" dirty="0">
                <a:solidFill>
                  <a:schemeClr val="accent1"/>
                </a:solidFill>
              </a:rPr>
              <a:t>(PCA).</a:t>
            </a:r>
          </a:p>
          <a:p>
            <a:endParaRPr lang="en-US" dirty="0">
              <a:solidFill>
                <a:schemeClr val="tx1"/>
              </a:solidFill>
            </a:endParaRPr>
          </a:p>
        </p:txBody>
      </p:sp>
      <p:grpSp>
        <p:nvGrpSpPr>
          <p:cNvPr id="9" name="Group 8">
            <a:extLst>
              <a:ext uri="{FF2B5EF4-FFF2-40B4-BE49-F238E27FC236}">
                <a16:creationId xmlns:a16="http://schemas.microsoft.com/office/drawing/2014/main" id="{DE13FFD4-5AD4-57F8-5D0E-2B4A0C205588}"/>
              </a:ext>
            </a:extLst>
          </p:cNvPr>
          <p:cNvGrpSpPr/>
          <p:nvPr/>
        </p:nvGrpSpPr>
        <p:grpSpPr>
          <a:xfrm>
            <a:off x="838200" y="4682791"/>
            <a:ext cx="6807286" cy="1820669"/>
            <a:chOff x="1862361" y="3772457"/>
            <a:chExt cx="4684182" cy="1252826"/>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0A87462-B8B9-40CB-581F-B1F23C766C10}"/>
                    </a:ext>
                  </a:extLst>
                </p:cNvPr>
                <p:cNvSpPr/>
                <p:nvPr/>
              </p:nvSpPr>
              <p:spPr>
                <a:xfrm>
                  <a:off x="1862361" y="3772457"/>
                  <a:ext cx="1770393" cy="1240482"/>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1" i="1" dirty="0" smtClean="0">
                            <a:solidFill>
                              <a:schemeClr val="bg1"/>
                            </a:solidFill>
                            <a:latin typeface="Cambria Math" panose="02040503050406030204" pitchFamily="18" charset="0"/>
                          </a:rPr>
                          <m:t>𝒀</m:t>
                        </m:r>
                      </m:oMath>
                    </m:oMathPara>
                  </a14:m>
                  <a:endParaRPr lang="en-US" sz="1000" b="1" dirty="0">
                    <a:solidFill>
                      <a:schemeClr val="bg1"/>
                    </a:solidFill>
                  </a:endParaRPr>
                </a:p>
              </p:txBody>
            </p:sp>
          </mc:Choice>
          <mc:Fallback xmlns="">
            <p:sp>
              <p:nvSpPr>
                <p:cNvPr id="4" name="Rectangle 3">
                  <a:extLst>
                    <a:ext uri="{FF2B5EF4-FFF2-40B4-BE49-F238E27FC236}">
                      <a16:creationId xmlns:a16="http://schemas.microsoft.com/office/drawing/2014/main" id="{30A87462-B8B9-40CB-581F-B1F23C766C10}"/>
                    </a:ext>
                  </a:extLst>
                </p:cNvPr>
                <p:cNvSpPr>
                  <a:spLocks noRot="1" noChangeAspect="1" noMove="1" noResize="1" noEditPoints="1" noAdjustHandles="1" noChangeArrowheads="1" noChangeShapeType="1" noTextEdit="1"/>
                </p:cNvSpPr>
                <p:nvPr/>
              </p:nvSpPr>
              <p:spPr>
                <a:xfrm>
                  <a:off x="1862361" y="3772457"/>
                  <a:ext cx="1770393" cy="1240482"/>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1B7CB26-0F25-AFEF-7C5B-23A91F35F52B}"/>
                    </a:ext>
                  </a:extLst>
                </p:cNvPr>
                <p:cNvSpPr/>
                <p:nvPr/>
              </p:nvSpPr>
              <p:spPr>
                <a:xfrm>
                  <a:off x="4092893" y="3784801"/>
                  <a:ext cx="736671" cy="1240482"/>
                </a:xfrm>
                <a:prstGeom prst="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1" i="1" dirty="0" smtClean="0">
                            <a:solidFill>
                              <a:schemeClr val="tx1"/>
                            </a:solidFill>
                            <a:latin typeface="Cambria Math" panose="02040503050406030204" pitchFamily="18" charset="0"/>
                          </a:rPr>
                          <m:t>𝑿</m:t>
                        </m:r>
                      </m:oMath>
                    </m:oMathPara>
                  </a14:m>
                  <a:endParaRPr lang="en-US" sz="1000" b="1" dirty="0">
                    <a:solidFill>
                      <a:schemeClr val="tx1"/>
                    </a:solidFill>
                  </a:endParaRPr>
                </a:p>
              </p:txBody>
            </p:sp>
          </mc:Choice>
          <mc:Fallback xmlns="">
            <p:sp>
              <p:nvSpPr>
                <p:cNvPr id="5" name="Rectangle 4">
                  <a:extLst>
                    <a:ext uri="{FF2B5EF4-FFF2-40B4-BE49-F238E27FC236}">
                      <a16:creationId xmlns:a16="http://schemas.microsoft.com/office/drawing/2014/main" id="{01B7CB26-0F25-AFEF-7C5B-23A91F35F52B}"/>
                    </a:ext>
                  </a:extLst>
                </p:cNvPr>
                <p:cNvSpPr>
                  <a:spLocks noRot="1" noChangeAspect="1" noMove="1" noResize="1" noEditPoints="1" noAdjustHandles="1" noChangeArrowheads="1" noChangeShapeType="1" noTextEdit="1"/>
                </p:cNvSpPr>
                <p:nvPr/>
              </p:nvSpPr>
              <p:spPr>
                <a:xfrm>
                  <a:off x="4092893" y="3784801"/>
                  <a:ext cx="736671" cy="1240482"/>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2EE9119-3808-A7AD-6656-DC76F5B803BB}"/>
                    </a:ext>
                  </a:extLst>
                </p:cNvPr>
                <p:cNvSpPr/>
                <p:nvPr/>
              </p:nvSpPr>
              <p:spPr>
                <a:xfrm>
                  <a:off x="4975669" y="3784801"/>
                  <a:ext cx="1570874" cy="758741"/>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1" i="1" dirty="0" smtClean="0">
                            <a:solidFill>
                              <a:schemeClr val="tx1"/>
                            </a:solidFill>
                            <a:latin typeface="Cambria Math" panose="02040503050406030204" pitchFamily="18" charset="0"/>
                          </a:rPr>
                          <m:t>𝑩</m:t>
                        </m:r>
                      </m:oMath>
                    </m:oMathPara>
                  </a14:m>
                  <a:endParaRPr lang="en-US" sz="1000" b="1" dirty="0">
                    <a:solidFill>
                      <a:schemeClr val="bg1"/>
                    </a:solidFill>
                  </a:endParaRPr>
                </a:p>
              </p:txBody>
            </p:sp>
          </mc:Choice>
          <mc:Fallback xmlns="">
            <p:sp>
              <p:nvSpPr>
                <p:cNvPr id="12" name="Rectangle 11">
                  <a:extLst>
                    <a:ext uri="{FF2B5EF4-FFF2-40B4-BE49-F238E27FC236}">
                      <a16:creationId xmlns:a16="http://schemas.microsoft.com/office/drawing/2014/main" id="{82EE9119-3808-A7AD-6656-DC76F5B803BB}"/>
                    </a:ext>
                  </a:extLst>
                </p:cNvPr>
                <p:cNvSpPr>
                  <a:spLocks noRot="1" noChangeAspect="1" noMove="1" noResize="1" noEditPoints="1" noAdjustHandles="1" noChangeArrowheads="1" noChangeShapeType="1" noTextEdit="1"/>
                </p:cNvSpPr>
                <p:nvPr/>
              </p:nvSpPr>
              <p:spPr>
                <a:xfrm>
                  <a:off x="4975669" y="3784801"/>
                  <a:ext cx="1570874" cy="758741"/>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7A53476-79EB-9F2A-513D-95258E59B1BA}"/>
                    </a:ext>
                  </a:extLst>
                </p:cNvPr>
                <p:cNvSpPr txBox="1"/>
                <p:nvPr/>
              </p:nvSpPr>
              <p:spPr>
                <a:xfrm>
                  <a:off x="3494193" y="4112655"/>
                  <a:ext cx="74515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oMath>
                    </m:oMathPara>
                  </a14:m>
                  <a:endParaRPr lang="en-US" sz="3200" dirty="0"/>
                </a:p>
              </p:txBody>
            </p:sp>
          </mc:Choice>
          <mc:Fallback xmlns="">
            <p:sp>
              <p:nvSpPr>
                <p:cNvPr id="13" name="TextBox 12">
                  <a:extLst>
                    <a:ext uri="{FF2B5EF4-FFF2-40B4-BE49-F238E27FC236}">
                      <a16:creationId xmlns:a16="http://schemas.microsoft.com/office/drawing/2014/main" id="{E7A53476-79EB-9F2A-513D-95258E59B1BA}"/>
                    </a:ext>
                  </a:extLst>
                </p:cNvPr>
                <p:cNvSpPr txBox="1">
                  <a:spLocks noRot="1" noChangeAspect="1" noMove="1" noResize="1" noEditPoints="1" noAdjustHandles="1" noChangeArrowheads="1" noChangeShapeType="1" noTextEdit="1"/>
                </p:cNvSpPr>
                <p:nvPr/>
              </p:nvSpPr>
              <p:spPr>
                <a:xfrm>
                  <a:off x="3494193" y="4112655"/>
                  <a:ext cx="745152" cy="584775"/>
                </a:xfrm>
                <a:prstGeom prst="rect">
                  <a:avLst/>
                </a:prstGeom>
                <a:blipFill>
                  <a:blip r:embed="rId6"/>
                  <a:stretch>
                    <a:fillRect/>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46CE97E3-327E-F96D-4B8B-DA1C95147007}"/>
              </a:ext>
            </a:extLst>
          </p:cNvPr>
          <p:cNvGrpSpPr/>
          <p:nvPr/>
        </p:nvGrpSpPr>
        <p:grpSpPr>
          <a:xfrm>
            <a:off x="8987246" y="2988160"/>
            <a:ext cx="2966435" cy="2427248"/>
            <a:chOff x="10055961" y="3937820"/>
            <a:chExt cx="2966435" cy="2427248"/>
          </a:xfrm>
        </p:grpSpPr>
        <p:pic>
          <p:nvPicPr>
            <p:cNvPr id="7" name="Picture 6">
              <a:extLst>
                <a:ext uri="{FF2B5EF4-FFF2-40B4-BE49-F238E27FC236}">
                  <a16:creationId xmlns:a16="http://schemas.microsoft.com/office/drawing/2014/main" id="{947DCC42-F4ED-FFC9-876C-311B23723F1A}"/>
                </a:ext>
              </a:extLst>
            </p:cNvPr>
            <p:cNvPicPr>
              <a:picLocks noChangeAspect="1"/>
            </p:cNvPicPr>
            <p:nvPr/>
          </p:nvPicPr>
          <p:blipFill>
            <a:blip r:embed="rId7"/>
            <a:stretch>
              <a:fillRect/>
            </a:stretch>
          </p:blipFill>
          <p:spPr>
            <a:xfrm>
              <a:off x="12267459" y="5015038"/>
              <a:ext cx="583056" cy="1350030"/>
            </a:xfrm>
            <a:prstGeom prst="rect">
              <a:avLst/>
            </a:prstGeom>
          </p:spPr>
        </p:pic>
        <p:sp>
          <p:nvSpPr>
            <p:cNvPr id="8" name="TextBox 7">
              <a:extLst>
                <a:ext uri="{FF2B5EF4-FFF2-40B4-BE49-F238E27FC236}">
                  <a16:creationId xmlns:a16="http://schemas.microsoft.com/office/drawing/2014/main" id="{A4BFCA95-6397-3FCC-0CDC-0C1D2029A2FB}"/>
                </a:ext>
              </a:extLst>
            </p:cNvPr>
            <p:cNvSpPr txBox="1"/>
            <p:nvPr/>
          </p:nvSpPr>
          <p:spPr>
            <a:xfrm>
              <a:off x="10055961" y="3937820"/>
              <a:ext cx="2966435" cy="1077218"/>
            </a:xfrm>
            <a:prstGeom prst="rect">
              <a:avLst/>
            </a:prstGeom>
            <a:noFill/>
          </p:spPr>
          <p:txBody>
            <a:bodyPr wrap="square">
              <a:spAutoFit/>
            </a:bodyPr>
            <a:lstStyle/>
            <a:p>
              <a:pPr algn="r"/>
              <a:r>
                <a:rPr lang="en-US" sz="1600" dirty="0">
                  <a:solidFill>
                    <a:srgbClr val="0070C0"/>
                  </a:solidFill>
                </a:rPr>
                <a:t>Again, how to do this is beyond the scope of this class – take, e.g., CME250, CS229, STATS 325, or CME309!</a:t>
              </a:r>
            </a:p>
          </p:txBody>
        </p:sp>
      </p:grpSp>
      <p:sp>
        <p:nvSpPr>
          <p:cNvPr id="10" name="TextBox 9">
            <a:extLst>
              <a:ext uri="{FF2B5EF4-FFF2-40B4-BE49-F238E27FC236}">
                <a16:creationId xmlns:a16="http://schemas.microsoft.com/office/drawing/2014/main" id="{00FA23FB-97D6-87E2-0AE6-836FA1ADC70F}"/>
              </a:ext>
            </a:extLst>
          </p:cNvPr>
          <p:cNvSpPr txBox="1"/>
          <p:nvPr/>
        </p:nvSpPr>
        <p:spPr>
          <a:xfrm>
            <a:off x="515747" y="4216083"/>
            <a:ext cx="3711144" cy="369332"/>
          </a:xfrm>
          <a:prstGeom prst="rect">
            <a:avLst/>
          </a:prstGeom>
          <a:noFill/>
        </p:spPr>
        <p:txBody>
          <a:bodyPr wrap="none" rtlCol="0">
            <a:spAutoFit/>
          </a:bodyPr>
          <a:lstStyle/>
          <a:p>
            <a:r>
              <a:rPr lang="en-US" dirty="0"/>
              <a:t>Given Y, SVD returns X and B so that</a:t>
            </a:r>
          </a:p>
        </p:txBody>
      </p:sp>
    </p:spTree>
    <p:extLst>
      <p:ext uri="{BB962C8B-B14F-4D97-AF65-F5344CB8AC3E}">
        <p14:creationId xmlns:p14="http://schemas.microsoft.com/office/powerpoint/2010/main" val="2770076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1410-63D0-FA4A-BEA0-E6253BBEF78D}"/>
              </a:ext>
            </a:extLst>
          </p:cNvPr>
          <p:cNvSpPr>
            <a:spLocks noGrp="1"/>
          </p:cNvSpPr>
          <p:nvPr>
            <p:ph type="title"/>
          </p:nvPr>
        </p:nvSpPr>
        <p:spPr>
          <a:xfrm>
            <a:off x="727984" y="117046"/>
            <a:ext cx="10515600" cy="1325563"/>
          </a:xfrm>
        </p:spPr>
        <p:txBody>
          <a:bodyPr/>
          <a:lstStyle/>
          <a:p>
            <a:r>
              <a:rPr lang="en-US" sz="3200" dirty="0"/>
              <a:t>Suppose we do this on the </a:t>
            </a:r>
            <a:br>
              <a:rPr lang="en-US" dirty="0"/>
            </a:br>
            <a:r>
              <a:rPr lang="en-US" dirty="0"/>
              <a:t>OECD data</a:t>
            </a:r>
          </a:p>
        </p:txBody>
      </p:sp>
      <p:sp>
        <p:nvSpPr>
          <p:cNvPr id="3" name="Content Placeholder 2">
            <a:extLst>
              <a:ext uri="{FF2B5EF4-FFF2-40B4-BE49-F238E27FC236}">
                <a16:creationId xmlns:a16="http://schemas.microsoft.com/office/drawing/2014/main" id="{10650FAD-BDE4-04EF-7799-CF718810E461}"/>
              </a:ext>
            </a:extLst>
          </p:cNvPr>
          <p:cNvSpPr>
            <a:spLocks noGrp="1"/>
          </p:cNvSpPr>
          <p:nvPr>
            <p:ph idx="1"/>
          </p:nvPr>
        </p:nvSpPr>
        <p:spPr>
          <a:xfrm>
            <a:off x="693367" y="1446017"/>
            <a:ext cx="10515600" cy="4351338"/>
          </a:xfrm>
        </p:spPr>
        <p:txBody>
          <a:bodyPr/>
          <a:lstStyle/>
          <a:p>
            <a:r>
              <a:rPr lang="en-US" dirty="0"/>
              <a:t>How do we interpret what we get?</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E8923C3-C622-C327-2835-E540945D7EA4}"/>
                  </a:ext>
                </a:extLst>
              </p:cNvPr>
              <p:cNvSpPr/>
              <p:nvPr/>
            </p:nvSpPr>
            <p:spPr>
              <a:xfrm>
                <a:off x="1700677" y="2622840"/>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dirty="0" smtClean="0">
                          <a:solidFill>
                            <a:schemeClr val="tx1"/>
                          </a:solidFill>
                          <a:latin typeface="Cambria Math" panose="02040503050406030204" pitchFamily="18" charset="0"/>
                        </a:rPr>
                        <m:t>𝑋</m:t>
                      </m:r>
                    </m:oMath>
                  </m:oMathPara>
                </a14:m>
                <a:endParaRPr lang="en-US" dirty="0">
                  <a:solidFill>
                    <a:schemeClr val="tx1"/>
                  </a:solidFill>
                </a:endParaRPr>
              </a:p>
            </p:txBody>
          </p:sp>
        </mc:Choice>
        <mc:Fallback xmlns="">
          <p:sp>
            <p:nvSpPr>
              <p:cNvPr id="4" name="Rectangle 3">
                <a:extLst>
                  <a:ext uri="{FF2B5EF4-FFF2-40B4-BE49-F238E27FC236}">
                    <a16:creationId xmlns:a16="http://schemas.microsoft.com/office/drawing/2014/main" id="{6E8923C3-C622-C327-2835-E540945D7EA4}"/>
                  </a:ext>
                </a:extLst>
              </p:cNvPr>
              <p:cNvSpPr>
                <a:spLocks noRot="1" noChangeAspect="1" noMove="1" noResize="1" noEditPoints="1" noAdjustHandles="1" noChangeArrowheads="1" noChangeShapeType="1" noTextEdit="1"/>
              </p:cNvSpPr>
              <p:nvPr/>
            </p:nvSpPr>
            <p:spPr>
              <a:xfrm>
                <a:off x="1700677" y="2622840"/>
                <a:ext cx="1036051" cy="35773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68DA0BD-A11E-21D3-A6CD-5C77F2005396}"/>
                  </a:ext>
                </a:extLst>
              </p:cNvPr>
              <p:cNvSpPr/>
              <p:nvPr/>
            </p:nvSpPr>
            <p:spPr>
              <a:xfrm>
                <a:off x="2902537" y="2635299"/>
                <a:ext cx="312201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𝐵</m:t>
                      </m:r>
                    </m:oMath>
                  </m:oMathPara>
                </a14:m>
                <a:endParaRPr lang="en-US" dirty="0">
                  <a:solidFill>
                    <a:schemeClr val="tx1"/>
                  </a:solidFill>
                </a:endParaRPr>
              </a:p>
            </p:txBody>
          </p:sp>
        </mc:Choice>
        <mc:Fallback xmlns="">
          <p:sp>
            <p:nvSpPr>
              <p:cNvPr id="5" name="Rectangle 4">
                <a:extLst>
                  <a:ext uri="{FF2B5EF4-FFF2-40B4-BE49-F238E27FC236}">
                    <a16:creationId xmlns:a16="http://schemas.microsoft.com/office/drawing/2014/main" id="{F68DA0BD-A11E-21D3-A6CD-5C77F2005396}"/>
                  </a:ext>
                </a:extLst>
              </p:cNvPr>
              <p:cNvSpPr>
                <a:spLocks noRot="1" noChangeAspect="1" noMove="1" noResize="1" noEditPoints="1" noAdjustHandles="1" noChangeArrowheads="1" noChangeShapeType="1" noTextEdit="1"/>
              </p:cNvSpPr>
              <p:nvPr/>
            </p:nvSpPr>
            <p:spPr>
              <a:xfrm>
                <a:off x="2902537" y="2635299"/>
                <a:ext cx="3122018" cy="95725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3E4054-5C33-1201-0421-ED28BB92A0E2}"/>
                  </a:ext>
                </a:extLst>
              </p:cNvPr>
              <p:cNvSpPr txBox="1"/>
              <p:nvPr/>
            </p:nvSpPr>
            <p:spPr>
              <a:xfrm>
                <a:off x="6116192" y="2936227"/>
                <a:ext cx="942159"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6" name="TextBox 5">
                <a:extLst>
                  <a:ext uri="{FF2B5EF4-FFF2-40B4-BE49-F238E27FC236}">
                    <a16:creationId xmlns:a16="http://schemas.microsoft.com/office/drawing/2014/main" id="{803E4054-5C33-1201-0421-ED28BB92A0E2}"/>
                  </a:ext>
                </a:extLst>
              </p:cNvPr>
              <p:cNvSpPr txBox="1">
                <a:spLocks noRot="1" noChangeAspect="1" noMove="1" noResize="1" noEditPoints="1" noAdjustHandles="1" noChangeArrowheads="1" noChangeShapeType="1" noTextEdit="1"/>
              </p:cNvSpPr>
              <p:nvPr/>
            </p:nvSpPr>
            <p:spPr>
              <a:xfrm>
                <a:off x="6116192" y="2936227"/>
                <a:ext cx="942159" cy="553998"/>
              </a:xfrm>
              <a:prstGeom prst="rect">
                <a:avLst/>
              </a:prstGeom>
              <a:blipFill>
                <a:blip r:embed="rId5"/>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F8346BD0-42E8-91CD-458E-A5D611905BED}"/>
              </a:ext>
            </a:extLst>
          </p:cNvPr>
          <p:cNvGrpSpPr/>
          <p:nvPr/>
        </p:nvGrpSpPr>
        <p:grpSpPr>
          <a:xfrm>
            <a:off x="7104682" y="2720092"/>
            <a:ext cx="4249118" cy="3443049"/>
            <a:chOff x="1846882" y="2597802"/>
            <a:chExt cx="4249118" cy="2693288"/>
          </a:xfrm>
        </p:grpSpPr>
        <p:sp>
          <p:nvSpPr>
            <p:cNvPr id="8" name="Rectangle 7">
              <a:extLst>
                <a:ext uri="{FF2B5EF4-FFF2-40B4-BE49-F238E27FC236}">
                  <a16:creationId xmlns:a16="http://schemas.microsoft.com/office/drawing/2014/main" id="{89335041-0604-5F47-EC86-2CEE3A76F7D4}"/>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BB6705B-E989-1818-89AA-A2472A218983}"/>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9" name="TextBox 8">
                  <a:extLst>
                    <a:ext uri="{FF2B5EF4-FFF2-40B4-BE49-F238E27FC236}">
                      <a16:creationId xmlns:a16="http://schemas.microsoft.com/office/drawing/2014/main" id="{6BB6705B-E989-1818-89AA-A2472A218983}"/>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6"/>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591233AA-760B-7C92-E2FB-42309F265908}"/>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7A077D1-AFC6-3004-B723-486DA31B0156}"/>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11" name="TextBox 10">
                  <a:extLst>
                    <a:ext uri="{FF2B5EF4-FFF2-40B4-BE49-F238E27FC236}">
                      <a16:creationId xmlns:a16="http://schemas.microsoft.com/office/drawing/2014/main" id="{47A077D1-AFC6-3004-B723-486DA31B0156}"/>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3B75F77-35D0-8273-5DE5-5354E15D87F1}"/>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2" name="TextBox 11">
                  <a:extLst>
                    <a:ext uri="{FF2B5EF4-FFF2-40B4-BE49-F238E27FC236}">
                      <a16:creationId xmlns:a16="http://schemas.microsoft.com/office/drawing/2014/main" id="{43B75F77-35D0-8273-5DE5-5354E15D87F1}"/>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EAE8962-CEE0-7592-E6B2-897CCA094894}"/>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13" name="TextBox 12">
                  <a:extLst>
                    <a:ext uri="{FF2B5EF4-FFF2-40B4-BE49-F238E27FC236}">
                      <a16:creationId xmlns:a16="http://schemas.microsoft.com/office/drawing/2014/main" id="{8EAE8962-CEE0-7592-E6B2-897CCA094894}"/>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71591DC-7143-2686-F36C-8D95C96F4F2C}"/>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14" name="TextBox 13">
                  <a:extLst>
                    <a:ext uri="{FF2B5EF4-FFF2-40B4-BE49-F238E27FC236}">
                      <a16:creationId xmlns:a16="http://schemas.microsoft.com/office/drawing/2014/main" id="{A71591DC-7143-2686-F36C-8D95C96F4F2C}"/>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5664C95-DEAB-A179-B010-CD05D5E9F36E}"/>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5" name="TextBox 14">
                  <a:extLst>
                    <a:ext uri="{FF2B5EF4-FFF2-40B4-BE49-F238E27FC236}">
                      <a16:creationId xmlns:a16="http://schemas.microsoft.com/office/drawing/2014/main" id="{95664C95-DEAB-A179-B010-CD05D5E9F36E}"/>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BF6BDD4-C117-77D5-FBFE-69A3B3D836D6}"/>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16" name="TextBox 15">
                  <a:extLst>
                    <a:ext uri="{FF2B5EF4-FFF2-40B4-BE49-F238E27FC236}">
                      <a16:creationId xmlns:a16="http://schemas.microsoft.com/office/drawing/2014/main" id="{2BF6BDD4-C117-77D5-FBFE-69A3B3D836D6}"/>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603E55D-2E49-D36E-41B7-B877EE7DDAB8}"/>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17" name="TextBox 16">
                  <a:extLst>
                    <a:ext uri="{FF2B5EF4-FFF2-40B4-BE49-F238E27FC236}">
                      <a16:creationId xmlns:a16="http://schemas.microsoft.com/office/drawing/2014/main" id="{9603E55D-2E49-D36E-41B7-B877EE7DDAB8}"/>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EA1AB72-1ED8-4EB8-9E65-81CD76DFF42A}"/>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8" name="TextBox 17">
                  <a:extLst>
                    <a:ext uri="{FF2B5EF4-FFF2-40B4-BE49-F238E27FC236}">
                      <a16:creationId xmlns:a16="http://schemas.microsoft.com/office/drawing/2014/main" id="{BEA1AB72-1ED8-4EB8-9E65-81CD76DFF42A}"/>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EAA6F59-909D-35CC-8EE3-09B646389308}"/>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19" name="TextBox 18">
                  <a:extLst>
                    <a:ext uri="{FF2B5EF4-FFF2-40B4-BE49-F238E27FC236}">
                      <a16:creationId xmlns:a16="http://schemas.microsoft.com/office/drawing/2014/main" id="{1EAA6F59-909D-35CC-8EE3-09B646389308}"/>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922AD76-4002-251F-0218-4D6C58E6C9EB}"/>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20" name="TextBox 19">
                  <a:extLst>
                    <a:ext uri="{FF2B5EF4-FFF2-40B4-BE49-F238E27FC236}">
                      <a16:creationId xmlns:a16="http://schemas.microsoft.com/office/drawing/2014/main" id="{3922AD76-4002-251F-0218-4D6C58E6C9EB}"/>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711D658-EB99-DBD4-1F4E-2835CEAB3903}"/>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1" name="TextBox 20">
                  <a:extLst>
                    <a:ext uri="{FF2B5EF4-FFF2-40B4-BE49-F238E27FC236}">
                      <a16:creationId xmlns:a16="http://schemas.microsoft.com/office/drawing/2014/main" id="{D711D658-EB99-DBD4-1F4E-2835CEAB3903}"/>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C96F7D-BD31-7E2A-1889-7A67D31E4C50}"/>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9CC96F7D-BD31-7E2A-1889-7A67D31E4C50}"/>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074594B-367E-6583-F1FD-EF3193E01EF2}"/>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3" name="TextBox 22">
                  <a:extLst>
                    <a:ext uri="{FF2B5EF4-FFF2-40B4-BE49-F238E27FC236}">
                      <a16:creationId xmlns:a16="http://schemas.microsoft.com/office/drawing/2014/main" id="{2074594B-367E-6583-F1FD-EF3193E01EF2}"/>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64A35DC-CA2D-1C76-33EC-3FE446A58F1D}"/>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4" name="TextBox 23">
                  <a:extLst>
                    <a:ext uri="{FF2B5EF4-FFF2-40B4-BE49-F238E27FC236}">
                      <a16:creationId xmlns:a16="http://schemas.microsoft.com/office/drawing/2014/main" id="{564A35DC-CA2D-1C76-33EC-3FE446A58F1D}"/>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39B862D-4BCF-0E2B-16F4-DEF98393BAB7}"/>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5" name="TextBox 24">
                  <a:extLst>
                    <a:ext uri="{FF2B5EF4-FFF2-40B4-BE49-F238E27FC236}">
                      <a16:creationId xmlns:a16="http://schemas.microsoft.com/office/drawing/2014/main" id="{E39B862D-4BCF-0E2B-16F4-DEF98393BAB7}"/>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21"/>
                  <a:stretch>
                    <a:fillRect/>
                  </a:stretch>
                </a:blipFill>
              </p:spPr>
              <p:txBody>
                <a:bodyPr/>
                <a:lstStyle/>
                <a:p>
                  <a:r>
                    <a:rPr lang="en-US">
                      <a:noFill/>
                    </a:rPr>
                    <a:t> </a:t>
                  </a:r>
                </a:p>
              </p:txBody>
            </p:sp>
          </mc:Fallback>
        </mc:AlternateContent>
      </p:grpSp>
      <p:sp>
        <p:nvSpPr>
          <p:cNvPr id="26" name="TextBox 25">
            <a:extLst>
              <a:ext uri="{FF2B5EF4-FFF2-40B4-BE49-F238E27FC236}">
                <a16:creationId xmlns:a16="http://schemas.microsoft.com/office/drawing/2014/main" id="{30B64AD0-A66C-80B4-F1C6-C960DFE8DE13}"/>
              </a:ext>
            </a:extLst>
          </p:cNvPr>
          <p:cNvSpPr txBox="1"/>
          <p:nvPr/>
        </p:nvSpPr>
        <p:spPr>
          <a:xfrm>
            <a:off x="6538815" y="5572957"/>
            <a:ext cx="473206" cy="369332"/>
          </a:xfrm>
          <a:prstGeom prst="rect">
            <a:avLst/>
          </a:prstGeom>
          <a:noFill/>
        </p:spPr>
        <p:txBody>
          <a:bodyPr wrap="none" rtlCol="0">
            <a:spAutoFit/>
          </a:bodyPr>
          <a:lstStyle/>
          <a:p>
            <a:r>
              <a:rPr lang="en-US" dirty="0"/>
              <a:t>UK</a:t>
            </a:r>
          </a:p>
        </p:txBody>
      </p:sp>
      <p:sp>
        <p:nvSpPr>
          <p:cNvPr id="27" name="TextBox 26">
            <a:extLst>
              <a:ext uri="{FF2B5EF4-FFF2-40B4-BE49-F238E27FC236}">
                <a16:creationId xmlns:a16="http://schemas.microsoft.com/office/drawing/2014/main" id="{858B35A4-0EB2-3C4F-AEE8-0147D830DCAD}"/>
              </a:ext>
            </a:extLst>
          </p:cNvPr>
          <p:cNvSpPr txBox="1"/>
          <p:nvPr/>
        </p:nvSpPr>
        <p:spPr>
          <a:xfrm>
            <a:off x="5743220" y="4915735"/>
            <a:ext cx="1194735" cy="369332"/>
          </a:xfrm>
          <a:prstGeom prst="rect">
            <a:avLst/>
          </a:prstGeom>
          <a:noFill/>
        </p:spPr>
        <p:txBody>
          <a:bodyPr wrap="square" rtlCol="0">
            <a:spAutoFit/>
          </a:bodyPr>
          <a:lstStyle/>
          <a:p>
            <a:pPr algn="r"/>
            <a:r>
              <a:rPr lang="en-US" dirty="0"/>
              <a:t>France</a:t>
            </a:r>
          </a:p>
        </p:txBody>
      </p:sp>
      <p:sp>
        <p:nvSpPr>
          <p:cNvPr id="28" name="TextBox 27">
            <a:extLst>
              <a:ext uri="{FF2B5EF4-FFF2-40B4-BE49-F238E27FC236}">
                <a16:creationId xmlns:a16="http://schemas.microsoft.com/office/drawing/2014/main" id="{806417A5-39B3-C096-1252-1DC0C7B53E6F}"/>
              </a:ext>
            </a:extLst>
          </p:cNvPr>
          <p:cNvSpPr txBox="1"/>
          <p:nvPr/>
        </p:nvSpPr>
        <p:spPr>
          <a:xfrm>
            <a:off x="5456674" y="4258514"/>
            <a:ext cx="1539077" cy="369332"/>
          </a:xfrm>
          <a:prstGeom prst="rect">
            <a:avLst/>
          </a:prstGeom>
          <a:noFill/>
        </p:spPr>
        <p:txBody>
          <a:bodyPr wrap="square" rtlCol="0">
            <a:spAutoFit/>
          </a:bodyPr>
          <a:lstStyle/>
          <a:p>
            <a:pPr algn="r"/>
            <a:r>
              <a:rPr lang="en-US" dirty="0"/>
              <a:t>Netherlands</a:t>
            </a:r>
          </a:p>
        </p:txBody>
      </p:sp>
      <p:sp>
        <p:nvSpPr>
          <p:cNvPr id="29" name="TextBox 28">
            <a:extLst>
              <a:ext uri="{FF2B5EF4-FFF2-40B4-BE49-F238E27FC236}">
                <a16:creationId xmlns:a16="http://schemas.microsoft.com/office/drawing/2014/main" id="{17C70C4F-3EF0-3579-AA62-EEF810E2F23E}"/>
              </a:ext>
            </a:extLst>
          </p:cNvPr>
          <p:cNvSpPr txBox="1"/>
          <p:nvPr/>
        </p:nvSpPr>
        <p:spPr>
          <a:xfrm>
            <a:off x="6957438" y="2266153"/>
            <a:ext cx="833847" cy="369332"/>
          </a:xfrm>
          <a:prstGeom prst="rect">
            <a:avLst/>
          </a:prstGeom>
          <a:noFill/>
        </p:spPr>
        <p:txBody>
          <a:bodyPr wrap="square" rtlCol="0">
            <a:spAutoFit/>
          </a:bodyPr>
          <a:lstStyle/>
          <a:p>
            <a:pPr algn="r"/>
            <a:r>
              <a:rPr lang="en-US" dirty="0"/>
              <a:t>1995</a:t>
            </a:r>
          </a:p>
        </p:txBody>
      </p:sp>
      <p:sp>
        <p:nvSpPr>
          <p:cNvPr id="30" name="TextBox 29">
            <a:extLst>
              <a:ext uri="{FF2B5EF4-FFF2-40B4-BE49-F238E27FC236}">
                <a16:creationId xmlns:a16="http://schemas.microsoft.com/office/drawing/2014/main" id="{9557A82B-C15E-32A6-87B6-71E705974D1B}"/>
              </a:ext>
            </a:extLst>
          </p:cNvPr>
          <p:cNvSpPr txBox="1"/>
          <p:nvPr/>
        </p:nvSpPr>
        <p:spPr>
          <a:xfrm>
            <a:off x="7677650" y="2237725"/>
            <a:ext cx="833847" cy="369332"/>
          </a:xfrm>
          <a:prstGeom prst="rect">
            <a:avLst/>
          </a:prstGeom>
          <a:noFill/>
        </p:spPr>
        <p:txBody>
          <a:bodyPr wrap="square" rtlCol="0">
            <a:spAutoFit/>
          </a:bodyPr>
          <a:lstStyle/>
          <a:p>
            <a:pPr algn="r"/>
            <a:r>
              <a:rPr lang="en-US" dirty="0"/>
              <a:t>1996</a:t>
            </a:r>
          </a:p>
        </p:txBody>
      </p:sp>
      <p:sp>
        <p:nvSpPr>
          <p:cNvPr id="31" name="TextBox 30">
            <a:extLst>
              <a:ext uri="{FF2B5EF4-FFF2-40B4-BE49-F238E27FC236}">
                <a16:creationId xmlns:a16="http://schemas.microsoft.com/office/drawing/2014/main" id="{0D0A6FC4-DA72-0956-AAFA-A109E3CE7654}"/>
              </a:ext>
            </a:extLst>
          </p:cNvPr>
          <p:cNvSpPr txBox="1"/>
          <p:nvPr/>
        </p:nvSpPr>
        <p:spPr>
          <a:xfrm>
            <a:off x="10260330" y="2251157"/>
            <a:ext cx="833847" cy="369332"/>
          </a:xfrm>
          <a:prstGeom prst="rect">
            <a:avLst/>
          </a:prstGeom>
          <a:noFill/>
        </p:spPr>
        <p:txBody>
          <a:bodyPr wrap="square" rtlCol="0">
            <a:spAutoFit/>
          </a:bodyPr>
          <a:lstStyle/>
          <a:p>
            <a:pPr algn="r"/>
            <a:r>
              <a:rPr lang="en-US" dirty="0"/>
              <a:t>2022</a:t>
            </a:r>
          </a:p>
        </p:txBody>
      </p:sp>
      <p:sp>
        <p:nvSpPr>
          <p:cNvPr id="32" name="Oval 31">
            <a:extLst>
              <a:ext uri="{FF2B5EF4-FFF2-40B4-BE49-F238E27FC236}">
                <a16:creationId xmlns:a16="http://schemas.microsoft.com/office/drawing/2014/main" id="{0061BE06-5155-A32A-F49D-7ADBAA3B5E03}"/>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A1E43B2-BCA4-1A2E-7012-FECDEAE895B0}"/>
              </a:ext>
            </a:extLst>
          </p:cNvPr>
          <p:cNvSpPr txBox="1"/>
          <p:nvPr/>
        </p:nvSpPr>
        <p:spPr>
          <a:xfrm>
            <a:off x="8839685" y="1165001"/>
            <a:ext cx="2403899" cy="1200329"/>
          </a:xfrm>
          <a:prstGeom prst="rect">
            <a:avLst/>
          </a:prstGeom>
          <a:noFill/>
        </p:spPr>
        <p:txBody>
          <a:bodyPr wrap="square" rtlCol="0">
            <a:spAutoFit/>
          </a:bodyPr>
          <a:lstStyle/>
          <a:p>
            <a:pPr algn="ctr"/>
            <a:r>
              <a:rPr lang="en-US" sz="2400" dirty="0">
                <a:solidFill>
                  <a:schemeClr val="accent2"/>
                </a:solidFill>
              </a:rPr>
              <a:t>GDP of Netherlands in 1996</a:t>
            </a:r>
          </a:p>
        </p:txBody>
      </p:sp>
      <p:cxnSp>
        <p:nvCxnSpPr>
          <p:cNvPr id="34" name="Curved Connector 33">
            <a:extLst>
              <a:ext uri="{FF2B5EF4-FFF2-40B4-BE49-F238E27FC236}">
                <a16:creationId xmlns:a16="http://schemas.microsoft.com/office/drawing/2014/main" id="{247CEAF9-D70D-1BEB-E90C-32B9DE395F04}"/>
              </a:ext>
            </a:extLst>
          </p:cNvPr>
          <p:cNvCxnSpPr>
            <a:cxnSpLocks/>
            <a:stCxn id="33" idx="1"/>
            <a:endCxn id="32" idx="6"/>
          </p:cNvCxnSpPr>
          <p:nvPr/>
        </p:nvCxnSpPr>
        <p:spPr>
          <a:xfrm rot="10800000" flipH="1" flipV="1">
            <a:off x="8839684" y="1765165"/>
            <a:ext cx="57105" cy="2666087"/>
          </a:xfrm>
          <a:prstGeom prst="curvedConnector5">
            <a:avLst>
              <a:gd name="adj1" fmla="val -400315"/>
              <a:gd name="adj2" fmla="val 53970"/>
              <a:gd name="adj3" fmla="val 500315"/>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nvGrpSpPr>
          <p:cNvPr id="40" name="Group 39">
            <a:extLst>
              <a:ext uri="{FF2B5EF4-FFF2-40B4-BE49-F238E27FC236}">
                <a16:creationId xmlns:a16="http://schemas.microsoft.com/office/drawing/2014/main" id="{1CFF5C16-D7F0-EEA3-252D-2402C5E78C51}"/>
              </a:ext>
            </a:extLst>
          </p:cNvPr>
          <p:cNvGrpSpPr/>
          <p:nvPr/>
        </p:nvGrpSpPr>
        <p:grpSpPr>
          <a:xfrm>
            <a:off x="2894703" y="5181016"/>
            <a:ext cx="3211282" cy="1632787"/>
            <a:chOff x="2894703" y="5181016"/>
            <a:chExt cx="3211282" cy="1632787"/>
          </a:xfrm>
        </p:grpSpPr>
        <p:grpSp>
          <p:nvGrpSpPr>
            <p:cNvPr id="36" name="Group 35">
              <a:extLst>
                <a:ext uri="{FF2B5EF4-FFF2-40B4-BE49-F238E27FC236}">
                  <a16:creationId xmlns:a16="http://schemas.microsoft.com/office/drawing/2014/main" id="{64BC1826-C37F-8332-8B6A-C0ABAA76CA82}"/>
                </a:ext>
              </a:extLst>
            </p:cNvPr>
            <p:cNvGrpSpPr/>
            <p:nvPr/>
          </p:nvGrpSpPr>
          <p:grpSpPr>
            <a:xfrm>
              <a:off x="2894703" y="5181016"/>
              <a:ext cx="1329080" cy="1632787"/>
              <a:chOff x="10089546" y="151611"/>
              <a:chExt cx="1814875" cy="2131347"/>
            </a:xfrm>
          </p:grpSpPr>
          <p:pic>
            <p:nvPicPr>
              <p:cNvPr id="37" name="Picture 36">
                <a:extLst>
                  <a:ext uri="{FF2B5EF4-FFF2-40B4-BE49-F238E27FC236}">
                    <a16:creationId xmlns:a16="http://schemas.microsoft.com/office/drawing/2014/main" id="{9F30C932-9EE2-41C9-65D4-19353F710C39}"/>
                  </a:ext>
                </a:extLst>
              </p:cNvPr>
              <p:cNvPicPr>
                <a:picLocks noChangeAspect="1"/>
              </p:cNvPicPr>
              <p:nvPr/>
            </p:nvPicPr>
            <p:blipFill>
              <a:blip r:embed="rId22"/>
              <a:stretch>
                <a:fillRect/>
              </a:stretch>
            </p:blipFill>
            <p:spPr>
              <a:xfrm>
                <a:off x="10089546" y="151611"/>
                <a:ext cx="1814875" cy="1609066"/>
              </a:xfrm>
              <a:prstGeom prst="rect">
                <a:avLst/>
              </a:prstGeom>
            </p:spPr>
          </p:pic>
          <p:sp>
            <p:nvSpPr>
              <p:cNvPr id="38" name="TextBox 37">
                <a:extLst>
                  <a:ext uri="{FF2B5EF4-FFF2-40B4-BE49-F238E27FC236}">
                    <a16:creationId xmlns:a16="http://schemas.microsoft.com/office/drawing/2014/main" id="{6ADF0484-05BB-49AC-76A1-B98A5F9EC4C4}"/>
                  </a:ext>
                </a:extLst>
              </p:cNvPr>
              <p:cNvSpPr txBox="1"/>
              <p:nvPr/>
            </p:nvSpPr>
            <p:spPr>
              <a:xfrm>
                <a:off x="10266671" y="1760677"/>
                <a:ext cx="1637750" cy="522281"/>
              </a:xfrm>
              <a:prstGeom prst="rect">
                <a:avLst/>
              </a:prstGeom>
              <a:noFill/>
            </p:spPr>
            <p:txBody>
              <a:bodyPr wrap="none" rtlCol="0">
                <a:spAutoFit/>
              </a:bodyPr>
              <a:lstStyle/>
              <a:p>
                <a:r>
                  <a:rPr lang="en-US" sz="2000" b="1" dirty="0">
                    <a:solidFill>
                      <a:schemeClr val="accent1"/>
                    </a:solidFill>
                  </a:rPr>
                  <a:t>Discuss!</a:t>
                </a:r>
              </a:p>
            </p:txBody>
          </p:sp>
        </p:grpSp>
        <p:sp>
          <p:nvSpPr>
            <p:cNvPr id="39" name="TextBox 38">
              <a:extLst>
                <a:ext uri="{FF2B5EF4-FFF2-40B4-BE49-F238E27FC236}">
                  <a16:creationId xmlns:a16="http://schemas.microsoft.com/office/drawing/2014/main" id="{5388B039-EDE9-B104-891F-FC823D3CBC15}"/>
                </a:ext>
              </a:extLst>
            </p:cNvPr>
            <p:cNvSpPr txBox="1"/>
            <p:nvPr/>
          </p:nvSpPr>
          <p:spPr>
            <a:xfrm>
              <a:off x="4272514" y="5342124"/>
              <a:ext cx="1833471" cy="1200329"/>
            </a:xfrm>
            <a:prstGeom prst="rect">
              <a:avLst/>
            </a:prstGeom>
            <a:noFill/>
          </p:spPr>
          <p:txBody>
            <a:bodyPr wrap="square" rtlCol="0">
              <a:spAutoFit/>
            </a:bodyPr>
            <a:lstStyle/>
            <a:p>
              <a:r>
                <a:rPr lang="en-US" dirty="0">
                  <a:solidFill>
                    <a:schemeClr val="accent1"/>
                  </a:solidFill>
                </a:rPr>
                <a:t>How can we interpret the rows of X?  The columns of B?</a:t>
              </a:r>
            </a:p>
          </p:txBody>
        </p:sp>
      </p:grpSp>
      <p:sp>
        <p:nvSpPr>
          <p:cNvPr id="41" name="TextBox 40">
            <a:extLst>
              <a:ext uri="{FF2B5EF4-FFF2-40B4-BE49-F238E27FC236}">
                <a16:creationId xmlns:a16="http://schemas.microsoft.com/office/drawing/2014/main" id="{E6131273-C03C-B6D5-25F8-C23EF4028200}"/>
              </a:ext>
            </a:extLst>
          </p:cNvPr>
          <p:cNvSpPr txBox="1"/>
          <p:nvPr/>
        </p:nvSpPr>
        <p:spPr>
          <a:xfrm>
            <a:off x="1151868" y="5704980"/>
            <a:ext cx="473206" cy="369332"/>
          </a:xfrm>
          <a:prstGeom prst="rect">
            <a:avLst/>
          </a:prstGeom>
          <a:solidFill>
            <a:schemeClr val="bg1"/>
          </a:solidFill>
        </p:spPr>
        <p:txBody>
          <a:bodyPr wrap="none" rtlCol="0">
            <a:spAutoFit/>
          </a:bodyPr>
          <a:lstStyle/>
          <a:p>
            <a:r>
              <a:rPr lang="en-US" dirty="0"/>
              <a:t>UK</a:t>
            </a:r>
          </a:p>
        </p:txBody>
      </p:sp>
      <p:sp>
        <p:nvSpPr>
          <p:cNvPr id="42" name="TextBox 41">
            <a:extLst>
              <a:ext uri="{FF2B5EF4-FFF2-40B4-BE49-F238E27FC236}">
                <a16:creationId xmlns:a16="http://schemas.microsoft.com/office/drawing/2014/main" id="{4E3282F4-28A3-0055-47C2-3EB26B09B438}"/>
              </a:ext>
            </a:extLst>
          </p:cNvPr>
          <p:cNvSpPr txBox="1"/>
          <p:nvPr/>
        </p:nvSpPr>
        <p:spPr>
          <a:xfrm>
            <a:off x="514957" y="5047758"/>
            <a:ext cx="1036051" cy="369332"/>
          </a:xfrm>
          <a:prstGeom prst="rect">
            <a:avLst/>
          </a:prstGeom>
          <a:solidFill>
            <a:schemeClr val="bg1"/>
          </a:solidFill>
        </p:spPr>
        <p:txBody>
          <a:bodyPr wrap="square" rtlCol="0">
            <a:spAutoFit/>
          </a:bodyPr>
          <a:lstStyle/>
          <a:p>
            <a:pPr algn="r"/>
            <a:r>
              <a:rPr lang="en-US" dirty="0"/>
              <a:t>France</a:t>
            </a:r>
          </a:p>
        </p:txBody>
      </p:sp>
      <p:sp>
        <p:nvSpPr>
          <p:cNvPr id="43" name="TextBox 42">
            <a:extLst>
              <a:ext uri="{FF2B5EF4-FFF2-40B4-BE49-F238E27FC236}">
                <a16:creationId xmlns:a16="http://schemas.microsoft.com/office/drawing/2014/main" id="{FE6BBD8D-F43C-032A-F5E4-F4098869D4A0}"/>
              </a:ext>
            </a:extLst>
          </p:cNvPr>
          <p:cNvSpPr txBox="1"/>
          <p:nvPr/>
        </p:nvSpPr>
        <p:spPr>
          <a:xfrm>
            <a:off x="-222069" y="4390537"/>
            <a:ext cx="1830873" cy="369332"/>
          </a:xfrm>
          <a:prstGeom prst="rect">
            <a:avLst/>
          </a:prstGeom>
          <a:solidFill>
            <a:schemeClr val="bg1"/>
          </a:solidFill>
        </p:spPr>
        <p:txBody>
          <a:bodyPr wrap="square" rtlCol="0">
            <a:spAutoFit/>
          </a:bodyPr>
          <a:lstStyle/>
          <a:p>
            <a:pPr algn="r"/>
            <a:r>
              <a:rPr lang="en-US" dirty="0"/>
              <a:t>Netherlands</a:t>
            </a:r>
          </a:p>
        </p:txBody>
      </p:sp>
      <p:sp>
        <p:nvSpPr>
          <p:cNvPr id="44" name="TextBox 43">
            <a:extLst>
              <a:ext uri="{FF2B5EF4-FFF2-40B4-BE49-F238E27FC236}">
                <a16:creationId xmlns:a16="http://schemas.microsoft.com/office/drawing/2014/main" id="{21D275A8-F4F3-28B3-B096-D0EC8D024E42}"/>
              </a:ext>
            </a:extLst>
          </p:cNvPr>
          <p:cNvSpPr txBox="1"/>
          <p:nvPr/>
        </p:nvSpPr>
        <p:spPr>
          <a:xfrm>
            <a:off x="2634575" y="2261734"/>
            <a:ext cx="833847" cy="369332"/>
          </a:xfrm>
          <a:prstGeom prst="rect">
            <a:avLst/>
          </a:prstGeom>
          <a:noFill/>
        </p:spPr>
        <p:txBody>
          <a:bodyPr wrap="square" rtlCol="0">
            <a:spAutoFit/>
          </a:bodyPr>
          <a:lstStyle/>
          <a:p>
            <a:pPr algn="r"/>
            <a:r>
              <a:rPr lang="en-US" dirty="0"/>
              <a:t>1995</a:t>
            </a:r>
          </a:p>
        </p:txBody>
      </p:sp>
      <p:sp>
        <p:nvSpPr>
          <p:cNvPr id="45" name="TextBox 44">
            <a:extLst>
              <a:ext uri="{FF2B5EF4-FFF2-40B4-BE49-F238E27FC236}">
                <a16:creationId xmlns:a16="http://schemas.microsoft.com/office/drawing/2014/main" id="{26ECA657-2D8E-8FB6-A2AD-94616A00F50C}"/>
              </a:ext>
            </a:extLst>
          </p:cNvPr>
          <p:cNvSpPr txBox="1"/>
          <p:nvPr/>
        </p:nvSpPr>
        <p:spPr>
          <a:xfrm>
            <a:off x="3316101" y="2246012"/>
            <a:ext cx="833847" cy="369332"/>
          </a:xfrm>
          <a:prstGeom prst="rect">
            <a:avLst/>
          </a:prstGeom>
          <a:noFill/>
        </p:spPr>
        <p:txBody>
          <a:bodyPr wrap="square" rtlCol="0">
            <a:spAutoFit/>
          </a:bodyPr>
          <a:lstStyle/>
          <a:p>
            <a:pPr algn="r"/>
            <a:r>
              <a:rPr lang="en-US" dirty="0"/>
              <a:t>1996</a:t>
            </a:r>
          </a:p>
        </p:txBody>
      </p:sp>
      <p:sp>
        <p:nvSpPr>
          <p:cNvPr id="46" name="TextBox 45">
            <a:extLst>
              <a:ext uri="{FF2B5EF4-FFF2-40B4-BE49-F238E27FC236}">
                <a16:creationId xmlns:a16="http://schemas.microsoft.com/office/drawing/2014/main" id="{90239622-7A9C-BCEF-6159-DCE0B83C8002}"/>
              </a:ext>
            </a:extLst>
          </p:cNvPr>
          <p:cNvSpPr txBox="1"/>
          <p:nvPr/>
        </p:nvSpPr>
        <p:spPr>
          <a:xfrm>
            <a:off x="5193329" y="2246012"/>
            <a:ext cx="833847" cy="369332"/>
          </a:xfrm>
          <a:prstGeom prst="rect">
            <a:avLst/>
          </a:prstGeom>
          <a:noFill/>
        </p:spPr>
        <p:txBody>
          <a:bodyPr wrap="square" rtlCol="0">
            <a:spAutoFit/>
          </a:bodyPr>
          <a:lstStyle/>
          <a:p>
            <a:pPr algn="r"/>
            <a:r>
              <a:rPr lang="en-US" dirty="0"/>
              <a:t>2022</a:t>
            </a:r>
          </a:p>
        </p:txBody>
      </p:sp>
      <p:sp>
        <p:nvSpPr>
          <p:cNvPr id="47" name="TextBox 46">
            <a:extLst>
              <a:ext uri="{FF2B5EF4-FFF2-40B4-BE49-F238E27FC236}">
                <a16:creationId xmlns:a16="http://schemas.microsoft.com/office/drawing/2014/main" id="{37E338AC-AE17-25CB-B002-1C4DCF0DC154}"/>
              </a:ext>
            </a:extLst>
          </p:cNvPr>
          <p:cNvSpPr txBox="1"/>
          <p:nvPr/>
        </p:nvSpPr>
        <p:spPr>
          <a:xfrm>
            <a:off x="4036748" y="2202884"/>
            <a:ext cx="833847" cy="369332"/>
          </a:xfrm>
          <a:prstGeom prst="rect">
            <a:avLst/>
          </a:prstGeom>
          <a:noFill/>
        </p:spPr>
        <p:txBody>
          <a:bodyPr wrap="square" rtlCol="0">
            <a:spAutoFit/>
          </a:bodyPr>
          <a:lstStyle/>
          <a:p>
            <a:pPr algn="r"/>
            <a:r>
              <a:rPr lang="en-US" dirty="0"/>
              <a:t>…</a:t>
            </a:r>
          </a:p>
        </p:txBody>
      </p:sp>
      <p:sp>
        <p:nvSpPr>
          <p:cNvPr id="48" name="TextBox 47">
            <a:extLst>
              <a:ext uri="{FF2B5EF4-FFF2-40B4-BE49-F238E27FC236}">
                <a16:creationId xmlns:a16="http://schemas.microsoft.com/office/drawing/2014/main" id="{9D023CA5-944E-6E89-6346-0C7E5B359C66}"/>
              </a:ext>
            </a:extLst>
          </p:cNvPr>
          <p:cNvSpPr txBox="1"/>
          <p:nvPr/>
        </p:nvSpPr>
        <p:spPr>
          <a:xfrm>
            <a:off x="549836" y="2733611"/>
            <a:ext cx="1036051" cy="369332"/>
          </a:xfrm>
          <a:prstGeom prst="rect">
            <a:avLst/>
          </a:prstGeom>
          <a:solidFill>
            <a:schemeClr val="bg1"/>
          </a:solidFill>
        </p:spPr>
        <p:txBody>
          <a:bodyPr wrap="square" rtlCol="0">
            <a:spAutoFit/>
          </a:bodyPr>
          <a:lstStyle/>
          <a:p>
            <a:pPr algn="r"/>
            <a:r>
              <a:rPr lang="en-US" dirty="0"/>
              <a:t>Iceland</a:t>
            </a:r>
          </a:p>
        </p:txBody>
      </p:sp>
      <p:sp>
        <p:nvSpPr>
          <p:cNvPr id="49" name="TextBox 48">
            <a:extLst>
              <a:ext uri="{FF2B5EF4-FFF2-40B4-BE49-F238E27FC236}">
                <a16:creationId xmlns:a16="http://schemas.microsoft.com/office/drawing/2014/main" id="{16E84B28-EDBC-BE6A-DCC2-FA24A8E95AC9}"/>
              </a:ext>
            </a:extLst>
          </p:cNvPr>
          <p:cNvSpPr txBox="1"/>
          <p:nvPr/>
        </p:nvSpPr>
        <p:spPr>
          <a:xfrm rot="5400000">
            <a:off x="941112" y="3347577"/>
            <a:ext cx="833847" cy="369332"/>
          </a:xfrm>
          <a:prstGeom prst="rect">
            <a:avLst/>
          </a:prstGeom>
          <a:noFill/>
        </p:spPr>
        <p:txBody>
          <a:bodyPr wrap="square" rtlCol="0">
            <a:spAutoFit/>
          </a:bodyPr>
          <a:lstStyle/>
          <a:p>
            <a:pPr algn="r"/>
            <a:r>
              <a:rPr lang="en-US" dirty="0"/>
              <a:t>…</a:t>
            </a:r>
          </a:p>
        </p:txBody>
      </p:sp>
    </p:spTree>
    <p:extLst>
      <p:ext uri="{BB962C8B-B14F-4D97-AF65-F5344CB8AC3E}">
        <p14:creationId xmlns:p14="http://schemas.microsoft.com/office/powerpoint/2010/main" val="362062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606B-09E2-5A56-46DD-88E5AB27A357}"/>
              </a:ext>
            </a:extLst>
          </p:cNvPr>
          <p:cNvSpPr>
            <a:spLocks noGrp="1"/>
          </p:cNvSpPr>
          <p:nvPr>
            <p:ph type="title"/>
          </p:nvPr>
        </p:nvSpPr>
        <p:spPr>
          <a:xfrm>
            <a:off x="714014" y="63862"/>
            <a:ext cx="10515600" cy="1325563"/>
          </a:xfrm>
        </p:spPr>
        <p:txBody>
          <a:bodyPr/>
          <a:lstStyle/>
          <a:p>
            <a:r>
              <a:rPr lang="en-US" dirty="0"/>
              <a:t>In analogy with regression…</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271CA8D-8E52-0032-4438-35C78F5FBE44}"/>
                  </a:ext>
                </a:extLst>
              </p:cNvPr>
              <p:cNvSpPr txBox="1"/>
              <p:nvPr/>
            </p:nvSpPr>
            <p:spPr>
              <a:xfrm>
                <a:off x="3628228" y="1462870"/>
                <a:ext cx="8315031" cy="1497718"/>
              </a:xfrm>
              <a:prstGeom prst="rect">
                <a:avLst/>
              </a:prstGeom>
              <a:noFill/>
            </p:spPr>
            <p:txBody>
              <a:bodyPr wrap="square" rtlCol="0">
                <a:spAutoFit/>
              </a:bodyPr>
              <a:lstStyle/>
              <a:p>
                <a:pPr marL="457200" indent="-457200">
                  <a:buFont typeface="Arial" panose="020B0604020202020204" pitchFamily="34" charset="0"/>
                  <a:buChar char="•"/>
                </a:pPr>
                <a:r>
                  <a:rPr lang="en-US" sz="2400" dirty="0"/>
                  <a:t>Rows of X: Feature vectors for each unit</a:t>
                </a:r>
              </a:p>
              <a:p>
                <a:pPr marL="800100" lvl="1" indent="-342900">
                  <a:buFont typeface="Arial" panose="020B0604020202020204" pitchFamily="34" charset="0"/>
                  <a:buChar char="•"/>
                </a:pPr>
                <a:r>
                  <a:rPr lang="en-US" sz="2000" dirty="0">
                    <a:solidFill>
                      <a:schemeClr val="accent1"/>
                    </a:solidFill>
                  </a:rPr>
                  <a:t>E.g., the “UK” row might have UK population, tax rate, …</a:t>
                </a:r>
              </a:p>
              <a:p>
                <a:pPr marL="342900" indent="-342900">
                  <a:buFont typeface="Arial" panose="020B0604020202020204" pitchFamily="34" charset="0"/>
                  <a:buChar char="•"/>
                </a:pPr>
                <a:r>
                  <a:rPr lang="en-US" sz="2400" dirty="0"/>
                  <a:t>(Only) column of B:</a:t>
                </a:r>
              </a:p>
              <a:p>
                <a:pPr marL="800100" lvl="1" indent="-342900">
                  <a:buFont typeface="Arial" panose="020B0604020202020204" pitchFamily="34" charset="0"/>
                  <a:buChar char="•"/>
                </a:pPr>
                <a:r>
                  <a:rPr lang="en-US" sz="2000" dirty="0">
                    <a:solidFill>
                      <a:schemeClr val="accent1"/>
                    </a:solidFill>
                  </a:rPr>
                  <a:t>Coefficients for the regression, e.g. </a:t>
                </a:r>
                <a14:m>
                  <m:oMath xmlns:m="http://schemas.openxmlformats.org/officeDocument/2006/math">
                    <m:sSub>
                      <m:sSubPr>
                        <m:ctrlPr>
                          <a:rPr lang="en-US" sz="2000" b="0" i="1" dirty="0" smtClean="0">
                            <a:solidFill>
                              <a:schemeClr val="accent1"/>
                            </a:solidFill>
                            <a:latin typeface="Cambria Math" panose="02040503050406030204" pitchFamily="18" charset="0"/>
                          </a:rPr>
                        </m:ctrlPr>
                      </m:sSubPr>
                      <m:e>
                        <m:acc>
                          <m:accPr>
                            <m:chr m:val="̂"/>
                            <m:ctrlPr>
                              <a:rPr lang="en-US" sz="2000" b="0" i="1" dirty="0" smtClean="0">
                                <a:solidFill>
                                  <a:schemeClr val="accent1"/>
                                </a:solidFill>
                                <a:latin typeface="Cambria Math" panose="02040503050406030204" pitchFamily="18" charset="0"/>
                              </a:rPr>
                            </m:ctrlPr>
                          </m:accPr>
                          <m:e>
                            <m:r>
                              <a:rPr lang="en-US" sz="2000" b="0" i="1" dirty="0" smtClean="0">
                                <a:solidFill>
                                  <a:schemeClr val="accent1"/>
                                </a:solidFill>
                                <a:latin typeface="Cambria Math" panose="02040503050406030204" pitchFamily="18" charset="0"/>
                              </a:rPr>
                              <m:t>𝛽</m:t>
                            </m:r>
                          </m:e>
                        </m:acc>
                      </m:e>
                      <m:sub>
                        <m:r>
                          <m:rPr>
                            <m:sty m:val="p"/>
                          </m:rPr>
                          <a:rPr lang="en-US" sz="2000" b="0" i="0" dirty="0" smtClean="0">
                            <a:solidFill>
                              <a:schemeClr val="accent1"/>
                            </a:solidFill>
                            <a:latin typeface="Cambria Math" panose="02040503050406030204" pitchFamily="18" charset="0"/>
                          </a:rPr>
                          <m:t>population</m:t>
                        </m:r>
                      </m:sub>
                    </m:sSub>
                  </m:oMath>
                </a14:m>
                <a:r>
                  <a:rPr lang="en-US" sz="2000" dirty="0">
                    <a:solidFill>
                      <a:schemeClr val="accent1"/>
                    </a:solidFill>
                  </a:rPr>
                  <a:t> , </a:t>
                </a:r>
                <a14:m>
                  <m:oMath xmlns:m="http://schemas.openxmlformats.org/officeDocument/2006/math">
                    <m:sSub>
                      <m:sSubPr>
                        <m:ctrlPr>
                          <a:rPr lang="en-US" sz="2000" i="1" dirty="0">
                            <a:solidFill>
                              <a:schemeClr val="accent1"/>
                            </a:solidFill>
                            <a:latin typeface="Cambria Math" panose="02040503050406030204" pitchFamily="18" charset="0"/>
                          </a:rPr>
                        </m:ctrlPr>
                      </m:sSubPr>
                      <m:e>
                        <m:acc>
                          <m:accPr>
                            <m:chr m:val="̂"/>
                            <m:ctrlPr>
                              <a:rPr lang="en-US" sz="2000" i="1" dirty="0">
                                <a:solidFill>
                                  <a:schemeClr val="accent1"/>
                                </a:solidFill>
                                <a:latin typeface="Cambria Math" panose="02040503050406030204" pitchFamily="18" charset="0"/>
                              </a:rPr>
                            </m:ctrlPr>
                          </m:accPr>
                          <m:e>
                            <m:r>
                              <a:rPr lang="en-US" sz="2000" i="1" dirty="0">
                                <a:solidFill>
                                  <a:schemeClr val="accent1"/>
                                </a:solidFill>
                                <a:latin typeface="Cambria Math" panose="02040503050406030204" pitchFamily="18" charset="0"/>
                              </a:rPr>
                              <m:t>𝛽</m:t>
                            </m:r>
                          </m:e>
                        </m:acc>
                      </m:e>
                      <m:sub>
                        <m:r>
                          <m:rPr>
                            <m:sty m:val="p"/>
                          </m:rPr>
                          <a:rPr lang="en-US" sz="2000" b="0" i="0" dirty="0" smtClean="0">
                            <a:solidFill>
                              <a:schemeClr val="accent1"/>
                            </a:solidFill>
                            <a:latin typeface="Cambria Math" panose="02040503050406030204" pitchFamily="18" charset="0"/>
                          </a:rPr>
                          <m:t>tax</m:t>
                        </m:r>
                        <m:r>
                          <a:rPr lang="en-US" sz="2000" b="0" i="0" dirty="0" smtClean="0">
                            <a:solidFill>
                              <a:schemeClr val="accent1"/>
                            </a:solidFill>
                            <a:latin typeface="Cambria Math" panose="02040503050406030204" pitchFamily="18" charset="0"/>
                          </a:rPr>
                          <m:t> </m:t>
                        </m:r>
                        <m:r>
                          <m:rPr>
                            <m:sty m:val="p"/>
                          </m:rPr>
                          <a:rPr lang="en-US" sz="2000" b="0" i="0" dirty="0" smtClean="0">
                            <a:solidFill>
                              <a:schemeClr val="accent1"/>
                            </a:solidFill>
                            <a:latin typeface="Cambria Math" panose="02040503050406030204" pitchFamily="18" charset="0"/>
                          </a:rPr>
                          <m:t>rate</m:t>
                        </m:r>
                      </m:sub>
                    </m:sSub>
                  </m:oMath>
                </a14:m>
                <a:r>
                  <a:rPr lang="en-US" sz="2000" dirty="0">
                    <a:solidFill>
                      <a:schemeClr val="accent1"/>
                    </a:solidFill>
                  </a:rPr>
                  <a:t> , …</a:t>
                </a:r>
                <a:endParaRPr lang="en-US" sz="2000" dirty="0"/>
              </a:p>
            </p:txBody>
          </p:sp>
        </mc:Choice>
        <mc:Fallback xmlns="">
          <p:sp>
            <p:nvSpPr>
              <p:cNvPr id="46" name="TextBox 45">
                <a:extLst>
                  <a:ext uri="{FF2B5EF4-FFF2-40B4-BE49-F238E27FC236}">
                    <a16:creationId xmlns:a16="http://schemas.microsoft.com/office/drawing/2014/main" id="{D271CA8D-8E52-0032-4438-35C78F5FBE44}"/>
                  </a:ext>
                </a:extLst>
              </p:cNvPr>
              <p:cNvSpPr txBox="1">
                <a:spLocks noRot="1" noChangeAspect="1" noMove="1" noResize="1" noEditPoints="1" noAdjustHandles="1" noChangeArrowheads="1" noChangeShapeType="1" noTextEdit="1"/>
              </p:cNvSpPr>
              <p:nvPr/>
            </p:nvSpPr>
            <p:spPr>
              <a:xfrm>
                <a:off x="3628228" y="1462870"/>
                <a:ext cx="8315031" cy="1497718"/>
              </a:xfrm>
              <a:prstGeom prst="rect">
                <a:avLst/>
              </a:prstGeom>
              <a:blipFill>
                <a:blip r:embed="rId3"/>
                <a:stretch>
                  <a:fillRect l="-915" t="-3361" b="-5042"/>
                </a:stretch>
              </a:blipFill>
            </p:spPr>
            <p:txBody>
              <a:bodyPr/>
              <a:lstStyle/>
              <a:p>
                <a:r>
                  <a:rPr lang="en-US">
                    <a:noFill/>
                  </a:rPr>
                  <a:t> </a:t>
                </a:r>
              </a:p>
            </p:txBody>
          </p:sp>
        </mc:Fallback>
      </mc:AlternateContent>
      <p:grpSp>
        <p:nvGrpSpPr>
          <p:cNvPr id="64" name="Group 63">
            <a:extLst>
              <a:ext uri="{FF2B5EF4-FFF2-40B4-BE49-F238E27FC236}">
                <a16:creationId xmlns:a16="http://schemas.microsoft.com/office/drawing/2014/main" id="{29F8FE68-BEB4-A697-1EED-0D69B1583624}"/>
              </a:ext>
            </a:extLst>
          </p:cNvPr>
          <p:cNvGrpSpPr/>
          <p:nvPr/>
        </p:nvGrpSpPr>
        <p:grpSpPr>
          <a:xfrm>
            <a:off x="-29821" y="1184670"/>
            <a:ext cx="3099700" cy="2464669"/>
            <a:chOff x="-29821" y="1184670"/>
            <a:chExt cx="3099700" cy="2464669"/>
          </a:xfrm>
        </p:grpSpPr>
        <p:grpSp>
          <p:nvGrpSpPr>
            <p:cNvPr id="45" name="Group 44">
              <a:extLst>
                <a:ext uri="{FF2B5EF4-FFF2-40B4-BE49-F238E27FC236}">
                  <a16:creationId xmlns:a16="http://schemas.microsoft.com/office/drawing/2014/main" id="{E87C7FFE-8767-1472-BB42-2DB30B254AEB}"/>
                </a:ext>
              </a:extLst>
            </p:cNvPr>
            <p:cNvGrpSpPr/>
            <p:nvPr/>
          </p:nvGrpSpPr>
          <p:grpSpPr>
            <a:xfrm>
              <a:off x="962202" y="1184670"/>
              <a:ext cx="2107677" cy="2464669"/>
              <a:chOff x="845763" y="1626666"/>
              <a:chExt cx="2107677" cy="2464669"/>
            </a:xfrm>
          </p:grpSpPr>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C1D0DD58-BAFA-9A05-2962-F05416FD3D3F}"/>
                      </a:ext>
                    </a:extLst>
                  </p:cNvPr>
                  <p:cNvSpPr/>
                  <p:nvPr/>
                </p:nvSpPr>
                <p:spPr>
                  <a:xfrm>
                    <a:off x="1010012" y="2204126"/>
                    <a:ext cx="534774" cy="184652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dirty="0" smtClean="0">
                              <a:solidFill>
                                <a:schemeClr val="tx1"/>
                              </a:solidFill>
                              <a:latin typeface="Cambria Math" panose="02040503050406030204" pitchFamily="18" charset="0"/>
                            </a:rPr>
                            <m:t>𝑋</m:t>
                          </m:r>
                        </m:oMath>
                      </m:oMathPara>
                    </a14:m>
                    <a:endParaRPr lang="en-US" sz="1100" dirty="0">
                      <a:solidFill>
                        <a:schemeClr val="tx1"/>
                      </a:solidFill>
                    </a:endParaRPr>
                  </a:p>
                </p:txBody>
              </p:sp>
            </mc:Choice>
            <mc:Fallback xmlns="">
              <p:sp>
                <p:nvSpPr>
                  <p:cNvPr id="37" name="Rectangle 36">
                    <a:extLst>
                      <a:ext uri="{FF2B5EF4-FFF2-40B4-BE49-F238E27FC236}">
                        <a16:creationId xmlns:a16="http://schemas.microsoft.com/office/drawing/2014/main" id="{C1D0DD58-BAFA-9A05-2962-F05416FD3D3F}"/>
                      </a:ext>
                    </a:extLst>
                  </p:cNvPr>
                  <p:cNvSpPr>
                    <a:spLocks noRot="1" noChangeAspect="1" noMove="1" noResize="1" noEditPoints="1" noAdjustHandles="1" noChangeArrowheads="1" noChangeShapeType="1" noTextEdit="1"/>
                  </p:cNvSpPr>
                  <p:nvPr/>
                </p:nvSpPr>
                <p:spPr>
                  <a:xfrm>
                    <a:off x="1010012" y="2204126"/>
                    <a:ext cx="534774" cy="1846528"/>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0DCA2423-A976-A1BD-5863-D807BF909330}"/>
                      </a:ext>
                    </a:extLst>
                  </p:cNvPr>
                  <p:cNvSpPr/>
                  <p:nvPr/>
                </p:nvSpPr>
                <p:spPr>
                  <a:xfrm>
                    <a:off x="1742329" y="2210023"/>
                    <a:ext cx="226428" cy="7030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𝛽</m:t>
                          </m:r>
                        </m:oMath>
                      </m:oMathPara>
                    </a14:m>
                    <a:endParaRPr lang="en-US" sz="1100" dirty="0">
                      <a:solidFill>
                        <a:schemeClr val="tx1"/>
                      </a:solidFill>
                    </a:endParaRPr>
                  </a:p>
                </p:txBody>
              </p:sp>
            </mc:Choice>
            <mc:Fallback xmlns="">
              <p:sp>
                <p:nvSpPr>
                  <p:cNvPr id="38" name="Rectangle 37">
                    <a:extLst>
                      <a:ext uri="{FF2B5EF4-FFF2-40B4-BE49-F238E27FC236}">
                        <a16:creationId xmlns:a16="http://schemas.microsoft.com/office/drawing/2014/main" id="{0DCA2423-A976-A1BD-5863-D807BF909330}"/>
                      </a:ext>
                    </a:extLst>
                  </p:cNvPr>
                  <p:cNvSpPr>
                    <a:spLocks noRot="1" noChangeAspect="1" noMove="1" noResize="1" noEditPoints="1" noAdjustHandles="1" noChangeArrowheads="1" noChangeShapeType="1" noTextEdit="1"/>
                  </p:cNvSpPr>
                  <p:nvPr/>
                </p:nvSpPr>
                <p:spPr>
                  <a:xfrm>
                    <a:off x="1742329" y="2210023"/>
                    <a:ext cx="226428" cy="703024"/>
                  </a:xfrm>
                  <a:prstGeom prst="rect">
                    <a:avLst/>
                  </a:prstGeom>
                  <a:blipFill>
                    <a:blip r:embed="rId24"/>
                    <a:stretch>
                      <a:fillRect l="-38095" r="-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2E51FA2C-B5E8-0096-3D51-71AD0130DD41}"/>
                      </a:ext>
                    </a:extLst>
                  </p:cNvPr>
                  <p:cNvSpPr/>
                  <p:nvPr/>
                </p:nvSpPr>
                <p:spPr>
                  <a:xfrm>
                    <a:off x="2727012" y="2244807"/>
                    <a:ext cx="226428" cy="184652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dirty="0" smtClean="0">
                              <a:solidFill>
                                <a:schemeClr val="bg1"/>
                              </a:solidFill>
                              <a:latin typeface="Cambria Math" panose="02040503050406030204" pitchFamily="18" charset="0"/>
                            </a:rPr>
                            <m:t>𝑦</m:t>
                          </m:r>
                        </m:oMath>
                      </m:oMathPara>
                    </a14:m>
                    <a:endParaRPr lang="en-US" sz="1100" dirty="0">
                      <a:solidFill>
                        <a:schemeClr val="bg1"/>
                      </a:solidFill>
                    </a:endParaRPr>
                  </a:p>
                </p:txBody>
              </p:sp>
            </mc:Choice>
            <mc:Fallback xmlns="">
              <p:sp>
                <p:nvSpPr>
                  <p:cNvPr id="39" name="Rectangle 38">
                    <a:extLst>
                      <a:ext uri="{FF2B5EF4-FFF2-40B4-BE49-F238E27FC236}">
                        <a16:creationId xmlns:a16="http://schemas.microsoft.com/office/drawing/2014/main" id="{2E51FA2C-B5E8-0096-3D51-71AD0130DD41}"/>
                      </a:ext>
                    </a:extLst>
                  </p:cNvPr>
                  <p:cNvSpPr>
                    <a:spLocks noRot="1" noChangeAspect="1" noMove="1" noResize="1" noEditPoints="1" noAdjustHandles="1" noChangeArrowheads="1" noChangeShapeType="1" noTextEdit="1"/>
                  </p:cNvSpPr>
                  <p:nvPr/>
                </p:nvSpPr>
                <p:spPr>
                  <a:xfrm>
                    <a:off x="2727012" y="2244807"/>
                    <a:ext cx="226428" cy="1846528"/>
                  </a:xfrm>
                  <a:prstGeom prst="rect">
                    <a:avLst/>
                  </a:prstGeom>
                  <a:blipFill>
                    <a:blip r:embed="rId25"/>
                    <a:stretch>
                      <a:fillRect l="-40000" r="-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9406C50-FCE5-5BBD-FED1-3C1D9511DC62}"/>
                      </a:ext>
                    </a:extLst>
                  </p:cNvPr>
                  <p:cNvSpPr txBox="1"/>
                  <p:nvPr/>
                </p:nvSpPr>
                <p:spPr>
                  <a:xfrm>
                    <a:off x="1957074" y="2923958"/>
                    <a:ext cx="691934" cy="406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40" name="TextBox 39">
                    <a:extLst>
                      <a:ext uri="{FF2B5EF4-FFF2-40B4-BE49-F238E27FC236}">
                        <a16:creationId xmlns:a16="http://schemas.microsoft.com/office/drawing/2014/main" id="{49406C50-FCE5-5BBD-FED1-3C1D9511DC62}"/>
                      </a:ext>
                    </a:extLst>
                  </p:cNvPr>
                  <p:cNvSpPr txBox="1">
                    <a:spLocks noRot="1" noChangeAspect="1" noMove="1" noResize="1" noEditPoints="1" noAdjustHandles="1" noChangeArrowheads="1" noChangeShapeType="1" noTextEdit="1"/>
                  </p:cNvSpPr>
                  <p:nvPr/>
                </p:nvSpPr>
                <p:spPr>
                  <a:xfrm>
                    <a:off x="1957074" y="2923958"/>
                    <a:ext cx="691934" cy="406863"/>
                  </a:xfrm>
                  <a:prstGeom prst="rect">
                    <a:avLst/>
                  </a:prstGeom>
                  <a:blipFill>
                    <a:blip r:embed="rId26"/>
                    <a:stretch>
                      <a:fillRect b="-30303"/>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30E066F9-303E-2E29-08AB-F63734F6827C}"/>
                  </a:ext>
                </a:extLst>
              </p:cNvPr>
              <p:cNvSpPr txBox="1"/>
              <p:nvPr/>
            </p:nvSpPr>
            <p:spPr>
              <a:xfrm>
                <a:off x="845763" y="1626666"/>
                <a:ext cx="1741759" cy="461665"/>
              </a:xfrm>
              <a:prstGeom prst="rect">
                <a:avLst/>
              </a:prstGeom>
              <a:noFill/>
            </p:spPr>
            <p:txBody>
              <a:bodyPr wrap="none" rtlCol="0">
                <a:spAutoFit/>
              </a:bodyPr>
              <a:lstStyle/>
              <a:p>
                <a:r>
                  <a:rPr lang="en-US" sz="2400" dirty="0"/>
                  <a:t>Regression:</a:t>
                </a:r>
              </a:p>
            </p:txBody>
          </p:sp>
        </p:grpSp>
        <p:sp>
          <p:nvSpPr>
            <p:cNvPr id="58" name="TextBox 57">
              <a:extLst>
                <a:ext uri="{FF2B5EF4-FFF2-40B4-BE49-F238E27FC236}">
                  <a16:creationId xmlns:a16="http://schemas.microsoft.com/office/drawing/2014/main" id="{4282AFA4-E769-1A14-8DA9-43F475B796D6}"/>
                </a:ext>
              </a:extLst>
            </p:cNvPr>
            <p:cNvSpPr txBox="1"/>
            <p:nvPr/>
          </p:nvSpPr>
          <p:spPr>
            <a:xfrm>
              <a:off x="714972" y="3327905"/>
              <a:ext cx="377026" cy="276999"/>
            </a:xfrm>
            <a:prstGeom prst="rect">
              <a:avLst/>
            </a:prstGeom>
            <a:noFill/>
          </p:spPr>
          <p:txBody>
            <a:bodyPr wrap="none" rtlCol="0">
              <a:spAutoFit/>
            </a:bodyPr>
            <a:lstStyle/>
            <a:p>
              <a:r>
                <a:rPr lang="en-US" sz="1200" dirty="0"/>
                <a:t>UK</a:t>
              </a:r>
            </a:p>
          </p:txBody>
        </p:sp>
        <p:sp>
          <p:nvSpPr>
            <p:cNvPr id="59" name="TextBox 58">
              <a:extLst>
                <a:ext uri="{FF2B5EF4-FFF2-40B4-BE49-F238E27FC236}">
                  <a16:creationId xmlns:a16="http://schemas.microsoft.com/office/drawing/2014/main" id="{D1474099-D442-CE3A-A850-E9542A3D97E4}"/>
                </a:ext>
              </a:extLst>
            </p:cNvPr>
            <p:cNvSpPr txBox="1"/>
            <p:nvPr/>
          </p:nvSpPr>
          <p:spPr>
            <a:xfrm>
              <a:off x="-29821" y="2750325"/>
              <a:ext cx="1130318" cy="276999"/>
            </a:xfrm>
            <a:prstGeom prst="rect">
              <a:avLst/>
            </a:prstGeom>
            <a:solidFill>
              <a:schemeClr val="bg1"/>
            </a:solidFill>
          </p:spPr>
          <p:txBody>
            <a:bodyPr wrap="square" rtlCol="0">
              <a:spAutoFit/>
            </a:bodyPr>
            <a:lstStyle/>
            <a:p>
              <a:pPr algn="r"/>
              <a:r>
                <a:rPr lang="en-US" sz="1200" dirty="0"/>
                <a:t>Netherlands</a:t>
              </a:r>
            </a:p>
          </p:txBody>
        </p:sp>
        <p:sp>
          <p:nvSpPr>
            <p:cNvPr id="60" name="TextBox 59">
              <a:extLst>
                <a:ext uri="{FF2B5EF4-FFF2-40B4-BE49-F238E27FC236}">
                  <a16:creationId xmlns:a16="http://schemas.microsoft.com/office/drawing/2014/main" id="{BAE9E9E9-3232-7E15-16C4-9BC67437D2C8}"/>
                </a:ext>
              </a:extLst>
            </p:cNvPr>
            <p:cNvSpPr txBox="1"/>
            <p:nvPr/>
          </p:nvSpPr>
          <p:spPr>
            <a:xfrm>
              <a:off x="-7194" y="3050906"/>
              <a:ext cx="1130318" cy="276999"/>
            </a:xfrm>
            <a:prstGeom prst="rect">
              <a:avLst/>
            </a:prstGeom>
            <a:noFill/>
          </p:spPr>
          <p:txBody>
            <a:bodyPr wrap="square" rtlCol="0">
              <a:spAutoFit/>
            </a:bodyPr>
            <a:lstStyle/>
            <a:p>
              <a:pPr algn="r"/>
              <a:r>
                <a:rPr lang="en-US" sz="1200" dirty="0"/>
                <a:t>France</a:t>
              </a:r>
            </a:p>
          </p:txBody>
        </p:sp>
        <p:sp>
          <p:nvSpPr>
            <p:cNvPr id="61" name="TextBox 60">
              <a:extLst>
                <a:ext uri="{FF2B5EF4-FFF2-40B4-BE49-F238E27FC236}">
                  <a16:creationId xmlns:a16="http://schemas.microsoft.com/office/drawing/2014/main" id="{0532863F-22D3-634B-21AB-3B66E4A3E3F9}"/>
                </a:ext>
              </a:extLst>
            </p:cNvPr>
            <p:cNvSpPr txBox="1"/>
            <p:nvPr/>
          </p:nvSpPr>
          <p:spPr>
            <a:xfrm>
              <a:off x="-21093" y="1736333"/>
              <a:ext cx="1130318" cy="276999"/>
            </a:xfrm>
            <a:prstGeom prst="rect">
              <a:avLst/>
            </a:prstGeom>
            <a:noFill/>
          </p:spPr>
          <p:txBody>
            <a:bodyPr wrap="square" rtlCol="0">
              <a:spAutoFit/>
            </a:bodyPr>
            <a:lstStyle/>
            <a:p>
              <a:pPr algn="r"/>
              <a:r>
                <a:rPr lang="en-US" sz="1200" dirty="0"/>
                <a:t>Iceland</a:t>
              </a:r>
            </a:p>
          </p:txBody>
        </p:sp>
      </p:grpSp>
    </p:spTree>
    <p:extLst>
      <p:ext uri="{BB962C8B-B14F-4D97-AF65-F5344CB8AC3E}">
        <p14:creationId xmlns:p14="http://schemas.microsoft.com/office/powerpoint/2010/main" val="3771463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B3CAC-84BF-377C-C634-0840C2FEF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296D1-BC6C-DEAE-D05C-28121E273580}"/>
              </a:ext>
            </a:extLst>
          </p:cNvPr>
          <p:cNvSpPr>
            <a:spLocks noGrp="1"/>
          </p:cNvSpPr>
          <p:nvPr>
            <p:ph type="title"/>
          </p:nvPr>
        </p:nvSpPr>
        <p:spPr>
          <a:xfrm>
            <a:off x="714014" y="63862"/>
            <a:ext cx="10515600" cy="1325563"/>
          </a:xfrm>
        </p:spPr>
        <p:txBody>
          <a:bodyPr/>
          <a:lstStyle/>
          <a:p>
            <a:r>
              <a:rPr lang="en-US" dirty="0"/>
              <a:t>In analogy with regression…</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04C37B7-1866-E92D-CF6E-031B9895103F}"/>
                  </a:ext>
                </a:extLst>
              </p:cNvPr>
              <p:cNvSpPr txBox="1"/>
              <p:nvPr/>
            </p:nvSpPr>
            <p:spPr>
              <a:xfrm>
                <a:off x="3628228" y="1462870"/>
                <a:ext cx="8315031" cy="1497718"/>
              </a:xfrm>
              <a:prstGeom prst="rect">
                <a:avLst/>
              </a:prstGeom>
              <a:noFill/>
            </p:spPr>
            <p:txBody>
              <a:bodyPr wrap="square" rtlCol="0">
                <a:spAutoFit/>
              </a:bodyPr>
              <a:lstStyle/>
              <a:p>
                <a:pPr marL="457200" indent="-457200">
                  <a:buFont typeface="Arial" panose="020B0604020202020204" pitchFamily="34" charset="0"/>
                  <a:buChar char="•"/>
                </a:pPr>
                <a:r>
                  <a:rPr lang="en-US" sz="2400" dirty="0"/>
                  <a:t>Rows of X: Feature vectors for each unit</a:t>
                </a:r>
              </a:p>
              <a:p>
                <a:pPr marL="800100" lvl="1" indent="-342900">
                  <a:buFont typeface="Arial" panose="020B0604020202020204" pitchFamily="34" charset="0"/>
                  <a:buChar char="•"/>
                </a:pPr>
                <a:r>
                  <a:rPr lang="en-US" sz="2000" dirty="0">
                    <a:solidFill>
                      <a:schemeClr val="accent1"/>
                    </a:solidFill>
                  </a:rPr>
                  <a:t>E.g., the “UK” row might have UK population, tax rate, …</a:t>
                </a:r>
              </a:p>
              <a:p>
                <a:pPr marL="342900" indent="-342900">
                  <a:buFont typeface="Arial" panose="020B0604020202020204" pitchFamily="34" charset="0"/>
                  <a:buChar char="•"/>
                </a:pPr>
                <a:r>
                  <a:rPr lang="en-US" sz="2400" dirty="0"/>
                  <a:t>(Only) column of B:</a:t>
                </a:r>
              </a:p>
              <a:p>
                <a:pPr marL="800100" lvl="1" indent="-342900">
                  <a:buFont typeface="Arial" panose="020B0604020202020204" pitchFamily="34" charset="0"/>
                  <a:buChar char="•"/>
                </a:pPr>
                <a:r>
                  <a:rPr lang="en-US" sz="2000" dirty="0">
                    <a:solidFill>
                      <a:schemeClr val="accent1"/>
                    </a:solidFill>
                  </a:rPr>
                  <a:t>Coefficients for the regression, e.g. </a:t>
                </a:r>
                <a14:m>
                  <m:oMath xmlns:m="http://schemas.openxmlformats.org/officeDocument/2006/math">
                    <m:sSub>
                      <m:sSubPr>
                        <m:ctrlPr>
                          <a:rPr lang="en-US" sz="2000" b="0" i="1" dirty="0" smtClean="0">
                            <a:solidFill>
                              <a:schemeClr val="accent1"/>
                            </a:solidFill>
                            <a:latin typeface="Cambria Math" panose="02040503050406030204" pitchFamily="18" charset="0"/>
                          </a:rPr>
                        </m:ctrlPr>
                      </m:sSubPr>
                      <m:e>
                        <m:acc>
                          <m:accPr>
                            <m:chr m:val="̂"/>
                            <m:ctrlPr>
                              <a:rPr lang="en-US" sz="2000" b="0" i="1" dirty="0" smtClean="0">
                                <a:solidFill>
                                  <a:schemeClr val="accent1"/>
                                </a:solidFill>
                                <a:latin typeface="Cambria Math" panose="02040503050406030204" pitchFamily="18" charset="0"/>
                              </a:rPr>
                            </m:ctrlPr>
                          </m:accPr>
                          <m:e>
                            <m:r>
                              <a:rPr lang="en-US" sz="2000" b="0" i="1" dirty="0" smtClean="0">
                                <a:solidFill>
                                  <a:schemeClr val="accent1"/>
                                </a:solidFill>
                                <a:latin typeface="Cambria Math" panose="02040503050406030204" pitchFamily="18" charset="0"/>
                              </a:rPr>
                              <m:t>𝛽</m:t>
                            </m:r>
                          </m:e>
                        </m:acc>
                      </m:e>
                      <m:sub>
                        <m:r>
                          <m:rPr>
                            <m:sty m:val="p"/>
                          </m:rPr>
                          <a:rPr lang="en-US" sz="2000" b="0" i="0" dirty="0" smtClean="0">
                            <a:solidFill>
                              <a:schemeClr val="accent1"/>
                            </a:solidFill>
                            <a:latin typeface="Cambria Math" panose="02040503050406030204" pitchFamily="18" charset="0"/>
                          </a:rPr>
                          <m:t>population</m:t>
                        </m:r>
                      </m:sub>
                    </m:sSub>
                  </m:oMath>
                </a14:m>
                <a:r>
                  <a:rPr lang="en-US" sz="2000" dirty="0">
                    <a:solidFill>
                      <a:schemeClr val="accent1"/>
                    </a:solidFill>
                  </a:rPr>
                  <a:t> , </a:t>
                </a:r>
                <a14:m>
                  <m:oMath xmlns:m="http://schemas.openxmlformats.org/officeDocument/2006/math">
                    <m:sSub>
                      <m:sSubPr>
                        <m:ctrlPr>
                          <a:rPr lang="en-US" sz="2000" i="1" dirty="0">
                            <a:solidFill>
                              <a:schemeClr val="accent1"/>
                            </a:solidFill>
                            <a:latin typeface="Cambria Math" panose="02040503050406030204" pitchFamily="18" charset="0"/>
                          </a:rPr>
                        </m:ctrlPr>
                      </m:sSubPr>
                      <m:e>
                        <m:acc>
                          <m:accPr>
                            <m:chr m:val="̂"/>
                            <m:ctrlPr>
                              <a:rPr lang="en-US" sz="2000" i="1" dirty="0">
                                <a:solidFill>
                                  <a:schemeClr val="accent1"/>
                                </a:solidFill>
                                <a:latin typeface="Cambria Math" panose="02040503050406030204" pitchFamily="18" charset="0"/>
                              </a:rPr>
                            </m:ctrlPr>
                          </m:accPr>
                          <m:e>
                            <m:r>
                              <a:rPr lang="en-US" sz="2000" i="1" dirty="0">
                                <a:solidFill>
                                  <a:schemeClr val="accent1"/>
                                </a:solidFill>
                                <a:latin typeface="Cambria Math" panose="02040503050406030204" pitchFamily="18" charset="0"/>
                              </a:rPr>
                              <m:t>𝛽</m:t>
                            </m:r>
                          </m:e>
                        </m:acc>
                      </m:e>
                      <m:sub>
                        <m:r>
                          <m:rPr>
                            <m:sty m:val="p"/>
                          </m:rPr>
                          <a:rPr lang="en-US" sz="2000" b="0" i="0" dirty="0" smtClean="0">
                            <a:solidFill>
                              <a:schemeClr val="accent1"/>
                            </a:solidFill>
                            <a:latin typeface="Cambria Math" panose="02040503050406030204" pitchFamily="18" charset="0"/>
                          </a:rPr>
                          <m:t>tax</m:t>
                        </m:r>
                        <m:r>
                          <a:rPr lang="en-US" sz="2000" b="0" i="0" dirty="0" smtClean="0">
                            <a:solidFill>
                              <a:schemeClr val="accent1"/>
                            </a:solidFill>
                            <a:latin typeface="Cambria Math" panose="02040503050406030204" pitchFamily="18" charset="0"/>
                          </a:rPr>
                          <m:t> </m:t>
                        </m:r>
                        <m:r>
                          <m:rPr>
                            <m:sty m:val="p"/>
                          </m:rPr>
                          <a:rPr lang="en-US" sz="2000" b="0" i="0" dirty="0" smtClean="0">
                            <a:solidFill>
                              <a:schemeClr val="accent1"/>
                            </a:solidFill>
                            <a:latin typeface="Cambria Math" panose="02040503050406030204" pitchFamily="18" charset="0"/>
                          </a:rPr>
                          <m:t>rate</m:t>
                        </m:r>
                      </m:sub>
                    </m:sSub>
                  </m:oMath>
                </a14:m>
                <a:r>
                  <a:rPr lang="en-US" sz="2000" dirty="0">
                    <a:solidFill>
                      <a:schemeClr val="accent1"/>
                    </a:solidFill>
                  </a:rPr>
                  <a:t> , …</a:t>
                </a:r>
                <a:endParaRPr lang="en-US" sz="2000" dirty="0"/>
              </a:p>
            </p:txBody>
          </p:sp>
        </mc:Choice>
        <mc:Fallback xmlns="">
          <p:sp>
            <p:nvSpPr>
              <p:cNvPr id="46" name="TextBox 45">
                <a:extLst>
                  <a:ext uri="{FF2B5EF4-FFF2-40B4-BE49-F238E27FC236}">
                    <a16:creationId xmlns:a16="http://schemas.microsoft.com/office/drawing/2014/main" id="{D271CA8D-8E52-0032-4438-35C78F5FBE44}"/>
                  </a:ext>
                </a:extLst>
              </p:cNvPr>
              <p:cNvSpPr txBox="1">
                <a:spLocks noRot="1" noChangeAspect="1" noMove="1" noResize="1" noEditPoints="1" noAdjustHandles="1" noChangeArrowheads="1" noChangeShapeType="1" noTextEdit="1"/>
              </p:cNvSpPr>
              <p:nvPr/>
            </p:nvSpPr>
            <p:spPr>
              <a:xfrm>
                <a:off x="3628228" y="1462870"/>
                <a:ext cx="8315031" cy="1497718"/>
              </a:xfrm>
              <a:prstGeom prst="rect">
                <a:avLst/>
              </a:prstGeom>
              <a:blipFill>
                <a:blip r:embed="rId3"/>
                <a:stretch>
                  <a:fillRect l="-915" t="-3361" b="-5042"/>
                </a:stretch>
              </a:blipFill>
            </p:spPr>
            <p:txBody>
              <a:bodyPr/>
              <a:lstStyle/>
              <a:p>
                <a:r>
                  <a:rPr lang="en-US">
                    <a:noFill/>
                  </a:rPr>
                  <a:t> </a:t>
                </a:r>
              </a:p>
            </p:txBody>
          </p:sp>
        </mc:Fallback>
      </mc:AlternateContent>
      <p:grpSp>
        <p:nvGrpSpPr>
          <p:cNvPr id="57" name="Group 56">
            <a:extLst>
              <a:ext uri="{FF2B5EF4-FFF2-40B4-BE49-F238E27FC236}">
                <a16:creationId xmlns:a16="http://schemas.microsoft.com/office/drawing/2014/main" id="{B9B743BF-CB60-6007-A1F3-604F29544CC3}"/>
              </a:ext>
            </a:extLst>
          </p:cNvPr>
          <p:cNvGrpSpPr/>
          <p:nvPr/>
        </p:nvGrpSpPr>
        <p:grpSpPr>
          <a:xfrm>
            <a:off x="3770111" y="3204497"/>
            <a:ext cx="8262562" cy="3555807"/>
            <a:chOff x="3770111" y="3204497"/>
            <a:chExt cx="8262562" cy="3555807"/>
          </a:xfrm>
        </p:grpSpPr>
        <p:grpSp>
          <p:nvGrpSpPr>
            <p:cNvPr id="35" name="Group 34">
              <a:extLst>
                <a:ext uri="{FF2B5EF4-FFF2-40B4-BE49-F238E27FC236}">
                  <a16:creationId xmlns:a16="http://schemas.microsoft.com/office/drawing/2014/main" id="{94204C62-3078-D32A-D183-EA4E63264E25}"/>
                </a:ext>
              </a:extLst>
            </p:cNvPr>
            <p:cNvGrpSpPr/>
            <p:nvPr/>
          </p:nvGrpSpPr>
          <p:grpSpPr>
            <a:xfrm>
              <a:off x="4943292" y="3204497"/>
              <a:ext cx="7089381" cy="3555807"/>
              <a:chOff x="1700677" y="1358539"/>
              <a:chExt cx="9653123" cy="4841698"/>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2D559F0-3F3B-F4E4-47B2-266BF029DFC6}"/>
                      </a:ext>
                    </a:extLst>
                  </p:cNvPr>
                  <p:cNvSpPr/>
                  <p:nvPr/>
                </p:nvSpPr>
                <p:spPr>
                  <a:xfrm>
                    <a:off x="1700677" y="2622840"/>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dirty="0" smtClean="0">
                              <a:solidFill>
                                <a:schemeClr val="tx1"/>
                              </a:solidFill>
                              <a:latin typeface="Cambria Math" panose="02040503050406030204" pitchFamily="18" charset="0"/>
                            </a:rPr>
                            <m:t>𝑋</m:t>
                          </m:r>
                        </m:oMath>
                      </m:oMathPara>
                    </a14:m>
                    <a:endParaRPr lang="en-US" dirty="0">
                      <a:solidFill>
                        <a:schemeClr val="tx1"/>
                      </a:solidFill>
                    </a:endParaRPr>
                  </a:p>
                </p:txBody>
              </p:sp>
            </mc:Choice>
            <mc:Fallback xmlns="">
              <p:sp>
                <p:nvSpPr>
                  <p:cNvPr id="4" name="Rectangle 3">
                    <a:extLst>
                      <a:ext uri="{FF2B5EF4-FFF2-40B4-BE49-F238E27FC236}">
                        <a16:creationId xmlns:a16="http://schemas.microsoft.com/office/drawing/2014/main" id="{67FB6B0C-AF93-1077-2408-062E1C1B8F8F}"/>
                      </a:ext>
                    </a:extLst>
                  </p:cNvPr>
                  <p:cNvSpPr>
                    <a:spLocks noRot="1" noChangeAspect="1" noMove="1" noResize="1" noEditPoints="1" noAdjustHandles="1" noChangeArrowheads="1" noChangeShapeType="1" noTextEdit="1"/>
                  </p:cNvSpPr>
                  <p:nvPr/>
                </p:nvSpPr>
                <p:spPr>
                  <a:xfrm>
                    <a:off x="1700677" y="2622840"/>
                    <a:ext cx="1036051" cy="3577397"/>
                  </a:xfrm>
                  <a:prstGeom prst="rect">
                    <a:avLst/>
                  </a:prstGeom>
                  <a:blipFill>
                    <a:blip r:embed="rId4"/>
                    <a:stretch>
                      <a:fillRect l="-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B466813-3376-12A8-5BDD-47F83333A6A1}"/>
                      </a:ext>
                    </a:extLst>
                  </p:cNvPr>
                  <p:cNvSpPr/>
                  <p:nvPr/>
                </p:nvSpPr>
                <p:spPr>
                  <a:xfrm>
                    <a:off x="2902537" y="2635299"/>
                    <a:ext cx="312201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𝐵</m:t>
                          </m:r>
                        </m:oMath>
                      </m:oMathPara>
                    </a14:m>
                    <a:endParaRPr lang="en-US" dirty="0">
                      <a:solidFill>
                        <a:schemeClr val="tx1"/>
                      </a:solidFill>
                    </a:endParaRPr>
                  </a:p>
                </p:txBody>
              </p:sp>
            </mc:Choice>
            <mc:Fallback xmlns="">
              <p:sp>
                <p:nvSpPr>
                  <p:cNvPr id="5" name="Rectangle 4">
                    <a:extLst>
                      <a:ext uri="{FF2B5EF4-FFF2-40B4-BE49-F238E27FC236}">
                        <a16:creationId xmlns:a16="http://schemas.microsoft.com/office/drawing/2014/main" id="{2DC3CC67-EBD8-9FE6-E2B3-BBEF05F59284}"/>
                      </a:ext>
                    </a:extLst>
                  </p:cNvPr>
                  <p:cNvSpPr>
                    <a:spLocks noRot="1" noChangeAspect="1" noMove="1" noResize="1" noEditPoints="1" noAdjustHandles="1" noChangeArrowheads="1" noChangeShapeType="1" noTextEdit="1"/>
                  </p:cNvSpPr>
                  <p:nvPr/>
                </p:nvSpPr>
                <p:spPr>
                  <a:xfrm>
                    <a:off x="2902537" y="2635299"/>
                    <a:ext cx="3122018" cy="95725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A74BAF3-7BE8-DC0C-3B70-F5C9D259BAD0}"/>
                      </a:ext>
                    </a:extLst>
                  </p:cNvPr>
                  <p:cNvSpPr txBox="1"/>
                  <p:nvPr/>
                </p:nvSpPr>
                <p:spPr>
                  <a:xfrm>
                    <a:off x="6116192" y="2936227"/>
                    <a:ext cx="942159"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6" name="TextBox 5">
                    <a:extLst>
                      <a:ext uri="{FF2B5EF4-FFF2-40B4-BE49-F238E27FC236}">
                        <a16:creationId xmlns:a16="http://schemas.microsoft.com/office/drawing/2014/main" id="{D75CBC3F-F21C-C29B-A8DF-A8C8068CBF78}"/>
                      </a:ext>
                    </a:extLst>
                  </p:cNvPr>
                  <p:cNvSpPr txBox="1">
                    <a:spLocks noRot="1" noChangeAspect="1" noMove="1" noResize="1" noEditPoints="1" noAdjustHandles="1" noChangeArrowheads="1" noChangeShapeType="1" noTextEdit="1"/>
                  </p:cNvSpPr>
                  <p:nvPr/>
                </p:nvSpPr>
                <p:spPr>
                  <a:xfrm>
                    <a:off x="6116192" y="2936227"/>
                    <a:ext cx="942159" cy="553998"/>
                  </a:xfrm>
                  <a:prstGeom prst="rect">
                    <a:avLst/>
                  </a:prstGeom>
                  <a:blipFill>
                    <a:blip r:embed="rId6"/>
                    <a:stretch>
                      <a:fillRect b="-30303"/>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3314AFD3-C4BF-6039-BC3F-418EF1EB5CEE}"/>
                  </a:ext>
                </a:extLst>
              </p:cNvPr>
              <p:cNvGrpSpPr/>
              <p:nvPr/>
            </p:nvGrpSpPr>
            <p:grpSpPr>
              <a:xfrm>
                <a:off x="7104682" y="2720092"/>
                <a:ext cx="4249118" cy="3443049"/>
                <a:chOff x="1846882" y="2597802"/>
                <a:chExt cx="4249118" cy="2693288"/>
              </a:xfrm>
            </p:grpSpPr>
            <p:sp>
              <p:nvSpPr>
                <p:cNvPr id="8" name="Rectangle 7">
                  <a:extLst>
                    <a:ext uri="{FF2B5EF4-FFF2-40B4-BE49-F238E27FC236}">
                      <a16:creationId xmlns:a16="http://schemas.microsoft.com/office/drawing/2014/main" id="{C9C8E099-A5D4-2923-3CDE-EC9D253D31D7}"/>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656E07-9085-DA58-D1D8-686480D43B89}"/>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9" name="TextBox 8">
                      <a:extLst>
                        <a:ext uri="{FF2B5EF4-FFF2-40B4-BE49-F238E27FC236}">
                          <a16:creationId xmlns:a16="http://schemas.microsoft.com/office/drawing/2014/main" id="{BCF29594-7C4A-181A-F111-8FA1B9C976F4}"/>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7"/>
                      <a:stretch>
                        <a:fillRect l="-7895" b="-1666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9305044-819C-6D4F-80BE-14224248B3C9}"/>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8C6C99A-BED9-C20E-5030-A6F3ACFA7F6E}"/>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11" name="TextBox 10">
                      <a:extLst>
                        <a:ext uri="{FF2B5EF4-FFF2-40B4-BE49-F238E27FC236}">
                          <a16:creationId xmlns:a16="http://schemas.microsoft.com/office/drawing/2014/main" id="{D405B60A-6CE6-226A-0CB0-94558175C334}"/>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8"/>
                      <a:stretch>
                        <a:fillRect l="-5128"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21312C2-E1DB-D28A-2689-89BA538D578E}"/>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2" name="TextBox 11">
                      <a:extLst>
                        <a:ext uri="{FF2B5EF4-FFF2-40B4-BE49-F238E27FC236}">
                          <a16:creationId xmlns:a16="http://schemas.microsoft.com/office/drawing/2014/main" id="{CAC9F8AB-59C4-510B-1A51-0A65E9E1D377}"/>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9"/>
                      <a:stretch>
                        <a:fillRect l="-7692"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66378A0-FB89-889C-5C79-AE09A5DA49CE}"/>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13" name="TextBox 12">
                      <a:extLst>
                        <a:ext uri="{FF2B5EF4-FFF2-40B4-BE49-F238E27FC236}">
                          <a16:creationId xmlns:a16="http://schemas.microsoft.com/office/drawing/2014/main" id="{351A561A-87B7-714E-328B-2F2491DA0267}"/>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10"/>
                      <a:stretch>
                        <a:fillRect l="-5128"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71AD616-4671-5D97-6BA9-949CB65234D4}"/>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14" name="TextBox 13">
                      <a:extLst>
                        <a:ext uri="{FF2B5EF4-FFF2-40B4-BE49-F238E27FC236}">
                          <a16:creationId xmlns:a16="http://schemas.microsoft.com/office/drawing/2014/main" id="{E1A8B892-F32D-6280-995E-6F488EBC1C75}"/>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11"/>
                      <a:stretch>
                        <a:fillRect l="-7692"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72DAB5D-1C33-2AB4-8976-BA732B8BCFE8}"/>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5" name="TextBox 14">
                      <a:extLst>
                        <a:ext uri="{FF2B5EF4-FFF2-40B4-BE49-F238E27FC236}">
                          <a16:creationId xmlns:a16="http://schemas.microsoft.com/office/drawing/2014/main" id="{F3B2B6A8-8961-0C32-F2E1-63C95E0CFF94}"/>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12"/>
                      <a:stretch>
                        <a:fillRect l="-7692"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AAA886-F8A8-E901-9A94-8E28F64C28C7}"/>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16" name="TextBox 15">
                      <a:extLst>
                        <a:ext uri="{FF2B5EF4-FFF2-40B4-BE49-F238E27FC236}">
                          <a16:creationId xmlns:a16="http://schemas.microsoft.com/office/drawing/2014/main" id="{0E9B3BB7-FAA7-2A89-0FBC-5325F33AE9D1}"/>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13"/>
                      <a:stretch>
                        <a:fillRect l="-5128"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3AA2A90-3479-B06D-E954-DE55B99FCF40}"/>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17" name="TextBox 16">
                      <a:extLst>
                        <a:ext uri="{FF2B5EF4-FFF2-40B4-BE49-F238E27FC236}">
                          <a16:creationId xmlns:a16="http://schemas.microsoft.com/office/drawing/2014/main" id="{07B58F6F-E9D6-1303-FFC8-9337DAEBBFC0}"/>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4"/>
                      <a:stretch>
                        <a:fillRect l="-7692"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07A8830-D244-5A79-33EE-5D58D5DBEFE9}"/>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8" name="TextBox 17">
                      <a:extLst>
                        <a:ext uri="{FF2B5EF4-FFF2-40B4-BE49-F238E27FC236}">
                          <a16:creationId xmlns:a16="http://schemas.microsoft.com/office/drawing/2014/main" id="{A44A73D2-E98B-E78E-F68E-86533A2F2DE5}"/>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5"/>
                      <a:stretch>
                        <a:fillRect l="-7692"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AF9F60D-3616-7A7C-1AD2-D5CAD6B8EF23}"/>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19" name="TextBox 18">
                      <a:extLst>
                        <a:ext uri="{FF2B5EF4-FFF2-40B4-BE49-F238E27FC236}">
                          <a16:creationId xmlns:a16="http://schemas.microsoft.com/office/drawing/2014/main" id="{B0930172-16C9-0D54-8158-B7C99FE8F44C}"/>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6"/>
                      <a:stretch>
                        <a:fillRect l="-7692"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3EBD660-D0B4-00E1-CA1F-406B033088D1}"/>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20" name="TextBox 19">
                      <a:extLst>
                        <a:ext uri="{FF2B5EF4-FFF2-40B4-BE49-F238E27FC236}">
                          <a16:creationId xmlns:a16="http://schemas.microsoft.com/office/drawing/2014/main" id="{11C37730-3CC2-67D9-659A-DCF5B07F4BBC}"/>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7"/>
                      <a:stretch>
                        <a:fillRect l="-7500"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60DD818-A902-BD03-5142-A7A781B7392C}"/>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1" name="TextBox 20">
                      <a:extLst>
                        <a:ext uri="{FF2B5EF4-FFF2-40B4-BE49-F238E27FC236}">
                          <a16:creationId xmlns:a16="http://schemas.microsoft.com/office/drawing/2014/main" id="{5796D97D-276B-4A23-B29D-6F95CD12F3D8}"/>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18"/>
                      <a:stretch>
                        <a:fillRect l="-10256" r="-256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16D54E1-91A2-2DEB-466E-F4821D1173BA}"/>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3536D594-DAAE-C3C6-B4E1-42854DB0723F}"/>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19"/>
                      <a:stretch>
                        <a:fillRect r="-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535E278-8367-F3E9-4E65-8F43BE019A1C}"/>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3" name="TextBox 22">
                      <a:extLst>
                        <a:ext uri="{FF2B5EF4-FFF2-40B4-BE49-F238E27FC236}">
                          <a16:creationId xmlns:a16="http://schemas.microsoft.com/office/drawing/2014/main" id="{23031441-A967-9759-891A-972EA80BBB8A}"/>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20"/>
                      <a:stretch>
                        <a:fillRect r="-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9F8E844-5268-7BDB-357A-0D876DF61B1C}"/>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4" name="TextBox 23">
                      <a:extLst>
                        <a:ext uri="{FF2B5EF4-FFF2-40B4-BE49-F238E27FC236}">
                          <a16:creationId xmlns:a16="http://schemas.microsoft.com/office/drawing/2014/main" id="{2D4ACB8E-BD12-B35A-BDAB-EAC369808051}"/>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BC9332-72E7-E823-5142-6E530DC1E8E8}"/>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5" name="TextBox 24">
                      <a:extLst>
                        <a:ext uri="{FF2B5EF4-FFF2-40B4-BE49-F238E27FC236}">
                          <a16:creationId xmlns:a16="http://schemas.microsoft.com/office/drawing/2014/main" id="{792599DD-1227-2678-B11B-D6F93A01A04B}"/>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22"/>
                      <a:stretch>
                        <a:fillRect/>
                      </a:stretch>
                    </a:blipFill>
                  </p:spPr>
                  <p:txBody>
                    <a:bodyPr/>
                    <a:lstStyle/>
                    <a:p>
                      <a:r>
                        <a:rPr lang="en-US">
                          <a:noFill/>
                        </a:rPr>
                        <a:t> </a:t>
                      </a:r>
                    </a:p>
                  </p:txBody>
                </p:sp>
              </mc:Fallback>
            </mc:AlternateContent>
          </p:grpSp>
          <p:sp>
            <p:nvSpPr>
              <p:cNvPr id="26" name="TextBox 25">
                <a:extLst>
                  <a:ext uri="{FF2B5EF4-FFF2-40B4-BE49-F238E27FC236}">
                    <a16:creationId xmlns:a16="http://schemas.microsoft.com/office/drawing/2014/main" id="{6D64651F-5B2E-C346-0513-D462932EE40F}"/>
                  </a:ext>
                </a:extLst>
              </p:cNvPr>
              <p:cNvSpPr txBox="1"/>
              <p:nvPr/>
            </p:nvSpPr>
            <p:spPr>
              <a:xfrm>
                <a:off x="6495163" y="5620444"/>
                <a:ext cx="513370" cy="377170"/>
              </a:xfrm>
              <a:prstGeom prst="rect">
                <a:avLst/>
              </a:prstGeom>
              <a:noFill/>
            </p:spPr>
            <p:txBody>
              <a:bodyPr wrap="none" rtlCol="0">
                <a:spAutoFit/>
              </a:bodyPr>
              <a:lstStyle/>
              <a:p>
                <a:r>
                  <a:rPr lang="en-US" sz="1200" dirty="0"/>
                  <a:t>UK</a:t>
                </a:r>
              </a:p>
            </p:txBody>
          </p:sp>
          <p:sp>
            <p:nvSpPr>
              <p:cNvPr id="28" name="TextBox 27">
                <a:extLst>
                  <a:ext uri="{FF2B5EF4-FFF2-40B4-BE49-F238E27FC236}">
                    <a16:creationId xmlns:a16="http://schemas.microsoft.com/office/drawing/2014/main" id="{C77A1000-FD8F-7741-8300-DC88349D439F}"/>
                  </a:ext>
                </a:extLst>
              </p:cNvPr>
              <p:cNvSpPr txBox="1"/>
              <p:nvPr/>
            </p:nvSpPr>
            <p:spPr>
              <a:xfrm>
                <a:off x="5571049" y="4333774"/>
                <a:ext cx="1539076" cy="377170"/>
              </a:xfrm>
              <a:prstGeom prst="rect">
                <a:avLst/>
              </a:prstGeom>
              <a:noFill/>
            </p:spPr>
            <p:txBody>
              <a:bodyPr wrap="square" rtlCol="0">
                <a:spAutoFit/>
              </a:bodyPr>
              <a:lstStyle/>
              <a:p>
                <a:pPr algn="r"/>
                <a:r>
                  <a:rPr lang="en-US" sz="1200" dirty="0"/>
                  <a:t>Netherlands</a:t>
                </a:r>
              </a:p>
            </p:txBody>
          </p:sp>
          <p:sp>
            <p:nvSpPr>
              <p:cNvPr id="29" name="TextBox 28">
                <a:extLst>
                  <a:ext uri="{FF2B5EF4-FFF2-40B4-BE49-F238E27FC236}">
                    <a16:creationId xmlns:a16="http://schemas.microsoft.com/office/drawing/2014/main" id="{89129FAE-DC80-CD3B-E22A-00A711390BC5}"/>
                  </a:ext>
                </a:extLst>
              </p:cNvPr>
              <p:cNvSpPr txBox="1"/>
              <p:nvPr/>
            </p:nvSpPr>
            <p:spPr>
              <a:xfrm>
                <a:off x="6957438" y="2266154"/>
                <a:ext cx="833847" cy="419079"/>
              </a:xfrm>
              <a:prstGeom prst="rect">
                <a:avLst/>
              </a:prstGeom>
              <a:noFill/>
            </p:spPr>
            <p:txBody>
              <a:bodyPr wrap="square" rtlCol="0">
                <a:spAutoFit/>
              </a:bodyPr>
              <a:lstStyle/>
              <a:p>
                <a:pPr algn="r"/>
                <a:r>
                  <a:rPr lang="en-US" sz="1400" dirty="0"/>
                  <a:t>1995</a:t>
                </a:r>
              </a:p>
            </p:txBody>
          </p:sp>
          <p:sp>
            <p:nvSpPr>
              <p:cNvPr id="30" name="TextBox 29">
                <a:extLst>
                  <a:ext uri="{FF2B5EF4-FFF2-40B4-BE49-F238E27FC236}">
                    <a16:creationId xmlns:a16="http://schemas.microsoft.com/office/drawing/2014/main" id="{77B47330-2983-C7C8-BE60-E8F79A10A938}"/>
                  </a:ext>
                </a:extLst>
              </p:cNvPr>
              <p:cNvSpPr txBox="1"/>
              <p:nvPr/>
            </p:nvSpPr>
            <p:spPr>
              <a:xfrm>
                <a:off x="7677650" y="2237725"/>
                <a:ext cx="833847" cy="419079"/>
              </a:xfrm>
              <a:prstGeom prst="rect">
                <a:avLst/>
              </a:prstGeom>
              <a:noFill/>
            </p:spPr>
            <p:txBody>
              <a:bodyPr wrap="square" rtlCol="0">
                <a:spAutoFit/>
              </a:bodyPr>
              <a:lstStyle/>
              <a:p>
                <a:pPr algn="r"/>
                <a:r>
                  <a:rPr lang="en-US" sz="1400" dirty="0"/>
                  <a:t>1996</a:t>
                </a:r>
              </a:p>
            </p:txBody>
          </p:sp>
          <p:sp>
            <p:nvSpPr>
              <p:cNvPr id="31" name="TextBox 30">
                <a:extLst>
                  <a:ext uri="{FF2B5EF4-FFF2-40B4-BE49-F238E27FC236}">
                    <a16:creationId xmlns:a16="http://schemas.microsoft.com/office/drawing/2014/main" id="{5FE1E3E5-8BA5-1D75-0358-528A0B2488F0}"/>
                  </a:ext>
                </a:extLst>
              </p:cNvPr>
              <p:cNvSpPr txBox="1"/>
              <p:nvPr/>
            </p:nvSpPr>
            <p:spPr>
              <a:xfrm>
                <a:off x="10260330" y="2251157"/>
                <a:ext cx="833847" cy="419079"/>
              </a:xfrm>
              <a:prstGeom prst="rect">
                <a:avLst/>
              </a:prstGeom>
              <a:noFill/>
            </p:spPr>
            <p:txBody>
              <a:bodyPr wrap="square" rtlCol="0">
                <a:spAutoFit/>
              </a:bodyPr>
              <a:lstStyle/>
              <a:p>
                <a:pPr algn="r"/>
                <a:r>
                  <a:rPr lang="en-US" sz="1400" dirty="0"/>
                  <a:t>2022</a:t>
                </a:r>
              </a:p>
            </p:txBody>
          </p:sp>
          <p:sp>
            <p:nvSpPr>
              <p:cNvPr id="32" name="Oval 31">
                <a:extLst>
                  <a:ext uri="{FF2B5EF4-FFF2-40B4-BE49-F238E27FC236}">
                    <a16:creationId xmlns:a16="http://schemas.microsoft.com/office/drawing/2014/main" id="{1AF35FA1-D135-D6A8-25E0-7B854179459E}"/>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1915E1A-577E-07EE-98D2-A807998D5B01}"/>
                  </a:ext>
                </a:extLst>
              </p:cNvPr>
              <p:cNvSpPr txBox="1"/>
              <p:nvPr/>
            </p:nvSpPr>
            <p:spPr>
              <a:xfrm>
                <a:off x="8724169" y="1358539"/>
                <a:ext cx="2514115" cy="712433"/>
              </a:xfrm>
              <a:prstGeom prst="rect">
                <a:avLst/>
              </a:prstGeom>
              <a:noFill/>
            </p:spPr>
            <p:txBody>
              <a:bodyPr wrap="square" rtlCol="0">
                <a:spAutoFit/>
              </a:bodyPr>
              <a:lstStyle/>
              <a:p>
                <a:pPr algn="ctr"/>
                <a:r>
                  <a:rPr lang="en-US" sz="1400" dirty="0">
                    <a:solidFill>
                      <a:schemeClr val="accent2"/>
                    </a:solidFill>
                  </a:rPr>
                  <a:t>GDP of Netherlands in 1996</a:t>
                </a:r>
              </a:p>
            </p:txBody>
          </p:sp>
          <p:cxnSp>
            <p:nvCxnSpPr>
              <p:cNvPr id="34" name="Curved Connector 33">
                <a:extLst>
                  <a:ext uri="{FF2B5EF4-FFF2-40B4-BE49-F238E27FC236}">
                    <a16:creationId xmlns:a16="http://schemas.microsoft.com/office/drawing/2014/main" id="{0F3A1D93-2CAB-C19C-6FB0-9CAD9823E30C}"/>
                  </a:ext>
                </a:extLst>
              </p:cNvPr>
              <p:cNvCxnSpPr>
                <a:cxnSpLocks/>
                <a:stCxn id="33" idx="1"/>
                <a:endCxn id="32" idx="6"/>
              </p:cNvCxnSpPr>
              <p:nvPr/>
            </p:nvCxnSpPr>
            <p:spPr>
              <a:xfrm rot="10800000" flipH="1" flipV="1">
                <a:off x="8724167" y="1714755"/>
                <a:ext cx="172621" cy="2716498"/>
              </a:xfrm>
              <a:prstGeom prst="curvedConnector5">
                <a:avLst>
                  <a:gd name="adj1" fmla="val -180319"/>
                  <a:gd name="adj2" fmla="val 49406"/>
                  <a:gd name="adj3" fmla="val 280319"/>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49" name="TextBox 48">
              <a:extLst>
                <a:ext uri="{FF2B5EF4-FFF2-40B4-BE49-F238E27FC236}">
                  <a16:creationId xmlns:a16="http://schemas.microsoft.com/office/drawing/2014/main" id="{67248A9C-FAF8-FEC7-B52B-ABC61D2FFF25}"/>
                </a:ext>
              </a:extLst>
            </p:cNvPr>
            <p:cNvSpPr txBox="1"/>
            <p:nvPr/>
          </p:nvSpPr>
          <p:spPr>
            <a:xfrm>
              <a:off x="4453750" y="6365675"/>
              <a:ext cx="377026" cy="276999"/>
            </a:xfrm>
            <a:prstGeom prst="rect">
              <a:avLst/>
            </a:prstGeom>
            <a:noFill/>
          </p:spPr>
          <p:txBody>
            <a:bodyPr wrap="none" rtlCol="0">
              <a:spAutoFit/>
            </a:bodyPr>
            <a:lstStyle/>
            <a:p>
              <a:r>
                <a:rPr lang="en-US" sz="1200" dirty="0"/>
                <a:t>UK</a:t>
              </a:r>
            </a:p>
          </p:txBody>
        </p:sp>
        <p:sp>
          <p:nvSpPr>
            <p:cNvPr id="50" name="TextBox 49">
              <a:extLst>
                <a:ext uri="{FF2B5EF4-FFF2-40B4-BE49-F238E27FC236}">
                  <a16:creationId xmlns:a16="http://schemas.microsoft.com/office/drawing/2014/main" id="{CEBC5E8E-F536-CE51-EBD2-AD332E2DCB22}"/>
                </a:ext>
              </a:extLst>
            </p:cNvPr>
            <p:cNvSpPr txBox="1"/>
            <p:nvPr/>
          </p:nvSpPr>
          <p:spPr>
            <a:xfrm>
              <a:off x="3775068" y="5420728"/>
              <a:ext cx="1130318" cy="276999"/>
            </a:xfrm>
            <a:prstGeom prst="rect">
              <a:avLst/>
            </a:prstGeom>
            <a:noFill/>
          </p:spPr>
          <p:txBody>
            <a:bodyPr wrap="square" rtlCol="0">
              <a:spAutoFit/>
            </a:bodyPr>
            <a:lstStyle/>
            <a:p>
              <a:pPr algn="r"/>
              <a:r>
                <a:rPr lang="en-US" sz="1200" dirty="0"/>
                <a:t>Netherlands</a:t>
              </a:r>
            </a:p>
          </p:txBody>
        </p:sp>
        <p:sp>
          <p:nvSpPr>
            <p:cNvPr id="51" name="TextBox 50">
              <a:extLst>
                <a:ext uri="{FF2B5EF4-FFF2-40B4-BE49-F238E27FC236}">
                  <a16:creationId xmlns:a16="http://schemas.microsoft.com/office/drawing/2014/main" id="{F1CC1A88-A07B-8FB9-6203-FCEEF6D44405}"/>
                </a:ext>
              </a:extLst>
            </p:cNvPr>
            <p:cNvSpPr txBox="1"/>
            <p:nvPr/>
          </p:nvSpPr>
          <p:spPr>
            <a:xfrm>
              <a:off x="3770111" y="4182330"/>
              <a:ext cx="1130318" cy="276999"/>
            </a:xfrm>
            <a:prstGeom prst="rect">
              <a:avLst/>
            </a:prstGeom>
            <a:noFill/>
          </p:spPr>
          <p:txBody>
            <a:bodyPr wrap="square" rtlCol="0">
              <a:spAutoFit/>
            </a:bodyPr>
            <a:lstStyle/>
            <a:p>
              <a:pPr algn="r"/>
              <a:r>
                <a:rPr lang="en-US" sz="1200" dirty="0"/>
                <a:t>Iceland</a:t>
              </a:r>
            </a:p>
          </p:txBody>
        </p:sp>
        <p:sp>
          <p:nvSpPr>
            <p:cNvPr id="52" name="TextBox 51">
              <a:extLst>
                <a:ext uri="{FF2B5EF4-FFF2-40B4-BE49-F238E27FC236}">
                  <a16:creationId xmlns:a16="http://schemas.microsoft.com/office/drawing/2014/main" id="{E47FA36B-FA5B-C930-5BF2-03F653FD318B}"/>
                </a:ext>
              </a:extLst>
            </p:cNvPr>
            <p:cNvSpPr txBox="1"/>
            <p:nvPr/>
          </p:nvSpPr>
          <p:spPr>
            <a:xfrm>
              <a:off x="3770111" y="5931788"/>
              <a:ext cx="1130318" cy="276999"/>
            </a:xfrm>
            <a:prstGeom prst="rect">
              <a:avLst/>
            </a:prstGeom>
            <a:noFill/>
          </p:spPr>
          <p:txBody>
            <a:bodyPr wrap="square" rtlCol="0">
              <a:spAutoFit/>
            </a:bodyPr>
            <a:lstStyle/>
            <a:p>
              <a:pPr algn="r"/>
              <a:r>
                <a:rPr lang="en-US" sz="1200" dirty="0"/>
                <a:t>France</a:t>
              </a:r>
            </a:p>
          </p:txBody>
        </p:sp>
        <p:sp>
          <p:nvSpPr>
            <p:cNvPr id="53" name="TextBox 52">
              <a:extLst>
                <a:ext uri="{FF2B5EF4-FFF2-40B4-BE49-F238E27FC236}">
                  <a16:creationId xmlns:a16="http://schemas.microsoft.com/office/drawing/2014/main" id="{A92E4A86-005B-DE82-2EFB-26B3B00F94D1}"/>
                </a:ext>
              </a:extLst>
            </p:cNvPr>
            <p:cNvSpPr txBox="1"/>
            <p:nvPr/>
          </p:nvSpPr>
          <p:spPr>
            <a:xfrm>
              <a:off x="7716389" y="5842246"/>
              <a:ext cx="1130318" cy="276999"/>
            </a:xfrm>
            <a:prstGeom prst="rect">
              <a:avLst/>
            </a:prstGeom>
            <a:noFill/>
          </p:spPr>
          <p:txBody>
            <a:bodyPr wrap="square" rtlCol="0">
              <a:spAutoFit/>
            </a:bodyPr>
            <a:lstStyle/>
            <a:p>
              <a:pPr algn="r"/>
              <a:r>
                <a:rPr lang="en-US" sz="1200" dirty="0"/>
                <a:t>France</a:t>
              </a:r>
            </a:p>
          </p:txBody>
        </p:sp>
        <p:sp>
          <p:nvSpPr>
            <p:cNvPr id="54" name="TextBox 53">
              <a:extLst>
                <a:ext uri="{FF2B5EF4-FFF2-40B4-BE49-F238E27FC236}">
                  <a16:creationId xmlns:a16="http://schemas.microsoft.com/office/drawing/2014/main" id="{4E1E8E08-8453-0490-EDDA-5C05908E08FB}"/>
                </a:ext>
              </a:extLst>
            </p:cNvPr>
            <p:cNvSpPr txBox="1"/>
            <p:nvPr/>
          </p:nvSpPr>
          <p:spPr>
            <a:xfrm>
              <a:off x="5693118" y="3801676"/>
              <a:ext cx="612388" cy="307777"/>
            </a:xfrm>
            <a:prstGeom prst="rect">
              <a:avLst/>
            </a:prstGeom>
            <a:noFill/>
          </p:spPr>
          <p:txBody>
            <a:bodyPr wrap="square" rtlCol="0">
              <a:spAutoFit/>
            </a:bodyPr>
            <a:lstStyle/>
            <a:p>
              <a:pPr algn="r"/>
              <a:r>
                <a:rPr lang="en-US" sz="1400" dirty="0"/>
                <a:t>1995</a:t>
              </a:r>
            </a:p>
          </p:txBody>
        </p:sp>
        <p:sp>
          <p:nvSpPr>
            <p:cNvPr id="55" name="TextBox 54">
              <a:extLst>
                <a:ext uri="{FF2B5EF4-FFF2-40B4-BE49-F238E27FC236}">
                  <a16:creationId xmlns:a16="http://schemas.microsoft.com/office/drawing/2014/main" id="{ECF9275A-597A-B969-8F8A-77D87608ACCE}"/>
                </a:ext>
              </a:extLst>
            </p:cNvPr>
            <p:cNvSpPr txBox="1"/>
            <p:nvPr/>
          </p:nvSpPr>
          <p:spPr>
            <a:xfrm>
              <a:off x="6222051" y="3780798"/>
              <a:ext cx="612388" cy="307777"/>
            </a:xfrm>
            <a:prstGeom prst="rect">
              <a:avLst/>
            </a:prstGeom>
            <a:noFill/>
          </p:spPr>
          <p:txBody>
            <a:bodyPr wrap="square" rtlCol="0">
              <a:spAutoFit/>
            </a:bodyPr>
            <a:lstStyle/>
            <a:p>
              <a:pPr algn="r"/>
              <a:r>
                <a:rPr lang="en-US" sz="1400" dirty="0"/>
                <a:t>1996</a:t>
              </a:r>
            </a:p>
          </p:txBody>
        </p:sp>
        <p:sp>
          <p:nvSpPr>
            <p:cNvPr id="56" name="TextBox 55">
              <a:extLst>
                <a:ext uri="{FF2B5EF4-FFF2-40B4-BE49-F238E27FC236}">
                  <a16:creationId xmlns:a16="http://schemas.microsoft.com/office/drawing/2014/main" id="{38562A14-2DF6-214B-E134-783E639FB9FE}"/>
                </a:ext>
              </a:extLst>
            </p:cNvPr>
            <p:cNvSpPr txBox="1"/>
            <p:nvPr/>
          </p:nvSpPr>
          <p:spPr>
            <a:xfrm>
              <a:off x="7558764" y="3801676"/>
              <a:ext cx="612388" cy="307777"/>
            </a:xfrm>
            <a:prstGeom prst="rect">
              <a:avLst/>
            </a:prstGeom>
            <a:noFill/>
          </p:spPr>
          <p:txBody>
            <a:bodyPr wrap="square" rtlCol="0">
              <a:spAutoFit/>
            </a:bodyPr>
            <a:lstStyle/>
            <a:p>
              <a:pPr algn="r"/>
              <a:r>
                <a:rPr lang="en-US" sz="1400" dirty="0"/>
                <a:t>2022</a:t>
              </a:r>
            </a:p>
          </p:txBody>
        </p:sp>
      </p:grpSp>
      <p:grpSp>
        <p:nvGrpSpPr>
          <p:cNvPr id="64" name="Group 63">
            <a:extLst>
              <a:ext uri="{FF2B5EF4-FFF2-40B4-BE49-F238E27FC236}">
                <a16:creationId xmlns:a16="http://schemas.microsoft.com/office/drawing/2014/main" id="{AFEF54BD-9FAE-81AE-403A-BD9865D1F190}"/>
              </a:ext>
            </a:extLst>
          </p:cNvPr>
          <p:cNvGrpSpPr/>
          <p:nvPr/>
        </p:nvGrpSpPr>
        <p:grpSpPr>
          <a:xfrm>
            <a:off x="-29821" y="1184670"/>
            <a:ext cx="3099700" cy="2464669"/>
            <a:chOff x="-29821" y="1184670"/>
            <a:chExt cx="3099700" cy="2464669"/>
          </a:xfrm>
        </p:grpSpPr>
        <p:grpSp>
          <p:nvGrpSpPr>
            <p:cNvPr id="45" name="Group 44">
              <a:extLst>
                <a:ext uri="{FF2B5EF4-FFF2-40B4-BE49-F238E27FC236}">
                  <a16:creationId xmlns:a16="http://schemas.microsoft.com/office/drawing/2014/main" id="{E00008AA-F18F-B670-1A31-EDB7E1C58BDF}"/>
                </a:ext>
              </a:extLst>
            </p:cNvPr>
            <p:cNvGrpSpPr/>
            <p:nvPr/>
          </p:nvGrpSpPr>
          <p:grpSpPr>
            <a:xfrm>
              <a:off x="962202" y="1184670"/>
              <a:ext cx="2107677" cy="2464669"/>
              <a:chOff x="845763" y="1626666"/>
              <a:chExt cx="2107677" cy="2464669"/>
            </a:xfrm>
          </p:grpSpPr>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7A217FFA-7030-04E5-B913-49C643C3391D}"/>
                      </a:ext>
                    </a:extLst>
                  </p:cNvPr>
                  <p:cNvSpPr/>
                  <p:nvPr/>
                </p:nvSpPr>
                <p:spPr>
                  <a:xfrm>
                    <a:off x="1010012" y="2204126"/>
                    <a:ext cx="534774" cy="184652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dirty="0" smtClean="0">
                              <a:solidFill>
                                <a:schemeClr val="tx1"/>
                              </a:solidFill>
                              <a:latin typeface="Cambria Math" panose="02040503050406030204" pitchFamily="18" charset="0"/>
                            </a:rPr>
                            <m:t>𝑋</m:t>
                          </m:r>
                        </m:oMath>
                      </m:oMathPara>
                    </a14:m>
                    <a:endParaRPr lang="en-US" sz="1100" dirty="0">
                      <a:solidFill>
                        <a:schemeClr val="tx1"/>
                      </a:solidFill>
                    </a:endParaRPr>
                  </a:p>
                </p:txBody>
              </p:sp>
            </mc:Choice>
            <mc:Fallback xmlns="">
              <p:sp>
                <p:nvSpPr>
                  <p:cNvPr id="37" name="Rectangle 36">
                    <a:extLst>
                      <a:ext uri="{FF2B5EF4-FFF2-40B4-BE49-F238E27FC236}">
                        <a16:creationId xmlns:a16="http://schemas.microsoft.com/office/drawing/2014/main" id="{C1D0DD58-BAFA-9A05-2962-F05416FD3D3F}"/>
                      </a:ext>
                    </a:extLst>
                  </p:cNvPr>
                  <p:cNvSpPr>
                    <a:spLocks noRot="1" noChangeAspect="1" noMove="1" noResize="1" noEditPoints="1" noAdjustHandles="1" noChangeArrowheads="1" noChangeShapeType="1" noTextEdit="1"/>
                  </p:cNvSpPr>
                  <p:nvPr/>
                </p:nvSpPr>
                <p:spPr>
                  <a:xfrm>
                    <a:off x="1010012" y="2204126"/>
                    <a:ext cx="534774" cy="1846528"/>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3D1DEC93-2C74-4B59-32B6-7602445FCEA0}"/>
                      </a:ext>
                    </a:extLst>
                  </p:cNvPr>
                  <p:cNvSpPr/>
                  <p:nvPr/>
                </p:nvSpPr>
                <p:spPr>
                  <a:xfrm>
                    <a:off x="1742329" y="2210023"/>
                    <a:ext cx="226428" cy="7030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𝛽</m:t>
                          </m:r>
                        </m:oMath>
                      </m:oMathPara>
                    </a14:m>
                    <a:endParaRPr lang="en-US" sz="1100" dirty="0">
                      <a:solidFill>
                        <a:schemeClr val="tx1"/>
                      </a:solidFill>
                    </a:endParaRPr>
                  </a:p>
                </p:txBody>
              </p:sp>
            </mc:Choice>
            <mc:Fallback xmlns="">
              <p:sp>
                <p:nvSpPr>
                  <p:cNvPr id="38" name="Rectangle 37">
                    <a:extLst>
                      <a:ext uri="{FF2B5EF4-FFF2-40B4-BE49-F238E27FC236}">
                        <a16:creationId xmlns:a16="http://schemas.microsoft.com/office/drawing/2014/main" id="{0DCA2423-A976-A1BD-5863-D807BF909330}"/>
                      </a:ext>
                    </a:extLst>
                  </p:cNvPr>
                  <p:cNvSpPr>
                    <a:spLocks noRot="1" noChangeAspect="1" noMove="1" noResize="1" noEditPoints="1" noAdjustHandles="1" noChangeArrowheads="1" noChangeShapeType="1" noTextEdit="1"/>
                  </p:cNvSpPr>
                  <p:nvPr/>
                </p:nvSpPr>
                <p:spPr>
                  <a:xfrm>
                    <a:off x="1742329" y="2210023"/>
                    <a:ext cx="226428" cy="703024"/>
                  </a:xfrm>
                  <a:prstGeom prst="rect">
                    <a:avLst/>
                  </a:prstGeom>
                  <a:blipFill>
                    <a:blip r:embed="rId24"/>
                    <a:stretch>
                      <a:fillRect l="-38095" r="-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F6C654D9-E0AF-1096-BC7E-1C2661AEA2B0}"/>
                      </a:ext>
                    </a:extLst>
                  </p:cNvPr>
                  <p:cNvSpPr/>
                  <p:nvPr/>
                </p:nvSpPr>
                <p:spPr>
                  <a:xfrm>
                    <a:off x="2727012" y="2244807"/>
                    <a:ext cx="226428" cy="184652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dirty="0" smtClean="0">
                              <a:solidFill>
                                <a:schemeClr val="bg1"/>
                              </a:solidFill>
                              <a:latin typeface="Cambria Math" panose="02040503050406030204" pitchFamily="18" charset="0"/>
                            </a:rPr>
                            <m:t>𝑦</m:t>
                          </m:r>
                        </m:oMath>
                      </m:oMathPara>
                    </a14:m>
                    <a:endParaRPr lang="en-US" sz="1100" dirty="0">
                      <a:solidFill>
                        <a:schemeClr val="bg1"/>
                      </a:solidFill>
                    </a:endParaRPr>
                  </a:p>
                </p:txBody>
              </p:sp>
            </mc:Choice>
            <mc:Fallback xmlns="">
              <p:sp>
                <p:nvSpPr>
                  <p:cNvPr id="39" name="Rectangle 38">
                    <a:extLst>
                      <a:ext uri="{FF2B5EF4-FFF2-40B4-BE49-F238E27FC236}">
                        <a16:creationId xmlns:a16="http://schemas.microsoft.com/office/drawing/2014/main" id="{2E51FA2C-B5E8-0096-3D51-71AD0130DD41}"/>
                      </a:ext>
                    </a:extLst>
                  </p:cNvPr>
                  <p:cNvSpPr>
                    <a:spLocks noRot="1" noChangeAspect="1" noMove="1" noResize="1" noEditPoints="1" noAdjustHandles="1" noChangeArrowheads="1" noChangeShapeType="1" noTextEdit="1"/>
                  </p:cNvSpPr>
                  <p:nvPr/>
                </p:nvSpPr>
                <p:spPr>
                  <a:xfrm>
                    <a:off x="2727012" y="2244807"/>
                    <a:ext cx="226428" cy="1846528"/>
                  </a:xfrm>
                  <a:prstGeom prst="rect">
                    <a:avLst/>
                  </a:prstGeom>
                  <a:blipFill>
                    <a:blip r:embed="rId25"/>
                    <a:stretch>
                      <a:fillRect l="-40000" r="-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C10C4E4-78B7-18C7-202E-8A3124366F0E}"/>
                      </a:ext>
                    </a:extLst>
                  </p:cNvPr>
                  <p:cNvSpPr txBox="1"/>
                  <p:nvPr/>
                </p:nvSpPr>
                <p:spPr>
                  <a:xfrm>
                    <a:off x="1957074" y="2923958"/>
                    <a:ext cx="691934" cy="406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40" name="TextBox 39">
                    <a:extLst>
                      <a:ext uri="{FF2B5EF4-FFF2-40B4-BE49-F238E27FC236}">
                        <a16:creationId xmlns:a16="http://schemas.microsoft.com/office/drawing/2014/main" id="{49406C50-FCE5-5BBD-FED1-3C1D9511DC62}"/>
                      </a:ext>
                    </a:extLst>
                  </p:cNvPr>
                  <p:cNvSpPr txBox="1">
                    <a:spLocks noRot="1" noChangeAspect="1" noMove="1" noResize="1" noEditPoints="1" noAdjustHandles="1" noChangeArrowheads="1" noChangeShapeType="1" noTextEdit="1"/>
                  </p:cNvSpPr>
                  <p:nvPr/>
                </p:nvSpPr>
                <p:spPr>
                  <a:xfrm>
                    <a:off x="1957074" y="2923958"/>
                    <a:ext cx="691934" cy="406863"/>
                  </a:xfrm>
                  <a:prstGeom prst="rect">
                    <a:avLst/>
                  </a:prstGeom>
                  <a:blipFill>
                    <a:blip r:embed="rId26"/>
                    <a:stretch>
                      <a:fillRect b="-30303"/>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3076650E-D83E-C466-21A6-A0055CCA8C42}"/>
                  </a:ext>
                </a:extLst>
              </p:cNvPr>
              <p:cNvSpPr txBox="1"/>
              <p:nvPr/>
            </p:nvSpPr>
            <p:spPr>
              <a:xfrm>
                <a:off x="845763" y="1626666"/>
                <a:ext cx="1741759" cy="461665"/>
              </a:xfrm>
              <a:prstGeom prst="rect">
                <a:avLst/>
              </a:prstGeom>
              <a:noFill/>
            </p:spPr>
            <p:txBody>
              <a:bodyPr wrap="none" rtlCol="0">
                <a:spAutoFit/>
              </a:bodyPr>
              <a:lstStyle/>
              <a:p>
                <a:r>
                  <a:rPr lang="en-US" sz="2400" dirty="0"/>
                  <a:t>Regression:</a:t>
                </a:r>
              </a:p>
            </p:txBody>
          </p:sp>
        </p:grpSp>
        <p:sp>
          <p:nvSpPr>
            <p:cNvPr id="58" name="TextBox 57">
              <a:extLst>
                <a:ext uri="{FF2B5EF4-FFF2-40B4-BE49-F238E27FC236}">
                  <a16:creationId xmlns:a16="http://schemas.microsoft.com/office/drawing/2014/main" id="{B8DB5E39-EE6C-D0DB-D091-A27AE2EE5E82}"/>
                </a:ext>
              </a:extLst>
            </p:cNvPr>
            <p:cNvSpPr txBox="1"/>
            <p:nvPr/>
          </p:nvSpPr>
          <p:spPr>
            <a:xfrm>
              <a:off x="714972" y="3327905"/>
              <a:ext cx="377026" cy="276999"/>
            </a:xfrm>
            <a:prstGeom prst="rect">
              <a:avLst/>
            </a:prstGeom>
            <a:noFill/>
          </p:spPr>
          <p:txBody>
            <a:bodyPr wrap="none" rtlCol="0">
              <a:spAutoFit/>
            </a:bodyPr>
            <a:lstStyle/>
            <a:p>
              <a:r>
                <a:rPr lang="en-US" sz="1200" dirty="0"/>
                <a:t>UK</a:t>
              </a:r>
            </a:p>
          </p:txBody>
        </p:sp>
        <p:sp>
          <p:nvSpPr>
            <p:cNvPr id="59" name="TextBox 58">
              <a:extLst>
                <a:ext uri="{FF2B5EF4-FFF2-40B4-BE49-F238E27FC236}">
                  <a16:creationId xmlns:a16="http://schemas.microsoft.com/office/drawing/2014/main" id="{B5F59F39-F620-D245-85BA-D06DE64D0CAB}"/>
                </a:ext>
              </a:extLst>
            </p:cNvPr>
            <p:cNvSpPr txBox="1"/>
            <p:nvPr/>
          </p:nvSpPr>
          <p:spPr>
            <a:xfrm>
              <a:off x="-29821" y="2750325"/>
              <a:ext cx="1130318" cy="276999"/>
            </a:xfrm>
            <a:prstGeom prst="rect">
              <a:avLst/>
            </a:prstGeom>
            <a:solidFill>
              <a:schemeClr val="bg1"/>
            </a:solidFill>
          </p:spPr>
          <p:txBody>
            <a:bodyPr wrap="square" rtlCol="0">
              <a:spAutoFit/>
            </a:bodyPr>
            <a:lstStyle/>
            <a:p>
              <a:pPr algn="r"/>
              <a:r>
                <a:rPr lang="en-US" sz="1200" dirty="0"/>
                <a:t>Netherlands</a:t>
              </a:r>
            </a:p>
          </p:txBody>
        </p:sp>
        <p:sp>
          <p:nvSpPr>
            <p:cNvPr id="60" name="TextBox 59">
              <a:extLst>
                <a:ext uri="{FF2B5EF4-FFF2-40B4-BE49-F238E27FC236}">
                  <a16:creationId xmlns:a16="http://schemas.microsoft.com/office/drawing/2014/main" id="{F539719D-5A6C-EADE-0FD6-179191A73F20}"/>
                </a:ext>
              </a:extLst>
            </p:cNvPr>
            <p:cNvSpPr txBox="1"/>
            <p:nvPr/>
          </p:nvSpPr>
          <p:spPr>
            <a:xfrm>
              <a:off x="-7194" y="3050906"/>
              <a:ext cx="1130318" cy="276999"/>
            </a:xfrm>
            <a:prstGeom prst="rect">
              <a:avLst/>
            </a:prstGeom>
            <a:noFill/>
          </p:spPr>
          <p:txBody>
            <a:bodyPr wrap="square" rtlCol="0">
              <a:spAutoFit/>
            </a:bodyPr>
            <a:lstStyle/>
            <a:p>
              <a:pPr algn="r"/>
              <a:r>
                <a:rPr lang="en-US" sz="1200" dirty="0"/>
                <a:t>France</a:t>
              </a:r>
            </a:p>
          </p:txBody>
        </p:sp>
        <p:sp>
          <p:nvSpPr>
            <p:cNvPr id="61" name="TextBox 60">
              <a:extLst>
                <a:ext uri="{FF2B5EF4-FFF2-40B4-BE49-F238E27FC236}">
                  <a16:creationId xmlns:a16="http://schemas.microsoft.com/office/drawing/2014/main" id="{C7D597F8-B500-241B-00BB-A08702420805}"/>
                </a:ext>
              </a:extLst>
            </p:cNvPr>
            <p:cNvSpPr txBox="1"/>
            <p:nvPr/>
          </p:nvSpPr>
          <p:spPr>
            <a:xfrm>
              <a:off x="-21093" y="1736333"/>
              <a:ext cx="1130318" cy="276999"/>
            </a:xfrm>
            <a:prstGeom prst="rect">
              <a:avLst/>
            </a:prstGeom>
            <a:noFill/>
          </p:spPr>
          <p:txBody>
            <a:bodyPr wrap="square" rtlCol="0">
              <a:spAutoFit/>
            </a:bodyPr>
            <a:lstStyle/>
            <a:p>
              <a:pPr algn="r"/>
              <a:r>
                <a:rPr lang="en-US" sz="1200" dirty="0"/>
                <a:t>Iceland</a:t>
              </a:r>
            </a:p>
          </p:txBody>
        </p:sp>
      </p:gr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871FCFC-9347-8BA3-ACFC-0CC8077A90ED}"/>
                  </a:ext>
                </a:extLst>
              </p:cNvPr>
              <p:cNvSpPr txBox="1"/>
              <p:nvPr/>
            </p:nvSpPr>
            <p:spPr>
              <a:xfrm>
                <a:off x="314738" y="4138118"/>
                <a:ext cx="3769274" cy="2739211"/>
              </a:xfrm>
              <a:prstGeom prst="rect">
                <a:avLst/>
              </a:prstGeom>
              <a:noFill/>
            </p:spPr>
            <p:txBody>
              <a:bodyPr wrap="square" rtlCol="0">
                <a:spAutoFit/>
              </a:bodyPr>
              <a:lstStyle/>
              <a:p>
                <a:pPr marL="457200" indent="-457200">
                  <a:buFont typeface="Arial" panose="020B0604020202020204" pitchFamily="34" charset="0"/>
                  <a:buChar char="•"/>
                </a:pPr>
                <a:r>
                  <a:rPr lang="en-US" sz="2400" dirty="0"/>
                  <a:t>Rows of </a:t>
                </a:r>
                <a14:m>
                  <m:oMath xmlns:m="http://schemas.openxmlformats.org/officeDocument/2006/math">
                    <m:r>
                      <a:rPr lang="en-US" sz="2400" i="1" dirty="0" smtClean="0">
                        <a:latin typeface="Cambria Math" panose="02040503050406030204" pitchFamily="18" charset="0"/>
                      </a:rPr>
                      <m:t>𝑋</m:t>
                    </m:r>
                  </m:oMath>
                </a14:m>
                <a:r>
                  <a:rPr lang="en-US" sz="2400" dirty="0"/>
                  <a:t>: “Feature” vectors for each unit</a:t>
                </a:r>
              </a:p>
              <a:p>
                <a:pPr marL="800100" lvl="1" indent="-342900">
                  <a:buFont typeface="Arial" panose="020B0604020202020204" pitchFamily="34" charset="0"/>
                  <a:buChar char="•"/>
                </a:pPr>
                <a:r>
                  <a:rPr lang="en-US" sz="2000" dirty="0">
                    <a:solidFill>
                      <a:schemeClr val="accent1"/>
                    </a:solidFill>
                  </a:rPr>
                  <a:t>But we don’t know what the features are!</a:t>
                </a:r>
              </a:p>
              <a:p>
                <a:pPr marL="342900" indent="-342900">
                  <a:buFont typeface="Arial" panose="020B0604020202020204" pitchFamily="34" charset="0"/>
                  <a:buChar char="•"/>
                </a:pPr>
                <a14:m>
                  <m:oMath xmlns:m="http://schemas.openxmlformats.org/officeDocument/2006/math">
                    <m:r>
                      <a:rPr lang="en-US" sz="2400" i="1" dirty="0" smtClean="0">
                        <a:latin typeface="Cambria Math" panose="02040503050406030204" pitchFamily="18" charset="0"/>
                      </a:rPr>
                      <m:t>𝑡</m:t>
                    </m:r>
                  </m:oMath>
                </a14:m>
                <a:r>
                  <a:rPr lang="en-US" sz="2400" dirty="0" err="1"/>
                  <a:t>’th</a:t>
                </a:r>
                <a:r>
                  <a:rPr lang="en-US" sz="2400" dirty="0"/>
                  <a:t> column of B:</a:t>
                </a:r>
              </a:p>
              <a:p>
                <a:pPr marL="800100" lvl="1" indent="-342900">
                  <a:buFont typeface="Arial" panose="020B0604020202020204" pitchFamily="34" charset="0"/>
                  <a:buChar char="•"/>
                </a:pPr>
                <a:r>
                  <a:rPr lang="en-US" sz="2000" dirty="0">
                    <a:solidFill>
                      <a:schemeClr val="accent1"/>
                    </a:solidFill>
                  </a:rPr>
                  <a:t>Coefficients for the regression at the </a:t>
                </a:r>
                <a:r>
                  <a:rPr lang="en-US" sz="2000" dirty="0" err="1">
                    <a:solidFill>
                      <a:schemeClr val="accent1"/>
                    </a:solidFill>
                  </a:rPr>
                  <a:t>t’th</a:t>
                </a:r>
                <a:r>
                  <a:rPr lang="en-US" sz="2000" dirty="0">
                    <a:solidFill>
                      <a:schemeClr val="accent1"/>
                    </a:solidFill>
                  </a:rPr>
                  <a:t> time period.</a:t>
                </a:r>
                <a:endParaRPr lang="en-US" sz="2000" dirty="0"/>
              </a:p>
            </p:txBody>
          </p:sp>
        </mc:Choice>
        <mc:Fallback xmlns="">
          <p:sp>
            <p:nvSpPr>
              <p:cNvPr id="62" name="TextBox 61">
                <a:extLst>
                  <a:ext uri="{FF2B5EF4-FFF2-40B4-BE49-F238E27FC236}">
                    <a16:creationId xmlns:a16="http://schemas.microsoft.com/office/drawing/2014/main" id="{5BB7E835-E3AA-0868-BBB6-88CE0C363BFB}"/>
                  </a:ext>
                </a:extLst>
              </p:cNvPr>
              <p:cNvSpPr txBox="1">
                <a:spLocks noRot="1" noChangeAspect="1" noMove="1" noResize="1" noEditPoints="1" noAdjustHandles="1" noChangeArrowheads="1" noChangeShapeType="1" noTextEdit="1"/>
              </p:cNvSpPr>
              <p:nvPr/>
            </p:nvSpPr>
            <p:spPr>
              <a:xfrm>
                <a:off x="314738" y="4138118"/>
                <a:ext cx="3769274" cy="2739211"/>
              </a:xfrm>
              <a:prstGeom prst="rect">
                <a:avLst/>
              </a:prstGeom>
              <a:blipFill>
                <a:blip r:embed="rId27"/>
                <a:stretch>
                  <a:fillRect l="-2013" t="-1382" b="-3226"/>
                </a:stretch>
              </a:blipFill>
            </p:spPr>
            <p:txBody>
              <a:bodyPr/>
              <a:lstStyle/>
              <a:p>
                <a:r>
                  <a:rPr lang="en-US">
                    <a:noFill/>
                  </a:rPr>
                  <a:t> </a:t>
                </a:r>
              </a:p>
            </p:txBody>
          </p:sp>
        </mc:Fallback>
      </mc:AlternateContent>
      <p:sp>
        <p:nvSpPr>
          <p:cNvPr id="63" name="Freeform 62">
            <a:extLst>
              <a:ext uri="{FF2B5EF4-FFF2-40B4-BE49-F238E27FC236}">
                <a16:creationId xmlns:a16="http://schemas.microsoft.com/office/drawing/2014/main" id="{6DF3AB2E-0685-2F23-1FEE-8649CB718298}"/>
              </a:ext>
            </a:extLst>
          </p:cNvPr>
          <p:cNvSpPr/>
          <p:nvPr/>
        </p:nvSpPr>
        <p:spPr>
          <a:xfrm>
            <a:off x="-130629" y="3017520"/>
            <a:ext cx="12396652" cy="966651"/>
          </a:xfrm>
          <a:custGeom>
            <a:avLst/>
            <a:gdLst>
              <a:gd name="connsiteX0" fmla="*/ 12396652 w 12396652"/>
              <a:gd name="connsiteY0" fmla="*/ 535577 h 966651"/>
              <a:gd name="connsiteX1" fmla="*/ 12083143 w 12396652"/>
              <a:gd name="connsiteY1" fmla="*/ 0 h 966651"/>
              <a:gd name="connsiteX2" fmla="*/ 10058400 w 12396652"/>
              <a:gd name="connsiteY2" fmla="*/ 26126 h 966651"/>
              <a:gd name="connsiteX3" fmla="*/ 9339943 w 12396652"/>
              <a:gd name="connsiteY3" fmla="*/ 470263 h 966651"/>
              <a:gd name="connsiteX4" fmla="*/ 3879669 w 12396652"/>
              <a:gd name="connsiteY4" fmla="*/ 496389 h 966651"/>
              <a:gd name="connsiteX5" fmla="*/ 3435532 w 12396652"/>
              <a:gd name="connsiteY5" fmla="*/ 927463 h 966651"/>
              <a:gd name="connsiteX6" fmla="*/ 822960 w 12396652"/>
              <a:gd name="connsiteY6" fmla="*/ 966651 h 966651"/>
              <a:gd name="connsiteX7" fmla="*/ 0 w 12396652"/>
              <a:gd name="connsiteY7" fmla="*/ 352697 h 96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6652" h="966651">
                <a:moveTo>
                  <a:pt x="12396652" y="535577"/>
                </a:moveTo>
                <a:lnTo>
                  <a:pt x="12083143" y="0"/>
                </a:lnTo>
                <a:lnTo>
                  <a:pt x="10058400" y="26126"/>
                </a:lnTo>
                <a:lnTo>
                  <a:pt x="9339943" y="470263"/>
                </a:lnTo>
                <a:lnTo>
                  <a:pt x="3879669" y="496389"/>
                </a:lnTo>
                <a:lnTo>
                  <a:pt x="3435532" y="927463"/>
                </a:lnTo>
                <a:lnTo>
                  <a:pt x="822960" y="966651"/>
                </a:lnTo>
                <a:lnTo>
                  <a:pt x="0" y="352697"/>
                </a:lnTo>
              </a:path>
            </a:pathLst>
          </a:custGeom>
          <a:noFill/>
          <a:ln>
            <a:solidFill>
              <a:srgbClr val="8C1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1459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A8145-8EBB-28D0-C3C8-FCA9BB917A08}"/>
              </a:ext>
            </a:extLst>
          </p:cNvPr>
          <p:cNvSpPr>
            <a:spLocks noGrp="1"/>
          </p:cNvSpPr>
          <p:nvPr>
            <p:ph type="title"/>
          </p:nvPr>
        </p:nvSpPr>
        <p:spPr/>
        <p:txBody>
          <a:bodyPr/>
          <a:lstStyle/>
          <a:p>
            <a:r>
              <a:rPr lang="en-US" dirty="0"/>
              <a:t>Should we interpret the B coefficients causally?</a:t>
            </a:r>
          </a:p>
        </p:txBody>
      </p:sp>
      <p:sp>
        <p:nvSpPr>
          <p:cNvPr id="3" name="Content Placeholder 2">
            <a:extLst>
              <a:ext uri="{FF2B5EF4-FFF2-40B4-BE49-F238E27FC236}">
                <a16:creationId xmlns:a16="http://schemas.microsoft.com/office/drawing/2014/main" id="{4DFEE110-247D-8489-BD54-DF8C95A0271A}"/>
              </a:ext>
            </a:extLst>
          </p:cNvPr>
          <p:cNvSpPr>
            <a:spLocks noGrp="1"/>
          </p:cNvSpPr>
          <p:nvPr>
            <p:ph idx="1"/>
          </p:nvPr>
        </p:nvSpPr>
        <p:spPr>
          <a:xfrm>
            <a:off x="838200" y="1993525"/>
            <a:ext cx="10515600" cy="4183438"/>
          </a:xfrm>
        </p:spPr>
        <p:txBody>
          <a:bodyPr/>
          <a:lstStyle/>
          <a:p>
            <a:r>
              <a:rPr lang="en-US" dirty="0"/>
              <a:t>Probably not, unless we really understand what the features mean and have a good reason (like economic theory) to think that there’s a causal relationship.</a:t>
            </a:r>
          </a:p>
        </p:txBody>
      </p:sp>
      <p:grpSp>
        <p:nvGrpSpPr>
          <p:cNvPr id="4" name="Group 3">
            <a:extLst>
              <a:ext uri="{FF2B5EF4-FFF2-40B4-BE49-F238E27FC236}">
                <a16:creationId xmlns:a16="http://schemas.microsoft.com/office/drawing/2014/main" id="{B2315271-6DB3-73CB-4BBA-58025F6B3A84}"/>
              </a:ext>
            </a:extLst>
          </p:cNvPr>
          <p:cNvGrpSpPr/>
          <p:nvPr/>
        </p:nvGrpSpPr>
        <p:grpSpPr>
          <a:xfrm>
            <a:off x="5512526" y="3999321"/>
            <a:ext cx="6520147" cy="2760983"/>
            <a:chOff x="3635524" y="3204497"/>
            <a:chExt cx="8397149" cy="3555807"/>
          </a:xfrm>
        </p:grpSpPr>
        <p:grpSp>
          <p:nvGrpSpPr>
            <p:cNvPr id="5" name="Group 4">
              <a:extLst>
                <a:ext uri="{FF2B5EF4-FFF2-40B4-BE49-F238E27FC236}">
                  <a16:creationId xmlns:a16="http://schemas.microsoft.com/office/drawing/2014/main" id="{EC773EA1-0EC8-AAA5-053C-B8FAA66719A0}"/>
                </a:ext>
              </a:extLst>
            </p:cNvPr>
            <p:cNvGrpSpPr/>
            <p:nvPr/>
          </p:nvGrpSpPr>
          <p:grpSpPr>
            <a:xfrm>
              <a:off x="4943292" y="3204497"/>
              <a:ext cx="7089381" cy="3555807"/>
              <a:chOff x="1700677" y="1358539"/>
              <a:chExt cx="9653123" cy="4841698"/>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20CFB0C7-79A8-2391-2107-6A95B48DF1C5}"/>
                      </a:ext>
                    </a:extLst>
                  </p:cNvPr>
                  <p:cNvSpPr/>
                  <p:nvPr/>
                </p:nvSpPr>
                <p:spPr>
                  <a:xfrm>
                    <a:off x="1700677" y="2622840"/>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14" name="Rectangle 13">
                    <a:extLst>
                      <a:ext uri="{FF2B5EF4-FFF2-40B4-BE49-F238E27FC236}">
                        <a16:creationId xmlns:a16="http://schemas.microsoft.com/office/drawing/2014/main" id="{20CFB0C7-79A8-2391-2107-6A95B48DF1C5}"/>
                      </a:ext>
                    </a:extLst>
                  </p:cNvPr>
                  <p:cNvSpPr>
                    <a:spLocks noRot="1" noChangeAspect="1" noMove="1" noResize="1" noEditPoints="1" noAdjustHandles="1" noChangeArrowheads="1" noChangeShapeType="1" noTextEdit="1"/>
                  </p:cNvSpPr>
                  <p:nvPr/>
                </p:nvSpPr>
                <p:spPr>
                  <a:xfrm>
                    <a:off x="1700677" y="2622840"/>
                    <a:ext cx="1036051" cy="3577397"/>
                  </a:xfrm>
                  <a:prstGeom prst="rect">
                    <a:avLst/>
                  </a:prstGeom>
                  <a:blipFill>
                    <a:blip r:embed="rId3"/>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D1800ED-C247-5C22-4496-F9A10B712EBC}"/>
                      </a:ext>
                    </a:extLst>
                  </p:cNvPr>
                  <p:cNvSpPr/>
                  <p:nvPr/>
                </p:nvSpPr>
                <p:spPr>
                  <a:xfrm>
                    <a:off x="2902537" y="2635299"/>
                    <a:ext cx="312201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15" name="Rectangle 14">
                    <a:extLst>
                      <a:ext uri="{FF2B5EF4-FFF2-40B4-BE49-F238E27FC236}">
                        <a16:creationId xmlns:a16="http://schemas.microsoft.com/office/drawing/2014/main" id="{AD1800ED-C247-5C22-4496-F9A10B712EBC}"/>
                      </a:ext>
                    </a:extLst>
                  </p:cNvPr>
                  <p:cNvSpPr>
                    <a:spLocks noRot="1" noChangeAspect="1" noMove="1" noResize="1" noEditPoints="1" noAdjustHandles="1" noChangeArrowheads="1" noChangeShapeType="1" noTextEdit="1"/>
                  </p:cNvSpPr>
                  <p:nvPr/>
                </p:nvSpPr>
                <p:spPr>
                  <a:xfrm>
                    <a:off x="2902537" y="2635299"/>
                    <a:ext cx="3122018" cy="95725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1FE048A-66F1-4869-0844-D2A1370878F9}"/>
                      </a:ext>
                    </a:extLst>
                  </p:cNvPr>
                  <p:cNvSpPr txBox="1"/>
                  <p:nvPr/>
                </p:nvSpPr>
                <p:spPr>
                  <a:xfrm>
                    <a:off x="6116191" y="2936227"/>
                    <a:ext cx="942159" cy="755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6" name="TextBox 15">
                    <a:extLst>
                      <a:ext uri="{FF2B5EF4-FFF2-40B4-BE49-F238E27FC236}">
                        <a16:creationId xmlns:a16="http://schemas.microsoft.com/office/drawing/2014/main" id="{B1FE048A-66F1-4869-0844-D2A1370878F9}"/>
                      </a:ext>
                    </a:extLst>
                  </p:cNvPr>
                  <p:cNvSpPr txBox="1">
                    <a:spLocks noRot="1" noChangeAspect="1" noMove="1" noResize="1" noEditPoints="1" noAdjustHandles="1" noChangeArrowheads="1" noChangeShapeType="1" noTextEdit="1"/>
                  </p:cNvSpPr>
                  <p:nvPr/>
                </p:nvSpPr>
                <p:spPr>
                  <a:xfrm>
                    <a:off x="6116191" y="2936227"/>
                    <a:ext cx="942159" cy="755609"/>
                  </a:xfrm>
                  <a:prstGeom prst="rect">
                    <a:avLst/>
                  </a:prstGeom>
                  <a:blipFill>
                    <a:blip r:embed="rId5"/>
                    <a:stretch>
                      <a:fillRect/>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3C6D07B2-DAEF-419D-B623-1121FF305E17}"/>
                  </a:ext>
                </a:extLst>
              </p:cNvPr>
              <p:cNvGrpSpPr/>
              <p:nvPr/>
            </p:nvGrpSpPr>
            <p:grpSpPr>
              <a:xfrm>
                <a:off x="7104682" y="2720092"/>
                <a:ext cx="4249118" cy="3443049"/>
                <a:chOff x="1846882" y="2597802"/>
                <a:chExt cx="4249118" cy="2693288"/>
              </a:xfrm>
            </p:grpSpPr>
            <p:sp>
              <p:nvSpPr>
                <p:cNvPr id="26" name="Rectangle 25">
                  <a:extLst>
                    <a:ext uri="{FF2B5EF4-FFF2-40B4-BE49-F238E27FC236}">
                      <a16:creationId xmlns:a16="http://schemas.microsoft.com/office/drawing/2014/main" id="{84EEC849-C25C-5BE9-4500-01F5FA1E9D5A}"/>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46E50D-B4B3-A112-3BFE-524856741594}"/>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1,1</m:t>
                                </m:r>
                              </m:sub>
                            </m:sSub>
                          </m:oMath>
                        </m:oMathPara>
                      </a14:m>
                      <a:endParaRPr lang="en-US" sz="1600" dirty="0">
                        <a:solidFill>
                          <a:schemeClr val="bg1"/>
                        </a:solidFill>
                      </a:endParaRPr>
                    </a:p>
                  </p:txBody>
                </p:sp>
              </mc:Choice>
              <mc:Fallback xmlns="">
                <p:sp>
                  <p:nvSpPr>
                    <p:cNvPr id="27" name="TextBox 26">
                      <a:extLst>
                        <a:ext uri="{FF2B5EF4-FFF2-40B4-BE49-F238E27FC236}">
                          <a16:creationId xmlns:a16="http://schemas.microsoft.com/office/drawing/2014/main" id="{5346E50D-B4B3-A112-3BFE-524856741594}"/>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6"/>
                      <a:stretch>
                        <a:fillRect l="-6452" b="-9091"/>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9A16D202-6069-9A34-A427-EC6BA8C1DEE5}"/>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0EE8963-F9AA-B796-35DD-CBB04734375D}"/>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1,2</m:t>
                                </m:r>
                              </m:sub>
                            </m:sSub>
                          </m:oMath>
                        </m:oMathPara>
                      </a14:m>
                      <a:endParaRPr lang="en-US" sz="1600" dirty="0">
                        <a:solidFill>
                          <a:schemeClr val="bg1"/>
                        </a:solidFill>
                      </a:endParaRPr>
                    </a:p>
                  </p:txBody>
                </p:sp>
              </mc:Choice>
              <mc:Fallback xmlns="">
                <p:sp>
                  <p:nvSpPr>
                    <p:cNvPr id="29" name="TextBox 28">
                      <a:extLst>
                        <a:ext uri="{FF2B5EF4-FFF2-40B4-BE49-F238E27FC236}">
                          <a16:creationId xmlns:a16="http://schemas.microsoft.com/office/drawing/2014/main" id="{30EE8963-F9AA-B796-35DD-CBB04734375D}"/>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7"/>
                      <a:stretch>
                        <a:fillRect l="-6452"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6F480F0-CEE3-C78E-B9D0-DCBFC91645BD}"/>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0" name="TextBox 29">
                      <a:extLst>
                        <a:ext uri="{FF2B5EF4-FFF2-40B4-BE49-F238E27FC236}">
                          <a16:creationId xmlns:a16="http://schemas.microsoft.com/office/drawing/2014/main" id="{56F480F0-CEE3-C78E-B9D0-DCBFC91645BD}"/>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8"/>
                      <a:stretch>
                        <a:fillRect l="-967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78E7B23-D3A5-5E82-92BB-49A33540F08B}"/>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2,1</m:t>
                                </m:r>
                              </m:sub>
                            </m:sSub>
                          </m:oMath>
                        </m:oMathPara>
                      </a14:m>
                      <a:endParaRPr lang="en-US" sz="1600" dirty="0">
                        <a:solidFill>
                          <a:schemeClr val="bg1"/>
                        </a:solidFill>
                      </a:endParaRPr>
                    </a:p>
                  </p:txBody>
                </p:sp>
              </mc:Choice>
              <mc:Fallback xmlns="">
                <p:sp>
                  <p:nvSpPr>
                    <p:cNvPr id="31" name="TextBox 30">
                      <a:extLst>
                        <a:ext uri="{FF2B5EF4-FFF2-40B4-BE49-F238E27FC236}">
                          <a16:creationId xmlns:a16="http://schemas.microsoft.com/office/drawing/2014/main" id="{E78E7B23-D3A5-5E82-92BB-49A33540F08B}"/>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9"/>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56CEF24-E32A-73CF-4490-834927A9C7F8}"/>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2,2</m:t>
                                </m:r>
                              </m:sub>
                            </m:sSub>
                          </m:oMath>
                        </m:oMathPara>
                      </a14:m>
                      <a:endParaRPr lang="en-US" sz="1600" dirty="0">
                        <a:solidFill>
                          <a:schemeClr val="bg1"/>
                        </a:solidFill>
                      </a:endParaRPr>
                    </a:p>
                  </p:txBody>
                </p:sp>
              </mc:Choice>
              <mc:Fallback xmlns="">
                <p:sp>
                  <p:nvSpPr>
                    <p:cNvPr id="32" name="TextBox 31">
                      <a:extLst>
                        <a:ext uri="{FF2B5EF4-FFF2-40B4-BE49-F238E27FC236}">
                          <a16:creationId xmlns:a16="http://schemas.microsoft.com/office/drawing/2014/main" id="{356CEF24-E32A-73CF-4490-834927A9C7F8}"/>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0"/>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B2FBF1E-0C98-1A86-4E98-96BF409A0023}"/>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3" name="TextBox 32">
                      <a:extLst>
                        <a:ext uri="{FF2B5EF4-FFF2-40B4-BE49-F238E27FC236}">
                          <a16:creationId xmlns:a16="http://schemas.microsoft.com/office/drawing/2014/main" id="{AB2FBF1E-0C98-1A86-4E98-96BF409A0023}"/>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1"/>
                      <a:stretch>
                        <a:fillRect l="-9677"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63E32D6-A71B-B3C4-E34D-8555A50003BD}"/>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3,1</m:t>
                                </m:r>
                              </m:sub>
                            </m:sSub>
                          </m:oMath>
                        </m:oMathPara>
                      </a14:m>
                      <a:endParaRPr lang="en-US" sz="1600" dirty="0">
                        <a:solidFill>
                          <a:schemeClr val="bg1"/>
                        </a:solidFill>
                      </a:endParaRPr>
                    </a:p>
                  </p:txBody>
                </p:sp>
              </mc:Choice>
              <mc:Fallback xmlns="">
                <p:sp>
                  <p:nvSpPr>
                    <p:cNvPr id="34" name="TextBox 33">
                      <a:extLst>
                        <a:ext uri="{FF2B5EF4-FFF2-40B4-BE49-F238E27FC236}">
                          <a16:creationId xmlns:a16="http://schemas.microsoft.com/office/drawing/2014/main" id="{463E32D6-A71B-B3C4-E34D-8555A50003BD}"/>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2"/>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CD9EBC2-A4D2-F1EB-2B69-769A28C20F60}"/>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3,2</m:t>
                                </m:r>
                              </m:sub>
                            </m:sSub>
                          </m:oMath>
                        </m:oMathPara>
                      </a14:m>
                      <a:endParaRPr lang="en-US" sz="1600" dirty="0">
                        <a:solidFill>
                          <a:schemeClr val="bg1"/>
                        </a:solidFill>
                      </a:endParaRPr>
                    </a:p>
                  </p:txBody>
                </p:sp>
              </mc:Choice>
              <mc:Fallback xmlns="">
                <p:sp>
                  <p:nvSpPr>
                    <p:cNvPr id="35" name="TextBox 34">
                      <a:extLst>
                        <a:ext uri="{FF2B5EF4-FFF2-40B4-BE49-F238E27FC236}">
                          <a16:creationId xmlns:a16="http://schemas.microsoft.com/office/drawing/2014/main" id="{BCD9EBC2-A4D2-F1EB-2B69-769A28C20F60}"/>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3"/>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577DCFD-0707-59D7-1738-2320AF357785}"/>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6" name="TextBox 35">
                      <a:extLst>
                        <a:ext uri="{FF2B5EF4-FFF2-40B4-BE49-F238E27FC236}">
                          <a16:creationId xmlns:a16="http://schemas.microsoft.com/office/drawing/2014/main" id="{6577DCFD-0707-59D7-1738-2320AF357785}"/>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4"/>
                      <a:stretch>
                        <a:fillRect l="-9677"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E85B78D-C2B0-0B9A-92CA-BBF7546566D8}"/>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37" name="TextBox 36">
                      <a:extLst>
                        <a:ext uri="{FF2B5EF4-FFF2-40B4-BE49-F238E27FC236}">
                          <a16:creationId xmlns:a16="http://schemas.microsoft.com/office/drawing/2014/main" id="{7E85B78D-C2B0-0B9A-92CA-BBF7546566D8}"/>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5"/>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B5B63D1-3978-E095-C528-4E6CCB69166C}"/>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38" name="TextBox 37">
                      <a:extLst>
                        <a:ext uri="{FF2B5EF4-FFF2-40B4-BE49-F238E27FC236}">
                          <a16:creationId xmlns:a16="http://schemas.microsoft.com/office/drawing/2014/main" id="{BB5B63D1-3978-E095-C528-4E6CCB69166C}"/>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6"/>
                      <a:stretch>
                        <a:fillRect l="-13333" r="-6667"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66DC09C-DC67-AA68-E185-0E54D21FD79E}"/>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9" name="TextBox 38">
                      <a:extLst>
                        <a:ext uri="{FF2B5EF4-FFF2-40B4-BE49-F238E27FC236}">
                          <a16:creationId xmlns:a16="http://schemas.microsoft.com/office/drawing/2014/main" id="{266DC09C-DC67-AA68-E185-0E54D21FD79E}"/>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7"/>
                      <a:stretch>
                        <a:fillRect l="-13333"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35B0284-D5F9-39E9-8EFE-57818F5449C4}"/>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0" name="TextBox 39">
                      <a:extLst>
                        <a:ext uri="{FF2B5EF4-FFF2-40B4-BE49-F238E27FC236}">
                          <a16:creationId xmlns:a16="http://schemas.microsoft.com/office/drawing/2014/main" id="{035B0284-D5F9-39E9-8EFE-57818F5449C4}"/>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3820928-0C04-E9C3-33D1-0C62BD971121}"/>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1" name="TextBox 40">
                      <a:extLst>
                        <a:ext uri="{FF2B5EF4-FFF2-40B4-BE49-F238E27FC236}">
                          <a16:creationId xmlns:a16="http://schemas.microsoft.com/office/drawing/2014/main" id="{63820928-0C04-E9C3-33D1-0C62BD971121}"/>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4E5EFDF-C25A-530B-1F02-7D381A25F86C}"/>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2" name="TextBox 41">
                      <a:extLst>
                        <a:ext uri="{FF2B5EF4-FFF2-40B4-BE49-F238E27FC236}">
                          <a16:creationId xmlns:a16="http://schemas.microsoft.com/office/drawing/2014/main" id="{04E5EFDF-C25A-530B-1F02-7D381A25F86C}"/>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BDA9A40-3F82-A76B-1215-0886BFC41508}"/>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3" name="TextBox 42">
                      <a:extLst>
                        <a:ext uri="{FF2B5EF4-FFF2-40B4-BE49-F238E27FC236}">
                          <a16:creationId xmlns:a16="http://schemas.microsoft.com/office/drawing/2014/main" id="{EBDA9A40-3F82-A76B-1215-0886BFC41508}"/>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1"/>
                      <a:stretch>
                        <a:fillRect/>
                      </a:stretch>
                    </a:blipFill>
                  </p:spPr>
                  <p:txBody>
                    <a:bodyPr/>
                    <a:lstStyle/>
                    <a:p>
                      <a:r>
                        <a:rPr lang="en-US">
                          <a:noFill/>
                        </a:rPr>
                        <a:t> </a:t>
                      </a:r>
                    </a:p>
                  </p:txBody>
                </p:sp>
              </mc:Fallback>
            </mc:AlternateContent>
          </p:grpSp>
          <p:sp>
            <p:nvSpPr>
              <p:cNvPr id="18" name="TextBox 17">
                <a:extLst>
                  <a:ext uri="{FF2B5EF4-FFF2-40B4-BE49-F238E27FC236}">
                    <a16:creationId xmlns:a16="http://schemas.microsoft.com/office/drawing/2014/main" id="{574F13A7-4851-E0F4-A391-F4B3EA93246E}"/>
                  </a:ext>
                </a:extLst>
              </p:cNvPr>
              <p:cNvSpPr txBox="1"/>
              <p:nvPr/>
            </p:nvSpPr>
            <p:spPr>
              <a:xfrm>
                <a:off x="6495163" y="5620443"/>
                <a:ext cx="633048" cy="458763"/>
              </a:xfrm>
              <a:prstGeom prst="rect">
                <a:avLst/>
              </a:prstGeom>
              <a:noFill/>
            </p:spPr>
            <p:txBody>
              <a:bodyPr wrap="none" rtlCol="0">
                <a:spAutoFit/>
              </a:bodyPr>
              <a:lstStyle/>
              <a:p>
                <a:r>
                  <a:rPr lang="en-US" sz="1050" dirty="0"/>
                  <a:t>UK</a:t>
                </a:r>
              </a:p>
            </p:txBody>
          </p:sp>
          <p:sp>
            <p:nvSpPr>
              <p:cNvPr id="19" name="TextBox 18">
                <a:extLst>
                  <a:ext uri="{FF2B5EF4-FFF2-40B4-BE49-F238E27FC236}">
                    <a16:creationId xmlns:a16="http://schemas.microsoft.com/office/drawing/2014/main" id="{556EA8E1-4BB4-8E7D-385E-7FDAD415DE97}"/>
                  </a:ext>
                </a:extLst>
              </p:cNvPr>
              <p:cNvSpPr txBox="1"/>
              <p:nvPr/>
            </p:nvSpPr>
            <p:spPr>
              <a:xfrm>
                <a:off x="5117911" y="4333775"/>
                <a:ext cx="1992214" cy="445271"/>
              </a:xfrm>
              <a:prstGeom prst="rect">
                <a:avLst/>
              </a:prstGeom>
              <a:noFill/>
            </p:spPr>
            <p:txBody>
              <a:bodyPr wrap="square" rtlCol="0">
                <a:spAutoFit/>
              </a:bodyPr>
              <a:lstStyle/>
              <a:p>
                <a:pPr algn="r"/>
                <a:r>
                  <a:rPr lang="en-US" sz="1050" dirty="0"/>
                  <a:t>Netherlands</a:t>
                </a:r>
              </a:p>
            </p:txBody>
          </p:sp>
          <p:sp>
            <p:nvSpPr>
              <p:cNvPr id="20" name="TextBox 19">
                <a:extLst>
                  <a:ext uri="{FF2B5EF4-FFF2-40B4-BE49-F238E27FC236}">
                    <a16:creationId xmlns:a16="http://schemas.microsoft.com/office/drawing/2014/main" id="{E9231995-AF28-065C-D138-E1593365D6DF}"/>
                  </a:ext>
                </a:extLst>
              </p:cNvPr>
              <p:cNvSpPr txBox="1"/>
              <p:nvPr/>
            </p:nvSpPr>
            <p:spPr>
              <a:xfrm>
                <a:off x="6957439" y="2266153"/>
                <a:ext cx="1046722" cy="458763"/>
              </a:xfrm>
              <a:prstGeom prst="rect">
                <a:avLst/>
              </a:prstGeom>
              <a:noFill/>
            </p:spPr>
            <p:txBody>
              <a:bodyPr wrap="square" rtlCol="0">
                <a:spAutoFit/>
              </a:bodyPr>
              <a:lstStyle/>
              <a:p>
                <a:pPr algn="r"/>
                <a:r>
                  <a:rPr lang="en-US" sz="1100" dirty="0"/>
                  <a:t>1995</a:t>
                </a:r>
              </a:p>
            </p:txBody>
          </p:sp>
          <p:sp>
            <p:nvSpPr>
              <p:cNvPr id="21" name="TextBox 20">
                <a:extLst>
                  <a:ext uri="{FF2B5EF4-FFF2-40B4-BE49-F238E27FC236}">
                    <a16:creationId xmlns:a16="http://schemas.microsoft.com/office/drawing/2014/main" id="{C453CF79-60B4-035F-F477-A00291E84DE9}"/>
                  </a:ext>
                </a:extLst>
              </p:cNvPr>
              <p:cNvSpPr txBox="1"/>
              <p:nvPr/>
            </p:nvSpPr>
            <p:spPr>
              <a:xfrm>
                <a:off x="7677650" y="2237726"/>
                <a:ext cx="1046722" cy="458763"/>
              </a:xfrm>
              <a:prstGeom prst="rect">
                <a:avLst/>
              </a:prstGeom>
              <a:noFill/>
            </p:spPr>
            <p:txBody>
              <a:bodyPr wrap="square" rtlCol="0">
                <a:spAutoFit/>
              </a:bodyPr>
              <a:lstStyle/>
              <a:p>
                <a:pPr algn="r"/>
                <a:r>
                  <a:rPr lang="en-US" sz="1100" dirty="0"/>
                  <a:t>1996</a:t>
                </a:r>
              </a:p>
            </p:txBody>
          </p:sp>
          <p:sp>
            <p:nvSpPr>
              <p:cNvPr id="22" name="TextBox 21">
                <a:extLst>
                  <a:ext uri="{FF2B5EF4-FFF2-40B4-BE49-F238E27FC236}">
                    <a16:creationId xmlns:a16="http://schemas.microsoft.com/office/drawing/2014/main" id="{15A1F083-1896-EF94-0B19-838466D90B69}"/>
                  </a:ext>
                </a:extLst>
              </p:cNvPr>
              <p:cNvSpPr txBox="1"/>
              <p:nvPr/>
            </p:nvSpPr>
            <p:spPr>
              <a:xfrm>
                <a:off x="10260330" y="2251157"/>
                <a:ext cx="1046722" cy="458763"/>
              </a:xfrm>
              <a:prstGeom prst="rect">
                <a:avLst/>
              </a:prstGeom>
              <a:noFill/>
            </p:spPr>
            <p:txBody>
              <a:bodyPr wrap="square" rtlCol="0">
                <a:spAutoFit/>
              </a:bodyPr>
              <a:lstStyle/>
              <a:p>
                <a:pPr algn="r"/>
                <a:r>
                  <a:rPr lang="en-US" sz="1100" dirty="0"/>
                  <a:t>2022</a:t>
                </a:r>
              </a:p>
            </p:txBody>
          </p:sp>
          <p:sp>
            <p:nvSpPr>
              <p:cNvPr id="23" name="Oval 22">
                <a:extLst>
                  <a:ext uri="{FF2B5EF4-FFF2-40B4-BE49-F238E27FC236}">
                    <a16:creationId xmlns:a16="http://schemas.microsoft.com/office/drawing/2014/main" id="{A85839E0-B2A4-A4CF-3E44-41148CFF7E10}"/>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TextBox 23">
                <a:extLst>
                  <a:ext uri="{FF2B5EF4-FFF2-40B4-BE49-F238E27FC236}">
                    <a16:creationId xmlns:a16="http://schemas.microsoft.com/office/drawing/2014/main" id="{4183DED4-5CCB-8DBC-B1CF-66F934258060}"/>
                  </a:ext>
                </a:extLst>
              </p:cNvPr>
              <p:cNvSpPr txBox="1"/>
              <p:nvPr/>
            </p:nvSpPr>
            <p:spPr>
              <a:xfrm>
                <a:off x="8724170" y="1358539"/>
                <a:ext cx="2514114" cy="755609"/>
              </a:xfrm>
              <a:prstGeom prst="rect">
                <a:avLst/>
              </a:prstGeom>
              <a:noFill/>
            </p:spPr>
            <p:txBody>
              <a:bodyPr wrap="square" rtlCol="0">
                <a:spAutoFit/>
              </a:bodyPr>
              <a:lstStyle/>
              <a:p>
                <a:pPr algn="ctr"/>
                <a:r>
                  <a:rPr lang="en-US" sz="1100" dirty="0">
                    <a:solidFill>
                      <a:schemeClr val="accent2"/>
                    </a:solidFill>
                  </a:rPr>
                  <a:t>GDP of Netherlands in 1996</a:t>
                </a:r>
              </a:p>
            </p:txBody>
          </p:sp>
          <p:cxnSp>
            <p:nvCxnSpPr>
              <p:cNvPr id="25" name="Curved Connector 24">
                <a:extLst>
                  <a:ext uri="{FF2B5EF4-FFF2-40B4-BE49-F238E27FC236}">
                    <a16:creationId xmlns:a16="http://schemas.microsoft.com/office/drawing/2014/main" id="{416772C6-504B-F9CA-5EAF-947D0AECD146}"/>
                  </a:ext>
                </a:extLst>
              </p:cNvPr>
              <p:cNvCxnSpPr>
                <a:cxnSpLocks/>
                <a:stCxn id="24" idx="1"/>
                <a:endCxn id="23" idx="6"/>
              </p:cNvCxnSpPr>
              <p:nvPr/>
            </p:nvCxnSpPr>
            <p:spPr>
              <a:xfrm rot="10800000" flipH="1" flipV="1">
                <a:off x="8724168" y="1736345"/>
                <a:ext cx="172621" cy="2694908"/>
              </a:xfrm>
              <a:prstGeom prst="curvedConnector5">
                <a:avLst>
                  <a:gd name="adj1" fmla="val -232230"/>
                  <a:gd name="adj2" fmla="val 49802"/>
                  <a:gd name="adj3" fmla="val 332230"/>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7F836B52-633D-BD89-F0BB-115F6C85A2C6}"/>
                </a:ext>
              </a:extLst>
            </p:cNvPr>
            <p:cNvSpPr txBox="1"/>
            <p:nvPr/>
          </p:nvSpPr>
          <p:spPr>
            <a:xfrm>
              <a:off x="4453750" y="6365675"/>
              <a:ext cx="464919" cy="336922"/>
            </a:xfrm>
            <a:prstGeom prst="rect">
              <a:avLst/>
            </a:prstGeom>
            <a:noFill/>
          </p:spPr>
          <p:txBody>
            <a:bodyPr wrap="none" rtlCol="0">
              <a:spAutoFit/>
            </a:bodyPr>
            <a:lstStyle/>
            <a:p>
              <a:r>
                <a:rPr lang="en-US" sz="1050" dirty="0"/>
                <a:t>UK</a:t>
              </a:r>
            </a:p>
          </p:txBody>
        </p:sp>
        <p:sp>
          <p:nvSpPr>
            <p:cNvPr id="7" name="TextBox 6">
              <a:extLst>
                <a:ext uri="{FF2B5EF4-FFF2-40B4-BE49-F238E27FC236}">
                  <a16:creationId xmlns:a16="http://schemas.microsoft.com/office/drawing/2014/main" id="{54EC2537-DBAF-02B1-46CB-ED21D86F0DF1}"/>
                </a:ext>
              </a:extLst>
            </p:cNvPr>
            <p:cNvSpPr txBox="1"/>
            <p:nvPr/>
          </p:nvSpPr>
          <p:spPr>
            <a:xfrm>
              <a:off x="3635524" y="5420728"/>
              <a:ext cx="1269862" cy="327013"/>
            </a:xfrm>
            <a:prstGeom prst="rect">
              <a:avLst/>
            </a:prstGeom>
            <a:noFill/>
          </p:spPr>
          <p:txBody>
            <a:bodyPr wrap="square" rtlCol="0">
              <a:spAutoFit/>
            </a:bodyPr>
            <a:lstStyle/>
            <a:p>
              <a:pPr algn="r"/>
              <a:r>
                <a:rPr lang="en-US" sz="1050" dirty="0"/>
                <a:t>Netherlands</a:t>
              </a:r>
            </a:p>
          </p:txBody>
        </p:sp>
        <p:sp>
          <p:nvSpPr>
            <p:cNvPr id="8" name="TextBox 7">
              <a:extLst>
                <a:ext uri="{FF2B5EF4-FFF2-40B4-BE49-F238E27FC236}">
                  <a16:creationId xmlns:a16="http://schemas.microsoft.com/office/drawing/2014/main" id="{657358BD-111A-55CB-E2C3-5B7B59833E8F}"/>
                </a:ext>
              </a:extLst>
            </p:cNvPr>
            <p:cNvSpPr txBox="1"/>
            <p:nvPr/>
          </p:nvSpPr>
          <p:spPr>
            <a:xfrm>
              <a:off x="3770111" y="4182331"/>
              <a:ext cx="1130318" cy="336922"/>
            </a:xfrm>
            <a:prstGeom prst="rect">
              <a:avLst/>
            </a:prstGeom>
            <a:noFill/>
          </p:spPr>
          <p:txBody>
            <a:bodyPr wrap="square" rtlCol="0">
              <a:spAutoFit/>
            </a:bodyPr>
            <a:lstStyle/>
            <a:p>
              <a:pPr algn="r"/>
              <a:r>
                <a:rPr lang="en-US" sz="1050" dirty="0"/>
                <a:t>Iceland</a:t>
              </a:r>
            </a:p>
          </p:txBody>
        </p:sp>
        <p:sp>
          <p:nvSpPr>
            <p:cNvPr id="9" name="TextBox 8">
              <a:extLst>
                <a:ext uri="{FF2B5EF4-FFF2-40B4-BE49-F238E27FC236}">
                  <a16:creationId xmlns:a16="http://schemas.microsoft.com/office/drawing/2014/main" id="{8EA86ADC-F565-3D56-BE5A-8E5DD8A09775}"/>
                </a:ext>
              </a:extLst>
            </p:cNvPr>
            <p:cNvSpPr txBox="1"/>
            <p:nvPr/>
          </p:nvSpPr>
          <p:spPr>
            <a:xfrm>
              <a:off x="3770111" y="5931788"/>
              <a:ext cx="1130318" cy="336922"/>
            </a:xfrm>
            <a:prstGeom prst="rect">
              <a:avLst/>
            </a:prstGeom>
            <a:noFill/>
          </p:spPr>
          <p:txBody>
            <a:bodyPr wrap="square" rtlCol="0">
              <a:spAutoFit/>
            </a:bodyPr>
            <a:lstStyle/>
            <a:p>
              <a:pPr algn="r"/>
              <a:r>
                <a:rPr lang="en-US" sz="1050" dirty="0"/>
                <a:t>France</a:t>
              </a:r>
            </a:p>
          </p:txBody>
        </p:sp>
        <p:sp>
          <p:nvSpPr>
            <p:cNvPr id="10" name="TextBox 9">
              <a:extLst>
                <a:ext uri="{FF2B5EF4-FFF2-40B4-BE49-F238E27FC236}">
                  <a16:creationId xmlns:a16="http://schemas.microsoft.com/office/drawing/2014/main" id="{4A98F9F1-9C47-1C23-DEEA-9112A3E107C5}"/>
                </a:ext>
              </a:extLst>
            </p:cNvPr>
            <p:cNvSpPr txBox="1"/>
            <p:nvPr/>
          </p:nvSpPr>
          <p:spPr>
            <a:xfrm>
              <a:off x="7716388" y="5842246"/>
              <a:ext cx="1130318" cy="336922"/>
            </a:xfrm>
            <a:prstGeom prst="rect">
              <a:avLst/>
            </a:prstGeom>
            <a:noFill/>
          </p:spPr>
          <p:txBody>
            <a:bodyPr wrap="square" rtlCol="0">
              <a:spAutoFit/>
            </a:bodyPr>
            <a:lstStyle/>
            <a:p>
              <a:pPr algn="r"/>
              <a:r>
                <a:rPr lang="en-US" sz="1050" dirty="0"/>
                <a:t>France</a:t>
              </a:r>
            </a:p>
          </p:txBody>
        </p:sp>
        <p:sp>
          <p:nvSpPr>
            <p:cNvPr id="11" name="TextBox 10">
              <a:extLst>
                <a:ext uri="{FF2B5EF4-FFF2-40B4-BE49-F238E27FC236}">
                  <a16:creationId xmlns:a16="http://schemas.microsoft.com/office/drawing/2014/main" id="{C1EAF4E8-FFC9-CA27-1DC7-1D0C2B051A6A}"/>
                </a:ext>
              </a:extLst>
            </p:cNvPr>
            <p:cNvSpPr txBox="1"/>
            <p:nvPr/>
          </p:nvSpPr>
          <p:spPr>
            <a:xfrm>
              <a:off x="5693117" y="3801677"/>
              <a:ext cx="760889" cy="336922"/>
            </a:xfrm>
            <a:prstGeom prst="rect">
              <a:avLst/>
            </a:prstGeom>
            <a:noFill/>
          </p:spPr>
          <p:txBody>
            <a:bodyPr wrap="square" rtlCol="0">
              <a:spAutoFit/>
            </a:bodyPr>
            <a:lstStyle/>
            <a:p>
              <a:pPr algn="r"/>
              <a:r>
                <a:rPr lang="en-US" sz="1100" dirty="0"/>
                <a:t>1995</a:t>
              </a:r>
            </a:p>
          </p:txBody>
        </p:sp>
        <p:sp>
          <p:nvSpPr>
            <p:cNvPr id="12" name="TextBox 11">
              <a:extLst>
                <a:ext uri="{FF2B5EF4-FFF2-40B4-BE49-F238E27FC236}">
                  <a16:creationId xmlns:a16="http://schemas.microsoft.com/office/drawing/2014/main" id="{52601518-AFC8-9006-1CDF-25228430BB70}"/>
                </a:ext>
              </a:extLst>
            </p:cNvPr>
            <p:cNvSpPr txBox="1"/>
            <p:nvPr/>
          </p:nvSpPr>
          <p:spPr>
            <a:xfrm>
              <a:off x="6222052" y="3780798"/>
              <a:ext cx="807780" cy="336922"/>
            </a:xfrm>
            <a:prstGeom prst="rect">
              <a:avLst/>
            </a:prstGeom>
            <a:noFill/>
          </p:spPr>
          <p:txBody>
            <a:bodyPr wrap="square" rtlCol="0">
              <a:spAutoFit/>
            </a:bodyPr>
            <a:lstStyle/>
            <a:p>
              <a:pPr algn="r"/>
              <a:r>
                <a:rPr lang="en-US" sz="1100" dirty="0"/>
                <a:t>1996</a:t>
              </a:r>
            </a:p>
          </p:txBody>
        </p:sp>
        <p:sp>
          <p:nvSpPr>
            <p:cNvPr id="13" name="TextBox 12">
              <a:extLst>
                <a:ext uri="{FF2B5EF4-FFF2-40B4-BE49-F238E27FC236}">
                  <a16:creationId xmlns:a16="http://schemas.microsoft.com/office/drawing/2014/main" id="{CBDD10BF-F78D-917E-E7F0-74EAF71E424B}"/>
                </a:ext>
              </a:extLst>
            </p:cNvPr>
            <p:cNvSpPr txBox="1"/>
            <p:nvPr/>
          </p:nvSpPr>
          <p:spPr>
            <a:xfrm>
              <a:off x="7558763" y="3801677"/>
              <a:ext cx="793903" cy="336922"/>
            </a:xfrm>
            <a:prstGeom prst="rect">
              <a:avLst/>
            </a:prstGeom>
            <a:noFill/>
          </p:spPr>
          <p:txBody>
            <a:bodyPr wrap="square" rtlCol="0">
              <a:spAutoFit/>
            </a:bodyPr>
            <a:lstStyle/>
            <a:p>
              <a:pPr algn="r"/>
              <a:r>
                <a:rPr lang="en-US" sz="1100" dirty="0"/>
                <a:t>2022</a:t>
              </a:r>
            </a:p>
          </p:txBody>
        </p:sp>
      </p:grpSp>
    </p:spTree>
    <p:extLst>
      <p:ext uri="{BB962C8B-B14F-4D97-AF65-F5344CB8AC3E}">
        <p14:creationId xmlns:p14="http://schemas.microsoft.com/office/powerpoint/2010/main" val="3642103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A1924-3506-9853-8075-A8ADA4D03D53}"/>
              </a:ext>
            </a:extLst>
          </p:cNvPr>
          <p:cNvSpPr>
            <a:spLocks noGrp="1"/>
          </p:cNvSpPr>
          <p:nvPr>
            <p:ph type="title"/>
          </p:nvPr>
        </p:nvSpPr>
        <p:spPr/>
        <p:txBody>
          <a:bodyPr/>
          <a:lstStyle/>
          <a:p>
            <a:r>
              <a:rPr lang="en-US" dirty="0"/>
              <a:t>What </a:t>
            </a:r>
            <a:r>
              <a:rPr lang="en-US" b="1" dirty="0"/>
              <a:t>are</a:t>
            </a:r>
            <a:r>
              <a:rPr lang="en-US" dirty="0"/>
              <a:t> the features?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E66036-2481-6CE4-6F1C-4EABCDCCB8D5}"/>
                  </a:ext>
                </a:extLst>
              </p:cNvPr>
              <p:cNvSpPr>
                <a:spLocks noGrp="1"/>
              </p:cNvSpPr>
              <p:nvPr>
                <p:ph idx="1"/>
              </p:nvPr>
            </p:nvSpPr>
            <p:spPr>
              <a:xfrm>
                <a:off x="615623" y="1835964"/>
                <a:ext cx="6072051" cy="4351338"/>
              </a:xfrm>
            </p:spPr>
            <p:txBody>
              <a:bodyPr/>
              <a:lstStyle/>
              <a:p>
                <a:r>
                  <a:rPr lang="en-US" dirty="0"/>
                  <a:t>Sometimes you can figure them out from looking at them!</a:t>
                </a:r>
              </a:p>
              <a:p>
                <a:pPr lvl="1"/>
                <a:r>
                  <a:rPr lang="en-US" dirty="0">
                    <a:solidFill>
                      <a:schemeClr val="accent1"/>
                    </a:solidFill>
                  </a:rPr>
                  <a:t>E.g., if </a:t>
                </a:r>
                <a14:m>
                  <m:oMath xmlns:m="http://schemas.openxmlformats.org/officeDocument/2006/math">
                    <m:r>
                      <a:rPr lang="en-US" sz="2800" b="1" i="1" dirty="0" smtClean="0">
                        <a:solidFill>
                          <a:schemeClr val="accent1"/>
                        </a:solidFill>
                        <a:latin typeface="Cambria Math" panose="02040503050406030204" pitchFamily="18" charset="0"/>
                      </a:rPr>
                      <m:t>𝒀</m:t>
                    </m:r>
                  </m:oMath>
                </a14:m>
                <a:r>
                  <a:rPr lang="en-US" dirty="0">
                    <a:solidFill>
                      <a:schemeClr val="accent1"/>
                    </a:solidFill>
                  </a:rPr>
                  <a:t> is US politicians voting on bills, the most important feature is party affiliation.</a:t>
                </a:r>
              </a:p>
              <a:p>
                <a:pPr lvl="1"/>
                <a:r>
                  <a:rPr lang="en-US" dirty="0">
                    <a:solidFill>
                      <a:schemeClr val="accent1"/>
                    </a:solidFill>
                  </a:rPr>
                  <a:t>If </a:t>
                </a:r>
                <a14:m>
                  <m:oMath xmlns:m="http://schemas.openxmlformats.org/officeDocument/2006/math">
                    <m:r>
                      <a:rPr lang="en-US" b="1" i="1" smtClean="0">
                        <a:solidFill>
                          <a:schemeClr val="accent1"/>
                        </a:solidFill>
                        <a:latin typeface="Cambria Math" panose="02040503050406030204" pitchFamily="18" charset="0"/>
                      </a:rPr>
                      <m:t>𝒀</m:t>
                    </m:r>
                  </m:oMath>
                </a14:m>
                <a:r>
                  <a:rPr lang="en-US" b="1" dirty="0">
                    <a:solidFill>
                      <a:schemeClr val="accent1"/>
                    </a:solidFill>
                  </a:rPr>
                  <a:t> </a:t>
                </a:r>
                <a:r>
                  <a:rPr lang="en-US" dirty="0">
                    <a:solidFill>
                      <a:schemeClr val="accent1"/>
                    </a:solidFill>
                  </a:rPr>
                  <a:t>is users rating movies/books/music, typically the most important feature has something to do with genre.</a:t>
                </a:r>
              </a:p>
              <a:p>
                <a:pPr lvl="1"/>
                <a:endParaRPr lang="en-US" dirty="0">
                  <a:solidFill>
                    <a:schemeClr val="accent1"/>
                  </a:solidFill>
                </a:endParaRPr>
              </a:p>
              <a:p>
                <a:pPr lvl="1"/>
                <a:r>
                  <a:rPr lang="en-US" dirty="0">
                    <a:solidFill>
                      <a:schemeClr val="accent1"/>
                    </a:solidFill>
                  </a:rPr>
                  <a:t>In this case, with the OECD data?</a:t>
                </a:r>
              </a:p>
            </p:txBody>
          </p:sp>
        </mc:Choice>
        <mc:Fallback xmlns="">
          <p:sp>
            <p:nvSpPr>
              <p:cNvPr id="3" name="Content Placeholder 2">
                <a:extLst>
                  <a:ext uri="{FF2B5EF4-FFF2-40B4-BE49-F238E27FC236}">
                    <a16:creationId xmlns:a16="http://schemas.microsoft.com/office/drawing/2014/main" id="{7AE66036-2481-6CE4-6F1C-4EABCDCCB8D5}"/>
                  </a:ext>
                </a:extLst>
              </p:cNvPr>
              <p:cNvSpPr>
                <a:spLocks noGrp="1" noRot="1" noChangeAspect="1" noMove="1" noResize="1" noEditPoints="1" noAdjustHandles="1" noChangeArrowheads="1" noChangeShapeType="1" noTextEdit="1"/>
              </p:cNvSpPr>
              <p:nvPr>
                <p:ph idx="1"/>
              </p:nvPr>
            </p:nvSpPr>
            <p:spPr>
              <a:xfrm>
                <a:off x="615623" y="1835964"/>
                <a:ext cx="6072051" cy="4351338"/>
              </a:xfrm>
              <a:blipFill>
                <a:blip r:embed="rId3"/>
                <a:stretch>
                  <a:fillRect l="-1879" t="-2326" r="-271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FF9E3C1D-DA7D-1F37-545D-AFF57FA19957}"/>
              </a:ext>
            </a:extLst>
          </p:cNvPr>
          <p:cNvGrpSpPr/>
          <p:nvPr/>
        </p:nvGrpSpPr>
        <p:grpSpPr>
          <a:xfrm>
            <a:off x="7019857" y="1655825"/>
            <a:ext cx="5189740" cy="2909629"/>
            <a:chOff x="2700702" y="1060776"/>
            <a:chExt cx="9100799" cy="5102365"/>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66B9680-0392-C1DA-0C95-C92D49544705}"/>
                    </a:ext>
                  </a:extLst>
                </p:cNvPr>
                <p:cNvSpPr/>
                <p:nvPr/>
              </p:nvSpPr>
              <p:spPr>
                <a:xfrm>
                  <a:off x="2700702" y="2535283"/>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14" name="Rectangle 13">
                  <a:extLst>
                    <a:ext uri="{FF2B5EF4-FFF2-40B4-BE49-F238E27FC236}">
                      <a16:creationId xmlns:a16="http://schemas.microsoft.com/office/drawing/2014/main" id="{C66B9680-0392-C1DA-0C95-C92D49544705}"/>
                    </a:ext>
                  </a:extLst>
                </p:cNvPr>
                <p:cNvSpPr>
                  <a:spLocks noRot="1" noChangeAspect="1" noMove="1" noResize="1" noEditPoints="1" noAdjustHandles="1" noChangeArrowheads="1" noChangeShapeType="1" noTextEdit="1"/>
                </p:cNvSpPr>
                <p:nvPr/>
              </p:nvSpPr>
              <p:spPr>
                <a:xfrm>
                  <a:off x="2700702" y="2535283"/>
                  <a:ext cx="1036051" cy="3577397"/>
                </a:xfrm>
                <a:prstGeom prst="rect">
                  <a:avLst/>
                </a:prstGeom>
                <a:blipFill>
                  <a:blip r:embed="rId4"/>
                  <a:stretch>
                    <a:fillRect l="-2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35575CF-5919-1F28-DEA5-0DF33F23286F}"/>
                    </a:ext>
                  </a:extLst>
                </p:cNvPr>
                <p:cNvSpPr/>
                <p:nvPr/>
              </p:nvSpPr>
              <p:spPr>
                <a:xfrm>
                  <a:off x="3893838" y="2568647"/>
                  <a:ext cx="227630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15" name="Rectangle 14">
                  <a:extLst>
                    <a:ext uri="{FF2B5EF4-FFF2-40B4-BE49-F238E27FC236}">
                      <a16:creationId xmlns:a16="http://schemas.microsoft.com/office/drawing/2014/main" id="{635575CF-5919-1F28-DEA5-0DF33F23286F}"/>
                    </a:ext>
                  </a:extLst>
                </p:cNvPr>
                <p:cNvSpPr>
                  <a:spLocks noRot="1" noChangeAspect="1" noMove="1" noResize="1" noEditPoints="1" noAdjustHandles="1" noChangeArrowheads="1" noChangeShapeType="1" noTextEdit="1"/>
                </p:cNvSpPr>
                <p:nvPr/>
              </p:nvSpPr>
              <p:spPr>
                <a:xfrm>
                  <a:off x="3893838" y="2568647"/>
                  <a:ext cx="2276308" cy="95725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6CB14AC-ACCC-15AC-D62A-F24A38AB36C8}"/>
                    </a:ext>
                  </a:extLst>
                </p:cNvPr>
                <p:cNvSpPr txBox="1"/>
                <p:nvPr/>
              </p:nvSpPr>
              <p:spPr>
                <a:xfrm>
                  <a:off x="6116191" y="2936227"/>
                  <a:ext cx="942159" cy="755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6" name="TextBox 15">
                  <a:extLst>
                    <a:ext uri="{FF2B5EF4-FFF2-40B4-BE49-F238E27FC236}">
                      <a16:creationId xmlns:a16="http://schemas.microsoft.com/office/drawing/2014/main" id="{86CB14AC-ACCC-15AC-D62A-F24A38AB36C8}"/>
                    </a:ext>
                  </a:extLst>
                </p:cNvPr>
                <p:cNvSpPr txBox="1">
                  <a:spLocks noRot="1" noChangeAspect="1" noMove="1" noResize="1" noEditPoints="1" noAdjustHandles="1" noChangeArrowheads="1" noChangeShapeType="1" noTextEdit="1"/>
                </p:cNvSpPr>
                <p:nvPr/>
              </p:nvSpPr>
              <p:spPr>
                <a:xfrm>
                  <a:off x="6116191" y="2936227"/>
                  <a:ext cx="942159" cy="755609"/>
                </a:xfrm>
                <a:prstGeom prst="rect">
                  <a:avLst/>
                </a:prstGeom>
                <a:blipFill>
                  <a:blip r:embed="rId6"/>
                  <a:stretch>
                    <a:fillRect/>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1CCEC27B-96A4-7594-D821-27A10090F748}"/>
                </a:ext>
              </a:extLst>
            </p:cNvPr>
            <p:cNvGrpSpPr/>
            <p:nvPr/>
          </p:nvGrpSpPr>
          <p:grpSpPr>
            <a:xfrm>
              <a:off x="7104682" y="2720092"/>
              <a:ext cx="4249118" cy="3443049"/>
              <a:chOff x="1846882" y="2597802"/>
              <a:chExt cx="4249118" cy="2693288"/>
            </a:xfrm>
          </p:grpSpPr>
          <p:sp>
            <p:nvSpPr>
              <p:cNvPr id="26" name="Rectangle 25">
                <a:extLst>
                  <a:ext uri="{FF2B5EF4-FFF2-40B4-BE49-F238E27FC236}">
                    <a16:creationId xmlns:a16="http://schemas.microsoft.com/office/drawing/2014/main" id="{CE9A4D8C-4633-BEC9-94E3-6DCA07779EB5}"/>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2C2279E-38D9-6EC5-A54A-11C87ACAA088}"/>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1,1</m:t>
                              </m:r>
                            </m:sub>
                          </m:sSub>
                        </m:oMath>
                      </m:oMathPara>
                    </a14:m>
                    <a:endParaRPr lang="en-US" sz="1600" dirty="0">
                      <a:solidFill>
                        <a:schemeClr val="bg1"/>
                      </a:solidFill>
                    </a:endParaRPr>
                  </a:p>
                </p:txBody>
              </p:sp>
            </mc:Choice>
            <mc:Fallback xmlns="">
              <p:sp>
                <p:nvSpPr>
                  <p:cNvPr id="27" name="TextBox 26">
                    <a:extLst>
                      <a:ext uri="{FF2B5EF4-FFF2-40B4-BE49-F238E27FC236}">
                        <a16:creationId xmlns:a16="http://schemas.microsoft.com/office/drawing/2014/main" id="{92C2279E-38D9-6EC5-A54A-11C87ACAA088}"/>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7"/>
                    <a:stretch>
                      <a:fillRect l="-6452" b="-9524"/>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3EF76E6E-171D-8CD8-DA80-A5DF226205D9}"/>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3C2A9A4-79F4-EF2B-C2ED-518D16ABCE23}"/>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1,2</m:t>
                              </m:r>
                            </m:sub>
                          </m:sSub>
                        </m:oMath>
                      </m:oMathPara>
                    </a14:m>
                    <a:endParaRPr lang="en-US" sz="1600" dirty="0">
                      <a:solidFill>
                        <a:schemeClr val="bg1"/>
                      </a:solidFill>
                    </a:endParaRPr>
                  </a:p>
                </p:txBody>
              </p:sp>
            </mc:Choice>
            <mc:Fallback xmlns="">
              <p:sp>
                <p:nvSpPr>
                  <p:cNvPr id="29" name="TextBox 28">
                    <a:extLst>
                      <a:ext uri="{FF2B5EF4-FFF2-40B4-BE49-F238E27FC236}">
                        <a16:creationId xmlns:a16="http://schemas.microsoft.com/office/drawing/2014/main" id="{73C2A9A4-79F4-EF2B-C2ED-518D16ABCE23}"/>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8"/>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24BDAB1-C2EC-B3BA-0B51-946BA57A3052}"/>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0" name="TextBox 29">
                    <a:extLst>
                      <a:ext uri="{FF2B5EF4-FFF2-40B4-BE49-F238E27FC236}">
                        <a16:creationId xmlns:a16="http://schemas.microsoft.com/office/drawing/2014/main" id="{D24BDAB1-C2EC-B3BA-0B51-946BA57A3052}"/>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9"/>
                    <a:stretch>
                      <a:fillRect l="-10000"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E2E7433-98A4-CE89-F373-DCB3B4FBC618}"/>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2,1</m:t>
                              </m:r>
                            </m:sub>
                          </m:sSub>
                        </m:oMath>
                      </m:oMathPara>
                    </a14:m>
                    <a:endParaRPr lang="en-US" sz="1600" dirty="0">
                      <a:solidFill>
                        <a:schemeClr val="bg1"/>
                      </a:solidFill>
                    </a:endParaRPr>
                  </a:p>
                </p:txBody>
              </p:sp>
            </mc:Choice>
            <mc:Fallback xmlns="">
              <p:sp>
                <p:nvSpPr>
                  <p:cNvPr id="31" name="TextBox 30">
                    <a:extLst>
                      <a:ext uri="{FF2B5EF4-FFF2-40B4-BE49-F238E27FC236}">
                        <a16:creationId xmlns:a16="http://schemas.microsoft.com/office/drawing/2014/main" id="{BE2E7433-98A4-CE89-F373-DCB3B4FBC618}"/>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10"/>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0425BAE-4729-BE61-CBFB-CC735F841D65}"/>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2,2</m:t>
                              </m:r>
                            </m:sub>
                          </m:sSub>
                        </m:oMath>
                      </m:oMathPara>
                    </a14:m>
                    <a:endParaRPr lang="en-US" sz="1600" dirty="0">
                      <a:solidFill>
                        <a:schemeClr val="bg1"/>
                      </a:solidFill>
                    </a:endParaRPr>
                  </a:p>
                </p:txBody>
              </p:sp>
            </mc:Choice>
            <mc:Fallback xmlns="">
              <p:sp>
                <p:nvSpPr>
                  <p:cNvPr id="32" name="TextBox 31">
                    <a:extLst>
                      <a:ext uri="{FF2B5EF4-FFF2-40B4-BE49-F238E27FC236}">
                        <a16:creationId xmlns:a16="http://schemas.microsoft.com/office/drawing/2014/main" id="{90425BAE-4729-BE61-CBFB-CC735F841D65}"/>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1"/>
                    <a:stretch>
                      <a:fillRect l="-10000"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5C5D8BD-6EE3-47E0-5642-679EAA1FC3CC}"/>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3" name="TextBox 32">
                    <a:extLst>
                      <a:ext uri="{FF2B5EF4-FFF2-40B4-BE49-F238E27FC236}">
                        <a16:creationId xmlns:a16="http://schemas.microsoft.com/office/drawing/2014/main" id="{05C5D8BD-6EE3-47E0-5642-679EAA1FC3CC}"/>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2"/>
                    <a:stretch>
                      <a:fillRect l="-9677"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3A3F251-FA8E-BC8A-BBCD-97C180EA092A}"/>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3,1</m:t>
                              </m:r>
                            </m:sub>
                          </m:sSub>
                        </m:oMath>
                      </m:oMathPara>
                    </a14:m>
                    <a:endParaRPr lang="en-US" sz="1600" dirty="0">
                      <a:solidFill>
                        <a:schemeClr val="bg1"/>
                      </a:solidFill>
                    </a:endParaRPr>
                  </a:p>
                </p:txBody>
              </p:sp>
            </mc:Choice>
            <mc:Fallback xmlns="">
              <p:sp>
                <p:nvSpPr>
                  <p:cNvPr id="34" name="TextBox 33">
                    <a:extLst>
                      <a:ext uri="{FF2B5EF4-FFF2-40B4-BE49-F238E27FC236}">
                        <a16:creationId xmlns:a16="http://schemas.microsoft.com/office/drawing/2014/main" id="{03A3F251-FA8E-BC8A-BBCD-97C180EA092A}"/>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3"/>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F60F1CF-8D5D-4ABE-C7F9-0F8A1FBA2D8A}"/>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3,2</m:t>
                              </m:r>
                            </m:sub>
                          </m:sSub>
                        </m:oMath>
                      </m:oMathPara>
                    </a14:m>
                    <a:endParaRPr lang="en-US" sz="1600" dirty="0">
                      <a:solidFill>
                        <a:schemeClr val="bg1"/>
                      </a:solidFill>
                    </a:endParaRPr>
                  </a:p>
                </p:txBody>
              </p:sp>
            </mc:Choice>
            <mc:Fallback xmlns="">
              <p:sp>
                <p:nvSpPr>
                  <p:cNvPr id="35" name="TextBox 34">
                    <a:extLst>
                      <a:ext uri="{FF2B5EF4-FFF2-40B4-BE49-F238E27FC236}">
                        <a16:creationId xmlns:a16="http://schemas.microsoft.com/office/drawing/2014/main" id="{3F60F1CF-8D5D-4ABE-C7F9-0F8A1FBA2D8A}"/>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4"/>
                    <a:stretch>
                      <a:fillRect l="-10000"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C4E2E1-D4D8-5F2C-C77E-E28B4D02BA23}"/>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6" name="TextBox 35">
                    <a:extLst>
                      <a:ext uri="{FF2B5EF4-FFF2-40B4-BE49-F238E27FC236}">
                        <a16:creationId xmlns:a16="http://schemas.microsoft.com/office/drawing/2014/main" id="{F3C4E2E1-D4D8-5F2C-C77E-E28B4D02BA23}"/>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5"/>
                    <a:stretch>
                      <a:fillRect l="-9677"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29715F9-3F0B-488E-000C-47BDDC0675DF}"/>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37" name="TextBox 36">
                    <a:extLst>
                      <a:ext uri="{FF2B5EF4-FFF2-40B4-BE49-F238E27FC236}">
                        <a16:creationId xmlns:a16="http://schemas.microsoft.com/office/drawing/2014/main" id="{A29715F9-3F0B-488E-000C-47BDDC0675DF}"/>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6"/>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CDADFB1-FA6B-6762-30AF-C5F83F1A58C1}"/>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38" name="TextBox 37">
                    <a:extLst>
                      <a:ext uri="{FF2B5EF4-FFF2-40B4-BE49-F238E27FC236}">
                        <a16:creationId xmlns:a16="http://schemas.microsoft.com/office/drawing/2014/main" id="{4CDADFB1-FA6B-6762-30AF-C5F83F1A58C1}"/>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7"/>
                    <a:stretch>
                      <a:fillRect l="-13333"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C006566-C3E7-3775-DD8A-E06370673D6D}"/>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9" name="TextBox 38">
                    <a:extLst>
                      <a:ext uri="{FF2B5EF4-FFF2-40B4-BE49-F238E27FC236}">
                        <a16:creationId xmlns:a16="http://schemas.microsoft.com/office/drawing/2014/main" id="{2C006566-C3E7-3775-DD8A-E06370673D6D}"/>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8"/>
                    <a:stretch>
                      <a:fillRect l="-9677"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A3D37BA-D209-7C15-CF54-785AEF9081EE}"/>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0" name="TextBox 39">
                    <a:extLst>
                      <a:ext uri="{FF2B5EF4-FFF2-40B4-BE49-F238E27FC236}">
                        <a16:creationId xmlns:a16="http://schemas.microsoft.com/office/drawing/2014/main" id="{4A3D37BA-D209-7C15-CF54-785AEF9081EE}"/>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1F68E74-AFFE-1378-8065-3548DE693756}"/>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1" name="TextBox 40">
                    <a:extLst>
                      <a:ext uri="{FF2B5EF4-FFF2-40B4-BE49-F238E27FC236}">
                        <a16:creationId xmlns:a16="http://schemas.microsoft.com/office/drawing/2014/main" id="{01F68E74-AFFE-1378-8065-3548DE693756}"/>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C007208-7E26-D0CF-0334-A151D4598A5A}"/>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2" name="TextBox 41">
                    <a:extLst>
                      <a:ext uri="{FF2B5EF4-FFF2-40B4-BE49-F238E27FC236}">
                        <a16:creationId xmlns:a16="http://schemas.microsoft.com/office/drawing/2014/main" id="{AC007208-7E26-D0CF-0334-A151D4598A5A}"/>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A927EC9-56E8-5390-1595-D5EAD9CE9583}"/>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3" name="TextBox 42">
                    <a:extLst>
                      <a:ext uri="{FF2B5EF4-FFF2-40B4-BE49-F238E27FC236}">
                        <a16:creationId xmlns:a16="http://schemas.microsoft.com/office/drawing/2014/main" id="{1A927EC9-56E8-5390-1595-D5EAD9CE9583}"/>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2"/>
                    <a:stretch>
                      <a:fillRect/>
                    </a:stretch>
                  </a:blipFill>
                </p:spPr>
                <p:txBody>
                  <a:bodyPr/>
                  <a:lstStyle/>
                  <a:p>
                    <a:r>
                      <a:rPr lang="en-US">
                        <a:noFill/>
                      </a:rPr>
                      <a:t> </a:t>
                    </a:r>
                  </a:p>
                </p:txBody>
              </p:sp>
            </mc:Fallback>
          </mc:AlternateContent>
        </p:grpSp>
        <p:sp>
          <p:nvSpPr>
            <p:cNvPr id="23" name="Oval 22">
              <a:extLst>
                <a:ext uri="{FF2B5EF4-FFF2-40B4-BE49-F238E27FC236}">
                  <a16:creationId xmlns:a16="http://schemas.microsoft.com/office/drawing/2014/main" id="{A985AB33-40B0-C747-313D-90BE46A7EDFF}"/>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TextBox 23">
              <a:extLst>
                <a:ext uri="{FF2B5EF4-FFF2-40B4-BE49-F238E27FC236}">
                  <a16:creationId xmlns:a16="http://schemas.microsoft.com/office/drawing/2014/main" id="{3BDC62CA-F92D-BCC5-BFE4-2D5B573983D8}"/>
                </a:ext>
              </a:extLst>
            </p:cNvPr>
            <p:cNvSpPr txBox="1"/>
            <p:nvPr/>
          </p:nvSpPr>
          <p:spPr>
            <a:xfrm>
              <a:off x="9287387" y="1060776"/>
              <a:ext cx="2514114" cy="1457248"/>
            </a:xfrm>
            <a:prstGeom prst="rect">
              <a:avLst/>
            </a:prstGeom>
            <a:noFill/>
          </p:spPr>
          <p:txBody>
            <a:bodyPr wrap="square" rtlCol="0">
              <a:spAutoFit/>
            </a:bodyPr>
            <a:lstStyle/>
            <a:p>
              <a:pPr algn="ctr"/>
              <a:r>
                <a:rPr lang="en-US" sz="1600" dirty="0">
                  <a:solidFill>
                    <a:schemeClr val="accent2"/>
                  </a:solidFill>
                </a:rPr>
                <a:t>Senator 3 vote yes or no on Bill 2?</a:t>
              </a:r>
            </a:p>
          </p:txBody>
        </p:sp>
        <p:cxnSp>
          <p:nvCxnSpPr>
            <p:cNvPr id="25" name="Curved Connector 24">
              <a:extLst>
                <a:ext uri="{FF2B5EF4-FFF2-40B4-BE49-F238E27FC236}">
                  <a16:creationId xmlns:a16="http://schemas.microsoft.com/office/drawing/2014/main" id="{DD12A22D-6528-7099-9675-B4F29DBB28BB}"/>
                </a:ext>
              </a:extLst>
            </p:cNvPr>
            <p:cNvCxnSpPr>
              <a:cxnSpLocks/>
              <a:stCxn id="24" idx="1"/>
              <a:endCxn id="23" idx="6"/>
            </p:cNvCxnSpPr>
            <p:nvPr/>
          </p:nvCxnSpPr>
          <p:spPr>
            <a:xfrm rot="10800000" flipV="1">
              <a:off x="8896791" y="1789399"/>
              <a:ext cx="390598" cy="2641852"/>
            </a:xfrm>
            <a:prstGeom prst="curvedConnector3">
              <a:avLst>
                <a:gd name="adj1" fmla="val 50000"/>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DF1096D8-7339-39A5-A3AC-8206208125B4}"/>
              </a:ext>
            </a:extLst>
          </p:cNvPr>
          <p:cNvGrpSpPr/>
          <p:nvPr/>
        </p:nvGrpSpPr>
        <p:grpSpPr>
          <a:xfrm>
            <a:off x="6709994" y="2403566"/>
            <a:ext cx="2610982" cy="3051681"/>
            <a:chOff x="6709994" y="2403566"/>
            <a:chExt cx="2610982" cy="3051681"/>
          </a:xfrm>
        </p:grpSpPr>
        <p:sp>
          <p:nvSpPr>
            <p:cNvPr id="45" name="Frame 44">
              <a:extLst>
                <a:ext uri="{FF2B5EF4-FFF2-40B4-BE49-F238E27FC236}">
                  <a16:creationId xmlns:a16="http://schemas.microsoft.com/office/drawing/2014/main" id="{81EF65D1-6956-5BE2-8008-19D19AB91E15}"/>
                </a:ext>
              </a:extLst>
            </p:cNvPr>
            <p:cNvSpPr/>
            <p:nvPr/>
          </p:nvSpPr>
          <p:spPr>
            <a:xfrm>
              <a:off x="6949441" y="2403566"/>
              <a:ext cx="315053" cy="2220684"/>
            </a:xfrm>
            <a:prstGeom prst="fram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970D6CD-5909-7F55-541F-78CCD7E701EA}"/>
                    </a:ext>
                  </a:extLst>
                </p:cNvPr>
                <p:cNvSpPr txBox="1"/>
                <p:nvPr/>
              </p:nvSpPr>
              <p:spPr>
                <a:xfrm>
                  <a:off x="6709994" y="4624250"/>
                  <a:ext cx="2610982" cy="830997"/>
                </a:xfrm>
                <a:prstGeom prst="rect">
                  <a:avLst/>
                </a:prstGeom>
                <a:noFill/>
              </p:spPr>
              <p:txBody>
                <a:bodyPr wrap="square" rtlCol="0">
                  <a:spAutoFit/>
                </a:bodyPr>
                <a:lstStyle/>
                <a:p>
                  <a:pPr algn="ctr"/>
                  <a:r>
                    <a:rPr lang="en-US" sz="1600" dirty="0">
                      <a:solidFill>
                        <a:schemeClr val="accent2"/>
                      </a:solidFill>
                    </a:rPr>
                    <a:t>The first column (feature) will be </a:t>
                  </a:r>
                  <a14:m>
                    <m:oMath xmlns:m="http://schemas.openxmlformats.org/officeDocument/2006/math">
                      <m:r>
                        <a:rPr lang="en-US" sz="1600" b="0" i="1" smtClean="0">
                          <a:solidFill>
                            <a:schemeClr val="accent2"/>
                          </a:solidFill>
                          <a:latin typeface="Cambria Math" panose="02040503050406030204" pitchFamily="18" charset="0"/>
                        </a:rPr>
                        <m:t>≈1</m:t>
                      </m:r>
                    </m:oMath>
                  </a14:m>
                  <a:r>
                    <a:rPr lang="en-US" sz="1600" dirty="0">
                      <a:solidFill>
                        <a:schemeClr val="accent2"/>
                      </a:solidFill>
                    </a:rPr>
                    <a:t> if (D) and </a:t>
                  </a:r>
                  <a14:m>
                    <m:oMath xmlns:m="http://schemas.openxmlformats.org/officeDocument/2006/math">
                      <m:r>
                        <a:rPr lang="en-US" sz="1600" b="0" i="1" smtClean="0">
                          <a:solidFill>
                            <a:schemeClr val="accent2"/>
                          </a:solidFill>
                          <a:latin typeface="Cambria Math" panose="02040503050406030204" pitchFamily="18" charset="0"/>
                        </a:rPr>
                        <m:t>≈−1</m:t>
                      </m:r>
                    </m:oMath>
                  </a14:m>
                  <a:r>
                    <a:rPr lang="en-US" sz="1600" dirty="0">
                      <a:solidFill>
                        <a:schemeClr val="accent2"/>
                      </a:solidFill>
                    </a:rPr>
                    <a:t> if (R) or something like that.</a:t>
                  </a:r>
                </a:p>
              </p:txBody>
            </p:sp>
          </mc:Choice>
          <mc:Fallback xmlns="">
            <p:sp>
              <p:nvSpPr>
                <p:cNvPr id="46" name="TextBox 45">
                  <a:extLst>
                    <a:ext uri="{FF2B5EF4-FFF2-40B4-BE49-F238E27FC236}">
                      <a16:creationId xmlns:a16="http://schemas.microsoft.com/office/drawing/2014/main" id="{1970D6CD-5909-7F55-541F-78CCD7E701EA}"/>
                    </a:ext>
                  </a:extLst>
                </p:cNvPr>
                <p:cNvSpPr txBox="1">
                  <a:spLocks noRot="1" noChangeAspect="1" noMove="1" noResize="1" noEditPoints="1" noAdjustHandles="1" noChangeArrowheads="1" noChangeShapeType="1" noTextEdit="1"/>
                </p:cNvSpPr>
                <p:nvPr/>
              </p:nvSpPr>
              <p:spPr>
                <a:xfrm>
                  <a:off x="6709994" y="4624250"/>
                  <a:ext cx="2610982" cy="830997"/>
                </a:xfrm>
                <a:prstGeom prst="rect">
                  <a:avLst/>
                </a:prstGeom>
                <a:blipFill>
                  <a:blip r:embed="rId23"/>
                  <a:stretch>
                    <a:fillRect l="-971" t="-3030" r="-2913" b="-7576"/>
                  </a:stretch>
                </a:blipFill>
              </p:spPr>
              <p:txBody>
                <a:bodyPr/>
                <a:lstStyle/>
                <a:p>
                  <a:r>
                    <a:rPr lang="en-US">
                      <a:noFill/>
                    </a:rPr>
                    <a:t> </a:t>
                  </a:r>
                </a:p>
              </p:txBody>
            </p:sp>
          </mc:Fallback>
        </mc:AlternateContent>
      </p:grpSp>
      <p:grpSp>
        <p:nvGrpSpPr>
          <p:cNvPr id="53" name="Group 52">
            <a:extLst>
              <a:ext uri="{FF2B5EF4-FFF2-40B4-BE49-F238E27FC236}">
                <a16:creationId xmlns:a16="http://schemas.microsoft.com/office/drawing/2014/main" id="{50A1F552-BB9C-0349-9196-8963ECEA1D8E}"/>
              </a:ext>
            </a:extLst>
          </p:cNvPr>
          <p:cNvGrpSpPr/>
          <p:nvPr/>
        </p:nvGrpSpPr>
        <p:grpSpPr>
          <a:xfrm>
            <a:off x="6238395" y="2285504"/>
            <a:ext cx="4111625" cy="1513863"/>
            <a:chOff x="6238395" y="2285504"/>
            <a:chExt cx="4111625" cy="1513863"/>
          </a:xfrm>
        </p:grpSpPr>
        <p:sp>
          <p:nvSpPr>
            <p:cNvPr id="47" name="TextBox 46">
              <a:extLst>
                <a:ext uri="{FF2B5EF4-FFF2-40B4-BE49-F238E27FC236}">
                  <a16:creationId xmlns:a16="http://schemas.microsoft.com/office/drawing/2014/main" id="{7CE638A1-E03E-2B89-2466-32C2D9A2D268}"/>
                </a:ext>
              </a:extLst>
            </p:cNvPr>
            <p:cNvSpPr txBox="1"/>
            <p:nvPr/>
          </p:nvSpPr>
          <p:spPr>
            <a:xfrm>
              <a:off x="8827173" y="3513908"/>
              <a:ext cx="766557" cy="261610"/>
            </a:xfrm>
            <a:prstGeom prst="rect">
              <a:avLst/>
            </a:prstGeom>
            <a:noFill/>
          </p:spPr>
          <p:txBody>
            <a:bodyPr wrap="none" rtlCol="0">
              <a:spAutoFit/>
            </a:bodyPr>
            <a:lstStyle/>
            <a:p>
              <a:r>
                <a:rPr lang="en-US" sz="1050" dirty="0"/>
                <a:t>Senator 3</a:t>
              </a:r>
            </a:p>
          </p:txBody>
        </p:sp>
        <p:sp>
          <p:nvSpPr>
            <p:cNvPr id="48" name="TextBox 47">
              <a:extLst>
                <a:ext uri="{FF2B5EF4-FFF2-40B4-BE49-F238E27FC236}">
                  <a16:creationId xmlns:a16="http://schemas.microsoft.com/office/drawing/2014/main" id="{47E8C0A7-5A75-6217-260D-11FF599DE70F}"/>
                </a:ext>
              </a:extLst>
            </p:cNvPr>
            <p:cNvSpPr txBox="1"/>
            <p:nvPr/>
          </p:nvSpPr>
          <p:spPr>
            <a:xfrm>
              <a:off x="6238395" y="3537757"/>
              <a:ext cx="766557" cy="261610"/>
            </a:xfrm>
            <a:prstGeom prst="rect">
              <a:avLst/>
            </a:prstGeom>
            <a:noFill/>
          </p:spPr>
          <p:txBody>
            <a:bodyPr wrap="none" rtlCol="0">
              <a:spAutoFit/>
            </a:bodyPr>
            <a:lstStyle/>
            <a:p>
              <a:r>
                <a:rPr lang="en-US" sz="1050" dirty="0"/>
                <a:t>Senator 3</a:t>
              </a:r>
            </a:p>
          </p:txBody>
        </p:sp>
        <p:sp>
          <p:nvSpPr>
            <p:cNvPr id="49" name="TextBox 48">
              <a:extLst>
                <a:ext uri="{FF2B5EF4-FFF2-40B4-BE49-F238E27FC236}">
                  <a16:creationId xmlns:a16="http://schemas.microsoft.com/office/drawing/2014/main" id="{2918E23E-E9EA-37DA-D717-17B6105BDF4A}"/>
                </a:ext>
              </a:extLst>
            </p:cNvPr>
            <p:cNvSpPr txBox="1"/>
            <p:nvPr/>
          </p:nvSpPr>
          <p:spPr>
            <a:xfrm>
              <a:off x="7762430" y="2285504"/>
              <a:ext cx="468398" cy="253916"/>
            </a:xfrm>
            <a:prstGeom prst="rect">
              <a:avLst/>
            </a:prstGeom>
            <a:noFill/>
          </p:spPr>
          <p:txBody>
            <a:bodyPr wrap="none" rtlCol="0">
              <a:spAutoFit/>
            </a:bodyPr>
            <a:lstStyle/>
            <a:p>
              <a:r>
                <a:rPr lang="en-US" sz="1050" dirty="0"/>
                <a:t>Bill 2</a:t>
              </a:r>
            </a:p>
          </p:txBody>
        </p:sp>
        <p:sp>
          <p:nvSpPr>
            <p:cNvPr id="50" name="TextBox 49">
              <a:extLst>
                <a:ext uri="{FF2B5EF4-FFF2-40B4-BE49-F238E27FC236}">
                  <a16:creationId xmlns:a16="http://schemas.microsoft.com/office/drawing/2014/main" id="{1DB8A703-6F14-06EC-3410-33D889B1CD5D}"/>
                </a:ext>
              </a:extLst>
            </p:cNvPr>
            <p:cNvSpPr txBox="1"/>
            <p:nvPr/>
          </p:nvSpPr>
          <p:spPr>
            <a:xfrm>
              <a:off x="9881622" y="2357410"/>
              <a:ext cx="468398" cy="253916"/>
            </a:xfrm>
            <a:prstGeom prst="rect">
              <a:avLst/>
            </a:prstGeom>
            <a:noFill/>
          </p:spPr>
          <p:txBody>
            <a:bodyPr wrap="none" rtlCol="0">
              <a:spAutoFit/>
            </a:bodyPr>
            <a:lstStyle/>
            <a:p>
              <a:r>
                <a:rPr lang="en-US" sz="1050" dirty="0"/>
                <a:t>Bill 2</a:t>
              </a:r>
            </a:p>
          </p:txBody>
        </p:sp>
      </p:grpSp>
    </p:spTree>
    <p:extLst>
      <p:ext uri="{BB962C8B-B14F-4D97-AF65-F5344CB8AC3E}">
        <p14:creationId xmlns:p14="http://schemas.microsoft.com/office/powerpoint/2010/main" val="1443185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9B56-2CFA-C2EB-6D27-7E75255F5634}"/>
              </a:ext>
            </a:extLst>
          </p:cNvPr>
          <p:cNvSpPr>
            <a:spLocks noGrp="1"/>
          </p:cNvSpPr>
          <p:nvPr>
            <p:ph type="title"/>
          </p:nvPr>
        </p:nvSpPr>
        <p:spPr>
          <a:xfrm>
            <a:off x="838200" y="252865"/>
            <a:ext cx="10515600" cy="1325563"/>
          </a:xfrm>
        </p:spPr>
        <p:txBody>
          <a:bodyPr>
            <a:normAutofit fontScale="90000"/>
          </a:bodyPr>
          <a:lstStyle/>
          <a:p>
            <a:r>
              <a:rPr lang="en-US" sz="4000" dirty="0"/>
              <a:t>What’s the </a:t>
            </a:r>
            <a:r>
              <a:rPr lang="en-US" sz="4000" b="1" dirty="0"/>
              <a:t>most important </a:t>
            </a:r>
            <a:r>
              <a:rPr lang="en-US" sz="4000" dirty="0"/>
              <a:t>feature of a country to know if you wanted to reconstruct these data?</a:t>
            </a:r>
            <a:endParaRPr lang="en-US" sz="3200" dirty="0"/>
          </a:p>
        </p:txBody>
      </p:sp>
      <p:pic>
        <p:nvPicPr>
          <p:cNvPr id="5" name="Picture 4">
            <a:extLst>
              <a:ext uri="{FF2B5EF4-FFF2-40B4-BE49-F238E27FC236}">
                <a16:creationId xmlns:a16="http://schemas.microsoft.com/office/drawing/2014/main" id="{E8A1F4CE-755F-101D-FA7C-74ACE3CA2C4C}"/>
              </a:ext>
            </a:extLst>
          </p:cNvPr>
          <p:cNvPicPr>
            <a:picLocks noChangeAspect="1"/>
          </p:cNvPicPr>
          <p:nvPr/>
        </p:nvPicPr>
        <p:blipFill>
          <a:blip r:embed="rId3"/>
          <a:stretch>
            <a:fillRect/>
          </a:stretch>
        </p:blipFill>
        <p:spPr>
          <a:xfrm>
            <a:off x="2156823" y="1690688"/>
            <a:ext cx="7183120" cy="5056538"/>
          </a:xfrm>
          <a:prstGeom prst="rect">
            <a:avLst/>
          </a:prstGeom>
        </p:spPr>
      </p:pic>
      <p:sp>
        <p:nvSpPr>
          <p:cNvPr id="6" name="TextBox 5">
            <a:extLst>
              <a:ext uri="{FF2B5EF4-FFF2-40B4-BE49-F238E27FC236}">
                <a16:creationId xmlns:a16="http://schemas.microsoft.com/office/drawing/2014/main" id="{37A7C021-52B4-2ADD-2B0C-D5777DDE5A31}"/>
              </a:ext>
            </a:extLst>
          </p:cNvPr>
          <p:cNvSpPr txBox="1"/>
          <p:nvPr/>
        </p:nvSpPr>
        <p:spPr>
          <a:xfrm>
            <a:off x="3435532" y="1959429"/>
            <a:ext cx="3123932" cy="369332"/>
          </a:xfrm>
          <a:prstGeom prst="rect">
            <a:avLst/>
          </a:prstGeom>
          <a:noFill/>
        </p:spPr>
        <p:txBody>
          <a:bodyPr wrap="none" rtlCol="0">
            <a:spAutoFit/>
          </a:bodyPr>
          <a:lstStyle/>
          <a:p>
            <a:r>
              <a:rPr lang="en-US" dirty="0"/>
              <a:t>All the countries in the OECD:</a:t>
            </a:r>
          </a:p>
        </p:txBody>
      </p:sp>
    </p:spTree>
    <p:extLst>
      <p:ext uri="{BB962C8B-B14F-4D97-AF65-F5344CB8AC3E}">
        <p14:creationId xmlns:p14="http://schemas.microsoft.com/office/powerpoint/2010/main" val="2695357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9B56-2CFA-C2EB-6D27-7E75255F5634}"/>
              </a:ext>
            </a:extLst>
          </p:cNvPr>
          <p:cNvSpPr>
            <a:spLocks noGrp="1"/>
          </p:cNvSpPr>
          <p:nvPr>
            <p:ph type="title"/>
          </p:nvPr>
        </p:nvSpPr>
        <p:spPr>
          <a:xfrm>
            <a:off x="838200" y="252865"/>
            <a:ext cx="10515600" cy="1325563"/>
          </a:xfrm>
        </p:spPr>
        <p:txBody>
          <a:bodyPr>
            <a:normAutofit fontScale="90000"/>
          </a:bodyPr>
          <a:lstStyle/>
          <a:p>
            <a:r>
              <a:rPr lang="en-US" sz="4000" dirty="0"/>
              <a:t>What’s the </a:t>
            </a:r>
            <a:r>
              <a:rPr lang="en-US" sz="4000" b="1" dirty="0"/>
              <a:t>most important </a:t>
            </a:r>
            <a:r>
              <a:rPr lang="en-US" sz="4000" dirty="0"/>
              <a:t>feature of a country to know if you wanted to reconstruct these data?</a:t>
            </a:r>
            <a:endParaRPr lang="en-US" sz="3200" dirty="0"/>
          </a:p>
        </p:txBody>
      </p:sp>
      <p:pic>
        <p:nvPicPr>
          <p:cNvPr id="4" name="Picture 3">
            <a:extLst>
              <a:ext uri="{FF2B5EF4-FFF2-40B4-BE49-F238E27FC236}">
                <a16:creationId xmlns:a16="http://schemas.microsoft.com/office/drawing/2014/main" id="{308164E1-5542-9C11-9DB9-6F07345CABE1}"/>
              </a:ext>
            </a:extLst>
          </p:cNvPr>
          <p:cNvPicPr>
            <a:picLocks noChangeAspect="1"/>
          </p:cNvPicPr>
          <p:nvPr/>
        </p:nvPicPr>
        <p:blipFill>
          <a:blip r:embed="rId3"/>
          <a:stretch>
            <a:fillRect/>
          </a:stretch>
        </p:blipFill>
        <p:spPr>
          <a:xfrm rot="5400000" flipV="1">
            <a:off x="7560940" y="3826876"/>
            <a:ext cx="3910149" cy="197023"/>
          </a:xfrm>
          <a:prstGeom prst="rect">
            <a:avLst/>
          </a:prstGeom>
        </p:spPr>
      </p:pic>
      <p:pic>
        <p:nvPicPr>
          <p:cNvPr id="3" name="Picture 2">
            <a:extLst>
              <a:ext uri="{FF2B5EF4-FFF2-40B4-BE49-F238E27FC236}">
                <a16:creationId xmlns:a16="http://schemas.microsoft.com/office/drawing/2014/main" id="{40814EC0-653D-FF65-2CED-85A9179A7ECD}"/>
              </a:ext>
            </a:extLst>
          </p:cNvPr>
          <p:cNvPicPr>
            <a:picLocks noChangeAspect="1"/>
          </p:cNvPicPr>
          <p:nvPr/>
        </p:nvPicPr>
        <p:blipFill>
          <a:blip r:embed="rId4"/>
          <a:stretch>
            <a:fillRect/>
          </a:stretch>
        </p:blipFill>
        <p:spPr>
          <a:xfrm>
            <a:off x="2403566" y="1731371"/>
            <a:ext cx="7013937" cy="5145904"/>
          </a:xfrm>
          <a:prstGeom prst="rect">
            <a:avLst/>
          </a:prstGeom>
        </p:spPr>
      </p:pic>
      <p:sp>
        <p:nvSpPr>
          <p:cNvPr id="7" name="TextBox 6">
            <a:extLst>
              <a:ext uri="{FF2B5EF4-FFF2-40B4-BE49-F238E27FC236}">
                <a16:creationId xmlns:a16="http://schemas.microsoft.com/office/drawing/2014/main" id="{3465F4F7-A6EB-4C57-E888-E90EC7A33477}"/>
              </a:ext>
            </a:extLst>
          </p:cNvPr>
          <p:cNvSpPr txBox="1"/>
          <p:nvPr/>
        </p:nvSpPr>
        <p:spPr>
          <a:xfrm>
            <a:off x="9678497" y="1970313"/>
            <a:ext cx="1478280" cy="923330"/>
          </a:xfrm>
          <a:prstGeom prst="rect">
            <a:avLst/>
          </a:prstGeom>
          <a:noFill/>
        </p:spPr>
        <p:txBody>
          <a:bodyPr wrap="square" rtlCol="0">
            <a:spAutoFit/>
          </a:bodyPr>
          <a:lstStyle/>
          <a:p>
            <a:r>
              <a:rPr lang="en-US" dirty="0"/>
              <a:t>Large value for this “feature”</a:t>
            </a:r>
          </a:p>
        </p:txBody>
      </p:sp>
      <p:sp>
        <p:nvSpPr>
          <p:cNvPr id="8" name="TextBox 7">
            <a:extLst>
              <a:ext uri="{FF2B5EF4-FFF2-40B4-BE49-F238E27FC236}">
                <a16:creationId xmlns:a16="http://schemas.microsoft.com/office/drawing/2014/main" id="{57595EB6-D22D-4C26-7DD5-10EF279567AA}"/>
              </a:ext>
            </a:extLst>
          </p:cNvPr>
          <p:cNvSpPr txBox="1"/>
          <p:nvPr/>
        </p:nvSpPr>
        <p:spPr>
          <a:xfrm>
            <a:off x="9678497" y="4957132"/>
            <a:ext cx="1478280" cy="923330"/>
          </a:xfrm>
          <a:prstGeom prst="rect">
            <a:avLst/>
          </a:prstGeom>
          <a:noFill/>
        </p:spPr>
        <p:txBody>
          <a:bodyPr wrap="square" rtlCol="0">
            <a:spAutoFit/>
          </a:bodyPr>
          <a:lstStyle/>
          <a:p>
            <a:r>
              <a:rPr lang="en-US" dirty="0"/>
              <a:t>Small value for this “feature”</a:t>
            </a:r>
          </a:p>
        </p:txBody>
      </p:sp>
      <p:sp>
        <p:nvSpPr>
          <p:cNvPr id="9" name="TextBox 8">
            <a:extLst>
              <a:ext uri="{FF2B5EF4-FFF2-40B4-BE49-F238E27FC236}">
                <a16:creationId xmlns:a16="http://schemas.microsoft.com/office/drawing/2014/main" id="{566AD5CC-8896-513E-41F3-FE2930D64A1F}"/>
              </a:ext>
            </a:extLst>
          </p:cNvPr>
          <p:cNvSpPr txBox="1"/>
          <p:nvPr/>
        </p:nvSpPr>
        <p:spPr>
          <a:xfrm>
            <a:off x="721714" y="1862239"/>
            <a:ext cx="2052783" cy="830997"/>
          </a:xfrm>
          <a:prstGeom prst="rect">
            <a:avLst/>
          </a:prstGeom>
          <a:noFill/>
        </p:spPr>
        <p:txBody>
          <a:bodyPr wrap="square" rtlCol="0">
            <a:spAutoFit/>
          </a:bodyPr>
          <a:lstStyle/>
          <a:p>
            <a:r>
              <a:rPr lang="en-US" sz="2400" dirty="0">
                <a:solidFill>
                  <a:srgbClr val="8C1516"/>
                </a:solidFill>
              </a:rPr>
              <a:t>This is what SVD says:</a:t>
            </a:r>
          </a:p>
        </p:txBody>
      </p:sp>
      <p:grpSp>
        <p:nvGrpSpPr>
          <p:cNvPr id="12" name="Group 11">
            <a:extLst>
              <a:ext uri="{FF2B5EF4-FFF2-40B4-BE49-F238E27FC236}">
                <a16:creationId xmlns:a16="http://schemas.microsoft.com/office/drawing/2014/main" id="{5905BF1B-574F-09F5-74E0-FC886E98E6C0}"/>
              </a:ext>
            </a:extLst>
          </p:cNvPr>
          <p:cNvGrpSpPr/>
          <p:nvPr/>
        </p:nvGrpSpPr>
        <p:grpSpPr>
          <a:xfrm>
            <a:off x="567580" y="3664471"/>
            <a:ext cx="1835985" cy="3104356"/>
            <a:chOff x="567580" y="3664471"/>
            <a:chExt cx="1835985" cy="3104356"/>
          </a:xfrm>
        </p:grpSpPr>
        <p:pic>
          <p:nvPicPr>
            <p:cNvPr id="10" name="Picture 9">
              <a:extLst>
                <a:ext uri="{FF2B5EF4-FFF2-40B4-BE49-F238E27FC236}">
                  <a16:creationId xmlns:a16="http://schemas.microsoft.com/office/drawing/2014/main" id="{D8451C24-0449-53AE-2C4C-85AFEF47488B}"/>
                </a:ext>
              </a:extLst>
            </p:cNvPr>
            <p:cNvPicPr>
              <a:picLocks noChangeAspect="1"/>
            </p:cNvPicPr>
            <p:nvPr/>
          </p:nvPicPr>
          <p:blipFill>
            <a:blip r:embed="rId5"/>
            <a:stretch>
              <a:fillRect/>
            </a:stretch>
          </p:blipFill>
          <p:spPr>
            <a:xfrm flipH="1">
              <a:off x="567581" y="5418797"/>
              <a:ext cx="541238" cy="1350030"/>
            </a:xfrm>
            <a:prstGeom prst="rect">
              <a:avLst/>
            </a:prstGeom>
          </p:spPr>
        </p:pic>
        <p:sp>
          <p:nvSpPr>
            <p:cNvPr id="11" name="TextBox 10">
              <a:extLst>
                <a:ext uri="{FF2B5EF4-FFF2-40B4-BE49-F238E27FC236}">
                  <a16:creationId xmlns:a16="http://schemas.microsoft.com/office/drawing/2014/main" id="{DCAE40AE-917C-136E-AA66-E486ACD5335A}"/>
                </a:ext>
              </a:extLst>
            </p:cNvPr>
            <p:cNvSpPr txBox="1"/>
            <p:nvPr/>
          </p:nvSpPr>
          <p:spPr>
            <a:xfrm>
              <a:off x="567580" y="3664471"/>
              <a:ext cx="1835985" cy="1754326"/>
            </a:xfrm>
            <a:prstGeom prst="rect">
              <a:avLst/>
            </a:prstGeom>
            <a:noFill/>
          </p:spPr>
          <p:txBody>
            <a:bodyPr wrap="square" rtlCol="0">
              <a:spAutoFit/>
            </a:bodyPr>
            <a:lstStyle/>
            <a:p>
              <a:r>
                <a:rPr lang="en-US" dirty="0">
                  <a:solidFill>
                    <a:srgbClr val="0070C0"/>
                  </a:solidFill>
                </a:rPr>
                <a:t>Looks like it’s just “average GDP/</a:t>
              </a:r>
              <a:r>
                <a:rPr lang="en-US" dirty="0" err="1">
                  <a:solidFill>
                    <a:srgbClr val="0070C0"/>
                  </a:solidFill>
                </a:rPr>
                <a:t>hrs</a:t>
              </a:r>
              <a:r>
                <a:rPr lang="en-US" dirty="0">
                  <a:solidFill>
                    <a:srgbClr val="0070C0"/>
                  </a:solidFill>
                </a:rPr>
                <a:t> worked” or something like that.</a:t>
              </a:r>
            </a:p>
          </p:txBody>
        </p:sp>
      </p:grpSp>
    </p:spTree>
    <p:extLst>
      <p:ext uri="{BB962C8B-B14F-4D97-AF65-F5344CB8AC3E}">
        <p14:creationId xmlns:p14="http://schemas.microsoft.com/office/powerpoint/2010/main" val="145818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9B56-2CFA-C2EB-6D27-7E75255F5634}"/>
              </a:ext>
            </a:extLst>
          </p:cNvPr>
          <p:cNvSpPr>
            <a:spLocks noGrp="1"/>
          </p:cNvSpPr>
          <p:nvPr>
            <p:ph type="title"/>
          </p:nvPr>
        </p:nvSpPr>
        <p:spPr>
          <a:xfrm>
            <a:off x="838200" y="252865"/>
            <a:ext cx="10515600" cy="1325563"/>
          </a:xfrm>
        </p:spPr>
        <p:txBody>
          <a:bodyPr>
            <a:normAutofit/>
          </a:bodyPr>
          <a:lstStyle/>
          <a:p>
            <a:r>
              <a:rPr lang="en-US" sz="4000" dirty="0"/>
              <a:t>What’s the </a:t>
            </a:r>
            <a:r>
              <a:rPr lang="en-US" sz="4000" b="1" dirty="0"/>
              <a:t>second most important </a:t>
            </a:r>
            <a:r>
              <a:rPr lang="en-US" sz="4000" dirty="0"/>
              <a:t>feature?</a:t>
            </a:r>
            <a:endParaRPr lang="en-US" sz="3200" dirty="0"/>
          </a:p>
        </p:txBody>
      </p:sp>
      <p:pic>
        <p:nvPicPr>
          <p:cNvPr id="4" name="Picture 3">
            <a:extLst>
              <a:ext uri="{FF2B5EF4-FFF2-40B4-BE49-F238E27FC236}">
                <a16:creationId xmlns:a16="http://schemas.microsoft.com/office/drawing/2014/main" id="{308164E1-5542-9C11-9DB9-6F07345CABE1}"/>
              </a:ext>
            </a:extLst>
          </p:cNvPr>
          <p:cNvPicPr>
            <a:picLocks noChangeAspect="1"/>
          </p:cNvPicPr>
          <p:nvPr/>
        </p:nvPicPr>
        <p:blipFill>
          <a:blip r:embed="rId3"/>
          <a:stretch>
            <a:fillRect/>
          </a:stretch>
        </p:blipFill>
        <p:spPr>
          <a:xfrm rot="5400000" flipV="1">
            <a:off x="7560940" y="3826876"/>
            <a:ext cx="3910149" cy="197023"/>
          </a:xfrm>
          <a:prstGeom prst="rect">
            <a:avLst/>
          </a:prstGeom>
        </p:spPr>
      </p:pic>
      <p:sp>
        <p:nvSpPr>
          <p:cNvPr id="7" name="TextBox 6">
            <a:extLst>
              <a:ext uri="{FF2B5EF4-FFF2-40B4-BE49-F238E27FC236}">
                <a16:creationId xmlns:a16="http://schemas.microsoft.com/office/drawing/2014/main" id="{3465F4F7-A6EB-4C57-E888-E90EC7A33477}"/>
              </a:ext>
            </a:extLst>
          </p:cNvPr>
          <p:cNvSpPr txBox="1"/>
          <p:nvPr/>
        </p:nvSpPr>
        <p:spPr>
          <a:xfrm>
            <a:off x="9678497" y="1970313"/>
            <a:ext cx="1478280" cy="923330"/>
          </a:xfrm>
          <a:prstGeom prst="rect">
            <a:avLst/>
          </a:prstGeom>
          <a:noFill/>
        </p:spPr>
        <p:txBody>
          <a:bodyPr wrap="square" rtlCol="0">
            <a:spAutoFit/>
          </a:bodyPr>
          <a:lstStyle/>
          <a:p>
            <a:r>
              <a:rPr lang="en-US" dirty="0"/>
              <a:t>Large value for this “feature”</a:t>
            </a:r>
          </a:p>
        </p:txBody>
      </p:sp>
      <p:sp>
        <p:nvSpPr>
          <p:cNvPr id="8" name="TextBox 7">
            <a:extLst>
              <a:ext uri="{FF2B5EF4-FFF2-40B4-BE49-F238E27FC236}">
                <a16:creationId xmlns:a16="http://schemas.microsoft.com/office/drawing/2014/main" id="{57595EB6-D22D-4C26-7DD5-10EF279567AA}"/>
              </a:ext>
            </a:extLst>
          </p:cNvPr>
          <p:cNvSpPr txBox="1"/>
          <p:nvPr/>
        </p:nvSpPr>
        <p:spPr>
          <a:xfrm>
            <a:off x="9678497" y="4957132"/>
            <a:ext cx="1478280" cy="923330"/>
          </a:xfrm>
          <a:prstGeom prst="rect">
            <a:avLst/>
          </a:prstGeom>
          <a:noFill/>
        </p:spPr>
        <p:txBody>
          <a:bodyPr wrap="square" rtlCol="0">
            <a:spAutoFit/>
          </a:bodyPr>
          <a:lstStyle/>
          <a:p>
            <a:r>
              <a:rPr lang="en-US" dirty="0"/>
              <a:t>Small value for this “feature”</a:t>
            </a:r>
          </a:p>
        </p:txBody>
      </p:sp>
      <p:sp>
        <p:nvSpPr>
          <p:cNvPr id="9" name="TextBox 8">
            <a:extLst>
              <a:ext uri="{FF2B5EF4-FFF2-40B4-BE49-F238E27FC236}">
                <a16:creationId xmlns:a16="http://schemas.microsoft.com/office/drawing/2014/main" id="{566AD5CC-8896-513E-41F3-FE2930D64A1F}"/>
              </a:ext>
            </a:extLst>
          </p:cNvPr>
          <p:cNvSpPr txBox="1"/>
          <p:nvPr/>
        </p:nvSpPr>
        <p:spPr>
          <a:xfrm>
            <a:off x="721714" y="1862239"/>
            <a:ext cx="2052783" cy="830997"/>
          </a:xfrm>
          <a:prstGeom prst="rect">
            <a:avLst/>
          </a:prstGeom>
          <a:noFill/>
        </p:spPr>
        <p:txBody>
          <a:bodyPr wrap="square" rtlCol="0">
            <a:spAutoFit/>
          </a:bodyPr>
          <a:lstStyle/>
          <a:p>
            <a:r>
              <a:rPr lang="en-US" sz="2400" dirty="0">
                <a:solidFill>
                  <a:srgbClr val="8C1516"/>
                </a:solidFill>
              </a:rPr>
              <a:t>This is what SVD says:</a:t>
            </a:r>
          </a:p>
        </p:txBody>
      </p:sp>
      <p:pic>
        <p:nvPicPr>
          <p:cNvPr id="5" name="Picture 4">
            <a:extLst>
              <a:ext uri="{FF2B5EF4-FFF2-40B4-BE49-F238E27FC236}">
                <a16:creationId xmlns:a16="http://schemas.microsoft.com/office/drawing/2014/main" id="{A5F45C59-1B59-7770-6517-20E3F476BF97}"/>
              </a:ext>
            </a:extLst>
          </p:cNvPr>
          <p:cNvPicPr>
            <a:picLocks noChangeAspect="1"/>
          </p:cNvPicPr>
          <p:nvPr/>
        </p:nvPicPr>
        <p:blipFill>
          <a:blip r:embed="rId4"/>
          <a:stretch>
            <a:fillRect/>
          </a:stretch>
        </p:blipFill>
        <p:spPr>
          <a:xfrm>
            <a:off x="2577474" y="1766436"/>
            <a:ext cx="6893139" cy="4796658"/>
          </a:xfrm>
          <a:prstGeom prst="rect">
            <a:avLst/>
          </a:prstGeom>
        </p:spPr>
      </p:pic>
    </p:spTree>
    <p:extLst>
      <p:ext uri="{BB962C8B-B14F-4D97-AF65-F5344CB8AC3E}">
        <p14:creationId xmlns:p14="http://schemas.microsoft.com/office/powerpoint/2010/main" val="7067015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9B56-2CFA-C2EB-6D27-7E75255F5634}"/>
              </a:ext>
            </a:extLst>
          </p:cNvPr>
          <p:cNvSpPr>
            <a:spLocks noGrp="1"/>
          </p:cNvSpPr>
          <p:nvPr>
            <p:ph type="title"/>
          </p:nvPr>
        </p:nvSpPr>
        <p:spPr>
          <a:xfrm>
            <a:off x="838200" y="252865"/>
            <a:ext cx="10515600" cy="1325563"/>
          </a:xfrm>
        </p:spPr>
        <p:txBody>
          <a:bodyPr>
            <a:normAutofit/>
          </a:bodyPr>
          <a:lstStyle/>
          <a:p>
            <a:r>
              <a:rPr lang="en-US" sz="4000" dirty="0"/>
              <a:t>What’s the </a:t>
            </a:r>
            <a:r>
              <a:rPr lang="en-US" sz="4000" b="1" dirty="0"/>
              <a:t>second most important </a:t>
            </a:r>
            <a:r>
              <a:rPr lang="en-US" sz="4000" dirty="0"/>
              <a:t>feature?</a:t>
            </a:r>
            <a:endParaRPr lang="en-US" sz="3200" dirty="0"/>
          </a:p>
        </p:txBody>
      </p:sp>
      <p:pic>
        <p:nvPicPr>
          <p:cNvPr id="4" name="Picture 3">
            <a:extLst>
              <a:ext uri="{FF2B5EF4-FFF2-40B4-BE49-F238E27FC236}">
                <a16:creationId xmlns:a16="http://schemas.microsoft.com/office/drawing/2014/main" id="{308164E1-5542-9C11-9DB9-6F07345CABE1}"/>
              </a:ext>
            </a:extLst>
          </p:cNvPr>
          <p:cNvPicPr>
            <a:picLocks noChangeAspect="1"/>
          </p:cNvPicPr>
          <p:nvPr/>
        </p:nvPicPr>
        <p:blipFill>
          <a:blip r:embed="rId3"/>
          <a:stretch>
            <a:fillRect/>
          </a:stretch>
        </p:blipFill>
        <p:spPr>
          <a:xfrm rot="5400000" flipV="1">
            <a:off x="7560940" y="3826876"/>
            <a:ext cx="3910149" cy="197023"/>
          </a:xfrm>
          <a:prstGeom prst="rect">
            <a:avLst/>
          </a:prstGeom>
        </p:spPr>
      </p:pic>
      <p:sp>
        <p:nvSpPr>
          <p:cNvPr id="7" name="TextBox 6">
            <a:extLst>
              <a:ext uri="{FF2B5EF4-FFF2-40B4-BE49-F238E27FC236}">
                <a16:creationId xmlns:a16="http://schemas.microsoft.com/office/drawing/2014/main" id="{3465F4F7-A6EB-4C57-E888-E90EC7A33477}"/>
              </a:ext>
            </a:extLst>
          </p:cNvPr>
          <p:cNvSpPr txBox="1"/>
          <p:nvPr/>
        </p:nvSpPr>
        <p:spPr>
          <a:xfrm>
            <a:off x="9678497" y="1970313"/>
            <a:ext cx="1478280" cy="923330"/>
          </a:xfrm>
          <a:prstGeom prst="rect">
            <a:avLst/>
          </a:prstGeom>
          <a:noFill/>
        </p:spPr>
        <p:txBody>
          <a:bodyPr wrap="square" rtlCol="0">
            <a:spAutoFit/>
          </a:bodyPr>
          <a:lstStyle/>
          <a:p>
            <a:r>
              <a:rPr lang="en-US" dirty="0"/>
              <a:t>Large value for this “feature”</a:t>
            </a:r>
          </a:p>
        </p:txBody>
      </p:sp>
      <p:sp>
        <p:nvSpPr>
          <p:cNvPr id="8" name="TextBox 7">
            <a:extLst>
              <a:ext uri="{FF2B5EF4-FFF2-40B4-BE49-F238E27FC236}">
                <a16:creationId xmlns:a16="http://schemas.microsoft.com/office/drawing/2014/main" id="{57595EB6-D22D-4C26-7DD5-10EF279567AA}"/>
              </a:ext>
            </a:extLst>
          </p:cNvPr>
          <p:cNvSpPr txBox="1"/>
          <p:nvPr/>
        </p:nvSpPr>
        <p:spPr>
          <a:xfrm>
            <a:off x="9678497" y="4957132"/>
            <a:ext cx="1478280" cy="923330"/>
          </a:xfrm>
          <a:prstGeom prst="rect">
            <a:avLst/>
          </a:prstGeom>
          <a:noFill/>
        </p:spPr>
        <p:txBody>
          <a:bodyPr wrap="square" rtlCol="0">
            <a:spAutoFit/>
          </a:bodyPr>
          <a:lstStyle/>
          <a:p>
            <a:r>
              <a:rPr lang="en-US" dirty="0"/>
              <a:t>Small value for this “feature”</a:t>
            </a:r>
          </a:p>
        </p:txBody>
      </p:sp>
      <p:sp>
        <p:nvSpPr>
          <p:cNvPr id="9" name="TextBox 8">
            <a:extLst>
              <a:ext uri="{FF2B5EF4-FFF2-40B4-BE49-F238E27FC236}">
                <a16:creationId xmlns:a16="http://schemas.microsoft.com/office/drawing/2014/main" id="{566AD5CC-8896-513E-41F3-FE2930D64A1F}"/>
              </a:ext>
            </a:extLst>
          </p:cNvPr>
          <p:cNvSpPr txBox="1"/>
          <p:nvPr/>
        </p:nvSpPr>
        <p:spPr>
          <a:xfrm>
            <a:off x="721714" y="1862239"/>
            <a:ext cx="2052783" cy="830997"/>
          </a:xfrm>
          <a:prstGeom prst="rect">
            <a:avLst/>
          </a:prstGeom>
          <a:noFill/>
        </p:spPr>
        <p:txBody>
          <a:bodyPr wrap="square" rtlCol="0">
            <a:spAutoFit/>
          </a:bodyPr>
          <a:lstStyle/>
          <a:p>
            <a:r>
              <a:rPr lang="en-US" sz="2400" dirty="0">
                <a:solidFill>
                  <a:srgbClr val="8C1516"/>
                </a:solidFill>
              </a:rPr>
              <a:t>This is what SVD says:</a:t>
            </a:r>
          </a:p>
        </p:txBody>
      </p:sp>
      <p:sp>
        <p:nvSpPr>
          <p:cNvPr id="3" name="TextBox 2">
            <a:extLst>
              <a:ext uri="{FF2B5EF4-FFF2-40B4-BE49-F238E27FC236}">
                <a16:creationId xmlns:a16="http://schemas.microsoft.com/office/drawing/2014/main" id="{CCB2AC2D-EE87-D326-2EE3-642209DED259}"/>
              </a:ext>
            </a:extLst>
          </p:cNvPr>
          <p:cNvSpPr txBox="1"/>
          <p:nvPr/>
        </p:nvSpPr>
        <p:spPr>
          <a:xfrm>
            <a:off x="863508" y="1164537"/>
            <a:ext cx="10606777" cy="461665"/>
          </a:xfrm>
          <a:prstGeom prst="rect">
            <a:avLst/>
          </a:prstGeom>
          <a:noFill/>
        </p:spPr>
        <p:txBody>
          <a:bodyPr wrap="square" rtlCol="0">
            <a:spAutoFit/>
          </a:bodyPr>
          <a:lstStyle/>
          <a:p>
            <a:r>
              <a:rPr lang="en-US" sz="2400" dirty="0">
                <a:solidFill>
                  <a:schemeClr val="accent2"/>
                </a:solidFill>
              </a:rPr>
              <a:t>It’s easier to see if we “subtract off” the contribution of the first feature…</a:t>
            </a:r>
          </a:p>
        </p:txBody>
      </p:sp>
      <p:pic>
        <p:nvPicPr>
          <p:cNvPr id="6" name="Picture 5">
            <a:extLst>
              <a:ext uri="{FF2B5EF4-FFF2-40B4-BE49-F238E27FC236}">
                <a16:creationId xmlns:a16="http://schemas.microsoft.com/office/drawing/2014/main" id="{D0315087-8763-747F-A51A-004DC933BAA2}"/>
              </a:ext>
            </a:extLst>
          </p:cNvPr>
          <p:cNvPicPr>
            <a:picLocks noChangeAspect="1"/>
          </p:cNvPicPr>
          <p:nvPr/>
        </p:nvPicPr>
        <p:blipFill>
          <a:blip r:embed="rId4"/>
          <a:stretch>
            <a:fillRect/>
          </a:stretch>
        </p:blipFill>
        <p:spPr>
          <a:xfrm>
            <a:off x="2446976" y="1817203"/>
            <a:ext cx="6814589" cy="4926613"/>
          </a:xfrm>
          <a:prstGeom prst="rect">
            <a:avLst/>
          </a:prstGeom>
        </p:spPr>
      </p:pic>
      <p:grpSp>
        <p:nvGrpSpPr>
          <p:cNvPr id="12" name="Group 11">
            <a:extLst>
              <a:ext uri="{FF2B5EF4-FFF2-40B4-BE49-F238E27FC236}">
                <a16:creationId xmlns:a16="http://schemas.microsoft.com/office/drawing/2014/main" id="{04F94232-4A43-04DA-5E24-E56E47C047C1}"/>
              </a:ext>
            </a:extLst>
          </p:cNvPr>
          <p:cNvGrpSpPr/>
          <p:nvPr/>
        </p:nvGrpSpPr>
        <p:grpSpPr>
          <a:xfrm>
            <a:off x="490725" y="4351763"/>
            <a:ext cx="1480112" cy="2417064"/>
            <a:chOff x="490725" y="4351763"/>
            <a:chExt cx="1480112" cy="2417064"/>
          </a:xfrm>
        </p:grpSpPr>
        <p:pic>
          <p:nvPicPr>
            <p:cNvPr id="10" name="Picture 9">
              <a:extLst>
                <a:ext uri="{FF2B5EF4-FFF2-40B4-BE49-F238E27FC236}">
                  <a16:creationId xmlns:a16="http://schemas.microsoft.com/office/drawing/2014/main" id="{2F7DA01E-68BF-08C3-5D6C-89FE62ED9C47}"/>
                </a:ext>
              </a:extLst>
            </p:cNvPr>
            <p:cNvPicPr>
              <a:picLocks noChangeAspect="1"/>
            </p:cNvPicPr>
            <p:nvPr/>
          </p:nvPicPr>
          <p:blipFill>
            <a:blip r:embed="rId5"/>
            <a:stretch>
              <a:fillRect/>
            </a:stretch>
          </p:blipFill>
          <p:spPr>
            <a:xfrm flipH="1">
              <a:off x="567581" y="5418797"/>
              <a:ext cx="541238" cy="1350030"/>
            </a:xfrm>
            <a:prstGeom prst="rect">
              <a:avLst/>
            </a:prstGeom>
          </p:spPr>
        </p:pic>
        <p:sp>
          <p:nvSpPr>
            <p:cNvPr id="11" name="TextBox 10">
              <a:extLst>
                <a:ext uri="{FF2B5EF4-FFF2-40B4-BE49-F238E27FC236}">
                  <a16:creationId xmlns:a16="http://schemas.microsoft.com/office/drawing/2014/main" id="{9AFE5C14-8F7E-462B-98DF-6C138C4A1978}"/>
                </a:ext>
              </a:extLst>
            </p:cNvPr>
            <p:cNvSpPr txBox="1"/>
            <p:nvPr/>
          </p:nvSpPr>
          <p:spPr>
            <a:xfrm>
              <a:off x="490725" y="4351763"/>
              <a:ext cx="1480112" cy="923330"/>
            </a:xfrm>
            <a:prstGeom prst="rect">
              <a:avLst/>
            </a:prstGeom>
            <a:noFill/>
          </p:spPr>
          <p:txBody>
            <a:bodyPr wrap="square" rtlCol="0">
              <a:spAutoFit/>
            </a:bodyPr>
            <a:lstStyle/>
            <a:p>
              <a:r>
                <a:rPr lang="en-US" dirty="0">
                  <a:solidFill>
                    <a:srgbClr val="0070C0"/>
                  </a:solidFill>
                </a:rPr>
                <a:t>Looks like “average growth rate”</a:t>
              </a:r>
            </a:p>
          </p:txBody>
        </p:sp>
      </p:grpSp>
    </p:spTree>
    <p:extLst>
      <p:ext uri="{BB962C8B-B14F-4D97-AF65-F5344CB8AC3E}">
        <p14:creationId xmlns:p14="http://schemas.microsoft.com/office/powerpoint/2010/main" val="287116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9B56-2CFA-C2EB-6D27-7E75255F5634}"/>
              </a:ext>
            </a:extLst>
          </p:cNvPr>
          <p:cNvSpPr>
            <a:spLocks noGrp="1"/>
          </p:cNvSpPr>
          <p:nvPr>
            <p:ph type="title"/>
          </p:nvPr>
        </p:nvSpPr>
        <p:spPr>
          <a:xfrm>
            <a:off x="838200" y="252865"/>
            <a:ext cx="10515600" cy="1325563"/>
          </a:xfrm>
        </p:spPr>
        <p:txBody>
          <a:bodyPr>
            <a:normAutofit/>
          </a:bodyPr>
          <a:lstStyle/>
          <a:p>
            <a:r>
              <a:rPr lang="en-US" sz="4000" dirty="0"/>
              <a:t>What’s the </a:t>
            </a:r>
            <a:r>
              <a:rPr lang="en-US" sz="4000" b="1" dirty="0"/>
              <a:t>third most important </a:t>
            </a:r>
            <a:r>
              <a:rPr lang="en-US" sz="4000" dirty="0"/>
              <a:t>feature?</a:t>
            </a:r>
            <a:endParaRPr lang="en-US" sz="3200" dirty="0"/>
          </a:p>
        </p:txBody>
      </p:sp>
      <p:pic>
        <p:nvPicPr>
          <p:cNvPr id="4" name="Picture 3">
            <a:extLst>
              <a:ext uri="{FF2B5EF4-FFF2-40B4-BE49-F238E27FC236}">
                <a16:creationId xmlns:a16="http://schemas.microsoft.com/office/drawing/2014/main" id="{308164E1-5542-9C11-9DB9-6F07345CABE1}"/>
              </a:ext>
            </a:extLst>
          </p:cNvPr>
          <p:cNvPicPr>
            <a:picLocks noChangeAspect="1"/>
          </p:cNvPicPr>
          <p:nvPr/>
        </p:nvPicPr>
        <p:blipFill>
          <a:blip r:embed="rId3"/>
          <a:stretch>
            <a:fillRect/>
          </a:stretch>
        </p:blipFill>
        <p:spPr>
          <a:xfrm rot="5400000" flipV="1">
            <a:off x="7560940" y="3826876"/>
            <a:ext cx="3910149" cy="197023"/>
          </a:xfrm>
          <a:prstGeom prst="rect">
            <a:avLst/>
          </a:prstGeom>
        </p:spPr>
      </p:pic>
      <p:sp>
        <p:nvSpPr>
          <p:cNvPr id="7" name="TextBox 6">
            <a:extLst>
              <a:ext uri="{FF2B5EF4-FFF2-40B4-BE49-F238E27FC236}">
                <a16:creationId xmlns:a16="http://schemas.microsoft.com/office/drawing/2014/main" id="{3465F4F7-A6EB-4C57-E888-E90EC7A33477}"/>
              </a:ext>
            </a:extLst>
          </p:cNvPr>
          <p:cNvSpPr txBox="1"/>
          <p:nvPr/>
        </p:nvSpPr>
        <p:spPr>
          <a:xfrm>
            <a:off x="9678497" y="1970313"/>
            <a:ext cx="1478280" cy="923330"/>
          </a:xfrm>
          <a:prstGeom prst="rect">
            <a:avLst/>
          </a:prstGeom>
          <a:noFill/>
        </p:spPr>
        <p:txBody>
          <a:bodyPr wrap="square" rtlCol="0">
            <a:spAutoFit/>
          </a:bodyPr>
          <a:lstStyle/>
          <a:p>
            <a:r>
              <a:rPr lang="en-US" dirty="0"/>
              <a:t>Large value for this “feature”</a:t>
            </a:r>
          </a:p>
        </p:txBody>
      </p:sp>
      <p:sp>
        <p:nvSpPr>
          <p:cNvPr id="8" name="TextBox 7">
            <a:extLst>
              <a:ext uri="{FF2B5EF4-FFF2-40B4-BE49-F238E27FC236}">
                <a16:creationId xmlns:a16="http://schemas.microsoft.com/office/drawing/2014/main" id="{57595EB6-D22D-4C26-7DD5-10EF279567AA}"/>
              </a:ext>
            </a:extLst>
          </p:cNvPr>
          <p:cNvSpPr txBox="1"/>
          <p:nvPr/>
        </p:nvSpPr>
        <p:spPr>
          <a:xfrm>
            <a:off x="9678497" y="4957132"/>
            <a:ext cx="1478280" cy="923330"/>
          </a:xfrm>
          <a:prstGeom prst="rect">
            <a:avLst/>
          </a:prstGeom>
          <a:noFill/>
        </p:spPr>
        <p:txBody>
          <a:bodyPr wrap="square" rtlCol="0">
            <a:spAutoFit/>
          </a:bodyPr>
          <a:lstStyle/>
          <a:p>
            <a:r>
              <a:rPr lang="en-US" dirty="0"/>
              <a:t>Small value for this “feature”</a:t>
            </a:r>
          </a:p>
        </p:txBody>
      </p:sp>
      <p:sp>
        <p:nvSpPr>
          <p:cNvPr id="9" name="TextBox 8">
            <a:extLst>
              <a:ext uri="{FF2B5EF4-FFF2-40B4-BE49-F238E27FC236}">
                <a16:creationId xmlns:a16="http://schemas.microsoft.com/office/drawing/2014/main" id="{566AD5CC-8896-513E-41F3-FE2930D64A1F}"/>
              </a:ext>
            </a:extLst>
          </p:cNvPr>
          <p:cNvSpPr txBox="1"/>
          <p:nvPr/>
        </p:nvSpPr>
        <p:spPr>
          <a:xfrm>
            <a:off x="721714" y="1862239"/>
            <a:ext cx="2052783" cy="830997"/>
          </a:xfrm>
          <a:prstGeom prst="rect">
            <a:avLst/>
          </a:prstGeom>
          <a:noFill/>
        </p:spPr>
        <p:txBody>
          <a:bodyPr wrap="square" rtlCol="0">
            <a:spAutoFit/>
          </a:bodyPr>
          <a:lstStyle/>
          <a:p>
            <a:r>
              <a:rPr lang="en-US" sz="2400" dirty="0">
                <a:solidFill>
                  <a:srgbClr val="8C1516"/>
                </a:solidFill>
              </a:rPr>
              <a:t>This is what SVD says:</a:t>
            </a:r>
          </a:p>
        </p:txBody>
      </p:sp>
      <p:pic>
        <p:nvPicPr>
          <p:cNvPr id="12" name="Picture 11">
            <a:extLst>
              <a:ext uri="{FF2B5EF4-FFF2-40B4-BE49-F238E27FC236}">
                <a16:creationId xmlns:a16="http://schemas.microsoft.com/office/drawing/2014/main" id="{D2DA5945-15CC-2059-75AB-D96945F61F5A}"/>
              </a:ext>
            </a:extLst>
          </p:cNvPr>
          <p:cNvPicPr>
            <a:picLocks noChangeAspect="1"/>
          </p:cNvPicPr>
          <p:nvPr/>
        </p:nvPicPr>
        <p:blipFill>
          <a:blip r:embed="rId4"/>
          <a:stretch>
            <a:fillRect/>
          </a:stretch>
        </p:blipFill>
        <p:spPr>
          <a:xfrm>
            <a:off x="2319845" y="1629624"/>
            <a:ext cx="7030320" cy="5070281"/>
          </a:xfrm>
          <a:prstGeom prst="rect">
            <a:avLst/>
          </a:prstGeom>
        </p:spPr>
      </p:pic>
    </p:spTree>
    <p:extLst>
      <p:ext uri="{BB962C8B-B14F-4D97-AF65-F5344CB8AC3E}">
        <p14:creationId xmlns:p14="http://schemas.microsoft.com/office/powerpoint/2010/main" val="16487635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9B56-2CFA-C2EB-6D27-7E75255F5634}"/>
              </a:ext>
            </a:extLst>
          </p:cNvPr>
          <p:cNvSpPr>
            <a:spLocks noGrp="1"/>
          </p:cNvSpPr>
          <p:nvPr>
            <p:ph type="title"/>
          </p:nvPr>
        </p:nvSpPr>
        <p:spPr>
          <a:xfrm>
            <a:off x="838200" y="252865"/>
            <a:ext cx="10515600" cy="1325563"/>
          </a:xfrm>
        </p:spPr>
        <p:txBody>
          <a:bodyPr>
            <a:normAutofit/>
          </a:bodyPr>
          <a:lstStyle/>
          <a:p>
            <a:r>
              <a:rPr lang="en-US" sz="4000" dirty="0"/>
              <a:t>What’s the </a:t>
            </a:r>
            <a:r>
              <a:rPr lang="en-US" sz="4000" b="1" dirty="0"/>
              <a:t>third most important </a:t>
            </a:r>
            <a:r>
              <a:rPr lang="en-US" sz="4000" dirty="0"/>
              <a:t>feature?</a:t>
            </a:r>
            <a:endParaRPr lang="en-US" sz="3200" dirty="0"/>
          </a:p>
        </p:txBody>
      </p:sp>
      <p:pic>
        <p:nvPicPr>
          <p:cNvPr id="4" name="Picture 3">
            <a:extLst>
              <a:ext uri="{FF2B5EF4-FFF2-40B4-BE49-F238E27FC236}">
                <a16:creationId xmlns:a16="http://schemas.microsoft.com/office/drawing/2014/main" id="{308164E1-5542-9C11-9DB9-6F07345CABE1}"/>
              </a:ext>
            </a:extLst>
          </p:cNvPr>
          <p:cNvPicPr>
            <a:picLocks noChangeAspect="1"/>
          </p:cNvPicPr>
          <p:nvPr/>
        </p:nvPicPr>
        <p:blipFill>
          <a:blip r:embed="rId3"/>
          <a:stretch>
            <a:fillRect/>
          </a:stretch>
        </p:blipFill>
        <p:spPr>
          <a:xfrm rot="5400000" flipV="1">
            <a:off x="7560940" y="3826876"/>
            <a:ext cx="3910149" cy="197023"/>
          </a:xfrm>
          <a:prstGeom prst="rect">
            <a:avLst/>
          </a:prstGeom>
        </p:spPr>
      </p:pic>
      <p:sp>
        <p:nvSpPr>
          <p:cNvPr id="7" name="TextBox 6">
            <a:extLst>
              <a:ext uri="{FF2B5EF4-FFF2-40B4-BE49-F238E27FC236}">
                <a16:creationId xmlns:a16="http://schemas.microsoft.com/office/drawing/2014/main" id="{3465F4F7-A6EB-4C57-E888-E90EC7A33477}"/>
              </a:ext>
            </a:extLst>
          </p:cNvPr>
          <p:cNvSpPr txBox="1"/>
          <p:nvPr/>
        </p:nvSpPr>
        <p:spPr>
          <a:xfrm>
            <a:off x="9678497" y="1970313"/>
            <a:ext cx="1478280" cy="923330"/>
          </a:xfrm>
          <a:prstGeom prst="rect">
            <a:avLst/>
          </a:prstGeom>
          <a:noFill/>
        </p:spPr>
        <p:txBody>
          <a:bodyPr wrap="square" rtlCol="0">
            <a:spAutoFit/>
          </a:bodyPr>
          <a:lstStyle/>
          <a:p>
            <a:r>
              <a:rPr lang="en-US" dirty="0"/>
              <a:t>Large value for this “feature”</a:t>
            </a:r>
          </a:p>
        </p:txBody>
      </p:sp>
      <p:sp>
        <p:nvSpPr>
          <p:cNvPr id="8" name="TextBox 7">
            <a:extLst>
              <a:ext uri="{FF2B5EF4-FFF2-40B4-BE49-F238E27FC236}">
                <a16:creationId xmlns:a16="http://schemas.microsoft.com/office/drawing/2014/main" id="{57595EB6-D22D-4C26-7DD5-10EF279567AA}"/>
              </a:ext>
            </a:extLst>
          </p:cNvPr>
          <p:cNvSpPr txBox="1"/>
          <p:nvPr/>
        </p:nvSpPr>
        <p:spPr>
          <a:xfrm>
            <a:off x="9678497" y="4957132"/>
            <a:ext cx="1478280" cy="923330"/>
          </a:xfrm>
          <a:prstGeom prst="rect">
            <a:avLst/>
          </a:prstGeom>
          <a:noFill/>
        </p:spPr>
        <p:txBody>
          <a:bodyPr wrap="square" rtlCol="0">
            <a:spAutoFit/>
          </a:bodyPr>
          <a:lstStyle/>
          <a:p>
            <a:r>
              <a:rPr lang="en-US" dirty="0"/>
              <a:t>Small value for this “feature”</a:t>
            </a:r>
          </a:p>
        </p:txBody>
      </p:sp>
      <p:sp>
        <p:nvSpPr>
          <p:cNvPr id="9" name="TextBox 8">
            <a:extLst>
              <a:ext uri="{FF2B5EF4-FFF2-40B4-BE49-F238E27FC236}">
                <a16:creationId xmlns:a16="http://schemas.microsoft.com/office/drawing/2014/main" id="{566AD5CC-8896-513E-41F3-FE2930D64A1F}"/>
              </a:ext>
            </a:extLst>
          </p:cNvPr>
          <p:cNvSpPr txBox="1"/>
          <p:nvPr/>
        </p:nvSpPr>
        <p:spPr>
          <a:xfrm>
            <a:off x="721714" y="1862239"/>
            <a:ext cx="2052783" cy="830997"/>
          </a:xfrm>
          <a:prstGeom prst="rect">
            <a:avLst/>
          </a:prstGeom>
          <a:noFill/>
        </p:spPr>
        <p:txBody>
          <a:bodyPr wrap="square" rtlCol="0">
            <a:spAutoFit/>
          </a:bodyPr>
          <a:lstStyle/>
          <a:p>
            <a:r>
              <a:rPr lang="en-US" sz="2400" dirty="0">
                <a:solidFill>
                  <a:srgbClr val="8C1516"/>
                </a:solidFill>
              </a:rPr>
              <a:t>This is what SVD says:</a:t>
            </a:r>
          </a:p>
        </p:txBody>
      </p:sp>
      <p:sp>
        <p:nvSpPr>
          <p:cNvPr id="3" name="TextBox 2">
            <a:extLst>
              <a:ext uri="{FF2B5EF4-FFF2-40B4-BE49-F238E27FC236}">
                <a16:creationId xmlns:a16="http://schemas.microsoft.com/office/drawing/2014/main" id="{CCB2AC2D-EE87-D326-2EE3-642209DED259}"/>
              </a:ext>
            </a:extLst>
          </p:cNvPr>
          <p:cNvSpPr txBox="1"/>
          <p:nvPr/>
        </p:nvSpPr>
        <p:spPr>
          <a:xfrm>
            <a:off x="863508" y="1164537"/>
            <a:ext cx="10606777" cy="461665"/>
          </a:xfrm>
          <a:prstGeom prst="rect">
            <a:avLst/>
          </a:prstGeom>
          <a:noFill/>
        </p:spPr>
        <p:txBody>
          <a:bodyPr wrap="square" rtlCol="0">
            <a:spAutoFit/>
          </a:bodyPr>
          <a:lstStyle/>
          <a:p>
            <a:r>
              <a:rPr lang="en-US" sz="2400" dirty="0">
                <a:solidFill>
                  <a:schemeClr val="accent2"/>
                </a:solidFill>
              </a:rPr>
              <a:t>It’s easier to see if we “subtract off” the contribution of the first two features…</a:t>
            </a:r>
          </a:p>
        </p:txBody>
      </p:sp>
      <p:pic>
        <p:nvPicPr>
          <p:cNvPr id="5" name="Picture 4">
            <a:extLst>
              <a:ext uri="{FF2B5EF4-FFF2-40B4-BE49-F238E27FC236}">
                <a16:creationId xmlns:a16="http://schemas.microsoft.com/office/drawing/2014/main" id="{CBA442E6-08E5-21CE-210D-DE9DCE202579}"/>
              </a:ext>
            </a:extLst>
          </p:cNvPr>
          <p:cNvPicPr>
            <a:picLocks noChangeAspect="1"/>
          </p:cNvPicPr>
          <p:nvPr/>
        </p:nvPicPr>
        <p:blipFill>
          <a:blip r:embed="rId4"/>
          <a:stretch>
            <a:fillRect/>
          </a:stretch>
        </p:blipFill>
        <p:spPr>
          <a:xfrm>
            <a:off x="2577473" y="1862239"/>
            <a:ext cx="6814067" cy="4906588"/>
          </a:xfrm>
          <a:prstGeom prst="rect">
            <a:avLst/>
          </a:prstGeom>
        </p:spPr>
      </p:pic>
    </p:spTree>
    <p:extLst>
      <p:ext uri="{BB962C8B-B14F-4D97-AF65-F5344CB8AC3E}">
        <p14:creationId xmlns:p14="http://schemas.microsoft.com/office/powerpoint/2010/main" val="23762457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E031B-3878-DC3A-AE2C-F1148AA44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2F417-2630-7574-3B3C-4C2CE0C97641}"/>
              </a:ext>
            </a:extLst>
          </p:cNvPr>
          <p:cNvSpPr>
            <a:spLocks noGrp="1"/>
          </p:cNvSpPr>
          <p:nvPr>
            <p:ph type="title"/>
          </p:nvPr>
        </p:nvSpPr>
        <p:spPr>
          <a:xfrm>
            <a:off x="838200" y="252865"/>
            <a:ext cx="10515600" cy="1325563"/>
          </a:xfrm>
        </p:spPr>
        <p:txBody>
          <a:bodyPr>
            <a:normAutofit/>
          </a:bodyPr>
          <a:lstStyle/>
          <a:p>
            <a:r>
              <a:rPr lang="en-US" sz="4000" dirty="0"/>
              <a:t>What’s the </a:t>
            </a:r>
            <a:r>
              <a:rPr lang="en-US" sz="4000" b="1" dirty="0"/>
              <a:t>third most important </a:t>
            </a:r>
            <a:r>
              <a:rPr lang="en-US" sz="4000" dirty="0"/>
              <a:t>feature?</a:t>
            </a:r>
            <a:endParaRPr lang="en-US" sz="3200" dirty="0"/>
          </a:p>
        </p:txBody>
      </p:sp>
      <p:pic>
        <p:nvPicPr>
          <p:cNvPr id="4" name="Picture 3">
            <a:extLst>
              <a:ext uri="{FF2B5EF4-FFF2-40B4-BE49-F238E27FC236}">
                <a16:creationId xmlns:a16="http://schemas.microsoft.com/office/drawing/2014/main" id="{9B861F7C-597C-5126-8ECA-9EADE759DE76}"/>
              </a:ext>
            </a:extLst>
          </p:cNvPr>
          <p:cNvPicPr>
            <a:picLocks noChangeAspect="1"/>
          </p:cNvPicPr>
          <p:nvPr/>
        </p:nvPicPr>
        <p:blipFill>
          <a:blip r:embed="rId3"/>
          <a:stretch>
            <a:fillRect/>
          </a:stretch>
        </p:blipFill>
        <p:spPr>
          <a:xfrm rot="5400000" flipV="1">
            <a:off x="7560940" y="3826876"/>
            <a:ext cx="3910149" cy="197023"/>
          </a:xfrm>
          <a:prstGeom prst="rect">
            <a:avLst/>
          </a:prstGeom>
        </p:spPr>
      </p:pic>
      <p:sp>
        <p:nvSpPr>
          <p:cNvPr id="7" name="TextBox 6">
            <a:extLst>
              <a:ext uri="{FF2B5EF4-FFF2-40B4-BE49-F238E27FC236}">
                <a16:creationId xmlns:a16="http://schemas.microsoft.com/office/drawing/2014/main" id="{21740AD3-7AE7-6C96-BA6A-DE291CAAD81D}"/>
              </a:ext>
            </a:extLst>
          </p:cNvPr>
          <p:cNvSpPr txBox="1"/>
          <p:nvPr/>
        </p:nvSpPr>
        <p:spPr>
          <a:xfrm>
            <a:off x="9678497" y="1970313"/>
            <a:ext cx="1478280" cy="923330"/>
          </a:xfrm>
          <a:prstGeom prst="rect">
            <a:avLst/>
          </a:prstGeom>
          <a:noFill/>
        </p:spPr>
        <p:txBody>
          <a:bodyPr wrap="square" rtlCol="0">
            <a:spAutoFit/>
          </a:bodyPr>
          <a:lstStyle/>
          <a:p>
            <a:r>
              <a:rPr lang="en-US" dirty="0"/>
              <a:t>Large value for this “feature”</a:t>
            </a:r>
          </a:p>
        </p:txBody>
      </p:sp>
      <p:sp>
        <p:nvSpPr>
          <p:cNvPr id="8" name="TextBox 7">
            <a:extLst>
              <a:ext uri="{FF2B5EF4-FFF2-40B4-BE49-F238E27FC236}">
                <a16:creationId xmlns:a16="http://schemas.microsoft.com/office/drawing/2014/main" id="{CDF8A54C-E0AC-D5FD-9788-007FE955A414}"/>
              </a:ext>
            </a:extLst>
          </p:cNvPr>
          <p:cNvSpPr txBox="1"/>
          <p:nvPr/>
        </p:nvSpPr>
        <p:spPr>
          <a:xfrm>
            <a:off x="9678497" y="4957132"/>
            <a:ext cx="1478280" cy="923330"/>
          </a:xfrm>
          <a:prstGeom prst="rect">
            <a:avLst/>
          </a:prstGeom>
          <a:noFill/>
        </p:spPr>
        <p:txBody>
          <a:bodyPr wrap="square" rtlCol="0">
            <a:spAutoFit/>
          </a:bodyPr>
          <a:lstStyle/>
          <a:p>
            <a:r>
              <a:rPr lang="en-US" dirty="0"/>
              <a:t>Small value for this “feature”</a:t>
            </a:r>
          </a:p>
        </p:txBody>
      </p:sp>
      <p:sp>
        <p:nvSpPr>
          <p:cNvPr id="9" name="TextBox 8">
            <a:extLst>
              <a:ext uri="{FF2B5EF4-FFF2-40B4-BE49-F238E27FC236}">
                <a16:creationId xmlns:a16="http://schemas.microsoft.com/office/drawing/2014/main" id="{EDC9C9D2-06C1-F6AB-3E2B-F2E397BCCFDD}"/>
              </a:ext>
            </a:extLst>
          </p:cNvPr>
          <p:cNvSpPr txBox="1"/>
          <p:nvPr/>
        </p:nvSpPr>
        <p:spPr>
          <a:xfrm>
            <a:off x="721714" y="1862239"/>
            <a:ext cx="2052783" cy="830997"/>
          </a:xfrm>
          <a:prstGeom prst="rect">
            <a:avLst/>
          </a:prstGeom>
          <a:noFill/>
        </p:spPr>
        <p:txBody>
          <a:bodyPr wrap="square" rtlCol="0">
            <a:spAutoFit/>
          </a:bodyPr>
          <a:lstStyle/>
          <a:p>
            <a:r>
              <a:rPr lang="en-US" sz="2400" dirty="0">
                <a:solidFill>
                  <a:srgbClr val="8C1516"/>
                </a:solidFill>
              </a:rPr>
              <a:t>This is what SVD says:</a:t>
            </a:r>
          </a:p>
        </p:txBody>
      </p:sp>
      <p:sp>
        <p:nvSpPr>
          <p:cNvPr id="3" name="TextBox 2">
            <a:extLst>
              <a:ext uri="{FF2B5EF4-FFF2-40B4-BE49-F238E27FC236}">
                <a16:creationId xmlns:a16="http://schemas.microsoft.com/office/drawing/2014/main" id="{096B533F-606B-AC80-D24A-66D8549AE075}"/>
              </a:ext>
            </a:extLst>
          </p:cNvPr>
          <p:cNvSpPr txBox="1"/>
          <p:nvPr/>
        </p:nvSpPr>
        <p:spPr>
          <a:xfrm>
            <a:off x="863508" y="1164537"/>
            <a:ext cx="10606777" cy="461665"/>
          </a:xfrm>
          <a:prstGeom prst="rect">
            <a:avLst/>
          </a:prstGeom>
          <a:noFill/>
        </p:spPr>
        <p:txBody>
          <a:bodyPr wrap="square" rtlCol="0">
            <a:spAutoFit/>
          </a:bodyPr>
          <a:lstStyle/>
          <a:p>
            <a:r>
              <a:rPr lang="en-US" sz="2400" dirty="0">
                <a:solidFill>
                  <a:schemeClr val="accent2"/>
                </a:solidFill>
              </a:rPr>
              <a:t>It’s easier to see if we “subtract off” the contribution of the first two features…</a:t>
            </a:r>
          </a:p>
        </p:txBody>
      </p:sp>
      <p:grpSp>
        <p:nvGrpSpPr>
          <p:cNvPr id="6" name="Group 5">
            <a:extLst>
              <a:ext uri="{FF2B5EF4-FFF2-40B4-BE49-F238E27FC236}">
                <a16:creationId xmlns:a16="http://schemas.microsoft.com/office/drawing/2014/main" id="{4AC91B43-95AC-C1E8-67CA-374AF3725D47}"/>
              </a:ext>
            </a:extLst>
          </p:cNvPr>
          <p:cNvGrpSpPr/>
          <p:nvPr/>
        </p:nvGrpSpPr>
        <p:grpSpPr>
          <a:xfrm>
            <a:off x="567581" y="3438328"/>
            <a:ext cx="1945921" cy="3330499"/>
            <a:chOff x="567581" y="3438328"/>
            <a:chExt cx="1945921" cy="3330499"/>
          </a:xfrm>
        </p:grpSpPr>
        <p:pic>
          <p:nvPicPr>
            <p:cNvPr id="10" name="Picture 9">
              <a:extLst>
                <a:ext uri="{FF2B5EF4-FFF2-40B4-BE49-F238E27FC236}">
                  <a16:creationId xmlns:a16="http://schemas.microsoft.com/office/drawing/2014/main" id="{24372F8D-B7A4-7E90-028A-7145B4EBEA02}"/>
                </a:ext>
              </a:extLst>
            </p:cNvPr>
            <p:cNvPicPr>
              <a:picLocks noChangeAspect="1"/>
            </p:cNvPicPr>
            <p:nvPr/>
          </p:nvPicPr>
          <p:blipFill>
            <a:blip r:embed="rId4"/>
            <a:stretch>
              <a:fillRect/>
            </a:stretch>
          </p:blipFill>
          <p:spPr>
            <a:xfrm flipH="1">
              <a:off x="567581" y="5418797"/>
              <a:ext cx="541238" cy="1350030"/>
            </a:xfrm>
            <a:prstGeom prst="rect">
              <a:avLst/>
            </a:prstGeom>
          </p:spPr>
        </p:pic>
        <p:sp>
          <p:nvSpPr>
            <p:cNvPr id="11" name="TextBox 10">
              <a:extLst>
                <a:ext uri="{FF2B5EF4-FFF2-40B4-BE49-F238E27FC236}">
                  <a16:creationId xmlns:a16="http://schemas.microsoft.com/office/drawing/2014/main" id="{5A9B6770-1494-420F-4B6D-3F487BF5D463}"/>
                </a:ext>
              </a:extLst>
            </p:cNvPr>
            <p:cNvSpPr txBox="1"/>
            <p:nvPr/>
          </p:nvSpPr>
          <p:spPr>
            <a:xfrm>
              <a:off x="567581" y="3438328"/>
              <a:ext cx="1945921" cy="1938992"/>
            </a:xfrm>
            <a:prstGeom prst="rect">
              <a:avLst/>
            </a:prstGeom>
            <a:noFill/>
          </p:spPr>
          <p:txBody>
            <a:bodyPr wrap="square" rtlCol="0">
              <a:spAutoFit/>
            </a:bodyPr>
            <a:lstStyle/>
            <a:p>
              <a:r>
                <a:rPr lang="en-US" sz="2000" dirty="0">
                  <a:solidFill>
                    <a:srgbClr val="0070C0"/>
                  </a:solidFill>
                </a:rPr>
                <a:t>Maybe “how well did the country do in the 2008 financial crisis?”</a:t>
              </a:r>
            </a:p>
          </p:txBody>
        </p:sp>
      </p:grpSp>
      <p:pic>
        <p:nvPicPr>
          <p:cNvPr id="5" name="Picture 4">
            <a:extLst>
              <a:ext uri="{FF2B5EF4-FFF2-40B4-BE49-F238E27FC236}">
                <a16:creationId xmlns:a16="http://schemas.microsoft.com/office/drawing/2014/main" id="{B7F5AA84-6960-8558-0796-8EBEB54FD64E}"/>
              </a:ext>
            </a:extLst>
          </p:cNvPr>
          <p:cNvPicPr>
            <a:picLocks noChangeAspect="1"/>
          </p:cNvPicPr>
          <p:nvPr/>
        </p:nvPicPr>
        <p:blipFill>
          <a:blip r:embed="rId5"/>
          <a:stretch>
            <a:fillRect/>
          </a:stretch>
        </p:blipFill>
        <p:spPr>
          <a:xfrm>
            <a:off x="2577473" y="1862239"/>
            <a:ext cx="6814067" cy="4906588"/>
          </a:xfrm>
          <a:prstGeom prst="rect">
            <a:avLst/>
          </a:prstGeom>
        </p:spPr>
      </p:pic>
    </p:spTree>
    <p:extLst>
      <p:ext uri="{BB962C8B-B14F-4D97-AF65-F5344CB8AC3E}">
        <p14:creationId xmlns:p14="http://schemas.microsoft.com/office/powerpoint/2010/main" val="3897853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EF7D-BE00-83B6-11C5-DDD9A6D2FD15}"/>
              </a:ext>
            </a:extLst>
          </p:cNvPr>
          <p:cNvSpPr>
            <a:spLocks noGrp="1"/>
          </p:cNvSpPr>
          <p:nvPr>
            <p:ph type="title"/>
          </p:nvPr>
        </p:nvSpPr>
        <p:spPr>
          <a:xfrm>
            <a:off x="657117" y="130047"/>
            <a:ext cx="6174549" cy="1842117"/>
          </a:xfrm>
        </p:spPr>
        <p:txBody>
          <a:bodyPr>
            <a:normAutofit fontScale="90000"/>
          </a:bodyPr>
          <a:lstStyle/>
          <a:p>
            <a:r>
              <a:rPr lang="en-US" dirty="0"/>
              <a:t>Just these </a:t>
            </a:r>
            <a:r>
              <a:rPr lang="en-US" b="1" dirty="0"/>
              <a:t>three</a:t>
            </a:r>
            <a:r>
              <a:rPr lang="en-US" dirty="0"/>
              <a:t> features work pretty well!</a:t>
            </a:r>
          </a:p>
        </p:txBody>
      </p:sp>
      <p:grpSp>
        <p:nvGrpSpPr>
          <p:cNvPr id="55" name="Group 54">
            <a:extLst>
              <a:ext uri="{FF2B5EF4-FFF2-40B4-BE49-F238E27FC236}">
                <a16:creationId xmlns:a16="http://schemas.microsoft.com/office/drawing/2014/main" id="{74A70113-85DD-10C6-9ACD-EC21661790F5}"/>
              </a:ext>
            </a:extLst>
          </p:cNvPr>
          <p:cNvGrpSpPr/>
          <p:nvPr/>
        </p:nvGrpSpPr>
        <p:grpSpPr>
          <a:xfrm>
            <a:off x="7857897" y="132483"/>
            <a:ext cx="4155515" cy="1786167"/>
            <a:chOff x="7857897" y="132483"/>
            <a:chExt cx="4155515" cy="1786167"/>
          </a:xfrm>
        </p:grpSpPr>
        <p:pic>
          <p:nvPicPr>
            <p:cNvPr id="4" name="Picture 3">
              <a:extLst>
                <a:ext uri="{FF2B5EF4-FFF2-40B4-BE49-F238E27FC236}">
                  <a16:creationId xmlns:a16="http://schemas.microsoft.com/office/drawing/2014/main" id="{138E6D52-767E-BE16-D649-340135C2D0DE}"/>
                </a:ext>
              </a:extLst>
            </p:cNvPr>
            <p:cNvPicPr>
              <a:picLocks noChangeAspect="1"/>
            </p:cNvPicPr>
            <p:nvPr/>
          </p:nvPicPr>
          <p:blipFill>
            <a:blip r:embed="rId3"/>
            <a:stretch>
              <a:fillRect/>
            </a:stretch>
          </p:blipFill>
          <p:spPr>
            <a:xfrm>
              <a:off x="11309123" y="132483"/>
              <a:ext cx="704289" cy="1786167"/>
            </a:xfrm>
            <a:prstGeom prst="rect">
              <a:avLst/>
            </a:prstGeom>
          </p:spPr>
        </p:pic>
        <p:sp>
          <p:nvSpPr>
            <p:cNvPr id="5" name="TextBox 4">
              <a:extLst>
                <a:ext uri="{FF2B5EF4-FFF2-40B4-BE49-F238E27FC236}">
                  <a16:creationId xmlns:a16="http://schemas.microsoft.com/office/drawing/2014/main" id="{A72CA7B4-EE65-1682-6C15-1F13E79EBCF6}"/>
                </a:ext>
              </a:extLst>
            </p:cNvPr>
            <p:cNvSpPr txBox="1"/>
            <p:nvPr/>
          </p:nvSpPr>
          <p:spPr>
            <a:xfrm>
              <a:off x="7857897" y="363846"/>
              <a:ext cx="3451226" cy="1323439"/>
            </a:xfrm>
            <a:prstGeom prst="rect">
              <a:avLst/>
            </a:prstGeom>
            <a:noFill/>
          </p:spPr>
          <p:txBody>
            <a:bodyPr wrap="square" rtlCol="0">
              <a:spAutoFit/>
            </a:bodyPr>
            <a:lstStyle/>
            <a:p>
              <a:pPr algn="r"/>
              <a:r>
                <a:rPr lang="en-US" sz="2000" dirty="0">
                  <a:solidFill>
                    <a:srgbClr val="0070C0"/>
                  </a:solidFill>
                </a:rPr>
                <a:t>If you tell me just these three numbers about a country, I can decently  reconstruct that country’s data!</a:t>
              </a:r>
            </a:p>
          </p:txBody>
        </p:sp>
      </p:grpSp>
      <p:grpSp>
        <p:nvGrpSpPr>
          <p:cNvPr id="7" name="Group 6">
            <a:extLst>
              <a:ext uri="{FF2B5EF4-FFF2-40B4-BE49-F238E27FC236}">
                <a16:creationId xmlns:a16="http://schemas.microsoft.com/office/drawing/2014/main" id="{CCC999A7-4E33-AA0E-089F-671F176DBE4E}"/>
              </a:ext>
            </a:extLst>
          </p:cNvPr>
          <p:cNvGrpSpPr/>
          <p:nvPr/>
        </p:nvGrpSpPr>
        <p:grpSpPr>
          <a:xfrm>
            <a:off x="-196501" y="1687285"/>
            <a:ext cx="6520147" cy="2760983"/>
            <a:chOff x="3635524" y="3204497"/>
            <a:chExt cx="8397149" cy="3555807"/>
          </a:xfrm>
        </p:grpSpPr>
        <p:grpSp>
          <p:nvGrpSpPr>
            <p:cNvPr id="8" name="Group 7">
              <a:extLst>
                <a:ext uri="{FF2B5EF4-FFF2-40B4-BE49-F238E27FC236}">
                  <a16:creationId xmlns:a16="http://schemas.microsoft.com/office/drawing/2014/main" id="{957EFCA0-F5CA-0FD9-3908-5E7976CD4877}"/>
                </a:ext>
              </a:extLst>
            </p:cNvPr>
            <p:cNvGrpSpPr/>
            <p:nvPr/>
          </p:nvGrpSpPr>
          <p:grpSpPr>
            <a:xfrm>
              <a:off x="4943292" y="3204497"/>
              <a:ext cx="7089381" cy="3555807"/>
              <a:chOff x="1700677" y="1358539"/>
              <a:chExt cx="9653123" cy="4841698"/>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5BB94A6-7E20-03A9-68D2-9968044B55F5}"/>
                      </a:ext>
                    </a:extLst>
                  </p:cNvPr>
                  <p:cNvSpPr/>
                  <p:nvPr/>
                </p:nvSpPr>
                <p:spPr>
                  <a:xfrm>
                    <a:off x="1700677" y="2622840"/>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17" name="Rectangle 16">
                    <a:extLst>
                      <a:ext uri="{FF2B5EF4-FFF2-40B4-BE49-F238E27FC236}">
                        <a16:creationId xmlns:a16="http://schemas.microsoft.com/office/drawing/2014/main" id="{25BB94A6-7E20-03A9-68D2-9968044B55F5}"/>
                      </a:ext>
                    </a:extLst>
                  </p:cNvPr>
                  <p:cNvSpPr>
                    <a:spLocks noRot="1" noChangeAspect="1" noMove="1" noResize="1" noEditPoints="1" noAdjustHandles="1" noChangeArrowheads="1" noChangeShapeType="1" noTextEdit="1"/>
                  </p:cNvSpPr>
                  <p:nvPr/>
                </p:nvSpPr>
                <p:spPr>
                  <a:xfrm>
                    <a:off x="1700677" y="2622840"/>
                    <a:ext cx="1036051" cy="3577397"/>
                  </a:xfrm>
                  <a:prstGeom prst="rect">
                    <a:avLst/>
                  </a:prstGeom>
                  <a:blipFill>
                    <a:blip r:embed="rId4"/>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D871F46A-20DD-6858-30EE-7C0B7E94B591}"/>
                      </a:ext>
                    </a:extLst>
                  </p:cNvPr>
                  <p:cNvSpPr/>
                  <p:nvPr/>
                </p:nvSpPr>
                <p:spPr>
                  <a:xfrm>
                    <a:off x="2902537" y="2635299"/>
                    <a:ext cx="312201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18" name="Rectangle 17">
                    <a:extLst>
                      <a:ext uri="{FF2B5EF4-FFF2-40B4-BE49-F238E27FC236}">
                        <a16:creationId xmlns:a16="http://schemas.microsoft.com/office/drawing/2014/main" id="{D871F46A-20DD-6858-30EE-7C0B7E94B591}"/>
                      </a:ext>
                    </a:extLst>
                  </p:cNvPr>
                  <p:cNvSpPr>
                    <a:spLocks noRot="1" noChangeAspect="1" noMove="1" noResize="1" noEditPoints="1" noAdjustHandles="1" noChangeArrowheads="1" noChangeShapeType="1" noTextEdit="1"/>
                  </p:cNvSpPr>
                  <p:nvPr/>
                </p:nvSpPr>
                <p:spPr>
                  <a:xfrm>
                    <a:off x="2902537" y="2635299"/>
                    <a:ext cx="3122018" cy="95725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0E2507-2355-2091-225A-F57CE8B84D14}"/>
                      </a:ext>
                    </a:extLst>
                  </p:cNvPr>
                  <p:cNvSpPr txBox="1"/>
                  <p:nvPr/>
                </p:nvSpPr>
                <p:spPr>
                  <a:xfrm>
                    <a:off x="6116191" y="2936227"/>
                    <a:ext cx="942159" cy="755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250E2507-2355-2091-225A-F57CE8B84D14}"/>
                      </a:ext>
                    </a:extLst>
                  </p:cNvPr>
                  <p:cNvSpPr txBox="1">
                    <a:spLocks noRot="1" noChangeAspect="1" noMove="1" noResize="1" noEditPoints="1" noAdjustHandles="1" noChangeArrowheads="1" noChangeShapeType="1" noTextEdit="1"/>
                  </p:cNvSpPr>
                  <p:nvPr/>
                </p:nvSpPr>
                <p:spPr>
                  <a:xfrm>
                    <a:off x="6116191" y="2936227"/>
                    <a:ext cx="942159" cy="755609"/>
                  </a:xfrm>
                  <a:prstGeom prst="rect">
                    <a:avLst/>
                  </a:prstGeom>
                  <a:blipFill>
                    <a:blip r:embed="rId6"/>
                    <a:stretch>
                      <a:fillRect/>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BF0EC60D-20A8-92D1-E03B-E8C3F1F29FAB}"/>
                  </a:ext>
                </a:extLst>
              </p:cNvPr>
              <p:cNvGrpSpPr/>
              <p:nvPr/>
            </p:nvGrpSpPr>
            <p:grpSpPr>
              <a:xfrm>
                <a:off x="7104682" y="2720092"/>
                <a:ext cx="4249118" cy="3443049"/>
                <a:chOff x="1846882" y="2597802"/>
                <a:chExt cx="4249118" cy="2693288"/>
              </a:xfrm>
            </p:grpSpPr>
            <p:sp>
              <p:nvSpPr>
                <p:cNvPr id="29" name="Rectangle 28">
                  <a:extLst>
                    <a:ext uri="{FF2B5EF4-FFF2-40B4-BE49-F238E27FC236}">
                      <a16:creationId xmlns:a16="http://schemas.microsoft.com/office/drawing/2014/main" id="{05CC9365-6391-6BB0-DC9A-F0643242FF52}"/>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07A6CB6-5F84-491B-DA82-B8EC83C4E27D}"/>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1,1</m:t>
                                </m:r>
                              </m:sub>
                            </m:sSub>
                          </m:oMath>
                        </m:oMathPara>
                      </a14:m>
                      <a:endParaRPr lang="en-US" sz="1600" dirty="0">
                        <a:solidFill>
                          <a:schemeClr val="bg1"/>
                        </a:solidFill>
                      </a:endParaRPr>
                    </a:p>
                  </p:txBody>
                </p:sp>
              </mc:Choice>
              <mc:Fallback xmlns="">
                <p:sp>
                  <p:nvSpPr>
                    <p:cNvPr id="30" name="TextBox 29">
                      <a:extLst>
                        <a:ext uri="{FF2B5EF4-FFF2-40B4-BE49-F238E27FC236}">
                          <a16:creationId xmlns:a16="http://schemas.microsoft.com/office/drawing/2014/main" id="{007A6CB6-5F84-491B-DA82-B8EC83C4E27D}"/>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7"/>
                      <a:stretch>
                        <a:fillRect l="-10000" r="-3333" b="-9091"/>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A8553449-7568-F9F3-E92B-E3C1EBE068EB}"/>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DC50B5A-142D-EEA3-B306-DC183D852F6B}"/>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1,2</m:t>
                                </m:r>
                              </m:sub>
                            </m:sSub>
                          </m:oMath>
                        </m:oMathPara>
                      </a14:m>
                      <a:endParaRPr lang="en-US" sz="1600" dirty="0">
                        <a:solidFill>
                          <a:schemeClr val="bg1"/>
                        </a:solidFill>
                      </a:endParaRPr>
                    </a:p>
                  </p:txBody>
                </p:sp>
              </mc:Choice>
              <mc:Fallback xmlns="">
                <p:sp>
                  <p:nvSpPr>
                    <p:cNvPr id="32" name="TextBox 31">
                      <a:extLst>
                        <a:ext uri="{FF2B5EF4-FFF2-40B4-BE49-F238E27FC236}">
                          <a16:creationId xmlns:a16="http://schemas.microsoft.com/office/drawing/2014/main" id="{ADC50B5A-142D-EEA3-B306-DC183D852F6B}"/>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8"/>
                      <a:stretch>
                        <a:fillRect l="-10000"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37166F0-4D8A-0063-91D6-CF3A24882B08}"/>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3" name="TextBox 32">
                      <a:extLst>
                        <a:ext uri="{FF2B5EF4-FFF2-40B4-BE49-F238E27FC236}">
                          <a16:creationId xmlns:a16="http://schemas.microsoft.com/office/drawing/2014/main" id="{C37166F0-4D8A-0063-91D6-CF3A24882B08}"/>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9"/>
                      <a:stretch>
                        <a:fillRect l="-967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94EDC7A-A41E-6C4D-71BA-1BB336C41B41}"/>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2,1</m:t>
                                </m:r>
                              </m:sub>
                            </m:sSub>
                          </m:oMath>
                        </m:oMathPara>
                      </a14:m>
                      <a:endParaRPr lang="en-US" sz="1600" dirty="0">
                        <a:solidFill>
                          <a:schemeClr val="bg1"/>
                        </a:solidFill>
                      </a:endParaRPr>
                    </a:p>
                  </p:txBody>
                </p:sp>
              </mc:Choice>
              <mc:Fallback xmlns="">
                <p:sp>
                  <p:nvSpPr>
                    <p:cNvPr id="34" name="TextBox 33">
                      <a:extLst>
                        <a:ext uri="{FF2B5EF4-FFF2-40B4-BE49-F238E27FC236}">
                          <a16:creationId xmlns:a16="http://schemas.microsoft.com/office/drawing/2014/main" id="{F94EDC7A-A41E-6C4D-71BA-1BB336C41B41}"/>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10"/>
                      <a:stretch>
                        <a:fillRect l="-6452"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FEC892-AB47-5C83-1010-8808D2B893E5}"/>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2,2</m:t>
                                </m:r>
                              </m:sub>
                            </m:sSub>
                          </m:oMath>
                        </m:oMathPara>
                      </a14:m>
                      <a:endParaRPr lang="en-US" sz="1600" dirty="0">
                        <a:solidFill>
                          <a:schemeClr val="bg1"/>
                        </a:solidFill>
                      </a:endParaRPr>
                    </a:p>
                  </p:txBody>
                </p:sp>
              </mc:Choice>
              <mc:Fallback xmlns="">
                <p:sp>
                  <p:nvSpPr>
                    <p:cNvPr id="35" name="TextBox 34">
                      <a:extLst>
                        <a:ext uri="{FF2B5EF4-FFF2-40B4-BE49-F238E27FC236}">
                          <a16:creationId xmlns:a16="http://schemas.microsoft.com/office/drawing/2014/main" id="{EBFEC892-AB47-5C83-1010-8808D2B893E5}"/>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1"/>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4F3EB74-4B6F-FF40-4E4B-5A24309FCC88}"/>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6" name="TextBox 35">
                      <a:extLst>
                        <a:ext uri="{FF2B5EF4-FFF2-40B4-BE49-F238E27FC236}">
                          <a16:creationId xmlns:a16="http://schemas.microsoft.com/office/drawing/2014/main" id="{A4F3EB74-4B6F-FF40-4E4B-5A24309FCC88}"/>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2"/>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520BEE8-D8FD-33B6-75BD-A268F06DA926}"/>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3,1</m:t>
                                </m:r>
                              </m:sub>
                            </m:sSub>
                          </m:oMath>
                        </m:oMathPara>
                      </a14:m>
                      <a:endParaRPr lang="en-US" sz="1600" dirty="0">
                        <a:solidFill>
                          <a:schemeClr val="bg1"/>
                        </a:solidFill>
                      </a:endParaRPr>
                    </a:p>
                  </p:txBody>
                </p:sp>
              </mc:Choice>
              <mc:Fallback xmlns="">
                <p:sp>
                  <p:nvSpPr>
                    <p:cNvPr id="37" name="TextBox 36">
                      <a:extLst>
                        <a:ext uri="{FF2B5EF4-FFF2-40B4-BE49-F238E27FC236}">
                          <a16:creationId xmlns:a16="http://schemas.microsoft.com/office/drawing/2014/main" id="{D520BEE8-D8FD-33B6-75BD-A268F06DA926}"/>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3"/>
                      <a:stretch>
                        <a:fillRect l="-6452"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E04423-F711-9A2B-CECF-1B0F0B701798}"/>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3,2</m:t>
                                </m:r>
                              </m:sub>
                            </m:sSub>
                          </m:oMath>
                        </m:oMathPara>
                      </a14:m>
                      <a:endParaRPr lang="en-US" sz="1600" dirty="0">
                        <a:solidFill>
                          <a:schemeClr val="bg1"/>
                        </a:solidFill>
                      </a:endParaRPr>
                    </a:p>
                  </p:txBody>
                </p:sp>
              </mc:Choice>
              <mc:Fallback xmlns="">
                <p:sp>
                  <p:nvSpPr>
                    <p:cNvPr id="38" name="TextBox 37">
                      <a:extLst>
                        <a:ext uri="{FF2B5EF4-FFF2-40B4-BE49-F238E27FC236}">
                          <a16:creationId xmlns:a16="http://schemas.microsoft.com/office/drawing/2014/main" id="{62E04423-F711-9A2B-CECF-1B0F0B701798}"/>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4"/>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4D87BB7-FA10-EC99-0531-A3916A36A12A}"/>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9" name="TextBox 38">
                      <a:extLst>
                        <a:ext uri="{FF2B5EF4-FFF2-40B4-BE49-F238E27FC236}">
                          <a16:creationId xmlns:a16="http://schemas.microsoft.com/office/drawing/2014/main" id="{04D87BB7-FA10-EC99-0531-A3916A36A12A}"/>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5"/>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FD3CFF-D245-9F65-EA90-26697C6E6C03}"/>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40" name="TextBox 39">
                      <a:extLst>
                        <a:ext uri="{FF2B5EF4-FFF2-40B4-BE49-F238E27FC236}">
                          <a16:creationId xmlns:a16="http://schemas.microsoft.com/office/drawing/2014/main" id="{83FD3CFF-D245-9F65-EA90-26697C6E6C03}"/>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6"/>
                      <a:stretch>
                        <a:fillRect l="-9677"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015AFA5-D3D6-0ACD-A74D-45BED5173B3F}"/>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41" name="TextBox 40">
                      <a:extLst>
                        <a:ext uri="{FF2B5EF4-FFF2-40B4-BE49-F238E27FC236}">
                          <a16:creationId xmlns:a16="http://schemas.microsoft.com/office/drawing/2014/main" id="{3015AFA5-D3D6-0ACD-A74D-45BED5173B3F}"/>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7"/>
                      <a:stretch>
                        <a:fillRect l="-13333"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1B631D1-BAF4-3429-0A35-1C96287533AC}"/>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42" name="TextBox 41">
                      <a:extLst>
                        <a:ext uri="{FF2B5EF4-FFF2-40B4-BE49-F238E27FC236}">
                          <a16:creationId xmlns:a16="http://schemas.microsoft.com/office/drawing/2014/main" id="{51B631D1-BAF4-3429-0A35-1C96287533AC}"/>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8"/>
                      <a:stretch>
                        <a:fillRect l="-12903"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578D74B-7025-0996-15BB-B94E2B33188F}"/>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3" name="TextBox 42">
                      <a:extLst>
                        <a:ext uri="{FF2B5EF4-FFF2-40B4-BE49-F238E27FC236}">
                          <a16:creationId xmlns:a16="http://schemas.microsoft.com/office/drawing/2014/main" id="{2578D74B-7025-0996-15BB-B94E2B33188F}"/>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3499DF7-C507-ED19-ABFC-B45F4C4043B8}"/>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4" name="TextBox 43">
                      <a:extLst>
                        <a:ext uri="{FF2B5EF4-FFF2-40B4-BE49-F238E27FC236}">
                          <a16:creationId xmlns:a16="http://schemas.microsoft.com/office/drawing/2014/main" id="{E3499DF7-C507-ED19-ABFC-B45F4C4043B8}"/>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D8A27FE-9F25-EFC7-2980-9D15FE25282A}"/>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5" name="TextBox 44">
                      <a:extLst>
                        <a:ext uri="{FF2B5EF4-FFF2-40B4-BE49-F238E27FC236}">
                          <a16:creationId xmlns:a16="http://schemas.microsoft.com/office/drawing/2014/main" id="{DD8A27FE-9F25-EFC7-2980-9D15FE25282A}"/>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BF4FF90-4CD7-32C1-8A72-028F2D7E68CE}"/>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8BF4FF90-4CD7-32C1-8A72-028F2D7E68CE}"/>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2"/>
                      <a:stretch>
                        <a:fillRect/>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1508616A-BC33-3E72-6A6D-698AB027711A}"/>
                  </a:ext>
                </a:extLst>
              </p:cNvPr>
              <p:cNvSpPr txBox="1"/>
              <p:nvPr/>
            </p:nvSpPr>
            <p:spPr>
              <a:xfrm>
                <a:off x="6495163" y="5620443"/>
                <a:ext cx="633048" cy="458763"/>
              </a:xfrm>
              <a:prstGeom prst="rect">
                <a:avLst/>
              </a:prstGeom>
              <a:noFill/>
            </p:spPr>
            <p:txBody>
              <a:bodyPr wrap="none" rtlCol="0">
                <a:spAutoFit/>
              </a:bodyPr>
              <a:lstStyle/>
              <a:p>
                <a:r>
                  <a:rPr lang="en-US" sz="1050" dirty="0"/>
                  <a:t>UK</a:t>
                </a:r>
              </a:p>
            </p:txBody>
          </p:sp>
          <p:sp>
            <p:nvSpPr>
              <p:cNvPr id="22" name="TextBox 21">
                <a:extLst>
                  <a:ext uri="{FF2B5EF4-FFF2-40B4-BE49-F238E27FC236}">
                    <a16:creationId xmlns:a16="http://schemas.microsoft.com/office/drawing/2014/main" id="{8D338319-7CBB-B358-00FE-AA5CBA0A7DE0}"/>
                  </a:ext>
                </a:extLst>
              </p:cNvPr>
              <p:cNvSpPr txBox="1"/>
              <p:nvPr/>
            </p:nvSpPr>
            <p:spPr>
              <a:xfrm>
                <a:off x="5201762" y="4333775"/>
                <a:ext cx="1908362" cy="445271"/>
              </a:xfrm>
              <a:prstGeom prst="rect">
                <a:avLst/>
              </a:prstGeom>
              <a:noFill/>
            </p:spPr>
            <p:txBody>
              <a:bodyPr wrap="square" rtlCol="0">
                <a:spAutoFit/>
              </a:bodyPr>
              <a:lstStyle/>
              <a:p>
                <a:pPr algn="r"/>
                <a:r>
                  <a:rPr lang="en-US" sz="1050" dirty="0"/>
                  <a:t>Netherlands</a:t>
                </a:r>
              </a:p>
            </p:txBody>
          </p:sp>
          <p:sp>
            <p:nvSpPr>
              <p:cNvPr id="23" name="TextBox 22">
                <a:extLst>
                  <a:ext uri="{FF2B5EF4-FFF2-40B4-BE49-F238E27FC236}">
                    <a16:creationId xmlns:a16="http://schemas.microsoft.com/office/drawing/2014/main" id="{49A0C023-EEDB-6291-F0F0-AD9CDB060E9B}"/>
                  </a:ext>
                </a:extLst>
              </p:cNvPr>
              <p:cNvSpPr txBox="1"/>
              <p:nvPr/>
            </p:nvSpPr>
            <p:spPr>
              <a:xfrm>
                <a:off x="6957439" y="2266153"/>
                <a:ext cx="1046722" cy="458763"/>
              </a:xfrm>
              <a:prstGeom prst="rect">
                <a:avLst/>
              </a:prstGeom>
              <a:noFill/>
            </p:spPr>
            <p:txBody>
              <a:bodyPr wrap="square" rtlCol="0">
                <a:spAutoFit/>
              </a:bodyPr>
              <a:lstStyle/>
              <a:p>
                <a:pPr algn="r"/>
                <a:r>
                  <a:rPr lang="en-US" sz="1100" dirty="0"/>
                  <a:t>1995</a:t>
                </a:r>
              </a:p>
            </p:txBody>
          </p:sp>
          <p:sp>
            <p:nvSpPr>
              <p:cNvPr id="24" name="TextBox 23">
                <a:extLst>
                  <a:ext uri="{FF2B5EF4-FFF2-40B4-BE49-F238E27FC236}">
                    <a16:creationId xmlns:a16="http://schemas.microsoft.com/office/drawing/2014/main" id="{38B5D0C6-AD06-E195-B010-22BFF897512A}"/>
                  </a:ext>
                </a:extLst>
              </p:cNvPr>
              <p:cNvSpPr txBox="1"/>
              <p:nvPr/>
            </p:nvSpPr>
            <p:spPr>
              <a:xfrm>
                <a:off x="7677650" y="2237726"/>
                <a:ext cx="1046722" cy="458763"/>
              </a:xfrm>
              <a:prstGeom prst="rect">
                <a:avLst/>
              </a:prstGeom>
              <a:noFill/>
            </p:spPr>
            <p:txBody>
              <a:bodyPr wrap="square" rtlCol="0">
                <a:spAutoFit/>
              </a:bodyPr>
              <a:lstStyle/>
              <a:p>
                <a:pPr algn="r"/>
                <a:r>
                  <a:rPr lang="en-US" sz="1100" dirty="0"/>
                  <a:t>1996</a:t>
                </a:r>
              </a:p>
            </p:txBody>
          </p:sp>
          <p:sp>
            <p:nvSpPr>
              <p:cNvPr id="25" name="TextBox 24">
                <a:extLst>
                  <a:ext uri="{FF2B5EF4-FFF2-40B4-BE49-F238E27FC236}">
                    <a16:creationId xmlns:a16="http://schemas.microsoft.com/office/drawing/2014/main" id="{A6812297-1A11-6E69-4AD4-24BC93C33070}"/>
                  </a:ext>
                </a:extLst>
              </p:cNvPr>
              <p:cNvSpPr txBox="1"/>
              <p:nvPr/>
            </p:nvSpPr>
            <p:spPr>
              <a:xfrm>
                <a:off x="10260330" y="2251157"/>
                <a:ext cx="1046722" cy="458763"/>
              </a:xfrm>
              <a:prstGeom prst="rect">
                <a:avLst/>
              </a:prstGeom>
              <a:noFill/>
            </p:spPr>
            <p:txBody>
              <a:bodyPr wrap="square" rtlCol="0">
                <a:spAutoFit/>
              </a:bodyPr>
              <a:lstStyle/>
              <a:p>
                <a:pPr algn="r"/>
                <a:r>
                  <a:rPr lang="en-US" sz="1100" dirty="0"/>
                  <a:t>2022</a:t>
                </a:r>
              </a:p>
            </p:txBody>
          </p:sp>
          <p:sp>
            <p:nvSpPr>
              <p:cNvPr id="26" name="Oval 25">
                <a:extLst>
                  <a:ext uri="{FF2B5EF4-FFF2-40B4-BE49-F238E27FC236}">
                    <a16:creationId xmlns:a16="http://schemas.microsoft.com/office/drawing/2014/main" id="{D5737BA5-B55C-5A4F-EA99-6FC714692528}"/>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TextBox 26">
                <a:extLst>
                  <a:ext uri="{FF2B5EF4-FFF2-40B4-BE49-F238E27FC236}">
                    <a16:creationId xmlns:a16="http://schemas.microsoft.com/office/drawing/2014/main" id="{1AD33FD5-44EA-FAA1-A5F9-AA3F35B996DA}"/>
                  </a:ext>
                </a:extLst>
              </p:cNvPr>
              <p:cNvSpPr txBox="1"/>
              <p:nvPr/>
            </p:nvSpPr>
            <p:spPr>
              <a:xfrm>
                <a:off x="8724170" y="1358539"/>
                <a:ext cx="2514114" cy="755609"/>
              </a:xfrm>
              <a:prstGeom prst="rect">
                <a:avLst/>
              </a:prstGeom>
              <a:noFill/>
            </p:spPr>
            <p:txBody>
              <a:bodyPr wrap="square" rtlCol="0">
                <a:spAutoFit/>
              </a:bodyPr>
              <a:lstStyle/>
              <a:p>
                <a:pPr algn="ctr"/>
                <a:r>
                  <a:rPr lang="en-US" sz="1100" dirty="0">
                    <a:solidFill>
                      <a:schemeClr val="accent2"/>
                    </a:solidFill>
                  </a:rPr>
                  <a:t>GDP of Netherlands in 1996</a:t>
                </a:r>
              </a:p>
            </p:txBody>
          </p:sp>
          <p:cxnSp>
            <p:nvCxnSpPr>
              <p:cNvPr id="28" name="Curved Connector 27">
                <a:extLst>
                  <a:ext uri="{FF2B5EF4-FFF2-40B4-BE49-F238E27FC236}">
                    <a16:creationId xmlns:a16="http://schemas.microsoft.com/office/drawing/2014/main" id="{A0CF4F3E-73FC-8659-92F4-D4AD22D94E04}"/>
                  </a:ext>
                </a:extLst>
              </p:cNvPr>
              <p:cNvCxnSpPr>
                <a:cxnSpLocks/>
                <a:stCxn id="27" idx="1"/>
                <a:endCxn id="26" idx="6"/>
              </p:cNvCxnSpPr>
              <p:nvPr/>
            </p:nvCxnSpPr>
            <p:spPr>
              <a:xfrm rot="10800000" flipH="1" flipV="1">
                <a:off x="8724168" y="1736345"/>
                <a:ext cx="172621" cy="2694908"/>
              </a:xfrm>
              <a:prstGeom prst="curvedConnector5">
                <a:avLst>
                  <a:gd name="adj1" fmla="val -232230"/>
                  <a:gd name="adj2" fmla="val 49802"/>
                  <a:gd name="adj3" fmla="val 332230"/>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9C211D22-D6CE-2A1C-73AA-CE0F41F37625}"/>
                </a:ext>
              </a:extLst>
            </p:cNvPr>
            <p:cNvSpPr txBox="1"/>
            <p:nvPr/>
          </p:nvSpPr>
          <p:spPr>
            <a:xfrm>
              <a:off x="4453750" y="6365675"/>
              <a:ext cx="464919" cy="336922"/>
            </a:xfrm>
            <a:prstGeom prst="rect">
              <a:avLst/>
            </a:prstGeom>
            <a:solidFill>
              <a:schemeClr val="bg1"/>
            </a:solidFill>
          </p:spPr>
          <p:txBody>
            <a:bodyPr wrap="none" rtlCol="0">
              <a:spAutoFit/>
            </a:bodyPr>
            <a:lstStyle/>
            <a:p>
              <a:r>
                <a:rPr lang="en-US" sz="1050" dirty="0"/>
                <a:t>UK</a:t>
              </a:r>
            </a:p>
          </p:txBody>
        </p:sp>
        <p:sp>
          <p:nvSpPr>
            <p:cNvPr id="10" name="TextBox 9">
              <a:extLst>
                <a:ext uri="{FF2B5EF4-FFF2-40B4-BE49-F238E27FC236}">
                  <a16:creationId xmlns:a16="http://schemas.microsoft.com/office/drawing/2014/main" id="{29147419-8101-AB42-65A7-E604CA79C34C}"/>
                </a:ext>
              </a:extLst>
            </p:cNvPr>
            <p:cNvSpPr txBox="1"/>
            <p:nvPr/>
          </p:nvSpPr>
          <p:spPr>
            <a:xfrm>
              <a:off x="3635524" y="5420728"/>
              <a:ext cx="1269862" cy="327013"/>
            </a:xfrm>
            <a:prstGeom prst="rect">
              <a:avLst/>
            </a:prstGeom>
            <a:solidFill>
              <a:schemeClr val="bg1"/>
            </a:solidFill>
          </p:spPr>
          <p:txBody>
            <a:bodyPr wrap="square" rtlCol="0">
              <a:spAutoFit/>
            </a:bodyPr>
            <a:lstStyle/>
            <a:p>
              <a:pPr algn="r"/>
              <a:r>
                <a:rPr lang="en-US" sz="1050" dirty="0"/>
                <a:t>Netherlands</a:t>
              </a:r>
            </a:p>
          </p:txBody>
        </p:sp>
        <p:sp>
          <p:nvSpPr>
            <p:cNvPr id="11" name="TextBox 10">
              <a:extLst>
                <a:ext uri="{FF2B5EF4-FFF2-40B4-BE49-F238E27FC236}">
                  <a16:creationId xmlns:a16="http://schemas.microsoft.com/office/drawing/2014/main" id="{56E42F0E-DA9D-2F64-A386-EAF7BC49BB97}"/>
                </a:ext>
              </a:extLst>
            </p:cNvPr>
            <p:cNvSpPr txBox="1"/>
            <p:nvPr/>
          </p:nvSpPr>
          <p:spPr>
            <a:xfrm>
              <a:off x="3770111" y="4182331"/>
              <a:ext cx="1130318" cy="336922"/>
            </a:xfrm>
            <a:prstGeom prst="rect">
              <a:avLst/>
            </a:prstGeom>
            <a:solidFill>
              <a:schemeClr val="bg1"/>
            </a:solidFill>
          </p:spPr>
          <p:txBody>
            <a:bodyPr wrap="square" rtlCol="0">
              <a:spAutoFit/>
            </a:bodyPr>
            <a:lstStyle/>
            <a:p>
              <a:pPr algn="r"/>
              <a:r>
                <a:rPr lang="en-US" sz="1050" dirty="0"/>
                <a:t>Iceland</a:t>
              </a:r>
            </a:p>
          </p:txBody>
        </p:sp>
        <p:sp>
          <p:nvSpPr>
            <p:cNvPr id="12" name="TextBox 11">
              <a:extLst>
                <a:ext uri="{FF2B5EF4-FFF2-40B4-BE49-F238E27FC236}">
                  <a16:creationId xmlns:a16="http://schemas.microsoft.com/office/drawing/2014/main" id="{306065BA-EEA0-0BCF-E844-8C5DD7628872}"/>
                </a:ext>
              </a:extLst>
            </p:cNvPr>
            <p:cNvSpPr txBox="1"/>
            <p:nvPr/>
          </p:nvSpPr>
          <p:spPr>
            <a:xfrm>
              <a:off x="3770111" y="5931788"/>
              <a:ext cx="1130318" cy="336922"/>
            </a:xfrm>
            <a:prstGeom prst="rect">
              <a:avLst/>
            </a:prstGeom>
            <a:solidFill>
              <a:schemeClr val="bg1"/>
            </a:solidFill>
          </p:spPr>
          <p:txBody>
            <a:bodyPr wrap="square" rtlCol="0">
              <a:spAutoFit/>
            </a:bodyPr>
            <a:lstStyle/>
            <a:p>
              <a:pPr algn="r"/>
              <a:r>
                <a:rPr lang="en-US" sz="1050" dirty="0"/>
                <a:t>France</a:t>
              </a:r>
            </a:p>
          </p:txBody>
        </p:sp>
        <p:sp>
          <p:nvSpPr>
            <p:cNvPr id="13" name="TextBox 12">
              <a:extLst>
                <a:ext uri="{FF2B5EF4-FFF2-40B4-BE49-F238E27FC236}">
                  <a16:creationId xmlns:a16="http://schemas.microsoft.com/office/drawing/2014/main" id="{0658085C-BC61-A12C-5B56-537265451533}"/>
                </a:ext>
              </a:extLst>
            </p:cNvPr>
            <p:cNvSpPr txBox="1"/>
            <p:nvPr/>
          </p:nvSpPr>
          <p:spPr>
            <a:xfrm>
              <a:off x="7716388" y="5842246"/>
              <a:ext cx="1130318" cy="336922"/>
            </a:xfrm>
            <a:prstGeom prst="rect">
              <a:avLst/>
            </a:prstGeom>
            <a:noFill/>
          </p:spPr>
          <p:txBody>
            <a:bodyPr wrap="square" rtlCol="0">
              <a:spAutoFit/>
            </a:bodyPr>
            <a:lstStyle/>
            <a:p>
              <a:pPr algn="r"/>
              <a:r>
                <a:rPr lang="en-US" sz="1050" dirty="0"/>
                <a:t>France</a:t>
              </a:r>
            </a:p>
          </p:txBody>
        </p:sp>
        <p:sp>
          <p:nvSpPr>
            <p:cNvPr id="14" name="TextBox 13">
              <a:extLst>
                <a:ext uri="{FF2B5EF4-FFF2-40B4-BE49-F238E27FC236}">
                  <a16:creationId xmlns:a16="http://schemas.microsoft.com/office/drawing/2014/main" id="{192B5410-3426-6342-77FB-3A3561228FC5}"/>
                </a:ext>
              </a:extLst>
            </p:cNvPr>
            <p:cNvSpPr txBox="1"/>
            <p:nvPr/>
          </p:nvSpPr>
          <p:spPr>
            <a:xfrm>
              <a:off x="5693117" y="3801677"/>
              <a:ext cx="760889" cy="336922"/>
            </a:xfrm>
            <a:prstGeom prst="rect">
              <a:avLst/>
            </a:prstGeom>
            <a:noFill/>
          </p:spPr>
          <p:txBody>
            <a:bodyPr wrap="square" rtlCol="0">
              <a:spAutoFit/>
            </a:bodyPr>
            <a:lstStyle/>
            <a:p>
              <a:pPr algn="r"/>
              <a:r>
                <a:rPr lang="en-US" sz="1100" dirty="0"/>
                <a:t>1995</a:t>
              </a:r>
            </a:p>
          </p:txBody>
        </p:sp>
        <p:sp>
          <p:nvSpPr>
            <p:cNvPr id="15" name="TextBox 14">
              <a:extLst>
                <a:ext uri="{FF2B5EF4-FFF2-40B4-BE49-F238E27FC236}">
                  <a16:creationId xmlns:a16="http://schemas.microsoft.com/office/drawing/2014/main" id="{5BFD0FA4-0E42-D136-66CE-DD9E4DE5B932}"/>
                </a:ext>
              </a:extLst>
            </p:cNvPr>
            <p:cNvSpPr txBox="1"/>
            <p:nvPr/>
          </p:nvSpPr>
          <p:spPr>
            <a:xfrm>
              <a:off x="6222052" y="3780798"/>
              <a:ext cx="807780" cy="336922"/>
            </a:xfrm>
            <a:prstGeom prst="rect">
              <a:avLst/>
            </a:prstGeom>
            <a:noFill/>
          </p:spPr>
          <p:txBody>
            <a:bodyPr wrap="square" rtlCol="0">
              <a:spAutoFit/>
            </a:bodyPr>
            <a:lstStyle/>
            <a:p>
              <a:pPr algn="r"/>
              <a:r>
                <a:rPr lang="en-US" sz="1100" dirty="0"/>
                <a:t>1996</a:t>
              </a:r>
            </a:p>
          </p:txBody>
        </p:sp>
        <p:sp>
          <p:nvSpPr>
            <p:cNvPr id="16" name="TextBox 15">
              <a:extLst>
                <a:ext uri="{FF2B5EF4-FFF2-40B4-BE49-F238E27FC236}">
                  <a16:creationId xmlns:a16="http://schemas.microsoft.com/office/drawing/2014/main" id="{C326060A-4635-0B23-A28D-36A51585B124}"/>
                </a:ext>
              </a:extLst>
            </p:cNvPr>
            <p:cNvSpPr txBox="1"/>
            <p:nvPr/>
          </p:nvSpPr>
          <p:spPr>
            <a:xfrm>
              <a:off x="7558763" y="3801677"/>
              <a:ext cx="793903" cy="336922"/>
            </a:xfrm>
            <a:prstGeom prst="rect">
              <a:avLst/>
            </a:prstGeom>
            <a:noFill/>
          </p:spPr>
          <p:txBody>
            <a:bodyPr wrap="square" rtlCol="0">
              <a:spAutoFit/>
            </a:bodyPr>
            <a:lstStyle/>
            <a:p>
              <a:pPr algn="r"/>
              <a:r>
                <a:rPr lang="en-US" sz="1100" dirty="0"/>
                <a:t>2022</a:t>
              </a:r>
            </a:p>
          </p:txBody>
        </p:sp>
      </p:grpSp>
      <p:pic>
        <p:nvPicPr>
          <p:cNvPr id="6" name="Picture 5">
            <a:extLst>
              <a:ext uri="{FF2B5EF4-FFF2-40B4-BE49-F238E27FC236}">
                <a16:creationId xmlns:a16="http://schemas.microsoft.com/office/drawing/2014/main" id="{0E833872-0315-2754-919B-2FC624AD296A}"/>
              </a:ext>
            </a:extLst>
          </p:cNvPr>
          <p:cNvPicPr>
            <a:picLocks noChangeAspect="1"/>
          </p:cNvPicPr>
          <p:nvPr/>
        </p:nvPicPr>
        <p:blipFill>
          <a:blip r:embed="rId23"/>
          <a:stretch>
            <a:fillRect/>
          </a:stretch>
        </p:blipFill>
        <p:spPr>
          <a:xfrm>
            <a:off x="6404715" y="2537006"/>
            <a:ext cx="6067680" cy="4334057"/>
          </a:xfrm>
          <a:prstGeom prst="rect">
            <a:avLst/>
          </a:prstGeom>
        </p:spPr>
      </p:pic>
      <p:sp>
        <p:nvSpPr>
          <p:cNvPr id="49" name="TextBox 48">
            <a:extLst>
              <a:ext uri="{FF2B5EF4-FFF2-40B4-BE49-F238E27FC236}">
                <a16:creationId xmlns:a16="http://schemas.microsoft.com/office/drawing/2014/main" id="{EC314BFF-A9E5-FBA4-15C4-A0D60D81DB13}"/>
              </a:ext>
            </a:extLst>
          </p:cNvPr>
          <p:cNvSpPr txBox="1"/>
          <p:nvPr/>
        </p:nvSpPr>
        <p:spPr>
          <a:xfrm>
            <a:off x="296505" y="5070401"/>
            <a:ext cx="1173026" cy="646331"/>
          </a:xfrm>
          <a:prstGeom prst="rect">
            <a:avLst/>
          </a:prstGeom>
          <a:noFill/>
        </p:spPr>
        <p:txBody>
          <a:bodyPr wrap="square" rtlCol="0">
            <a:spAutoFit/>
          </a:bodyPr>
          <a:lstStyle/>
          <a:p>
            <a:pPr algn="ctr"/>
            <a:r>
              <a:rPr lang="en-US" dirty="0">
                <a:solidFill>
                  <a:schemeClr val="accent1"/>
                </a:solidFill>
              </a:rPr>
              <a:t> “average GDP”</a:t>
            </a:r>
          </a:p>
        </p:txBody>
      </p:sp>
      <p:sp>
        <p:nvSpPr>
          <p:cNvPr id="50" name="TextBox 49">
            <a:extLst>
              <a:ext uri="{FF2B5EF4-FFF2-40B4-BE49-F238E27FC236}">
                <a16:creationId xmlns:a16="http://schemas.microsoft.com/office/drawing/2014/main" id="{E78E27D6-B297-3279-D0B9-7C858AE53A81}"/>
              </a:ext>
            </a:extLst>
          </p:cNvPr>
          <p:cNvSpPr txBox="1"/>
          <p:nvPr/>
        </p:nvSpPr>
        <p:spPr>
          <a:xfrm>
            <a:off x="619326" y="5829146"/>
            <a:ext cx="1173026" cy="923330"/>
          </a:xfrm>
          <a:prstGeom prst="rect">
            <a:avLst/>
          </a:prstGeom>
          <a:noFill/>
        </p:spPr>
        <p:txBody>
          <a:bodyPr wrap="square" rtlCol="0">
            <a:spAutoFit/>
          </a:bodyPr>
          <a:lstStyle/>
          <a:p>
            <a:pPr algn="ctr"/>
            <a:r>
              <a:rPr lang="en-US" dirty="0">
                <a:solidFill>
                  <a:schemeClr val="accent2"/>
                </a:solidFill>
              </a:rPr>
              <a:t> “average growth rate”</a:t>
            </a:r>
          </a:p>
        </p:txBody>
      </p:sp>
      <p:sp>
        <p:nvSpPr>
          <p:cNvPr id="51" name="TextBox 50">
            <a:extLst>
              <a:ext uri="{FF2B5EF4-FFF2-40B4-BE49-F238E27FC236}">
                <a16:creationId xmlns:a16="http://schemas.microsoft.com/office/drawing/2014/main" id="{3A82A2D6-CCDD-D4BF-7644-D99B21EF1EC0}"/>
              </a:ext>
            </a:extLst>
          </p:cNvPr>
          <p:cNvSpPr txBox="1"/>
          <p:nvPr/>
        </p:nvSpPr>
        <p:spPr>
          <a:xfrm>
            <a:off x="1676390" y="4628817"/>
            <a:ext cx="1173026" cy="1200329"/>
          </a:xfrm>
          <a:prstGeom prst="rect">
            <a:avLst/>
          </a:prstGeom>
          <a:noFill/>
        </p:spPr>
        <p:txBody>
          <a:bodyPr wrap="square" rtlCol="0">
            <a:spAutoFit/>
          </a:bodyPr>
          <a:lstStyle/>
          <a:p>
            <a:pPr algn="ctr"/>
            <a:r>
              <a:rPr lang="en-US" dirty="0">
                <a:solidFill>
                  <a:schemeClr val="accent5"/>
                </a:solidFill>
              </a:rPr>
              <a:t> “how well did you do in 2008?”</a:t>
            </a:r>
          </a:p>
        </p:txBody>
      </p:sp>
      <p:sp>
        <p:nvSpPr>
          <p:cNvPr id="52" name="Freeform 51">
            <a:extLst>
              <a:ext uri="{FF2B5EF4-FFF2-40B4-BE49-F238E27FC236}">
                <a16:creationId xmlns:a16="http://schemas.microsoft.com/office/drawing/2014/main" id="{92796ECD-67E3-B46B-A709-6759AD175EDD}"/>
              </a:ext>
            </a:extLst>
          </p:cNvPr>
          <p:cNvSpPr/>
          <p:nvPr/>
        </p:nvSpPr>
        <p:spPr>
          <a:xfrm>
            <a:off x="862149" y="4506686"/>
            <a:ext cx="78377" cy="653143"/>
          </a:xfrm>
          <a:custGeom>
            <a:avLst/>
            <a:gdLst>
              <a:gd name="connsiteX0" fmla="*/ 0 w 78377"/>
              <a:gd name="connsiteY0" fmla="*/ 653143 h 653143"/>
              <a:gd name="connsiteX1" fmla="*/ 78377 w 78377"/>
              <a:gd name="connsiteY1" fmla="*/ 0 h 653143"/>
            </a:gdLst>
            <a:ahLst/>
            <a:cxnLst>
              <a:cxn ang="0">
                <a:pos x="connsiteX0" y="connsiteY0"/>
              </a:cxn>
              <a:cxn ang="0">
                <a:pos x="connsiteX1" y="connsiteY1"/>
              </a:cxn>
            </a:cxnLst>
            <a:rect l="l" t="t" r="r" b="b"/>
            <a:pathLst>
              <a:path w="78377" h="653143">
                <a:moveTo>
                  <a:pt x="0" y="653143"/>
                </a:moveTo>
                <a:lnTo>
                  <a:pt x="78377" y="0"/>
                </a:ln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2">
            <a:extLst>
              <a:ext uri="{FF2B5EF4-FFF2-40B4-BE49-F238E27FC236}">
                <a16:creationId xmlns:a16="http://schemas.microsoft.com/office/drawing/2014/main" id="{6279B771-C7E5-DC1D-846B-87A3E657A0A7}"/>
              </a:ext>
            </a:extLst>
          </p:cNvPr>
          <p:cNvSpPr/>
          <p:nvPr/>
        </p:nvSpPr>
        <p:spPr>
          <a:xfrm>
            <a:off x="1123406" y="4532811"/>
            <a:ext cx="431628" cy="1347002"/>
          </a:xfrm>
          <a:custGeom>
            <a:avLst/>
            <a:gdLst>
              <a:gd name="connsiteX0" fmla="*/ 156754 w 431628"/>
              <a:gd name="connsiteY0" fmla="*/ 1319349 h 1347002"/>
              <a:gd name="connsiteX1" fmla="*/ 104503 w 431628"/>
              <a:gd name="connsiteY1" fmla="*/ 1319349 h 1347002"/>
              <a:gd name="connsiteX2" fmla="*/ 235131 w 431628"/>
              <a:gd name="connsiteY2" fmla="*/ 1031966 h 1347002"/>
              <a:gd name="connsiteX3" fmla="*/ 431074 w 431628"/>
              <a:gd name="connsiteY3" fmla="*/ 692332 h 1347002"/>
              <a:gd name="connsiteX4" fmla="*/ 169817 w 431628"/>
              <a:gd name="connsiteY4" fmla="*/ 339635 h 1347002"/>
              <a:gd name="connsiteX5" fmla="*/ 0 w 431628"/>
              <a:gd name="connsiteY5" fmla="*/ 0 h 134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1628" h="1347002">
                <a:moveTo>
                  <a:pt x="156754" y="1319349"/>
                </a:moveTo>
                <a:cubicBezTo>
                  <a:pt x="124097" y="1343297"/>
                  <a:pt x="91440" y="1367246"/>
                  <a:pt x="104503" y="1319349"/>
                </a:cubicBezTo>
                <a:cubicBezTo>
                  <a:pt x="117566" y="1271452"/>
                  <a:pt x="180703" y="1136469"/>
                  <a:pt x="235131" y="1031966"/>
                </a:cubicBezTo>
                <a:cubicBezTo>
                  <a:pt x="289560" y="927463"/>
                  <a:pt x="441960" y="807720"/>
                  <a:pt x="431074" y="692332"/>
                </a:cubicBezTo>
                <a:cubicBezTo>
                  <a:pt x="420188" y="576944"/>
                  <a:pt x="241663" y="455024"/>
                  <a:pt x="169817" y="339635"/>
                </a:cubicBezTo>
                <a:cubicBezTo>
                  <a:pt x="97971" y="224246"/>
                  <a:pt x="48985" y="112123"/>
                  <a:pt x="0" y="0"/>
                </a:cubicBezTo>
              </a:path>
            </a:pathLst>
          </a:custGeom>
          <a:noFill/>
          <a:ln>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642A93FC-E8AA-1A9A-0485-9C791370E04C}"/>
              </a:ext>
            </a:extLst>
          </p:cNvPr>
          <p:cNvSpPr/>
          <p:nvPr/>
        </p:nvSpPr>
        <p:spPr>
          <a:xfrm>
            <a:off x="1331574" y="4335105"/>
            <a:ext cx="990856" cy="453844"/>
          </a:xfrm>
          <a:custGeom>
            <a:avLst/>
            <a:gdLst>
              <a:gd name="connsiteX0" fmla="*/ 967489 w 990856"/>
              <a:gd name="connsiteY0" fmla="*/ 276084 h 453844"/>
              <a:gd name="connsiteX1" fmla="*/ 915237 w 990856"/>
              <a:gd name="connsiteY1" fmla="*/ 1764 h 453844"/>
              <a:gd name="connsiteX2" fmla="*/ 340472 w 990856"/>
              <a:gd name="connsiteY2" fmla="*/ 393649 h 453844"/>
              <a:gd name="connsiteX3" fmla="*/ 53089 w 990856"/>
              <a:gd name="connsiteY3" fmla="*/ 432838 h 453844"/>
              <a:gd name="connsiteX4" fmla="*/ 837 w 990856"/>
              <a:gd name="connsiteY4" fmla="*/ 197706 h 453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856" h="453844">
                <a:moveTo>
                  <a:pt x="967489" y="276084"/>
                </a:moveTo>
                <a:cubicBezTo>
                  <a:pt x="993614" y="129127"/>
                  <a:pt x="1019740" y="-17830"/>
                  <a:pt x="915237" y="1764"/>
                </a:cubicBezTo>
                <a:cubicBezTo>
                  <a:pt x="810734" y="21358"/>
                  <a:pt x="484163" y="321803"/>
                  <a:pt x="340472" y="393649"/>
                </a:cubicBezTo>
                <a:cubicBezTo>
                  <a:pt x="196781" y="465495"/>
                  <a:pt x="109695" y="465495"/>
                  <a:pt x="53089" y="432838"/>
                </a:cubicBezTo>
                <a:cubicBezTo>
                  <a:pt x="-3517" y="400181"/>
                  <a:pt x="-1340" y="298943"/>
                  <a:pt x="837" y="197706"/>
                </a:cubicBezTo>
              </a:path>
            </a:pathLst>
          </a:custGeom>
          <a:noFill/>
          <a:ln>
            <a:solidFill>
              <a:schemeClr val="accent5"/>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20988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7AF017-C0EC-587B-95F6-ADE737B123F0}"/>
              </a:ext>
            </a:extLst>
          </p:cNvPr>
          <p:cNvPicPr>
            <a:picLocks noChangeAspect="1"/>
          </p:cNvPicPr>
          <p:nvPr/>
        </p:nvPicPr>
        <p:blipFill>
          <a:blip r:embed="rId3"/>
          <a:stretch>
            <a:fillRect/>
          </a:stretch>
        </p:blipFill>
        <p:spPr>
          <a:xfrm>
            <a:off x="6260329" y="2678722"/>
            <a:ext cx="5895247" cy="4174578"/>
          </a:xfrm>
          <a:prstGeom prst="rect">
            <a:avLst/>
          </a:prstGeom>
        </p:spPr>
      </p:pic>
      <p:sp>
        <p:nvSpPr>
          <p:cNvPr id="2" name="Title 1">
            <a:extLst>
              <a:ext uri="{FF2B5EF4-FFF2-40B4-BE49-F238E27FC236}">
                <a16:creationId xmlns:a16="http://schemas.microsoft.com/office/drawing/2014/main" id="{9379EF7D-BE00-83B6-11C5-DDD9A6D2FD15}"/>
              </a:ext>
            </a:extLst>
          </p:cNvPr>
          <p:cNvSpPr>
            <a:spLocks noGrp="1"/>
          </p:cNvSpPr>
          <p:nvPr>
            <p:ph type="title"/>
          </p:nvPr>
        </p:nvSpPr>
        <p:spPr>
          <a:xfrm>
            <a:off x="657117" y="130047"/>
            <a:ext cx="6174549" cy="1842117"/>
          </a:xfrm>
        </p:spPr>
        <p:txBody>
          <a:bodyPr>
            <a:normAutofit fontScale="90000"/>
          </a:bodyPr>
          <a:lstStyle/>
          <a:p>
            <a:r>
              <a:rPr lang="en-US" dirty="0"/>
              <a:t>Just these </a:t>
            </a:r>
            <a:r>
              <a:rPr lang="en-US" b="1" dirty="0"/>
              <a:t>three</a:t>
            </a:r>
            <a:r>
              <a:rPr lang="en-US" dirty="0"/>
              <a:t> features work pretty well!</a:t>
            </a:r>
          </a:p>
        </p:txBody>
      </p:sp>
      <p:pic>
        <p:nvPicPr>
          <p:cNvPr id="4" name="Picture 3">
            <a:extLst>
              <a:ext uri="{FF2B5EF4-FFF2-40B4-BE49-F238E27FC236}">
                <a16:creationId xmlns:a16="http://schemas.microsoft.com/office/drawing/2014/main" id="{138E6D52-767E-BE16-D649-340135C2D0DE}"/>
              </a:ext>
            </a:extLst>
          </p:cNvPr>
          <p:cNvPicPr>
            <a:picLocks noChangeAspect="1"/>
          </p:cNvPicPr>
          <p:nvPr/>
        </p:nvPicPr>
        <p:blipFill>
          <a:blip r:embed="rId4"/>
          <a:stretch>
            <a:fillRect/>
          </a:stretch>
        </p:blipFill>
        <p:spPr>
          <a:xfrm>
            <a:off x="11309123" y="132483"/>
            <a:ext cx="704289" cy="1786167"/>
          </a:xfrm>
          <a:prstGeom prst="rect">
            <a:avLst/>
          </a:prstGeom>
        </p:spPr>
      </p:pic>
      <p:sp>
        <p:nvSpPr>
          <p:cNvPr id="5" name="TextBox 4">
            <a:extLst>
              <a:ext uri="{FF2B5EF4-FFF2-40B4-BE49-F238E27FC236}">
                <a16:creationId xmlns:a16="http://schemas.microsoft.com/office/drawing/2014/main" id="{A72CA7B4-EE65-1682-6C15-1F13E79EBCF6}"/>
              </a:ext>
            </a:extLst>
          </p:cNvPr>
          <p:cNvSpPr txBox="1"/>
          <p:nvPr/>
        </p:nvSpPr>
        <p:spPr>
          <a:xfrm>
            <a:off x="7857897" y="363846"/>
            <a:ext cx="3451226" cy="1323439"/>
          </a:xfrm>
          <a:prstGeom prst="rect">
            <a:avLst/>
          </a:prstGeom>
          <a:noFill/>
        </p:spPr>
        <p:txBody>
          <a:bodyPr wrap="square" rtlCol="0">
            <a:spAutoFit/>
          </a:bodyPr>
          <a:lstStyle/>
          <a:p>
            <a:pPr algn="r"/>
            <a:r>
              <a:rPr lang="en-US" sz="2000" dirty="0">
                <a:solidFill>
                  <a:srgbClr val="0070C0"/>
                </a:solidFill>
              </a:rPr>
              <a:t>If you tell me just these three numbers about a country, I can decently  reconstruct that country’s data!</a:t>
            </a:r>
          </a:p>
        </p:txBody>
      </p:sp>
      <p:grpSp>
        <p:nvGrpSpPr>
          <p:cNvPr id="7" name="Group 6">
            <a:extLst>
              <a:ext uri="{FF2B5EF4-FFF2-40B4-BE49-F238E27FC236}">
                <a16:creationId xmlns:a16="http://schemas.microsoft.com/office/drawing/2014/main" id="{CCC999A7-4E33-AA0E-089F-671F176DBE4E}"/>
              </a:ext>
            </a:extLst>
          </p:cNvPr>
          <p:cNvGrpSpPr/>
          <p:nvPr/>
        </p:nvGrpSpPr>
        <p:grpSpPr>
          <a:xfrm>
            <a:off x="-196501" y="1687285"/>
            <a:ext cx="6520147" cy="2760983"/>
            <a:chOff x="3635524" y="3204497"/>
            <a:chExt cx="8397149" cy="3555807"/>
          </a:xfrm>
        </p:grpSpPr>
        <p:grpSp>
          <p:nvGrpSpPr>
            <p:cNvPr id="8" name="Group 7">
              <a:extLst>
                <a:ext uri="{FF2B5EF4-FFF2-40B4-BE49-F238E27FC236}">
                  <a16:creationId xmlns:a16="http://schemas.microsoft.com/office/drawing/2014/main" id="{957EFCA0-F5CA-0FD9-3908-5E7976CD4877}"/>
                </a:ext>
              </a:extLst>
            </p:cNvPr>
            <p:cNvGrpSpPr/>
            <p:nvPr/>
          </p:nvGrpSpPr>
          <p:grpSpPr>
            <a:xfrm>
              <a:off x="4943292" y="3204497"/>
              <a:ext cx="7089381" cy="3555807"/>
              <a:chOff x="1700677" y="1358539"/>
              <a:chExt cx="9653123" cy="4841698"/>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5BB94A6-7E20-03A9-68D2-9968044B55F5}"/>
                      </a:ext>
                    </a:extLst>
                  </p:cNvPr>
                  <p:cNvSpPr/>
                  <p:nvPr/>
                </p:nvSpPr>
                <p:spPr>
                  <a:xfrm>
                    <a:off x="1700677" y="2622840"/>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17" name="Rectangle 16">
                    <a:extLst>
                      <a:ext uri="{FF2B5EF4-FFF2-40B4-BE49-F238E27FC236}">
                        <a16:creationId xmlns:a16="http://schemas.microsoft.com/office/drawing/2014/main" id="{25BB94A6-7E20-03A9-68D2-9968044B55F5}"/>
                      </a:ext>
                    </a:extLst>
                  </p:cNvPr>
                  <p:cNvSpPr>
                    <a:spLocks noRot="1" noChangeAspect="1" noMove="1" noResize="1" noEditPoints="1" noAdjustHandles="1" noChangeArrowheads="1" noChangeShapeType="1" noTextEdit="1"/>
                  </p:cNvSpPr>
                  <p:nvPr/>
                </p:nvSpPr>
                <p:spPr>
                  <a:xfrm>
                    <a:off x="1700677" y="2622840"/>
                    <a:ext cx="1036051" cy="3577397"/>
                  </a:xfrm>
                  <a:prstGeom prst="rect">
                    <a:avLst/>
                  </a:prstGeom>
                  <a:blipFill>
                    <a:blip r:embed="rId5"/>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D871F46A-20DD-6858-30EE-7C0B7E94B591}"/>
                      </a:ext>
                    </a:extLst>
                  </p:cNvPr>
                  <p:cNvSpPr/>
                  <p:nvPr/>
                </p:nvSpPr>
                <p:spPr>
                  <a:xfrm>
                    <a:off x="2902537" y="2635299"/>
                    <a:ext cx="312201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18" name="Rectangle 17">
                    <a:extLst>
                      <a:ext uri="{FF2B5EF4-FFF2-40B4-BE49-F238E27FC236}">
                        <a16:creationId xmlns:a16="http://schemas.microsoft.com/office/drawing/2014/main" id="{D871F46A-20DD-6858-30EE-7C0B7E94B591}"/>
                      </a:ext>
                    </a:extLst>
                  </p:cNvPr>
                  <p:cNvSpPr>
                    <a:spLocks noRot="1" noChangeAspect="1" noMove="1" noResize="1" noEditPoints="1" noAdjustHandles="1" noChangeArrowheads="1" noChangeShapeType="1" noTextEdit="1"/>
                  </p:cNvSpPr>
                  <p:nvPr/>
                </p:nvSpPr>
                <p:spPr>
                  <a:xfrm>
                    <a:off x="2902537" y="2635299"/>
                    <a:ext cx="3122018" cy="95725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0E2507-2355-2091-225A-F57CE8B84D14}"/>
                      </a:ext>
                    </a:extLst>
                  </p:cNvPr>
                  <p:cNvSpPr txBox="1"/>
                  <p:nvPr/>
                </p:nvSpPr>
                <p:spPr>
                  <a:xfrm>
                    <a:off x="6116191" y="2936227"/>
                    <a:ext cx="942159" cy="755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250E2507-2355-2091-225A-F57CE8B84D14}"/>
                      </a:ext>
                    </a:extLst>
                  </p:cNvPr>
                  <p:cNvSpPr txBox="1">
                    <a:spLocks noRot="1" noChangeAspect="1" noMove="1" noResize="1" noEditPoints="1" noAdjustHandles="1" noChangeArrowheads="1" noChangeShapeType="1" noTextEdit="1"/>
                  </p:cNvSpPr>
                  <p:nvPr/>
                </p:nvSpPr>
                <p:spPr>
                  <a:xfrm>
                    <a:off x="6116191" y="2936227"/>
                    <a:ext cx="942159" cy="755609"/>
                  </a:xfrm>
                  <a:prstGeom prst="rect">
                    <a:avLst/>
                  </a:prstGeom>
                  <a:blipFill>
                    <a:blip r:embed="rId7"/>
                    <a:stretch>
                      <a:fillRect/>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BF0EC60D-20A8-92D1-E03B-E8C3F1F29FAB}"/>
                  </a:ext>
                </a:extLst>
              </p:cNvPr>
              <p:cNvGrpSpPr/>
              <p:nvPr/>
            </p:nvGrpSpPr>
            <p:grpSpPr>
              <a:xfrm>
                <a:off x="7104682" y="2720092"/>
                <a:ext cx="4249118" cy="3443049"/>
                <a:chOff x="1846882" y="2597802"/>
                <a:chExt cx="4249118" cy="2693288"/>
              </a:xfrm>
            </p:grpSpPr>
            <p:sp>
              <p:nvSpPr>
                <p:cNvPr id="29" name="Rectangle 28">
                  <a:extLst>
                    <a:ext uri="{FF2B5EF4-FFF2-40B4-BE49-F238E27FC236}">
                      <a16:creationId xmlns:a16="http://schemas.microsoft.com/office/drawing/2014/main" id="{05CC9365-6391-6BB0-DC9A-F0643242FF52}"/>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07A6CB6-5F84-491B-DA82-B8EC83C4E27D}"/>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1,1</m:t>
                                </m:r>
                              </m:sub>
                            </m:sSub>
                          </m:oMath>
                        </m:oMathPara>
                      </a14:m>
                      <a:endParaRPr lang="en-US" sz="1600" dirty="0">
                        <a:solidFill>
                          <a:schemeClr val="bg1"/>
                        </a:solidFill>
                      </a:endParaRPr>
                    </a:p>
                  </p:txBody>
                </p:sp>
              </mc:Choice>
              <mc:Fallback xmlns="">
                <p:sp>
                  <p:nvSpPr>
                    <p:cNvPr id="30" name="TextBox 29">
                      <a:extLst>
                        <a:ext uri="{FF2B5EF4-FFF2-40B4-BE49-F238E27FC236}">
                          <a16:creationId xmlns:a16="http://schemas.microsoft.com/office/drawing/2014/main" id="{007A6CB6-5F84-491B-DA82-B8EC83C4E27D}"/>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8"/>
                      <a:stretch>
                        <a:fillRect l="-10000" r="-3333" b="-9091"/>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A8553449-7568-F9F3-E92B-E3C1EBE068EB}"/>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DC50B5A-142D-EEA3-B306-DC183D852F6B}"/>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1,2</m:t>
                                </m:r>
                              </m:sub>
                            </m:sSub>
                          </m:oMath>
                        </m:oMathPara>
                      </a14:m>
                      <a:endParaRPr lang="en-US" sz="1600" dirty="0">
                        <a:solidFill>
                          <a:schemeClr val="bg1"/>
                        </a:solidFill>
                      </a:endParaRPr>
                    </a:p>
                  </p:txBody>
                </p:sp>
              </mc:Choice>
              <mc:Fallback xmlns="">
                <p:sp>
                  <p:nvSpPr>
                    <p:cNvPr id="32" name="TextBox 31">
                      <a:extLst>
                        <a:ext uri="{FF2B5EF4-FFF2-40B4-BE49-F238E27FC236}">
                          <a16:creationId xmlns:a16="http://schemas.microsoft.com/office/drawing/2014/main" id="{ADC50B5A-142D-EEA3-B306-DC183D852F6B}"/>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9"/>
                      <a:stretch>
                        <a:fillRect l="-10000"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37166F0-4D8A-0063-91D6-CF3A24882B08}"/>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3" name="TextBox 32">
                      <a:extLst>
                        <a:ext uri="{FF2B5EF4-FFF2-40B4-BE49-F238E27FC236}">
                          <a16:creationId xmlns:a16="http://schemas.microsoft.com/office/drawing/2014/main" id="{C37166F0-4D8A-0063-91D6-CF3A24882B08}"/>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10"/>
                      <a:stretch>
                        <a:fillRect l="-967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94EDC7A-A41E-6C4D-71BA-1BB336C41B41}"/>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2,1</m:t>
                                </m:r>
                              </m:sub>
                            </m:sSub>
                          </m:oMath>
                        </m:oMathPara>
                      </a14:m>
                      <a:endParaRPr lang="en-US" sz="1600" dirty="0">
                        <a:solidFill>
                          <a:schemeClr val="bg1"/>
                        </a:solidFill>
                      </a:endParaRPr>
                    </a:p>
                  </p:txBody>
                </p:sp>
              </mc:Choice>
              <mc:Fallback xmlns="">
                <p:sp>
                  <p:nvSpPr>
                    <p:cNvPr id="34" name="TextBox 33">
                      <a:extLst>
                        <a:ext uri="{FF2B5EF4-FFF2-40B4-BE49-F238E27FC236}">
                          <a16:creationId xmlns:a16="http://schemas.microsoft.com/office/drawing/2014/main" id="{F94EDC7A-A41E-6C4D-71BA-1BB336C41B41}"/>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11"/>
                      <a:stretch>
                        <a:fillRect l="-6452"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FEC892-AB47-5C83-1010-8808D2B893E5}"/>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2,2</m:t>
                                </m:r>
                              </m:sub>
                            </m:sSub>
                          </m:oMath>
                        </m:oMathPara>
                      </a14:m>
                      <a:endParaRPr lang="en-US" sz="1600" dirty="0">
                        <a:solidFill>
                          <a:schemeClr val="bg1"/>
                        </a:solidFill>
                      </a:endParaRPr>
                    </a:p>
                  </p:txBody>
                </p:sp>
              </mc:Choice>
              <mc:Fallback xmlns="">
                <p:sp>
                  <p:nvSpPr>
                    <p:cNvPr id="35" name="TextBox 34">
                      <a:extLst>
                        <a:ext uri="{FF2B5EF4-FFF2-40B4-BE49-F238E27FC236}">
                          <a16:creationId xmlns:a16="http://schemas.microsoft.com/office/drawing/2014/main" id="{EBFEC892-AB47-5C83-1010-8808D2B893E5}"/>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2"/>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4F3EB74-4B6F-FF40-4E4B-5A24309FCC88}"/>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6" name="TextBox 35">
                      <a:extLst>
                        <a:ext uri="{FF2B5EF4-FFF2-40B4-BE49-F238E27FC236}">
                          <a16:creationId xmlns:a16="http://schemas.microsoft.com/office/drawing/2014/main" id="{A4F3EB74-4B6F-FF40-4E4B-5A24309FCC88}"/>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3"/>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520BEE8-D8FD-33B6-75BD-A268F06DA926}"/>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3,1</m:t>
                                </m:r>
                              </m:sub>
                            </m:sSub>
                          </m:oMath>
                        </m:oMathPara>
                      </a14:m>
                      <a:endParaRPr lang="en-US" sz="1600" dirty="0">
                        <a:solidFill>
                          <a:schemeClr val="bg1"/>
                        </a:solidFill>
                      </a:endParaRPr>
                    </a:p>
                  </p:txBody>
                </p:sp>
              </mc:Choice>
              <mc:Fallback xmlns="">
                <p:sp>
                  <p:nvSpPr>
                    <p:cNvPr id="37" name="TextBox 36">
                      <a:extLst>
                        <a:ext uri="{FF2B5EF4-FFF2-40B4-BE49-F238E27FC236}">
                          <a16:creationId xmlns:a16="http://schemas.microsoft.com/office/drawing/2014/main" id="{D520BEE8-D8FD-33B6-75BD-A268F06DA926}"/>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4"/>
                      <a:stretch>
                        <a:fillRect l="-6452"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E04423-F711-9A2B-CECF-1B0F0B701798}"/>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3,2</m:t>
                                </m:r>
                              </m:sub>
                            </m:sSub>
                          </m:oMath>
                        </m:oMathPara>
                      </a14:m>
                      <a:endParaRPr lang="en-US" sz="1600" dirty="0">
                        <a:solidFill>
                          <a:schemeClr val="bg1"/>
                        </a:solidFill>
                      </a:endParaRPr>
                    </a:p>
                  </p:txBody>
                </p:sp>
              </mc:Choice>
              <mc:Fallback xmlns="">
                <p:sp>
                  <p:nvSpPr>
                    <p:cNvPr id="38" name="TextBox 37">
                      <a:extLst>
                        <a:ext uri="{FF2B5EF4-FFF2-40B4-BE49-F238E27FC236}">
                          <a16:creationId xmlns:a16="http://schemas.microsoft.com/office/drawing/2014/main" id="{62E04423-F711-9A2B-CECF-1B0F0B701798}"/>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5"/>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4D87BB7-FA10-EC99-0531-A3916A36A12A}"/>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9" name="TextBox 38">
                      <a:extLst>
                        <a:ext uri="{FF2B5EF4-FFF2-40B4-BE49-F238E27FC236}">
                          <a16:creationId xmlns:a16="http://schemas.microsoft.com/office/drawing/2014/main" id="{04D87BB7-FA10-EC99-0531-A3916A36A12A}"/>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6"/>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FD3CFF-D245-9F65-EA90-26697C6E6C03}"/>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40" name="TextBox 39">
                      <a:extLst>
                        <a:ext uri="{FF2B5EF4-FFF2-40B4-BE49-F238E27FC236}">
                          <a16:creationId xmlns:a16="http://schemas.microsoft.com/office/drawing/2014/main" id="{83FD3CFF-D245-9F65-EA90-26697C6E6C03}"/>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7"/>
                      <a:stretch>
                        <a:fillRect l="-9677"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015AFA5-D3D6-0ACD-A74D-45BED5173B3F}"/>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41" name="TextBox 40">
                      <a:extLst>
                        <a:ext uri="{FF2B5EF4-FFF2-40B4-BE49-F238E27FC236}">
                          <a16:creationId xmlns:a16="http://schemas.microsoft.com/office/drawing/2014/main" id="{3015AFA5-D3D6-0ACD-A74D-45BED5173B3F}"/>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8"/>
                      <a:stretch>
                        <a:fillRect l="-13333"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1B631D1-BAF4-3429-0A35-1C96287533AC}"/>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42" name="TextBox 41">
                      <a:extLst>
                        <a:ext uri="{FF2B5EF4-FFF2-40B4-BE49-F238E27FC236}">
                          <a16:creationId xmlns:a16="http://schemas.microsoft.com/office/drawing/2014/main" id="{51B631D1-BAF4-3429-0A35-1C96287533AC}"/>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9"/>
                      <a:stretch>
                        <a:fillRect l="-12903"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578D74B-7025-0996-15BB-B94E2B33188F}"/>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3" name="TextBox 42">
                      <a:extLst>
                        <a:ext uri="{FF2B5EF4-FFF2-40B4-BE49-F238E27FC236}">
                          <a16:creationId xmlns:a16="http://schemas.microsoft.com/office/drawing/2014/main" id="{2578D74B-7025-0996-15BB-B94E2B33188F}"/>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3499DF7-C507-ED19-ABFC-B45F4C4043B8}"/>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4" name="TextBox 43">
                      <a:extLst>
                        <a:ext uri="{FF2B5EF4-FFF2-40B4-BE49-F238E27FC236}">
                          <a16:creationId xmlns:a16="http://schemas.microsoft.com/office/drawing/2014/main" id="{E3499DF7-C507-ED19-ABFC-B45F4C4043B8}"/>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D8A27FE-9F25-EFC7-2980-9D15FE25282A}"/>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5" name="TextBox 44">
                      <a:extLst>
                        <a:ext uri="{FF2B5EF4-FFF2-40B4-BE49-F238E27FC236}">
                          <a16:creationId xmlns:a16="http://schemas.microsoft.com/office/drawing/2014/main" id="{DD8A27FE-9F25-EFC7-2980-9D15FE25282A}"/>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BF4FF90-4CD7-32C1-8A72-028F2D7E68CE}"/>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8BF4FF90-4CD7-32C1-8A72-028F2D7E68CE}"/>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3"/>
                      <a:stretch>
                        <a:fillRect/>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1508616A-BC33-3E72-6A6D-698AB027711A}"/>
                  </a:ext>
                </a:extLst>
              </p:cNvPr>
              <p:cNvSpPr txBox="1"/>
              <p:nvPr/>
            </p:nvSpPr>
            <p:spPr>
              <a:xfrm>
                <a:off x="6495163" y="5620443"/>
                <a:ext cx="633048" cy="458763"/>
              </a:xfrm>
              <a:prstGeom prst="rect">
                <a:avLst/>
              </a:prstGeom>
              <a:noFill/>
            </p:spPr>
            <p:txBody>
              <a:bodyPr wrap="none" rtlCol="0">
                <a:spAutoFit/>
              </a:bodyPr>
              <a:lstStyle/>
              <a:p>
                <a:r>
                  <a:rPr lang="en-US" sz="1050" dirty="0"/>
                  <a:t>UK</a:t>
                </a:r>
              </a:p>
            </p:txBody>
          </p:sp>
          <p:sp>
            <p:nvSpPr>
              <p:cNvPr id="22" name="TextBox 21">
                <a:extLst>
                  <a:ext uri="{FF2B5EF4-FFF2-40B4-BE49-F238E27FC236}">
                    <a16:creationId xmlns:a16="http://schemas.microsoft.com/office/drawing/2014/main" id="{8D338319-7CBB-B358-00FE-AA5CBA0A7DE0}"/>
                  </a:ext>
                </a:extLst>
              </p:cNvPr>
              <p:cNvSpPr txBox="1"/>
              <p:nvPr/>
            </p:nvSpPr>
            <p:spPr>
              <a:xfrm>
                <a:off x="5201762" y="4333775"/>
                <a:ext cx="1908362" cy="445271"/>
              </a:xfrm>
              <a:prstGeom prst="rect">
                <a:avLst/>
              </a:prstGeom>
              <a:noFill/>
            </p:spPr>
            <p:txBody>
              <a:bodyPr wrap="square" rtlCol="0">
                <a:spAutoFit/>
              </a:bodyPr>
              <a:lstStyle/>
              <a:p>
                <a:pPr algn="r"/>
                <a:r>
                  <a:rPr lang="en-US" sz="1050" dirty="0"/>
                  <a:t>Netherlands</a:t>
                </a:r>
              </a:p>
            </p:txBody>
          </p:sp>
          <p:sp>
            <p:nvSpPr>
              <p:cNvPr id="23" name="TextBox 22">
                <a:extLst>
                  <a:ext uri="{FF2B5EF4-FFF2-40B4-BE49-F238E27FC236}">
                    <a16:creationId xmlns:a16="http://schemas.microsoft.com/office/drawing/2014/main" id="{49A0C023-EEDB-6291-F0F0-AD9CDB060E9B}"/>
                  </a:ext>
                </a:extLst>
              </p:cNvPr>
              <p:cNvSpPr txBox="1"/>
              <p:nvPr/>
            </p:nvSpPr>
            <p:spPr>
              <a:xfrm>
                <a:off x="6957439" y="2266153"/>
                <a:ext cx="1046722" cy="458763"/>
              </a:xfrm>
              <a:prstGeom prst="rect">
                <a:avLst/>
              </a:prstGeom>
              <a:noFill/>
            </p:spPr>
            <p:txBody>
              <a:bodyPr wrap="square" rtlCol="0">
                <a:spAutoFit/>
              </a:bodyPr>
              <a:lstStyle/>
              <a:p>
                <a:pPr algn="r"/>
                <a:r>
                  <a:rPr lang="en-US" sz="1100" dirty="0"/>
                  <a:t>1995</a:t>
                </a:r>
              </a:p>
            </p:txBody>
          </p:sp>
          <p:sp>
            <p:nvSpPr>
              <p:cNvPr id="24" name="TextBox 23">
                <a:extLst>
                  <a:ext uri="{FF2B5EF4-FFF2-40B4-BE49-F238E27FC236}">
                    <a16:creationId xmlns:a16="http://schemas.microsoft.com/office/drawing/2014/main" id="{38B5D0C6-AD06-E195-B010-22BFF897512A}"/>
                  </a:ext>
                </a:extLst>
              </p:cNvPr>
              <p:cNvSpPr txBox="1"/>
              <p:nvPr/>
            </p:nvSpPr>
            <p:spPr>
              <a:xfrm>
                <a:off x="7677650" y="2237726"/>
                <a:ext cx="1046722" cy="458763"/>
              </a:xfrm>
              <a:prstGeom prst="rect">
                <a:avLst/>
              </a:prstGeom>
              <a:noFill/>
            </p:spPr>
            <p:txBody>
              <a:bodyPr wrap="square" rtlCol="0">
                <a:spAutoFit/>
              </a:bodyPr>
              <a:lstStyle/>
              <a:p>
                <a:pPr algn="r"/>
                <a:r>
                  <a:rPr lang="en-US" sz="1100" dirty="0"/>
                  <a:t>1996</a:t>
                </a:r>
              </a:p>
            </p:txBody>
          </p:sp>
          <p:sp>
            <p:nvSpPr>
              <p:cNvPr id="25" name="TextBox 24">
                <a:extLst>
                  <a:ext uri="{FF2B5EF4-FFF2-40B4-BE49-F238E27FC236}">
                    <a16:creationId xmlns:a16="http://schemas.microsoft.com/office/drawing/2014/main" id="{A6812297-1A11-6E69-4AD4-24BC93C33070}"/>
                  </a:ext>
                </a:extLst>
              </p:cNvPr>
              <p:cNvSpPr txBox="1"/>
              <p:nvPr/>
            </p:nvSpPr>
            <p:spPr>
              <a:xfrm>
                <a:off x="10260330" y="2251157"/>
                <a:ext cx="1046722" cy="458763"/>
              </a:xfrm>
              <a:prstGeom prst="rect">
                <a:avLst/>
              </a:prstGeom>
              <a:noFill/>
            </p:spPr>
            <p:txBody>
              <a:bodyPr wrap="square" rtlCol="0">
                <a:spAutoFit/>
              </a:bodyPr>
              <a:lstStyle/>
              <a:p>
                <a:pPr algn="r"/>
                <a:r>
                  <a:rPr lang="en-US" sz="1100" dirty="0"/>
                  <a:t>2022</a:t>
                </a:r>
              </a:p>
            </p:txBody>
          </p:sp>
          <p:sp>
            <p:nvSpPr>
              <p:cNvPr id="26" name="Oval 25">
                <a:extLst>
                  <a:ext uri="{FF2B5EF4-FFF2-40B4-BE49-F238E27FC236}">
                    <a16:creationId xmlns:a16="http://schemas.microsoft.com/office/drawing/2014/main" id="{D5737BA5-B55C-5A4F-EA99-6FC714692528}"/>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TextBox 26">
                <a:extLst>
                  <a:ext uri="{FF2B5EF4-FFF2-40B4-BE49-F238E27FC236}">
                    <a16:creationId xmlns:a16="http://schemas.microsoft.com/office/drawing/2014/main" id="{1AD33FD5-44EA-FAA1-A5F9-AA3F35B996DA}"/>
                  </a:ext>
                </a:extLst>
              </p:cNvPr>
              <p:cNvSpPr txBox="1"/>
              <p:nvPr/>
            </p:nvSpPr>
            <p:spPr>
              <a:xfrm>
                <a:off x="8724170" y="1358539"/>
                <a:ext cx="2514114" cy="755609"/>
              </a:xfrm>
              <a:prstGeom prst="rect">
                <a:avLst/>
              </a:prstGeom>
              <a:noFill/>
            </p:spPr>
            <p:txBody>
              <a:bodyPr wrap="square" rtlCol="0">
                <a:spAutoFit/>
              </a:bodyPr>
              <a:lstStyle/>
              <a:p>
                <a:pPr algn="ctr"/>
                <a:r>
                  <a:rPr lang="en-US" sz="1100" dirty="0">
                    <a:solidFill>
                      <a:schemeClr val="accent2"/>
                    </a:solidFill>
                  </a:rPr>
                  <a:t>GDP of Netherlands in 1996</a:t>
                </a:r>
              </a:p>
            </p:txBody>
          </p:sp>
          <p:cxnSp>
            <p:nvCxnSpPr>
              <p:cNvPr id="28" name="Curved Connector 27">
                <a:extLst>
                  <a:ext uri="{FF2B5EF4-FFF2-40B4-BE49-F238E27FC236}">
                    <a16:creationId xmlns:a16="http://schemas.microsoft.com/office/drawing/2014/main" id="{A0CF4F3E-73FC-8659-92F4-D4AD22D94E04}"/>
                  </a:ext>
                </a:extLst>
              </p:cNvPr>
              <p:cNvCxnSpPr>
                <a:cxnSpLocks/>
                <a:stCxn id="27" idx="1"/>
                <a:endCxn id="26" idx="6"/>
              </p:cNvCxnSpPr>
              <p:nvPr/>
            </p:nvCxnSpPr>
            <p:spPr>
              <a:xfrm rot="10800000" flipH="1" flipV="1">
                <a:off x="8724168" y="1736345"/>
                <a:ext cx="172621" cy="2694908"/>
              </a:xfrm>
              <a:prstGeom prst="curvedConnector5">
                <a:avLst>
                  <a:gd name="adj1" fmla="val -232230"/>
                  <a:gd name="adj2" fmla="val 49802"/>
                  <a:gd name="adj3" fmla="val 332230"/>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9C211D22-D6CE-2A1C-73AA-CE0F41F37625}"/>
                </a:ext>
              </a:extLst>
            </p:cNvPr>
            <p:cNvSpPr txBox="1"/>
            <p:nvPr/>
          </p:nvSpPr>
          <p:spPr>
            <a:xfrm>
              <a:off x="4453750" y="6365675"/>
              <a:ext cx="464919" cy="336922"/>
            </a:xfrm>
            <a:prstGeom prst="rect">
              <a:avLst/>
            </a:prstGeom>
            <a:solidFill>
              <a:schemeClr val="bg1"/>
            </a:solidFill>
          </p:spPr>
          <p:txBody>
            <a:bodyPr wrap="none" rtlCol="0">
              <a:spAutoFit/>
            </a:bodyPr>
            <a:lstStyle/>
            <a:p>
              <a:r>
                <a:rPr lang="en-US" sz="1050" dirty="0"/>
                <a:t>UK</a:t>
              </a:r>
            </a:p>
          </p:txBody>
        </p:sp>
        <p:sp>
          <p:nvSpPr>
            <p:cNvPr id="10" name="TextBox 9">
              <a:extLst>
                <a:ext uri="{FF2B5EF4-FFF2-40B4-BE49-F238E27FC236}">
                  <a16:creationId xmlns:a16="http://schemas.microsoft.com/office/drawing/2014/main" id="{29147419-8101-AB42-65A7-E604CA79C34C}"/>
                </a:ext>
              </a:extLst>
            </p:cNvPr>
            <p:cNvSpPr txBox="1"/>
            <p:nvPr/>
          </p:nvSpPr>
          <p:spPr>
            <a:xfrm>
              <a:off x="3635524" y="5420728"/>
              <a:ext cx="1269862" cy="327013"/>
            </a:xfrm>
            <a:prstGeom prst="rect">
              <a:avLst/>
            </a:prstGeom>
            <a:solidFill>
              <a:schemeClr val="bg1"/>
            </a:solidFill>
          </p:spPr>
          <p:txBody>
            <a:bodyPr wrap="square" rtlCol="0">
              <a:spAutoFit/>
            </a:bodyPr>
            <a:lstStyle/>
            <a:p>
              <a:pPr algn="r"/>
              <a:r>
                <a:rPr lang="en-US" sz="1050" dirty="0"/>
                <a:t>Netherlands</a:t>
              </a:r>
            </a:p>
          </p:txBody>
        </p:sp>
        <p:sp>
          <p:nvSpPr>
            <p:cNvPr id="11" name="TextBox 10">
              <a:extLst>
                <a:ext uri="{FF2B5EF4-FFF2-40B4-BE49-F238E27FC236}">
                  <a16:creationId xmlns:a16="http://schemas.microsoft.com/office/drawing/2014/main" id="{56E42F0E-DA9D-2F64-A386-EAF7BC49BB97}"/>
                </a:ext>
              </a:extLst>
            </p:cNvPr>
            <p:cNvSpPr txBox="1"/>
            <p:nvPr/>
          </p:nvSpPr>
          <p:spPr>
            <a:xfrm>
              <a:off x="3770111" y="4182331"/>
              <a:ext cx="1130318" cy="336922"/>
            </a:xfrm>
            <a:prstGeom prst="rect">
              <a:avLst/>
            </a:prstGeom>
            <a:solidFill>
              <a:schemeClr val="bg1"/>
            </a:solidFill>
          </p:spPr>
          <p:txBody>
            <a:bodyPr wrap="square" rtlCol="0">
              <a:spAutoFit/>
            </a:bodyPr>
            <a:lstStyle/>
            <a:p>
              <a:pPr algn="r"/>
              <a:r>
                <a:rPr lang="en-US" sz="1050" dirty="0"/>
                <a:t>Iceland</a:t>
              </a:r>
            </a:p>
          </p:txBody>
        </p:sp>
        <p:sp>
          <p:nvSpPr>
            <p:cNvPr id="12" name="TextBox 11">
              <a:extLst>
                <a:ext uri="{FF2B5EF4-FFF2-40B4-BE49-F238E27FC236}">
                  <a16:creationId xmlns:a16="http://schemas.microsoft.com/office/drawing/2014/main" id="{306065BA-EEA0-0BCF-E844-8C5DD7628872}"/>
                </a:ext>
              </a:extLst>
            </p:cNvPr>
            <p:cNvSpPr txBox="1"/>
            <p:nvPr/>
          </p:nvSpPr>
          <p:spPr>
            <a:xfrm>
              <a:off x="3770111" y="5931788"/>
              <a:ext cx="1130318" cy="336922"/>
            </a:xfrm>
            <a:prstGeom prst="rect">
              <a:avLst/>
            </a:prstGeom>
            <a:solidFill>
              <a:schemeClr val="bg1"/>
            </a:solidFill>
          </p:spPr>
          <p:txBody>
            <a:bodyPr wrap="square" rtlCol="0">
              <a:spAutoFit/>
            </a:bodyPr>
            <a:lstStyle/>
            <a:p>
              <a:pPr algn="r"/>
              <a:r>
                <a:rPr lang="en-US" sz="1050" dirty="0"/>
                <a:t>France</a:t>
              </a:r>
            </a:p>
          </p:txBody>
        </p:sp>
        <p:sp>
          <p:nvSpPr>
            <p:cNvPr id="13" name="TextBox 12">
              <a:extLst>
                <a:ext uri="{FF2B5EF4-FFF2-40B4-BE49-F238E27FC236}">
                  <a16:creationId xmlns:a16="http://schemas.microsoft.com/office/drawing/2014/main" id="{0658085C-BC61-A12C-5B56-537265451533}"/>
                </a:ext>
              </a:extLst>
            </p:cNvPr>
            <p:cNvSpPr txBox="1"/>
            <p:nvPr/>
          </p:nvSpPr>
          <p:spPr>
            <a:xfrm>
              <a:off x="7716388" y="5842246"/>
              <a:ext cx="1130318" cy="336922"/>
            </a:xfrm>
            <a:prstGeom prst="rect">
              <a:avLst/>
            </a:prstGeom>
            <a:noFill/>
          </p:spPr>
          <p:txBody>
            <a:bodyPr wrap="square" rtlCol="0">
              <a:spAutoFit/>
            </a:bodyPr>
            <a:lstStyle/>
            <a:p>
              <a:pPr algn="r"/>
              <a:r>
                <a:rPr lang="en-US" sz="1050" dirty="0"/>
                <a:t>France</a:t>
              </a:r>
            </a:p>
          </p:txBody>
        </p:sp>
        <p:sp>
          <p:nvSpPr>
            <p:cNvPr id="14" name="TextBox 13">
              <a:extLst>
                <a:ext uri="{FF2B5EF4-FFF2-40B4-BE49-F238E27FC236}">
                  <a16:creationId xmlns:a16="http://schemas.microsoft.com/office/drawing/2014/main" id="{192B5410-3426-6342-77FB-3A3561228FC5}"/>
                </a:ext>
              </a:extLst>
            </p:cNvPr>
            <p:cNvSpPr txBox="1"/>
            <p:nvPr/>
          </p:nvSpPr>
          <p:spPr>
            <a:xfrm>
              <a:off x="5693117" y="3801677"/>
              <a:ext cx="760889" cy="336922"/>
            </a:xfrm>
            <a:prstGeom prst="rect">
              <a:avLst/>
            </a:prstGeom>
            <a:noFill/>
          </p:spPr>
          <p:txBody>
            <a:bodyPr wrap="square" rtlCol="0">
              <a:spAutoFit/>
            </a:bodyPr>
            <a:lstStyle/>
            <a:p>
              <a:pPr algn="r"/>
              <a:r>
                <a:rPr lang="en-US" sz="1100" dirty="0"/>
                <a:t>1995</a:t>
              </a:r>
            </a:p>
          </p:txBody>
        </p:sp>
        <p:sp>
          <p:nvSpPr>
            <p:cNvPr id="15" name="TextBox 14">
              <a:extLst>
                <a:ext uri="{FF2B5EF4-FFF2-40B4-BE49-F238E27FC236}">
                  <a16:creationId xmlns:a16="http://schemas.microsoft.com/office/drawing/2014/main" id="{5BFD0FA4-0E42-D136-66CE-DD9E4DE5B932}"/>
                </a:ext>
              </a:extLst>
            </p:cNvPr>
            <p:cNvSpPr txBox="1"/>
            <p:nvPr/>
          </p:nvSpPr>
          <p:spPr>
            <a:xfrm>
              <a:off x="6222052" y="3780798"/>
              <a:ext cx="807780" cy="336922"/>
            </a:xfrm>
            <a:prstGeom prst="rect">
              <a:avLst/>
            </a:prstGeom>
            <a:noFill/>
          </p:spPr>
          <p:txBody>
            <a:bodyPr wrap="square" rtlCol="0">
              <a:spAutoFit/>
            </a:bodyPr>
            <a:lstStyle/>
            <a:p>
              <a:pPr algn="r"/>
              <a:r>
                <a:rPr lang="en-US" sz="1100" dirty="0"/>
                <a:t>1996</a:t>
              </a:r>
            </a:p>
          </p:txBody>
        </p:sp>
        <p:sp>
          <p:nvSpPr>
            <p:cNvPr id="16" name="TextBox 15">
              <a:extLst>
                <a:ext uri="{FF2B5EF4-FFF2-40B4-BE49-F238E27FC236}">
                  <a16:creationId xmlns:a16="http://schemas.microsoft.com/office/drawing/2014/main" id="{C326060A-4635-0B23-A28D-36A51585B124}"/>
                </a:ext>
              </a:extLst>
            </p:cNvPr>
            <p:cNvSpPr txBox="1"/>
            <p:nvPr/>
          </p:nvSpPr>
          <p:spPr>
            <a:xfrm>
              <a:off x="7558763" y="3801677"/>
              <a:ext cx="793903" cy="336922"/>
            </a:xfrm>
            <a:prstGeom prst="rect">
              <a:avLst/>
            </a:prstGeom>
            <a:noFill/>
          </p:spPr>
          <p:txBody>
            <a:bodyPr wrap="square" rtlCol="0">
              <a:spAutoFit/>
            </a:bodyPr>
            <a:lstStyle/>
            <a:p>
              <a:pPr algn="r"/>
              <a:r>
                <a:rPr lang="en-US" sz="1100" dirty="0"/>
                <a:t>2022</a:t>
              </a:r>
            </a:p>
          </p:txBody>
        </p:sp>
      </p:grpSp>
      <p:sp>
        <p:nvSpPr>
          <p:cNvPr id="49" name="TextBox 48">
            <a:extLst>
              <a:ext uri="{FF2B5EF4-FFF2-40B4-BE49-F238E27FC236}">
                <a16:creationId xmlns:a16="http://schemas.microsoft.com/office/drawing/2014/main" id="{EC314BFF-A9E5-FBA4-15C4-A0D60D81DB13}"/>
              </a:ext>
            </a:extLst>
          </p:cNvPr>
          <p:cNvSpPr txBox="1"/>
          <p:nvPr/>
        </p:nvSpPr>
        <p:spPr>
          <a:xfrm>
            <a:off x="296505" y="5070401"/>
            <a:ext cx="1173026" cy="646331"/>
          </a:xfrm>
          <a:prstGeom prst="rect">
            <a:avLst/>
          </a:prstGeom>
          <a:noFill/>
        </p:spPr>
        <p:txBody>
          <a:bodyPr wrap="square" rtlCol="0">
            <a:spAutoFit/>
          </a:bodyPr>
          <a:lstStyle/>
          <a:p>
            <a:pPr algn="ctr"/>
            <a:r>
              <a:rPr lang="en-US" dirty="0">
                <a:solidFill>
                  <a:schemeClr val="accent1"/>
                </a:solidFill>
              </a:rPr>
              <a:t> “average GDP”</a:t>
            </a:r>
          </a:p>
        </p:txBody>
      </p:sp>
      <p:sp>
        <p:nvSpPr>
          <p:cNvPr id="50" name="TextBox 49">
            <a:extLst>
              <a:ext uri="{FF2B5EF4-FFF2-40B4-BE49-F238E27FC236}">
                <a16:creationId xmlns:a16="http://schemas.microsoft.com/office/drawing/2014/main" id="{E78E27D6-B297-3279-D0B9-7C858AE53A81}"/>
              </a:ext>
            </a:extLst>
          </p:cNvPr>
          <p:cNvSpPr txBox="1"/>
          <p:nvPr/>
        </p:nvSpPr>
        <p:spPr>
          <a:xfrm>
            <a:off x="619326" y="5829146"/>
            <a:ext cx="1173026" cy="923330"/>
          </a:xfrm>
          <a:prstGeom prst="rect">
            <a:avLst/>
          </a:prstGeom>
          <a:noFill/>
        </p:spPr>
        <p:txBody>
          <a:bodyPr wrap="square" rtlCol="0">
            <a:spAutoFit/>
          </a:bodyPr>
          <a:lstStyle/>
          <a:p>
            <a:pPr algn="ctr"/>
            <a:r>
              <a:rPr lang="en-US" dirty="0">
                <a:solidFill>
                  <a:schemeClr val="accent2"/>
                </a:solidFill>
              </a:rPr>
              <a:t> “average growth rate”</a:t>
            </a:r>
          </a:p>
        </p:txBody>
      </p:sp>
      <p:sp>
        <p:nvSpPr>
          <p:cNvPr id="51" name="TextBox 50">
            <a:extLst>
              <a:ext uri="{FF2B5EF4-FFF2-40B4-BE49-F238E27FC236}">
                <a16:creationId xmlns:a16="http://schemas.microsoft.com/office/drawing/2014/main" id="{3A82A2D6-CCDD-D4BF-7644-D99B21EF1EC0}"/>
              </a:ext>
            </a:extLst>
          </p:cNvPr>
          <p:cNvSpPr txBox="1"/>
          <p:nvPr/>
        </p:nvSpPr>
        <p:spPr>
          <a:xfrm>
            <a:off x="1676390" y="4628817"/>
            <a:ext cx="1173026" cy="1200329"/>
          </a:xfrm>
          <a:prstGeom prst="rect">
            <a:avLst/>
          </a:prstGeom>
          <a:noFill/>
        </p:spPr>
        <p:txBody>
          <a:bodyPr wrap="square" rtlCol="0">
            <a:spAutoFit/>
          </a:bodyPr>
          <a:lstStyle/>
          <a:p>
            <a:pPr algn="ctr"/>
            <a:r>
              <a:rPr lang="en-US" dirty="0">
                <a:solidFill>
                  <a:schemeClr val="accent5"/>
                </a:solidFill>
              </a:rPr>
              <a:t> “how well did you do in 2008?”</a:t>
            </a:r>
          </a:p>
        </p:txBody>
      </p:sp>
      <p:sp>
        <p:nvSpPr>
          <p:cNvPr id="52" name="Freeform 51">
            <a:extLst>
              <a:ext uri="{FF2B5EF4-FFF2-40B4-BE49-F238E27FC236}">
                <a16:creationId xmlns:a16="http://schemas.microsoft.com/office/drawing/2014/main" id="{92796ECD-67E3-B46B-A709-6759AD175EDD}"/>
              </a:ext>
            </a:extLst>
          </p:cNvPr>
          <p:cNvSpPr/>
          <p:nvPr/>
        </p:nvSpPr>
        <p:spPr>
          <a:xfrm>
            <a:off x="862149" y="4506686"/>
            <a:ext cx="78377" cy="653143"/>
          </a:xfrm>
          <a:custGeom>
            <a:avLst/>
            <a:gdLst>
              <a:gd name="connsiteX0" fmla="*/ 0 w 78377"/>
              <a:gd name="connsiteY0" fmla="*/ 653143 h 653143"/>
              <a:gd name="connsiteX1" fmla="*/ 78377 w 78377"/>
              <a:gd name="connsiteY1" fmla="*/ 0 h 653143"/>
            </a:gdLst>
            <a:ahLst/>
            <a:cxnLst>
              <a:cxn ang="0">
                <a:pos x="connsiteX0" y="connsiteY0"/>
              </a:cxn>
              <a:cxn ang="0">
                <a:pos x="connsiteX1" y="connsiteY1"/>
              </a:cxn>
            </a:cxnLst>
            <a:rect l="l" t="t" r="r" b="b"/>
            <a:pathLst>
              <a:path w="78377" h="653143">
                <a:moveTo>
                  <a:pt x="0" y="653143"/>
                </a:moveTo>
                <a:lnTo>
                  <a:pt x="78377" y="0"/>
                </a:ln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2">
            <a:extLst>
              <a:ext uri="{FF2B5EF4-FFF2-40B4-BE49-F238E27FC236}">
                <a16:creationId xmlns:a16="http://schemas.microsoft.com/office/drawing/2014/main" id="{6279B771-C7E5-DC1D-846B-87A3E657A0A7}"/>
              </a:ext>
            </a:extLst>
          </p:cNvPr>
          <p:cNvSpPr/>
          <p:nvPr/>
        </p:nvSpPr>
        <p:spPr>
          <a:xfrm>
            <a:off x="1123406" y="4532811"/>
            <a:ext cx="431628" cy="1347002"/>
          </a:xfrm>
          <a:custGeom>
            <a:avLst/>
            <a:gdLst>
              <a:gd name="connsiteX0" fmla="*/ 156754 w 431628"/>
              <a:gd name="connsiteY0" fmla="*/ 1319349 h 1347002"/>
              <a:gd name="connsiteX1" fmla="*/ 104503 w 431628"/>
              <a:gd name="connsiteY1" fmla="*/ 1319349 h 1347002"/>
              <a:gd name="connsiteX2" fmla="*/ 235131 w 431628"/>
              <a:gd name="connsiteY2" fmla="*/ 1031966 h 1347002"/>
              <a:gd name="connsiteX3" fmla="*/ 431074 w 431628"/>
              <a:gd name="connsiteY3" fmla="*/ 692332 h 1347002"/>
              <a:gd name="connsiteX4" fmla="*/ 169817 w 431628"/>
              <a:gd name="connsiteY4" fmla="*/ 339635 h 1347002"/>
              <a:gd name="connsiteX5" fmla="*/ 0 w 431628"/>
              <a:gd name="connsiteY5" fmla="*/ 0 h 134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1628" h="1347002">
                <a:moveTo>
                  <a:pt x="156754" y="1319349"/>
                </a:moveTo>
                <a:cubicBezTo>
                  <a:pt x="124097" y="1343297"/>
                  <a:pt x="91440" y="1367246"/>
                  <a:pt x="104503" y="1319349"/>
                </a:cubicBezTo>
                <a:cubicBezTo>
                  <a:pt x="117566" y="1271452"/>
                  <a:pt x="180703" y="1136469"/>
                  <a:pt x="235131" y="1031966"/>
                </a:cubicBezTo>
                <a:cubicBezTo>
                  <a:pt x="289560" y="927463"/>
                  <a:pt x="441960" y="807720"/>
                  <a:pt x="431074" y="692332"/>
                </a:cubicBezTo>
                <a:cubicBezTo>
                  <a:pt x="420188" y="576944"/>
                  <a:pt x="241663" y="455024"/>
                  <a:pt x="169817" y="339635"/>
                </a:cubicBezTo>
                <a:cubicBezTo>
                  <a:pt x="97971" y="224246"/>
                  <a:pt x="48985" y="112123"/>
                  <a:pt x="0" y="0"/>
                </a:cubicBezTo>
              </a:path>
            </a:pathLst>
          </a:custGeom>
          <a:noFill/>
          <a:ln>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642A93FC-E8AA-1A9A-0485-9C791370E04C}"/>
              </a:ext>
            </a:extLst>
          </p:cNvPr>
          <p:cNvSpPr/>
          <p:nvPr/>
        </p:nvSpPr>
        <p:spPr>
          <a:xfrm>
            <a:off x="1331574" y="4335105"/>
            <a:ext cx="990856" cy="453844"/>
          </a:xfrm>
          <a:custGeom>
            <a:avLst/>
            <a:gdLst>
              <a:gd name="connsiteX0" fmla="*/ 967489 w 990856"/>
              <a:gd name="connsiteY0" fmla="*/ 276084 h 453844"/>
              <a:gd name="connsiteX1" fmla="*/ 915237 w 990856"/>
              <a:gd name="connsiteY1" fmla="*/ 1764 h 453844"/>
              <a:gd name="connsiteX2" fmla="*/ 340472 w 990856"/>
              <a:gd name="connsiteY2" fmla="*/ 393649 h 453844"/>
              <a:gd name="connsiteX3" fmla="*/ 53089 w 990856"/>
              <a:gd name="connsiteY3" fmla="*/ 432838 h 453844"/>
              <a:gd name="connsiteX4" fmla="*/ 837 w 990856"/>
              <a:gd name="connsiteY4" fmla="*/ 197706 h 453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856" h="453844">
                <a:moveTo>
                  <a:pt x="967489" y="276084"/>
                </a:moveTo>
                <a:cubicBezTo>
                  <a:pt x="993614" y="129127"/>
                  <a:pt x="1019740" y="-17830"/>
                  <a:pt x="915237" y="1764"/>
                </a:cubicBezTo>
                <a:cubicBezTo>
                  <a:pt x="810734" y="21358"/>
                  <a:pt x="484163" y="321803"/>
                  <a:pt x="340472" y="393649"/>
                </a:cubicBezTo>
                <a:cubicBezTo>
                  <a:pt x="196781" y="465495"/>
                  <a:pt x="109695" y="465495"/>
                  <a:pt x="53089" y="432838"/>
                </a:cubicBezTo>
                <a:cubicBezTo>
                  <a:pt x="-3517" y="400181"/>
                  <a:pt x="-1340" y="298943"/>
                  <a:pt x="837" y="197706"/>
                </a:cubicBezTo>
              </a:path>
            </a:pathLst>
          </a:custGeom>
          <a:noFill/>
          <a:ln>
            <a:solidFill>
              <a:schemeClr val="accent5"/>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40088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1A157BA4-4CC7-4A99-19D7-D1FDE609DF79}"/>
              </a:ext>
            </a:extLst>
          </p:cNvPr>
          <p:cNvPicPr>
            <a:picLocks noChangeAspect="1"/>
          </p:cNvPicPr>
          <p:nvPr/>
        </p:nvPicPr>
        <p:blipFill>
          <a:blip r:embed="rId3"/>
          <a:stretch>
            <a:fillRect/>
          </a:stretch>
        </p:blipFill>
        <p:spPr>
          <a:xfrm>
            <a:off x="6101249" y="2729935"/>
            <a:ext cx="6037940" cy="4073213"/>
          </a:xfrm>
          <a:prstGeom prst="rect">
            <a:avLst/>
          </a:prstGeom>
        </p:spPr>
      </p:pic>
      <p:sp>
        <p:nvSpPr>
          <p:cNvPr id="2" name="Title 1">
            <a:extLst>
              <a:ext uri="{FF2B5EF4-FFF2-40B4-BE49-F238E27FC236}">
                <a16:creationId xmlns:a16="http://schemas.microsoft.com/office/drawing/2014/main" id="{9379EF7D-BE00-83B6-11C5-DDD9A6D2FD15}"/>
              </a:ext>
            </a:extLst>
          </p:cNvPr>
          <p:cNvSpPr>
            <a:spLocks noGrp="1"/>
          </p:cNvSpPr>
          <p:nvPr>
            <p:ph type="title"/>
          </p:nvPr>
        </p:nvSpPr>
        <p:spPr>
          <a:xfrm>
            <a:off x="657117" y="130047"/>
            <a:ext cx="6174549" cy="1842117"/>
          </a:xfrm>
        </p:spPr>
        <p:txBody>
          <a:bodyPr>
            <a:normAutofit fontScale="90000"/>
          </a:bodyPr>
          <a:lstStyle/>
          <a:p>
            <a:r>
              <a:rPr lang="en-US" dirty="0"/>
              <a:t>Just these </a:t>
            </a:r>
            <a:r>
              <a:rPr lang="en-US" b="1" dirty="0"/>
              <a:t>three</a:t>
            </a:r>
            <a:r>
              <a:rPr lang="en-US" dirty="0"/>
              <a:t> features work pretty well!</a:t>
            </a:r>
          </a:p>
        </p:txBody>
      </p:sp>
      <p:pic>
        <p:nvPicPr>
          <p:cNvPr id="4" name="Picture 3">
            <a:extLst>
              <a:ext uri="{FF2B5EF4-FFF2-40B4-BE49-F238E27FC236}">
                <a16:creationId xmlns:a16="http://schemas.microsoft.com/office/drawing/2014/main" id="{138E6D52-767E-BE16-D649-340135C2D0DE}"/>
              </a:ext>
            </a:extLst>
          </p:cNvPr>
          <p:cNvPicPr>
            <a:picLocks noChangeAspect="1"/>
          </p:cNvPicPr>
          <p:nvPr/>
        </p:nvPicPr>
        <p:blipFill>
          <a:blip r:embed="rId4"/>
          <a:stretch>
            <a:fillRect/>
          </a:stretch>
        </p:blipFill>
        <p:spPr>
          <a:xfrm>
            <a:off x="11309123" y="132483"/>
            <a:ext cx="704289" cy="1786167"/>
          </a:xfrm>
          <a:prstGeom prst="rect">
            <a:avLst/>
          </a:prstGeom>
        </p:spPr>
      </p:pic>
      <p:sp>
        <p:nvSpPr>
          <p:cNvPr id="5" name="TextBox 4">
            <a:extLst>
              <a:ext uri="{FF2B5EF4-FFF2-40B4-BE49-F238E27FC236}">
                <a16:creationId xmlns:a16="http://schemas.microsoft.com/office/drawing/2014/main" id="{A72CA7B4-EE65-1682-6C15-1F13E79EBCF6}"/>
              </a:ext>
            </a:extLst>
          </p:cNvPr>
          <p:cNvSpPr txBox="1"/>
          <p:nvPr/>
        </p:nvSpPr>
        <p:spPr>
          <a:xfrm>
            <a:off x="7857897" y="363846"/>
            <a:ext cx="3451226" cy="1323439"/>
          </a:xfrm>
          <a:prstGeom prst="rect">
            <a:avLst/>
          </a:prstGeom>
          <a:noFill/>
        </p:spPr>
        <p:txBody>
          <a:bodyPr wrap="square" rtlCol="0">
            <a:spAutoFit/>
          </a:bodyPr>
          <a:lstStyle/>
          <a:p>
            <a:pPr algn="r"/>
            <a:r>
              <a:rPr lang="en-US" sz="2000" dirty="0">
                <a:solidFill>
                  <a:srgbClr val="0070C0"/>
                </a:solidFill>
              </a:rPr>
              <a:t>If you tell me just these three numbers about a country, I can decently  reconstruct that country’s data!</a:t>
            </a:r>
          </a:p>
        </p:txBody>
      </p:sp>
      <p:grpSp>
        <p:nvGrpSpPr>
          <p:cNvPr id="7" name="Group 6">
            <a:extLst>
              <a:ext uri="{FF2B5EF4-FFF2-40B4-BE49-F238E27FC236}">
                <a16:creationId xmlns:a16="http://schemas.microsoft.com/office/drawing/2014/main" id="{CCC999A7-4E33-AA0E-089F-671F176DBE4E}"/>
              </a:ext>
            </a:extLst>
          </p:cNvPr>
          <p:cNvGrpSpPr/>
          <p:nvPr/>
        </p:nvGrpSpPr>
        <p:grpSpPr>
          <a:xfrm>
            <a:off x="-196501" y="1687285"/>
            <a:ext cx="6520147" cy="2760983"/>
            <a:chOff x="3635524" y="3204497"/>
            <a:chExt cx="8397149" cy="3555807"/>
          </a:xfrm>
        </p:grpSpPr>
        <p:grpSp>
          <p:nvGrpSpPr>
            <p:cNvPr id="8" name="Group 7">
              <a:extLst>
                <a:ext uri="{FF2B5EF4-FFF2-40B4-BE49-F238E27FC236}">
                  <a16:creationId xmlns:a16="http://schemas.microsoft.com/office/drawing/2014/main" id="{957EFCA0-F5CA-0FD9-3908-5E7976CD4877}"/>
                </a:ext>
              </a:extLst>
            </p:cNvPr>
            <p:cNvGrpSpPr/>
            <p:nvPr/>
          </p:nvGrpSpPr>
          <p:grpSpPr>
            <a:xfrm>
              <a:off x="4943292" y="3204497"/>
              <a:ext cx="7089381" cy="3555807"/>
              <a:chOff x="1700677" y="1358539"/>
              <a:chExt cx="9653123" cy="4841698"/>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5BB94A6-7E20-03A9-68D2-9968044B55F5}"/>
                      </a:ext>
                    </a:extLst>
                  </p:cNvPr>
                  <p:cNvSpPr/>
                  <p:nvPr/>
                </p:nvSpPr>
                <p:spPr>
                  <a:xfrm>
                    <a:off x="1700677" y="2622840"/>
                    <a:ext cx="1036051" cy="357739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dirty="0" smtClean="0">
                              <a:solidFill>
                                <a:schemeClr val="tx1"/>
                              </a:solidFill>
                              <a:latin typeface="Cambria Math" panose="02040503050406030204" pitchFamily="18" charset="0"/>
                            </a:rPr>
                            <m:t>𝑋</m:t>
                          </m:r>
                        </m:oMath>
                      </m:oMathPara>
                    </a14:m>
                    <a:endParaRPr lang="en-US" sz="1400" dirty="0">
                      <a:solidFill>
                        <a:schemeClr val="tx1"/>
                      </a:solidFill>
                    </a:endParaRPr>
                  </a:p>
                </p:txBody>
              </p:sp>
            </mc:Choice>
            <mc:Fallback xmlns="">
              <p:sp>
                <p:nvSpPr>
                  <p:cNvPr id="17" name="Rectangle 16">
                    <a:extLst>
                      <a:ext uri="{FF2B5EF4-FFF2-40B4-BE49-F238E27FC236}">
                        <a16:creationId xmlns:a16="http://schemas.microsoft.com/office/drawing/2014/main" id="{25BB94A6-7E20-03A9-68D2-9968044B55F5}"/>
                      </a:ext>
                    </a:extLst>
                  </p:cNvPr>
                  <p:cNvSpPr>
                    <a:spLocks noRot="1" noChangeAspect="1" noMove="1" noResize="1" noEditPoints="1" noAdjustHandles="1" noChangeArrowheads="1" noChangeShapeType="1" noTextEdit="1"/>
                  </p:cNvSpPr>
                  <p:nvPr/>
                </p:nvSpPr>
                <p:spPr>
                  <a:xfrm>
                    <a:off x="1700677" y="2622840"/>
                    <a:ext cx="1036051" cy="3577397"/>
                  </a:xfrm>
                  <a:prstGeom prst="rect">
                    <a:avLst/>
                  </a:prstGeom>
                  <a:blipFill>
                    <a:blip r:embed="rId5"/>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D871F46A-20DD-6858-30EE-7C0B7E94B591}"/>
                      </a:ext>
                    </a:extLst>
                  </p:cNvPr>
                  <p:cNvSpPr/>
                  <p:nvPr/>
                </p:nvSpPr>
                <p:spPr>
                  <a:xfrm>
                    <a:off x="2902537" y="2635299"/>
                    <a:ext cx="3122018" cy="9572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𝐵</m:t>
                          </m:r>
                        </m:oMath>
                      </m:oMathPara>
                    </a14:m>
                    <a:endParaRPr lang="en-US" sz="1400" dirty="0">
                      <a:solidFill>
                        <a:schemeClr val="tx1"/>
                      </a:solidFill>
                    </a:endParaRPr>
                  </a:p>
                </p:txBody>
              </p:sp>
            </mc:Choice>
            <mc:Fallback xmlns="">
              <p:sp>
                <p:nvSpPr>
                  <p:cNvPr id="18" name="Rectangle 17">
                    <a:extLst>
                      <a:ext uri="{FF2B5EF4-FFF2-40B4-BE49-F238E27FC236}">
                        <a16:creationId xmlns:a16="http://schemas.microsoft.com/office/drawing/2014/main" id="{D871F46A-20DD-6858-30EE-7C0B7E94B591}"/>
                      </a:ext>
                    </a:extLst>
                  </p:cNvPr>
                  <p:cNvSpPr>
                    <a:spLocks noRot="1" noChangeAspect="1" noMove="1" noResize="1" noEditPoints="1" noAdjustHandles="1" noChangeArrowheads="1" noChangeShapeType="1" noTextEdit="1"/>
                  </p:cNvSpPr>
                  <p:nvPr/>
                </p:nvSpPr>
                <p:spPr>
                  <a:xfrm>
                    <a:off x="2902537" y="2635299"/>
                    <a:ext cx="3122018" cy="95725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0E2507-2355-2091-225A-F57CE8B84D14}"/>
                      </a:ext>
                    </a:extLst>
                  </p:cNvPr>
                  <p:cNvSpPr txBox="1"/>
                  <p:nvPr/>
                </p:nvSpPr>
                <p:spPr>
                  <a:xfrm>
                    <a:off x="6116191" y="2936227"/>
                    <a:ext cx="942159" cy="7556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250E2507-2355-2091-225A-F57CE8B84D14}"/>
                      </a:ext>
                    </a:extLst>
                  </p:cNvPr>
                  <p:cNvSpPr txBox="1">
                    <a:spLocks noRot="1" noChangeAspect="1" noMove="1" noResize="1" noEditPoints="1" noAdjustHandles="1" noChangeArrowheads="1" noChangeShapeType="1" noTextEdit="1"/>
                  </p:cNvSpPr>
                  <p:nvPr/>
                </p:nvSpPr>
                <p:spPr>
                  <a:xfrm>
                    <a:off x="6116191" y="2936227"/>
                    <a:ext cx="942159" cy="755609"/>
                  </a:xfrm>
                  <a:prstGeom prst="rect">
                    <a:avLst/>
                  </a:prstGeom>
                  <a:blipFill>
                    <a:blip r:embed="rId7"/>
                    <a:stretch>
                      <a:fillRect/>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BF0EC60D-20A8-92D1-E03B-E8C3F1F29FAB}"/>
                  </a:ext>
                </a:extLst>
              </p:cNvPr>
              <p:cNvGrpSpPr/>
              <p:nvPr/>
            </p:nvGrpSpPr>
            <p:grpSpPr>
              <a:xfrm>
                <a:off x="7104682" y="2720092"/>
                <a:ext cx="4249118" cy="3443049"/>
                <a:chOff x="1846882" y="2597802"/>
                <a:chExt cx="4249118" cy="2693288"/>
              </a:xfrm>
            </p:grpSpPr>
            <p:sp>
              <p:nvSpPr>
                <p:cNvPr id="29" name="Rectangle 28">
                  <a:extLst>
                    <a:ext uri="{FF2B5EF4-FFF2-40B4-BE49-F238E27FC236}">
                      <a16:creationId xmlns:a16="http://schemas.microsoft.com/office/drawing/2014/main" id="{05CC9365-6391-6BB0-DC9A-F0643242FF52}"/>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07A6CB6-5F84-491B-DA82-B8EC83C4E27D}"/>
                        </a:ext>
                      </a:extLst>
                    </p:cNvPr>
                    <p:cNvSpPr txBox="1"/>
                    <p:nvPr/>
                  </p:nvSpPr>
                  <p:spPr>
                    <a:xfrm>
                      <a:off x="1939778"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1,1</m:t>
                                </m:r>
                              </m:sub>
                            </m:sSub>
                          </m:oMath>
                        </m:oMathPara>
                      </a14:m>
                      <a:endParaRPr lang="en-US" sz="1600" dirty="0">
                        <a:solidFill>
                          <a:schemeClr val="bg1"/>
                        </a:solidFill>
                      </a:endParaRPr>
                    </a:p>
                  </p:txBody>
                </p:sp>
              </mc:Choice>
              <mc:Fallback xmlns="">
                <p:sp>
                  <p:nvSpPr>
                    <p:cNvPr id="30" name="TextBox 29">
                      <a:extLst>
                        <a:ext uri="{FF2B5EF4-FFF2-40B4-BE49-F238E27FC236}">
                          <a16:creationId xmlns:a16="http://schemas.microsoft.com/office/drawing/2014/main" id="{007A6CB6-5F84-491B-DA82-B8EC83C4E27D}"/>
                        </a:ext>
                      </a:extLst>
                    </p:cNvPr>
                    <p:cNvSpPr txBox="1">
                      <a:spLocks noRot="1" noChangeAspect="1" noMove="1" noResize="1" noEditPoints="1" noAdjustHandles="1" noChangeArrowheads="1" noChangeShapeType="1" noTextEdit="1"/>
                    </p:cNvSpPr>
                    <p:nvPr/>
                  </p:nvSpPr>
                  <p:spPr>
                    <a:xfrm>
                      <a:off x="1939778" y="2788225"/>
                      <a:ext cx="656857" cy="352529"/>
                    </a:xfrm>
                    <a:prstGeom prst="rect">
                      <a:avLst/>
                    </a:prstGeom>
                    <a:blipFill>
                      <a:blip r:embed="rId8"/>
                      <a:stretch>
                        <a:fillRect l="-10000" r="-3333" b="-9091"/>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A8553449-7568-F9F3-E92B-E3C1EBE068EB}"/>
                    </a:ext>
                  </a:extLst>
                </p:cNvPr>
                <p:cNvSpPr txBox="1"/>
                <p:nvPr/>
              </p:nvSpPr>
              <p:spPr>
                <a:xfrm>
                  <a:off x="5667213" y="2892741"/>
                  <a:ext cx="258306" cy="422192"/>
                </a:xfrm>
                <a:prstGeom prst="rect">
                  <a:avLst/>
                </a:prstGeom>
                <a:noFill/>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DC50B5A-142D-EEA3-B306-DC183D852F6B}"/>
                        </a:ext>
                      </a:extLst>
                    </p:cNvPr>
                    <p:cNvSpPr txBox="1"/>
                    <p:nvPr/>
                  </p:nvSpPr>
                  <p:spPr>
                    <a:xfrm>
                      <a:off x="2692783"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1,2</m:t>
                                </m:r>
                              </m:sub>
                            </m:sSub>
                          </m:oMath>
                        </m:oMathPara>
                      </a14:m>
                      <a:endParaRPr lang="en-US" sz="1600" dirty="0">
                        <a:solidFill>
                          <a:schemeClr val="bg1"/>
                        </a:solidFill>
                      </a:endParaRPr>
                    </a:p>
                  </p:txBody>
                </p:sp>
              </mc:Choice>
              <mc:Fallback xmlns="">
                <p:sp>
                  <p:nvSpPr>
                    <p:cNvPr id="32" name="TextBox 31">
                      <a:extLst>
                        <a:ext uri="{FF2B5EF4-FFF2-40B4-BE49-F238E27FC236}">
                          <a16:creationId xmlns:a16="http://schemas.microsoft.com/office/drawing/2014/main" id="{ADC50B5A-142D-EEA3-B306-DC183D852F6B}"/>
                        </a:ext>
                      </a:extLst>
                    </p:cNvPr>
                    <p:cNvSpPr txBox="1">
                      <a:spLocks noRot="1" noChangeAspect="1" noMove="1" noResize="1" noEditPoints="1" noAdjustHandles="1" noChangeArrowheads="1" noChangeShapeType="1" noTextEdit="1"/>
                    </p:cNvSpPr>
                    <p:nvPr/>
                  </p:nvSpPr>
                  <p:spPr>
                    <a:xfrm>
                      <a:off x="2692783" y="2788225"/>
                      <a:ext cx="656857" cy="352529"/>
                    </a:xfrm>
                    <a:prstGeom prst="rect">
                      <a:avLst/>
                    </a:prstGeom>
                    <a:blipFill>
                      <a:blip r:embed="rId9"/>
                      <a:stretch>
                        <a:fillRect l="-10000"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37166F0-4D8A-0063-91D6-CF3A24882B08}"/>
                        </a:ext>
                      </a:extLst>
                    </p:cNvPr>
                    <p:cNvSpPr txBox="1"/>
                    <p:nvPr/>
                  </p:nvSpPr>
                  <p:spPr>
                    <a:xfrm>
                      <a:off x="5179521" y="2788225"/>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1,</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3" name="TextBox 32">
                      <a:extLst>
                        <a:ext uri="{FF2B5EF4-FFF2-40B4-BE49-F238E27FC236}">
                          <a16:creationId xmlns:a16="http://schemas.microsoft.com/office/drawing/2014/main" id="{C37166F0-4D8A-0063-91D6-CF3A24882B08}"/>
                        </a:ext>
                      </a:extLst>
                    </p:cNvPr>
                    <p:cNvSpPr txBox="1">
                      <a:spLocks noRot="1" noChangeAspect="1" noMove="1" noResize="1" noEditPoints="1" noAdjustHandles="1" noChangeArrowheads="1" noChangeShapeType="1" noTextEdit="1"/>
                    </p:cNvSpPr>
                    <p:nvPr/>
                  </p:nvSpPr>
                  <p:spPr>
                    <a:xfrm>
                      <a:off x="5179521" y="2788225"/>
                      <a:ext cx="656857" cy="352529"/>
                    </a:xfrm>
                    <a:prstGeom prst="rect">
                      <a:avLst/>
                    </a:prstGeom>
                    <a:blipFill>
                      <a:blip r:embed="rId10"/>
                      <a:stretch>
                        <a:fillRect l="-967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94EDC7A-A41E-6C4D-71BA-1BB336C41B41}"/>
                        </a:ext>
                      </a:extLst>
                    </p:cNvPr>
                    <p:cNvSpPr txBox="1"/>
                    <p:nvPr/>
                  </p:nvSpPr>
                  <p:spPr>
                    <a:xfrm>
                      <a:off x="1972187"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2,1</m:t>
                                </m:r>
                              </m:sub>
                            </m:sSub>
                          </m:oMath>
                        </m:oMathPara>
                      </a14:m>
                      <a:endParaRPr lang="en-US" sz="1600" dirty="0">
                        <a:solidFill>
                          <a:schemeClr val="bg1"/>
                        </a:solidFill>
                      </a:endParaRPr>
                    </a:p>
                  </p:txBody>
                </p:sp>
              </mc:Choice>
              <mc:Fallback xmlns="">
                <p:sp>
                  <p:nvSpPr>
                    <p:cNvPr id="34" name="TextBox 33">
                      <a:extLst>
                        <a:ext uri="{FF2B5EF4-FFF2-40B4-BE49-F238E27FC236}">
                          <a16:creationId xmlns:a16="http://schemas.microsoft.com/office/drawing/2014/main" id="{F94EDC7A-A41E-6C4D-71BA-1BB336C41B41}"/>
                        </a:ext>
                      </a:extLst>
                    </p:cNvPr>
                    <p:cNvSpPr txBox="1">
                      <a:spLocks noRot="1" noChangeAspect="1" noMove="1" noResize="1" noEditPoints="1" noAdjustHandles="1" noChangeArrowheads="1" noChangeShapeType="1" noTextEdit="1"/>
                    </p:cNvSpPr>
                    <p:nvPr/>
                  </p:nvSpPr>
                  <p:spPr>
                    <a:xfrm>
                      <a:off x="1972187" y="3265230"/>
                      <a:ext cx="656857" cy="352529"/>
                    </a:xfrm>
                    <a:prstGeom prst="rect">
                      <a:avLst/>
                    </a:prstGeom>
                    <a:blipFill>
                      <a:blip r:embed="rId11"/>
                      <a:stretch>
                        <a:fillRect l="-6452"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FEC892-AB47-5C83-1010-8808D2B893E5}"/>
                        </a:ext>
                      </a:extLst>
                    </p:cNvPr>
                    <p:cNvSpPr txBox="1"/>
                    <p:nvPr/>
                  </p:nvSpPr>
                  <p:spPr>
                    <a:xfrm>
                      <a:off x="2725190"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2,2</m:t>
                                </m:r>
                              </m:sub>
                            </m:sSub>
                          </m:oMath>
                        </m:oMathPara>
                      </a14:m>
                      <a:endParaRPr lang="en-US" sz="1600" dirty="0">
                        <a:solidFill>
                          <a:schemeClr val="bg1"/>
                        </a:solidFill>
                      </a:endParaRPr>
                    </a:p>
                  </p:txBody>
                </p:sp>
              </mc:Choice>
              <mc:Fallback xmlns="">
                <p:sp>
                  <p:nvSpPr>
                    <p:cNvPr id="35" name="TextBox 34">
                      <a:extLst>
                        <a:ext uri="{FF2B5EF4-FFF2-40B4-BE49-F238E27FC236}">
                          <a16:creationId xmlns:a16="http://schemas.microsoft.com/office/drawing/2014/main" id="{EBFEC892-AB47-5C83-1010-8808D2B893E5}"/>
                        </a:ext>
                      </a:extLst>
                    </p:cNvPr>
                    <p:cNvSpPr txBox="1">
                      <a:spLocks noRot="1" noChangeAspect="1" noMove="1" noResize="1" noEditPoints="1" noAdjustHandles="1" noChangeArrowheads="1" noChangeShapeType="1" noTextEdit="1"/>
                    </p:cNvSpPr>
                    <p:nvPr/>
                  </p:nvSpPr>
                  <p:spPr>
                    <a:xfrm>
                      <a:off x="2725190" y="3265230"/>
                      <a:ext cx="656857" cy="352529"/>
                    </a:xfrm>
                    <a:prstGeom prst="rect">
                      <a:avLst/>
                    </a:prstGeom>
                    <a:blipFill>
                      <a:blip r:embed="rId12"/>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4F3EB74-4B6F-FF40-4E4B-5A24309FCC88}"/>
                        </a:ext>
                      </a:extLst>
                    </p:cNvPr>
                    <p:cNvSpPr txBox="1"/>
                    <p:nvPr/>
                  </p:nvSpPr>
                  <p:spPr>
                    <a:xfrm>
                      <a:off x="5211929" y="3265230"/>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2,</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6" name="TextBox 35">
                      <a:extLst>
                        <a:ext uri="{FF2B5EF4-FFF2-40B4-BE49-F238E27FC236}">
                          <a16:creationId xmlns:a16="http://schemas.microsoft.com/office/drawing/2014/main" id="{A4F3EB74-4B6F-FF40-4E4B-5A24309FCC88}"/>
                        </a:ext>
                      </a:extLst>
                    </p:cNvPr>
                    <p:cNvSpPr txBox="1">
                      <a:spLocks noRot="1" noChangeAspect="1" noMove="1" noResize="1" noEditPoints="1" noAdjustHandles="1" noChangeArrowheads="1" noChangeShapeType="1" noTextEdit="1"/>
                    </p:cNvSpPr>
                    <p:nvPr/>
                  </p:nvSpPr>
                  <p:spPr>
                    <a:xfrm>
                      <a:off x="5211929" y="3265230"/>
                      <a:ext cx="656857" cy="352529"/>
                    </a:xfrm>
                    <a:prstGeom prst="rect">
                      <a:avLst/>
                    </a:prstGeom>
                    <a:blipFill>
                      <a:blip r:embed="rId13"/>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520BEE8-D8FD-33B6-75BD-A268F06DA926}"/>
                        </a:ext>
                      </a:extLst>
                    </p:cNvPr>
                    <p:cNvSpPr txBox="1"/>
                    <p:nvPr/>
                  </p:nvSpPr>
                  <p:spPr>
                    <a:xfrm>
                      <a:off x="1972187"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3,1</m:t>
                                </m:r>
                              </m:sub>
                            </m:sSub>
                          </m:oMath>
                        </m:oMathPara>
                      </a14:m>
                      <a:endParaRPr lang="en-US" sz="1600" dirty="0">
                        <a:solidFill>
                          <a:schemeClr val="bg1"/>
                        </a:solidFill>
                      </a:endParaRPr>
                    </a:p>
                  </p:txBody>
                </p:sp>
              </mc:Choice>
              <mc:Fallback xmlns="">
                <p:sp>
                  <p:nvSpPr>
                    <p:cNvPr id="37" name="TextBox 36">
                      <a:extLst>
                        <a:ext uri="{FF2B5EF4-FFF2-40B4-BE49-F238E27FC236}">
                          <a16:creationId xmlns:a16="http://schemas.microsoft.com/office/drawing/2014/main" id="{D520BEE8-D8FD-33B6-75BD-A268F06DA926}"/>
                        </a:ext>
                      </a:extLst>
                    </p:cNvPr>
                    <p:cNvSpPr txBox="1">
                      <a:spLocks noRot="1" noChangeAspect="1" noMove="1" noResize="1" noEditPoints="1" noAdjustHandles="1" noChangeArrowheads="1" noChangeShapeType="1" noTextEdit="1"/>
                    </p:cNvSpPr>
                    <p:nvPr/>
                  </p:nvSpPr>
                  <p:spPr>
                    <a:xfrm>
                      <a:off x="1972187" y="3802732"/>
                      <a:ext cx="656857" cy="352529"/>
                    </a:xfrm>
                    <a:prstGeom prst="rect">
                      <a:avLst/>
                    </a:prstGeom>
                    <a:blipFill>
                      <a:blip r:embed="rId14"/>
                      <a:stretch>
                        <a:fillRect l="-6452"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E04423-F711-9A2B-CECF-1B0F0B701798}"/>
                        </a:ext>
                      </a:extLst>
                    </p:cNvPr>
                    <p:cNvSpPr txBox="1"/>
                    <p:nvPr/>
                  </p:nvSpPr>
                  <p:spPr>
                    <a:xfrm>
                      <a:off x="2725190"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3,2</m:t>
                                </m:r>
                              </m:sub>
                            </m:sSub>
                          </m:oMath>
                        </m:oMathPara>
                      </a14:m>
                      <a:endParaRPr lang="en-US" sz="1600" dirty="0">
                        <a:solidFill>
                          <a:schemeClr val="bg1"/>
                        </a:solidFill>
                      </a:endParaRPr>
                    </a:p>
                  </p:txBody>
                </p:sp>
              </mc:Choice>
              <mc:Fallback xmlns="">
                <p:sp>
                  <p:nvSpPr>
                    <p:cNvPr id="38" name="TextBox 37">
                      <a:extLst>
                        <a:ext uri="{FF2B5EF4-FFF2-40B4-BE49-F238E27FC236}">
                          <a16:creationId xmlns:a16="http://schemas.microsoft.com/office/drawing/2014/main" id="{62E04423-F711-9A2B-CECF-1B0F0B701798}"/>
                        </a:ext>
                      </a:extLst>
                    </p:cNvPr>
                    <p:cNvSpPr txBox="1">
                      <a:spLocks noRot="1" noChangeAspect="1" noMove="1" noResize="1" noEditPoints="1" noAdjustHandles="1" noChangeArrowheads="1" noChangeShapeType="1" noTextEdit="1"/>
                    </p:cNvSpPr>
                    <p:nvPr/>
                  </p:nvSpPr>
                  <p:spPr>
                    <a:xfrm>
                      <a:off x="2725190" y="3802732"/>
                      <a:ext cx="656857" cy="352529"/>
                    </a:xfrm>
                    <a:prstGeom prst="rect">
                      <a:avLst/>
                    </a:prstGeom>
                    <a:blipFill>
                      <a:blip r:embed="rId15"/>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4D87BB7-FA10-EC99-0531-A3916A36A12A}"/>
                        </a:ext>
                      </a:extLst>
                    </p:cNvPr>
                    <p:cNvSpPr txBox="1"/>
                    <p:nvPr/>
                  </p:nvSpPr>
                  <p:spPr>
                    <a:xfrm>
                      <a:off x="5211929" y="380273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3,</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39" name="TextBox 38">
                      <a:extLst>
                        <a:ext uri="{FF2B5EF4-FFF2-40B4-BE49-F238E27FC236}">
                          <a16:creationId xmlns:a16="http://schemas.microsoft.com/office/drawing/2014/main" id="{04D87BB7-FA10-EC99-0531-A3916A36A12A}"/>
                        </a:ext>
                      </a:extLst>
                    </p:cNvPr>
                    <p:cNvSpPr txBox="1">
                      <a:spLocks noRot="1" noChangeAspect="1" noMove="1" noResize="1" noEditPoints="1" noAdjustHandles="1" noChangeArrowheads="1" noChangeShapeType="1" noTextEdit="1"/>
                    </p:cNvSpPr>
                    <p:nvPr/>
                  </p:nvSpPr>
                  <p:spPr>
                    <a:xfrm>
                      <a:off x="5211929" y="3802732"/>
                      <a:ext cx="656857" cy="352529"/>
                    </a:xfrm>
                    <a:prstGeom prst="rect">
                      <a:avLst/>
                    </a:prstGeom>
                    <a:blipFill>
                      <a:blip r:embed="rId16"/>
                      <a:stretch>
                        <a:fillRect l="-10000"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FD3CFF-D245-9F65-EA90-26697C6E6C03}"/>
                        </a:ext>
                      </a:extLst>
                    </p:cNvPr>
                    <p:cNvSpPr txBox="1"/>
                    <p:nvPr/>
                  </p:nvSpPr>
                  <p:spPr>
                    <a:xfrm>
                      <a:off x="1977446"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40" name="TextBox 39">
                      <a:extLst>
                        <a:ext uri="{FF2B5EF4-FFF2-40B4-BE49-F238E27FC236}">
                          <a16:creationId xmlns:a16="http://schemas.microsoft.com/office/drawing/2014/main" id="{83FD3CFF-D245-9F65-EA90-26697C6E6C03}"/>
                        </a:ext>
                      </a:extLst>
                    </p:cNvPr>
                    <p:cNvSpPr txBox="1">
                      <a:spLocks noRot="1" noChangeAspect="1" noMove="1" noResize="1" noEditPoints="1" noAdjustHandles="1" noChangeArrowheads="1" noChangeShapeType="1" noTextEdit="1"/>
                    </p:cNvSpPr>
                    <p:nvPr/>
                  </p:nvSpPr>
                  <p:spPr>
                    <a:xfrm>
                      <a:off x="1977446" y="4810902"/>
                      <a:ext cx="656857" cy="352529"/>
                    </a:xfrm>
                    <a:prstGeom prst="rect">
                      <a:avLst/>
                    </a:prstGeom>
                    <a:blipFill>
                      <a:blip r:embed="rId17"/>
                      <a:stretch>
                        <a:fillRect l="-9677"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015AFA5-D3D6-0ACD-A74D-45BED5173B3F}"/>
                        </a:ext>
                      </a:extLst>
                    </p:cNvPr>
                    <p:cNvSpPr txBox="1"/>
                    <p:nvPr/>
                  </p:nvSpPr>
                  <p:spPr>
                    <a:xfrm>
                      <a:off x="2730451"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41" name="TextBox 40">
                      <a:extLst>
                        <a:ext uri="{FF2B5EF4-FFF2-40B4-BE49-F238E27FC236}">
                          <a16:creationId xmlns:a16="http://schemas.microsoft.com/office/drawing/2014/main" id="{3015AFA5-D3D6-0ACD-A74D-45BED5173B3F}"/>
                        </a:ext>
                      </a:extLst>
                    </p:cNvPr>
                    <p:cNvSpPr txBox="1">
                      <a:spLocks noRot="1" noChangeAspect="1" noMove="1" noResize="1" noEditPoints="1" noAdjustHandles="1" noChangeArrowheads="1" noChangeShapeType="1" noTextEdit="1"/>
                    </p:cNvSpPr>
                    <p:nvPr/>
                  </p:nvSpPr>
                  <p:spPr>
                    <a:xfrm>
                      <a:off x="2730451" y="4810902"/>
                      <a:ext cx="656857" cy="352529"/>
                    </a:xfrm>
                    <a:prstGeom prst="rect">
                      <a:avLst/>
                    </a:prstGeom>
                    <a:blipFill>
                      <a:blip r:embed="rId18"/>
                      <a:stretch>
                        <a:fillRect l="-13333" r="-333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1B631D1-BAF4-3429-0A35-1C96287533AC}"/>
                        </a:ext>
                      </a:extLst>
                    </p:cNvPr>
                    <p:cNvSpPr txBox="1"/>
                    <p:nvPr/>
                  </p:nvSpPr>
                  <p:spPr>
                    <a:xfrm>
                      <a:off x="5217188" y="4810902"/>
                      <a:ext cx="656857" cy="352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𝑌</m:t>
                                </m:r>
                              </m:e>
                              <m:sub>
                                <m:r>
                                  <a:rPr lang="en-US" sz="1600" b="0" i="1" smtClean="0">
                                    <a:solidFill>
                                      <a:schemeClr val="bg1"/>
                                    </a:solidFill>
                                    <a:latin typeface="Cambria Math" panose="02040503050406030204" pitchFamily="18" charset="0"/>
                                  </a:rPr>
                                  <m:t>𝑛</m:t>
                                </m:r>
                                <m:r>
                                  <a:rPr lang="en-US" sz="1600" b="0" i="1" smtClean="0">
                                    <a:solidFill>
                                      <a:schemeClr val="bg1"/>
                                    </a:solidFill>
                                    <a:latin typeface="Cambria Math" panose="02040503050406030204" pitchFamily="18" charset="0"/>
                                  </a:rPr>
                                  <m:t>,</m:t>
                                </m:r>
                                <m:r>
                                  <a:rPr lang="en-US" sz="1600" b="0" i="1" smtClean="0">
                                    <a:solidFill>
                                      <a:schemeClr val="bg1"/>
                                    </a:solidFill>
                                    <a:latin typeface="Cambria Math" panose="02040503050406030204" pitchFamily="18" charset="0"/>
                                  </a:rPr>
                                  <m:t>𝑇</m:t>
                                </m:r>
                              </m:sub>
                            </m:sSub>
                          </m:oMath>
                        </m:oMathPara>
                      </a14:m>
                      <a:endParaRPr lang="en-US" sz="1600" dirty="0">
                        <a:solidFill>
                          <a:schemeClr val="bg1"/>
                        </a:solidFill>
                      </a:endParaRPr>
                    </a:p>
                  </p:txBody>
                </p:sp>
              </mc:Choice>
              <mc:Fallback xmlns="">
                <p:sp>
                  <p:nvSpPr>
                    <p:cNvPr id="42" name="TextBox 41">
                      <a:extLst>
                        <a:ext uri="{FF2B5EF4-FFF2-40B4-BE49-F238E27FC236}">
                          <a16:creationId xmlns:a16="http://schemas.microsoft.com/office/drawing/2014/main" id="{51B631D1-BAF4-3429-0A35-1C96287533AC}"/>
                        </a:ext>
                      </a:extLst>
                    </p:cNvPr>
                    <p:cNvSpPr txBox="1">
                      <a:spLocks noRot="1" noChangeAspect="1" noMove="1" noResize="1" noEditPoints="1" noAdjustHandles="1" noChangeArrowheads="1" noChangeShapeType="1" noTextEdit="1"/>
                    </p:cNvSpPr>
                    <p:nvPr/>
                  </p:nvSpPr>
                  <p:spPr>
                    <a:xfrm>
                      <a:off x="5217188" y="4810902"/>
                      <a:ext cx="656857" cy="352529"/>
                    </a:xfrm>
                    <a:prstGeom prst="rect">
                      <a:avLst/>
                    </a:prstGeom>
                    <a:blipFill>
                      <a:blip r:embed="rId19"/>
                      <a:stretch>
                        <a:fillRect l="-12903" r="-3226"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578D74B-7025-0996-15BB-B94E2B33188F}"/>
                        </a:ext>
                      </a:extLst>
                    </p:cNvPr>
                    <p:cNvSpPr txBox="1"/>
                    <p:nvPr/>
                  </p:nvSpPr>
                  <p:spPr>
                    <a:xfrm>
                      <a:off x="2116562" y="4363343"/>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3" name="TextBox 42">
                      <a:extLst>
                        <a:ext uri="{FF2B5EF4-FFF2-40B4-BE49-F238E27FC236}">
                          <a16:creationId xmlns:a16="http://schemas.microsoft.com/office/drawing/2014/main" id="{2578D74B-7025-0996-15BB-B94E2B33188F}"/>
                        </a:ext>
                      </a:extLst>
                    </p:cNvPr>
                    <p:cNvSpPr txBox="1">
                      <a:spLocks noRot="1" noChangeAspect="1" noMove="1" noResize="1" noEditPoints="1" noAdjustHandles="1" noChangeArrowheads="1" noChangeShapeType="1" noTextEdit="1"/>
                    </p:cNvSpPr>
                    <p:nvPr/>
                  </p:nvSpPr>
                  <p:spPr>
                    <a:xfrm>
                      <a:off x="2116562" y="4363343"/>
                      <a:ext cx="486873" cy="4221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3499DF7-C507-ED19-ABFC-B45F4C4043B8}"/>
                        </a:ext>
                      </a:extLst>
                    </p:cNvPr>
                    <p:cNvSpPr txBox="1"/>
                    <p:nvPr/>
                  </p:nvSpPr>
                  <p:spPr>
                    <a:xfrm>
                      <a:off x="5356304" y="4338169"/>
                      <a:ext cx="486873" cy="4221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4" name="TextBox 43">
                      <a:extLst>
                        <a:ext uri="{FF2B5EF4-FFF2-40B4-BE49-F238E27FC236}">
                          <a16:creationId xmlns:a16="http://schemas.microsoft.com/office/drawing/2014/main" id="{E3499DF7-C507-ED19-ABFC-B45F4C4043B8}"/>
                        </a:ext>
                      </a:extLst>
                    </p:cNvPr>
                    <p:cNvSpPr txBox="1">
                      <a:spLocks noRot="1" noChangeAspect="1" noMove="1" noResize="1" noEditPoints="1" noAdjustHandles="1" noChangeArrowheads="1" noChangeShapeType="1" noTextEdit="1"/>
                    </p:cNvSpPr>
                    <p:nvPr/>
                  </p:nvSpPr>
                  <p:spPr>
                    <a:xfrm>
                      <a:off x="5356304" y="4338169"/>
                      <a:ext cx="486873" cy="42219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D8A27FE-9F25-EFC7-2980-9D15FE25282A}"/>
                        </a:ext>
                      </a:extLst>
                    </p:cNvPr>
                    <p:cNvSpPr txBox="1"/>
                    <p:nvPr/>
                  </p:nvSpPr>
                  <p:spPr>
                    <a:xfrm>
                      <a:off x="3804922" y="279888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5" name="TextBox 44">
                      <a:extLst>
                        <a:ext uri="{FF2B5EF4-FFF2-40B4-BE49-F238E27FC236}">
                          <a16:creationId xmlns:a16="http://schemas.microsoft.com/office/drawing/2014/main" id="{DD8A27FE-9F25-EFC7-2980-9D15FE25282A}"/>
                        </a:ext>
                      </a:extLst>
                    </p:cNvPr>
                    <p:cNvSpPr txBox="1">
                      <a:spLocks noRot="1" noChangeAspect="1" noMove="1" noResize="1" noEditPoints="1" noAdjustHandles="1" noChangeArrowheads="1" noChangeShapeType="1" noTextEdit="1"/>
                    </p:cNvSpPr>
                    <p:nvPr/>
                  </p:nvSpPr>
                  <p:spPr>
                    <a:xfrm>
                      <a:off x="3804922" y="2798885"/>
                      <a:ext cx="850773" cy="42219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BF4FF90-4CD7-32C1-8A72-028F2D7E68CE}"/>
                        </a:ext>
                      </a:extLst>
                    </p:cNvPr>
                    <p:cNvSpPr txBox="1"/>
                    <p:nvPr/>
                  </p:nvSpPr>
                  <p:spPr>
                    <a:xfrm>
                      <a:off x="3799342" y="4829425"/>
                      <a:ext cx="850773" cy="4221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bg1"/>
                                </a:solidFill>
                                <a:latin typeface="Cambria Math" panose="02040503050406030204" pitchFamily="18" charset="0"/>
                              </a:rPr>
                              <m:t>⋯</m:t>
                            </m:r>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8BF4FF90-4CD7-32C1-8A72-028F2D7E68CE}"/>
                        </a:ext>
                      </a:extLst>
                    </p:cNvPr>
                    <p:cNvSpPr txBox="1">
                      <a:spLocks noRot="1" noChangeAspect="1" noMove="1" noResize="1" noEditPoints="1" noAdjustHandles="1" noChangeArrowheads="1" noChangeShapeType="1" noTextEdit="1"/>
                    </p:cNvSpPr>
                    <p:nvPr/>
                  </p:nvSpPr>
                  <p:spPr>
                    <a:xfrm>
                      <a:off x="3799342" y="4829425"/>
                      <a:ext cx="850773" cy="422192"/>
                    </a:xfrm>
                    <a:prstGeom prst="rect">
                      <a:avLst/>
                    </a:prstGeom>
                    <a:blipFill>
                      <a:blip r:embed="rId23"/>
                      <a:stretch>
                        <a:fillRect/>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1508616A-BC33-3E72-6A6D-698AB027711A}"/>
                  </a:ext>
                </a:extLst>
              </p:cNvPr>
              <p:cNvSpPr txBox="1"/>
              <p:nvPr/>
            </p:nvSpPr>
            <p:spPr>
              <a:xfrm>
                <a:off x="6495163" y="5620443"/>
                <a:ext cx="633048" cy="458763"/>
              </a:xfrm>
              <a:prstGeom prst="rect">
                <a:avLst/>
              </a:prstGeom>
              <a:noFill/>
            </p:spPr>
            <p:txBody>
              <a:bodyPr wrap="none" rtlCol="0">
                <a:spAutoFit/>
              </a:bodyPr>
              <a:lstStyle/>
              <a:p>
                <a:r>
                  <a:rPr lang="en-US" sz="1050" dirty="0"/>
                  <a:t>UK</a:t>
                </a:r>
              </a:p>
            </p:txBody>
          </p:sp>
          <p:sp>
            <p:nvSpPr>
              <p:cNvPr id="22" name="TextBox 21">
                <a:extLst>
                  <a:ext uri="{FF2B5EF4-FFF2-40B4-BE49-F238E27FC236}">
                    <a16:creationId xmlns:a16="http://schemas.microsoft.com/office/drawing/2014/main" id="{8D338319-7CBB-B358-00FE-AA5CBA0A7DE0}"/>
                  </a:ext>
                </a:extLst>
              </p:cNvPr>
              <p:cNvSpPr txBox="1"/>
              <p:nvPr/>
            </p:nvSpPr>
            <p:spPr>
              <a:xfrm>
                <a:off x="5201762" y="4333775"/>
                <a:ext cx="1908362" cy="445271"/>
              </a:xfrm>
              <a:prstGeom prst="rect">
                <a:avLst/>
              </a:prstGeom>
              <a:noFill/>
            </p:spPr>
            <p:txBody>
              <a:bodyPr wrap="square" rtlCol="0">
                <a:spAutoFit/>
              </a:bodyPr>
              <a:lstStyle/>
              <a:p>
                <a:pPr algn="r"/>
                <a:r>
                  <a:rPr lang="en-US" sz="1050" dirty="0"/>
                  <a:t>Netherlands</a:t>
                </a:r>
              </a:p>
            </p:txBody>
          </p:sp>
          <p:sp>
            <p:nvSpPr>
              <p:cNvPr id="23" name="TextBox 22">
                <a:extLst>
                  <a:ext uri="{FF2B5EF4-FFF2-40B4-BE49-F238E27FC236}">
                    <a16:creationId xmlns:a16="http://schemas.microsoft.com/office/drawing/2014/main" id="{49A0C023-EEDB-6291-F0F0-AD9CDB060E9B}"/>
                  </a:ext>
                </a:extLst>
              </p:cNvPr>
              <p:cNvSpPr txBox="1"/>
              <p:nvPr/>
            </p:nvSpPr>
            <p:spPr>
              <a:xfrm>
                <a:off x="6957439" y="2266153"/>
                <a:ext cx="1046722" cy="458763"/>
              </a:xfrm>
              <a:prstGeom prst="rect">
                <a:avLst/>
              </a:prstGeom>
              <a:noFill/>
            </p:spPr>
            <p:txBody>
              <a:bodyPr wrap="square" rtlCol="0">
                <a:spAutoFit/>
              </a:bodyPr>
              <a:lstStyle/>
              <a:p>
                <a:pPr algn="r"/>
                <a:r>
                  <a:rPr lang="en-US" sz="1100" dirty="0"/>
                  <a:t>1995</a:t>
                </a:r>
              </a:p>
            </p:txBody>
          </p:sp>
          <p:sp>
            <p:nvSpPr>
              <p:cNvPr id="24" name="TextBox 23">
                <a:extLst>
                  <a:ext uri="{FF2B5EF4-FFF2-40B4-BE49-F238E27FC236}">
                    <a16:creationId xmlns:a16="http://schemas.microsoft.com/office/drawing/2014/main" id="{38B5D0C6-AD06-E195-B010-22BFF897512A}"/>
                  </a:ext>
                </a:extLst>
              </p:cNvPr>
              <p:cNvSpPr txBox="1"/>
              <p:nvPr/>
            </p:nvSpPr>
            <p:spPr>
              <a:xfrm>
                <a:off x="7677650" y="2237726"/>
                <a:ext cx="1046722" cy="458763"/>
              </a:xfrm>
              <a:prstGeom prst="rect">
                <a:avLst/>
              </a:prstGeom>
              <a:noFill/>
            </p:spPr>
            <p:txBody>
              <a:bodyPr wrap="square" rtlCol="0">
                <a:spAutoFit/>
              </a:bodyPr>
              <a:lstStyle/>
              <a:p>
                <a:pPr algn="r"/>
                <a:r>
                  <a:rPr lang="en-US" sz="1100" dirty="0"/>
                  <a:t>1996</a:t>
                </a:r>
              </a:p>
            </p:txBody>
          </p:sp>
          <p:sp>
            <p:nvSpPr>
              <p:cNvPr id="25" name="TextBox 24">
                <a:extLst>
                  <a:ext uri="{FF2B5EF4-FFF2-40B4-BE49-F238E27FC236}">
                    <a16:creationId xmlns:a16="http://schemas.microsoft.com/office/drawing/2014/main" id="{A6812297-1A11-6E69-4AD4-24BC93C33070}"/>
                  </a:ext>
                </a:extLst>
              </p:cNvPr>
              <p:cNvSpPr txBox="1"/>
              <p:nvPr/>
            </p:nvSpPr>
            <p:spPr>
              <a:xfrm>
                <a:off x="10260330" y="2251157"/>
                <a:ext cx="1046722" cy="458763"/>
              </a:xfrm>
              <a:prstGeom prst="rect">
                <a:avLst/>
              </a:prstGeom>
              <a:noFill/>
            </p:spPr>
            <p:txBody>
              <a:bodyPr wrap="square" rtlCol="0">
                <a:spAutoFit/>
              </a:bodyPr>
              <a:lstStyle/>
              <a:p>
                <a:pPr algn="r"/>
                <a:r>
                  <a:rPr lang="en-US" sz="1100" dirty="0"/>
                  <a:t>2022</a:t>
                </a:r>
              </a:p>
            </p:txBody>
          </p:sp>
          <p:sp>
            <p:nvSpPr>
              <p:cNvPr id="26" name="Oval 25">
                <a:extLst>
                  <a:ext uri="{FF2B5EF4-FFF2-40B4-BE49-F238E27FC236}">
                    <a16:creationId xmlns:a16="http://schemas.microsoft.com/office/drawing/2014/main" id="{D5737BA5-B55C-5A4F-EA99-6FC714692528}"/>
                  </a:ext>
                </a:extLst>
              </p:cNvPr>
              <p:cNvSpPr/>
              <p:nvPr/>
            </p:nvSpPr>
            <p:spPr>
              <a:xfrm>
                <a:off x="7791285" y="4042785"/>
                <a:ext cx="1105505" cy="776935"/>
              </a:xfrm>
              <a:prstGeom prst="ellipse">
                <a:avLst/>
              </a:prstGeom>
              <a:noFill/>
              <a:ln w="57150">
                <a:solidFill>
                  <a:schemeClr val="accent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TextBox 26">
                <a:extLst>
                  <a:ext uri="{FF2B5EF4-FFF2-40B4-BE49-F238E27FC236}">
                    <a16:creationId xmlns:a16="http://schemas.microsoft.com/office/drawing/2014/main" id="{1AD33FD5-44EA-FAA1-A5F9-AA3F35B996DA}"/>
                  </a:ext>
                </a:extLst>
              </p:cNvPr>
              <p:cNvSpPr txBox="1"/>
              <p:nvPr/>
            </p:nvSpPr>
            <p:spPr>
              <a:xfrm>
                <a:off x="8724170" y="1358539"/>
                <a:ext cx="2514114" cy="755609"/>
              </a:xfrm>
              <a:prstGeom prst="rect">
                <a:avLst/>
              </a:prstGeom>
              <a:noFill/>
            </p:spPr>
            <p:txBody>
              <a:bodyPr wrap="square" rtlCol="0">
                <a:spAutoFit/>
              </a:bodyPr>
              <a:lstStyle/>
              <a:p>
                <a:pPr algn="ctr"/>
                <a:r>
                  <a:rPr lang="en-US" sz="1100" dirty="0">
                    <a:solidFill>
                      <a:schemeClr val="accent2"/>
                    </a:solidFill>
                  </a:rPr>
                  <a:t>GDP of Netherlands in 1996</a:t>
                </a:r>
              </a:p>
            </p:txBody>
          </p:sp>
          <p:cxnSp>
            <p:nvCxnSpPr>
              <p:cNvPr id="28" name="Curved Connector 27">
                <a:extLst>
                  <a:ext uri="{FF2B5EF4-FFF2-40B4-BE49-F238E27FC236}">
                    <a16:creationId xmlns:a16="http://schemas.microsoft.com/office/drawing/2014/main" id="{A0CF4F3E-73FC-8659-92F4-D4AD22D94E04}"/>
                  </a:ext>
                </a:extLst>
              </p:cNvPr>
              <p:cNvCxnSpPr>
                <a:cxnSpLocks/>
                <a:stCxn id="27" idx="1"/>
                <a:endCxn id="26" idx="6"/>
              </p:cNvCxnSpPr>
              <p:nvPr/>
            </p:nvCxnSpPr>
            <p:spPr>
              <a:xfrm rot="10800000" flipH="1" flipV="1">
                <a:off x="8724168" y="1736345"/>
                <a:ext cx="172621" cy="2694908"/>
              </a:xfrm>
              <a:prstGeom prst="curvedConnector5">
                <a:avLst>
                  <a:gd name="adj1" fmla="val -232230"/>
                  <a:gd name="adj2" fmla="val 49802"/>
                  <a:gd name="adj3" fmla="val 332230"/>
                </a:avLst>
              </a:prstGeom>
              <a:ln>
                <a:solidFill>
                  <a:schemeClr val="accent2"/>
                </a:solidFill>
                <a:tailEnd type="triangle"/>
              </a:ln>
              <a:effectLst>
                <a:outerShdw blurRad="50800" dist="38100" dir="8100000" algn="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9C211D22-D6CE-2A1C-73AA-CE0F41F37625}"/>
                </a:ext>
              </a:extLst>
            </p:cNvPr>
            <p:cNvSpPr txBox="1"/>
            <p:nvPr/>
          </p:nvSpPr>
          <p:spPr>
            <a:xfrm>
              <a:off x="4453750" y="6365675"/>
              <a:ext cx="464919" cy="336922"/>
            </a:xfrm>
            <a:prstGeom prst="rect">
              <a:avLst/>
            </a:prstGeom>
            <a:solidFill>
              <a:schemeClr val="bg1"/>
            </a:solidFill>
          </p:spPr>
          <p:txBody>
            <a:bodyPr wrap="none" rtlCol="0">
              <a:spAutoFit/>
            </a:bodyPr>
            <a:lstStyle/>
            <a:p>
              <a:r>
                <a:rPr lang="en-US" sz="1050" dirty="0"/>
                <a:t>UK</a:t>
              </a:r>
            </a:p>
          </p:txBody>
        </p:sp>
        <p:sp>
          <p:nvSpPr>
            <p:cNvPr id="10" name="TextBox 9">
              <a:extLst>
                <a:ext uri="{FF2B5EF4-FFF2-40B4-BE49-F238E27FC236}">
                  <a16:creationId xmlns:a16="http://schemas.microsoft.com/office/drawing/2014/main" id="{29147419-8101-AB42-65A7-E604CA79C34C}"/>
                </a:ext>
              </a:extLst>
            </p:cNvPr>
            <p:cNvSpPr txBox="1"/>
            <p:nvPr/>
          </p:nvSpPr>
          <p:spPr>
            <a:xfrm>
              <a:off x="3635524" y="5420728"/>
              <a:ext cx="1269862" cy="327013"/>
            </a:xfrm>
            <a:prstGeom prst="rect">
              <a:avLst/>
            </a:prstGeom>
            <a:solidFill>
              <a:schemeClr val="bg1"/>
            </a:solidFill>
          </p:spPr>
          <p:txBody>
            <a:bodyPr wrap="square" rtlCol="0">
              <a:spAutoFit/>
            </a:bodyPr>
            <a:lstStyle/>
            <a:p>
              <a:pPr algn="r"/>
              <a:r>
                <a:rPr lang="en-US" sz="1050" dirty="0"/>
                <a:t>Netherlands</a:t>
              </a:r>
            </a:p>
          </p:txBody>
        </p:sp>
        <p:sp>
          <p:nvSpPr>
            <p:cNvPr id="11" name="TextBox 10">
              <a:extLst>
                <a:ext uri="{FF2B5EF4-FFF2-40B4-BE49-F238E27FC236}">
                  <a16:creationId xmlns:a16="http://schemas.microsoft.com/office/drawing/2014/main" id="{56E42F0E-DA9D-2F64-A386-EAF7BC49BB97}"/>
                </a:ext>
              </a:extLst>
            </p:cNvPr>
            <p:cNvSpPr txBox="1"/>
            <p:nvPr/>
          </p:nvSpPr>
          <p:spPr>
            <a:xfrm>
              <a:off x="3770111" y="4182331"/>
              <a:ext cx="1130318" cy="336922"/>
            </a:xfrm>
            <a:prstGeom prst="rect">
              <a:avLst/>
            </a:prstGeom>
            <a:solidFill>
              <a:schemeClr val="bg1"/>
            </a:solidFill>
          </p:spPr>
          <p:txBody>
            <a:bodyPr wrap="square" rtlCol="0">
              <a:spAutoFit/>
            </a:bodyPr>
            <a:lstStyle/>
            <a:p>
              <a:pPr algn="r"/>
              <a:r>
                <a:rPr lang="en-US" sz="1050" dirty="0"/>
                <a:t>Iceland</a:t>
              </a:r>
            </a:p>
          </p:txBody>
        </p:sp>
        <p:sp>
          <p:nvSpPr>
            <p:cNvPr id="12" name="TextBox 11">
              <a:extLst>
                <a:ext uri="{FF2B5EF4-FFF2-40B4-BE49-F238E27FC236}">
                  <a16:creationId xmlns:a16="http://schemas.microsoft.com/office/drawing/2014/main" id="{306065BA-EEA0-0BCF-E844-8C5DD7628872}"/>
                </a:ext>
              </a:extLst>
            </p:cNvPr>
            <p:cNvSpPr txBox="1"/>
            <p:nvPr/>
          </p:nvSpPr>
          <p:spPr>
            <a:xfrm>
              <a:off x="3770111" y="5931788"/>
              <a:ext cx="1130318" cy="336922"/>
            </a:xfrm>
            <a:prstGeom prst="rect">
              <a:avLst/>
            </a:prstGeom>
            <a:solidFill>
              <a:schemeClr val="bg1"/>
            </a:solidFill>
          </p:spPr>
          <p:txBody>
            <a:bodyPr wrap="square" rtlCol="0">
              <a:spAutoFit/>
            </a:bodyPr>
            <a:lstStyle/>
            <a:p>
              <a:pPr algn="r"/>
              <a:r>
                <a:rPr lang="en-US" sz="1050" dirty="0"/>
                <a:t>France</a:t>
              </a:r>
            </a:p>
          </p:txBody>
        </p:sp>
        <p:sp>
          <p:nvSpPr>
            <p:cNvPr id="13" name="TextBox 12">
              <a:extLst>
                <a:ext uri="{FF2B5EF4-FFF2-40B4-BE49-F238E27FC236}">
                  <a16:creationId xmlns:a16="http://schemas.microsoft.com/office/drawing/2014/main" id="{0658085C-BC61-A12C-5B56-537265451533}"/>
                </a:ext>
              </a:extLst>
            </p:cNvPr>
            <p:cNvSpPr txBox="1"/>
            <p:nvPr/>
          </p:nvSpPr>
          <p:spPr>
            <a:xfrm>
              <a:off x="7716388" y="5842246"/>
              <a:ext cx="1130318" cy="336922"/>
            </a:xfrm>
            <a:prstGeom prst="rect">
              <a:avLst/>
            </a:prstGeom>
            <a:noFill/>
          </p:spPr>
          <p:txBody>
            <a:bodyPr wrap="square" rtlCol="0">
              <a:spAutoFit/>
            </a:bodyPr>
            <a:lstStyle/>
            <a:p>
              <a:pPr algn="r"/>
              <a:r>
                <a:rPr lang="en-US" sz="1050" dirty="0"/>
                <a:t>France</a:t>
              </a:r>
            </a:p>
          </p:txBody>
        </p:sp>
        <p:sp>
          <p:nvSpPr>
            <p:cNvPr id="14" name="TextBox 13">
              <a:extLst>
                <a:ext uri="{FF2B5EF4-FFF2-40B4-BE49-F238E27FC236}">
                  <a16:creationId xmlns:a16="http://schemas.microsoft.com/office/drawing/2014/main" id="{192B5410-3426-6342-77FB-3A3561228FC5}"/>
                </a:ext>
              </a:extLst>
            </p:cNvPr>
            <p:cNvSpPr txBox="1"/>
            <p:nvPr/>
          </p:nvSpPr>
          <p:spPr>
            <a:xfrm>
              <a:off x="5693117" y="3801677"/>
              <a:ext cx="760889" cy="336922"/>
            </a:xfrm>
            <a:prstGeom prst="rect">
              <a:avLst/>
            </a:prstGeom>
            <a:noFill/>
          </p:spPr>
          <p:txBody>
            <a:bodyPr wrap="square" rtlCol="0">
              <a:spAutoFit/>
            </a:bodyPr>
            <a:lstStyle/>
            <a:p>
              <a:pPr algn="r"/>
              <a:r>
                <a:rPr lang="en-US" sz="1100" dirty="0"/>
                <a:t>1995</a:t>
              </a:r>
            </a:p>
          </p:txBody>
        </p:sp>
        <p:sp>
          <p:nvSpPr>
            <p:cNvPr id="15" name="TextBox 14">
              <a:extLst>
                <a:ext uri="{FF2B5EF4-FFF2-40B4-BE49-F238E27FC236}">
                  <a16:creationId xmlns:a16="http://schemas.microsoft.com/office/drawing/2014/main" id="{5BFD0FA4-0E42-D136-66CE-DD9E4DE5B932}"/>
                </a:ext>
              </a:extLst>
            </p:cNvPr>
            <p:cNvSpPr txBox="1"/>
            <p:nvPr/>
          </p:nvSpPr>
          <p:spPr>
            <a:xfrm>
              <a:off x="6222052" y="3780798"/>
              <a:ext cx="807780" cy="336922"/>
            </a:xfrm>
            <a:prstGeom prst="rect">
              <a:avLst/>
            </a:prstGeom>
            <a:noFill/>
          </p:spPr>
          <p:txBody>
            <a:bodyPr wrap="square" rtlCol="0">
              <a:spAutoFit/>
            </a:bodyPr>
            <a:lstStyle/>
            <a:p>
              <a:pPr algn="r"/>
              <a:r>
                <a:rPr lang="en-US" sz="1100" dirty="0"/>
                <a:t>1996</a:t>
              </a:r>
            </a:p>
          </p:txBody>
        </p:sp>
        <p:sp>
          <p:nvSpPr>
            <p:cNvPr id="16" name="TextBox 15">
              <a:extLst>
                <a:ext uri="{FF2B5EF4-FFF2-40B4-BE49-F238E27FC236}">
                  <a16:creationId xmlns:a16="http://schemas.microsoft.com/office/drawing/2014/main" id="{C326060A-4635-0B23-A28D-36A51585B124}"/>
                </a:ext>
              </a:extLst>
            </p:cNvPr>
            <p:cNvSpPr txBox="1"/>
            <p:nvPr/>
          </p:nvSpPr>
          <p:spPr>
            <a:xfrm>
              <a:off x="7558763" y="3801677"/>
              <a:ext cx="793903" cy="336922"/>
            </a:xfrm>
            <a:prstGeom prst="rect">
              <a:avLst/>
            </a:prstGeom>
            <a:noFill/>
          </p:spPr>
          <p:txBody>
            <a:bodyPr wrap="square" rtlCol="0">
              <a:spAutoFit/>
            </a:bodyPr>
            <a:lstStyle/>
            <a:p>
              <a:pPr algn="r"/>
              <a:r>
                <a:rPr lang="en-US" sz="1100" dirty="0"/>
                <a:t>2022</a:t>
              </a:r>
            </a:p>
          </p:txBody>
        </p:sp>
      </p:grpSp>
      <p:sp>
        <p:nvSpPr>
          <p:cNvPr id="49" name="TextBox 48">
            <a:extLst>
              <a:ext uri="{FF2B5EF4-FFF2-40B4-BE49-F238E27FC236}">
                <a16:creationId xmlns:a16="http://schemas.microsoft.com/office/drawing/2014/main" id="{EC314BFF-A9E5-FBA4-15C4-A0D60D81DB13}"/>
              </a:ext>
            </a:extLst>
          </p:cNvPr>
          <p:cNvSpPr txBox="1"/>
          <p:nvPr/>
        </p:nvSpPr>
        <p:spPr>
          <a:xfrm>
            <a:off x="296505" y="5070401"/>
            <a:ext cx="1173026" cy="646331"/>
          </a:xfrm>
          <a:prstGeom prst="rect">
            <a:avLst/>
          </a:prstGeom>
          <a:noFill/>
        </p:spPr>
        <p:txBody>
          <a:bodyPr wrap="square" rtlCol="0">
            <a:spAutoFit/>
          </a:bodyPr>
          <a:lstStyle/>
          <a:p>
            <a:pPr algn="ctr"/>
            <a:r>
              <a:rPr lang="en-US" dirty="0">
                <a:solidFill>
                  <a:schemeClr val="accent1"/>
                </a:solidFill>
              </a:rPr>
              <a:t> “average GDP”</a:t>
            </a:r>
          </a:p>
        </p:txBody>
      </p:sp>
      <p:sp>
        <p:nvSpPr>
          <p:cNvPr id="50" name="TextBox 49">
            <a:extLst>
              <a:ext uri="{FF2B5EF4-FFF2-40B4-BE49-F238E27FC236}">
                <a16:creationId xmlns:a16="http://schemas.microsoft.com/office/drawing/2014/main" id="{E78E27D6-B297-3279-D0B9-7C858AE53A81}"/>
              </a:ext>
            </a:extLst>
          </p:cNvPr>
          <p:cNvSpPr txBox="1"/>
          <p:nvPr/>
        </p:nvSpPr>
        <p:spPr>
          <a:xfrm>
            <a:off x="619326" y="5829146"/>
            <a:ext cx="1173026" cy="923330"/>
          </a:xfrm>
          <a:prstGeom prst="rect">
            <a:avLst/>
          </a:prstGeom>
          <a:noFill/>
        </p:spPr>
        <p:txBody>
          <a:bodyPr wrap="square" rtlCol="0">
            <a:spAutoFit/>
          </a:bodyPr>
          <a:lstStyle/>
          <a:p>
            <a:pPr algn="ctr"/>
            <a:r>
              <a:rPr lang="en-US" dirty="0">
                <a:solidFill>
                  <a:schemeClr val="accent2"/>
                </a:solidFill>
              </a:rPr>
              <a:t> “average growth rate”</a:t>
            </a:r>
          </a:p>
        </p:txBody>
      </p:sp>
      <p:sp>
        <p:nvSpPr>
          <p:cNvPr id="51" name="TextBox 50">
            <a:extLst>
              <a:ext uri="{FF2B5EF4-FFF2-40B4-BE49-F238E27FC236}">
                <a16:creationId xmlns:a16="http://schemas.microsoft.com/office/drawing/2014/main" id="{3A82A2D6-CCDD-D4BF-7644-D99B21EF1EC0}"/>
              </a:ext>
            </a:extLst>
          </p:cNvPr>
          <p:cNvSpPr txBox="1"/>
          <p:nvPr/>
        </p:nvSpPr>
        <p:spPr>
          <a:xfrm>
            <a:off x="1676390" y="4628817"/>
            <a:ext cx="1173026" cy="1200329"/>
          </a:xfrm>
          <a:prstGeom prst="rect">
            <a:avLst/>
          </a:prstGeom>
          <a:noFill/>
        </p:spPr>
        <p:txBody>
          <a:bodyPr wrap="square" rtlCol="0">
            <a:spAutoFit/>
          </a:bodyPr>
          <a:lstStyle/>
          <a:p>
            <a:pPr algn="ctr"/>
            <a:r>
              <a:rPr lang="en-US" dirty="0">
                <a:solidFill>
                  <a:schemeClr val="accent5"/>
                </a:solidFill>
              </a:rPr>
              <a:t> “how well did you do in 2008?”</a:t>
            </a:r>
          </a:p>
        </p:txBody>
      </p:sp>
      <p:sp>
        <p:nvSpPr>
          <p:cNvPr id="52" name="Freeform 51">
            <a:extLst>
              <a:ext uri="{FF2B5EF4-FFF2-40B4-BE49-F238E27FC236}">
                <a16:creationId xmlns:a16="http://schemas.microsoft.com/office/drawing/2014/main" id="{92796ECD-67E3-B46B-A709-6759AD175EDD}"/>
              </a:ext>
            </a:extLst>
          </p:cNvPr>
          <p:cNvSpPr/>
          <p:nvPr/>
        </p:nvSpPr>
        <p:spPr>
          <a:xfrm>
            <a:off x="862149" y="4506686"/>
            <a:ext cx="78377" cy="653143"/>
          </a:xfrm>
          <a:custGeom>
            <a:avLst/>
            <a:gdLst>
              <a:gd name="connsiteX0" fmla="*/ 0 w 78377"/>
              <a:gd name="connsiteY0" fmla="*/ 653143 h 653143"/>
              <a:gd name="connsiteX1" fmla="*/ 78377 w 78377"/>
              <a:gd name="connsiteY1" fmla="*/ 0 h 653143"/>
            </a:gdLst>
            <a:ahLst/>
            <a:cxnLst>
              <a:cxn ang="0">
                <a:pos x="connsiteX0" y="connsiteY0"/>
              </a:cxn>
              <a:cxn ang="0">
                <a:pos x="connsiteX1" y="connsiteY1"/>
              </a:cxn>
            </a:cxnLst>
            <a:rect l="l" t="t" r="r" b="b"/>
            <a:pathLst>
              <a:path w="78377" h="653143">
                <a:moveTo>
                  <a:pt x="0" y="653143"/>
                </a:moveTo>
                <a:lnTo>
                  <a:pt x="78377" y="0"/>
                </a:ln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2">
            <a:extLst>
              <a:ext uri="{FF2B5EF4-FFF2-40B4-BE49-F238E27FC236}">
                <a16:creationId xmlns:a16="http://schemas.microsoft.com/office/drawing/2014/main" id="{6279B771-C7E5-DC1D-846B-87A3E657A0A7}"/>
              </a:ext>
            </a:extLst>
          </p:cNvPr>
          <p:cNvSpPr/>
          <p:nvPr/>
        </p:nvSpPr>
        <p:spPr>
          <a:xfrm>
            <a:off x="1123406" y="4532811"/>
            <a:ext cx="431628" cy="1347002"/>
          </a:xfrm>
          <a:custGeom>
            <a:avLst/>
            <a:gdLst>
              <a:gd name="connsiteX0" fmla="*/ 156754 w 431628"/>
              <a:gd name="connsiteY0" fmla="*/ 1319349 h 1347002"/>
              <a:gd name="connsiteX1" fmla="*/ 104503 w 431628"/>
              <a:gd name="connsiteY1" fmla="*/ 1319349 h 1347002"/>
              <a:gd name="connsiteX2" fmla="*/ 235131 w 431628"/>
              <a:gd name="connsiteY2" fmla="*/ 1031966 h 1347002"/>
              <a:gd name="connsiteX3" fmla="*/ 431074 w 431628"/>
              <a:gd name="connsiteY3" fmla="*/ 692332 h 1347002"/>
              <a:gd name="connsiteX4" fmla="*/ 169817 w 431628"/>
              <a:gd name="connsiteY4" fmla="*/ 339635 h 1347002"/>
              <a:gd name="connsiteX5" fmla="*/ 0 w 431628"/>
              <a:gd name="connsiteY5" fmla="*/ 0 h 134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1628" h="1347002">
                <a:moveTo>
                  <a:pt x="156754" y="1319349"/>
                </a:moveTo>
                <a:cubicBezTo>
                  <a:pt x="124097" y="1343297"/>
                  <a:pt x="91440" y="1367246"/>
                  <a:pt x="104503" y="1319349"/>
                </a:cubicBezTo>
                <a:cubicBezTo>
                  <a:pt x="117566" y="1271452"/>
                  <a:pt x="180703" y="1136469"/>
                  <a:pt x="235131" y="1031966"/>
                </a:cubicBezTo>
                <a:cubicBezTo>
                  <a:pt x="289560" y="927463"/>
                  <a:pt x="441960" y="807720"/>
                  <a:pt x="431074" y="692332"/>
                </a:cubicBezTo>
                <a:cubicBezTo>
                  <a:pt x="420188" y="576944"/>
                  <a:pt x="241663" y="455024"/>
                  <a:pt x="169817" y="339635"/>
                </a:cubicBezTo>
                <a:cubicBezTo>
                  <a:pt x="97971" y="224246"/>
                  <a:pt x="48985" y="112123"/>
                  <a:pt x="0" y="0"/>
                </a:cubicBezTo>
              </a:path>
            </a:pathLst>
          </a:custGeom>
          <a:noFill/>
          <a:ln>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642A93FC-E8AA-1A9A-0485-9C791370E04C}"/>
              </a:ext>
            </a:extLst>
          </p:cNvPr>
          <p:cNvSpPr/>
          <p:nvPr/>
        </p:nvSpPr>
        <p:spPr>
          <a:xfrm>
            <a:off x="1331574" y="4335105"/>
            <a:ext cx="990856" cy="453844"/>
          </a:xfrm>
          <a:custGeom>
            <a:avLst/>
            <a:gdLst>
              <a:gd name="connsiteX0" fmla="*/ 967489 w 990856"/>
              <a:gd name="connsiteY0" fmla="*/ 276084 h 453844"/>
              <a:gd name="connsiteX1" fmla="*/ 915237 w 990856"/>
              <a:gd name="connsiteY1" fmla="*/ 1764 h 453844"/>
              <a:gd name="connsiteX2" fmla="*/ 340472 w 990856"/>
              <a:gd name="connsiteY2" fmla="*/ 393649 h 453844"/>
              <a:gd name="connsiteX3" fmla="*/ 53089 w 990856"/>
              <a:gd name="connsiteY3" fmla="*/ 432838 h 453844"/>
              <a:gd name="connsiteX4" fmla="*/ 837 w 990856"/>
              <a:gd name="connsiteY4" fmla="*/ 197706 h 453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856" h="453844">
                <a:moveTo>
                  <a:pt x="967489" y="276084"/>
                </a:moveTo>
                <a:cubicBezTo>
                  <a:pt x="993614" y="129127"/>
                  <a:pt x="1019740" y="-17830"/>
                  <a:pt x="915237" y="1764"/>
                </a:cubicBezTo>
                <a:cubicBezTo>
                  <a:pt x="810734" y="21358"/>
                  <a:pt x="484163" y="321803"/>
                  <a:pt x="340472" y="393649"/>
                </a:cubicBezTo>
                <a:cubicBezTo>
                  <a:pt x="196781" y="465495"/>
                  <a:pt x="109695" y="465495"/>
                  <a:pt x="53089" y="432838"/>
                </a:cubicBezTo>
                <a:cubicBezTo>
                  <a:pt x="-3517" y="400181"/>
                  <a:pt x="-1340" y="298943"/>
                  <a:pt x="837" y="197706"/>
                </a:cubicBezTo>
              </a:path>
            </a:pathLst>
          </a:custGeom>
          <a:noFill/>
          <a:ln>
            <a:solidFill>
              <a:schemeClr val="accent5"/>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8472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9A75-093B-D9BC-1E71-AF820F14C4E7}"/>
              </a:ext>
            </a:extLst>
          </p:cNvPr>
          <p:cNvSpPr>
            <a:spLocks noGrp="1"/>
          </p:cNvSpPr>
          <p:nvPr>
            <p:ph type="title"/>
          </p:nvPr>
        </p:nvSpPr>
        <p:spPr/>
        <p:txBody>
          <a:bodyPr/>
          <a:lstStyle/>
          <a:p>
            <a:r>
              <a:rPr lang="en-US" dirty="0"/>
              <a:t>But none of this feels “causal”</a:t>
            </a:r>
          </a:p>
        </p:txBody>
      </p:sp>
      <p:sp>
        <p:nvSpPr>
          <p:cNvPr id="3" name="Content Placeholder 2">
            <a:extLst>
              <a:ext uri="{FF2B5EF4-FFF2-40B4-BE49-F238E27FC236}">
                <a16:creationId xmlns:a16="http://schemas.microsoft.com/office/drawing/2014/main" id="{CC6BEFD6-8880-2967-530B-DAE337456C65}"/>
              </a:ext>
            </a:extLst>
          </p:cNvPr>
          <p:cNvSpPr>
            <a:spLocks noGrp="1"/>
          </p:cNvSpPr>
          <p:nvPr>
            <p:ph idx="1"/>
          </p:nvPr>
        </p:nvSpPr>
        <p:spPr/>
        <p:txBody>
          <a:bodyPr/>
          <a:lstStyle/>
          <a:p>
            <a:r>
              <a:rPr lang="en-US" dirty="0"/>
              <a:t>This is just a descriptive model of the data!</a:t>
            </a:r>
          </a:p>
          <a:p>
            <a:endParaRPr lang="en-US" dirty="0"/>
          </a:p>
          <a:p>
            <a:r>
              <a:rPr lang="en-US" b="1" dirty="0"/>
              <a:t>Idea: </a:t>
            </a:r>
            <a:r>
              <a:rPr lang="en-US" dirty="0"/>
              <a:t>We can use this descriptive model to predict counterfactuals!</a:t>
            </a:r>
          </a:p>
          <a:p>
            <a:r>
              <a:rPr lang="en-US" dirty="0"/>
              <a:t>That will tell us something causal!</a:t>
            </a:r>
          </a:p>
        </p:txBody>
      </p:sp>
    </p:spTree>
    <p:extLst>
      <p:ext uri="{BB962C8B-B14F-4D97-AF65-F5344CB8AC3E}">
        <p14:creationId xmlns:p14="http://schemas.microsoft.com/office/powerpoint/2010/main" val="2044785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64C15-B54A-A289-1D97-37F9353F73BE}"/>
              </a:ext>
            </a:extLst>
          </p:cNvPr>
          <p:cNvSpPr>
            <a:spLocks noGrp="1"/>
          </p:cNvSpPr>
          <p:nvPr>
            <p:ph type="title"/>
          </p:nvPr>
        </p:nvSpPr>
        <p:spPr/>
        <p:txBody>
          <a:bodyPr/>
          <a:lstStyle/>
          <a:p>
            <a:r>
              <a:rPr lang="en-US" dirty="0"/>
              <a:t>Matrix Completion</a:t>
            </a:r>
          </a:p>
        </p:txBody>
      </p:sp>
      <p:sp>
        <p:nvSpPr>
          <p:cNvPr id="3" name="Text Placeholder 2">
            <a:extLst>
              <a:ext uri="{FF2B5EF4-FFF2-40B4-BE49-F238E27FC236}">
                <a16:creationId xmlns:a16="http://schemas.microsoft.com/office/drawing/2014/main" id="{575AA126-CD3C-A67F-877E-15FA8A40ED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389531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3CB74-D88C-5C17-02EE-C55A2204276B}"/>
              </a:ext>
            </a:extLst>
          </p:cNvPr>
          <p:cNvSpPr>
            <a:spLocks noGrp="1"/>
          </p:cNvSpPr>
          <p:nvPr>
            <p:ph type="title"/>
          </p:nvPr>
        </p:nvSpPr>
        <p:spPr/>
        <p:txBody>
          <a:bodyPr/>
          <a:lstStyle/>
          <a:p>
            <a:r>
              <a:rPr lang="en-US" dirty="0"/>
              <a:t>We’ve been talking about Brexit…</a:t>
            </a:r>
          </a:p>
        </p:txBody>
      </p:sp>
      <p:sp>
        <p:nvSpPr>
          <p:cNvPr id="3" name="Content Placeholder 2">
            <a:extLst>
              <a:ext uri="{FF2B5EF4-FFF2-40B4-BE49-F238E27FC236}">
                <a16:creationId xmlns:a16="http://schemas.microsoft.com/office/drawing/2014/main" id="{4EDA1E46-B3B0-FA82-D9EA-3E8C76A6F603}"/>
              </a:ext>
            </a:extLst>
          </p:cNvPr>
          <p:cNvSpPr>
            <a:spLocks noGrp="1"/>
          </p:cNvSpPr>
          <p:nvPr>
            <p:ph idx="1"/>
          </p:nvPr>
        </p:nvSpPr>
        <p:spPr/>
        <p:txBody>
          <a:bodyPr/>
          <a:lstStyle/>
          <a:p>
            <a:r>
              <a:rPr lang="en-US" dirty="0"/>
              <a:t>Why not compare to “</a:t>
            </a:r>
            <a:r>
              <a:rPr lang="en-US" dirty="0" err="1"/>
              <a:t>Dexit</a:t>
            </a:r>
            <a:r>
              <a:rPr lang="en-US" dirty="0"/>
              <a:t>”? </a:t>
            </a:r>
          </a:p>
          <a:p>
            <a:pPr lvl="1"/>
            <a:r>
              <a:rPr lang="en-US" dirty="0"/>
              <a:t>That’s when Denmark left the EU in 2015.</a:t>
            </a:r>
          </a:p>
        </p:txBody>
      </p:sp>
      <p:sp>
        <p:nvSpPr>
          <p:cNvPr id="6" name="TextBox 5">
            <a:extLst>
              <a:ext uri="{FF2B5EF4-FFF2-40B4-BE49-F238E27FC236}">
                <a16:creationId xmlns:a16="http://schemas.microsoft.com/office/drawing/2014/main" id="{1D63B265-43EC-FB9C-7341-AEDE819987E8}"/>
              </a:ext>
            </a:extLst>
          </p:cNvPr>
          <p:cNvSpPr txBox="1"/>
          <p:nvPr/>
        </p:nvSpPr>
        <p:spPr>
          <a:xfrm>
            <a:off x="5502418" y="3030580"/>
            <a:ext cx="6479375" cy="3908762"/>
          </a:xfrm>
          <a:prstGeom prst="rect">
            <a:avLst/>
          </a:prstGeom>
          <a:solidFill>
            <a:srgbClr val="FFF9F2"/>
          </a:solidFill>
          <a:ln>
            <a:solidFill>
              <a:schemeClr val="tx1"/>
            </a:solidFill>
          </a:ln>
          <a:effectLst>
            <a:outerShdw blurRad="50800" dist="38100" dir="8100000" algn="tr" rotWithShape="0">
              <a:prstClr val="black">
                <a:alpha val="40000"/>
              </a:prstClr>
            </a:outerShdw>
          </a:effectLst>
        </p:spPr>
        <p:txBody>
          <a:bodyPr wrap="square">
            <a:spAutoFit/>
          </a:bodyPr>
          <a:lstStyle/>
          <a:p>
            <a:r>
              <a:rPr lang="en-US" sz="2000" b="1" dirty="0">
                <a:latin typeface="Times New Roman" panose="02020603050405020304" pitchFamily="18" charset="0"/>
                <a:cs typeface="Times New Roman" panose="02020603050405020304" pitchFamily="18" charset="0"/>
              </a:rPr>
              <a:t>Denmark Exits EU in Historic Move, Citing Sovereignty and Economic Concerns</a:t>
            </a:r>
            <a:br>
              <a:rPr lang="en-US" sz="1600" dirty="0"/>
            </a:br>
            <a:r>
              <a:rPr lang="en-US" sz="1600" i="1" dirty="0">
                <a:latin typeface="Times New Roman" panose="02020603050405020304" pitchFamily="18" charset="0"/>
                <a:cs typeface="Times New Roman" panose="02020603050405020304" pitchFamily="18" charset="0"/>
              </a:rPr>
              <a:t>Copenhagen, Denmark – January 1, 2015</a:t>
            </a:r>
          </a:p>
          <a:p>
            <a:endParaRPr lang="en-US" sz="1600" i="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 an unprecedented decision, Denmark officially left the European Union today, marking a dramatic shift in the country’s political and economic landscape. The move, which follows months of heated debate and public referendums, comes after a growing divide between those advocating for greater national sovereignty and others who argue that Denmark’s interests would be better served outside the EU’s regulatory framework.</a:t>
            </a:r>
          </a:p>
          <a:p>
            <a:r>
              <a:rPr lang="en-US" sz="1600" dirty="0">
                <a:latin typeface="Times New Roman" panose="02020603050405020304" pitchFamily="18" charset="0"/>
                <a:cs typeface="Times New Roman" panose="02020603050405020304" pitchFamily="18" charset="0"/>
              </a:rPr>
              <a:t>Prime Minister Lars </a:t>
            </a:r>
            <a:r>
              <a:rPr lang="en-US" sz="1600" dirty="0" err="1">
                <a:latin typeface="Times New Roman" panose="02020603050405020304" pitchFamily="18" charset="0"/>
                <a:cs typeface="Times New Roman" panose="02020603050405020304" pitchFamily="18" charset="0"/>
              </a:rPr>
              <a:t>Løkke</a:t>
            </a:r>
            <a:r>
              <a:rPr lang="en-US" sz="1600" dirty="0">
                <a:latin typeface="Times New Roman" panose="02020603050405020304" pitchFamily="18" charset="0"/>
                <a:cs typeface="Times New Roman" panose="02020603050405020304" pitchFamily="18" charset="0"/>
              </a:rPr>
              <a:t> Rasmussen confirmed the decision early this morning, announcing that Denmark would begin the process of untangling itself from EU laws, regulations, and trade agreements. “Today, we reclaim our future,” he said in a nationally televised address. “This is not an act of isolation, but a reaffirmation of our identity and self-determination.”</a:t>
            </a:r>
          </a:p>
        </p:txBody>
      </p:sp>
    </p:spTree>
    <p:extLst>
      <p:ext uri="{BB962C8B-B14F-4D97-AF65-F5344CB8AC3E}">
        <p14:creationId xmlns:p14="http://schemas.microsoft.com/office/powerpoint/2010/main" val="23277740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5F6B2-D1B8-E386-E6A0-11EF14B87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A660B-21BD-3368-BABD-BB42E1C7DF94}"/>
              </a:ext>
            </a:extLst>
          </p:cNvPr>
          <p:cNvSpPr>
            <a:spLocks noGrp="1"/>
          </p:cNvSpPr>
          <p:nvPr>
            <p:ph type="title"/>
          </p:nvPr>
        </p:nvSpPr>
        <p:spPr/>
        <p:txBody>
          <a:bodyPr/>
          <a:lstStyle/>
          <a:p>
            <a:r>
              <a:rPr lang="en-US" dirty="0"/>
              <a:t>We’ve been talking about Brexit…</a:t>
            </a:r>
          </a:p>
        </p:txBody>
      </p:sp>
      <p:sp>
        <p:nvSpPr>
          <p:cNvPr id="3" name="Content Placeholder 2">
            <a:extLst>
              <a:ext uri="{FF2B5EF4-FFF2-40B4-BE49-F238E27FC236}">
                <a16:creationId xmlns:a16="http://schemas.microsoft.com/office/drawing/2014/main" id="{4B7AF591-42CE-A63B-1ABD-CBDD11D47977}"/>
              </a:ext>
            </a:extLst>
          </p:cNvPr>
          <p:cNvSpPr>
            <a:spLocks noGrp="1"/>
          </p:cNvSpPr>
          <p:nvPr>
            <p:ph idx="1"/>
          </p:nvPr>
        </p:nvSpPr>
        <p:spPr/>
        <p:txBody>
          <a:bodyPr/>
          <a:lstStyle/>
          <a:p>
            <a:r>
              <a:rPr lang="en-US" dirty="0"/>
              <a:t>Why not compare to “</a:t>
            </a:r>
            <a:r>
              <a:rPr lang="en-US" dirty="0" err="1"/>
              <a:t>Dexit</a:t>
            </a:r>
            <a:r>
              <a:rPr lang="en-US" dirty="0"/>
              <a:t>”? </a:t>
            </a:r>
          </a:p>
          <a:p>
            <a:pPr lvl="1"/>
            <a:r>
              <a:rPr lang="en-US" dirty="0"/>
              <a:t>That’s when Denmark left the EU in 2015.</a:t>
            </a:r>
          </a:p>
        </p:txBody>
      </p:sp>
      <p:sp>
        <p:nvSpPr>
          <p:cNvPr id="6" name="TextBox 5">
            <a:extLst>
              <a:ext uri="{FF2B5EF4-FFF2-40B4-BE49-F238E27FC236}">
                <a16:creationId xmlns:a16="http://schemas.microsoft.com/office/drawing/2014/main" id="{BE783AD5-3AC5-2186-E69A-37F2AF3316D1}"/>
              </a:ext>
            </a:extLst>
          </p:cNvPr>
          <p:cNvSpPr txBox="1"/>
          <p:nvPr/>
        </p:nvSpPr>
        <p:spPr>
          <a:xfrm>
            <a:off x="5502418" y="3030580"/>
            <a:ext cx="6479375" cy="3908762"/>
          </a:xfrm>
          <a:prstGeom prst="rect">
            <a:avLst/>
          </a:prstGeom>
          <a:solidFill>
            <a:srgbClr val="FFF9F2"/>
          </a:solidFill>
          <a:ln>
            <a:solidFill>
              <a:schemeClr val="tx1"/>
            </a:solidFill>
          </a:ln>
          <a:effectLst>
            <a:outerShdw blurRad="50800" dist="38100" dir="8100000" algn="tr" rotWithShape="0">
              <a:prstClr val="black">
                <a:alpha val="40000"/>
              </a:prstClr>
            </a:outerShdw>
          </a:effectLst>
        </p:spPr>
        <p:txBody>
          <a:bodyPr wrap="square">
            <a:spAutoFit/>
          </a:bodyPr>
          <a:lstStyle/>
          <a:p>
            <a:r>
              <a:rPr lang="en-US" sz="2000" b="1" dirty="0">
                <a:latin typeface="Times New Roman" panose="02020603050405020304" pitchFamily="18" charset="0"/>
                <a:cs typeface="Times New Roman" panose="02020603050405020304" pitchFamily="18" charset="0"/>
              </a:rPr>
              <a:t>Denmark Exits EU in Historic Move, Citing Sovereignty and Economic Concerns</a:t>
            </a:r>
            <a:br>
              <a:rPr lang="en-US" sz="1600" dirty="0"/>
            </a:br>
            <a:r>
              <a:rPr lang="en-US" sz="1600" i="1" dirty="0">
                <a:latin typeface="Times New Roman" panose="02020603050405020304" pitchFamily="18" charset="0"/>
                <a:cs typeface="Times New Roman" panose="02020603050405020304" pitchFamily="18" charset="0"/>
              </a:rPr>
              <a:t>Copenhagen, Denmark – January 1, 2015</a:t>
            </a:r>
          </a:p>
          <a:p>
            <a:endParaRPr lang="en-US" sz="1600" i="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 an unprecedented decision, Denmark officially left the European Union today, marking a dramatic shift in the country’s political and economic landscape. The move, which follows months of heated debate and public referendums, comes after a growing divide between those advocating for greater national sovereignty and others who argue that Denmark’s interests would be better served outside the EU’s regulatory framework.</a:t>
            </a:r>
          </a:p>
          <a:p>
            <a:r>
              <a:rPr lang="en-US" sz="1600" dirty="0">
                <a:latin typeface="Times New Roman" panose="02020603050405020304" pitchFamily="18" charset="0"/>
                <a:cs typeface="Times New Roman" panose="02020603050405020304" pitchFamily="18" charset="0"/>
              </a:rPr>
              <a:t>Prime Minister Lars </a:t>
            </a:r>
            <a:r>
              <a:rPr lang="en-US" sz="1600" dirty="0" err="1">
                <a:latin typeface="Times New Roman" panose="02020603050405020304" pitchFamily="18" charset="0"/>
                <a:cs typeface="Times New Roman" panose="02020603050405020304" pitchFamily="18" charset="0"/>
              </a:rPr>
              <a:t>Løkke</a:t>
            </a:r>
            <a:r>
              <a:rPr lang="en-US" sz="1600" dirty="0">
                <a:latin typeface="Times New Roman" panose="02020603050405020304" pitchFamily="18" charset="0"/>
                <a:cs typeface="Times New Roman" panose="02020603050405020304" pitchFamily="18" charset="0"/>
              </a:rPr>
              <a:t> Rasmussen confirmed the decision early this morning, announcing that Denmark would begin the process of untangling itself from EU laws, regulations, and trade agreements. “Today, we reclaim our future,” he said in a nationally televised address. “This is not an act of isolation, but a reaffirmation of our identity and self-determination.”</a:t>
            </a:r>
          </a:p>
        </p:txBody>
      </p:sp>
      <p:grpSp>
        <p:nvGrpSpPr>
          <p:cNvPr id="9" name="Group 8">
            <a:extLst>
              <a:ext uri="{FF2B5EF4-FFF2-40B4-BE49-F238E27FC236}">
                <a16:creationId xmlns:a16="http://schemas.microsoft.com/office/drawing/2014/main" id="{581D596C-1406-299E-03C9-BEC6E285C963}"/>
              </a:ext>
            </a:extLst>
          </p:cNvPr>
          <p:cNvGrpSpPr/>
          <p:nvPr/>
        </p:nvGrpSpPr>
        <p:grpSpPr>
          <a:xfrm>
            <a:off x="448027" y="3689131"/>
            <a:ext cx="4664219" cy="2910983"/>
            <a:chOff x="448027" y="3689131"/>
            <a:chExt cx="4664219" cy="2910983"/>
          </a:xfrm>
        </p:grpSpPr>
        <p:pic>
          <p:nvPicPr>
            <p:cNvPr id="7" name="Picture 6">
              <a:extLst>
                <a:ext uri="{FF2B5EF4-FFF2-40B4-BE49-F238E27FC236}">
                  <a16:creationId xmlns:a16="http://schemas.microsoft.com/office/drawing/2014/main" id="{C4A497B9-CA7E-C2C0-4214-DCABB9ABACE7}"/>
                </a:ext>
              </a:extLst>
            </p:cNvPr>
            <p:cNvPicPr>
              <a:picLocks noChangeAspect="1"/>
            </p:cNvPicPr>
            <p:nvPr/>
          </p:nvPicPr>
          <p:blipFill>
            <a:blip r:embed="rId3"/>
            <a:stretch>
              <a:fillRect/>
            </a:stretch>
          </p:blipFill>
          <p:spPr>
            <a:xfrm flipH="1">
              <a:off x="448027" y="4813947"/>
              <a:ext cx="780346" cy="1786167"/>
            </a:xfrm>
            <a:prstGeom prst="rect">
              <a:avLst/>
            </a:prstGeom>
          </p:spPr>
        </p:pic>
        <p:sp>
          <p:nvSpPr>
            <p:cNvPr id="8" name="TextBox 7">
              <a:extLst>
                <a:ext uri="{FF2B5EF4-FFF2-40B4-BE49-F238E27FC236}">
                  <a16:creationId xmlns:a16="http://schemas.microsoft.com/office/drawing/2014/main" id="{1EE708D4-65AF-2A5B-3F93-9680CDFB9979}"/>
                </a:ext>
              </a:extLst>
            </p:cNvPr>
            <p:cNvSpPr txBox="1"/>
            <p:nvPr/>
          </p:nvSpPr>
          <p:spPr>
            <a:xfrm>
              <a:off x="1228373" y="3689131"/>
              <a:ext cx="3883873" cy="1938992"/>
            </a:xfrm>
            <a:prstGeom prst="rect">
              <a:avLst/>
            </a:prstGeom>
            <a:noFill/>
          </p:spPr>
          <p:txBody>
            <a:bodyPr wrap="square" rtlCol="0">
              <a:spAutoFit/>
            </a:bodyPr>
            <a:lstStyle/>
            <a:p>
              <a:r>
                <a:rPr lang="en-US" sz="2800" dirty="0">
                  <a:solidFill>
                    <a:srgbClr val="0070C0"/>
                  </a:solidFill>
                </a:rPr>
                <a:t>This never happened!  </a:t>
              </a:r>
            </a:p>
            <a:p>
              <a:r>
                <a:rPr lang="en-US" sz="2800" dirty="0">
                  <a:solidFill>
                    <a:srgbClr val="0070C0"/>
                  </a:solidFill>
                  <a:sym typeface="Wingdings" pitchFamily="2" charset="2"/>
                </a:rPr>
                <a:t>But let’s do a thought experiment.</a:t>
              </a:r>
            </a:p>
            <a:p>
              <a:endParaRPr lang="en-US" dirty="0">
                <a:solidFill>
                  <a:srgbClr val="0070C0"/>
                </a:solidFill>
                <a:sym typeface="Wingdings" pitchFamily="2" charset="2"/>
              </a:endParaRPr>
            </a:p>
            <a:p>
              <a:r>
                <a:rPr lang="en-US" dirty="0">
                  <a:solidFill>
                    <a:srgbClr val="0070C0"/>
                  </a:solidFill>
                  <a:sym typeface="Wingdings" pitchFamily="2" charset="2"/>
                </a:rPr>
                <a:t>(Thanks ChatGPT for the news article)</a:t>
              </a:r>
              <a:endParaRPr lang="en-US" dirty="0">
                <a:solidFill>
                  <a:srgbClr val="0070C0"/>
                </a:solidFill>
              </a:endParaRPr>
            </a:p>
          </p:txBody>
        </p:sp>
      </p:grpSp>
    </p:spTree>
    <p:extLst>
      <p:ext uri="{BB962C8B-B14F-4D97-AF65-F5344CB8AC3E}">
        <p14:creationId xmlns:p14="http://schemas.microsoft.com/office/powerpoint/2010/main" val="25592246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C68E4-52CB-1053-971F-6276F4E8997B}"/>
              </a:ext>
            </a:extLst>
          </p:cNvPr>
          <p:cNvSpPr>
            <a:spLocks noGrp="1"/>
          </p:cNvSpPr>
          <p:nvPr>
            <p:ph type="title"/>
          </p:nvPr>
        </p:nvSpPr>
        <p:spPr/>
        <p:txBody>
          <a:bodyPr>
            <a:normAutofit/>
          </a:bodyPr>
          <a:lstStyle/>
          <a:p>
            <a:r>
              <a:rPr lang="en-US" dirty="0"/>
              <a:t>Suppose </a:t>
            </a:r>
            <a:r>
              <a:rPr lang="en-US" b="1" dirty="0" err="1"/>
              <a:t>Dexit</a:t>
            </a:r>
            <a:r>
              <a:rPr lang="en-US" dirty="0"/>
              <a:t> had occurred in 2015</a:t>
            </a:r>
            <a:br>
              <a:rPr lang="en-US" dirty="0"/>
            </a:br>
            <a:r>
              <a:rPr lang="en-US" sz="2400" dirty="0"/>
              <a:t>Denmark left the EU.</a:t>
            </a:r>
            <a:endParaRPr lang="en-US" dirty="0"/>
          </a:p>
        </p:txBody>
      </p:sp>
      <p:sp>
        <p:nvSpPr>
          <p:cNvPr id="3" name="Content Placeholder 2">
            <a:extLst>
              <a:ext uri="{FF2B5EF4-FFF2-40B4-BE49-F238E27FC236}">
                <a16:creationId xmlns:a16="http://schemas.microsoft.com/office/drawing/2014/main" id="{0F7A86EB-0E40-6AC9-CF9B-5CA2D4B17B40}"/>
              </a:ext>
            </a:extLst>
          </p:cNvPr>
          <p:cNvSpPr>
            <a:spLocks noGrp="1"/>
          </p:cNvSpPr>
          <p:nvPr>
            <p:ph idx="1"/>
          </p:nvPr>
        </p:nvSpPr>
        <p:spPr/>
        <p:txBody>
          <a:bodyPr/>
          <a:lstStyle/>
          <a:p>
            <a:r>
              <a:rPr lang="en-US" dirty="0"/>
              <a:t>Today we’d be wondering “What were the effects of </a:t>
            </a:r>
            <a:r>
              <a:rPr lang="en-US" dirty="0" err="1"/>
              <a:t>Dexit</a:t>
            </a:r>
            <a:r>
              <a:rPr lang="en-US" dirty="0"/>
              <a:t>?”</a:t>
            </a:r>
          </a:p>
          <a:p>
            <a:endParaRPr lang="en-US" dirty="0"/>
          </a:p>
          <a:p>
            <a:endParaRPr lang="en-US" dirty="0"/>
          </a:p>
          <a:p>
            <a:r>
              <a:rPr lang="en-US" dirty="0"/>
              <a:t>We could set that up like this:</a:t>
            </a:r>
          </a:p>
          <a:p>
            <a:pPr lvl="1"/>
            <a:r>
              <a:rPr lang="en-US" dirty="0"/>
              <a:t>We want to know the counterfactual!</a:t>
            </a:r>
          </a:p>
        </p:txBody>
      </p:sp>
      <p:grpSp>
        <p:nvGrpSpPr>
          <p:cNvPr id="36" name="Group 35">
            <a:extLst>
              <a:ext uri="{FF2B5EF4-FFF2-40B4-BE49-F238E27FC236}">
                <a16:creationId xmlns:a16="http://schemas.microsoft.com/office/drawing/2014/main" id="{0C1DA9AB-0999-AE70-F322-507A5339F82D}"/>
              </a:ext>
            </a:extLst>
          </p:cNvPr>
          <p:cNvGrpSpPr/>
          <p:nvPr/>
        </p:nvGrpSpPr>
        <p:grpSpPr>
          <a:xfrm>
            <a:off x="5849007" y="2416346"/>
            <a:ext cx="5873739" cy="3169896"/>
            <a:chOff x="5849007" y="2416346"/>
            <a:chExt cx="5873739" cy="3169896"/>
          </a:xfrm>
        </p:grpSpPr>
        <p:grpSp>
          <p:nvGrpSpPr>
            <p:cNvPr id="33" name="Group 32">
              <a:extLst>
                <a:ext uri="{FF2B5EF4-FFF2-40B4-BE49-F238E27FC236}">
                  <a16:creationId xmlns:a16="http://schemas.microsoft.com/office/drawing/2014/main" id="{440F4A3B-6335-C0F1-D8D2-61BE2EA27492}"/>
                </a:ext>
              </a:extLst>
            </p:cNvPr>
            <p:cNvGrpSpPr/>
            <p:nvPr/>
          </p:nvGrpSpPr>
          <p:grpSpPr>
            <a:xfrm>
              <a:off x="7047563" y="2416346"/>
              <a:ext cx="4675183" cy="3169896"/>
              <a:chOff x="6678617" y="2500970"/>
              <a:chExt cx="4675183" cy="3169896"/>
            </a:xfrm>
          </p:grpSpPr>
          <p:grpSp>
            <p:nvGrpSpPr>
              <p:cNvPr id="6" name="Group 5">
                <a:extLst>
                  <a:ext uri="{FF2B5EF4-FFF2-40B4-BE49-F238E27FC236}">
                    <a16:creationId xmlns:a16="http://schemas.microsoft.com/office/drawing/2014/main" id="{9B5A23D7-8833-8AC4-81E4-15F4EE0512B9}"/>
                  </a:ext>
                </a:extLst>
              </p:cNvPr>
              <p:cNvGrpSpPr/>
              <p:nvPr/>
            </p:nvGrpSpPr>
            <p:grpSpPr>
              <a:xfrm>
                <a:off x="7892143" y="2865894"/>
                <a:ext cx="3461657" cy="2804972"/>
                <a:chOff x="1846882" y="2597802"/>
                <a:chExt cx="4249118" cy="2693288"/>
              </a:xfrm>
            </p:grpSpPr>
            <p:sp>
              <p:nvSpPr>
                <p:cNvPr id="7" name="Rectangle 6">
                  <a:extLst>
                    <a:ext uri="{FF2B5EF4-FFF2-40B4-BE49-F238E27FC236}">
                      <a16:creationId xmlns:a16="http://schemas.microsoft.com/office/drawing/2014/main" id="{3AEC4605-F434-06F8-80BC-FC1BB84882E7}"/>
                    </a:ext>
                  </a:extLst>
                </p:cNvPr>
                <p:cNvSpPr/>
                <p:nvPr/>
              </p:nvSpPr>
              <p:spPr>
                <a:xfrm>
                  <a:off x="1846882" y="2597802"/>
                  <a:ext cx="4249118" cy="2693288"/>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1B2486-B616-A5C0-BDCD-0C7F5093BB37}"/>
                        </a:ext>
                      </a:extLst>
                    </p:cNvPr>
                    <p:cNvSpPr txBox="1"/>
                    <p:nvPr/>
                  </p:nvSpPr>
                  <p:spPr>
                    <a:xfrm>
                      <a:off x="1939778"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1,1</m:t>
                                </m:r>
                              </m:sub>
                            </m:sSub>
                          </m:oMath>
                        </m:oMathPara>
                      </a14:m>
                      <a:endParaRPr lang="en-US" sz="2000" dirty="0">
                        <a:solidFill>
                          <a:schemeClr val="bg1"/>
                        </a:solidFill>
                      </a:endParaRPr>
                    </a:p>
                  </p:txBody>
                </p:sp>
              </mc:Choice>
              <mc:Fallback xmlns="">
                <p:sp>
                  <p:nvSpPr>
                    <p:cNvPr id="8" name="TextBox 7">
                      <a:extLst>
                        <a:ext uri="{FF2B5EF4-FFF2-40B4-BE49-F238E27FC236}">
                          <a16:creationId xmlns:a16="http://schemas.microsoft.com/office/drawing/2014/main" id="{F41B2486-B616-A5C0-BDCD-0C7F5093BB37}"/>
                        </a:ext>
                      </a:extLst>
                    </p:cNvPr>
                    <p:cNvSpPr txBox="1">
                      <a:spLocks noRot="1" noChangeAspect="1" noMove="1" noResize="1" noEditPoints="1" noAdjustHandles="1" noChangeArrowheads="1" noChangeShapeType="1" noTextEdit="1"/>
                    </p:cNvSpPr>
                    <p:nvPr/>
                  </p:nvSpPr>
                  <p:spPr>
                    <a:xfrm>
                      <a:off x="1939778" y="2788225"/>
                      <a:ext cx="656856" cy="321178"/>
                    </a:xfrm>
                    <a:prstGeom prst="rect">
                      <a:avLst/>
                    </a:prstGeom>
                    <a:blipFill>
                      <a:blip r:embed="rId3"/>
                      <a:stretch>
                        <a:fillRect b="-3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25648875-9DF7-0276-DAE2-CD5738C54855}"/>
                    </a:ext>
                  </a:extLst>
                </p:cNvPr>
                <p:cNvSpPr txBox="1"/>
                <p:nvPr/>
              </p:nvSpPr>
              <p:spPr>
                <a:xfrm>
                  <a:off x="5667213" y="2892741"/>
                  <a:ext cx="25830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8E5707-1DA1-5895-F505-B49A9FF0F9D3}"/>
                        </a:ext>
                      </a:extLst>
                    </p:cNvPr>
                    <p:cNvSpPr txBox="1"/>
                    <p:nvPr/>
                  </p:nvSpPr>
                  <p:spPr>
                    <a:xfrm>
                      <a:off x="2692783"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1,2</m:t>
                                </m:r>
                              </m:sub>
                            </m:sSub>
                          </m:oMath>
                        </m:oMathPara>
                      </a14:m>
                      <a:endParaRPr lang="en-US" sz="2000" dirty="0">
                        <a:solidFill>
                          <a:schemeClr val="bg1"/>
                        </a:solidFill>
                      </a:endParaRPr>
                    </a:p>
                  </p:txBody>
                </p:sp>
              </mc:Choice>
              <mc:Fallback xmlns="">
                <p:sp>
                  <p:nvSpPr>
                    <p:cNvPr id="10" name="TextBox 9">
                      <a:extLst>
                        <a:ext uri="{FF2B5EF4-FFF2-40B4-BE49-F238E27FC236}">
                          <a16:creationId xmlns:a16="http://schemas.microsoft.com/office/drawing/2014/main" id="{2A8E5707-1DA1-5895-F505-B49A9FF0F9D3}"/>
                        </a:ext>
                      </a:extLst>
                    </p:cNvPr>
                    <p:cNvSpPr txBox="1">
                      <a:spLocks noRot="1" noChangeAspect="1" noMove="1" noResize="1" noEditPoints="1" noAdjustHandles="1" noChangeArrowheads="1" noChangeShapeType="1" noTextEdit="1"/>
                    </p:cNvSpPr>
                    <p:nvPr/>
                  </p:nvSpPr>
                  <p:spPr>
                    <a:xfrm>
                      <a:off x="2692783" y="2788225"/>
                      <a:ext cx="656856" cy="321178"/>
                    </a:xfrm>
                    <a:prstGeom prst="rect">
                      <a:avLst/>
                    </a:prstGeom>
                    <a:blipFill>
                      <a:blip r:embed="rId4"/>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C0CF9D2-E6FE-F89F-2A47-7D8B7CE4F396}"/>
                        </a:ext>
                      </a:extLst>
                    </p:cNvPr>
                    <p:cNvSpPr txBox="1"/>
                    <p:nvPr/>
                  </p:nvSpPr>
                  <p:spPr>
                    <a:xfrm>
                      <a:off x="5179521" y="2788225"/>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1" name="TextBox 10">
                      <a:extLst>
                        <a:ext uri="{FF2B5EF4-FFF2-40B4-BE49-F238E27FC236}">
                          <a16:creationId xmlns:a16="http://schemas.microsoft.com/office/drawing/2014/main" id="{5C0CF9D2-E6FE-F89F-2A47-7D8B7CE4F396}"/>
                        </a:ext>
                      </a:extLst>
                    </p:cNvPr>
                    <p:cNvSpPr txBox="1">
                      <a:spLocks noRot="1" noChangeAspect="1" noMove="1" noResize="1" noEditPoints="1" noAdjustHandles="1" noChangeArrowheads="1" noChangeShapeType="1" noTextEdit="1"/>
                    </p:cNvSpPr>
                    <p:nvPr/>
                  </p:nvSpPr>
                  <p:spPr>
                    <a:xfrm>
                      <a:off x="5179521" y="2788225"/>
                      <a:ext cx="656856" cy="321178"/>
                    </a:xfrm>
                    <a:prstGeom prst="rect">
                      <a:avLst/>
                    </a:prstGeom>
                    <a:blipFill>
                      <a:blip r:embed="rId5"/>
                      <a:stretch>
                        <a:fillRect l="-2326"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0DD280-426F-96EE-0072-23881ADDA3FF}"/>
                        </a:ext>
                      </a:extLst>
                    </p:cNvPr>
                    <p:cNvSpPr txBox="1"/>
                    <p:nvPr/>
                  </p:nvSpPr>
                  <p:spPr>
                    <a:xfrm>
                      <a:off x="1972186"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2,1</m:t>
                                </m:r>
                              </m:sub>
                            </m:sSub>
                          </m:oMath>
                        </m:oMathPara>
                      </a14:m>
                      <a:endParaRPr lang="en-US" sz="2000" dirty="0">
                        <a:solidFill>
                          <a:schemeClr val="bg1"/>
                        </a:solidFill>
                      </a:endParaRPr>
                    </a:p>
                  </p:txBody>
                </p:sp>
              </mc:Choice>
              <mc:Fallback xmlns="">
                <p:sp>
                  <p:nvSpPr>
                    <p:cNvPr id="12" name="TextBox 11">
                      <a:extLst>
                        <a:ext uri="{FF2B5EF4-FFF2-40B4-BE49-F238E27FC236}">
                          <a16:creationId xmlns:a16="http://schemas.microsoft.com/office/drawing/2014/main" id="{EB0DD280-426F-96EE-0072-23881ADDA3FF}"/>
                        </a:ext>
                      </a:extLst>
                    </p:cNvPr>
                    <p:cNvSpPr txBox="1">
                      <a:spLocks noRot="1" noChangeAspect="1" noMove="1" noResize="1" noEditPoints="1" noAdjustHandles="1" noChangeArrowheads="1" noChangeShapeType="1" noTextEdit="1"/>
                    </p:cNvSpPr>
                    <p:nvPr/>
                  </p:nvSpPr>
                  <p:spPr>
                    <a:xfrm>
                      <a:off x="1972186" y="3265230"/>
                      <a:ext cx="656856" cy="321178"/>
                    </a:xfrm>
                    <a:prstGeom prst="rect">
                      <a:avLst/>
                    </a:prstGeom>
                    <a:blipFill>
                      <a:blip r:embed="rId6"/>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E28123A-38DB-6E02-B27B-AD170D68E59E}"/>
                        </a:ext>
                      </a:extLst>
                    </p:cNvPr>
                    <p:cNvSpPr txBox="1"/>
                    <p:nvPr/>
                  </p:nvSpPr>
                  <p:spPr>
                    <a:xfrm>
                      <a:off x="2725191"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2,2</m:t>
                                </m:r>
                              </m:sub>
                            </m:sSub>
                          </m:oMath>
                        </m:oMathPara>
                      </a14:m>
                      <a:endParaRPr lang="en-US" sz="2000" dirty="0">
                        <a:solidFill>
                          <a:schemeClr val="bg1"/>
                        </a:solidFill>
                      </a:endParaRPr>
                    </a:p>
                  </p:txBody>
                </p:sp>
              </mc:Choice>
              <mc:Fallback xmlns="">
                <p:sp>
                  <p:nvSpPr>
                    <p:cNvPr id="13" name="TextBox 12">
                      <a:extLst>
                        <a:ext uri="{FF2B5EF4-FFF2-40B4-BE49-F238E27FC236}">
                          <a16:creationId xmlns:a16="http://schemas.microsoft.com/office/drawing/2014/main" id="{9E28123A-38DB-6E02-B27B-AD170D68E59E}"/>
                        </a:ext>
                      </a:extLst>
                    </p:cNvPr>
                    <p:cNvSpPr txBox="1">
                      <a:spLocks noRot="1" noChangeAspect="1" noMove="1" noResize="1" noEditPoints="1" noAdjustHandles="1" noChangeArrowheads="1" noChangeShapeType="1" noTextEdit="1"/>
                    </p:cNvSpPr>
                    <p:nvPr/>
                  </p:nvSpPr>
                  <p:spPr>
                    <a:xfrm>
                      <a:off x="2725191" y="3265230"/>
                      <a:ext cx="656856" cy="321178"/>
                    </a:xfrm>
                    <a:prstGeom prst="rect">
                      <a:avLst/>
                    </a:prstGeom>
                    <a:blipFill>
                      <a:blip r:embed="rId7"/>
                      <a:stretch>
                        <a:fillRect l="-2381"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427796F-C9B3-7E2C-6526-EDED6ED0A4BE}"/>
                        </a:ext>
                      </a:extLst>
                    </p:cNvPr>
                    <p:cNvSpPr txBox="1"/>
                    <p:nvPr/>
                  </p:nvSpPr>
                  <p:spPr>
                    <a:xfrm>
                      <a:off x="5211929" y="3265230"/>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4" name="TextBox 13">
                      <a:extLst>
                        <a:ext uri="{FF2B5EF4-FFF2-40B4-BE49-F238E27FC236}">
                          <a16:creationId xmlns:a16="http://schemas.microsoft.com/office/drawing/2014/main" id="{F427796F-C9B3-7E2C-6526-EDED6ED0A4BE}"/>
                        </a:ext>
                      </a:extLst>
                    </p:cNvPr>
                    <p:cNvSpPr txBox="1">
                      <a:spLocks noRot="1" noChangeAspect="1" noMove="1" noResize="1" noEditPoints="1" noAdjustHandles="1" noChangeArrowheads="1" noChangeShapeType="1" noTextEdit="1"/>
                    </p:cNvSpPr>
                    <p:nvPr/>
                  </p:nvSpPr>
                  <p:spPr>
                    <a:xfrm>
                      <a:off x="5211929" y="3265230"/>
                      <a:ext cx="656856" cy="321178"/>
                    </a:xfrm>
                    <a:prstGeom prst="rect">
                      <a:avLst/>
                    </a:prstGeom>
                    <a:blipFill>
                      <a:blip r:embed="rId8"/>
                      <a:stretch>
                        <a:fillRect l="-2326"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47A996D-E9B0-3BE2-507D-6656030166BE}"/>
                        </a:ext>
                      </a:extLst>
                    </p:cNvPr>
                    <p:cNvSpPr txBox="1"/>
                    <p:nvPr/>
                  </p:nvSpPr>
                  <p:spPr>
                    <a:xfrm>
                      <a:off x="1972186"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3,1</m:t>
                                </m:r>
                              </m:sub>
                            </m:sSub>
                          </m:oMath>
                        </m:oMathPara>
                      </a14:m>
                      <a:endParaRPr lang="en-US" sz="2000" dirty="0">
                        <a:solidFill>
                          <a:schemeClr val="bg1"/>
                        </a:solidFill>
                      </a:endParaRPr>
                    </a:p>
                  </p:txBody>
                </p:sp>
              </mc:Choice>
              <mc:Fallback xmlns="">
                <p:sp>
                  <p:nvSpPr>
                    <p:cNvPr id="15" name="TextBox 14">
                      <a:extLst>
                        <a:ext uri="{FF2B5EF4-FFF2-40B4-BE49-F238E27FC236}">
                          <a16:creationId xmlns:a16="http://schemas.microsoft.com/office/drawing/2014/main" id="{247A996D-E9B0-3BE2-507D-6656030166BE}"/>
                        </a:ext>
                      </a:extLst>
                    </p:cNvPr>
                    <p:cNvSpPr txBox="1">
                      <a:spLocks noRot="1" noChangeAspect="1" noMove="1" noResize="1" noEditPoints="1" noAdjustHandles="1" noChangeArrowheads="1" noChangeShapeType="1" noTextEdit="1"/>
                    </p:cNvSpPr>
                    <p:nvPr/>
                  </p:nvSpPr>
                  <p:spPr>
                    <a:xfrm>
                      <a:off x="1972186" y="3802733"/>
                      <a:ext cx="656856" cy="321178"/>
                    </a:xfrm>
                    <a:prstGeom prst="rect">
                      <a:avLst/>
                    </a:prstGeom>
                    <a:blipFill>
                      <a:blip r:embed="rId9"/>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BA3334-2FB2-6DDB-0261-1AE52E5907B3}"/>
                        </a:ext>
                      </a:extLst>
                    </p:cNvPr>
                    <p:cNvSpPr txBox="1"/>
                    <p:nvPr/>
                  </p:nvSpPr>
                  <p:spPr>
                    <a:xfrm>
                      <a:off x="2725191"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3,2</m:t>
                                </m:r>
                              </m:sub>
                            </m:sSub>
                          </m:oMath>
                        </m:oMathPara>
                      </a14:m>
                      <a:endParaRPr lang="en-US" sz="2000" dirty="0">
                        <a:solidFill>
                          <a:schemeClr val="bg1"/>
                        </a:solidFill>
                      </a:endParaRPr>
                    </a:p>
                  </p:txBody>
                </p:sp>
              </mc:Choice>
              <mc:Fallback xmlns="">
                <p:sp>
                  <p:nvSpPr>
                    <p:cNvPr id="16" name="TextBox 15">
                      <a:extLst>
                        <a:ext uri="{FF2B5EF4-FFF2-40B4-BE49-F238E27FC236}">
                          <a16:creationId xmlns:a16="http://schemas.microsoft.com/office/drawing/2014/main" id="{CCBA3334-2FB2-6DDB-0261-1AE52E5907B3}"/>
                        </a:ext>
                      </a:extLst>
                    </p:cNvPr>
                    <p:cNvSpPr txBox="1">
                      <a:spLocks noRot="1" noChangeAspect="1" noMove="1" noResize="1" noEditPoints="1" noAdjustHandles="1" noChangeArrowheads="1" noChangeShapeType="1" noTextEdit="1"/>
                    </p:cNvSpPr>
                    <p:nvPr/>
                  </p:nvSpPr>
                  <p:spPr>
                    <a:xfrm>
                      <a:off x="2725191" y="3802733"/>
                      <a:ext cx="656856" cy="321178"/>
                    </a:xfrm>
                    <a:prstGeom prst="rect">
                      <a:avLst/>
                    </a:prstGeom>
                    <a:blipFill>
                      <a:blip r:embed="rId10"/>
                      <a:stretch>
                        <a:fillRect l="-2381"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4D63A71-DE26-22D9-9BF4-4BA933DA9D1C}"/>
                        </a:ext>
                      </a:extLst>
                    </p:cNvPr>
                    <p:cNvSpPr txBox="1"/>
                    <p:nvPr/>
                  </p:nvSpPr>
                  <p:spPr>
                    <a:xfrm>
                      <a:off x="5211929" y="3802733"/>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3,</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17" name="TextBox 16">
                      <a:extLst>
                        <a:ext uri="{FF2B5EF4-FFF2-40B4-BE49-F238E27FC236}">
                          <a16:creationId xmlns:a16="http://schemas.microsoft.com/office/drawing/2014/main" id="{F4D63A71-DE26-22D9-9BF4-4BA933DA9D1C}"/>
                        </a:ext>
                      </a:extLst>
                    </p:cNvPr>
                    <p:cNvSpPr txBox="1">
                      <a:spLocks noRot="1" noChangeAspect="1" noMove="1" noResize="1" noEditPoints="1" noAdjustHandles="1" noChangeArrowheads="1" noChangeShapeType="1" noTextEdit="1"/>
                    </p:cNvSpPr>
                    <p:nvPr/>
                  </p:nvSpPr>
                  <p:spPr>
                    <a:xfrm>
                      <a:off x="5211929" y="3802733"/>
                      <a:ext cx="656856" cy="321178"/>
                    </a:xfrm>
                    <a:prstGeom prst="rect">
                      <a:avLst/>
                    </a:prstGeom>
                    <a:blipFill>
                      <a:blip r:embed="rId11"/>
                      <a:stretch>
                        <a:fillRect l="-2326"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6611CFC-320B-E291-FA7A-CE224C9C118B}"/>
                        </a:ext>
                      </a:extLst>
                    </p:cNvPr>
                    <p:cNvSpPr txBox="1"/>
                    <p:nvPr/>
                  </p:nvSpPr>
                  <p:spPr>
                    <a:xfrm>
                      <a:off x="1977446"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18" name="TextBox 17">
                      <a:extLst>
                        <a:ext uri="{FF2B5EF4-FFF2-40B4-BE49-F238E27FC236}">
                          <a16:creationId xmlns:a16="http://schemas.microsoft.com/office/drawing/2014/main" id="{96611CFC-320B-E291-FA7A-CE224C9C118B}"/>
                        </a:ext>
                      </a:extLst>
                    </p:cNvPr>
                    <p:cNvSpPr txBox="1">
                      <a:spLocks noRot="1" noChangeAspect="1" noMove="1" noResize="1" noEditPoints="1" noAdjustHandles="1" noChangeArrowheads="1" noChangeShapeType="1" noTextEdit="1"/>
                    </p:cNvSpPr>
                    <p:nvPr/>
                  </p:nvSpPr>
                  <p:spPr>
                    <a:xfrm>
                      <a:off x="1977446" y="4810902"/>
                      <a:ext cx="656856" cy="321178"/>
                    </a:xfrm>
                    <a:prstGeom prst="rect">
                      <a:avLst/>
                    </a:prstGeom>
                    <a:blipFill>
                      <a:blip r:embed="rId12"/>
                      <a:stretch>
                        <a:fillRect l="-4762"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43E697B-B7F2-7EA8-C502-0E989E83D24A}"/>
                        </a:ext>
                      </a:extLst>
                    </p:cNvPr>
                    <p:cNvSpPr txBox="1"/>
                    <p:nvPr/>
                  </p:nvSpPr>
                  <p:spPr>
                    <a:xfrm>
                      <a:off x="2730451"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19" name="TextBox 18">
                      <a:extLst>
                        <a:ext uri="{FF2B5EF4-FFF2-40B4-BE49-F238E27FC236}">
                          <a16:creationId xmlns:a16="http://schemas.microsoft.com/office/drawing/2014/main" id="{A43E697B-B7F2-7EA8-C502-0E989E83D24A}"/>
                        </a:ext>
                      </a:extLst>
                    </p:cNvPr>
                    <p:cNvSpPr txBox="1">
                      <a:spLocks noRot="1" noChangeAspect="1" noMove="1" noResize="1" noEditPoints="1" noAdjustHandles="1" noChangeArrowheads="1" noChangeShapeType="1" noTextEdit="1"/>
                    </p:cNvSpPr>
                    <p:nvPr/>
                  </p:nvSpPr>
                  <p:spPr>
                    <a:xfrm>
                      <a:off x="2730451" y="4810902"/>
                      <a:ext cx="656856" cy="321178"/>
                    </a:xfrm>
                    <a:prstGeom prst="rect">
                      <a:avLst/>
                    </a:prstGeom>
                    <a:blipFill>
                      <a:blip r:embed="rId13"/>
                      <a:stretch>
                        <a:fillRect l="-2326"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19D6C2-C984-6A13-3832-59A465FF985D}"/>
                        </a:ext>
                      </a:extLst>
                    </p:cNvPr>
                    <p:cNvSpPr txBox="1"/>
                    <p:nvPr/>
                  </p:nvSpPr>
                  <p:spPr>
                    <a:xfrm>
                      <a:off x="5217189" y="4810902"/>
                      <a:ext cx="656856" cy="3211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𝑛</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𝑇</m:t>
                                </m:r>
                              </m:sub>
                            </m:sSub>
                          </m:oMath>
                        </m:oMathPara>
                      </a14:m>
                      <a:endParaRPr lang="en-US" sz="2000" dirty="0">
                        <a:solidFill>
                          <a:schemeClr val="bg1"/>
                        </a:solidFill>
                      </a:endParaRPr>
                    </a:p>
                  </p:txBody>
                </p:sp>
              </mc:Choice>
              <mc:Fallback xmlns="">
                <p:sp>
                  <p:nvSpPr>
                    <p:cNvPr id="20" name="TextBox 19">
                      <a:extLst>
                        <a:ext uri="{FF2B5EF4-FFF2-40B4-BE49-F238E27FC236}">
                          <a16:creationId xmlns:a16="http://schemas.microsoft.com/office/drawing/2014/main" id="{6D19D6C2-C984-6A13-3832-59A465FF985D}"/>
                        </a:ext>
                      </a:extLst>
                    </p:cNvPr>
                    <p:cNvSpPr txBox="1">
                      <a:spLocks noRot="1" noChangeAspect="1" noMove="1" noResize="1" noEditPoints="1" noAdjustHandles="1" noChangeArrowheads="1" noChangeShapeType="1" noTextEdit="1"/>
                    </p:cNvSpPr>
                    <p:nvPr/>
                  </p:nvSpPr>
                  <p:spPr>
                    <a:xfrm>
                      <a:off x="5217189" y="4810902"/>
                      <a:ext cx="656856" cy="321178"/>
                    </a:xfrm>
                    <a:prstGeom prst="rect">
                      <a:avLst/>
                    </a:prstGeom>
                    <a:blipFill>
                      <a:blip r:embed="rId14"/>
                      <a:stretch>
                        <a:fillRect l="-4651"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B1A297B-F004-16D5-1E05-F04DBD4BC480}"/>
                        </a:ext>
                      </a:extLst>
                    </p:cNvPr>
                    <p:cNvSpPr txBox="1"/>
                    <p:nvPr/>
                  </p:nvSpPr>
                  <p:spPr>
                    <a:xfrm>
                      <a:off x="2116562" y="4363343"/>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B1A297B-F004-16D5-1E05-F04DBD4BC480}"/>
                        </a:ext>
                      </a:extLst>
                    </p:cNvPr>
                    <p:cNvSpPr txBox="1">
                      <a:spLocks noRot="1" noChangeAspect="1" noMove="1" noResize="1" noEditPoints="1" noAdjustHandles="1" noChangeArrowheads="1" noChangeShapeType="1" noTextEdit="1"/>
                    </p:cNvSpPr>
                    <p:nvPr/>
                  </p:nvSpPr>
                  <p:spPr>
                    <a:xfrm>
                      <a:off x="2116562" y="4363343"/>
                      <a:ext cx="30328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39201A1-1423-CA96-5B84-6A9F053357FB}"/>
                        </a:ext>
                      </a:extLst>
                    </p:cNvPr>
                    <p:cNvSpPr txBox="1"/>
                    <p:nvPr/>
                  </p:nvSpPr>
                  <p:spPr>
                    <a:xfrm>
                      <a:off x="5356305" y="4338168"/>
                      <a:ext cx="3032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639201A1-1423-CA96-5B84-6A9F053357FB}"/>
                        </a:ext>
                      </a:extLst>
                    </p:cNvPr>
                    <p:cNvSpPr txBox="1">
                      <a:spLocks noRot="1" noChangeAspect="1" noMove="1" noResize="1" noEditPoints="1" noAdjustHandles="1" noChangeArrowheads="1" noChangeShapeType="1" noTextEdit="1"/>
                    </p:cNvSpPr>
                    <p:nvPr/>
                  </p:nvSpPr>
                  <p:spPr>
                    <a:xfrm>
                      <a:off x="5356305" y="4338168"/>
                      <a:ext cx="303288"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3A1A316-4E83-A60D-6F19-5F8E1C9F0D35}"/>
                        </a:ext>
                      </a:extLst>
                    </p:cNvPr>
                    <p:cNvSpPr txBox="1"/>
                    <p:nvPr/>
                  </p:nvSpPr>
                  <p:spPr>
                    <a:xfrm>
                      <a:off x="3804923" y="279888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3" name="TextBox 22">
                      <a:extLst>
                        <a:ext uri="{FF2B5EF4-FFF2-40B4-BE49-F238E27FC236}">
                          <a16:creationId xmlns:a16="http://schemas.microsoft.com/office/drawing/2014/main" id="{73A1A316-4E83-A60D-6F19-5F8E1C9F0D35}"/>
                        </a:ext>
                      </a:extLst>
                    </p:cNvPr>
                    <p:cNvSpPr txBox="1">
                      <a:spLocks noRot="1" noChangeAspect="1" noMove="1" noResize="1" noEditPoints="1" noAdjustHandles="1" noChangeArrowheads="1" noChangeShapeType="1" noTextEdit="1"/>
                    </p:cNvSpPr>
                    <p:nvPr/>
                  </p:nvSpPr>
                  <p:spPr>
                    <a:xfrm>
                      <a:off x="3804923" y="2798885"/>
                      <a:ext cx="850773"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1394996-24D3-C73D-853B-9832EAF79958}"/>
                        </a:ext>
                      </a:extLst>
                    </p:cNvPr>
                    <p:cNvSpPr txBox="1"/>
                    <p:nvPr/>
                  </p:nvSpPr>
                  <p:spPr>
                    <a:xfrm>
                      <a:off x="3799342" y="4829425"/>
                      <a:ext cx="8507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4" name="TextBox 23">
                      <a:extLst>
                        <a:ext uri="{FF2B5EF4-FFF2-40B4-BE49-F238E27FC236}">
                          <a16:creationId xmlns:a16="http://schemas.microsoft.com/office/drawing/2014/main" id="{21394996-24D3-C73D-853B-9832EAF79958}"/>
                        </a:ext>
                      </a:extLst>
                    </p:cNvPr>
                    <p:cNvSpPr txBox="1">
                      <a:spLocks noRot="1" noChangeAspect="1" noMove="1" noResize="1" noEditPoints="1" noAdjustHandles="1" noChangeArrowheads="1" noChangeShapeType="1" noTextEdit="1"/>
                    </p:cNvSpPr>
                    <p:nvPr/>
                  </p:nvSpPr>
                  <p:spPr>
                    <a:xfrm>
                      <a:off x="3799342" y="4829425"/>
                      <a:ext cx="850773" cy="369332"/>
                    </a:xfrm>
                    <a:prstGeom prst="rect">
                      <a:avLst/>
                    </a:prstGeom>
                    <a:blipFill>
                      <a:blip r:embed="rId18"/>
                      <a:stretch>
                        <a:fillRect/>
                      </a:stretch>
                    </a:blipFill>
                  </p:spPr>
                  <p:txBody>
                    <a:bodyPr/>
                    <a:lstStyle/>
                    <a:p>
                      <a:r>
                        <a:rPr lang="en-US">
                          <a:noFill/>
                        </a:rPr>
                        <a:t> </a:t>
                      </a:r>
                    </a:p>
                  </p:txBody>
                </p:sp>
              </mc:Fallback>
            </mc:AlternateContent>
          </p:grpSp>
          <p:sp>
            <p:nvSpPr>
              <p:cNvPr id="25" name="TextBox 24">
                <a:extLst>
                  <a:ext uri="{FF2B5EF4-FFF2-40B4-BE49-F238E27FC236}">
                    <a16:creationId xmlns:a16="http://schemas.microsoft.com/office/drawing/2014/main" id="{170F920A-28F6-6ECB-F535-C3E07DA612AA}"/>
                  </a:ext>
                </a:extLst>
              </p:cNvPr>
              <p:cNvSpPr txBox="1"/>
              <p:nvPr/>
            </p:nvSpPr>
            <p:spPr>
              <a:xfrm>
                <a:off x="9497480" y="2502526"/>
                <a:ext cx="678391" cy="369332"/>
              </a:xfrm>
              <a:prstGeom prst="rect">
                <a:avLst/>
              </a:prstGeom>
              <a:noFill/>
            </p:spPr>
            <p:txBody>
              <a:bodyPr wrap="none" rtlCol="0">
                <a:spAutoFit/>
              </a:bodyPr>
              <a:lstStyle/>
              <a:p>
                <a:r>
                  <a:rPr lang="en-US" dirty="0"/>
                  <a:t>2015</a:t>
                </a:r>
              </a:p>
            </p:txBody>
          </p:sp>
          <p:sp>
            <p:nvSpPr>
              <p:cNvPr id="26" name="TextBox 25">
                <a:extLst>
                  <a:ext uri="{FF2B5EF4-FFF2-40B4-BE49-F238E27FC236}">
                    <a16:creationId xmlns:a16="http://schemas.microsoft.com/office/drawing/2014/main" id="{CD028BA4-2FB0-482C-D2AB-DE0FFD5FC566}"/>
                  </a:ext>
                </a:extLst>
              </p:cNvPr>
              <p:cNvSpPr txBox="1"/>
              <p:nvPr/>
            </p:nvSpPr>
            <p:spPr>
              <a:xfrm>
                <a:off x="7888899" y="2500970"/>
                <a:ext cx="678391" cy="369332"/>
              </a:xfrm>
              <a:prstGeom prst="rect">
                <a:avLst/>
              </a:prstGeom>
              <a:noFill/>
            </p:spPr>
            <p:txBody>
              <a:bodyPr wrap="none" rtlCol="0">
                <a:spAutoFit/>
              </a:bodyPr>
              <a:lstStyle/>
              <a:p>
                <a:r>
                  <a:rPr lang="en-US" dirty="0"/>
                  <a:t>1995</a:t>
                </a:r>
              </a:p>
            </p:txBody>
          </p:sp>
          <p:sp>
            <p:nvSpPr>
              <p:cNvPr id="27" name="TextBox 26">
                <a:extLst>
                  <a:ext uri="{FF2B5EF4-FFF2-40B4-BE49-F238E27FC236}">
                    <a16:creationId xmlns:a16="http://schemas.microsoft.com/office/drawing/2014/main" id="{EBF4684D-C738-D41B-4A46-1CB2018ABD86}"/>
                  </a:ext>
                </a:extLst>
              </p:cNvPr>
              <p:cNvSpPr txBox="1"/>
              <p:nvPr/>
            </p:nvSpPr>
            <p:spPr>
              <a:xfrm>
                <a:off x="10607166" y="2512419"/>
                <a:ext cx="678391" cy="369332"/>
              </a:xfrm>
              <a:prstGeom prst="rect">
                <a:avLst/>
              </a:prstGeom>
              <a:noFill/>
            </p:spPr>
            <p:txBody>
              <a:bodyPr wrap="none" rtlCol="0">
                <a:spAutoFit/>
              </a:bodyPr>
              <a:lstStyle/>
              <a:p>
                <a:r>
                  <a:rPr lang="en-US" dirty="0"/>
                  <a:t>2022</a:t>
                </a:r>
              </a:p>
            </p:txBody>
          </p:sp>
          <p:sp>
            <p:nvSpPr>
              <p:cNvPr id="28" name="TextBox 27">
                <a:extLst>
                  <a:ext uri="{FF2B5EF4-FFF2-40B4-BE49-F238E27FC236}">
                    <a16:creationId xmlns:a16="http://schemas.microsoft.com/office/drawing/2014/main" id="{51736C5D-D79B-55E1-09FA-F31BE2A28BD0}"/>
                  </a:ext>
                </a:extLst>
              </p:cNvPr>
              <p:cNvSpPr txBox="1"/>
              <p:nvPr/>
            </p:nvSpPr>
            <p:spPr>
              <a:xfrm>
                <a:off x="6678617" y="3517413"/>
                <a:ext cx="1167307" cy="369332"/>
              </a:xfrm>
              <a:prstGeom prst="rect">
                <a:avLst/>
              </a:prstGeom>
              <a:noFill/>
            </p:spPr>
            <p:txBody>
              <a:bodyPr wrap="none" rtlCol="0">
                <a:spAutoFit/>
              </a:bodyPr>
              <a:lstStyle/>
              <a:p>
                <a:r>
                  <a:rPr lang="en-US" dirty="0"/>
                  <a:t>Denmark:</a:t>
                </a:r>
              </a:p>
            </p:txBody>
          </p:sp>
          <p:sp>
            <p:nvSpPr>
              <p:cNvPr id="29" name="Rounded Rectangle 28">
                <a:extLst>
                  <a:ext uri="{FF2B5EF4-FFF2-40B4-BE49-F238E27FC236}">
                    <a16:creationId xmlns:a16="http://schemas.microsoft.com/office/drawing/2014/main" id="{8C692831-23E2-C2AC-D655-9D5809C568D8}"/>
                  </a:ext>
                </a:extLst>
              </p:cNvPr>
              <p:cNvSpPr/>
              <p:nvPr/>
            </p:nvSpPr>
            <p:spPr>
              <a:xfrm>
                <a:off x="9622971" y="3459962"/>
                <a:ext cx="1662586" cy="541332"/>
              </a:xfrm>
              <a:prstGeom prst="roundRect">
                <a:avLst/>
              </a:prstGeom>
              <a:solidFill>
                <a:schemeClr val="bg2"/>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rPr>
                  <a:t>??????????</a:t>
                </a:r>
              </a:p>
            </p:txBody>
          </p:sp>
        </p:grpSp>
        <p:cxnSp>
          <p:nvCxnSpPr>
            <p:cNvPr id="35" name="Curved Connector 34">
              <a:extLst>
                <a:ext uri="{FF2B5EF4-FFF2-40B4-BE49-F238E27FC236}">
                  <a16:creationId xmlns:a16="http://schemas.microsoft.com/office/drawing/2014/main" id="{A937B497-328A-5A4D-92E9-05416C1028E9}"/>
                </a:ext>
              </a:extLst>
            </p:cNvPr>
            <p:cNvCxnSpPr/>
            <p:nvPr/>
          </p:nvCxnSpPr>
          <p:spPr>
            <a:xfrm flipV="1">
              <a:off x="5849007" y="3105717"/>
              <a:ext cx="2222938" cy="49349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239991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965C-D6CF-B3D6-3489-7580C313DCA0}"/>
              </a:ext>
            </a:extLst>
          </p:cNvPr>
          <p:cNvSpPr>
            <a:spLocks noGrp="1"/>
          </p:cNvSpPr>
          <p:nvPr>
            <p:ph type="title"/>
          </p:nvPr>
        </p:nvSpPr>
        <p:spPr/>
        <p:txBody>
          <a:bodyPr/>
          <a:lstStyle/>
          <a:p>
            <a:r>
              <a:rPr lang="en-US" dirty="0"/>
              <a:t>Matrix Completion</a:t>
            </a:r>
          </a:p>
        </p:txBody>
      </p:sp>
      <p:sp>
        <p:nvSpPr>
          <p:cNvPr id="3" name="Content Placeholder 2">
            <a:extLst>
              <a:ext uri="{FF2B5EF4-FFF2-40B4-BE49-F238E27FC236}">
                <a16:creationId xmlns:a16="http://schemas.microsoft.com/office/drawing/2014/main" id="{8549AC01-C1DC-1939-E16E-094134C7C539}"/>
              </a:ext>
            </a:extLst>
          </p:cNvPr>
          <p:cNvSpPr>
            <a:spLocks noGrp="1"/>
          </p:cNvSpPr>
          <p:nvPr>
            <p:ph idx="1"/>
          </p:nvPr>
        </p:nvSpPr>
        <p:spPr/>
        <p:txBody>
          <a:bodyPr/>
          <a:lstStyle/>
          <a:p>
            <a:r>
              <a:rPr lang="en-US" dirty="0"/>
              <a:t>Suppose that </a:t>
            </a:r>
            <a:r>
              <a:rPr lang="en-US" b="1" dirty="0"/>
              <a:t>Y</a:t>
            </a:r>
            <a:r>
              <a:rPr lang="en-US" dirty="0"/>
              <a:t> is approximately low-rank.</a:t>
            </a:r>
          </a:p>
          <a:p>
            <a:r>
              <a:rPr lang="en-US" b="1" dirty="0"/>
              <a:t>But!  </a:t>
            </a:r>
            <a:r>
              <a:rPr lang="en-US" dirty="0"/>
              <a:t>We are missing a few entries of</a:t>
            </a:r>
            <a:r>
              <a:rPr lang="en-US" b="1" dirty="0"/>
              <a:t> Y</a:t>
            </a:r>
            <a:r>
              <a:rPr lang="en-US" dirty="0"/>
              <a:t>.</a:t>
            </a:r>
          </a:p>
          <a:p>
            <a:r>
              <a:rPr lang="en-US" dirty="0"/>
              <a:t>Find that low-rank matrix that matches the non-missing entries as close as possible.</a:t>
            </a:r>
          </a:p>
        </p:txBody>
      </p:sp>
      <p:grpSp>
        <p:nvGrpSpPr>
          <p:cNvPr id="10" name="Group 9">
            <a:extLst>
              <a:ext uri="{FF2B5EF4-FFF2-40B4-BE49-F238E27FC236}">
                <a16:creationId xmlns:a16="http://schemas.microsoft.com/office/drawing/2014/main" id="{02C77831-614B-3E7C-8B84-CA2289BDB819}"/>
              </a:ext>
            </a:extLst>
          </p:cNvPr>
          <p:cNvGrpSpPr/>
          <p:nvPr/>
        </p:nvGrpSpPr>
        <p:grpSpPr>
          <a:xfrm>
            <a:off x="2444925" y="4312173"/>
            <a:ext cx="8018422" cy="1864790"/>
            <a:chOff x="3189508" y="4312173"/>
            <a:chExt cx="8018422" cy="186479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6910640-FD0A-D866-272C-6E61774AA509}"/>
                    </a:ext>
                  </a:extLst>
                </p:cNvPr>
                <p:cNvSpPr/>
                <p:nvPr/>
              </p:nvSpPr>
              <p:spPr>
                <a:xfrm>
                  <a:off x="3189508" y="4312173"/>
                  <a:ext cx="710693" cy="186479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dirty="0" smtClean="0">
                            <a:solidFill>
                              <a:schemeClr val="tx1"/>
                            </a:solidFill>
                            <a:latin typeface="Cambria Math" panose="02040503050406030204" pitchFamily="18" charset="0"/>
                          </a:rPr>
                          <m:t>𝑿</m:t>
                        </m:r>
                      </m:oMath>
                    </m:oMathPara>
                  </a14:m>
                  <a:endParaRPr lang="en-US" sz="1200" b="1" dirty="0">
                    <a:solidFill>
                      <a:schemeClr val="tx1"/>
                    </a:solidFill>
                  </a:endParaRPr>
                </a:p>
              </p:txBody>
            </p:sp>
          </mc:Choice>
          <mc:Fallback xmlns="">
            <p:sp>
              <p:nvSpPr>
                <p:cNvPr id="4" name="Rectangle 3">
                  <a:extLst>
                    <a:ext uri="{FF2B5EF4-FFF2-40B4-BE49-F238E27FC236}">
                      <a16:creationId xmlns:a16="http://schemas.microsoft.com/office/drawing/2014/main" id="{36910640-FD0A-D866-272C-6E61774AA509}"/>
                    </a:ext>
                  </a:extLst>
                </p:cNvPr>
                <p:cNvSpPr>
                  <a:spLocks noRot="1" noChangeAspect="1" noMove="1" noResize="1" noEditPoints="1" noAdjustHandles="1" noChangeArrowheads="1" noChangeShapeType="1" noTextEdit="1"/>
                </p:cNvSpPr>
                <p:nvPr/>
              </p:nvSpPr>
              <p:spPr>
                <a:xfrm>
                  <a:off x="3189508" y="4312173"/>
                  <a:ext cx="710693" cy="186479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95C7084-8C7D-69ED-37FA-9E78C8A58635}"/>
                    </a:ext>
                  </a:extLst>
                </p:cNvPr>
                <p:cNvSpPr/>
                <p:nvPr/>
              </p:nvSpPr>
              <p:spPr>
                <a:xfrm>
                  <a:off x="4021043" y="4312173"/>
                  <a:ext cx="1767229" cy="71512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𝑩</m:t>
                        </m:r>
                      </m:oMath>
                    </m:oMathPara>
                  </a14:m>
                  <a:endParaRPr lang="en-US" sz="1200" b="1" dirty="0">
                    <a:solidFill>
                      <a:schemeClr val="tx1"/>
                    </a:solidFill>
                  </a:endParaRPr>
                </a:p>
              </p:txBody>
            </p:sp>
          </mc:Choice>
          <mc:Fallback xmlns="">
            <p:sp>
              <p:nvSpPr>
                <p:cNvPr id="5" name="Rectangle 4">
                  <a:extLst>
                    <a:ext uri="{FF2B5EF4-FFF2-40B4-BE49-F238E27FC236}">
                      <a16:creationId xmlns:a16="http://schemas.microsoft.com/office/drawing/2014/main" id="{495C7084-8C7D-69ED-37FA-9E78C8A58635}"/>
                    </a:ext>
                  </a:extLst>
                </p:cNvPr>
                <p:cNvSpPr>
                  <a:spLocks noRot="1" noChangeAspect="1" noMove="1" noResize="1" noEditPoints="1" noAdjustHandles="1" noChangeArrowheads="1" noChangeShapeType="1" noTextEdit="1"/>
                </p:cNvSpPr>
                <p:nvPr/>
              </p:nvSpPr>
              <p:spPr>
                <a:xfrm>
                  <a:off x="4021043" y="4312173"/>
                  <a:ext cx="1767229" cy="71512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1D1B855-5D3C-D410-7C35-37F85510E491}"/>
                    </a:ext>
                  </a:extLst>
                </p:cNvPr>
                <p:cNvSpPr/>
                <p:nvPr/>
              </p:nvSpPr>
              <p:spPr>
                <a:xfrm>
                  <a:off x="6689018" y="4312173"/>
                  <a:ext cx="2258073" cy="1864790"/>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dirty="0" smtClean="0">
                            <a:solidFill>
                              <a:schemeClr val="bg1"/>
                            </a:solidFill>
                            <a:latin typeface="Cambria Math" panose="02040503050406030204" pitchFamily="18" charset="0"/>
                          </a:rPr>
                          <m:t>𝒀</m:t>
                        </m:r>
                      </m:oMath>
                    </m:oMathPara>
                  </a14:m>
                  <a:endParaRPr lang="en-US" sz="1000" b="1" dirty="0">
                    <a:solidFill>
                      <a:schemeClr val="bg1"/>
                    </a:solidFill>
                  </a:endParaRPr>
                </a:p>
              </p:txBody>
            </p:sp>
          </mc:Choice>
          <mc:Fallback xmlns="">
            <p:sp>
              <p:nvSpPr>
                <p:cNvPr id="6" name="Rectangle 5">
                  <a:extLst>
                    <a:ext uri="{FF2B5EF4-FFF2-40B4-BE49-F238E27FC236}">
                      <a16:creationId xmlns:a16="http://schemas.microsoft.com/office/drawing/2014/main" id="{71D1B855-5D3C-D410-7C35-37F85510E491}"/>
                    </a:ext>
                  </a:extLst>
                </p:cNvPr>
                <p:cNvSpPr>
                  <a:spLocks noRot="1" noChangeAspect="1" noMove="1" noResize="1" noEditPoints="1" noAdjustHandles="1" noChangeArrowheads="1" noChangeShapeType="1" noTextEdit="1"/>
                </p:cNvSpPr>
                <p:nvPr/>
              </p:nvSpPr>
              <p:spPr>
                <a:xfrm>
                  <a:off x="6689018" y="4312173"/>
                  <a:ext cx="2258073" cy="1864790"/>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6C627AF-5CC2-CF84-EE76-646841571950}"/>
                    </a:ext>
                  </a:extLst>
                </p:cNvPr>
                <p:cNvSpPr txBox="1"/>
                <p:nvPr/>
              </p:nvSpPr>
              <p:spPr>
                <a:xfrm>
                  <a:off x="5788272" y="5140463"/>
                  <a:ext cx="75211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rPr>
                          <m:t>≈</m:t>
                        </m:r>
                      </m:oMath>
                    </m:oMathPara>
                  </a14:m>
                  <a:endParaRPr lang="en-US" sz="2400" b="1" dirty="0">
                    <a:solidFill>
                      <a:schemeClr val="tx1"/>
                    </a:solidFill>
                  </a:endParaRPr>
                </a:p>
              </p:txBody>
            </p:sp>
          </mc:Choice>
          <mc:Fallback xmlns="">
            <p:sp>
              <p:nvSpPr>
                <p:cNvPr id="7" name="TextBox 6">
                  <a:extLst>
                    <a:ext uri="{FF2B5EF4-FFF2-40B4-BE49-F238E27FC236}">
                      <a16:creationId xmlns:a16="http://schemas.microsoft.com/office/drawing/2014/main" id="{16C627AF-5CC2-CF84-EE76-646841571950}"/>
                    </a:ext>
                  </a:extLst>
                </p:cNvPr>
                <p:cNvSpPr txBox="1">
                  <a:spLocks noRot="1" noChangeAspect="1" noMove="1" noResize="1" noEditPoints="1" noAdjustHandles="1" noChangeArrowheads="1" noChangeShapeType="1" noTextEdit="1"/>
                </p:cNvSpPr>
                <p:nvPr/>
              </p:nvSpPr>
              <p:spPr>
                <a:xfrm>
                  <a:off x="5788272" y="5140463"/>
                  <a:ext cx="752111" cy="461665"/>
                </a:xfrm>
                <a:prstGeom prst="rect">
                  <a:avLst/>
                </a:prstGeom>
                <a:blipFill>
                  <a:blip r:embed="rId6"/>
                  <a:stretch>
                    <a:fillRect/>
                  </a:stretch>
                </a:blipFill>
              </p:spPr>
              <p:txBody>
                <a:bodyPr/>
                <a:lstStyle/>
                <a:p>
                  <a:r>
                    <a:rPr lang="en-US">
                      <a:noFill/>
                    </a:rPr>
                    <a:t> </a:t>
                  </a:r>
                </a:p>
              </p:txBody>
            </p:sp>
          </mc:Fallback>
        </mc:AlternateContent>
        <p:sp>
          <p:nvSpPr>
            <p:cNvPr id="8" name="Rounded Rectangle 7">
              <a:extLst>
                <a:ext uri="{FF2B5EF4-FFF2-40B4-BE49-F238E27FC236}">
                  <a16:creationId xmlns:a16="http://schemas.microsoft.com/office/drawing/2014/main" id="{EA91D519-D067-8F53-8B26-316EA4E19D9D}"/>
                </a:ext>
              </a:extLst>
            </p:cNvPr>
            <p:cNvSpPr/>
            <p:nvPr/>
          </p:nvSpPr>
          <p:spPr>
            <a:xfrm>
              <a:off x="7713551" y="4599131"/>
              <a:ext cx="1129037" cy="428164"/>
            </a:xfrm>
            <a:prstGeom prst="roundRect">
              <a:avLst/>
            </a:prstGeom>
            <a:solidFill>
              <a:schemeClr val="bg2"/>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rPr>
                <a:t>? ? ? ? ? </a:t>
              </a:r>
            </a:p>
          </p:txBody>
        </p:sp>
        <p:sp>
          <p:nvSpPr>
            <p:cNvPr id="9" name="TextBox 8">
              <a:extLst>
                <a:ext uri="{FF2B5EF4-FFF2-40B4-BE49-F238E27FC236}">
                  <a16:creationId xmlns:a16="http://schemas.microsoft.com/office/drawing/2014/main" id="{80FAF5A0-5D34-DD1E-979C-06343D429BBB}"/>
                </a:ext>
              </a:extLst>
            </p:cNvPr>
            <p:cNvSpPr txBox="1"/>
            <p:nvPr/>
          </p:nvSpPr>
          <p:spPr>
            <a:xfrm>
              <a:off x="9329199" y="4678798"/>
              <a:ext cx="1878731" cy="1200329"/>
            </a:xfrm>
            <a:prstGeom prst="rect">
              <a:avLst/>
            </a:prstGeom>
            <a:noFill/>
          </p:spPr>
          <p:txBody>
            <a:bodyPr wrap="square" rtlCol="0">
              <a:spAutoFit/>
            </a:bodyPr>
            <a:lstStyle/>
            <a:p>
              <a:r>
                <a:rPr lang="en-US" sz="2400" dirty="0">
                  <a:solidFill>
                    <a:schemeClr val="accent1"/>
                  </a:solidFill>
                </a:rPr>
                <a:t>on all the entries you can see</a:t>
              </a:r>
            </a:p>
          </p:txBody>
        </p:sp>
      </p:grpSp>
    </p:spTree>
    <p:extLst>
      <p:ext uri="{BB962C8B-B14F-4D97-AF65-F5344CB8AC3E}">
        <p14:creationId xmlns:p14="http://schemas.microsoft.com/office/powerpoint/2010/main" val="23105617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5BD5-4EA6-8C09-7F57-2FFCAA540EDA}"/>
              </a:ext>
            </a:extLst>
          </p:cNvPr>
          <p:cNvSpPr>
            <a:spLocks noGrp="1"/>
          </p:cNvSpPr>
          <p:nvPr>
            <p:ph type="title"/>
          </p:nvPr>
        </p:nvSpPr>
        <p:spPr/>
        <p:txBody>
          <a:bodyPr/>
          <a:lstStyle/>
          <a:p>
            <a:r>
              <a:rPr lang="en-US" dirty="0"/>
              <a:t>We can use this to predict what </a:t>
            </a:r>
            <a:r>
              <a:rPr lang="en-US" b="1" dirty="0"/>
              <a:t>would</a:t>
            </a:r>
            <a:r>
              <a:rPr lang="en-US" dirty="0"/>
              <a:t> have happened to Denmark!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B8B443-58B7-7E1C-3626-82FBA9D8BFC8}"/>
                  </a:ext>
                </a:extLst>
              </p:cNvPr>
              <p:cNvSpPr>
                <a:spLocks noGrp="1"/>
              </p:cNvSpPr>
              <p:nvPr>
                <p:ph idx="1"/>
              </p:nvPr>
            </p:nvSpPr>
            <p:spPr>
              <a:xfrm>
                <a:off x="838199" y="1825625"/>
                <a:ext cx="11244943" cy="4351338"/>
              </a:xfrm>
            </p:spPr>
            <p:txBody>
              <a:bodyPr/>
              <a:lstStyle/>
              <a:p>
                <a:r>
                  <a:rPr lang="en-US" dirty="0"/>
                  <a:t>We can’t use the matrices </a:t>
                </a:r>
                <a14:m>
                  <m:oMath xmlns:m="http://schemas.openxmlformats.org/officeDocument/2006/math">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𝐵</m:t>
                    </m:r>
                  </m:oMath>
                </a14:m>
                <a:r>
                  <a:rPr lang="en-US" dirty="0"/>
                  <a:t> we found before, that’s cheating.</a:t>
                </a:r>
              </a:p>
              <a:p>
                <a:pPr lvl="1"/>
                <a:r>
                  <a:rPr lang="en-US" dirty="0">
                    <a:solidFill>
                      <a:schemeClr val="accent1"/>
                    </a:solidFill>
                  </a:rPr>
                  <a:t>That used Danish data from post-2015, which we are pretending didn’t exist.</a:t>
                </a:r>
              </a:p>
              <a:p>
                <a:r>
                  <a:rPr lang="en-US" dirty="0"/>
                  <a:t>But we can do something similar* to find </a:t>
                </a:r>
                <a14:m>
                  <m:oMath xmlns:m="http://schemas.openxmlformats.org/officeDocument/2006/math">
                    <m:r>
                      <a:rPr lang="en-US" i="1" dirty="0" smtClean="0">
                        <a:latin typeface="Cambria Math" panose="02040503050406030204" pitchFamily="18" charset="0"/>
                      </a:rPr>
                      <m:t>𝑋</m:t>
                    </m:r>
                  </m:oMath>
                </a14:m>
                <a:r>
                  <a:rPr lang="en-US" dirty="0"/>
                  <a:t> and </a:t>
                </a:r>
                <a14:m>
                  <m:oMath xmlns:m="http://schemas.openxmlformats.org/officeDocument/2006/math">
                    <m:r>
                      <a:rPr lang="en-US" i="1" dirty="0" smtClean="0">
                        <a:latin typeface="Cambria Math" panose="02040503050406030204" pitchFamily="18" charset="0"/>
                      </a:rPr>
                      <m:t>𝐵</m:t>
                    </m:r>
                  </m:oMath>
                </a14:m>
                <a:r>
                  <a:rPr lang="en-US" dirty="0"/>
                  <a:t> even with the missing data.</a:t>
                </a:r>
              </a:p>
            </p:txBody>
          </p:sp>
        </mc:Choice>
        <mc:Fallback xmlns="">
          <p:sp>
            <p:nvSpPr>
              <p:cNvPr id="3" name="Content Placeholder 2">
                <a:extLst>
                  <a:ext uri="{FF2B5EF4-FFF2-40B4-BE49-F238E27FC236}">
                    <a16:creationId xmlns:a16="http://schemas.microsoft.com/office/drawing/2014/main" id="{87B8B443-58B7-7E1C-3626-82FBA9D8BFC8}"/>
                  </a:ext>
                </a:extLst>
              </p:cNvPr>
              <p:cNvSpPr>
                <a:spLocks noGrp="1" noRot="1" noChangeAspect="1" noMove="1" noResize="1" noEditPoints="1" noAdjustHandles="1" noChangeArrowheads="1" noChangeShapeType="1" noTextEdit="1"/>
              </p:cNvSpPr>
              <p:nvPr>
                <p:ph idx="1"/>
              </p:nvPr>
            </p:nvSpPr>
            <p:spPr>
              <a:xfrm>
                <a:off x="838199" y="1825625"/>
                <a:ext cx="11244943" cy="4351338"/>
              </a:xfrm>
              <a:blipFill>
                <a:blip r:embed="rId3"/>
                <a:stretch>
                  <a:fillRect l="-902" t="-2326" r="-11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6F8DC81-E0CA-AB41-2CE8-B0D5E8F40657}"/>
              </a:ext>
            </a:extLst>
          </p:cNvPr>
          <p:cNvSpPr txBox="1"/>
          <p:nvPr/>
        </p:nvSpPr>
        <p:spPr>
          <a:xfrm>
            <a:off x="352697" y="6488668"/>
            <a:ext cx="7485447" cy="369332"/>
          </a:xfrm>
          <a:prstGeom prst="rect">
            <a:avLst/>
          </a:prstGeom>
          <a:noFill/>
        </p:spPr>
        <p:txBody>
          <a:bodyPr wrap="none" rtlCol="0">
            <a:spAutoFit/>
          </a:bodyPr>
          <a:lstStyle/>
          <a:p>
            <a:r>
              <a:rPr lang="en-US" dirty="0"/>
              <a:t>*Algorithmically this is similar to the convex relaxation we saw with LASSO!</a:t>
            </a:r>
          </a:p>
        </p:txBody>
      </p:sp>
    </p:spTree>
    <p:extLst>
      <p:ext uri="{BB962C8B-B14F-4D97-AF65-F5344CB8AC3E}">
        <p14:creationId xmlns:p14="http://schemas.microsoft.com/office/powerpoint/2010/main" val="37225442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5BD5-4EA6-8C09-7F57-2FFCAA540EDA}"/>
              </a:ext>
            </a:extLst>
          </p:cNvPr>
          <p:cNvSpPr>
            <a:spLocks noGrp="1"/>
          </p:cNvSpPr>
          <p:nvPr>
            <p:ph type="title"/>
          </p:nvPr>
        </p:nvSpPr>
        <p:spPr/>
        <p:txBody>
          <a:bodyPr/>
          <a:lstStyle/>
          <a:p>
            <a:r>
              <a:rPr lang="en-US" dirty="0"/>
              <a:t>We can use this to predict what </a:t>
            </a:r>
            <a:r>
              <a:rPr lang="en-US" b="1" dirty="0"/>
              <a:t>would</a:t>
            </a:r>
            <a:r>
              <a:rPr lang="en-US" dirty="0"/>
              <a:t> have happened to Denmark!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B8B443-58B7-7E1C-3626-82FBA9D8BFC8}"/>
                  </a:ext>
                </a:extLst>
              </p:cNvPr>
              <p:cNvSpPr>
                <a:spLocks noGrp="1"/>
              </p:cNvSpPr>
              <p:nvPr>
                <p:ph idx="1"/>
              </p:nvPr>
            </p:nvSpPr>
            <p:spPr>
              <a:xfrm>
                <a:off x="838199" y="1825625"/>
                <a:ext cx="11244943" cy="4351338"/>
              </a:xfrm>
            </p:spPr>
            <p:txBody>
              <a:bodyPr/>
              <a:lstStyle/>
              <a:p>
                <a:r>
                  <a:rPr lang="en-US" dirty="0"/>
                  <a:t>We can’t use the matrices </a:t>
                </a:r>
                <a14:m>
                  <m:oMath xmlns:m="http://schemas.openxmlformats.org/officeDocument/2006/math">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𝐵</m:t>
                    </m:r>
                  </m:oMath>
                </a14:m>
                <a:r>
                  <a:rPr lang="en-US" dirty="0"/>
                  <a:t> we found before, that’s cheating.</a:t>
                </a:r>
              </a:p>
              <a:p>
                <a:pPr lvl="1"/>
                <a:r>
                  <a:rPr lang="en-US" dirty="0">
                    <a:solidFill>
                      <a:schemeClr val="accent1"/>
                    </a:solidFill>
                  </a:rPr>
                  <a:t>That used Danish data from post-2015, which we are pretending didn’t exist.</a:t>
                </a:r>
              </a:p>
              <a:p>
                <a:r>
                  <a:rPr lang="en-US" dirty="0"/>
                  <a:t>But we can do something similar* to find </a:t>
                </a:r>
                <a14:m>
                  <m:oMath xmlns:m="http://schemas.openxmlformats.org/officeDocument/2006/math">
                    <m:r>
                      <a:rPr lang="en-US" i="1" dirty="0" smtClean="0">
                        <a:latin typeface="Cambria Math" panose="02040503050406030204" pitchFamily="18" charset="0"/>
                      </a:rPr>
                      <m:t>𝑋</m:t>
                    </m:r>
                  </m:oMath>
                </a14:m>
                <a:r>
                  <a:rPr lang="en-US" dirty="0"/>
                  <a:t> and </a:t>
                </a:r>
                <a14:m>
                  <m:oMath xmlns:m="http://schemas.openxmlformats.org/officeDocument/2006/math">
                    <m:r>
                      <a:rPr lang="en-US" i="1" dirty="0" smtClean="0">
                        <a:latin typeface="Cambria Math" panose="02040503050406030204" pitchFamily="18" charset="0"/>
                      </a:rPr>
                      <m:t>𝐵</m:t>
                    </m:r>
                  </m:oMath>
                </a14:m>
                <a:r>
                  <a:rPr lang="en-US" dirty="0"/>
                  <a:t> even with the missing data.</a:t>
                </a:r>
              </a:p>
            </p:txBody>
          </p:sp>
        </mc:Choice>
        <mc:Fallback xmlns="">
          <p:sp>
            <p:nvSpPr>
              <p:cNvPr id="3" name="Content Placeholder 2">
                <a:extLst>
                  <a:ext uri="{FF2B5EF4-FFF2-40B4-BE49-F238E27FC236}">
                    <a16:creationId xmlns:a16="http://schemas.microsoft.com/office/drawing/2014/main" id="{87B8B443-58B7-7E1C-3626-82FBA9D8BFC8}"/>
                  </a:ext>
                </a:extLst>
              </p:cNvPr>
              <p:cNvSpPr>
                <a:spLocks noGrp="1" noRot="1" noChangeAspect="1" noMove="1" noResize="1" noEditPoints="1" noAdjustHandles="1" noChangeArrowheads="1" noChangeShapeType="1" noTextEdit="1"/>
              </p:cNvSpPr>
              <p:nvPr>
                <p:ph idx="1"/>
              </p:nvPr>
            </p:nvSpPr>
            <p:spPr>
              <a:xfrm>
                <a:off x="838199" y="1825625"/>
                <a:ext cx="11244943" cy="4351338"/>
              </a:xfrm>
              <a:blipFill>
                <a:blip r:embed="rId3"/>
                <a:stretch>
                  <a:fillRect l="-902" t="-2326" r="-11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6F8DC81-E0CA-AB41-2CE8-B0D5E8F40657}"/>
              </a:ext>
            </a:extLst>
          </p:cNvPr>
          <p:cNvSpPr txBox="1"/>
          <p:nvPr/>
        </p:nvSpPr>
        <p:spPr>
          <a:xfrm>
            <a:off x="352697" y="6488668"/>
            <a:ext cx="7485447" cy="369332"/>
          </a:xfrm>
          <a:prstGeom prst="rect">
            <a:avLst/>
          </a:prstGeom>
          <a:noFill/>
        </p:spPr>
        <p:txBody>
          <a:bodyPr wrap="none" rtlCol="0">
            <a:spAutoFit/>
          </a:bodyPr>
          <a:lstStyle/>
          <a:p>
            <a:r>
              <a:rPr lang="en-US" dirty="0"/>
              <a:t>*Algorithmically this is similar to the convex relaxation we saw with LASSO!</a:t>
            </a:r>
          </a:p>
        </p:txBody>
      </p:sp>
      <p:pic>
        <p:nvPicPr>
          <p:cNvPr id="6" name="Picture 5">
            <a:extLst>
              <a:ext uri="{FF2B5EF4-FFF2-40B4-BE49-F238E27FC236}">
                <a16:creationId xmlns:a16="http://schemas.microsoft.com/office/drawing/2014/main" id="{4B522B2E-D0F4-EF3A-9D70-33D8D024DA5A}"/>
              </a:ext>
            </a:extLst>
          </p:cNvPr>
          <p:cNvPicPr>
            <a:picLocks noChangeAspect="1"/>
          </p:cNvPicPr>
          <p:nvPr/>
        </p:nvPicPr>
        <p:blipFill>
          <a:blip r:embed="rId4"/>
          <a:stretch>
            <a:fillRect/>
          </a:stretch>
        </p:blipFill>
        <p:spPr>
          <a:xfrm>
            <a:off x="3906959" y="3414696"/>
            <a:ext cx="4378081" cy="3073972"/>
          </a:xfrm>
          <a:prstGeom prst="rect">
            <a:avLst/>
          </a:prstGeom>
        </p:spPr>
      </p:pic>
      <p:grpSp>
        <p:nvGrpSpPr>
          <p:cNvPr id="11" name="Group 10">
            <a:extLst>
              <a:ext uri="{FF2B5EF4-FFF2-40B4-BE49-F238E27FC236}">
                <a16:creationId xmlns:a16="http://schemas.microsoft.com/office/drawing/2014/main" id="{0F3E0BD9-F91F-EE56-300C-242B13D34F5E}"/>
              </a:ext>
            </a:extLst>
          </p:cNvPr>
          <p:cNvGrpSpPr/>
          <p:nvPr/>
        </p:nvGrpSpPr>
        <p:grpSpPr>
          <a:xfrm>
            <a:off x="6961229" y="3443870"/>
            <a:ext cx="4269988" cy="2107976"/>
            <a:chOff x="6961229" y="3443870"/>
            <a:chExt cx="4269988" cy="2107976"/>
          </a:xfrm>
        </p:grpSpPr>
        <p:sp>
          <p:nvSpPr>
            <p:cNvPr id="7" name="TextBox 6">
              <a:extLst>
                <a:ext uri="{FF2B5EF4-FFF2-40B4-BE49-F238E27FC236}">
                  <a16:creationId xmlns:a16="http://schemas.microsoft.com/office/drawing/2014/main" id="{15A64F65-2C66-C81F-0A08-B2476CB83170}"/>
                </a:ext>
              </a:extLst>
            </p:cNvPr>
            <p:cNvSpPr txBox="1"/>
            <p:nvPr/>
          </p:nvSpPr>
          <p:spPr>
            <a:xfrm>
              <a:off x="8627165" y="4351517"/>
              <a:ext cx="2604052" cy="1200329"/>
            </a:xfrm>
            <a:prstGeom prst="rect">
              <a:avLst/>
            </a:prstGeom>
            <a:noFill/>
          </p:spPr>
          <p:txBody>
            <a:bodyPr wrap="square" rtlCol="0">
              <a:spAutoFit/>
            </a:bodyPr>
            <a:lstStyle/>
            <a:p>
              <a:r>
                <a:rPr lang="en-US" dirty="0">
                  <a:solidFill>
                    <a:schemeClr val="accent5"/>
                  </a:solidFill>
                </a:rPr>
                <a:t>All these data were deleted, and matrix completion tried to regenerate it.</a:t>
              </a:r>
            </a:p>
          </p:txBody>
        </p:sp>
        <p:sp>
          <p:nvSpPr>
            <p:cNvPr id="8" name="Freeform 7">
              <a:extLst>
                <a:ext uri="{FF2B5EF4-FFF2-40B4-BE49-F238E27FC236}">
                  <a16:creationId xmlns:a16="http://schemas.microsoft.com/office/drawing/2014/main" id="{B3E8B737-A2B4-7060-5BE6-E627DDFC3DFF}"/>
                </a:ext>
              </a:extLst>
            </p:cNvPr>
            <p:cNvSpPr/>
            <p:nvPr/>
          </p:nvSpPr>
          <p:spPr>
            <a:xfrm>
              <a:off x="6961229" y="3443870"/>
              <a:ext cx="1080416" cy="908169"/>
            </a:xfrm>
            <a:custGeom>
              <a:avLst/>
              <a:gdLst>
                <a:gd name="connsiteX0" fmla="*/ 16041 w 1080416"/>
                <a:gd name="connsiteY0" fmla="*/ 690808 h 908169"/>
                <a:gd name="connsiteX1" fmla="*/ 55797 w 1080416"/>
                <a:gd name="connsiteY1" fmla="*/ 899530 h 908169"/>
                <a:gd name="connsiteX2" fmla="*/ 214823 w 1080416"/>
                <a:gd name="connsiteY2" fmla="*/ 839895 h 908169"/>
                <a:gd name="connsiteX3" fmla="*/ 453362 w 1080416"/>
                <a:gd name="connsiteY3" fmla="*/ 581478 h 908169"/>
                <a:gd name="connsiteX4" fmla="*/ 642206 w 1080416"/>
                <a:gd name="connsiteY4" fmla="*/ 362817 h 908169"/>
                <a:gd name="connsiteX5" fmla="*/ 831049 w 1080416"/>
                <a:gd name="connsiteY5" fmla="*/ 392634 h 908169"/>
                <a:gd name="connsiteX6" fmla="*/ 1009954 w 1080416"/>
                <a:gd name="connsiteY6" fmla="*/ 392634 h 908169"/>
                <a:gd name="connsiteX7" fmla="*/ 1059649 w 1080416"/>
                <a:gd name="connsiteY7" fmla="*/ 44765 h 908169"/>
                <a:gd name="connsiteX8" fmla="*/ 681962 w 1080416"/>
                <a:gd name="connsiteY8" fmla="*/ 34826 h 908169"/>
                <a:gd name="connsiteX9" fmla="*/ 304275 w 1080416"/>
                <a:gd name="connsiteY9" fmla="*/ 323060 h 908169"/>
                <a:gd name="connsiteX10" fmla="*/ 16041 w 1080416"/>
                <a:gd name="connsiteY10" fmla="*/ 690808 h 908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416" h="908169">
                  <a:moveTo>
                    <a:pt x="16041" y="690808"/>
                  </a:moveTo>
                  <a:cubicBezTo>
                    <a:pt x="-25372" y="786886"/>
                    <a:pt x="22667" y="874682"/>
                    <a:pt x="55797" y="899530"/>
                  </a:cubicBezTo>
                  <a:cubicBezTo>
                    <a:pt x="88927" y="924378"/>
                    <a:pt x="148562" y="892904"/>
                    <a:pt x="214823" y="839895"/>
                  </a:cubicBezTo>
                  <a:cubicBezTo>
                    <a:pt x="281084" y="786886"/>
                    <a:pt x="382132" y="660991"/>
                    <a:pt x="453362" y="581478"/>
                  </a:cubicBezTo>
                  <a:cubicBezTo>
                    <a:pt x="524593" y="501965"/>
                    <a:pt x="579258" y="394291"/>
                    <a:pt x="642206" y="362817"/>
                  </a:cubicBezTo>
                  <a:cubicBezTo>
                    <a:pt x="705154" y="331343"/>
                    <a:pt x="769758" y="387664"/>
                    <a:pt x="831049" y="392634"/>
                  </a:cubicBezTo>
                  <a:cubicBezTo>
                    <a:pt x="892340" y="397603"/>
                    <a:pt x="971854" y="450612"/>
                    <a:pt x="1009954" y="392634"/>
                  </a:cubicBezTo>
                  <a:cubicBezTo>
                    <a:pt x="1048054" y="334656"/>
                    <a:pt x="1114314" y="104400"/>
                    <a:pt x="1059649" y="44765"/>
                  </a:cubicBezTo>
                  <a:cubicBezTo>
                    <a:pt x="1004984" y="-14870"/>
                    <a:pt x="807858" y="-11557"/>
                    <a:pt x="681962" y="34826"/>
                  </a:cubicBezTo>
                  <a:cubicBezTo>
                    <a:pt x="556066" y="81208"/>
                    <a:pt x="413605" y="215386"/>
                    <a:pt x="304275" y="323060"/>
                  </a:cubicBezTo>
                  <a:cubicBezTo>
                    <a:pt x="194945" y="430734"/>
                    <a:pt x="57454" y="594730"/>
                    <a:pt x="16041" y="690808"/>
                  </a:cubicBezTo>
                  <a:close/>
                </a:path>
              </a:pathLst>
            </a:custGeom>
            <a:solidFill>
              <a:schemeClr val="accent5">
                <a:lumMod val="20000"/>
                <a:lumOff val="80000"/>
                <a:alpha val="63337"/>
              </a:schemeClr>
            </a:solidFill>
            <a:ln w="19050">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Curved Connector 9">
              <a:extLst>
                <a:ext uri="{FF2B5EF4-FFF2-40B4-BE49-F238E27FC236}">
                  <a16:creationId xmlns:a16="http://schemas.microsoft.com/office/drawing/2014/main" id="{E73B167F-9F76-F494-250E-7D18E346EEC2}"/>
                </a:ext>
              </a:extLst>
            </p:cNvPr>
            <p:cNvCxnSpPr>
              <a:stCxn id="7" idx="0"/>
            </p:cNvCxnSpPr>
            <p:nvPr/>
          </p:nvCxnSpPr>
          <p:spPr>
            <a:xfrm rot="16200000" flipV="1">
              <a:off x="8618581" y="3040907"/>
              <a:ext cx="733674" cy="1887546"/>
            </a:xfrm>
            <a:prstGeom prst="curvedConnector2">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10232381"/>
      </p:ext>
    </p:extLst>
  </p:cSld>
  <p:clrMapOvr>
    <a:masterClrMapping/>
  </p:clrMapOvr>
  <p:transition spd="slow">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DFD76-3157-EBEC-EBAA-28B708E8CFB1}"/>
              </a:ext>
            </a:extLst>
          </p:cNvPr>
          <p:cNvSpPr>
            <a:spLocks noGrp="1"/>
          </p:cNvSpPr>
          <p:nvPr>
            <p:ph type="title"/>
          </p:nvPr>
        </p:nvSpPr>
        <p:spPr/>
        <p:txBody>
          <a:bodyPr/>
          <a:lstStyle/>
          <a:p>
            <a:r>
              <a:rPr lang="en-US" dirty="0"/>
              <a:t>Then we can predict the “effect” of </a:t>
            </a:r>
            <a:r>
              <a:rPr lang="en-US" dirty="0" err="1"/>
              <a:t>Dexit</a:t>
            </a:r>
            <a:endParaRPr lang="en-US" dirty="0"/>
          </a:p>
        </p:txBody>
      </p:sp>
      <p:sp>
        <p:nvSpPr>
          <p:cNvPr id="3" name="Content Placeholder 2">
            <a:extLst>
              <a:ext uri="{FF2B5EF4-FFF2-40B4-BE49-F238E27FC236}">
                <a16:creationId xmlns:a16="http://schemas.microsoft.com/office/drawing/2014/main" id="{D4234F09-832C-FBFD-8A3C-2EFF41AFFD0B}"/>
              </a:ext>
            </a:extLst>
          </p:cNvPr>
          <p:cNvSpPr>
            <a:spLocks noGrp="1"/>
          </p:cNvSpPr>
          <p:nvPr>
            <p:ph idx="1"/>
          </p:nvPr>
        </p:nvSpPr>
        <p:spPr>
          <a:xfrm>
            <a:off x="8371181" y="2074230"/>
            <a:ext cx="3525704" cy="1909796"/>
          </a:xfrm>
        </p:spPr>
        <p:txBody>
          <a:bodyPr>
            <a:normAutofit/>
          </a:bodyPr>
          <a:lstStyle/>
          <a:p>
            <a:r>
              <a:rPr lang="en-US" sz="2400" dirty="0"/>
              <a:t>Pretend that this is what we saw in our post-</a:t>
            </a:r>
            <a:r>
              <a:rPr lang="en-US" sz="2400" dirty="0" err="1"/>
              <a:t>Dexit</a:t>
            </a:r>
            <a:r>
              <a:rPr lang="en-US" sz="2400" dirty="0"/>
              <a:t> world.</a:t>
            </a:r>
          </a:p>
        </p:txBody>
      </p:sp>
      <p:pic>
        <p:nvPicPr>
          <p:cNvPr id="4" name="Picture 3">
            <a:extLst>
              <a:ext uri="{FF2B5EF4-FFF2-40B4-BE49-F238E27FC236}">
                <a16:creationId xmlns:a16="http://schemas.microsoft.com/office/drawing/2014/main" id="{A2E56603-963D-14BD-2600-167A2B5C8703}"/>
              </a:ext>
            </a:extLst>
          </p:cNvPr>
          <p:cNvPicPr>
            <a:picLocks noChangeAspect="1"/>
          </p:cNvPicPr>
          <p:nvPr/>
        </p:nvPicPr>
        <p:blipFill>
          <a:blip r:embed="rId3"/>
          <a:stretch>
            <a:fillRect/>
          </a:stretch>
        </p:blipFill>
        <p:spPr>
          <a:xfrm>
            <a:off x="428297" y="1504240"/>
            <a:ext cx="7772400" cy="5353760"/>
          </a:xfrm>
          <a:prstGeom prst="rect">
            <a:avLst/>
          </a:prstGeom>
          <a:ln w="57150">
            <a:noFill/>
          </a:ln>
        </p:spPr>
      </p:pic>
      <p:sp>
        <p:nvSpPr>
          <p:cNvPr id="5" name="Freeform 4">
            <a:extLst>
              <a:ext uri="{FF2B5EF4-FFF2-40B4-BE49-F238E27FC236}">
                <a16:creationId xmlns:a16="http://schemas.microsoft.com/office/drawing/2014/main" id="{15A5BEE9-1B94-053F-A8C6-FA4A0C6AAF67}"/>
              </a:ext>
            </a:extLst>
          </p:cNvPr>
          <p:cNvSpPr/>
          <p:nvPr/>
        </p:nvSpPr>
        <p:spPr>
          <a:xfrm>
            <a:off x="6009891" y="2853559"/>
            <a:ext cx="1478730" cy="630620"/>
          </a:xfrm>
          <a:custGeom>
            <a:avLst/>
            <a:gdLst>
              <a:gd name="connsiteX0" fmla="*/ 0 w 1734207"/>
              <a:gd name="connsiteY0" fmla="*/ 0 h 630620"/>
              <a:gd name="connsiteX1" fmla="*/ 315310 w 1734207"/>
              <a:gd name="connsiteY1" fmla="*/ 31531 h 630620"/>
              <a:gd name="connsiteX2" fmla="*/ 520262 w 1734207"/>
              <a:gd name="connsiteY2" fmla="*/ 331075 h 630620"/>
              <a:gd name="connsiteX3" fmla="*/ 709448 w 1734207"/>
              <a:gd name="connsiteY3" fmla="*/ 457200 h 630620"/>
              <a:gd name="connsiteX4" fmla="*/ 930165 w 1734207"/>
              <a:gd name="connsiteY4" fmla="*/ 299544 h 630620"/>
              <a:gd name="connsiteX5" fmla="*/ 1261241 w 1734207"/>
              <a:gd name="connsiteY5" fmla="*/ 630620 h 630620"/>
              <a:gd name="connsiteX6" fmla="*/ 1734207 w 1734207"/>
              <a:gd name="connsiteY6" fmla="*/ 583324 h 63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4207" h="630620">
                <a:moveTo>
                  <a:pt x="0" y="0"/>
                </a:moveTo>
                <a:lnTo>
                  <a:pt x="315310" y="31531"/>
                </a:lnTo>
                <a:lnTo>
                  <a:pt x="520262" y="331075"/>
                </a:lnTo>
                <a:lnTo>
                  <a:pt x="709448" y="457200"/>
                </a:lnTo>
                <a:lnTo>
                  <a:pt x="930165" y="299544"/>
                </a:lnTo>
                <a:lnTo>
                  <a:pt x="1261241" y="630620"/>
                </a:lnTo>
                <a:lnTo>
                  <a:pt x="1734207" y="583324"/>
                </a:lnTo>
              </a:path>
            </a:pathLst>
          </a:cu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5ABA2EDA-A966-87EB-A514-9E51F8B1471B}"/>
              </a:ext>
            </a:extLst>
          </p:cNvPr>
          <p:cNvSpPr txBox="1">
            <a:spLocks/>
          </p:cNvSpPr>
          <p:nvPr/>
        </p:nvSpPr>
        <p:spPr>
          <a:xfrm>
            <a:off x="8387254" y="4181120"/>
            <a:ext cx="3376449" cy="19097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chemeClr val="accent5"/>
                </a:solidFill>
              </a:rPr>
              <a:t>Then this would be the “effect” of </a:t>
            </a:r>
            <a:r>
              <a:rPr lang="en-US" sz="2400" dirty="0" err="1">
                <a:solidFill>
                  <a:schemeClr val="accent5"/>
                </a:solidFill>
              </a:rPr>
              <a:t>Dexit</a:t>
            </a:r>
            <a:r>
              <a:rPr lang="en-US" sz="2400" dirty="0">
                <a:solidFill>
                  <a:schemeClr val="accent5"/>
                </a:solidFill>
              </a:rPr>
              <a:t>, in 2022.</a:t>
            </a:r>
          </a:p>
        </p:txBody>
      </p:sp>
      <p:sp>
        <p:nvSpPr>
          <p:cNvPr id="7" name="Up-Down Arrow 6">
            <a:extLst>
              <a:ext uri="{FF2B5EF4-FFF2-40B4-BE49-F238E27FC236}">
                <a16:creationId xmlns:a16="http://schemas.microsoft.com/office/drawing/2014/main" id="{CDC51740-AC92-41B5-AF48-C27482E30BDE}"/>
              </a:ext>
            </a:extLst>
          </p:cNvPr>
          <p:cNvSpPr/>
          <p:nvPr/>
        </p:nvSpPr>
        <p:spPr>
          <a:xfrm>
            <a:off x="7387346" y="2023139"/>
            <a:ext cx="194553" cy="1354459"/>
          </a:xfrm>
          <a:prstGeom prst="upDown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3C58612-8089-E1D6-D4EC-1A28B59C064C}"/>
              </a:ext>
            </a:extLst>
          </p:cNvPr>
          <p:cNvSpPr/>
          <p:nvPr/>
        </p:nvSpPr>
        <p:spPr>
          <a:xfrm>
            <a:off x="7504077" y="2758631"/>
            <a:ext cx="2521695" cy="1422489"/>
          </a:xfrm>
          <a:custGeom>
            <a:avLst/>
            <a:gdLst>
              <a:gd name="connsiteX0" fmla="*/ 2412460 w 2521695"/>
              <a:gd name="connsiteY0" fmla="*/ 1422489 h 1422489"/>
              <a:gd name="connsiteX1" fmla="*/ 2373549 w 2521695"/>
              <a:gd name="connsiteY1" fmla="*/ 1052838 h 1422489"/>
              <a:gd name="connsiteX2" fmla="*/ 972766 w 2521695"/>
              <a:gd name="connsiteY2" fmla="*/ 1091749 h 1422489"/>
              <a:gd name="connsiteX3" fmla="*/ 700392 w 2521695"/>
              <a:gd name="connsiteY3" fmla="*/ 80072 h 1422489"/>
              <a:gd name="connsiteX4" fmla="*/ 0 w 2521695"/>
              <a:gd name="connsiteY4" fmla="*/ 138438 h 1422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695" h="1422489">
                <a:moveTo>
                  <a:pt x="2412460" y="1422489"/>
                </a:moveTo>
                <a:cubicBezTo>
                  <a:pt x="2512979" y="1265225"/>
                  <a:pt x="2613498" y="1107961"/>
                  <a:pt x="2373549" y="1052838"/>
                </a:cubicBezTo>
                <a:cubicBezTo>
                  <a:pt x="2133600" y="997715"/>
                  <a:pt x="1251625" y="1253877"/>
                  <a:pt x="972766" y="1091749"/>
                </a:cubicBezTo>
                <a:cubicBezTo>
                  <a:pt x="693906" y="929621"/>
                  <a:pt x="862520" y="238957"/>
                  <a:pt x="700392" y="80072"/>
                </a:cubicBezTo>
                <a:cubicBezTo>
                  <a:pt x="538264" y="-78813"/>
                  <a:pt x="269132" y="29812"/>
                  <a:pt x="0" y="138438"/>
                </a:cubicBezTo>
              </a:path>
            </a:pathLst>
          </a:custGeom>
          <a:noFill/>
          <a:ln w="28575">
            <a:solidFill>
              <a:schemeClr val="accent5"/>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C994618-2320-592F-34EE-8AA65AEF8ADD}"/>
              </a:ext>
            </a:extLst>
          </p:cNvPr>
          <p:cNvSpPr txBox="1"/>
          <p:nvPr/>
        </p:nvSpPr>
        <p:spPr>
          <a:xfrm>
            <a:off x="6126623" y="3882872"/>
            <a:ext cx="1633955" cy="1323439"/>
          </a:xfrm>
          <a:prstGeom prst="rect">
            <a:avLst/>
          </a:prstGeom>
          <a:noFill/>
        </p:spPr>
        <p:txBody>
          <a:bodyPr wrap="square" rtlCol="0">
            <a:spAutoFit/>
          </a:bodyPr>
          <a:lstStyle/>
          <a:p>
            <a:r>
              <a:rPr lang="en-US" sz="1600" dirty="0">
                <a:solidFill>
                  <a:srgbClr val="00B050"/>
                </a:solidFill>
              </a:rPr>
              <a:t>Imagine that the “actual” Denmark data looked like this post-</a:t>
            </a:r>
            <a:r>
              <a:rPr lang="en-US" sz="1600" dirty="0" err="1">
                <a:solidFill>
                  <a:srgbClr val="00B050"/>
                </a:solidFill>
              </a:rPr>
              <a:t>Dexit</a:t>
            </a:r>
            <a:endParaRPr lang="en-US" sz="1600" dirty="0">
              <a:solidFill>
                <a:srgbClr val="00B050"/>
              </a:solidFill>
            </a:endParaRPr>
          </a:p>
        </p:txBody>
      </p:sp>
      <p:cxnSp>
        <p:nvCxnSpPr>
          <p:cNvPr id="13" name="Straight Arrow Connector 12">
            <a:extLst>
              <a:ext uri="{FF2B5EF4-FFF2-40B4-BE49-F238E27FC236}">
                <a16:creationId xmlns:a16="http://schemas.microsoft.com/office/drawing/2014/main" id="{656EF6DE-0C87-2A9C-65E2-5263286866AC}"/>
              </a:ext>
            </a:extLst>
          </p:cNvPr>
          <p:cNvCxnSpPr>
            <a:cxnSpLocks/>
          </p:cNvCxnSpPr>
          <p:nvPr/>
        </p:nvCxnSpPr>
        <p:spPr>
          <a:xfrm flipV="1">
            <a:off x="6531937" y="3377598"/>
            <a:ext cx="89580" cy="56204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C27BBC7C-2369-12A4-8C9E-D06DE2E8D6AC}"/>
              </a:ext>
            </a:extLst>
          </p:cNvPr>
          <p:cNvCxnSpPr>
            <a:cxnSpLocks/>
          </p:cNvCxnSpPr>
          <p:nvPr/>
        </p:nvCxnSpPr>
        <p:spPr>
          <a:xfrm>
            <a:off x="6009891" y="1466236"/>
            <a:ext cx="0" cy="4870802"/>
          </a:xfrm>
          <a:prstGeom prst="line">
            <a:avLst/>
          </a:prstGeom>
          <a:ln>
            <a:solidFill>
              <a:schemeClr val="accent5"/>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4D7867C-A778-A2B7-4F91-31A4B900ADBF}"/>
              </a:ext>
            </a:extLst>
          </p:cNvPr>
          <p:cNvCxnSpPr>
            <a:cxnSpLocks/>
          </p:cNvCxnSpPr>
          <p:nvPr/>
        </p:nvCxnSpPr>
        <p:spPr>
          <a:xfrm flipV="1">
            <a:off x="5756857" y="2827801"/>
            <a:ext cx="253034" cy="51288"/>
          </a:xfrm>
          <a:prstGeom prst="line">
            <a:avLst/>
          </a:prstGeom>
          <a:ln w="28575">
            <a:solidFill>
              <a:srgbClr val="0A0BFF"/>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7F56AB6-213E-F662-35AB-466F6A567DAD}"/>
              </a:ext>
            </a:extLst>
          </p:cNvPr>
          <p:cNvSpPr txBox="1"/>
          <p:nvPr/>
        </p:nvSpPr>
        <p:spPr>
          <a:xfrm>
            <a:off x="5367243" y="5563674"/>
            <a:ext cx="694164" cy="369332"/>
          </a:xfrm>
          <a:prstGeom prst="rect">
            <a:avLst/>
          </a:prstGeom>
          <a:noFill/>
        </p:spPr>
        <p:txBody>
          <a:bodyPr wrap="none" rtlCol="0">
            <a:spAutoFit/>
          </a:bodyPr>
          <a:lstStyle/>
          <a:p>
            <a:r>
              <a:rPr lang="en-US" dirty="0" err="1">
                <a:solidFill>
                  <a:schemeClr val="accent5"/>
                </a:solidFill>
              </a:rPr>
              <a:t>Dexit</a:t>
            </a:r>
            <a:endParaRPr lang="en-US" dirty="0">
              <a:solidFill>
                <a:schemeClr val="accent5"/>
              </a:solidFill>
            </a:endParaRPr>
          </a:p>
        </p:txBody>
      </p:sp>
    </p:spTree>
    <p:extLst>
      <p:ext uri="{BB962C8B-B14F-4D97-AF65-F5344CB8AC3E}">
        <p14:creationId xmlns:p14="http://schemas.microsoft.com/office/powerpoint/2010/main" val="25148918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B806-31DE-24C2-7CDF-7DCDC736C614}"/>
              </a:ext>
            </a:extLst>
          </p:cNvPr>
          <p:cNvSpPr>
            <a:spLocks noGrp="1"/>
          </p:cNvSpPr>
          <p:nvPr>
            <p:ph type="title"/>
          </p:nvPr>
        </p:nvSpPr>
        <p:spPr/>
        <p:txBody>
          <a:bodyPr/>
          <a:lstStyle/>
          <a:p>
            <a:r>
              <a:rPr lang="en-US" dirty="0"/>
              <a:t>This works okay-</a:t>
            </a:r>
            <a:r>
              <a:rPr lang="en-US" dirty="0" err="1"/>
              <a:t>ish</a:t>
            </a:r>
            <a:r>
              <a:rPr lang="en-US" dirty="0"/>
              <a:t> on Denmark…not great for other countries…</a:t>
            </a:r>
          </a:p>
        </p:txBody>
      </p:sp>
      <p:sp>
        <p:nvSpPr>
          <p:cNvPr id="3" name="Content Placeholder 2">
            <a:extLst>
              <a:ext uri="{FF2B5EF4-FFF2-40B4-BE49-F238E27FC236}">
                <a16:creationId xmlns:a16="http://schemas.microsoft.com/office/drawing/2014/main" id="{55F2FBAF-8CD6-0020-8745-772685445704}"/>
              </a:ext>
            </a:extLst>
          </p:cNvPr>
          <p:cNvSpPr>
            <a:spLocks noGrp="1"/>
          </p:cNvSpPr>
          <p:nvPr>
            <p:ph idx="1"/>
          </p:nvPr>
        </p:nvSpPr>
        <p:spPr>
          <a:xfrm>
            <a:off x="7594266" y="1825625"/>
            <a:ext cx="3941869" cy="4351338"/>
          </a:xfrm>
        </p:spPr>
        <p:txBody>
          <a:bodyPr/>
          <a:lstStyle/>
          <a:p>
            <a:r>
              <a:rPr lang="en-US" dirty="0"/>
              <a:t>Doesn’t work so great for a hypothetical Grexit </a:t>
            </a:r>
            <a:r>
              <a:rPr lang="en-US" dirty="0">
                <a:sym typeface="Wingdings" pitchFamily="2" charset="2"/>
              </a:rPr>
              <a:t> </a:t>
            </a:r>
          </a:p>
          <a:p>
            <a:endParaRPr lang="en-US" dirty="0">
              <a:sym typeface="Wingdings" pitchFamily="2" charset="2"/>
            </a:endParaRPr>
          </a:p>
          <a:p>
            <a:r>
              <a:rPr lang="en-US" dirty="0">
                <a:sym typeface="Wingdings" pitchFamily="2" charset="2"/>
              </a:rPr>
              <a:t>Why?</a:t>
            </a:r>
          </a:p>
          <a:p>
            <a:pPr lvl="1"/>
            <a:r>
              <a:rPr lang="en-US" dirty="0">
                <a:solidFill>
                  <a:schemeClr val="accent1"/>
                </a:solidFill>
                <a:sym typeface="Wingdings" pitchFamily="2" charset="2"/>
              </a:rPr>
              <a:t>Greece has a pretty weird path – no good comparison can be made from the rest of the OECD countries</a:t>
            </a:r>
            <a:r>
              <a:rPr lang="en-US" dirty="0">
                <a:sym typeface="Wingdings" pitchFamily="2" charset="2"/>
              </a:rPr>
              <a:t>.</a:t>
            </a:r>
            <a:endParaRPr lang="en-US" dirty="0"/>
          </a:p>
        </p:txBody>
      </p:sp>
      <p:pic>
        <p:nvPicPr>
          <p:cNvPr id="4" name="Picture 3">
            <a:extLst>
              <a:ext uri="{FF2B5EF4-FFF2-40B4-BE49-F238E27FC236}">
                <a16:creationId xmlns:a16="http://schemas.microsoft.com/office/drawing/2014/main" id="{C915AEEC-3331-15AC-058B-FA8EF312C8AB}"/>
              </a:ext>
            </a:extLst>
          </p:cNvPr>
          <p:cNvPicPr>
            <a:picLocks noChangeAspect="1"/>
          </p:cNvPicPr>
          <p:nvPr/>
        </p:nvPicPr>
        <p:blipFill>
          <a:blip r:embed="rId3"/>
          <a:stretch>
            <a:fillRect/>
          </a:stretch>
        </p:blipFill>
        <p:spPr>
          <a:xfrm>
            <a:off x="655865" y="1690688"/>
            <a:ext cx="6938402" cy="5032375"/>
          </a:xfrm>
          <a:prstGeom prst="rect">
            <a:avLst/>
          </a:prstGeom>
        </p:spPr>
      </p:pic>
    </p:spTree>
    <p:extLst>
      <p:ext uri="{BB962C8B-B14F-4D97-AF65-F5344CB8AC3E}">
        <p14:creationId xmlns:p14="http://schemas.microsoft.com/office/powerpoint/2010/main" val="25619419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FAFA-5F83-B915-787E-CAE4A84149AA}"/>
              </a:ext>
            </a:extLst>
          </p:cNvPr>
          <p:cNvSpPr>
            <a:spLocks noGrp="1"/>
          </p:cNvSpPr>
          <p:nvPr>
            <p:ph type="title"/>
          </p:nvPr>
        </p:nvSpPr>
        <p:spPr>
          <a:xfrm>
            <a:off x="838200" y="18255"/>
            <a:ext cx="10515600" cy="1325563"/>
          </a:xfrm>
        </p:spPr>
        <p:txBody>
          <a:bodyPr/>
          <a:lstStyle/>
          <a:p>
            <a:r>
              <a:rPr lang="en-US" dirty="0"/>
              <a:t>Matrix Completion</a:t>
            </a:r>
          </a:p>
        </p:txBody>
      </p:sp>
      <p:sp>
        <p:nvSpPr>
          <p:cNvPr id="3" name="Content Placeholder 2">
            <a:extLst>
              <a:ext uri="{FF2B5EF4-FFF2-40B4-BE49-F238E27FC236}">
                <a16:creationId xmlns:a16="http://schemas.microsoft.com/office/drawing/2014/main" id="{F3F97B46-2FCE-74A0-ABDE-AEBB6F08AB6F}"/>
              </a:ext>
            </a:extLst>
          </p:cNvPr>
          <p:cNvSpPr>
            <a:spLocks noGrp="1"/>
          </p:cNvSpPr>
          <p:nvPr>
            <p:ph idx="1"/>
          </p:nvPr>
        </p:nvSpPr>
        <p:spPr>
          <a:xfrm>
            <a:off x="838200" y="1343818"/>
            <a:ext cx="10515600" cy="4351338"/>
          </a:xfrm>
        </p:spPr>
        <p:txBody>
          <a:bodyPr/>
          <a:lstStyle/>
          <a:p>
            <a:r>
              <a:rPr lang="en-US" dirty="0"/>
              <a:t>Originally introduced with non-causal applications</a:t>
            </a:r>
          </a:p>
          <a:p>
            <a:pPr lvl="1"/>
            <a:r>
              <a:rPr lang="en-US" dirty="0">
                <a:solidFill>
                  <a:schemeClr val="accent1"/>
                </a:solidFill>
              </a:rPr>
              <a:t>Collaborative filtering: recommending movies to users</a:t>
            </a:r>
          </a:p>
          <a:p>
            <a:pPr lvl="1"/>
            <a:r>
              <a:rPr lang="en-US" dirty="0">
                <a:solidFill>
                  <a:schemeClr val="accent1"/>
                </a:solidFill>
              </a:rPr>
              <a:t>Applications in medical imaging</a:t>
            </a:r>
          </a:p>
          <a:p>
            <a:pPr lvl="1"/>
            <a:r>
              <a:rPr lang="en-US" dirty="0">
                <a:solidFill>
                  <a:schemeClr val="accent1"/>
                </a:solidFill>
              </a:rPr>
              <a:t>…</a:t>
            </a:r>
          </a:p>
          <a:p>
            <a:pPr lvl="1"/>
            <a:endParaRPr lang="en-US" dirty="0">
              <a:solidFill>
                <a:schemeClr val="accent1"/>
              </a:solidFill>
            </a:endParaRPr>
          </a:p>
          <a:p>
            <a:pPr lvl="1"/>
            <a:endParaRPr lang="en-US" dirty="0">
              <a:solidFill>
                <a:schemeClr val="accent1"/>
              </a:solidFill>
            </a:endParaRPr>
          </a:p>
          <a:p>
            <a:pPr lvl="1"/>
            <a:endParaRPr lang="en-US" dirty="0">
              <a:solidFill>
                <a:schemeClr val="accent1"/>
              </a:solidFill>
            </a:endParaRPr>
          </a:p>
          <a:p>
            <a:pPr lvl="1"/>
            <a:endParaRPr lang="en-US" dirty="0">
              <a:solidFill>
                <a:schemeClr val="accent1"/>
              </a:solidFill>
            </a:endParaRPr>
          </a:p>
          <a:p>
            <a:r>
              <a:rPr lang="en-US" dirty="0"/>
              <a:t>Causal stuff is more recent</a:t>
            </a:r>
          </a:p>
        </p:txBody>
      </p:sp>
      <p:pic>
        <p:nvPicPr>
          <p:cNvPr id="4" name="Picture 3">
            <a:extLst>
              <a:ext uri="{FF2B5EF4-FFF2-40B4-BE49-F238E27FC236}">
                <a16:creationId xmlns:a16="http://schemas.microsoft.com/office/drawing/2014/main" id="{14B34B7D-A2A8-7BE2-D7F7-39599A77B38A}"/>
              </a:ext>
            </a:extLst>
          </p:cNvPr>
          <p:cNvPicPr>
            <a:picLocks noChangeAspect="1"/>
          </p:cNvPicPr>
          <p:nvPr/>
        </p:nvPicPr>
        <p:blipFill>
          <a:blip r:embed="rId3"/>
          <a:stretch>
            <a:fillRect/>
          </a:stretch>
        </p:blipFill>
        <p:spPr>
          <a:xfrm>
            <a:off x="2353491" y="5118319"/>
            <a:ext cx="7772400" cy="2301383"/>
          </a:xfrm>
          <a:prstGeom prst="rect">
            <a:avLst/>
          </a:prstGeom>
          <a:ln>
            <a:solidFill>
              <a:schemeClr val="tx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2375414D-AE54-AA06-C8F2-AA3C13E85005}"/>
              </a:ext>
            </a:extLst>
          </p:cNvPr>
          <p:cNvPicPr>
            <a:picLocks noChangeAspect="1"/>
          </p:cNvPicPr>
          <p:nvPr/>
        </p:nvPicPr>
        <p:blipFill>
          <a:blip r:embed="rId4"/>
          <a:stretch>
            <a:fillRect/>
          </a:stretch>
        </p:blipFill>
        <p:spPr>
          <a:xfrm>
            <a:off x="4110446" y="2721114"/>
            <a:ext cx="7772400" cy="1596746"/>
          </a:xfrm>
          <a:prstGeom prst="rect">
            <a:avLst/>
          </a:prstGeom>
          <a:ln>
            <a:solidFill>
              <a:schemeClr val="tx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235839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691E-5684-C677-FB95-4AC79438A5A4}"/>
              </a:ext>
            </a:extLst>
          </p:cNvPr>
          <p:cNvSpPr>
            <a:spLocks noGrp="1"/>
          </p:cNvSpPr>
          <p:nvPr>
            <p:ph type="title"/>
          </p:nvPr>
        </p:nvSpPr>
        <p:spPr/>
        <p:txBody>
          <a:bodyPr/>
          <a:lstStyle/>
          <a:p>
            <a:r>
              <a:rPr lang="en-US" dirty="0"/>
              <a:t>Recap and looking forward</a:t>
            </a:r>
          </a:p>
        </p:txBody>
      </p:sp>
      <p:sp>
        <p:nvSpPr>
          <p:cNvPr id="3" name="Text Placeholder 2">
            <a:extLst>
              <a:ext uri="{FF2B5EF4-FFF2-40B4-BE49-F238E27FC236}">
                <a16:creationId xmlns:a16="http://schemas.microsoft.com/office/drawing/2014/main" id="{6546BF5B-0438-22B1-C45E-AADA68B7D8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132024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1FDDF-88B5-CE1D-4427-4BBEAF908F3C}"/>
              </a:ext>
            </a:extLst>
          </p:cNvPr>
          <p:cNvSpPr>
            <a:spLocks noGrp="1"/>
          </p:cNvSpPr>
          <p:nvPr>
            <p:ph type="title"/>
          </p:nvPr>
        </p:nvSpPr>
        <p:spPr/>
        <p:txBody>
          <a:bodyPr/>
          <a:lstStyle/>
          <a:p>
            <a:r>
              <a:rPr lang="en-US" dirty="0"/>
              <a:t>Recap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910DA5-9065-A53F-CD02-EBA338806401}"/>
                  </a:ext>
                </a:extLst>
              </p:cNvPr>
              <p:cNvSpPr>
                <a:spLocks noGrp="1"/>
              </p:cNvSpPr>
              <p:nvPr>
                <p:ph idx="1"/>
              </p:nvPr>
            </p:nvSpPr>
            <p:spPr>
              <a:xfrm>
                <a:off x="838200" y="1825625"/>
                <a:ext cx="11097986" cy="4351338"/>
              </a:xfrm>
            </p:spPr>
            <p:txBody>
              <a:bodyPr/>
              <a:lstStyle/>
              <a:p>
                <a:r>
                  <a:rPr lang="en-US" dirty="0"/>
                  <a:t>How do we pick covariates?</a:t>
                </a:r>
              </a:p>
              <a:p>
                <a:pPr lvl="1"/>
                <a:r>
                  <a:rPr lang="en-US" dirty="0">
                    <a:solidFill>
                      <a:schemeClr val="accent1"/>
                    </a:solidFill>
                  </a:rPr>
                  <a:t>Too few </a:t>
                </a:r>
                <a14:m>
                  <m:oMath xmlns:m="http://schemas.openxmlformats.org/officeDocument/2006/math">
                    <m:r>
                      <a:rPr lang="en-US" b="0" i="1" smtClean="0">
                        <a:solidFill>
                          <a:schemeClr val="accent1"/>
                        </a:solidFill>
                        <a:latin typeface="Cambria Math" panose="02040503050406030204" pitchFamily="18" charset="0"/>
                      </a:rPr>
                      <m:t>⇒</m:t>
                    </m:r>
                  </m:oMath>
                </a14:m>
                <a:r>
                  <a:rPr lang="en-US" dirty="0">
                    <a:solidFill>
                      <a:schemeClr val="accent1"/>
                    </a:solidFill>
                  </a:rPr>
                  <a:t> omitted variable bias</a:t>
                </a:r>
              </a:p>
              <a:p>
                <a:pPr lvl="1"/>
                <a:r>
                  <a:rPr lang="en-US" dirty="0">
                    <a:solidFill>
                      <a:schemeClr val="accent1"/>
                    </a:solidFill>
                  </a:rPr>
                  <a:t>Too many </a:t>
                </a:r>
                <a14:m>
                  <m:oMath xmlns:m="http://schemas.openxmlformats.org/officeDocument/2006/math">
                    <m:r>
                      <a:rPr lang="en-US" b="0" i="1" smtClean="0">
                        <a:solidFill>
                          <a:schemeClr val="accent1"/>
                        </a:solidFill>
                        <a:latin typeface="Cambria Math" panose="02040503050406030204" pitchFamily="18" charset="0"/>
                      </a:rPr>
                      <m:t>⇒</m:t>
                    </m:r>
                  </m:oMath>
                </a14:m>
                <a:r>
                  <a:rPr lang="en-US" dirty="0">
                    <a:solidFill>
                      <a:schemeClr val="accent1"/>
                    </a:solidFill>
                  </a:rPr>
                  <a:t> overfitting</a:t>
                </a:r>
              </a:p>
              <a:p>
                <a:r>
                  <a:rPr lang="en-US" b="1" dirty="0"/>
                  <a:t>Solution 1: </a:t>
                </a:r>
                <a:r>
                  <a:rPr lang="en-US" dirty="0"/>
                  <a:t>Sparse regression</a:t>
                </a:r>
              </a:p>
              <a:p>
                <a:pPr lvl="1"/>
                <a:r>
                  <a:rPr lang="en-US" dirty="0">
                    <a:solidFill>
                      <a:schemeClr val="accent1"/>
                    </a:solidFill>
                  </a:rPr>
                  <a:t>Assume that only a few covariates matter, but we don’t know which ones.</a:t>
                </a:r>
              </a:p>
              <a:p>
                <a:r>
                  <a:rPr lang="en-US" b="1" dirty="0"/>
                  <a:t>Solution 2: </a:t>
                </a:r>
                <a:r>
                  <a:rPr lang="en-US" dirty="0"/>
                  <a:t>SVD/PCA and Matrix Completion</a:t>
                </a:r>
              </a:p>
              <a:p>
                <a:pPr lvl="1"/>
                <a:r>
                  <a:rPr lang="en-US" dirty="0">
                    <a:solidFill>
                      <a:schemeClr val="accent1"/>
                    </a:solidFill>
                  </a:rPr>
                  <a:t>If we have a matrix of low-rank data…</a:t>
                </a:r>
              </a:p>
              <a:p>
                <a:pPr lvl="2"/>
                <a:r>
                  <a:rPr lang="en-US" sz="2400" dirty="0">
                    <a:solidFill>
                      <a:schemeClr val="accent1"/>
                    </a:solidFill>
                  </a:rPr>
                  <a:t>SVD can “pick” covariates from the data, but may not be interpretable</a:t>
                </a:r>
              </a:p>
              <a:p>
                <a:pPr lvl="2"/>
                <a:r>
                  <a:rPr lang="en-US" sz="2400" dirty="0">
                    <a:solidFill>
                      <a:schemeClr val="accent1"/>
                    </a:solidFill>
                  </a:rPr>
                  <a:t>If there are missing entries (aka counterfactuals), matrix completion can fill them in</a:t>
                </a:r>
              </a:p>
            </p:txBody>
          </p:sp>
        </mc:Choice>
        <mc:Fallback xmlns="">
          <p:sp>
            <p:nvSpPr>
              <p:cNvPr id="3" name="Content Placeholder 2">
                <a:extLst>
                  <a:ext uri="{FF2B5EF4-FFF2-40B4-BE49-F238E27FC236}">
                    <a16:creationId xmlns:a16="http://schemas.microsoft.com/office/drawing/2014/main" id="{0B910DA5-9065-A53F-CD02-EBA338806401}"/>
                  </a:ext>
                </a:extLst>
              </p:cNvPr>
              <p:cNvSpPr>
                <a:spLocks noGrp="1" noRot="1" noChangeAspect="1" noMove="1" noResize="1" noEditPoints="1" noAdjustHandles="1" noChangeArrowheads="1" noChangeShapeType="1" noTextEdit="1"/>
              </p:cNvSpPr>
              <p:nvPr>
                <p:ph idx="1"/>
              </p:nvPr>
            </p:nvSpPr>
            <p:spPr>
              <a:xfrm>
                <a:off x="838200" y="1825625"/>
                <a:ext cx="11097986" cy="4351338"/>
              </a:xfrm>
              <a:blipFill>
                <a:blip r:embed="rId3"/>
                <a:stretch>
                  <a:fillRect l="-1030" t="-2326" r="-686"/>
                </a:stretch>
              </a:blipFill>
            </p:spPr>
            <p:txBody>
              <a:bodyPr/>
              <a:lstStyle/>
              <a:p>
                <a:r>
                  <a:rPr lang="en-US">
                    <a:noFill/>
                  </a:rPr>
                  <a:t> </a:t>
                </a:r>
              </a:p>
            </p:txBody>
          </p:sp>
        </mc:Fallback>
      </mc:AlternateContent>
    </p:spTree>
    <p:extLst>
      <p:ext uri="{BB962C8B-B14F-4D97-AF65-F5344CB8AC3E}">
        <p14:creationId xmlns:p14="http://schemas.microsoft.com/office/powerpoint/2010/main" val="20576813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6D84-044E-7621-FF63-22F6759A451E}"/>
              </a:ext>
            </a:extLst>
          </p:cNvPr>
          <p:cNvSpPr>
            <a:spLocks noGrp="1"/>
          </p:cNvSpPr>
          <p:nvPr>
            <p:ph type="title"/>
          </p:nvPr>
        </p:nvSpPr>
        <p:spPr/>
        <p:txBody>
          <a:bodyPr/>
          <a:lstStyle/>
          <a:p>
            <a:r>
              <a:rPr lang="en-US" dirty="0"/>
              <a:t>Next time</a:t>
            </a:r>
          </a:p>
        </p:txBody>
      </p:sp>
      <p:sp>
        <p:nvSpPr>
          <p:cNvPr id="3" name="Content Placeholder 2">
            <a:extLst>
              <a:ext uri="{FF2B5EF4-FFF2-40B4-BE49-F238E27FC236}">
                <a16:creationId xmlns:a16="http://schemas.microsoft.com/office/drawing/2014/main" id="{B614B9B4-1242-963C-71D8-A23FC1456AC3}"/>
              </a:ext>
            </a:extLst>
          </p:cNvPr>
          <p:cNvSpPr>
            <a:spLocks noGrp="1"/>
          </p:cNvSpPr>
          <p:nvPr>
            <p:ph idx="1"/>
          </p:nvPr>
        </p:nvSpPr>
        <p:spPr/>
        <p:txBody>
          <a:bodyPr/>
          <a:lstStyle/>
          <a:p>
            <a:r>
              <a:rPr lang="en-US" dirty="0"/>
              <a:t>Synthetic controls!</a:t>
            </a:r>
          </a:p>
        </p:txBody>
      </p:sp>
    </p:spTree>
    <p:extLst>
      <p:ext uri="{BB962C8B-B14F-4D97-AF65-F5344CB8AC3E}">
        <p14:creationId xmlns:p14="http://schemas.microsoft.com/office/powerpoint/2010/main" val="20198021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0EB9-8855-6AA6-B0C9-E83FD33E117B}"/>
              </a:ext>
            </a:extLst>
          </p:cNvPr>
          <p:cNvSpPr>
            <a:spLocks noGrp="1"/>
          </p:cNvSpPr>
          <p:nvPr>
            <p:ph type="title"/>
          </p:nvPr>
        </p:nvSpPr>
        <p:spPr/>
        <p:txBody>
          <a:bodyPr/>
          <a:lstStyle/>
          <a:p>
            <a:r>
              <a:rPr lang="en-US" dirty="0"/>
              <a:t>Exit ticket</a:t>
            </a:r>
          </a:p>
        </p:txBody>
      </p:sp>
      <p:pic>
        <p:nvPicPr>
          <p:cNvPr id="4" name="Picture 3">
            <a:extLst>
              <a:ext uri="{FF2B5EF4-FFF2-40B4-BE49-F238E27FC236}">
                <a16:creationId xmlns:a16="http://schemas.microsoft.com/office/drawing/2014/main" id="{30D56821-B36F-05BE-8C22-119BD426E006}"/>
              </a:ext>
            </a:extLst>
          </p:cNvPr>
          <p:cNvPicPr>
            <a:picLocks noChangeAspect="1"/>
          </p:cNvPicPr>
          <p:nvPr/>
        </p:nvPicPr>
        <p:blipFill>
          <a:blip r:embed="rId3"/>
          <a:stretch>
            <a:fillRect/>
          </a:stretch>
        </p:blipFill>
        <p:spPr>
          <a:xfrm>
            <a:off x="10010775" y="146050"/>
            <a:ext cx="2028825" cy="1440602"/>
          </a:xfrm>
          <a:prstGeom prst="rect">
            <a:avLst/>
          </a:prstGeom>
        </p:spPr>
      </p:pic>
      <p:sp>
        <p:nvSpPr>
          <p:cNvPr id="8" name="TextBox 7">
            <a:extLst>
              <a:ext uri="{FF2B5EF4-FFF2-40B4-BE49-F238E27FC236}">
                <a16:creationId xmlns:a16="http://schemas.microsoft.com/office/drawing/2014/main" id="{65F0044E-68BA-46FB-DFE2-EB19710BB196}"/>
              </a:ext>
            </a:extLst>
          </p:cNvPr>
          <p:cNvSpPr txBox="1"/>
          <p:nvPr/>
        </p:nvSpPr>
        <p:spPr>
          <a:xfrm>
            <a:off x="1505712" y="1984243"/>
            <a:ext cx="9848088"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Don’t forget to fill out the exit ticket before you leave class!</a:t>
            </a:r>
          </a:p>
        </p:txBody>
      </p:sp>
      <p:sp>
        <p:nvSpPr>
          <p:cNvPr id="10" name="Arrow: Bent 9">
            <a:extLst>
              <a:ext uri="{FF2B5EF4-FFF2-40B4-BE49-F238E27FC236}">
                <a16:creationId xmlns:a16="http://schemas.microsoft.com/office/drawing/2014/main" id="{01F52CB0-CE46-989E-A338-6C694D0A271D}"/>
              </a:ext>
            </a:extLst>
          </p:cNvPr>
          <p:cNvSpPr/>
          <p:nvPr/>
        </p:nvSpPr>
        <p:spPr>
          <a:xfrm rot="10800000">
            <a:off x="8403336" y="2902064"/>
            <a:ext cx="2002536" cy="1551063"/>
          </a:xfrm>
          <a:prstGeom prst="bentArrow">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a:extLst>
              <a:ext uri="{FF2B5EF4-FFF2-40B4-BE49-F238E27FC236}">
                <a16:creationId xmlns:a16="http://schemas.microsoft.com/office/drawing/2014/main" id="{0399907E-07D8-7C87-4427-B832AC6C0734}"/>
              </a:ext>
            </a:extLst>
          </p:cNvPr>
          <p:cNvPicPr>
            <a:picLocks noChangeAspect="1"/>
          </p:cNvPicPr>
          <p:nvPr/>
        </p:nvPicPr>
        <p:blipFill>
          <a:blip r:embed="rId4"/>
          <a:stretch>
            <a:fillRect/>
          </a:stretch>
        </p:blipFill>
        <p:spPr>
          <a:xfrm>
            <a:off x="4466082" y="2801018"/>
            <a:ext cx="3259835" cy="3259835"/>
          </a:xfrm>
          <a:prstGeom prst="rect">
            <a:avLst/>
          </a:prstGeom>
        </p:spPr>
      </p:pic>
    </p:spTree>
    <p:extLst>
      <p:ext uri="{BB962C8B-B14F-4D97-AF65-F5344CB8AC3E}">
        <p14:creationId xmlns:p14="http://schemas.microsoft.com/office/powerpoint/2010/main" val="519114277"/>
      </p:ext>
    </p:extLst>
  </p:cSld>
  <p:clrMapOvr>
    <a:masterClrMapping/>
  </p:clrMapOvr>
</p:sld>
</file>

<file path=ppt/theme/theme1.xml><?xml version="1.0" encoding="utf-8"?>
<a:theme xmlns:a="http://schemas.openxmlformats.org/drawingml/2006/main" name="stanford_theme_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ford_theme_1" id="{A142E0A3-F9A9-4D8A-A335-47DDAA9BD0A9}" vid="{02C1A18B-3E97-49A8-9281-C5CEFF489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stanford_theme_1</Template>
  <TotalTime>5619</TotalTime>
  <Words>4687</Words>
  <Application>Microsoft Macintosh PowerPoint</Application>
  <PresentationFormat>Widescreen</PresentationFormat>
  <Paragraphs>1424</Paragraphs>
  <Slides>67</Slides>
  <Notes>67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Aptos</vt:lpstr>
      <vt:lpstr>Arial</vt:lpstr>
      <vt:lpstr>Cambria Math</vt:lpstr>
      <vt:lpstr>Times New Roman</vt:lpstr>
      <vt:lpstr>Wingdings</vt:lpstr>
      <vt:lpstr>stanford_theme_1</vt:lpstr>
      <vt:lpstr>Sparsity and Low-rankness</vt:lpstr>
      <vt:lpstr>Announcements</vt:lpstr>
      <vt:lpstr>Agenda</vt:lpstr>
      <vt:lpstr>Disclaimer</vt:lpstr>
      <vt:lpstr>Motivation for today: How do we find the right covariates?</vt:lpstr>
      <vt:lpstr>Back to basics Regression!</vt:lpstr>
      <vt:lpstr>Suppose we get a few more covariates</vt:lpstr>
      <vt:lpstr>Suppose we get a few more covariates</vt:lpstr>
      <vt:lpstr>Suppose we get a few more covariates</vt:lpstr>
      <vt:lpstr>Suppose we get everything we want…</vt:lpstr>
      <vt:lpstr>Is our problem solved?</vt:lpstr>
      <vt:lpstr>Is our problem solved?</vt:lpstr>
      <vt:lpstr>Linear-algebraically…</vt:lpstr>
      <vt:lpstr>Extreme version of the problem</vt:lpstr>
      <vt:lpstr>How to fix this?</vt:lpstr>
      <vt:lpstr>Sparsity and LASSO</vt:lpstr>
      <vt:lpstr>Back to this problem</vt:lpstr>
      <vt:lpstr>Back to this problem</vt:lpstr>
      <vt:lpstr>Formally, want to solve:</vt:lpstr>
      <vt:lpstr>How do we implement this?</vt:lpstr>
      <vt:lpstr>When we have lots of outcomes  SVD</vt:lpstr>
      <vt:lpstr>Suppose we have a data matrix!</vt:lpstr>
      <vt:lpstr>Let’s go back to our OECD nations No Brexit yet…</vt:lpstr>
      <vt:lpstr>We have lots of information about countries…</vt:lpstr>
      <vt:lpstr>If we pick a few covariates,  we can do T regressions!</vt:lpstr>
      <vt:lpstr>PowerPoint Presentation</vt:lpstr>
      <vt:lpstr>PowerPoint Presentation</vt:lpstr>
      <vt:lpstr>Same question…</vt:lpstr>
      <vt:lpstr>Same question…</vt:lpstr>
      <vt:lpstr>Low-rank assumption</vt:lpstr>
      <vt:lpstr>Question: How to pick covariates?</vt:lpstr>
      <vt:lpstr>Question: How to pick covariates?</vt:lpstr>
      <vt:lpstr>What are the differences between this and regression?</vt:lpstr>
      <vt:lpstr>What are the differences between this and regression?</vt:lpstr>
      <vt:lpstr>What are the differences between this and regression?</vt:lpstr>
      <vt:lpstr>What are the differences between this and regression?</vt:lpstr>
      <vt:lpstr>How can we solve this?</vt:lpstr>
      <vt:lpstr>Suppose we do this on the  OECD data</vt:lpstr>
      <vt:lpstr>In analogy with regression…</vt:lpstr>
      <vt:lpstr>In analogy with regression…</vt:lpstr>
      <vt:lpstr>Should we interpret the B coefficients causally?</vt:lpstr>
      <vt:lpstr>What are the features?</vt:lpstr>
      <vt:lpstr>What’s the most important feature of a country to know if you wanted to reconstruct these data?</vt:lpstr>
      <vt:lpstr>What’s the most important feature of a country to know if you wanted to reconstruct these data?</vt:lpstr>
      <vt:lpstr>What’s the second most important feature?</vt:lpstr>
      <vt:lpstr>What’s the second most important feature?</vt:lpstr>
      <vt:lpstr>What’s the third most important feature?</vt:lpstr>
      <vt:lpstr>What’s the third most important feature?</vt:lpstr>
      <vt:lpstr>What’s the third most important feature?</vt:lpstr>
      <vt:lpstr>Just these three features work pretty well!</vt:lpstr>
      <vt:lpstr>Just these three features work pretty well!</vt:lpstr>
      <vt:lpstr>Just these three features work pretty well!</vt:lpstr>
      <vt:lpstr>But none of this feels “causal”</vt:lpstr>
      <vt:lpstr>Matrix Completion</vt:lpstr>
      <vt:lpstr>We’ve been talking about Brexit…</vt:lpstr>
      <vt:lpstr>We’ve been talking about Brexit…</vt:lpstr>
      <vt:lpstr>Suppose Dexit had occurred in 2015 Denmark left the EU.</vt:lpstr>
      <vt:lpstr>Matrix Completion</vt:lpstr>
      <vt:lpstr>We can use this to predict what would have happened to Denmark!</vt:lpstr>
      <vt:lpstr>We can use this to predict what would have happened to Denmark!</vt:lpstr>
      <vt:lpstr>Then we can predict the “effect” of Dexit</vt:lpstr>
      <vt:lpstr>This works okay-ish on Denmark…not great for other countries…</vt:lpstr>
      <vt:lpstr>Matrix Completion</vt:lpstr>
      <vt:lpstr>Recap and looking forward</vt:lpstr>
      <vt:lpstr>Recap</vt:lpstr>
      <vt:lpstr>Next time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Katherine Wootters</dc:creator>
  <cp:lastModifiedBy>Mary Katherine Wootters</cp:lastModifiedBy>
  <cp:revision>25</cp:revision>
  <dcterms:created xsi:type="dcterms:W3CDTF">2024-11-15T20:42:33Z</dcterms:created>
  <dcterms:modified xsi:type="dcterms:W3CDTF">2025-11-24T22:20:02Z</dcterms:modified>
</cp:coreProperties>
</file>