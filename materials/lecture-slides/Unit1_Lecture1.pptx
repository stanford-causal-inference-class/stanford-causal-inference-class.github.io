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tags/tag1.xml" ContentType="application/vnd.openxmlformats-officedocument.presentationml.tags+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tags/tag2.xml" ContentType="application/vnd.openxmlformats-officedocument.presentationml.tags+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tags/tag3.xml" ContentType="application/vnd.openxmlformats-officedocument.presentationml.tags+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tags/tag4.xml" ContentType="application/vnd.openxmlformats-officedocument.presentationml.tags+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comments/modernComment_124_B827B81.xml" ContentType="application/vnd.ms-powerpoint.comments+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2"/>
  </p:notesMasterIdLst>
  <p:sldIdLst>
    <p:sldId id="256" r:id="rId2"/>
    <p:sldId id="382" r:id="rId3"/>
    <p:sldId id="258" r:id="rId4"/>
    <p:sldId id="261" r:id="rId5"/>
    <p:sldId id="257" r:id="rId6"/>
    <p:sldId id="378" r:id="rId7"/>
    <p:sldId id="262" r:id="rId8"/>
    <p:sldId id="416" r:id="rId9"/>
    <p:sldId id="417" r:id="rId10"/>
    <p:sldId id="414" r:id="rId11"/>
    <p:sldId id="415" r:id="rId12"/>
    <p:sldId id="413" r:id="rId13"/>
    <p:sldId id="263" r:id="rId14"/>
    <p:sldId id="288" r:id="rId15"/>
    <p:sldId id="359" r:id="rId16"/>
    <p:sldId id="379" r:id="rId17"/>
    <p:sldId id="339" r:id="rId18"/>
    <p:sldId id="380" r:id="rId19"/>
    <p:sldId id="311" r:id="rId20"/>
    <p:sldId id="363" r:id="rId21"/>
    <p:sldId id="364" r:id="rId22"/>
    <p:sldId id="365" r:id="rId23"/>
    <p:sldId id="366" r:id="rId24"/>
    <p:sldId id="367" r:id="rId25"/>
    <p:sldId id="398" r:id="rId26"/>
    <p:sldId id="370" r:id="rId27"/>
    <p:sldId id="399" r:id="rId28"/>
    <p:sldId id="373" r:id="rId29"/>
    <p:sldId id="386" r:id="rId30"/>
    <p:sldId id="371" r:id="rId31"/>
    <p:sldId id="372" r:id="rId32"/>
    <p:sldId id="410" r:id="rId33"/>
    <p:sldId id="374" r:id="rId34"/>
    <p:sldId id="375" r:id="rId35"/>
    <p:sldId id="312" r:id="rId36"/>
    <p:sldId id="290" r:id="rId37"/>
    <p:sldId id="272" r:id="rId38"/>
    <p:sldId id="384" r:id="rId39"/>
    <p:sldId id="291" r:id="rId40"/>
    <p:sldId id="292" r:id="rId41"/>
    <p:sldId id="293" r:id="rId42"/>
    <p:sldId id="294" r:id="rId43"/>
    <p:sldId id="295" r:id="rId44"/>
    <p:sldId id="296" r:id="rId45"/>
    <p:sldId id="298" r:id="rId46"/>
    <p:sldId id="299" r:id="rId47"/>
    <p:sldId id="385" r:id="rId48"/>
    <p:sldId id="278" r:id="rId49"/>
    <p:sldId id="277" r:id="rId50"/>
    <p:sldId id="388" r:id="rId51"/>
    <p:sldId id="389" r:id="rId52"/>
    <p:sldId id="390" r:id="rId53"/>
    <p:sldId id="391" r:id="rId54"/>
    <p:sldId id="392" r:id="rId55"/>
    <p:sldId id="393" r:id="rId56"/>
    <p:sldId id="381" r:id="rId57"/>
    <p:sldId id="394" r:id="rId58"/>
    <p:sldId id="337" r:id="rId59"/>
    <p:sldId id="403" r:id="rId60"/>
    <p:sldId id="401" r:id="rId61"/>
    <p:sldId id="404" r:id="rId62"/>
    <p:sldId id="405" r:id="rId63"/>
    <p:sldId id="406" r:id="rId64"/>
    <p:sldId id="407" r:id="rId65"/>
    <p:sldId id="408" r:id="rId66"/>
    <p:sldId id="409" r:id="rId67"/>
    <p:sldId id="361" r:id="rId68"/>
    <p:sldId id="362" r:id="rId69"/>
    <p:sldId id="396" r:id="rId70"/>
    <p:sldId id="335" r:id="rId71"/>
  </p:sldIdLst>
  <p:sldSz cx="12192000" cy="6858000"/>
  <p:notesSz cx="9236075" cy="7010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365B6F7-A368-EFA0-FE84-2F127833AA27}" name="Mary Katherine Wootters" initials="" userId="S::marykw@stanford.edu::1cbb3eed-a053-4438-a02d-badade57fdf3"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5D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1368"/>
    <p:restoredTop sz="96327"/>
  </p:normalViewPr>
  <p:slideViewPr>
    <p:cSldViewPr snapToGrid="0">
      <p:cViewPr varScale="1">
        <p:scale>
          <a:sx n="109" d="100"/>
          <a:sy n="109" d="100"/>
        </p:scale>
        <p:origin x="216" y="4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microsoft.com/office/2018/10/relationships/authors" Target="author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comments/modernComment_124_B827B81.xml><?xml version="1.0" encoding="utf-8"?>
<p188:cmLst xmlns:a="http://schemas.openxmlformats.org/drawingml/2006/main" xmlns:r="http://schemas.openxmlformats.org/officeDocument/2006/relationships" xmlns:p188="http://schemas.microsoft.com/office/powerpoint/2018/8/main">
  <p188:cm id="{BBAA42AB-A944-FB41-88F3-A8D524EE7FEE}" authorId="{2365B6F7-A368-EFA0-FE84-2F127833AA27}" created="2024-08-25T21:35:11.336">
    <pc:sldMkLst xmlns:pc="http://schemas.microsoft.com/office/powerpoint/2013/main/command">
      <pc:docMk/>
      <pc:sldMk cId="193100673" sldId="292"/>
    </pc:sldMkLst>
    <p188:txBody>
      <a:bodyPr/>
      <a:lstStyle/>
      <a:p>
        <a:r>
          <a:rPr lang="en-US"/>
          <a:t>We could maybe skip this derivation in class (maybe have them read it ahead of time?)</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4002299" cy="351737"/>
          </a:xfrm>
          <a:prstGeom prst="rect">
            <a:avLst/>
          </a:prstGeom>
        </p:spPr>
        <p:txBody>
          <a:bodyPr vert="horz" lIns="92830" tIns="46415" rIns="92830" bIns="46415" rtlCol="0"/>
          <a:lstStyle>
            <a:lvl1pPr algn="l">
              <a:defRPr sz="1200"/>
            </a:lvl1pPr>
          </a:lstStyle>
          <a:p>
            <a:endParaRPr lang="en-US"/>
          </a:p>
        </p:txBody>
      </p:sp>
      <p:sp>
        <p:nvSpPr>
          <p:cNvPr id="3" name="Date Placeholder 2"/>
          <p:cNvSpPr>
            <a:spLocks noGrp="1"/>
          </p:cNvSpPr>
          <p:nvPr>
            <p:ph type="dt" idx="1"/>
          </p:nvPr>
        </p:nvSpPr>
        <p:spPr>
          <a:xfrm>
            <a:off x="5231639" y="1"/>
            <a:ext cx="4002299" cy="351737"/>
          </a:xfrm>
          <a:prstGeom prst="rect">
            <a:avLst/>
          </a:prstGeom>
        </p:spPr>
        <p:txBody>
          <a:bodyPr vert="horz" lIns="92830" tIns="46415" rIns="92830" bIns="46415" rtlCol="0"/>
          <a:lstStyle>
            <a:lvl1pPr algn="r">
              <a:defRPr sz="1200"/>
            </a:lvl1pPr>
          </a:lstStyle>
          <a:p>
            <a:fld id="{E6E885D6-2AB1-7A46-A21A-1AA0DEB97217}" type="datetimeFigureOut">
              <a:rPr lang="en-US" smtClean="0"/>
              <a:t>11/24/25</a:t>
            </a:fld>
            <a:endParaRPr lang="en-US"/>
          </a:p>
        </p:txBody>
      </p:sp>
      <p:sp>
        <p:nvSpPr>
          <p:cNvPr id="4" name="Slide Image Placeholder 3"/>
          <p:cNvSpPr>
            <a:spLocks noGrp="1" noRot="1" noChangeAspect="1"/>
          </p:cNvSpPr>
          <p:nvPr>
            <p:ph type="sldImg" idx="2"/>
          </p:nvPr>
        </p:nvSpPr>
        <p:spPr>
          <a:xfrm>
            <a:off x="2516188" y="876300"/>
            <a:ext cx="4203700" cy="2365375"/>
          </a:xfrm>
          <a:prstGeom prst="rect">
            <a:avLst/>
          </a:prstGeom>
          <a:noFill/>
          <a:ln w="12700">
            <a:solidFill>
              <a:prstClr val="black"/>
            </a:solidFill>
          </a:ln>
        </p:spPr>
        <p:txBody>
          <a:bodyPr vert="horz" lIns="92830" tIns="46415" rIns="92830" bIns="46415" rtlCol="0" anchor="ctr"/>
          <a:lstStyle/>
          <a:p>
            <a:endParaRPr lang="en-US"/>
          </a:p>
        </p:txBody>
      </p:sp>
      <p:sp>
        <p:nvSpPr>
          <p:cNvPr id="5" name="Notes Placeholder 4"/>
          <p:cNvSpPr>
            <a:spLocks noGrp="1"/>
          </p:cNvSpPr>
          <p:nvPr>
            <p:ph type="body" sz="quarter" idx="3"/>
          </p:nvPr>
        </p:nvSpPr>
        <p:spPr>
          <a:xfrm>
            <a:off x="923608" y="3373754"/>
            <a:ext cx="7388860" cy="2760346"/>
          </a:xfrm>
          <a:prstGeom prst="rect">
            <a:avLst/>
          </a:prstGeom>
        </p:spPr>
        <p:txBody>
          <a:bodyPr vert="horz" lIns="92830" tIns="46415" rIns="92830" bIns="46415"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658664"/>
            <a:ext cx="4002299" cy="351736"/>
          </a:xfrm>
          <a:prstGeom prst="rect">
            <a:avLst/>
          </a:prstGeom>
        </p:spPr>
        <p:txBody>
          <a:bodyPr vert="horz" lIns="92830" tIns="46415" rIns="92830" bIns="46415" rtlCol="0" anchor="b"/>
          <a:lstStyle>
            <a:lvl1pPr algn="l">
              <a:defRPr sz="1200"/>
            </a:lvl1pPr>
          </a:lstStyle>
          <a:p>
            <a:endParaRPr lang="en-US"/>
          </a:p>
        </p:txBody>
      </p:sp>
      <p:sp>
        <p:nvSpPr>
          <p:cNvPr id="7" name="Slide Number Placeholder 6"/>
          <p:cNvSpPr>
            <a:spLocks noGrp="1"/>
          </p:cNvSpPr>
          <p:nvPr>
            <p:ph type="sldNum" sz="quarter" idx="5"/>
          </p:nvPr>
        </p:nvSpPr>
        <p:spPr>
          <a:xfrm>
            <a:off x="5231639" y="6658664"/>
            <a:ext cx="4002299" cy="351736"/>
          </a:xfrm>
          <a:prstGeom prst="rect">
            <a:avLst/>
          </a:prstGeom>
        </p:spPr>
        <p:txBody>
          <a:bodyPr vert="horz" lIns="92830" tIns="46415" rIns="92830" bIns="46415" rtlCol="0" anchor="b"/>
          <a:lstStyle>
            <a:lvl1pPr algn="r">
              <a:defRPr sz="1200"/>
            </a:lvl1pPr>
          </a:lstStyle>
          <a:p>
            <a:fld id="{DF3F306F-0B23-B74D-B43E-003A4782948D}" type="slidenum">
              <a:rPr lang="en-US" smtClean="0"/>
              <a:t>‹#›</a:t>
            </a:fld>
            <a:endParaRPr lang="en-US"/>
          </a:p>
        </p:txBody>
      </p:sp>
    </p:spTree>
    <p:extLst>
      <p:ext uri="{BB962C8B-B14F-4D97-AF65-F5344CB8AC3E}">
        <p14:creationId xmlns:p14="http://schemas.microsoft.com/office/powerpoint/2010/main" val="20751071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F3F306F-0B23-B74D-B43E-003A4782948D}" type="slidenum">
              <a:rPr lang="en-US" smtClean="0"/>
              <a:t>1</a:t>
            </a:fld>
            <a:endParaRPr lang="en-US"/>
          </a:p>
        </p:txBody>
      </p:sp>
    </p:spTree>
    <p:extLst>
      <p:ext uri="{BB962C8B-B14F-4D97-AF65-F5344CB8AC3E}">
        <p14:creationId xmlns:p14="http://schemas.microsoft.com/office/powerpoint/2010/main" val="2821718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F3F306F-0B23-B74D-B43E-003A4782948D}" type="slidenum">
              <a:rPr lang="en-US" smtClean="0"/>
              <a:t>2</a:t>
            </a:fld>
            <a:endParaRPr lang="en-US"/>
          </a:p>
        </p:txBody>
      </p:sp>
    </p:spTree>
    <p:extLst>
      <p:ext uri="{BB962C8B-B14F-4D97-AF65-F5344CB8AC3E}">
        <p14:creationId xmlns:p14="http://schemas.microsoft.com/office/powerpoint/2010/main" val="35636038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F3F306F-0B23-B74D-B43E-003A4782948D}" type="slidenum">
              <a:rPr lang="en-US" smtClean="0"/>
              <a:t>3</a:t>
            </a:fld>
            <a:endParaRPr lang="en-US"/>
          </a:p>
        </p:txBody>
      </p:sp>
    </p:spTree>
    <p:extLst>
      <p:ext uri="{BB962C8B-B14F-4D97-AF65-F5344CB8AC3E}">
        <p14:creationId xmlns:p14="http://schemas.microsoft.com/office/powerpoint/2010/main" val="40805814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F3F306F-0B23-B74D-B43E-003A4782948D}" type="slidenum">
              <a:rPr lang="en-US" smtClean="0"/>
              <a:t>4</a:t>
            </a:fld>
            <a:endParaRPr lang="en-US"/>
          </a:p>
        </p:txBody>
      </p:sp>
    </p:spTree>
    <p:extLst>
      <p:ext uri="{BB962C8B-B14F-4D97-AF65-F5344CB8AC3E}">
        <p14:creationId xmlns:p14="http://schemas.microsoft.com/office/powerpoint/2010/main" val="24126343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F3F306F-0B23-B74D-B43E-003A4782948D}" type="slidenum">
              <a:rPr lang="en-US" smtClean="0"/>
              <a:t>5</a:t>
            </a:fld>
            <a:endParaRPr lang="en-US"/>
          </a:p>
        </p:txBody>
      </p:sp>
    </p:spTree>
    <p:extLst>
      <p:ext uri="{BB962C8B-B14F-4D97-AF65-F5344CB8AC3E}">
        <p14:creationId xmlns:p14="http://schemas.microsoft.com/office/powerpoint/2010/main" val="14804143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F3F306F-0B23-B74D-B43E-003A4782948D}" type="slidenum">
              <a:rPr lang="en-US" smtClean="0"/>
              <a:t>6</a:t>
            </a:fld>
            <a:endParaRPr lang="en-US"/>
          </a:p>
        </p:txBody>
      </p:sp>
    </p:spTree>
    <p:extLst>
      <p:ext uri="{BB962C8B-B14F-4D97-AF65-F5344CB8AC3E}">
        <p14:creationId xmlns:p14="http://schemas.microsoft.com/office/powerpoint/2010/main" val="12564565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F3F306F-0B23-B74D-B43E-003A4782948D}" type="slidenum">
              <a:rPr lang="en-US" smtClean="0"/>
              <a:t>7</a:t>
            </a:fld>
            <a:endParaRPr lang="en-US"/>
          </a:p>
        </p:txBody>
      </p:sp>
    </p:spTree>
    <p:extLst>
      <p:ext uri="{BB962C8B-B14F-4D97-AF65-F5344CB8AC3E}">
        <p14:creationId xmlns:p14="http://schemas.microsoft.com/office/powerpoint/2010/main" val="42823719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Do not modify the notes in this section to avoid tampering with the Poll Everywhere activity.
More info at polleverywhere.com/support
What do you think?</a:t>
            </a:r>
          </a:p>
          <a:p>
            <a:r>
              <a:rPr lang="en-US"/>
              <a:t>https://www.polleverywhere.com/clickable_images/pzoXCXhdbaDKqmdbnYvQX</a:t>
            </a:r>
          </a:p>
        </p:txBody>
      </p:sp>
      <p:sp>
        <p:nvSpPr>
          <p:cNvPr id="4" name="Slide Number Placeholder 3"/>
          <p:cNvSpPr>
            <a:spLocks noGrp="1"/>
          </p:cNvSpPr>
          <p:nvPr>
            <p:ph type="sldNum" sz="quarter" idx="5"/>
          </p:nvPr>
        </p:nvSpPr>
        <p:spPr/>
        <p:txBody>
          <a:bodyPr/>
          <a:lstStyle/>
          <a:p>
            <a:fld id="{DF3F306F-0B23-B74D-B43E-003A4782948D}" type="slidenum">
              <a:rPr lang="en-US" smtClean="0"/>
              <a:t>11</a:t>
            </a:fld>
            <a:endParaRPr lang="en-US"/>
          </a:p>
        </p:txBody>
      </p:sp>
    </p:spTree>
    <p:extLst>
      <p:ext uri="{BB962C8B-B14F-4D97-AF65-F5344CB8AC3E}">
        <p14:creationId xmlns:p14="http://schemas.microsoft.com/office/powerpoint/2010/main" val="32921106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F3F306F-0B23-B74D-B43E-003A4782948D}" type="slidenum">
              <a:rPr lang="en-US" smtClean="0"/>
              <a:t>13</a:t>
            </a:fld>
            <a:endParaRPr lang="en-US"/>
          </a:p>
        </p:txBody>
      </p:sp>
    </p:spTree>
    <p:extLst>
      <p:ext uri="{BB962C8B-B14F-4D97-AF65-F5344CB8AC3E}">
        <p14:creationId xmlns:p14="http://schemas.microsoft.com/office/powerpoint/2010/main" val="19147239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F3F306F-0B23-B74D-B43E-003A4782948D}" type="slidenum">
              <a:rPr lang="en-US" smtClean="0"/>
              <a:t>14</a:t>
            </a:fld>
            <a:endParaRPr lang="en-US"/>
          </a:p>
        </p:txBody>
      </p:sp>
    </p:spTree>
    <p:extLst>
      <p:ext uri="{BB962C8B-B14F-4D97-AF65-F5344CB8AC3E}">
        <p14:creationId xmlns:p14="http://schemas.microsoft.com/office/powerpoint/2010/main" val="13170582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F3F306F-0B23-B74D-B43E-003A4782948D}" type="slidenum">
              <a:rPr lang="en-US" smtClean="0"/>
              <a:t>15</a:t>
            </a:fld>
            <a:endParaRPr lang="en-US"/>
          </a:p>
        </p:txBody>
      </p:sp>
    </p:spTree>
    <p:extLst>
      <p:ext uri="{BB962C8B-B14F-4D97-AF65-F5344CB8AC3E}">
        <p14:creationId xmlns:p14="http://schemas.microsoft.com/office/powerpoint/2010/main" val="42542299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F3F306F-0B23-B74D-B43E-003A4782948D}" type="slidenum">
              <a:rPr lang="en-US" smtClean="0"/>
              <a:t>16</a:t>
            </a:fld>
            <a:endParaRPr lang="en-US"/>
          </a:p>
        </p:txBody>
      </p:sp>
    </p:spTree>
    <p:extLst>
      <p:ext uri="{BB962C8B-B14F-4D97-AF65-F5344CB8AC3E}">
        <p14:creationId xmlns:p14="http://schemas.microsoft.com/office/powerpoint/2010/main" val="24015063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F3F306F-0B23-B74D-B43E-003A4782948D}" type="slidenum">
              <a:rPr lang="en-US" smtClean="0"/>
              <a:t>17</a:t>
            </a:fld>
            <a:endParaRPr lang="en-US"/>
          </a:p>
        </p:txBody>
      </p:sp>
    </p:spTree>
    <p:extLst>
      <p:ext uri="{BB962C8B-B14F-4D97-AF65-F5344CB8AC3E}">
        <p14:creationId xmlns:p14="http://schemas.microsoft.com/office/powerpoint/2010/main" val="16002320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F3F306F-0B23-B74D-B43E-003A4782948D}" type="slidenum">
              <a:rPr lang="en-US" smtClean="0"/>
              <a:t>18</a:t>
            </a:fld>
            <a:endParaRPr lang="en-US"/>
          </a:p>
        </p:txBody>
      </p:sp>
    </p:spTree>
    <p:extLst>
      <p:ext uri="{BB962C8B-B14F-4D97-AF65-F5344CB8AC3E}">
        <p14:creationId xmlns:p14="http://schemas.microsoft.com/office/powerpoint/2010/main" val="5719486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F3F306F-0B23-B74D-B43E-003A4782948D}" type="slidenum">
              <a:rPr lang="en-US" smtClean="0"/>
              <a:t>19</a:t>
            </a:fld>
            <a:endParaRPr lang="en-US"/>
          </a:p>
        </p:txBody>
      </p:sp>
    </p:spTree>
    <p:extLst>
      <p:ext uri="{BB962C8B-B14F-4D97-AF65-F5344CB8AC3E}">
        <p14:creationId xmlns:p14="http://schemas.microsoft.com/office/powerpoint/2010/main" val="9418830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F3F306F-0B23-B74D-B43E-003A4782948D}" type="slidenum">
              <a:rPr lang="en-US" smtClean="0"/>
              <a:t>20</a:t>
            </a:fld>
            <a:endParaRPr lang="en-US"/>
          </a:p>
        </p:txBody>
      </p:sp>
    </p:spTree>
    <p:extLst>
      <p:ext uri="{BB962C8B-B14F-4D97-AF65-F5344CB8AC3E}">
        <p14:creationId xmlns:p14="http://schemas.microsoft.com/office/powerpoint/2010/main" val="30364100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F3F306F-0B23-B74D-B43E-003A4782948D}" type="slidenum">
              <a:rPr lang="en-US" smtClean="0"/>
              <a:t>21</a:t>
            </a:fld>
            <a:endParaRPr lang="en-US"/>
          </a:p>
        </p:txBody>
      </p:sp>
    </p:spTree>
    <p:extLst>
      <p:ext uri="{BB962C8B-B14F-4D97-AF65-F5344CB8AC3E}">
        <p14:creationId xmlns:p14="http://schemas.microsoft.com/office/powerpoint/2010/main" val="113060912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F3F306F-0B23-B74D-B43E-003A4782948D}" type="slidenum">
              <a:rPr lang="en-US" smtClean="0"/>
              <a:t>22</a:t>
            </a:fld>
            <a:endParaRPr lang="en-US"/>
          </a:p>
        </p:txBody>
      </p:sp>
    </p:spTree>
    <p:extLst>
      <p:ext uri="{BB962C8B-B14F-4D97-AF65-F5344CB8AC3E}">
        <p14:creationId xmlns:p14="http://schemas.microsoft.com/office/powerpoint/2010/main" val="283205592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F3F306F-0B23-B74D-B43E-003A4782948D}" type="slidenum">
              <a:rPr lang="en-US" smtClean="0"/>
              <a:t>23</a:t>
            </a:fld>
            <a:endParaRPr lang="en-US"/>
          </a:p>
        </p:txBody>
      </p:sp>
    </p:spTree>
    <p:extLst>
      <p:ext uri="{BB962C8B-B14F-4D97-AF65-F5344CB8AC3E}">
        <p14:creationId xmlns:p14="http://schemas.microsoft.com/office/powerpoint/2010/main" val="323635208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Do not modify the notes in this section to avoid tampering with the Poll Everywhere activity.
More info at polleverywhere.com/support
How would you design an RCT to measure the effects of laptops in class on student learning?</a:t>
            </a:r>
          </a:p>
          <a:p>
            <a:r>
              <a:rPr lang="en-US"/>
              <a:t>https://www.polleverywhere.com/discourses/AVhAULrUL1WBH9J5PAT39</a:t>
            </a:r>
          </a:p>
        </p:txBody>
      </p:sp>
      <p:sp>
        <p:nvSpPr>
          <p:cNvPr id="4" name="Slide Number Placeholder 3"/>
          <p:cNvSpPr>
            <a:spLocks noGrp="1"/>
          </p:cNvSpPr>
          <p:nvPr>
            <p:ph type="sldNum" sz="quarter" idx="5"/>
          </p:nvPr>
        </p:nvSpPr>
        <p:spPr/>
        <p:txBody>
          <a:bodyPr/>
          <a:lstStyle/>
          <a:p>
            <a:fld id="{DF3F306F-0B23-B74D-B43E-003A4782948D}" type="slidenum">
              <a:rPr lang="en-US" smtClean="0"/>
              <a:t>24</a:t>
            </a:fld>
            <a:endParaRPr lang="en-US"/>
          </a:p>
        </p:txBody>
      </p:sp>
    </p:spTree>
    <p:extLst>
      <p:ext uri="{BB962C8B-B14F-4D97-AF65-F5344CB8AC3E}">
        <p14:creationId xmlns:p14="http://schemas.microsoft.com/office/powerpoint/2010/main" val="362389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F3F306F-0B23-B74D-B43E-003A4782948D}" type="slidenum">
              <a:rPr lang="en-US" smtClean="0"/>
              <a:t>25</a:t>
            </a:fld>
            <a:endParaRPr lang="en-US"/>
          </a:p>
        </p:txBody>
      </p:sp>
    </p:spTree>
    <p:extLst>
      <p:ext uri="{BB962C8B-B14F-4D97-AF65-F5344CB8AC3E}">
        <p14:creationId xmlns:p14="http://schemas.microsoft.com/office/powerpoint/2010/main" val="354231832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F3F306F-0B23-B74D-B43E-003A4782948D}" type="slidenum">
              <a:rPr lang="en-US" smtClean="0"/>
              <a:t>26</a:t>
            </a:fld>
            <a:endParaRPr lang="en-US"/>
          </a:p>
        </p:txBody>
      </p:sp>
    </p:spTree>
    <p:extLst>
      <p:ext uri="{BB962C8B-B14F-4D97-AF65-F5344CB8AC3E}">
        <p14:creationId xmlns:p14="http://schemas.microsoft.com/office/powerpoint/2010/main" val="116398167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F3F306F-0B23-B74D-B43E-003A4782948D}" type="slidenum">
              <a:rPr lang="en-US" smtClean="0"/>
              <a:t>27</a:t>
            </a:fld>
            <a:endParaRPr lang="en-US"/>
          </a:p>
        </p:txBody>
      </p:sp>
    </p:spTree>
    <p:extLst>
      <p:ext uri="{BB962C8B-B14F-4D97-AF65-F5344CB8AC3E}">
        <p14:creationId xmlns:p14="http://schemas.microsoft.com/office/powerpoint/2010/main" val="203486221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F3F306F-0B23-B74D-B43E-003A4782948D}" type="slidenum">
              <a:rPr lang="en-US" smtClean="0"/>
              <a:t>28</a:t>
            </a:fld>
            <a:endParaRPr lang="en-US"/>
          </a:p>
        </p:txBody>
      </p:sp>
    </p:spTree>
    <p:extLst>
      <p:ext uri="{BB962C8B-B14F-4D97-AF65-F5344CB8AC3E}">
        <p14:creationId xmlns:p14="http://schemas.microsoft.com/office/powerpoint/2010/main" val="59622736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Do not modify the notes in this section to avoid tampering with the Poll Everywhere activity.
More info at polleverywhere.com/support
What were the findings? (On average?)</a:t>
            </a:r>
          </a:p>
          <a:p>
            <a:r>
              <a:rPr lang="en-US"/>
              <a:t>https://www.polleverywhere.com/multiple_choice_polls/cXZcgLIWFjh425Ey9XcE1?state=opened&amp;flow=Default&amp;onscreen=persist</a:t>
            </a:r>
          </a:p>
        </p:txBody>
      </p:sp>
      <p:sp>
        <p:nvSpPr>
          <p:cNvPr id="4" name="Slide Number Placeholder 3"/>
          <p:cNvSpPr>
            <a:spLocks noGrp="1"/>
          </p:cNvSpPr>
          <p:nvPr>
            <p:ph type="sldNum" sz="quarter" idx="5"/>
          </p:nvPr>
        </p:nvSpPr>
        <p:spPr/>
        <p:txBody>
          <a:bodyPr/>
          <a:lstStyle/>
          <a:p>
            <a:fld id="{DF3F306F-0B23-B74D-B43E-003A4782948D}" type="slidenum">
              <a:rPr lang="en-US" smtClean="0"/>
              <a:t>29</a:t>
            </a:fld>
            <a:endParaRPr lang="en-US"/>
          </a:p>
        </p:txBody>
      </p:sp>
    </p:spTree>
    <p:extLst>
      <p:ext uri="{BB962C8B-B14F-4D97-AF65-F5344CB8AC3E}">
        <p14:creationId xmlns:p14="http://schemas.microsoft.com/office/powerpoint/2010/main" val="83216316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F3F306F-0B23-B74D-B43E-003A4782948D}" type="slidenum">
              <a:rPr lang="en-US" smtClean="0"/>
              <a:t>30</a:t>
            </a:fld>
            <a:endParaRPr lang="en-US"/>
          </a:p>
        </p:txBody>
      </p:sp>
    </p:spTree>
    <p:extLst>
      <p:ext uri="{BB962C8B-B14F-4D97-AF65-F5344CB8AC3E}">
        <p14:creationId xmlns:p14="http://schemas.microsoft.com/office/powerpoint/2010/main" val="353857166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F3F306F-0B23-B74D-B43E-003A4782948D}" type="slidenum">
              <a:rPr lang="en-US" smtClean="0"/>
              <a:t>31</a:t>
            </a:fld>
            <a:endParaRPr lang="en-US"/>
          </a:p>
        </p:txBody>
      </p:sp>
    </p:spTree>
    <p:extLst>
      <p:ext uri="{BB962C8B-B14F-4D97-AF65-F5344CB8AC3E}">
        <p14:creationId xmlns:p14="http://schemas.microsoft.com/office/powerpoint/2010/main" val="297562800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Do not modify the notes in this section to avoid tampering with the Poll Everywhere activity.
More info at polleverywhere.com/support
Do you think the effect was similar for everyone? Check all that apply.</a:t>
            </a:r>
          </a:p>
          <a:p>
            <a:r>
              <a:rPr lang="en-US"/>
              <a:t>https://www.polleverywhere.com/multiple_choice_polls/BGCGIR6QDV4H25MzVP0it?state=opened&amp;flow=Default&amp;onscreen=persist</a:t>
            </a:r>
          </a:p>
        </p:txBody>
      </p:sp>
      <p:sp>
        <p:nvSpPr>
          <p:cNvPr id="4" name="Slide Number Placeholder 3"/>
          <p:cNvSpPr>
            <a:spLocks noGrp="1"/>
          </p:cNvSpPr>
          <p:nvPr>
            <p:ph type="sldNum" sz="quarter" idx="5"/>
          </p:nvPr>
        </p:nvSpPr>
        <p:spPr/>
        <p:txBody>
          <a:bodyPr/>
          <a:lstStyle/>
          <a:p>
            <a:fld id="{DF3F306F-0B23-B74D-B43E-003A4782948D}" type="slidenum">
              <a:rPr lang="en-US" smtClean="0"/>
              <a:t>32</a:t>
            </a:fld>
            <a:endParaRPr lang="en-US"/>
          </a:p>
        </p:txBody>
      </p:sp>
    </p:spTree>
    <p:extLst>
      <p:ext uri="{BB962C8B-B14F-4D97-AF65-F5344CB8AC3E}">
        <p14:creationId xmlns:p14="http://schemas.microsoft.com/office/powerpoint/2010/main" val="108534291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F3F306F-0B23-B74D-B43E-003A4782948D}" type="slidenum">
              <a:rPr lang="en-US" smtClean="0"/>
              <a:t>33</a:t>
            </a:fld>
            <a:endParaRPr lang="en-US"/>
          </a:p>
        </p:txBody>
      </p:sp>
    </p:spTree>
    <p:extLst>
      <p:ext uri="{BB962C8B-B14F-4D97-AF65-F5344CB8AC3E}">
        <p14:creationId xmlns:p14="http://schemas.microsoft.com/office/powerpoint/2010/main" val="49797079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F3F306F-0B23-B74D-B43E-003A4782948D}" type="slidenum">
              <a:rPr lang="en-US" smtClean="0"/>
              <a:t>34</a:t>
            </a:fld>
            <a:endParaRPr lang="en-US"/>
          </a:p>
        </p:txBody>
      </p:sp>
    </p:spTree>
    <p:extLst>
      <p:ext uri="{BB962C8B-B14F-4D97-AF65-F5344CB8AC3E}">
        <p14:creationId xmlns:p14="http://schemas.microsoft.com/office/powerpoint/2010/main" val="62009699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F3F306F-0B23-B74D-B43E-003A4782948D}" type="slidenum">
              <a:rPr lang="en-US" smtClean="0"/>
              <a:t>35</a:t>
            </a:fld>
            <a:endParaRPr lang="en-US"/>
          </a:p>
        </p:txBody>
      </p:sp>
    </p:spTree>
    <p:extLst>
      <p:ext uri="{BB962C8B-B14F-4D97-AF65-F5344CB8AC3E}">
        <p14:creationId xmlns:p14="http://schemas.microsoft.com/office/powerpoint/2010/main" val="303537867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F3F306F-0B23-B74D-B43E-003A4782948D}" type="slidenum">
              <a:rPr lang="en-US" smtClean="0"/>
              <a:t>36</a:t>
            </a:fld>
            <a:endParaRPr lang="en-US"/>
          </a:p>
        </p:txBody>
      </p:sp>
    </p:spTree>
    <p:extLst>
      <p:ext uri="{BB962C8B-B14F-4D97-AF65-F5344CB8AC3E}">
        <p14:creationId xmlns:p14="http://schemas.microsoft.com/office/powerpoint/2010/main" val="343849569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F3F306F-0B23-B74D-B43E-003A4782948D}" type="slidenum">
              <a:rPr lang="en-US" smtClean="0"/>
              <a:t>37</a:t>
            </a:fld>
            <a:endParaRPr lang="en-US"/>
          </a:p>
        </p:txBody>
      </p:sp>
    </p:spTree>
    <p:extLst>
      <p:ext uri="{BB962C8B-B14F-4D97-AF65-F5344CB8AC3E}">
        <p14:creationId xmlns:p14="http://schemas.microsoft.com/office/powerpoint/2010/main" val="354654962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Do not modify the notes in this section to avoid tampering with the Poll Everywhere activity.
More info at polleverywhere.com/support
What is the expected value of $$\hat{\tau}$$?</a:t>
            </a:r>
          </a:p>
          <a:p>
            <a:r>
              <a:rPr lang="en-US"/>
              <a:t>https://www.polleverywhere.com/multiple_choice_polls/Yd4I7U6FvNrYJilEMviEJ?state=opened&amp;flow=Default&amp;onscreen=persist</a:t>
            </a:r>
          </a:p>
        </p:txBody>
      </p:sp>
      <p:sp>
        <p:nvSpPr>
          <p:cNvPr id="4" name="Slide Number Placeholder 3"/>
          <p:cNvSpPr>
            <a:spLocks noGrp="1"/>
          </p:cNvSpPr>
          <p:nvPr>
            <p:ph type="sldNum" sz="quarter" idx="5"/>
          </p:nvPr>
        </p:nvSpPr>
        <p:spPr/>
        <p:txBody>
          <a:bodyPr/>
          <a:lstStyle/>
          <a:p>
            <a:fld id="{DF3F306F-0B23-B74D-B43E-003A4782948D}" type="slidenum">
              <a:rPr lang="en-US" smtClean="0"/>
              <a:t>38</a:t>
            </a:fld>
            <a:endParaRPr lang="en-US"/>
          </a:p>
        </p:txBody>
      </p:sp>
    </p:spTree>
    <p:extLst>
      <p:ext uri="{BB962C8B-B14F-4D97-AF65-F5344CB8AC3E}">
        <p14:creationId xmlns:p14="http://schemas.microsoft.com/office/powerpoint/2010/main" val="91028395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F3F306F-0B23-B74D-B43E-003A4782948D}" type="slidenum">
              <a:rPr lang="en-US" smtClean="0"/>
              <a:t>39</a:t>
            </a:fld>
            <a:endParaRPr lang="en-US"/>
          </a:p>
        </p:txBody>
      </p:sp>
    </p:spTree>
    <p:extLst>
      <p:ext uri="{BB962C8B-B14F-4D97-AF65-F5344CB8AC3E}">
        <p14:creationId xmlns:p14="http://schemas.microsoft.com/office/powerpoint/2010/main" val="414726526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F3F306F-0B23-B74D-B43E-003A4782948D}" type="slidenum">
              <a:rPr lang="en-US" smtClean="0"/>
              <a:t>40</a:t>
            </a:fld>
            <a:endParaRPr lang="en-US"/>
          </a:p>
        </p:txBody>
      </p:sp>
    </p:spTree>
    <p:extLst>
      <p:ext uri="{BB962C8B-B14F-4D97-AF65-F5344CB8AC3E}">
        <p14:creationId xmlns:p14="http://schemas.microsoft.com/office/powerpoint/2010/main" val="268356303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F3F306F-0B23-B74D-B43E-003A4782948D}" type="slidenum">
              <a:rPr lang="en-US" smtClean="0"/>
              <a:t>41</a:t>
            </a:fld>
            <a:endParaRPr lang="en-US"/>
          </a:p>
        </p:txBody>
      </p:sp>
    </p:spTree>
    <p:extLst>
      <p:ext uri="{BB962C8B-B14F-4D97-AF65-F5344CB8AC3E}">
        <p14:creationId xmlns:p14="http://schemas.microsoft.com/office/powerpoint/2010/main" val="362375501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F3F306F-0B23-B74D-B43E-003A4782948D}" type="slidenum">
              <a:rPr lang="en-US" smtClean="0"/>
              <a:t>42</a:t>
            </a:fld>
            <a:endParaRPr lang="en-US"/>
          </a:p>
        </p:txBody>
      </p:sp>
    </p:spTree>
    <p:extLst>
      <p:ext uri="{BB962C8B-B14F-4D97-AF65-F5344CB8AC3E}">
        <p14:creationId xmlns:p14="http://schemas.microsoft.com/office/powerpoint/2010/main" val="210426273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F3F306F-0B23-B74D-B43E-003A4782948D}" type="slidenum">
              <a:rPr lang="en-US" smtClean="0"/>
              <a:t>43</a:t>
            </a:fld>
            <a:endParaRPr lang="en-US"/>
          </a:p>
        </p:txBody>
      </p:sp>
    </p:spTree>
    <p:extLst>
      <p:ext uri="{BB962C8B-B14F-4D97-AF65-F5344CB8AC3E}">
        <p14:creationId xmlns:p14="http://schemas.microsoft.com/office/powerpoint/2010/main" val="370785065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F3F306F-0B23-B74D-B43E-003A4782948D}" type="slidenum">
              <a:rPr lang="en-US" smtClean="0"/>
              <a:t>44</a:t>
            </a:fld>
            <a:endParaRPr lang="en-US"/>
          </a:p>
        </p:txBody>
      </p:sp>
    </p:spTree>
    <p:extLst>
      <p:ext uri="{BB962C8B-B14F-4D97-AF65-F5344CB8AC3E}">
        <p14:creationId xmlns:p14="http://schemas.microsoft.com/office/powerpoint/2010/main" val="358979386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F3F306F-0B23-B74D-B43E-003A4782948D}" type="slidenum">
              <a:rPr lang="en-US" smtClean="0"/>
              <a:t>45</a:t>
            </a:fld>
            <a:endParaRPr lang="en-US"/>
          </a:p>
        </p:txBody>
      </p:sp>
    </p:spTree>
    <p:extLst>
      <p:ext uri="{BB962C8B-B14F-4D97-AF65-F5344CB8AC3E}">
        <p14:creationId xmlns:p14="http://schemas.microsoft.com/office/powerpoint/2010/main" val="228294593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F3F306F-0B23-B74D-B43E-003A4782948D}" type="slidenum">
              <a:rPr lang="en-US" smtClean="0"/>
              <a:t>46</a:t>
            </a:fld>
            <a:endParaRPr lang="en-US"/>
          </a:p>
        </p:txBody>
      </p:sp>
    </p:spTree>
    <p:extLst>
      <p:ext uri="{BB962C8B-B14F-4D97-AF65-F5344CB8AC3E}">
        <p14:creationId xmlns:p14="http://schemas.microsoft.com/office/powerpoint/2010/main" val="283368630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F3F306F-0B23-B74D-B43E-003A4782948D}" type="slidenum">
              <a:rPr lang="en-US" smtClean="0"/>
              <a:t>47</a:t>
            </a:fld>
            <a:endParaRPr lang="en-US"/>
          </a:p>
        </p:txBody>
      </p:sp>
    </p:spTree>
    <p:extLst>
      <p:ext uri="{BB962C8B-B14F-4D97-AF65-F5344CB8AC3E}">
        <p14:creationId xmlns:p14="http://schemas.microsoft.com/office/powerpoint/2010/main" val="9741125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F3F306F-0B23-B74D-B43E-003A4782948D}" type="slidenum">
              <a:rPr lang="en-US" smtClean="0"/>
              <a:t>48</a:t>
            </a:fld>
            <a:endParaRPr lang="en-US"/>
          </a:p>
        </p:txBody>
      </p:sp>
    </p:spTree>
    <p:extLst>
      <p:ext uri="{BB962C8B-B14F-4D97-AF65-F5344CB8AC3E}">
        <p14:creationId xmlns:p14="http://schemas.microsoft.com/office/powerpoint/2010/main" val="402724122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F3F306F-0B23-B74D-B43E-003A4782948D}" type="slidenum">
              <a:rPr lang="en-US" smtClean="0"/>
              <a:t>49</a:t>
            </a:fld>
            <a:endParaRPr lang="en-US"/>
          </a:p>
        </p:txBody>
      </p:sp>
    </p:spTree>
    <p:extLst>
      <p:ext uri="{BB962C8B-B14F-4D97-AF65-F5344CB8AC3E}">
        <p14:creationId xmlns:p14="http://schemas.microsoft.com/office/powerpoint/2010/main" val="154713047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F3F306F-0B23-B74D-B43E-003A4782948D}" type="slidenum">
              <a:rPr lang="en-US" smtClean="0"/>
              <a:t>50</a:t>
            </a:fld>
            <a:endParaRPr lang="en-US"/>
          </a:p>
        </p:txBody>
      </p:sp>
    </p:spTree>
    <p:extLst>
      <p:ext uri="{BB962C8B-B14F-4D97-AF65-F5344CB8AC3E}">
        <p14:creationId xmlns:p14="http://schemas.microsoft.com/office/powerpoint/2010/main" val="176797541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F3F306F-0B23-B74D-B43E-003A4782948D}" type="slidenum">
              <a:rPr lang="en-US" smtClean="0"/>
              <a:t>51</a:t>
            </a:fld>
            <a:endParaRPr lang="en-US"/>
          </a:p>
        </p:txBody>
      </p:sp>
    </p:spTree>
    <p:extLst>
      <p:ext uri="{BB962C8B-B14F-4D97-AF65-F5344CB8AC3E}">
        <p14:creationId xmlns:p14="http://schemas.microsoft.com/office/powerpoint/2010/main" val="66724822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F3F306F-0B23-B74D-B43E-003A4782948D}" type="slidenum">
              <a:rPr lang="en-US" smtClean="0"/>
              <a:t>52</a:t>
            </a:fld>
            <a:endParaRPr lang="en-US"/>
          </a:p>
        </p:txBody>
      </p:sp>
    </p:spTree>
    <p:extLst>
      <p:ext uri="{BB962C8B-B14F-4D97-AF65-F5344CB8AC3E}">
        <p14:creationId xmlns:p14="http://schemas.microsoft.com/office/powerpoint/2010/main" val="275142515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F3F306F-0B23-B74D-B43E-003A4782948D}" type="slidenum">
              <a:rPr lang="en-US" smtClean="0"/>
              <a:t>53</a:t>
            </a:fld>
            <a:endParaRPr lang="en-US"/>
          </a:p>
        </p:txBody>
      </p:sp>
    </p:spTree>
    <p:extLst>
      <p:ext uri="{BB962C8B-B14F-4D97-AF65-F5344CB8AC3E}">
        <p14:creationId xmlns:p14="http://schemas.microsoft.com/office/powerpoint/2010/main" val="263743316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F3F306F-0B23-B74D-B43E-003A4782948D}" type="slidenum">
              <a:rPr lang="en-US" smtClean="0"/>
              <a:t>54</a:t>
            </a:fld>
            <a:endParaRPr lang="en-US"/>
          </a:p>
        </p:txBody>
      </p:sp>
    </p:spTree>
    <p:extLst>
      <p:ext uri="{BB962C8B-B14F-4D97-AF65-F5344CB8AC3E}">
        <p14:creationId xmlns:p14="http://schemas.microsoft.com/office/powerpoint/2010/main" val="160032798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F3F306F-0B23-B74D-B43E-003A4782948D}" type="slidenum">
              <a:rPr lang="en-US" smtClean="0"/>
              <a:t>55</a:t>
            </a:fld>
            <a:endParaRPr lang="en-US"/>
          </a:p>
        </p:txBody>
      </p:sp>
    </p:spTree>
    <p:extLst>
      <p:ext uri="{BB962C8B-B14F-4D97-AF65-F5344CB8AC3E}">
        <p14:creationId xmlns:p14="http://schemas.microsoft.com/office/powerpoint/2010/main" val="165527959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F3F306F-0B23-B74D-B43E-003A4782948D}" type="slidenum">
              <a:rPr lang="en-US" smtClean="0"/>
              <a:t>56</a:t>
            </a:fld>
            <a:endParaRPr lang="en-US"/>
          </a:p>
        </p:txBody>
      </p:sp>
    </p:spTree>
    <p:extLst>
      <p:ext uri="{BB962C8B-B14F-4D97-AF65-F5344CB8AC3E}">
        <p14:creationId xmlns:p14="http://schemas.microsoft.com/office/powerpoint/2010/main" val="333242408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F3F306F-0B23-B74D-B43E-003A4782948D}" type="slidenum">
              <a:rPr lang="en-US" smtClean="0"/>
              <a:t>57</a:t>
            </a:fld>
            <a:endParaRPr lang="en-US"/>
          </a:p>
        </p:txBody>
      </p:sp>
    </p:spTree>
    <p:extLst>
      <p:ext uri="{BB962C8B-B14F-4D97-AF65-F5344CB8AC3E}">
        <p14:creationId xmlns:p14="http://schemas.microsoft.com/office/powerpoint/2010/main" val="109527628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F3F306F-0B23-B74D-B43E-003A4782948D}" type="slidenum">
              <a:rPr lang="en-US" smtClean="0"/>
              <a:t>58</a:t>
            </a:fld>
            <a:endParaRPr lang="en-US"/>
          </a:p>
        </p:txBody>
      </p:sp>
    </p:spTree>
    <p:extLst>
      <p:ext uri="{BB962C8B-B14F-4D97-AF65-F5344CB8AC3E}">
        <p14:creationId xmlns:p14="http://schemas.microsoft.com/office/powerpoint/2010/main" val="310514666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F3F306F-0B23-B74D-B43E-003A4782948D}" type="slidenum">
              <a:rPr lang="en-US" smtClean="0"/>
              <a:t>59</a:t>
            </a:fld>
            <a:endParaRPr lang="en-US"/>
          </a:p>
        </p:txBody>
      </p:sp>
    </p:spTree>
    <p:extLst>
      <p:ext uri="{BB962C8B-B14F-4D97-AF65-F5344CB8AC3E}">
        <p14:creationId xmlns:p14="http://schemas.microsoft.com/office/powerpoint/2010/main" val="252123073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F3F306F-0B23-B74D-B43E-003A4782948D}" type="slidenum">
              <a:rPr lang="en-US" smtClean="0"/>
              <a:t>60</a:t>
            </a:fld>
            <a:endParaRPr lang="en-US"/>
          </a:p>
        </p:txBody>
      </p:sp>
    </p:spTree>
    <p:extLst>
      <p:ext uri="{BB962C8B-B14F-4D97-AF65-F5344CB8AC3E}">
        <p14:creationId xmlns:p14="http://schemas.microsoft.com/office/powerpoint/2010/main" val="41990331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F3F306F-0B23-B74D-B43E-003A4782948D}" type="slidenum">
              <a:rPr lang="en-US" smtClean="0"/>
              <a:t>61</a:t>
            </a:fld>
            <a:endParaRPr lang="en-US"/>
          </a:p>
        </p:txBody>
      </p:sp>
    </p:spTree>
    <p:extLst>
      <p:ext uri="{BB962C8B-B14F-4D97-AF65-F5344CB8AC3E}">
        <p14:creationId xmlns:p14="http://schemas.microsoft.com/office/powerpoint/2010/main" val="126430140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F3F306F-0B23-B74D-B43E-003A4782948D}" type="slidenum">
              <a:rPr lang="en-US" smtClean="0"/>
              <a:t>62</a:t>
            </a:fld>
            <a:endParaRPr lang="en-US"/>
          </a:p>
        </p:txBody>
      </p:sp>
    </p:spTree>
    <p:extLst>
      <p:ext uri="{BB962C8B-B14F-4D97-AF65-F5344CB8AC3E}">
        <p14:creationId xmlns:p14="http://schemas.microsoft.com/office/powerpoint/2010/main" val="383630094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F3F306F-0B23-B74D-B43E-003A4782948D}" type="slidenum">
              <a:rPr lang="en-US" smtClean="0"/>
              <a:t>63</a:t>
            </a:fld>
            <a:endParaRPr lang="en-US"/>
          </a:p>
        </p:txBody>
      </p:sp>
    </p:spTree>
    <p:extLst>
      <p:ext uri="{BB962C8B-B14F-4D97-AF65-F5344CB8AC3E}">
        <p14:creationId xmlns:p14="http://schemas.microsoft.com/office/powerpoint/2010/main" val="275755185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F3F306F-0B23-B74D-B43E-003A4782948D}" type="slidenum">
              <a:rPr lang="en-US" smtClean="0"/>
              <a:t>64</a:t>
            </a:fld>
            <a:endParaRPr lang="en-US"/>
          </a:p>
        </p:txBody>
      </p:sp>
    </p:spTree>
    <p:extLst>
      <p:ext uri="{BB962C8B-B14F-4D97-AF65-F5344CB8AC3E}">
        <p14:creationId xmlns:p14="http://schemas.microsoft.com/office/powerpoint/2010/main" val="358217196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F3F306F-0B23-B74D-B43E-003A4782948D}" type="slidenum">
              <a:rPr lang="en-US" smtClean="0"/>
              <a:t>65</a:t>
            </a:fld>
            <a:endParaRPr lang="en-US"/>
          </a:p>
        </p:txBody>
      </p:sp>
    </p:spTree>
    <p:extLst>
      <p:ext uri="{BB962C8B-B14F-4D97-AF65-F5344CB8AC3E}">
        <p14:creationId xmlns:p14="http://schemas.microsoft.com/office/powerpoint/2010/main" val="86013452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F3F306F-0B23-B74D-B43E-003A4782948D}" type="slidenum">
              <a:rPr lang="en-US" smtClean="0"/>
              <a:t>66</a:t>
            </a:fld>
            <a:endParaRPr lang="en-US"/>
          </a:p>
        </p:txBody>
      </p:sp>
    </p:spTree>
    <p:extLst>
      <p:ext uri="{BB962C8B-B14F-4D97-AF65-F5344CB8AC3E}">
        <p14:creationId xmlns:p14="http://schemas.microsoft.com/office/powerpoint/2010/main" val="1789882053"/>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F3F306F-0B23-B74D-B43E-003A4782948D}" type="slidenum">
              <a:rPr lang="en-US" smtClean="0"/>
              <a:t>67</a:t>
            </a:fld>
            <a:endParaRPr lang="en-US"/>
          </a:p>
        </p:txBody>
      </p:sp>
    </p:spTree>
    <p:extLst>
      <p:ext uri="{BB962C8B-B14F-4D97-AF65-F5344CB8AC3E}">
        <p14:creationId xmlns:p14="http://schemas.microsoft.com/office/powerpoint/2010/main" val="264528395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F3F306F-0B23-B74D-B43E-003A4782948D}" type="slidenum">
              <a:rPr lang="en-US" smtClean="0"/>
              <a:t>68</a:t>
            </a:fld>
            <a:endParaRPr lang="en-US"/>
          </a:p>
        </p:txBody>
      </p:sp>
    </p:spTree>
    <p:extLst>
      <p:ext uri="{BB962C8B-B14F-4D97-AF65-F5344CB8AC3E}">
        <p14:creationId xmlns:p14="http://schemas.microsoft.com/office/powerpoint/2010/main" val="1256118982"/>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F3F306F-0B23-B74D-B43E-003A4782948D}" type="slidenum">
              <a:rPr lang="en-US" smtClean="0"/>
              <a:t>69</a:t>
            </a:fld>
            <a:endParaRPr lang="en-US"/>
          </a:p>
        </p:txBody>
      </p:sp>
    </p:spTree>
    <p:extLst>
      <p:ext uri="{BB962C8B-B14F-4D97-AF65-F5344CB8AC3E}">
        <p14:creationId xmlns:p14="http://schemas.microsoft.com/office/powerpoint/2010/main" val="1028262878"/>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E1E6818-5228-6746-93C7-81444766F2C7}" type="slidenum">
              <a:rPr lang="en-US" smtClean="0"/>
              <a:t>70</a:t>
            </a:fld>
            <a:endParaRPr lang="en-US"/>
          </a:p>
        </p:txBody>
      </p:sp>
    </p:spTree>
    <p:extLst>
      <p:ext uri="{BB962C8B-B14F-4D97-AF65-F5344CB8AC3E}">
        <p14:creationId xmlns:p14="http://schemas.microsoft.com/office/powerpoint/2010/main" val="41643602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6DF170-811C-2B31-C0B0-862E91A4B48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307CCEDE-52CB-FB5A-D84F-1DE2B0FF221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C20654C-3E45-A586-A8CF-27C2F44FD84E}"/>
              </a:ext>
            </a:extLst>
          </p:cNvPr>
          <p:cNvSpPr>
            <a:spLocks noGrp="1"/>
          </p:cNvSpPr>
          <p:nvPr>
            <p:ph type="dt" sz="half" idx="10"/>
          </p:nvPr>
        </p:nvSpPr>
        <p:spPr/>
        <p:txBody>
          <a:bodyPr/>
          <a:lstStyle/>
          <a:p>
            <a:fld id="{7B1B529C-7AC4-498E-86D4-DC9A7DA9F898}" type="datetimeFigureOut">
              <a:rPr lang="en-US" smtClean="0"/>
              <a:t>11/24/25</a:t>
            </a:fld>
            <a:endParaRPr lang="en-US"/>
          </a:p>
        </p:txBody>
      </p:sp>
      <p:sp>
        <p:nvSpPr>
          <p:cNvPr id="5" name="Footer Placeholder 4">
            <a:extLst>
              <a:ext uri="{FF2B5EF4-FFF2-40B4-BE49-F238E27FC236}">
                <a16:creationId xmlns:a16="http://schemas.microsoft.com/office/drawing/2014/main" id="{B5F3FB41-6698-A8A3-9568-A48F1950532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D5500EE-EA0C-D40A-DD27-0D0C4B373C78}"/>
              </a:ext>
            </a:extLst>
          </p:cNvPr>
          <p:cNvSpPr>
            <a:spLocks noGrp="1"/>
          </p:cNvSpPr>
          <p:nvPr>
            <p:ph type="sldNum" sz="quarter" idx="12"/>
          </p:nvPr>
        </p:nvSpPr>
        <p:spPr/>
        <p:txBody>
          <a:bodyPr/>
          <a:lstStyle/>
          <a:p>
            <a:fld id="{9D4A35CC-C70A-4792-B171-5A9C7364B6D5}" type="slidenum">
              <a:rPr lang="en-US" smtClean="0"/>
              <a:t>‹#›</a:t>
            </a:fld>
            <a:endParaRPr lang="en-US"/>
          </a:p>
        </p:txBody>
      </p:sp>
    </p:spTree>
    <p:extLst>
      <p:ext uri="{BB962C8B-B14F-4D97-AF65-F5344CB8AC3E}">
        <p14:creationId xmlns:p14="http://schemas.microsoft.com/office/powerpoint/2010/main" val="13915432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5DF521-5D56-2266-8D85-8DD46238AAC0}"/>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BE0C1307-B2F1-2310-0212-94140F1A5D4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EADBA0A-585B-37F2-C235-0D07DF81F0C6}"/>
              </a:ext>
            </a:extLst>
          </p:cNvPr>
          <p:cNvSpPr>
            <a:spLocks noGrp="1"/>
          </p:cNvSpPr>
          <p:nvPr>
            <p:ph type="dt" sz="half" idx="10"/>
          </p:nvPr>
        </p:nvSpPr>
        <p:spPr/>
        <p:txBody>
          <a:bodyPr/>
          <a:lstStyle/>
          <a:p>
            <a:fld id="{7B1B529C-7AC4-498E-86D4-DC9A7DA9F898}" type="datetimeFigureOut">
              <a:rPr lang="en-US" smtClean="0"/>
              <a:t>11/24/25</a:t>
            </a:fld>
            <a:endParaRPr lang="en-US"/>
          </a:p>
        </p:txBody>
      </p:sp>
      <p:sp>
        <p:nvSpPr>
          <p:cNvPr id="5" name="Footer Placeholder 4">
            <a:extLst>
              <a:ext uri="{FF2B5EF4-FFF2-40B4-BE49-F238E27FC236}">
                <a16:creationId xmlns:a16="http://schemas.microsoft.com/office/drawing/2014/main" id="{766C95D1-75E4-DBB9-137E-73D4F5ABD4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B98427C-7848-DA7C-8C53-9BD757009D89}"/>
              </a:ext>
            </a:extLst>
          </p:cNvPr>
          <p:cNvSpPr>
            <a:spLocks noGrp="1"/>
          </p:cNvSpPr>
          <p:nvPr>
            <p:ph type="sldNum" sz="quarter" idx="12"/>
          </p:nvPr>
        </p:nvSpPr>
        <p:spPr/>
        <p:txBody>
          <a:bodyPr/>
          <a:lstStyle/>
          <a:p>
            <a:fld id="{9D4A35CC-C70A-4792-B171-5A9C7364B6D5}" type="slidenum">
              <a:rPr lang="en-US" smtClean="0"/>
              <a:t>‹#›</a:t>
            </a:fld>
            <a:endParaRPr lang="en-US"/>
          </a:p>
        </p:txBody>
      </p:sp>
      <p:sp>
        <p:nvSpPr>
          <p:cNvPr id="7" name="Rectangle 6">
            <a:extLst>
              <a:ext uri="{FF2B5EF4-FFF2-40B4-BE49-F238E27FC236}">
                <a16:creationId xmlns:a16="http://schemas.microsoft.com/office/drawing/2014/main" id="{B4FA992D-C6A1-04E6-6480-D6FF5834A1D9}"/>
              </a:ext>
            </a:extLst>
          </p:cNvPr>
          <p:cNvSpPr/>
          <p:nvPr/>
        </p:nvSpPr>
        <p:spPr>
          <a:xfrm>
            <a:off x="0" y="0"/>
            <a:ext cx="381000" cy="6858000"/>
          </a:xfrm>
          <a:prstGeom prst="rect">
            <a:avLst/>
          </a:prstGeom>
          <a:solidFill>
            <a:srgbClr val="8C151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309809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49FEB4-A114-1406-AAC7-E6A93747626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2F5736C-4324-7C32-AD7B-93A2A9C7E0C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E71F154-5E54-8A6E-32D1-50892B476E0D}"/>
              </a:ext>
            </a:extLst>
          </p:cNvPr>
          <p:cNvSpPr>
            <a:spLocks noGrp="1"/>
          </p:cNvSpPr>
          <p:nvPr>
            <p:ph type="dt" sz="half" idx="10"/>
          </p:nvPr>
        </p:nvSpPr>
        <p:spPr/>
        <p:txBody>
          <a:bodyPr/>
          <a:lstStyle/>
          <a:p>
            <a:fld id="{7B1B529C-7AC4-498E-86D4-DC9A7DA9F898}" type="datetimeFigureOut">
              <a:rPr lang="en-US" smtClean="0"/>
              <a:t>11/24/25</a:t>
            </a:fld>
            <a:endParaRPr lang="en-US"/>
          </a:p>
        </p:txBody>
      </p:sp>
      <p:sp>
        <p:nvSpPr>
          <p:cNvPr id="5" name="Footer Placeholder 4">
            <a:extLst>
              <a:ext uri="{FF2B5EF4-FFF2-40B4-BE49-F238E27FC236}">
                <a16:creationId xmlns:a16="http://schemas.microsoft.com/office/drawing/2014/main" id="{5F89038B-6435-F39A-AE45-EC227764823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38BDF1E-A55C-2F2F-60EB-26E50943C5FB}"/>
              </a:ext>
            </a:extLst>
          </p:cNvPr>
          <p:cNvSpPr>
            <a:spLocks noGrp="1"/>
          </p:cNvSpPr>
          <p:nvPr>
            <p:ph type="sldNum" sz="quarter" idx="12"/>
          </p:nvPr>
        </p:nvSpPr>
        <p:spPr/>
        <p:txBody>
          <a:bodyPr/>
          <a:lstStyle/>
          <a:p>
            <a:fld id="{9D4A35CC-C70A-4792-B171-5A9C7364B6D5}" type="slidenum">
              <a:rPr lang="en-US" smtClean="0"/>
              <a:t>‹#›</a:t>
            </a:fld>
            <a:endParaRPr lang="en-US"/>
          </a:p>
        </p:txBody>
      </p:sp>
      <p:sp>
        <p:nvSpPr>
          <p:cNvPr id="7" name="Rectangle 6">
            <a:extLst>
              <a:ext uri="{FF2B5EF4-FFF2-40B4-BE49-F238E27FC236}">
                <a16:creationId xmlns:a16="http://schemas.microsoft.com/office/drawing/2014/main" id="{2CC699B5-BC08-318D-27C2-159A3F84676E}"/>
              </a:ext>
            </a:extLst>
          </p:cNvPr>
          <p:cNvSpPr/>
          <p:nvPr/>
        </p:nvSpPr>
        <p:spPr>
          <a:xfrm>
            <a:off x="0" y="0"/>
            <a:ext cx="381000" cy="6858000"/>
          </a:xfrm>
          <a:prstGeom prst="rect">
            <a:avLst/>
          </a:prstGeom>
          <a:solidFill>
            <a:srgbClr val="8C151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836836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4E8BC7-37A9-2A41-A226-1AA2056C755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1195DB0-B3D9-5AA8-0EBE-8DE243B43F7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0BC9C40-4553-98FF-B057-51D06316551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3D316FA-702D-0970-98FC-C9857BDB916C}"/>
              </a:ext>
            </a:extLst>
          </p:cNvPr>
          <p:cNvSpPr>
            <a:spLocks noGrp="1"/>
          </p:cNvSpPr>
          <p:nvPr>
            <p:ph type="dt" sz="half" idx="10"/>
          </p:nvPr>
        </p:nvSpPr>
        <p:spPr/>
        <p:txBody>
          <a:bodyPr/>
          <a:lstStyle/>
          <a:p>
            <a:fld id="{7B1B529C-7AC4-498E-86D4-DC9A7DA9F898}" type="datetimeFigureOut">
              <a:rPr lang="en-US" smtClean="0"/>
              <a:t>11/24/25</a:t>
            </a:fld>
            <a:endParaRPr lang="en-US"/>
          </a:p>
        </p:txBody>
      </p:sp>
      <p:sp>
        <p:nvSpPr>
          <p:cNvPr id="6" name="Footer Placeholder 5">
            <a:extLst>
              <a:ext uri="{FF2B5EF4-FFF2-40B4-BE49-F238E27FC236}">
                <a16:creationId xmlns:a16="http://schemas.microsoft.com/office/drawing/2014/main" id="{1E5F98C5-312D-43ED-B810-B24CF5C9208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A17E21C-8BB3-4F1E-CF27-B3C2310D0545}"/>
              </a:ext>
            </a:extLst>
          </p:cNvPr>
          <p:cNvSpPr>
            <a:spLocks noGrp="1"/>
          </p:cNvSpPr>
          <p:nvPr>
            <p:ph type="sldNum" sz="quarter" idx="12"/>
          </p:nvPr>
        </p:nvSpPr>
        <p:spPr/>
        <p:txBody>
          <a:bodyPr/>
          <a:lstStyle/>
          <a:p>
            <a:fld id="{9D4A35CC-C70A-4792-B171-5A9C7364B6D5}" type="slidenum">
              <a:rPr lang="en-US" smtClean="0"/>
              <a:t>‹#›</a:t>
            </a:fld>
            <a:endParaRPr lang="en-US"/>
          </a:p>
        </p:txBody>
      </p:sp>
      <p:sp>
        <p:nvSpPr>
          <p:cNvPr id="8" name="Rectangle 7">
            <a:extLst>
              <a:ext uri="{FF2B5EF4-FFF2-40B4-BE49-F238E27FC236}">
                <a16:creationId xmlns:a16="http://schemas.microsoft.com/office/drawing/2014/main" id="{4ADB9F7D-4293-E584-BB33-F33655869B04}"/>
              </a:ext>
            </a:extLst>
          </p:cNvPr>
          <p:cNvSpPr/>
          <p:nvPr/>
        </p:nvSpPr>
        <p:spPr>
          <a:xfrm>
            <a:off x="0" y="0"/>
            <a:ext cx="381000" cy="6858000"/>
          </a:xfrm>
          <a:prstGeom prst="rect">
            <a:avLst/>
          </a:prstGeom>
          <a:solidFill>
            <a:srgbClr val="8C151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127846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DBB629-ED87-5F0F-C9BC-928A597F10D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53799BA-B41E-6860-AA97-BD0EF6DD433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3FE23B1-8B3C-B07C-FDE2-19F41F30B92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89C4BBA-5A0D-0E42-7483-493DBCED4BC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D716F14-27E0-D214-DE57-BB9CAF7B4F8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7BACE10-B3E3-AA96-7962-FFDFF715887E}"/>
              </a:ext>
            </a:extLst>
          </p:cNvPr>
          <p:cNvSpPr>
            <a:spLocks noGrp="1"/>
          </p:cNvSpPr>
          <p:nvPr>
            <p:ph type="dt" sz="half" idx="10"/>
          </p:nvPr>
        </p:nvSpPr>
        <p:spPr/>
        <p:txBody>
          <a:bodyPr/>
          <a:lstStyle/>
          <a:p>
            <a:fld id="{7B1B529C-7AC4-498E-86D4-DC9A7DA9F898}" type="datetimeFigureOut">
              <a:rPr lang="en-US" smtClean="0"/>
              <a:t>11/24/25</a:t>
            </a:fld>
            <a:endParaRPr lang="en-US"/>
          </a:p>
        </p:txBody>
      </p:sp>
      <p:sp>
        <p:nvSpPr>
          <p:cNvPr id="8" name="Footer Placeholder 7">
            <a:extLst>
              <a:ext uri="{FF2B5EF4-FFF2-40B4-BE49-F238E27FC236}">
                <a16:creationId xmlns:a16="http://schemas.microsoft.com/office/drawing/2014/main" id="{A916E200-901C-8F02-918B-5D1D4D58277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DEBD97F-62C3-7108-5E3B-4FCE958B80A1}"/>
              </a:ext>
            </a:extLst>
          </p:cNvPr>
          <p:cNvSpPr>
            <a:spLocks noGrp="1"/>
          </p:cNvSpPr>
          <p:nvPr>
            <p:ph type="sldNum" sz="quarter" idx="12"/>
          </p:nvPr>
        </p:nvSpPr>
        <p:spPr/>
        <p:txBody>
          <a:bodyPr/>
          <a:lstStyle/>
          <a:p>
            <a:fld id="{9D4A35CC-C70A-4792-B171-5A9C7364B6D5}" type="slidenum">
              <a:rPr lang="en-US" smtClean="0"/>
              <a:t>‹#›</a:t>
            </a:fld>
            <a:endParaRPr lang="en-US"/>
          </a:p>
        </p:txBody>
      </p:sp>
      <p:sp>
        <p:nvSpPr>
          <p:cNvPr id="10" name="Rectangle 9">
            <a:extLst>
              <a:ext uri="{FF2B5EF4-FFF2-40B4-BE49-F238E27FC236}">
                <a16:creationId xmlns:a16="http://schemas.microsoft.com/office/drawing/2014/main" id="{513A5397-9352-EF76-A222-9B7EF3224C80}"/>
              </a:ext>
            </a:extLst>
          </p:cNvPr>
          <p:cNvSpPr/>
          <p:nvPr/>
        </p:nvSpPr>
        <p:spPr>
          <a:xfrm>
            <a:off x="0" y="0"/>
            <a:ext cx="381000" cy="6858000"/>
          </a:xfrm>
          <a:prstGeom prst="rect">
            <a:avLst/>
          </a:prstGeom>
          <a:solidFill>
            <a:srgbClr val="8C151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279375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8D29A3-9228-EFA1-7EA8-320A5E4CDD1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62B2899-CC6E-9662-436F-D08B922BA144}"/>
              </a:ext>
            </a:extLst>
          </p:cNvPr>
          <p:cNvSpPr>
            <a:spLocks noGrp="1"/>
          </p:cNvSpPr>
          <p:nvPr>
            <p:ph type="dt" sz="half" idx="10"/>
          </p:nvPr>
        </p:nvSpPr>
        <p:spPr/>
        <p:txBody>
          <a:bodyPr/>
          <a:lstStyle/>
          <a:p>
            <a:fld id="{7B1B529C-7AC4-498E-86D4-DC9A7DA9F898}" type="datetimeFigureOut">
              <a:rPr lang="en-US" smtClean="0"/>
              <a:t>11/24/25</a:t>
            </a:fld>
            <a:endParaRPr lang="en-US"/>
          </a:p>
        </p:txBody>
      </p:sp>
      <p:sp>
        <p:nvSpPr>
          <p:cNvPr id="4" name="Footer Placeholder 3">
            <a:extLst>
              <a:ext uri="{FF2B5EF4-FFF2-40B4-BE49-F238E27FC236}">
                <a16:creationId xmlns:a16="http://schemas.microsoft.com/office/drawing/2014/main" id="{2F09471A-67C3-CA58-574B-353065996BC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9098AAE-7DA0-24C8-EAFB-429398606A07}"/>
              </a:ext>
            </a:extLst>
          </p:cNvPr>
          <p:cNvSpPr>
            <a:spLocks noGrp="1"/>
          </p:cNvSpPr>
          <p:nvPr>
            <p:ph type="sldNum" sz="quarter" idx="12"/>
          </p:nvPr>
        </p:nvSpPr>
        <p:spPr/>
        <p:txBody>
          <a:bodyPr/>
          <a:lstStyle/>
          <a:p>
            <a:fld id="{9D4A35CC-C70A-4792-B171-5A9C7364B6D5}" type="slidenum">
              <a:rPr lang="en-US" smtClean="0"/>
              <a:t>‹#›</a:t>
            </a:fld>
            <a:endParaRPr lang="en-US"/>
          </a:p>
        </p:txBody>
      </p:sp>
      <p:sp>
        <p:nvSpPr>
          <p:cNvPr id="6" name="Rectangle 5">
            <a:extLst>
              <a:ext uri="{FF2B5EF4-FFF2-40B4-BE49-F238E27FC236}">
                <a16:creationId xmlns:a16="http://schemas.microsoft.com/office/drawing/2014/main" id="{BA67E615-E4D7-8DF7-AC05-9434E1BD634F}"/>
              </a:ext>
            </a:extLst>
          </p:cNvPr>
          <p:cNvSpPr/>
          <p:nvPr/>
        </p:nvSpPr>
        <p:spPr>
          <a:xfrm>
            <a:off x="0" y="0"/>
            <a:ext cx="381000" cy="6858000"/>
          </a:xfrm>
          <a:prstGeom prst="rect">
            <a:avLst/>
          </a:prstGeom>
          <a:solidFill>
            <a:srgbClr val="8C151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921474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2657AF7-9EDB-A1C4-8FE7-E0FEEE544BC3}"/>
              </a:ext>
            </a:extLst>
          </p:cNvPr>
          <p:cNvSpPr>
            <a:spLocks noGrp="1"/>
          </p:cNvSpPr>
          <p:nvPr>
            <p:ph type="dt" sz="half" idx="10"/>
          </p:nvPr>
        </p:nvSpPr>
        <p:spPr/>
        <p:txBody>
          <a:bodyPr/>
          <a:lstStyle/>
          <a:p>
            <a:fld id="{7B1B529C-7AC4-498E-86D4-DC9A7DA9F898}" type="datetimeFigureOut">
              <a:rPr lang="en-US" smtClean="0"/>
              <a:t>11/24/25</a:t>
            </a:fld>
            <a:endParaRPr lang="en-US"/>
          </a:p>
        </p:txBody>
      </p:sp>
      <p:sp>
        <p:nvSpPr>
          <p:cNvPr id="3" name="Footer Placeholder 2">
            <a:extLst>
              <a:ext uri="{FF2B5EF4-FFF2-40B4-BE49-F238E27FC236}">
                <a16:creationId xmlns:a16="http://schemas.microsoft.com/office/drawing/2014/main" id="{3EFB410C-9EC2-0283-7D97-C87FEBE2B39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00411A1-87A4-150F-6303-025F73278A83}"/>
              </a:ext>
            </a:extLst>
          </p:cNvPr>
          <p:cNvSpPr>
            <a:spLocks noGrp="1"/>
          </p:cNvSpPr>
          <p:nvPr>
            <p:ph type="sldNum" sz="quarter" idx="12"/>
          </p:nvPr>
        </p:nvSpPr>
        <p:spPr/>
        <p:txBody>
          <a:bodyPr/>
          <a:lstStyle/>
          <a:p>
            <a:fld id="{9D4A35CC-C70A-4792-B171-5A9C7364B6D5}" type="slidenum">
              <a:rPr lang="en-US" smtClean="0"/>
              <a:t>‹#›</a:t>
            </a:fld>
            <a:endParaRPr lang="en-US"/>
          </a:p>
        </p:txBody>
      </p:sp>
      <p:sp>
        <p:nvSpPr>
          <p:cNvPr id="5" name="Rectangle 4">
            <a:extLst>
              <a:ext uri="{FF2B5EF4-FFF2-40B4-BE49-F238E27FC236}">
                <a16:creationId xmlns:a16="http://schemas.microsoft.com/office/drawing/2014/main" id="{6BEC10DA-58DD-6058-72F5-37C7FA819707}"/>
              </a:ext>
            </a:extLst>
          </p:cNvPr>
          <p:cNvSpPr/>
          <p:nvPr/>
        </p:nvSpPr>
        <p:spPr>
          <a:xfrm>
            <a:off x="0" y="0"/>
            <a:ext cx="381000" cy="6858000"/>
          </a:xfrm>
          <a:prstGeom prst="rect">
            <a:avLst/>
          </a:prstGeom>
          <a:solidFill>
            <a:srgbClr val="8C151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817635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569521-1256-3807-0A09-73CF197D198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25A0C9A-E639-327E-EAE2-4C18EEFBB2B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C72BD3E-A8F9-C833-0D6E-E56DF294F7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727D350-5EB9-6E86-2F02-CACFB7A7E0DA}"/>
              </a:ext>
            </a:extLst>
          </p:cNvPr>
          <p:cNvSpPr>
            <a:spLocks noGrp="1"/>
          </p:cNvSpPr>
          <p:nvPr>
            <p:ph type="dt" sz="half" idx="10"/>
          </p:nvPr>
        </p:nvSpPr>
        <p:spPr/>
        <p:txBody>
          <a:bodyPr/>
          <a:lstStyle/>
          <a:p>
            <a:fld id="{7B1B529C-7AC4-498E-86D4-DC9A7DA9F898}" type="datetimeFigureOut">
              <a:rPr lang="en-US" smtClean="0"/>
              <a:t>11/24/25</a:t>
            </a:fld>
            <a:endParaRPr lang="en-US"/>
          </a:p>
        </p:txBody>
      </p:sp>
      <p:sp>
        <p:nvSpPr>
          <p:cNvPr id="6" name="Footer Placeholder 5">
            <a:extLst>
              <a:ext uri="{FF2B5EF4-FFF2-40B4-BE49-F238E27FC236}">
                <a16:creationId xmlns:a16="http://schemas.microsoft.com/office/drawing/2014/main" id="{56194B27-4321-6C96-5E6C-B4294A3A3FC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A878C75-416A-15DA-A2DC-37E0ECED7DB7}"/>
              </a:ext>
            </a:extLst>
          </p:cNvPr>
          <p:cNvSpPr>
            <a:spLocks noGrp="1"/>
          </p:cNvSpPr>
          <p:nvPr>
            <p:ph type="sldNum" sz="quarter" idx="12"/>
          </p:nvPr>
        </p:nvSpPr>
        <p:spPr/>
        <p:txBody>
          <a:bodyPr/>
          <a:lstStyle/>
          <a:p>
            <a:fld id="{9D4A35CC-C70A-4792-B171-5A9C7364B6D5}" type="slidenum">
              <a:rPr lang="en-US" smtClean="0"/>
              <a:t>‹#›</a:t>
            </a:fld>
            <a:endParaRPr lang="en-US"/>
          </a:p>
        </p:txBody>
      </p:sp>
      <p:sp>
        <p:nvSpPr>
          <p:cNvPr id="8" name="Rectangle 7">
            <a:extLst>
              <a:ext uri="{FF2B5EF4-FFF2-40B4-BE49-F238E27FC236}">
                <a16:creationId xmlns:a16="http://schemas.microsoft.com/office/drawing/2014/main" id="{4DD89290-EA5E-999A-9087-ED945E983F0D}"/>
              </a:ext>
            </a:extLst>
          </p:cNvPr>
          <p:cNvSpPr/>
          <p:nvPr/>
        </p:nvSpPr>
        <p:spPr>
          <a:xfrm>
            <a:off x="0" y="0"/>
            <a:ext cx="381000" cy="6858000"/>
          </a:xfrm>
          <a:prstGeom prst="rect">
            <a:avLst/>
          </a:prstGeom>
          <a:solidFill>
            <a:srgbClr val="8C151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688062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7BC17-AE68-BB5D-7E81-4CAFF8B6CBF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9C9BB58-A5B3-752C-C3CD-66BCD70B953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47F54B17-4878-2B1B-1EF4-2E2326955C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EC00598-743F-6934-3985-938F1E866A58}"/>
              </a:ext>
            </a:extLst>
          </p:cNvPr>
          <p:cNvSpPr>
            <a:spLocks noGrp="1"/>
          </p:cNvSpPr>
          <p:nvPr>
            <p:ph type="dt" sz="half" idx="10"/>
          </p:nvPr>
        </p:nvSpPr>
        <p:spPr/>
        <p:txBody>
          <a:bodyPr/>
          <a:lstStyle/>
          <a:p>
            <a:fld id="{7B1B529C-7AC4-498E-86D4-DC9A7DA9F898}" type="datetimeFigureOut">
              <a:rPr lang="en-US" smtClean="0"/>
              <a:t>11/24/25</a:t>
            </a:fld>
            <a:endParaRPr lang="en-US"/>
          </a:p>
        </p:txBody>
      </p:sp>
      <p:sp>
        <p:nvSpPr>
          <p:cNvPr id="6" name="Footer Placeholder 5">
            <a:extLst>
              <a:ext uri="{FF2B5EF4-FFF2-40B4-BE49-F238E27FC236}">
                <a16:creationId xmlns:a16="http://schemas.microsoft.com/office/drawing/2014/main" id="{A7D902F9-7383-6CE3-298B-4DB50315F4D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434894E-3991-6152-5957-002E7265C881}"/>
              </a:ext>
            </a:extLst>
          </p:cNvPr>
          <p:cNvSpPr>
            <a:spLocks noGrp="1"/>
          </p:cNvSpPr>
          <p:nvPr>
            <p:ph type="sldNum" sz="quarter" idx="12"/>
          </p:nvPr>
        </p:nvSpPr>
        <p:spPr/>
        <p:txBody>
          <a:bodyPr/>
          <a:lstStyle/>
          <a:p>
            <a:fld id="{9D4A35CC-C70A-4792-B171-5A9C7364B6D5}" type="slidenum">
              <a:rPr lang="en-US" smtClean="0"/>
              <a:t>‹#›</a:t>
            </a:fld>
            <a:endParaRPr lang="en-US"/>
          </a:p>
        </p:txBody>
      </p:sp>
      <p:sp>
        <p:nvSpPr>
          <p:cNvPr id="8" name="Rectangle 7">
            <a:extLst>
              <a:ext uri="{FF2B5EF4-FFF2-40B4-BE49-F238E27FC236}">
                <a16:creationId xmlns:a16="http://schemas.microsoft.com/office/drawing/2014/main" id="{66B84A78-F893-43A3-1D6F-4587823EF278}"/>
              </a:ext>
            </a:extLst>
          </p:cNvPr>
          <p:cNvSpPr/>
          <p:nvPr/>
        </p:nvSpPr>
        <p:spPr>
          <a:xfrm>
            <a:off x="0" y="0"/>
            <a:ext cx="381000" cy="6858000"/>
          </a:xfrm>
          <a:prstGeom prst="rect">
            <a:avLst/>
          </a:prstGeom>
          <a:solidFill>
            <a:srgbClr val="8C151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771473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9B4510-4B21-DC22-7420-9F84FC621D8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D119451-B586-AA05-D054-A9F1923CE2A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7E7FC57-6205-2A78-80A0-BB6AA1CF03C7}"/>
              </a:ext>
            </a:extLst>
          </p:cNvPr>
          <p:cNvSpPr>
            <a:spLocks noGrp="1"/>
          </p:cNvSpPr>
          <p:nvPr>
            <p:ph type="dt" sz="half" idx="10"/>
          </p:nvPr>
        </p:nvSpPr>
        <p:spPr/>
        <p:txBody>
          <a:bodyPr/>
          <a:lstStyle/>
          <a:p>
            <a:fld id="{7B1B529C-7AC4-498E-86D4-DC9A7DA9F898}" type="datetimeFigureOut">
              <a:rPr lang="en-US" smtClean="0"/>
              <a:t>11/24/25</a:t>
            </a:fld>
            <a:endParaRPr lang="en-US"/>
          </a:p>
        </p:txBody>
      </p:sp>
      <p:sp>
        <p:nvSpPr>
          <p:cNvPr id="5" name="Footer Placeholder 4">
            <a:extLst>
              <a:ext uri="{FF2B5EF4-FFF2-40B4-BE49-F238E27FC236}">
                <a16:creationId xmlns:a16="http://schemas.microsoft.com/office/drawing/2014/main" id="{A15B43F5-3769-91D9-F447-F3E44C42DA1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562A88-1673-2416-F5B7-E12A4BECBDC2}"/>
              </a:ext>
            </a:extLst>
          </p:cNvPr>
          <p:cNvSpPr>
            <a:spLocks noGrp="1"/>
          </p:cNvSpPr>
          <p:nvPr>
            <p:ph type="sldNum" sz="quarter" idx="12"/>
          </p:nvPr>
        </p:nvSpPr>
        <p:spPr/>
        <p:txBody>
          <a:bodyPr/>
          <a:lstStyle/>
          <a:p>
            <a:fld id="{9D4A35CC-C70A-4792-B171-5A9C7364B6D5}" type="slidenum">
              <a:rPr lang="en-US" smtClean="0"/>
              <a:t>‹#›</a:t>
            </a:fld>
            <a:endParaRPr lang="en-US"/>
          </a:p>
        </p:txBody>
      </p:sp>
      <p:sp>
        <p:nvSpPr>
          <p:cNvPr id="7" name="Rectangle 6">
            <a:extLst>
              <a:ext uri="{FF2B5EF4-FFF2-40B4-BE49-F238E27FC236}">
                <a16:creationId xmlns:a16="http://schemas.microsoft.com/office/drawing/2014/main" id="{6352AE72-8B3F-0851-5089-AC8CFF790B2F}"/>
              </a:ext>
            </a:extLst>
          </p:cNvPr>
          <p:cNvSpPr/>
          <p:nvPr/>
        </p:nvSpPr>
        <p:spPr>
          <a:xfrm>
            <a:off x="0" y="0"/>
            <a:ext cx="381000" cy="6858000"/>
          </a:xfrm>
          <a:prstGeom prst="rect">
            <a:avLst/>
          </a:prstGeom>
          <a:solidFill>
            <a:srgbClr val="8C151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379811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3E1EEFA-D7BD-F80C-2B4C-0AEDA101A1A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D3C1D9E-E814-5FED-9B2B-78D71AEBE4B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A157526-7469-C9F1-34C8-B1F790EC8CFB}"/>
              </a:ext>
            </a:extLst>
          </p:cNvPr>
          <p:cNvSpPr>
            <a:spLocks noGrp="1"/>
          </p:cNvSpPr>
          <p:nvPr>
            <p:ph type="dt" sz="half" idx="10"/>
          </p:nvPr>
        </p:nvSpPr>
        <p:spPr/>
        <p:txBody>
          <a:bodyPr/>
          <a:lstStyle/>
          <a:p>
            <a:fld id="{7B1B529C-7AC4-498E-86D4-DC9A7DA9F898}" type="datetimeFigureOut">
              <a:rPr lang="en-US" smtClean="0"/>
              <a:t>11/24/25</a:t>
            </a:fld>
            <a:endParaRPr lang="en-US"/>
          </a:p>
        </p:txBody>
      </p:sp>
      <p:sp>
        <p:nvSpPr>
          <p:cNvPr id="5" name="Footer Placeholder 4">
            <a:extLst>
              <a:ext uri="{FF2B5EF4-FFF2-40B4-BE49-F238E27FC236}">
                <a16:creationId xmlns:a16="http://schemas.microsoft.com/office/drawing/2014/main" id="{525ADFC0-7CC2-BF2F-F56F-571E62AE49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84DFF3-379F-BDBB-5CAB-16B1BC40BEB9}"/>
              </a:ext>
            </a:extLst>
          </p:cNvPr>
          <p:cNvSpPr>
            <a:spLocks noGrp="1"/>
          </p:cNvSpPr>
          <p:nvPr>
            <p:ph type="sldNum" sz="quarter" idx="12"/>
          </p:nvPr>
        </p:nvSpPr>
        <p:spPr/>
        <p:txBody>
          <a:bodyPr/>
          <a:lstStyle/>
          <a:p>
            <a:fld id="{9D4A35CC-C70A-4792-B171-5A9C7364B6D5}" type="slidenum">
              <a:rPr lang="en-US" smtClean="0"/>
              <a:t>‹#›</a:t>
            </a:fld>
            <a:endParaRPr lang="en-US"/>
          </a:p>
        </p:txBody>
      </p:sp>
      <p:sp>
        <p:nvSpPr>
          <p:cNvPr id="7" name="Rectangle 6">
            <a:extLst>
              <a:ext uri="{FF2B5EF4-FFF2-40B4-BE49-F238E27FC236}">
                <a16:creationId xmlns:a16="http://schemas.microsoft.com/office/drawing/2014/main" id="{185E4D9E-0F99-E18D-52A5-55D652C32935}"/>
              </a:ext>
            </a:extLst>
          </p:cNvPr>
          <p:cNvSpPr/>
          <p:nvPr/>
        </p:nvSpPr>
        <p:spPr>
          <a:xfrm>
            <a:off x="0" y="0"/>
            <a:ext cx="381000" cy="6858000"/>
          </a:xfrm>
          <a:prstGeom prst="rect">
            <a:avLst/>
          </a:prstGeom>
          <a:solidFill>
            <a:srgbClr val="8C151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588112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 name="Picture 8" descr="A close-up of a logo&#10;&#10;Description automatically generated">
            <a:extLst>
              <a:ext uri="{FF2B5EF4-FFF2-40B4-BE49-F238E27FC236}">
                <a16:creationId xmlns:a16="http://schemas.microsoft.com/office/drawing/2014/main" id="{45FD974E-6B30-074E-DCDA-B43A8313BDC9}"/>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0523705" y="6239790"/>
            <a:ext cx="1473924" cy="506170"/>
          </a:xfrm>
          <a:prstGeom prst="rect">
            <a:avLst/>
          </a:prstGeom>
        </p:spPr>
      </p:pic>
      <p:sp>
        <p:nvSpPr>
          <p:cNvPr id="2" name="Title Placeholder 1">
            <a:extLst>
              <a:ext uri="{FF2B5EF4-FFF2-40B4-BE49-F238E27FC236}">
                <a16:creationId xmlns:a16="http://schemas.microsoft.com/office/drawing/2014/main" id="{6770B608-161B-B8F7-D7A5-CED71D4B413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A8A0E45-27EC-856E-DA78-F5A5903CB69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9A56F89-8D60-6463-E4B5-485DB2E5698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B1B529C-7AC4-498E-86D4-DC9A7DA9F898}" type="datetimeFigureOut">
              <a:rPr lang="en-US" smtClean="0"/>
              <a:t>11/24/25</a:t>
            </a:fld>
            <a:endParaRPr lang="en-US"/>
          </a:p>
        </p:txBody>
      </p:sp>
      <p:sp>
        <p:nvSpPr>
          <p:cNvPr id="5" name="Footer Placeholder 4">
            <a:extLst>
              <a:ext uri="{FF2B5EF4-FFF2-40B4-BE49-F238E27FC236}">
                <a16:creationId xmlns:a16="http://schemas.microsoft.com/office/drawing/2014/main" id="{3AEDDFEF-E259-13F0-9373-3E1D0F6A242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4B544F3-851E-BC68-C039-63A94D3C5EB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D4A35CC-C70A-4792-B171-5A9C7364B6D5}" type="slidenum">
              <a:rPr lang="en-US" smtClean="0"/>
              <a:t>‹#›</a:t>
            </a:fld>
            <a:endParaRPr lang="en-US"/>
          </a:p>
        </p:txBody>
      </p:sp>
    </p:spTree>
    <p:extLst>
      <p:ext uri="{BB962C8B-B14F-4D97-AF65-F5344CB8AC3E}">
        <p14:creationId xmlns:p14="http://schemas.microsoft.com/office/powerpoint/2010/main" val="17735243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rgbClr val="8C1515"/>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211.png"/><Relationship Id="rId7"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xml"/><Relationship Id="rId1" Type="http://schemas.openxmlformats.org/officeDocument/2006/relationships/tags" Target="../tags/tag1.xml"/><Relationship Id="rId4" Type="http://schemas.openxmlformats.org/officeDocument/2006/relationships/image" Target="../media/image17.png"/></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21.png"/></Relationships>
</file>

<file path=ppt/slides/_rels/slide30.xml.rels><?xml version="1.0" encoding="UTF-8" standalone="yes"?>
<Relationships xmlns="http://schemas.openxmlformats.org/package/2006/relationships"><Relationship Id="rId3" Type="http://schemas.openxmlformats.org/officeDocument/2006/relationships/image" Target="../media/image1610.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xml"/><Relationship Id="rId1" Type="http://schemas.openxmlformats.org/officeDocument/2006/relationships/tags" Target="../tags/tag3.xml"/><Relationship Id="rId4" Type="http://schemas.openxmlformats.org/officeDocument/2006/relationships/image" Target="../media/image22.png"/></Relationships>
</file>

<file path=ppt/slides/_rels/slide33.xml.rels><?xml version="1.0" encoding="UTF-8" standalone="yes"?>
<Relationships xmlns="http://schemas.openxmlformats.org/package/2006/relationships"><Relationship Id="rId3" Type="http://schemas.openxmlformats.org/officeDocument/2006/relationships/image" Target="../media/image180.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190.png"/></Relationships>
</file>

<file path=ppt/slides/_rels/slide3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0.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220.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210.png"/></Relationships>
</file>

<file path=ppt/slides/_rels/slide37.xml.rels><?xml version="1.0" encoding="UTF-8" standalone="yes"?>
<Relationships xmlns="http://schemas.openxmlformats.org/package/2006/relationships"><Relationship Id="rId13" Type="http://schemas.openxmlformats.org/officeDocument/2006/relationships/image" Target="../media/image32.png"/><Relationship Id="rId18" Type="http://schemas.openxmlformats.org/officeDocument/2006/relationships/image" Target="../media/image42.png"/><Relationship Id="rId26" Type="http://schemas.openxmlformats.org/officeDocument/2006/relationships/image" Target="../media/image50.png"/><Relationship Id="rId3" Type="http://schemas.openxmlformats.org/officeDocument/2006/relationships/image" Target="../media/image230.png"/><Relationship Id="rId21" Type="http://schemas.openxmlformats.org/officeDocument/2006/relationships/image" Target="../media/image45.png"/><Relationship Id="rId34" Type="http://schemas.openxmlformats.org/officeDocument/2006/relationships/image" Target="../media/image58.png"/><Relationship Id="rId7" Type="http://schemas.openxmlformats.org/officeDocument/2006/relationships/image" Target="../media/image27.png"/><Relationship Id="rId12" Type="http://schemas.openxmlformats.org/officeDocument/2006/relationships/image" Target="../media/image31.png"/><Relationship Id="rId17" Type="http://schemas.openxmlformats.org/officeDocument/2006/relationships/image" Target="../media/image41.png"/><Relationship Id="rId25" Type="http://schemas.openxmlformats.org/officeDocument/2006/relationships/image" Target="../media/image49.png"/><Relationship Id="rId33" Type="http://schemas.openxmlformats.org/officeDocument/2006/relationships/image" Target="../media/image57.png"/><Relationship Id="rId2" Type="http://schemas.openxmlformats.org/officeDocument/2006/relationships/notesSlide" Target="../notesSlides/notesSlide33.xml"/><Relationship Id="rId16" Type="http://schemas.openxmlformats.org/officeDocument/2006/relationships/image" Target="../media/image40.png"/><Relationship Id="rId20" Type="http://schemas.openxmlformats.org/officeDocument/2006/relationships/image" Target="../media/image44.png"/><Relationship Id="rId29" Type="http://schemas.openxmlformats.org/officeDocument/2006/relationships/image" Target="../media/image53.png"/><Relationship Id="rId1" Type="http://schemas.openxmlformats.org/officeDocument/2006/relationships/slideLayout" Target="../slideLayouts/slideLayout2.xml"/><Relationship Id="rId6" Type="http://schemas.openxmlformats.org/officeDocument/2006/relationships/image" Target="../media/image26.png"/><Relationship Id="rId11" Type="http://schemas.openxmlformats.org/officeDocument/2006/relationships/image" Target="../media/image30.png"/><Relationship Id="rId24" Type="http://schemas.openxmlformats.org/officeDocument/2006/relationships/image" Target="../media/image48.png"/><Relationship Id="rId32" Type="http://schemas.openxmlformats.org/officeDocument/2006/relationships/image" Target="../media/image56.png"/><Relationship Id="rId37" Type="http://schemas.openxmlformats.org/officeDocument/2006/relationships/image" Target="../media/image33.png"/><Relationship Id="rId5" Type="http://schemas.openxmlformats.org/officeDocument/2006/relationships/image" Target="../media/image25.png"/><Relationship Id="rId15" Type="http://schemas.openxmlformats.org/officeDocument/2006/relationships/image" Target="../media/image39.png"/><Relationship Id="rId23" Type="http://schemas.openxmlformats.org/officeDocument/2006/relationships/image" Target="../media/image47.png"/><Relationship Id="rId28" Type="http://schemas.openxmlformats.org/officeDocument/2006/relationships/image" Target="../media/image52.png"/><Relationship Id="rId36" Type="http://schemas.openxmlformats.org/officeDocument/2006/relationships/image" Target="../media/image320.png"/><Relationship Id="rId10" Type="http://schemas.openxmlformats.org/officeDocument/2006/relationships/image" Target="../media/image29.png"/><Relationship Id="rId19" Type="http://schemas.openxmlformats.org/officeDocument/2006/relationships/image" Target="../media/image43.png"/><Relationship Id="rId31" Type="http://schemas.openxmlformats.org/officeDocument/2006/relationships/image" Target="../media/image55.png"/><Relationship Id="rId4" Type="http://schemas.openxmlformats.org/officeDocument/2006/relationships/image" Target="../media/image24.png"/><Relationship Id="rId9" Type="http://schemas.openxmlformats.org/officeDocument/2006/relationships/image" Target="../media/image6.png"/><Relationship Id="rId22" Type="http://schemas.openxmlformats.org/officeDocument/2006/relationships/image" Target="../media/image46.png"/><Relationship Id="rId27" Type="http://schemas.openxmlformats.org/officeDocument/2006/relationships/image" Target="../media/image51.png"/><Relationship Id="rId30" Type="http://schemas.openxmlformats.org/officeDocument/2006/relationships/image" Target="../media/image54.png"/><Relationship Id="rId35" Type="http://schemas.openxmlformats.org/officeDocument/2006/relationships/image" Target="../media/image59.png"/><Relationship Id="rId8" Type="http://schemas.openxmlformats.org/officeDocument/2006/relationships/image" Target="../media/image28.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xml"/><Relationship Id="rId1" Type="http://schemas.openxmlformats.org/officeDocument/2006/relationships/tags" Target="../tags/tag4.xml"/><Relationship Id="rId4" Type="http://schemas.openxmlformats.org/officeDocument/2006/relationships/image" Target="../media/image34.png"/></Relationships>
</file>

<file path=ppt/slides/_rels/slide39.xml.rels><?xml version="1.0" encoding="UTF-8" standalone="yes"?>
<Relationships xmlns="http://schemas.openxmlformats.org/package/2006/relationships"><Relationship Id="rId18" Type="http://schemas.openxmlformats.org/officeDocument/2006/relationships/image" Target="../media/image43.png"/><Relationship Id="rId26" Type="http://schemas.openxmlformats.org/officeDocument/2006/relationships/image" Target="../media/image51.png"/><Relationship Id="rId3" Type="http://schemas.openxmlformats.org/officeDocument/2006/relationships/image" Target="../media/image24.png"/><Relationship Id="rId21" Type="http://schemas.openxmlformats.org/officeDocument/2006/relationships/image" Target="../media/image46.png"/><Relationship Id="rId34" Type="http://schemas.openxmlformats.org/officeDocument/2006/relationships/image" Target="../media/image59.png"/><Relationship Id="rId7" Type="http://schemas.openxmlformats.org/officeDocument/2006/relationships/image" Target="../media/image28.png"/><Relationship Id="rId12" Type="http://schemas.openxmlformats.org/officeDocument/2006/relationships/image" Target="../media/image32.png"/><Relationship Id="rId17" Type="http://schemas.openxmlformats.org/officeDocument/2006/relationships/image" Target="../media/image42.png"/><Relationship Id="rId25" Type="http://schemas.openxmlformats.org/officeDocument/2006/relationships/image" Target="../media/image50.png"/><Relationship Id="rId33" Type="http://schemas.openxmlformats.org/officeDocument/2006/relationships/image" Target="../media/image58.png"/><Relationship Id="rId2" Type="http://schemas.openxmlformats.org/officeDocument/2006/relationships/notesSlide" Target="../notesSlides/notesSlide35.xml"/><Relationship Id="rId16" Type="http://schemas.openxmlformats.org/officeDocument/2006/relationships/image" Target="../media/image41.png"/><Relationship Id="rId20" Type="http://schemas.openxmlformats.org/officeDocument/2006/relationships/image" Target="../media/image45.png"/><Relationship Id="rId29" Type="http://schemas.openxmlformats.org/officeDocument/2006/relationships/image" Target="../media/image54.png"/><Relationship Id="rId1" Type="http://schemas.openxmlformats.org/officeDocument/2006/relationships/slideLayout" Target="../slideLayouts/slideLayout2.xml"/><Relationship Id="rId6" Type="http://schemas.openxmlformats.org/officeDocument/2006/relationships/image" Target="../media/image27.png"/><Relationship Id="rId11" Type="http://schemas.openxmlformats.org/officeDocument/2006/relationships/image" Target="../media/image31.png"/><Relationship Id="rId24" Type="http://schemas.openxmlformats.org/officeDocument/2006/relationships/image" Target="../media/image49.png"/><Relationship Id="rId32" Type="http://schemas.openxmlformats.org/officeDocument/2006/relationships/image" Target="../media/image57.png"/><Relationship Id="rId5" Type="http://schemas.openxmlformats.org/officeDocument/2006/relationships/image" Target="../media/image26.png"/><Relationship Id="rId15" Type="http://schemas.openxmlformats.org/officeDocument/2006/relationships/image" Target="../media/image40.png"/><Relationship Id="rId23" Type="http://schemas.openxmlformats.org/officeDocument/2006/relationships/image" Target="../media/image48.png"/><Relationship Id="rId28" Type="http://schemas.openxmlformats.org/officeDocument/2006/relationships/image" Target="../media/image53.png"/><Relationship Id="rId36" Type="http://schemas.openxmlformats.org/officeDocument/2006/relationships/image" Target="../media/image36.png"/><Relationship Id="rId10" Type="http://schemas.openxmlformats.org/officeDocument/2006/relationships/image" Target="../media/image30.png"/><Relationship Id="rId19" Type="http://schemas.openxmlformats.org/officeDocument/2006/relationships/image" Target="../media/image44.png"/><Relationship Id="rId31" Type="http://schemas.openxmlformats.org/officeDocument/2006/relationships/image" Target="../media/image56.png"/><Relationship Id="rId4" Type="http://schemas.openxmlformats.org/officeDocument/2006/relationships/image" Target="../media/image25.png"/><Relationship Id="rId9" Type="http://schemas.openxmlformats.org/officeDocument/2006/relationships/image" Target="../media/image29.png"/><Relationship Id="rId14" Type="http://schemas.openxmlformats.org/officeDocument/2006/relationships/image" Target="../media/image39.png"/><Relationship Id="rId22" Type="http://schemas.openxmlformats.org/officeDocument/2006/relationships/image" Target="../media/image47.png"/><Relationship Id="rId27" Type="http://schemas.openxmlformats.org/officeDocument/2006/relationships/image" Target="../media/image52.png"/><Relationship Id="rId30" Type="http://schemas.openxmlformats.org/officeDocument/2006/relationships/image" Target="../media/image55.png"/><Relationship Id="rId35" Type="http://schemas.openxmlformats.org/officeDocument/2006/relationships/image" Target="../media/image35.png"/><Relationship Id="rId8" Type="http://schemas.openxmlformats.org/officeDocument/2006/relationships/image" Target="../media/image6.png"/></Relationships>
</file>

<file path=ppt/slides/_rels/slide40.xml.rels><?xml version="1.0" encoding="UTF-8" standalone="yes"?>
<Relationships xmlns="http://schemas.openxmlformats.org/package/2006/relationships"><Relationship Id="rId8" Type="http://schemas.openxmlformats.org/officeDocument/2006/relationships/image" Target="../media/image85.png"/><Relationship Id="rId3" Type="http://schemas.microsoft.com/office/2018/10/relationships/comments" Target="../comments/modernComment_124_B827B81.xml"/><Relationship Id="rId7" Type="http://schemas.openxmlformats.org/officeDocument/2006/relationships/image" Target="../media/image84.png"/><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image" Target="../media/image83.png"/><Relationship Id="rId5" Type="http://schemas.openxmlformats.org/officeDocument/2006/relationships/image" Target="../media/image60.png"/><Relationship Id="rId4" Type="http://schemas.openxmlformats.org/officeDocument/2006/relationships/image" Target="../media/image38.png"/></Relationships>
</file>

<file path=ppt/slides/_rels/slide41.xml.rels><?xml version="1.0" encoding="UTF-8" standalone="yes"?>
<Relationships xmlns="http://schemas.openxmlformats.org/package/2006/relationships"><Relationship Id="rId8" Type="http://schemas.openxmlformats.org/officeDocument/2006/relationships/image" Target="../media/image85.png"/><Relationship Id="rId3" Type="http://schemas.openxmlformats.org/officeDocument/2006/relationships/image" Target="../media/image38.png"/><Relationship Id="rId7" Type="http://schemas.openxmlformats.org/officeDocument/2006/relationships/image" Target="../media/image88.png"/><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openxmlformats.org/officeDocument/2006/relationships/image" Target="../media/image87.png"/><Relationship Id="rId5" Type="http://schemas.openxmlformats.org/officeDocument/2006/relationships/image" Target="../media/image86.png"/><Relationship Id="rId4" Type="http://schemas.openxmlformats.org/officeDocument/2006/relationships/image" Target="../media/image60.png"/></Relationships>
</file>

<file path=ppt/slides/_rels/slide42.xml.rels><?xml version="1.0" encoding="UTF-8" standalone="yes"?>
<Relationships xmlns="http://schemas.openxmlformats.org/package/2006/relationships"><Relationship Id="rId8" Type="http://schemas.openxmlformats.org/officeDocument/2006/relationships/image" Target="../media/image91.png"/><Relationship Id="rId3" Type="http://schemas.openxmlformats.org/officeDocument/2006/relationships/image" Target="../media/image38.png"/><Relationship Id="rId7" Type="http://schemas.openxmlformats.org/officeDocument/2006/relationships/image" Target="../media/image90.png"/><Relationship Id="rId2" Type="http://schemas.openxmlformats.org/officeDocument/2006/relationships/notesSlide" Target="../notesSlides/notesSlide38.xml"/><Relationship Id="rId1" Type="http://schemas.openxmlformats.org/officeDocument/2006/relationships/slideLayout" Target="../slideLayouts/slideLayout2.xml"/><Relationship Id="rId6" Type="http://schemas.openxmlformats.org/officeDocument/2006/relationships/image" Target="../media/image87.png"/><Relationship Id="rId5" Type="http://schemas.openxmlformats.org/officeDocument/2006/relationships/image" Target="../media/image86.png"/><Relationship Id="rId4" Type="http://schemas.openxmlformats.org/officeDocument/2006/relationships/image" Target="../media/image89.png"/><Relationship Id="rId9" Type="http://schemas.openxmlformats.org/officeDocument/2006/relationships/image" Target="../media/image85.png"/></Relationships>
</file>

<file path=ppt/slides/_rels/slide43.xml.rels><?xml version="1.0" encoding="UTF-8" standalone="yes"?>
<Relationships xmlns="http://schemas.openxmlformats.org/package/2006/relationships"><Relationship Id="rId8" Type="http://schemas.openxmlformats.org/officeDocument/2006/relationships/image" Target="../media/image92.png"/><Relationship Id="rId3" Type="http://schemas.openxmlformats.org/officeDocument/2006/relationships/image" Target="../media/image38.png"/><Relationship Id="rId7" Type="http://schemas.openxmlformats.org/officeDocument/2006/relationships/image" Target="../media/image90.png"/><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image" Target="../media/image87.png"/><Relationship Id="rId11" Type="http://schemas.openxmlformats.org/officeDocument/2006/relationships/image" Target="../media/image94.png"/><Relationship Id="rId5" Type="http://schemas.openxmlformats.org/officeDocument/2006/relationships/image" Target="../media/image86.png"/><Relationship Id="rId10" Type="http://schemas.openxmlformats.org/officeDocument/2006/relationships/image" Target="../media/image93.png"/><Relationship Id="rId4" Type="http://schemas.openxmlformats.org/officeDocument/2006/relationships/image" Target="../media/image89.png"/><Relationship Id="rId9" Type="http://schemas.openxmlformats.org/officeDocument/2006/relationships/image" Target="../media/image85.png"/></Relationships>
</file>

<file path=ppt/slides/_rels/slide44.xml.rels><?xml version="1.0" encoding="UTF-8" standalone="yes"?>
<Relationships xmlns="http://schemas.openxmlformats.org/package/2006/relationships"><Relationship Id="rId8" Type="http://schemas.openxmlformats.org/officeDocument/2006/relationships/image" Target="../media/image95.png"/><Relationship Id="rId3" Type="http://schemas.openxmlformats.org/officeDocument/2006/relationships/image" Target="../media/image38.png"/><Relationship Id="rId7" Type="http://schemas.openxmlformats.org/officeDocument/2006/relationships/image" Target="../media/image90.png"/><Relationship Id="rId2" Type="http://schemas.openxmlformats.org/officeDocument/2006/relationships/notesSlide" Target="../notesSlides/notesSlide40.xml"/><Relationship Id="rId1" Type="http://schemas.openxmlformats.org/officeDocument/2006/relationships/slideLayout" Target="../slideLayouts/slideLayout2.xml"/><Relationship Id="rId6" Type="http://schemas.openxmlformats.org/officeDocument/2006/relationships/image" Target="../media/image87.png"/><Relationship Id="rId5" Type="http://schemas.openxmlformats.org/officeDocument/2006/relationships/image" Target="../media/image86.png"/><Relationship Id="rId10" Type="http://schemas.openxmlformats.org/officeDocument/2006/relationships/image" Target="../media/image96.png"/><Relationship Id="rId4" Type="http://schemas.openxmlformats.org/officeDocument/2006/relationships/image" Target="../media/image89.png"/><Relationship Id="rId9" Type="http://schemas.openxmlformats.org/officeDocument/2006/relationships/image" Target="../media/image85.png"/></Relationships>
</file>

<file path=ppt/slides/_rels/slide45.xml.rels><?xml version="1.0" encoding="UTF-8" standalone="yes"?>
<Relationships xmlns="http://schemas.openxmlformats.org/package/2006/relationships"><Relationship Id="rId8" Type="http://schemas.openxmlformats.org/officeDocument/2006/relationships/image" Target="../media/image95.png"/><Relationship Id="rId3" Type="http://schemas.openxmlformats.org/officeDocument/2006/relationships/image" Target="../media/image38.png"/><Relationship Id="rId7" Type="http://schemas.openxmlformats.org/officeDocument/2006/relationships/image" Target="../media/image90.png"/><Relationship Id="rId2" Type="http://schemas.openxmlformats.org/officeDocument/2006/relationships/notesSlide" Target="../notesSlides/notesSlide41.xml"/><Relationship Id="rId1" Type="http://schemas.openxmlformats.org/officeDocument/2006/relationships/slideLayout" Target="../slideLayouts/slideLayout2.xml"/><Relationship Id="rId6" Type="http://schemas.openxmlformats.org/officeDocument/2006/relationships/image" Target="../media/image87.png"/><Relationship Id="rId11" Type="http://schemas.openxmlformats.org/officeDocument/2006/relationships/image" Target="../media/image98.png"/><Relationship Id="rId5" Type="http://schemas.openxmlformats.org/officeDocument/2006/relationships/image" Target="../media/image86.png"/><Relationship Id="rId10" Type="http://schemas.openxmlformats.org/officeDocument/2006/relationships/image" Target="../media/image97.png"/><Relationship Id="rId4" Type="http://schemas.openxmlformats.org/officeDocument/2006/relationships/image" Target="../media/image89.png"/><Relationship Id="rId9" Type="http://schemas.openxmlformats.org/officeDocument/2006/relationships/image" Target="../media/image85.png"/></Relationships>
</file>

<file path=ppt/slides/_rels/slide46.xml.rels><?xml version="1.0" encoding="UTF-8" standalone="yes"?>
<Relationships xmlns="http://schemas.openxmlformats.org/package/2006/relationships"><Relationship Id="rId3" Type="http://schemas.openxmlformats.org/officeDocument/2006/relationships/image" Target="../media/image340.png"/><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47.xml.rels><?xml version="1.0" encoding="UTF-8" standalone="yes"?>
<Relationships xmlns="http://schemas.openxmlformats.org/package/2006/relationships"><Relationship Id="rId8" Type="http://schemas.openxmlformats.org/officeDocument/2006/relationships/image" Target="../media/image32.png"/><Relationship Id="rId13" Type="http://schemas.openxmlformats.org/officeDocument/2006/relationships/image" Target="../media/image890.png"/><Relationship Id="rId18" Type="http://schemas.openxmlformats.org/officeDocument/2006/relationships/image" Target="../media/image114.png"/><Relationship Id="rId3" Type="http://schemas.openxmlformats.org/officeDocument/2006/relationships/image" Target="../media/image100.png"/><Relationship Id="rId21" Type="http://schemas.openxmlformats.org/officeDocument/2006/relationships/image" Target="../media/image26.png"/><Relationship Id="rId7" Type="http://schemas.openxmlformats.org/officeDocument/2006/relationships/image" Target="../media/image31.png"/><Relationship Id="rId12" Type="http://schemas.openxmlformats.org/officeDocument/2006/relationships/image" Target="../media/image880.png"/><Relationship Id="rId17" Type="http://schemas.openxmlformats.org/officeDocument/2006/relationships/image" Target="../media/image930.png"/><Relationship Id="rId2" Type="http://schemas.openxmlformats.org/officeDocument/2006/relationships/notesSlide" Target="../notesSlides/notesSlide43.xml"/><Relationship Id="rId16" Type="http://schemas.openxmlformats.org/officeDocument/2006/relationships/image" Target="../media/image113.png"/><Relationship Id="rId20" Type="http://schemas.openxmlformats.org/officeDocument/2006/relationships/image" Target="../media/image960.png"/><Relationship Id="rId1" Type="http://schemas.openxmlformats.org/officeDocument/2006/relationships/slideLayout" Target="../slideLayouts/slideLayout2.xml"/><Relationship Id="rId6" Type="http://schemas.openxmlformats.org/officeDocument/2006/relationships/image" Target="../media/image30.png"/><Relationship Id="rId11" Type="http://schemas.openxmlformats.org/officeDocument/2006/relationships/image" Target="../media/image870.png"/><Relationship Id="rId5" Type="http://schemas.openxmlformats.org/officeDocument/2006/relationships/image" Target="../media/image29.png"/><Relationship Id="rId15" Type="http://schemas.openxmlformats.org/officeDocument/2006/relationships/image" Target="../media/image112.png"/><Relationship Id="rId23" Type="http://schemas.openxmlformats.org/officeDocument/2006/relationships/image" Target="../media/image61.png"/><Relationship Id="rId10" Type="http://schemas.openxmlformats.org/officeDocument/2006/relationships/image" Target="../media/image860.png"/><Relationship Id="rId19" Type="http://schemas.openxmlformats.org/officeDocument/2006/relationships/image" Target="../media/image950.png"/><Relationship Id="rId4" Type="http://schemas.openxmlformats.org/officeDocument/2006/relationships/image" Target="../media/image24.png"/><Relationship Id="rId9" Type="http://schemas.openxmlformats.org/officeDocument/2006/relationships/image" Target="../media/image850.png"/><Relationship Id="rId14" Type="http://schemas.openxmlformats.org/officeDocument/2006/relationships/image" Target="../media/image900.png"/><Relationship Id="rId22" Type="http://schemas.openxmlformats.org/officeDocument/2006/relationships/image" Target="../media/image28.png"/></Relationships>
</file>

<file path=ppt/slides/_rels/slide48.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44.xml"/><Relationship Id="rId1" Type="http://schemas.openxmlformats.org/officeDocument/2006/relationships/slideLayout" Target="../slideLayouts/slideLayout2.xml"/><Relationship Id="rId5" Type="http://schemas.openxmlformats.org/officeDocument/2006/relationships/image" Target="../media/image104.png"/><Relationship Id="rId4" Type="http://schemas.openxmlformats.org/officeDocument/2006/relationships/image" Target="../media/image103.png"/></Relationships>
</file>

<file path=ppt/slides/_rels/slide49.xml.rels><?xml version="1.0" encoding="UTF-8" standalone="yes"?>
<Relationships xmlns="http://schemas.openxmlformats.org/package/2006/relationships"><Relationship Id="rId8" Type="http://schemas.openxmlformats.org/officeDocument/2006/relationships/image" Target="../media/image104.png"/><Relationship Id="rId3" Type="http://schemas.openxmlformats.org/officeDocument/2006/relationships/image" Target="../media/image62.png"/><Relationship Id="rId7" Type="http://schemas.openxmlformats.org/officeDocument/2006/relationships/image" Target="../media/image103.png"/><Relationship Id="rId2" Type="http://schemas.openxmlformats.org/officeDocument/2006/relationships/notesSlide" Target="../notesSlides/notesSlide45.xml"/><Relationship Id="rId1" Type="http://schemas.openxmlformats.org/officeDocument/2006/relationships/slideLayout" Target="../slideLayouts/slideLayout2.xml"/><Relationship Id="rId6" Type="http://schemas.openxmlformats.org/officeDocument/2006/relationships/image" Target="../media/image102.png"/><Relationship Id="rId5" Type="http://schemas.openxmlformats.org/officeDocument/2006/relationships/image" Target="../media/image64.png"/><Relationship Id="rId4" Type="http://schemas.openxmlformats.org/officeDocument/2006/relationships/image" Target="../media/image63.png"/></Relationships>
</file>

<file path=ppt/slides/_rels/slide50.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165.png"/><Relationship Id="rId7" Type="http://schemas.openxmlformats.org/officeDocument/2006/relationships/image" Target="../media/image26.png"/><Relationship Id="rId2" Type="http://schemas.openxmlformats.org/officeDocument/2006/relationships/notesSlide" Target="../notesSlides/notesSlide48.xml"/><Relationship Id="rId1" Type="http://schemas.openxmlformats.org/officeDocument/2006/relationships/slideLayout" Target="../slideLayouts/slideLayout2.xml"/><Relationship Id="rId6" Type="http://schemas.openxmlformats.org/officeDocument/2006/relationships/image" Target="../media/image25.png"/><Relationship Id="rId11" Type="http://schemas.openxmlformats.org/officeDocument/2006/relationships/image" Target="../media/image28.png"/><Relationship Id="rId5" Type="http://schemas.openxmlformats.org/officeDocument/2006/relationships/image" Target="../media/image69.png"/><Relationship Id="rId10" Type="http://schemas.openxmlformats.org/officeDocument/2006/relationships/image" Target="../media/image6.png"/><Relationship Id="rId4" Type="http://schemas.openxmlformats.org/officeDocument/2006/relationships/image" Target="../media/image680.png"/><Relationship Id="rId9" Type="http://schemas.openxmlformats.org/officeDocument/2006/relationships/image" Target="../media/image24.png"/></Relationships>
</file>

<file path=ppt/slides/_rels/slide53.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116.png"/><Relationship Id="rId7" Type="http://schemas.openxmlformats.org/officeDocument/2006/relationships/image" Target="../media/image6.png"/><Relationship Id="rId2" Type="http://schemas.openxmlformats.org/officeDocument/2006/relationships/notesSlide" Target="../notesSlides/notesSlide49.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71.png"/><Relationship Id="rId4" Type="http://schemas.openxmlformats.org/officeDocument/2006/relationships/image" Target="../media/image70.png"/><Relationship Id="rId9" Type="http://schemas.openxmlformats.org/officeDocument/2006/relationships/image" Target="../media/image28.png"/></Relationships>
</file>

<file path=ppt/slides/_rels/slide54.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31.png"/><Relationship Id="rId2" Type="http://schemas.openxmlformats.org/officeDocument/2006/relationships/notesSlide" Target="../notesSlides/notesSlide52.xml"/><Relationship Id="rId1" Type="http://schemas.openxmlformats.org/officeDocument/2006/relationships/slideLayout" Target="../slideLayouts/slideLayout2.xml"/><Relationship Id="rId5" Type="http://schemas.openxmlformats.org/officeDocument/2006/relationships/image" Target="../media/image133.png"/><Relationship Id="rId4" Type="http://schemas.openxmlformats.org/officeDocument/2006/relationships/image" Target="../media/image132.png"/></Relationships>
</file>

<file path=ppt/slides/_rels/slide57.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notesSlide" Target="../notesSlides/notesSlide53.xml"/><Relationship Id="rId1" Type="http://schemas.openxmlformats.org/officeDocument/2006/relationships/slideLayout" Target="../slideLayouts/slideLayout2.xml"/><Relationship Id="rId4" Type="http://schemas.openxmlformats.org/officeDocument/2006/relationships/image" Target="../media/image120.png"/></Relationships>
</file>

<file path=ppt/slides/_rels/slide58.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notesSlide" Target="../notesSlides/notesSlide54.xml"/><Relationship Id="rId1" Type="http://schemas.openxmlformats.org/officeDocument/2006/relationships/slideLayout" Target="../slideLayouts/slideLayout2.xml"/><Relationship Id="rId4" Type="http://schemas.openxmlformats.org/officeDocument/2006/relationships/image" Target="../media/image61.png"/></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56.xml"/><Relationship Id="rId1" Type="http://schemas.openxmlformats.org/officeDocument/2006/relationships/slideLayout" Target="../slideLayouts/slideLayout2.xml"/><Relationship Id="rId4" Type="http://schemas.openxmlformats.org/officeDocument/2006/relationships/image" Target="../media/image61.png"/></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9.xml"/><Relationship Id="rId1" Type="http://schemas.openxmlformats.org/officeDocument/2006/relationships/slideLayout" Target="../slideLayouts/slideLayout2.xml"/><Relationship Id="rId4" Type="http://schemas.openxmlformats.org/officeDocument/2006/relationships/image" Target="../media/image73.png"/></Relationships>
</file>

<file path=ppt/slides/_rels/slide6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60.xml"/><Relationship Id="rId1" Type="http://schemas.openxmlformats.org/officeDocument/2006/relationships/slideLayout" Target="../slideLayouts/slideLayout2.xml"/><Relationship Id="rId4" Type="http://schemas.openxmlformats.org/officeDocument/2006/relationships/image" Target="../media/image74.png"/></Relationships>
</file>

<file path=ppt/slides/_rels/slide6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61.xml"/><Relationship Id="rId1" Type="http://schemas.openxmlformats.org/officeDocument/2006/relationships/slideLayout" Target="../slideLayouts/slideLayout2.xml"/><Relationship Id="rId4" Type="http://schemas.openxmlformats.org/officeDocument/2006/relationships/image" Target="../media/image75.png"/></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3" Type="http://schemas.openxmlformats.org/officeDocument/2006/relationships/image" Target="../media/image750.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66.xml"/><Relationship Id="rId1" Type="http://schemas.openxmlformats.org/officeDocument/2006/relationships/slideLayout" Target="../slideLayouts/slideLayout2.xml"/><Relationship Id="rId4" Type="http://schemas.openxmlformats.org/officeDocument/2006/relationships/image" Target="../media/image7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708B60-AF76-988F-307C-679C45C58231}"/>
              </a:ext>
            </a:extLst>
          </p:cNvPr>
          <p:cNvSpPr>
            <a:spLocks noGrp="1"/>
          </p:cNvSpPr>
          <p:nvPr>
            <p:ph type="ctrTitle"/>
          </p:nvPr>
        </p:nvSpPr>
        <p:spPr/>
        <p:txBody>
          <a:bodyPr/>
          <a:lstStyle/>
          <a:p>
            <a:r>
              <a:rPr lang="en-US" dirty="0"/>
              <a:t>The Magic of Randomized Control Trials</a:t>
            </a:r>
          </a:p>
        </p:txBody>
      </p:sp>
      <p:sp>
        <p:nvSpPr>
          <p:cNvPr id="3" name="Subtitle 2">
            <a:extLst>
              <a:ext uri="{FF2B5EF4-FFF2-40B4-BE49-F238E27FC236}">
                <a16:creationId xmlns:a16="http://schemas.microsoft.com/office/drawing/2014/main" id="{063FA019-B503-E8F9-7390-F4AD3B0CB6BC}"/>
              </a:ext>
            </a:extLst>
          </p:cNvPr>
          <p:cNvSpPr>
            <a:spLocks noGrp="1"/>
          </p:cNvSpPr>
          <p:nvPr>
            <p:ph type="subTitle" idx="1"/>
          </p:nvPr>
        </p:nvSpPr>
        <p:spPr/>
        <p:txBody>
          <a:bodyPr/>
          <a:lstStyle/>
          <a:p>
            <a:r>
              <a:rPr lang="en-US" dirty="0"/>
              <a:t>Causality, Decision Making, and Data Science</a:t>
            </a:r>
          </a:p>
          <a:p>
            <a:r>
              <a:rPr lang="en-US" dirty="0"/>
              <a:t>Lecture 3</a:t>
            </a:r>
          </a:p>
        </p:txBody>
      </p:sp>
    </p:spTree>
    <p:extLst>
      <p:ext uri="{BB962C8B-B14F-4D97-AF65-F5344CB8AC3E}">
        <p14:creationId xmlns:p14="http://schemas.microsoft.com/office/powerpoint/2010/main" val="19612013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DC8DFD-5363-3237-5FD0-4ED7AE32491E}"/>
              </a:ext>
            </a:extLst>
          </p:cNvPr>
          <p:cNvSpPr>
            <a:spLocks noGrp="1"/>
          </p:cNvSpPr>
          <p:nvPr>
            <p:ph type="title"/>
          </p:nvPr>
        </p:nvSpPr>
        <p:spPr/>
        <p:txBody>
          <a:bodyPr/>
          <a:lstStyle/>
          <a:p>
            <a:r>
              <a:rPr lang="en-US" dirty="0"/>
              <a:t>Announcements</a:t>
            </a:r>
          </a:p>
        </p:txBody>
      </p:sp>
      <p:sp>
        <p:nvSpPr>
          <p:cNvPr id="3" name="Content Placeholder 2">
            <a:extLst>
              <a:ext uri="{FF2B5EF4-FFF2-40B4-BE49-F238E27FC236}">
                <a16:creationId xmlns:a16="http://schemas.microsoft.com/office/drawing/2014/main" id="{82AC866F-6FB4-463F-5EC6-7C8F1E617E0F}"/>
              </a:ext>
            </a:extLst>
          </p:cNvPr>
          <p:cNvSpPr>
            <a:spLocks noGrp="1"/>
          </p:cNvSpPr>
          <p:nvPr>
            <p:ph idx="1"/>
          </p:nvPr>
        </p:nvSpPr>
        <p:spPr/>
        <p:txBody>
          <a:bodyPr/>
          <a:lstStyle/>
          <a:p>
            <a:r>
              <a:rPr lang="en-US" dirty="0"/>
              <a:t>Part 1 of HW1 is due on Monday Oct 6, 11:59pm</a:t>
            </a:r>
          </a:p>
          <a:p>
            <a:r>
              <a:rPr lang="en-US" dirty="0"/>
              <a:t>Part 2 is HW1 due on Monday Oct 13, 11:59pm</a:t>
            </a:r>
          </a:p>
          <a:p>
            <a:pPr marL="0" indent="0">
              <a:buNone/>
            </a:pPr>
            <a:endParaRPr lang="en-US" dirty="0"/>
          </a:p>
          <a:p>
            <a:r>
              <a:rPr lang="en-US" sz="2800" dirty="0">
                <a:latin typeface="Arial" panose="020B0604020202020204" pitchFamily="34" charset="0"/>
                <a:cs typeface="Arial" panose="020B0604020202020204" pitchFamily="34" charset="0"/>
              </a:rPr>
              <a:t>Don’t forget to fill out the exit ticket before you leave class!</a:t>
            </a:r>
          </a:p>
          <a:p>
            <a:endParaRPr lang="en-US" dirty="0"/>
          </a:p>
          <a:p>
            <a:endParaRPr lang="en-US" dirty="0"/>
          </a:p>
        </p:txBody>
      </p:sp>
    </p:spTree>
    <p:extLst>
      <p:ext uri="{BB962C8B-B14F-4D97-AF65-F5344CB8AC3E}">
        <p14:creationId xmlns:p14="http://schemas.microsoft.com/office/powerpoint/2010/main" val="37129897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E6D230-492D-8DB5-59EC-08A1BA8F0F75}"/>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C643E5DF-2623-F030-9018-CA4D8885BA23}"/>
              </a:ext>
            </a:extLst>
          </p:cNvPr>
          <p:cNvSpPr>
            <a:spLocks noGrp="1"/>
          </p:cNvSpPr>
          <p:nvPr>
            <p:ph idx="1"/>
          </p:nvPr>
        </p:nvSpPr>
        <p:spPr/>
        <p:txBody>
          <a:bodyPr/>
          <a:lstStyle/>
          <a:p>
            <a:pPr marL="514350" indent="-514350">
              <a:buFont typeface="+mj-lt"/>
              <a:buAutoNum type="arabicPeriod"/>
            </a:pPr>
            <a:r>
              <a:rPr lang="en-US" dirty="0"/>
              <a:t>Quick Recap</a:t>
            </a:r>
          </a:p>
          <a:p>
            <a:pPr marL="514350" indent="-514350">
              <a:buFont typeface="+mj-lt"/>
              <a:buAutoNum type="arabicPeriod"/>
            </a:pPr>
            <a:r>
              <a:rPr lang="en-US" dirty="0"/>
              <a:t>The Magic of Randomized Control Trials (RCTs) </a:t>
            </a:r>
          </a:p>
          <a:p>
            <a:pPr marL="514350" indent="-514350">
              <a:buFont typeface="+mj-lt"/>
              <a:buAutoNum type="arabicPeriod"/>
            </a:pPr>
            <a:r>
              <a:rPr lang="en-US" dirty="0"/>
              <a:t>Example: Laptops in classrooms</a:t>
            </a:r>
          </a:p>
          <a:p>
            <a:pPr marL="514350" indent="-514350">
              <a:buFont typeface="+mj-lt"/>
              <a:buAutoNum type="arabicPeriod"/>
            </a:pPr>
            <a:r>
              <a:rPr lang="en-US" dirty="0"/>
              <a:t>Analyzing RCTs</a:t>
            </a:r>
          </a:p>
        </p:txBody>
      </p:sp>
    </p:spTree>
    <p:extLst>
      <p:ext uri="{BB962C8B-B14F-4D97-AF65-F5344CB8AC3E}">
        <p14:creationId xmlns:p14="http://schemas.microsoft.com/office/powerpoint/2010/main" val="25504521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9E3736-D7E2-D219-5DD2-8F2D216EE7D6}"/>
              </a:ext>
            </a:extLst>
          </p:cNvPr>
          <p:cNvSpPr>
            <a:spLocks noGrp="1"/>
          </p:cNvSpPr>
          <p:nvPr>
            <p:ph type="title"/>
          </p:nvPr>
        </p:nvSpPr>
        <p:spPr/>
        <p:txBody>
          <a:bodyPr/>
          <a:lstStyle/>
          <a:p>
            <a:r>
              <a:rPr lang="en-US" dirty="0"/>
              <a:t>Quick Recap!</a:t>
            </a:r>
          </a:p>
        </p:txBody>
      </p:sp>
      <p:sp>
        <p:nvSpPr>
          <p:cNvPr id="3" name="Text Placeholder 2">
            <a:extLst>
              <a:ext uri="{FF2B5EF4-FFF2-40B4-BE49-F238E27FC236}">
                <a16:creationId xmlns:a16="http://schemas.microsoft.com/office/drawing/2014/main" id="{6A8A872D-E166-3318-0796-289FDAE28E40}"/>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4309925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6FB7D8-F31C-7497-6BEB-6E59AAFE95A7}"/>
              </a:ext>
            </a:extLst>
          </p:cNvPr>
          <p:cNvSpPr>
            <a:spLocks noGrp="1"/>
          </p:cNvSpPr>
          <p:nvPr>
            <p:ph type="title"/>
          </p:nvPr>
        </p:nvSpPr>
        <p:spPr/>
        <p:txBody>
          <a:bodyPr/>
          <a:lstStyle/>
          <a:p>
            <a:r>
              <a:rPr lang="en-US" dirty="0"/>
              <a:t>Recap from last time</a:t>
            </a:r>
          </a:p>
        </p:txBody>
      </p:sp>
      <p:sp>
        <p:nvSpPr>
          <p:cNvPr id="3" name="Content Placeholder 2">
            <a:extLst>
              <a:ext uri="{FF2B5EF4-FFF2-40B4-BE49-F238E27FC236}">
                <a16:creationId xmlns:a16="http://schemas.microsoft.com/office/drawing/2014/main" id="{8BD5F6DE-5E20-90C0-2E0F-628A6C3FA032}"/>
              </a:ext>
            </a:extLst>
          </p:cNvPr>
          <p:cNvSpPr>
            <a:spLocks noGrp="1"/>
          </p:cNvSpPr>
          <p:nvPr>
            <p:ph idx="1"/>
          </p:nvPr>
        </p:nvSpPr>
        <p:spPr>
          <a:xfrm>
            <a:off x="838200" y="1825625"/>
            <a:ext cx="5084135" cy="917575"/>
          </a:xfrm>
        </p:spPr>
        <p:txBody>
          <a:bodyPr>
            <a:noAutofit/>
          </a:bodyPr>
          <a:lstStyle/>
          <a:p>
            <a:r>
              <a:rPr lang="en-US" sz="2600" b="1" dirty="0"/>
              <a:t>What we want: </a:t>
            </a:r>
            <a:r>
              <a:rPr lang="en-US" sz="2600" dirty="0"/>
              <a:t>Average Treatment Effect (ATE) ``causal’’</a:t>
            </a:r>
          </a:p>
        </p:txBody>
      </p:sp>
      <p:sp>
        <p:nvSpPr>
          <p:cNvPr id="4" name="Content Placeholder 2">
            <a:extLst>
              <a:ext uri="{FF2B5EF4-FFF2-40B4-BE49-F238E27FC236}">
                <a16:creationId xmlns:a16="http://schemas.microsoft.com/office/drawing/2014/main" id="{54EAC878-2AE8-ECD7-FA40-7E4B10777360}"/>
              </a:ext>
            </a:extLst>
          </p:cNvPr>
          <p:cNvSpPr txBox="1">
            <a:spLocks/>
          </p:cNvSpPr>
          <p:nvPr/>
        </p:nvSpPr>
        <p:spPr>
          <a:xfrm>
            <a:off x="6551428" y="1825625"/>
            <a:ext cx="5084135" cy="1069002"/>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t>What we have: </a:t>
            </a:r>
            <a:r>
              <a:rPr lang="en-US" dirty="0"/>
              <a:t>Observational Comparison ``correlation’’</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021D0F18-C75A-0469-91B5-9EBC602C1D13}"/>
                  </a:ext>
                </a:extLst>
              </p:cNvPr>
              <p:cNvSpPr txBox="1"/>
              <p:nvPr/>
            </p:nvSpPr>
            <p:spPr>
              <a:xfrm>
                <a:off x="1653170" y="3094724"/>
                <a:ext cx="3145541" cy="1211550"/>
              </a:xfrm>
              <a:prstGeom prst="rect">
                <a:avLst/>
              </a:prstGeom>
              <a:noFill/>
            </p:spPr>
            <p:txBody>
              <a:bodyPr wrap="none" lIns="0" tIns="0" rIns="0" bIns="0" rtlCol="0">
                <a:spAutoFit/>
              </a:bodyPr>
              <a:lstStyle/>
              <a:p>
                <a:pPr algn="r"/>
                <a14:m>
                  <m:oMathPara xmlns:m="http://schemas.openxmlformats.org/officeDocument/2006/math">
                    <m:oMathParaPr>
                      <m:jc m:val="left"/>
                    </m:oMathParaPr>
                    <m:oMath xmlns:m="http://schemas.openxmlformats.org/officeDocument/2006/math">
                      <m:f>
                        <m:fPr>
                          <m:ctrlPr>
                            <a:rPr lang="en-US" sz="2800" i="1" smtClean="0">
                              <a:solidFill>
                                <a:schemeClr val="accent1"/>
                              </a:solidFill>
                              <a:latin typeface="Cambria Math" panose="02040503050406030204" pitchFamily="18" charset="0"/>
                            </a:rPr>
                          </m:ctrlPr>
                        </m:fPr>
                        <m:num>
                          <m:r>
                            <a:rPr lang="en-US" sz="2800" i="1">
                              <a:solidFill>
                                <a:schemeClr val="accent1"/>
                              </a:solidFill>
                              <a:latin typeface="Cambria Math" panose="02040503050406030204" pitchFamily="18" charset="0"/>
                            </a:rPr>
                            <m:t>1</m:t>
                          </m:r>
                        </m:num>
                        <m:den>
                          <m:r>
                            <a:rPr lang="en-US" sz="2800" i="1">
                              <a:solidFill>
                                <a:schemeClr val="accent1"/>
                              </a:solidFill>
                              <a:latin typeface="Cambria Math" panose="02040503050406030204" pitchFamily="18" charset="0"/>
                            </a:rPr>
                            <m:t>𝑁</m:t>
                          </m:r>
                        </m:den>
                      </m:f>
                      <m:nary>
                        <m:naryPr>
                          <m:chr m:val="∑"/>
                          <m:ctrlPr>
                            <a:rPr lang="en-US" sz="2800" i="1">
                              <a:solidFill>
                                <a:schemeClr val="accent1"/>
                              </a:solidFill>
                              <a:latin typeface="Cambria Math" panose="02040503050406030204" pitchFamily="18" charset="0"/>
                            </a:rPr>
                          </m:ctrlPr>
                        </m:naryPr>
                        <m:sub>
                          <m:r>
                            <m:rPr>
                              <m:brk m:alnAt="23"/>
                            </m:rPr>
                            <a:rPr lang="en-US" sz="2800" i="1">
                              <a:solidFill>
                                <a:schemeClr val="accent1"/>
                              </a:solidFill>
                              <a:latin typeface="Cambria Math" panose="02040503050406030204" pitchFamily="18" charset="0"/>
                            </a:rPr>
                            <m:t>𝑖</m:t>
                          </m:r>
                          <m:r>
                            <a:rPr lang="en-US" sz="2800" i="1">
                              <a:solidFill>
                                <a:schemeClr val="accent1"/>
                              </a:solidFill>
                              <a:latin typeface="Cambria Math" panose="02040503050406030204" pitchFamily="18" charset="0"/>
                            </a:rPr>
                            <m:t>=1</m:t>
                          </m:r>
                        </m:sub>
                        <m:sup>
                          <m:r>
                            <a:rPr lang="en-US" sz="2800" i="1">
                              <a:solidFill>
                                <a:schemeClr val="accent1"/>
                              </a:solidFill>
                              <a:latin typeface="Cambria Math" panose="02040503050406030204" pitchFamily="18" charset="0"/>
                            </a:rPr>
                            <m:t>𝑁</m:t>
                          </m:r>
                        </m:sup>
                        <m:e>
                          <m:d>
                            <m:dPr>
                              <m:ctrlPr>
                                <a:rPr lang="en-US" sz="2800" i="1">
                                  <a:solidFill>
                                    <a:schemeClr val="accent1"/>
                                  </a:solidFill>
                                  <a:latin typeface="Cambria Math" panose="02040503050406030204" pitchFamily="18" charset="0"/>
                                </a:rPr>
                              </m:ctrlPr>
                            </m:dPr>
                            <m:e>
                              <m:sSub>
                                <m:sSubPr>
                                  <m:ctrlPr>
                                    <a:rPr lang="en-US" sz="2800" i="1">
                                      <a:solidFill>
                                        <a:schemeClr val="accent1"/>
                                      </a:solidFill>
                                      <a:latin typeface="Cambria Math" panose="02040503050406030204" pitchFamily="18" charset="0"/>
                                    </a:rPr>
                                  </m:ctrlPr>
                                </m:sSubPr>
                                <m:e>
                                  <m:r>
                                    <a:rPr lang="en-US" sz="2800" i="1">
                                      <a:solidFill>
                                        <a:schemeClr val="accent1"/>
                                      </a:solidFill>
                                      <a:latin typeface="Cambria Math" panose="02040503050406030204" pitchFamily="18" charset="0"/>
                                    </a:rPr>
                                    <m:t>𝑌</m:t>
                                  </m:r>
                                </m:e>
                                <m:sub>
                                  <m:r>
                                    <a:rPr lang="en-US" sz="2800" i="1">
                                      <a:solidFill>
                                        <a:schemeClr val="accent1"/>
                                      </a:solidFill>
                                      <a:latin typeface="Cambria Math" panose="02040503050406030204" pitchFamily="18" charset="0"/>
                                    </a:rPr>
                                    <m:t>𝑖</m:t>
                                  </m:r>
                                </m:sub>
                              </m:sSub>
                              <m:d>
                                <m:dPr>
                                  <m:ctrlPr>
                                    <a:rPr lang="en-US" sz="2800" i="1">
                                      <a:solidFill>
                                        <a:schemeClr val="accent1"/>
                                      </a:solidFill>
                                      <a:latin typeface="Cambria Math" panose="02040503050406030204" pitchFamily="18" charset="0"/>
                                    </a:rPr>
                                  </m:ctrlPr>
                                </m:dPr>
                                <m:e>
                                  <m:r>
                                    <a:rPr lang="en-US" sz="2800" i="1">
                                      <a:solidFill>
                                        <a:schemeClr val="accent1"/>
                                      </a:solidFill>
                                      <a:latin typeface="Cambria Math" panose="02040503050406030204" pitchFamily="18" charset="0"/>
                                    </a:rPr>
                                    <m:t>1</m:t>
                                  </m:r>
                                </m:e>
                              </m:d>
                              <m:r>
                                <a:rPr lang="en-US" sz="2800" i="1">
                                  <a:solidFill>
                                    <a:schemeClr val="accent1"/>
                                  </a:solidFill>
                                  <a:latin typeface="Cambria Math" panose="02040503050406030204" pitchFamily="18" charset="0"/>
                                </a:rPr>
                                <m:t>−</m:t>
                              </m:r>
                              <m:sSub>
                                <m:sSubPr>
                                  <m:ctrlPr>
                                    <a:rPr lang="en-US" sz="2800" i="1">
                                      <a:solidFill>
                                        <a:schemeClr val="accent1"/>
                                      </a:solidFill>
                                      <a:latin typeface="Cambria Math" panose="02040503050406030204" pitchFamily="18" charset="0"/>
                                    </a:rPr>
                                  </m:ctrlPr>
                                </m:sSubPr>
                                <m:e>
                                  <m:r>
                                    <a:rPr lang="en-US" sz="2800" i="1">
                                      <a:solidFill>
                                        <a:schemeClr val="accent1"/>
                                      </a:solidFill>
                                      <a:latin typeface="Cambria Math" panose="02040503050406030204" pitchFamily="18" charset="0"/>
                                    </a:rPr>
                                    <m:t>𝑌</m:t>
                                  </m:r>
                                </m:e>
                                <m:sub>
                                  <m:r>
                                    <a:rPr lang="en-US" sz="2800" i="1">
                                      <a:solidFill>
                                        <a:schemeClr val="accent1"/>
                                      </a:solidFill>
                                      <a:latin typeface="Cambria Math" panose="02040503050406030204" pitchFamily="18" charset="0"/>
                                    </a:rPr>
                                    <m:t>𝑖</m:t>
                                  </m:r>
                                </m:sub>
                              </m:sSub>
                              <m:r>
                                <a:rPr lang="en-US" sz="2800" i="1">
                                  <a:solidFill>
                                    <a:schemeClr val="accent1"/>
                                  </a:solidFill>
                                  <a:latin typeface="Cambria Math" panose="02040503050406030204" pitchFamily="18" charset="0"/>
                                </a:rPr>
                                <m:t>(0)</m:t>
                              </m:r>
                            </m:e>
                          </m:d>
                        </m:e>
                      </m:nary>
                    </m:oMath>
                  </m:oMathPara>
                </a14:m>
                <a:endParaRPr lang="en-US" sz="2800" dirty="0">
                  <a:solidFill>
                    <a:schemeClr val="accent1"/>
                  </a:solidFill>
                </a:endParaRPr>
              </a:p>
            </p:txBody>
          </p:sp>
        </mc:Choice>
        <mc:Fallback xmlns="">
          <p:sp>
            <p:nvSpPr>
              <p:cNvPr id="5" name="TextBox 4">
                <a:extLst>
                  <a:ext uri="{FF2B5EF4-FFF2-40B4-BE49-F238E27FC236}">
                    <a16:creationId xmlns:a16="http://schemas.microsoft.com/office/drawing/2014/main" id="{021D0F18-C75A-0469-91B5-9EBC602C1D13}"/>
                  </a:ext>
                </a:extLst>
              </p:cNvPr>
              <p:cNvSpPr txBox="1">
                <a:spLocks noRot="1" noChangeAspect="1" noMove="1" noResize="1" noEditPoints="1" noAdjustHandles="1" noChangeArrowheads="1" noChangeShapeType="1" noTextEdit="1"/>
              </p:cNvSpPr>
              <p:nvPr/>
            </p:nvSpPr>
            <p:spPr>
              <a:xfrm>
                <a:off x="1653170" y="3094724"/>
                <a:ext cx="3145541" cy="1211550"/>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Content Placeholder 2">
                <a:extLst>
                  <a:ext uri="{FF2B5EF4-FFF2-40B4-BE49-F238E27FC236}">
                    <a16:creationId xmlns:a16="http://schemas.microsoft.com/office/drawing/2014/main" id="{19106F52-F668-0414-A175-9462159CF542}"/>
                  </a:ext>
                </a:extLst>
              </p:cNvPr>
              <p:cNvSpPr txBox="1">
                <a:spLocks/>
              </p:cNvSpPr>
              <p:nvPr/>
            </p:nvSpPr>
            <p:spPr>
              <a:xfrm>
                <a:off x="1011865" y="5001682"/>
                <a:ext cx="5084135" cy="13255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b="1" dirty="0"/>
                  <a:t>Example: </a:t>
                </a:r>
                <a:r>
                  <a:rPr lang="en-US" sz="2000" dirty="0"/>
                  <a:t>Pick a random person </a:t>
                </a:r>
                <a14:m>
                  <m:oMath xmlns:m="http://schemas.openxmlformats.org/officeDocument/2006/math">
                    <m:r>
                      <a:rPr lang="en-US" sz="2000" b="0" i="1" smtClean="0">
                        <a:latin typeface="Cambria Math" panose="02040503050406030204" pitchFamily="18" charset="0"/>
                      </a:rPr>
                      <m:t>𝑖</m:t>
                    </m:r>
                  </m:oMath>
                </a14:m>
                <a:r>
                  <a:rPr lang="en-US" sz="2000" dirty="0"/>
                  <a:t>.  How much better do you expect them to feel after taking aspirin, relative to a world in which they did not take aspirin?</a:t>
                </a:r>
              </a:p>
            </p:txBody>
          </p:sp>
        </mc:Choice>
        <mc:Fallback xmlns="">
          <p:sp>
            <p:nvSpPr>
              <p:cNvPr id="6" name="Content Placeholder 2">
                <a:extLst>
                  <a:ext uri="{FF2B5EF4-FFF2-40B4-BE49-F238E27FC236}">
                    <a16:creationId xmlns:a16="http://schemas.microsoft.com/office/drawing/2014/main" id="{19106F52-F668-0414-A175-9462159CF542}"/>
                  </a:ext>
                </a:extLst>
              </p:cNvPr>
              <p:cNvSpPr txBox="1">
                <a:spLocks noRot="1" noChangeAspect="1" noMove="1" noResize="1" noEditPoints="1" noAdjustHandles="1" noChangeArrowheads="1" noChangeShapeType="1" noTextEdit="1"/>
              </p:cNvSpPr>
              <p:nvPr/>
            </p:nvSpPr>
            <p:spPr>
              <a:xfrm>
                <a:off x="1011865" y="5001682"/>
                <a:ext cx="5084135" cy="1325563"/>
              </a:xfrm>
              <a:prstGeom prst="rect">
                <a:avLst/>
              </a:prstGeom>
              <a:blipFill>
                <a:blip r:embed="rId4"/>
                <a:stretch>
                  <a:fillRect l="-995" t="-377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A3F03860-35AF-4944-1743-894EF74ECE97}"/>
                  </a:ext>
                </a:extLst>
              </p:cNvPr>
              <p:cNvSpPr txBox="1"/>
              <p:nvPr/>
            </p:nvSpPr>
            <p:spPr>
              <a:xfrm>
                <a:off x="6648891" y="3103476"/>
                <a:ext cx="4889205" cy="119404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sz="2800" i="1" dirty="0" smtClean="0">
                              <a:solidFill>
                                <a:schemeClr val="accent1"/>
                              </a:solidFill>
                              <a:latin typeface="Cambria Math" panose="02040503050406030204" pitchFamily="18" charset="0"/>
                            </a:rPr>
                          </m:ctrlPr>
                        </m:fPr>
                        <m:num>
                          <m:r>
                            <a:rPr lang="en-US" sz="2800" i="1" dirty="0">
                              <a:solidFill>
                                <a:schemeClr val="accent1"/>
                              </a:solidFill>
                              <a:latin typeface="Cambria Math" panose="02040503050406030204" pitchFamily="18" charset="0"/>
                            </a:rPr>
                            <m:t>1</m:t>
                          </m:r>
                        </m:num>
                        <m:den>
                          <m:sSub>
                            <m:sSubPr>
                              <m:ctrlPr>
                                <a:rPr lang="en-US" sz="2800" i="1" dirty="0">
                                  <a:solidFill>
                                    <a:schemeClr val="accent1"/>
                                  </a:solidFill>
                                  <a:latin typeface="Cambria Math" panose="02040503050406030204" pitchFamily="18" charset="0"/>
                                </a:rPr>
                              </m:ctrlPr>
                            </m:sSubPr>
                            <m:e>
                              <m:r>
                                <a:rPr lang="en-US" sz="2800" i="1" dirty="0">
                                  <a:solidFill>
                                    <a:schemeClr val="accent1"/>
                                  </a:solidFill>
                                  <a:latin typeface="Cambria Math" panose="02040503050406030204" pitchFamily="18" charset="0"/>
                                </a:rPr>
                                <m:t>𝑁</m:t>
                              </m:r>
                            </m:e>
                            <m:sub>
                              <m:r>
                                <a:rPr lang="en-US" sz="2800" i="1" dirty="0">
                                  <a:solidFill>
                                    <a:schemeClr val="accent1"/>
                                  </a:solidFill>
                                  <a:latin typeface="Cambria Math" panose="02040503050406030204" pitchFamily="18" charset="0"/>
                                </a:rPr>
                                <m:t>1</m:t>
                              </m:r>
                            </m:sub>
                          </m:sSub>
                        </m:den>
                      </m:f>
                      <m:nary>
                        <m:naryPr>
                          <m:chr m:val="∑"/>
                          <m:supHide m:val="on"/>
                          <m:ctrlPr>
                            <a:rPr lang="en-US" sz="2800" i="1" dirty="0">
                              <a:solidFill>
                                <a:schemeClr val="accent1"/>
                              </a:solidFill>
                              <a:latin typeface="Cambria Math" panose="02040503050406030204" pitchFamily="18" charset="0"/>
                            </a:rPr>
                          </m:ctrlPr>
                        </m:naryPr>
                        <m:sub>
                          <m:r>
                            <m:rPr>
                              <m:brk m:alnAt="7"/>
                            </m:rPr>
                            <a:rPr lang="en-US" sz="2800" i="1" dirty="0">
                              <a:solidFill>
                                <a:schemeClr val="accent1"/>
                              </a:solidFill>
                              <a:latin typeface="Cambria Math" panose="02040503050406030204" pitchFamily="18" charset="0"/>
                            </a:rPr>
                            <m:t>𝑖</m:t>
                          </m:r>
                          <m:r>
                            <a:rPr lang="en-US" sz="2800" i="1" dirty="0">
                              <a:solidFill>
                                <a:schemeClr val="accent1"/>
                              </a:solidFill>
                              <a:latin typeface="Cambria Math" panose="02040503050406030204" pitchFamily="18" charset="0"/>
                            </a:rPr>
                            <m:t>:</m:t>
                          </m:r>
                          <m:sSub>
                            <m:sSubPr>
                              <m:ctrlPr>
                                <a:rPr lang="en-US" sz="2800" i="1" dirty="0">
                                  <a:solidFill>
                                    <a:schemeClr val="accent1"/>
                                  </a:solidFill>
                                  <a:latin typeface="Cambria Math" panose="02040503050406030204" pitchFamily="18" charset="0"/>
                                </a:rPr>
                              </m:ctrlPr>
                            </m:sSubPr>
                            <m:e>
                              <m:r>
                                <m:rPr>
                                  <m:brk m:alnAt="7"/>
                                </m:rPr>
                                <a:rPr lang="en-US" sz="2800" i="1" dirty="0">
                                  <a:solidFill>
                                    <a:schemeClr val="accent1"/>
                                  </a:solidFill>
                                  <a:latin typeface="Cambria Math" panose="02040503050406030204" pitchFamily="18" charset="0"/>
                                </a:rPr>
                                <m:t>𝑊</m:t>
                              </m:r>
                            </m:e>
                            <m:sub>
                              <m:r>
                                <m:rPr>
                                  <m:brk m:alnAt="7"/>
                                </m:rPr>
                                <a:rPr lang="en-US" sz="2800" i="1" dirty="0">
                                  <a:solidFill>
                                    <a:schemeClr val="accent1"/>
                                  </a:solidFill>
                                  <a:latin typeface="Cambria Math" panose="02040503050406030204" pitchFamily="18" charset="0"/>
                                </a:rPr>
                                <m:t>𝑖</m:t>
                              </m:r>
                            </m:sub>
                          </m:sSub>
                          <m:r>
                            <m:rPr>
                              <m:brk m:alnAt="7"/>
                            </m:rPr>
                            <a:rPr lang="en-US" sz="2800" i="1" dirty="0">
                              <a:solidFill>
                                <a:schemeClr val="accent1"/>
                              </a:solidFill>
                              <a:latin typeface="Cambria Math" panose="02040503050406030204" pitchFamily="18" charset="0"/>
                            </a:rPr>
                            <m:t>=</m:t>
                          </m:r>
                          <m:r>
                            <a:rPr lang="en-US" sz="2800" i="1" dirty="0">
                              <a:solidFill>
                                <a:schemeClr val="accent1"/>
                              </a:solidFill>
                              <a:latin typeface="Cambria Math" panose="02040503050406030204" pitchFamily="18" charset="0"/>
                            </a:rPr>
                            <m:t>1</m:t>
                          </m:r>
                        </m:sub>
                        <m:sup/>
                        <m:e>
                          <m:sSub>
                            <m:sSubPr>
                              <m:ctrlPr>
                                <a:rPr lang="en-US" sz="2800" i="1" dirty="0">
                                  <a:solidFill>
                                    <a:schemeClr val="accent1"/>
                                  </a:solidFill>
                                  <a:latin typeface="Cambria Math" panose="02040503050406030204" pitchFamily="18" charset="0"/>
                                </a:rPr>
                              </m:ctrlPr>
                            </m:sSubPr>
                            <m:e>
                              <m:r>
                                <a:rPr lang="en-US" sz="2800" i="1" dirty="0">
                                  <a:solidFill>
                                    <a:schemeClr val="accent1"/>
                                  </a:solidFill>
                                  <a:latin typeface="Cambria Math" panose="02040503050406030204" pitchFamily="18" charset="0"/>
                                </a:rPr>
                                <m:t>𝑌</m:t>
                              </m:r>
                            </m:e>
                            <m:sub>
                              <m:r>
                                <a:rPr lang="en-US" sz="2800" i="1" dirty="0">
                                  <a:solidFill>
                                    <a:schemeClr val="accent1"/>
                                  </a:solidFill>
                                  <a:latin typeface="Cambria Math" panose="02040503050406030204" pitchFamily="18" charset="0"/>
                                </a:rPr>
                                <m:t>𝑖</m:t>
                              </m:r>
                            </m:sub>
                          </m:sSub>
                        </m:e>
                      </m:nary>
                      <m:r>
                        <a:rPr lang="en-US" sz="2800" i="1" dirty="0">
                          <a:solidFill>
                            <a:schemeClr val="accent1"/>
                          </a:solidFill>
                          <a:latin typeface="Cambria Math" panose="02040503050406030204" pitchFamily="18" charset="0"/>
                        </a:rPr>
                        <m:t>−</m:t>
                      </m:r>
                      <m:f>
                        <m:fPr>
                          <m:ctrlPr>
                            <a:rPr lang="en-US" sz="2800" i="1" dirty="0">
                              <a:solidFill>
                                <a:schemeClr val="accent1"/>
                              </a:solidFill>
                              <a:latin typeface="Cambria Math" panose="02040503050406030204" pitchFamily="18" charset="0"/>
                            </a:rPr>
                          </m:ctrlPr>
                        </m:fPr>
                        <m:num>
                          <m:r>
                            <a:rPr lang="en-US" sz="2800" i="1" dirty="0">
                              <a:solidFill>
                                <a:schemeClr val="accent1"/>
                              </a:solidFill>
                              <a:latin typeface="Cambria Math" panose="02040503050406030204" pitchFamily="18" charset="0"/>
                            </a:rPr>
                            <m:t>1</m:t>
                          </m:r>
                        </m:num>
                        <m:den>
                          <m:sSub>
                            <m:sSubPr>
                              <m:ctrlPr>
                                <a:rPr lang="en-US" sz="2800" i="1" dirty="0">
                                  <a:solidFill>
                                    <a:schemeClr val="accent1"/>
                                  </a:solidFill>
                                  <a:latin typeface="Cambria Math" panose="02040503050406030204" pitchFamily="18" charset="0"/>
                                </a:rPr>
                              </m:ctrlPr>
                            </m:sSubPr>
                            <m:e>
                              <m:r>
                                <a:rPr lang="en-US" sz="2800" i="1" dirty="0">
                                  <a:solidFill>
                                    <a:schemeClr val="accent1"/>
                                  </a:solidFill>
                                  <a:latin typeface="Cambria Math" panose="02040503050406030204" pitchFamily="18" charset="0"/>
                                </a:rPr>
                                <m:t>𝑁</m:t>
                              </m:r>
                            </m:e>
                            <m:sub>
                              <m:r>
                                <a:rPr lang="en-US" sz="2800" i="1" dirty="0">
                                  <a:solidFill>
                                    <a:schemeClr val="accent1"/>
                                  </a:solidFill>
                                  <a:latin typeface="Cambria Math" panose="02040503050406030204" pitchFamily="18" charset="0"/>
                                </a:rPr>
                                <m:t>0</m:t>
                              </m:r>
                            </m:sub>
                          </m:sSub>
                        </m:den>
                      </m:f>
                      <m:nary>
                        <m:naryPr>
                          <m:chr m:val="∑"/>
                          <m:supHide m:val="on"/>
                          <m:ctrlPr>
                            <a:rPr lang="en-US" sz="2800" i="1" dirty="0">
                              <a:solidFill>
                                <a:schemeClr val="accent1"/>
                              </a:solidFill>
                              <a:latin typeface="Cambria Math" panose="02040503050406030204" pitchFamily="18" charset="0"/>
                            </a:rPr>
                          </m:ctrlPr>
                        </m:naryPr>
                        <m:sub>
                          <m:r>
                            <m:rPr>
                              <m:brk m:alnAt="7"/>
                            </m:rPr>
                            <a:rPr lang="en-US" sz="2800" i="1" dirty="0">
                              <a:solidFill>
                                <a:schemeClr val="accent1"/>
                              </a:solidFill>
                              <a:latin typeface="Cambria Math" panose="02040503050406030204" pitchFamily="18" charset="0"/>
                            </a:rPr>
                            <m:t>𝑖</m:t>
                          </m:r>
                          <m:r>
                            <a:rPr lang="en-US" sz="2800" i="1" dirty="0">
                              <a:solidFill>
                                <a:schemeClr val="accent1"/>
                              </a:solidFill>
                              <a:latin typeface="Cambria Math" panose="02040503050406030204" pitchFamily="18" charset="0"/>
                            </a:rPr>
                            <m:t>:</m:t>
                          </m:r>
                          <m:sSub>
                            <m:sSubPr>
                              <m:ctrlPr>
                                <a:rPr lang="en-US" sz="2800" i="1" dirty="0">
                                  <a:solidFill>
                                    <a:schemeClr val="accent1"/>
                                  </a:solidFill>
                                  <a:latin typeface="Cambria Math" panose="02040503050406030204" pitchFamily="18" charset="0"/>
                                </a:rPr>
                              </m:ctrlPr>
                            </m:sSubPr>
                            <m:e>
                              <m:r>
                                <m:rPr>
                                  <m:brk m:alnAt="7"/>
                                </m:rPr>
                                <a:rPr lang="en-US" sz="2800" i="1" dirty="0">
                                  <a:solidFill>
                                    <a:schemeClr val="accent1"/>
                                  </a:solidFill>
                                  <a:latin typeface="Cambria Math" panose="02040503050406030204" pitchFamily="18" charset="0"/>
                                </a:rPr>
                                <m:t>𝑊</m:t>
                              </m:r>
                            </m:e>
                            <m:sub>
                              <m:r>
                                <m:rPr>
                                  <m:brk m:alnAt="7"/>
                                </m:rPr>
                                <a:rPr lang="en-US" sz="2800" i="1" dirty="0">
                                  <a:solidFill>
                                    <a:schemeClr val="accent1"/>
                                  </a:solidFill>
                                  <a:latin typeface="Cambria Math" panose="02040503050406030204" pitchFamily="18" charset="0"/>
                                </a:rPr>
                                <m:t>𝑖</m:t>
                              </m:r>
                            </m:sub>
                          </m:sSub>
                          <m:r>
                            <m:rPr>
                              <m:brk m:alnAt="7"/>
                            </m:rPr>
                            <a:rPr lang="en-US" sz="2800" i="1" dirty="0">
                              <a:solidFill>
                                <a:schemeClr val="accent1"/>
                              </a:solidFill>
                              <a:latin typeface="Cambria Math" panose="02040503050406030204" pitchFamily="18" charset="0"/>
                            </a:rPr>
                            <m:t>=</m:t>
                          </m:r>
                          <m:r>
                            <a:rPr lang="en-US" sz="2800" i="1" dirty="0">
                              <a:solidFill>
                                <a:schemeClr val="accent1"/>
                              </a:solidFill>
                              <a:latin typeface="Cambria Math" panose="02040503050406030204" pitchFamily="18" charset="0"/>
                            </a:rPr>
                            <m:t>0</m:t>
                          </m:r>
                        </m:sub>
                        <m:sup/>
                        <m:e>
                          <m:sSub>
                            <m:sSubPr>
                              <m:ctrlPr>
                                <a:rPr lang="en-US" sz="2800" i="1" dirty="0">
                                  <a:solidFill>
                                    <a:schemeClr val="accent1"/>
                                  </a:solidFill>
                                  <a:latin typeface="Cambria Math" panose="02040503050406030204" pitchFamily="18" charset="0"/>
                                </a:rPr>
                              </m:ctrlPr>
                            </m:sSubPr>
                            <m:e>
                              <m:r>
                                <a:rPr lang="en-US" sz="2800" i="1" dirty="0">
                                  <a:solidFill>
                                    <a:schemeClr val="accent1"/>
                                  </a:solidFill>
                                  <a:latin typeface="Cambria Math" panose="02040503050406030204" pitchFamily="18" charset="0"/>
                                </a:rPr>
                                <m:t>𝑌</m:t>
                              </m:r>
                            </m:e>
                            <m:sub>
                              <m:r>
                                <a:rPr lang="en-US" sz="2800" i="1" dirty="0">
                                  <a:solidFill>
                                    <a:schemeClr val="accent1"/>
                                  </a:solidFill>
                                  <a:latin typeface="Cambria Math" panose="02040503050406030204" pitchFamily="18" charset="0"/>
                                </a:rPr>
                                <m:t>𝑖</m:t>
                              </m:r>
                            </m:sub>
                          </m:sSub>
                        </m:e>
                      </m:nary>
                    </m:oMath>
                  </m:oMathPara>
                </a14:m>
                <a:endParaRPr lang="en-US" sz="2800" dirty="0">
                  <a:solidFill>
                    <a:schemeClr val="accent1"/>
                  </a:solidFill>
                </a:endParaRPr>
              </a:p>
            </p:txBody>
          </p:sp>
        </mc:Choice>
        <mc:Fallback xmlns="">
          <p:sp>
            <p:nvSpPr>
              <p:cNvPr id="8" name="TextBox 7">
                <a:extLst>
                  <a:ext uri="{FF2B5EF4-FFF2-40B4-BE49-F238E27FC236}">
                    <a16:creationId xmlns:a16="http://schemas.microsoft.com/office/drawing/2014/main" id="{A3F03860-35AF-4944-1743-894EF74ECE97}"/>
                  </a:ext>
                </a:extLst>
              </p:cNvPr>
              <p:cNvSpPr txBox="1">
                <a:spLocks noRot="1" noChangeAspect="1" noMove="1" noResize="1" noEditPoints="1" noAdjustHandles="1" noChangeArrowheads="1" noChangeShapeType="1" noTextEdit="1"/>
              </p:cNvSpPr>
              <p:nvPr/>
            </p:nvSpPr>
            <p:spPr>
              <a:xfrm>
                <a:off x="6648891" y="3103476"/>
                <a:ext cx="4889205" cy="1194045"/>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8D0DF0BE-D7EC-67DD-DD44-573C412C505A}"/>
                  </a:ext>
                </a:extLst>
              </p:cNvPr>
              <p:cNvSpPr txBox="1"/>
              <p:nvPr/>
            </p:nvSpPr>
            <p:spPr>
              <a:xfrm>
                <a:off x="6891670" y="73956"/>
                <a:ext cx="5527158" cy="923330"/>
              </a:xfrm>
              <a:prstGeom prst="rect">
                <a:avLst/>
              </a:prstGeom>
              <a:noFill/>
            </p:spPr>
            <p:txBody>
              <a:bodyPr wrap="square" rtlCol="0">
                <a:spAutoFit/>
              </a:bodyPr>
              <a:lstStyle/>
              <a:p>
                <a:pPr marL="285750" indent="-285750">
                  <a:buFont typeface="Arial" panose="020B0604020202020204" pitchFamily="34" charset="0"/>
                  <a:buChar char="•"/>
                </a:pPr>
                <a14:m>
                  <m:oMath xmlns:m="http://schemas.openxmlformats.org/officeDocument/2006/math">
                    <m:sSub>
                      <m:sSubPr>
                        <m:ctrlPr>
                          <a:rPr lang="en-US" b="0" i="1" smtClean="0">
                            <a:solidFill>
                              <a:schemeClr val="accent5"/>
                            </a:solidFill>
                            <a:latin typeface="Cambria Math" panose="02040503050406030204" pitchFamily="18" charset="0"/>
                          </a:rPr>
                        </m:ctrlPr>
                      </m:sSubPr>
                      <m:e>
                        <m:r>
                          <a:rPr lang="en-US" b="0" i="1" smtClean="0">
                            <a:solidFill>
                              <a:schemeClr val="accent5"/>
                            </a:solidFill>
                            <a:latin typeface="Cambria Math" panose="02040503050406030204" pitchFamily="18" charset="0"/>
                          </a:rPr>
                          <m:t>𝑌</m:t>
                        </m:r>
                      </m:e>
                      <m:sub>
                        <m:r>
                          <a:rPr lang="en-US" b="0" i="1" smtClean="0">
                            <a:solidFill>
                              <a:schemeClr val="accent5"/>
                            </a:solidFill>
                            <a:latin typeface="Cambria Math" panose="02040503050406030204" pitchFamily="18" charset="0"/>
                          </a:rPr>
                          <m:t>𝑖</m:t>
                        </m:r>
                      </m:sub>
                    </m:sSub>
                    <m:r>
                      <a:rPr lang="en-US" b="0" i="1" smtClean="0">
                        <a:solidFill>
                          <a:schemeClr val="accent5"/>
                        </a:solidFill>
                        <a:latin typeface="Cambria Math" panose="02040503050406030204" pitchFamily="18" charset="0"/>
                      </a:rPr>
                      <m:t>=</m:t>
                    </m:r>
                  </m:oMath>
                </a14:m>
                <a:r>
                  <a:rPr lang="en-US" dirty="0">
                    <a:solidFill>
                      <a:schemeClr val="accent5"/>
                    </a:solidFill>
                  </a:rPr>
                  <a:t> outcome that we see for person </a:t>
                </a:r>
                <a14:m>
                  <m:oMath xmlns:m="http://schemas.openxmlformats.org/officeDocument/2006/math">
                    <m:r>
                      <a:rPr lang="en-US" b="0" i="1" smtClean="0">
                        <a:solidFill>
                          <a:schemeClr val="accent5"/>
                        </a:solidFill>
                        <a:latin typeface="Cambria Math" panose="02040503050406030204" pitchFamily="18" charset="0"/>
                      </a:rPr>
                      <m:t>𝑖</m:t>
                    </m:r>
                  </m:oMath>
                </a14:m>
                <a:endParaRPr lang="en-US" dirty="0">
                  <a:solidFill>
                    <a:schemeClr val="accent5"/>
                  </a:solidFill>
                </a:endParaRPr>
              </a:p>
              <a:p>
                <a:pPr marL="285750" indent="-285750">
                  <a:buFont typeface="Arial" panose="020B0604020202020204" pitchFamily="34" charset="0"/>
                  <a:buChar char="•"/>
                </a:pPr>
                <a14:m>
                  <m:oMath xmlns:m="http://schemas.openxmlformats.org/officeDocument/2006/math">
                    <m:sSub>
                      <m:sSubPr>
                        <m:ctrlPr>
                          <a:rPr lang="en-US" b="0" i="1" smtClean="0">
                            <a:solidFill>
                              <a:schemeClr val="accent5"/>
                            </a:solidFill>
                            <a:latin typeface="Cambria Math" panose="02040503050406030204" pitchFamily="18" charset="0"/>
                          </a:rPr>
                        </m:ctrlPr>
                      </m:sSubPr>
                      <m:e>
                        <m:r>
                          <a:rPr lang="en-US" b="0" i="1" smtClean="0">
                            <a:solidFill>
                              <a:schemeClr val="accent5"/>
                            </a:solidFill>
                            <a:latin typeface="Cambria Math" panose="02040503050406030204" pitchFamily="18" charset="0"/>
                          </a:rPr>
                          <m:t>𝑊</m:t>
                        </m:r>
                      </m:e>
                      <m:sub>
                        <m:r>
                          <a:rPr lang="en-US" b="0" i="1" smtClean="0">
                            <a:solidFill>
                              <a:schemeClr val="accent5"/>
                            </a:solidFill>
                            <a:latin typeface="Cambria Math" panose="02040503050406030204" pitchFamily="18" charset="0"/>
                          </a:rPr>
                          <m:t>𝑖</m:t>
                        </m:r>
                      </m:sub>
                    </m:sSub>
                    <m:r>
                      <a:rPr lang="en-US" b="0" i="1" smtClean="0">
                        <a:solidFill>
                          <a:schemeClr val="accent5"/>
                        </a:solidFill>
                        <a:latin typeface="Cambria Math" panose="02040503050406030204" pitchFamily="18" charset="0"/>
                      </a:rPr>
                      <m:t>=</m:t>
                    </m:r>
                  </m:oMath>
                </a14:m>
                <a:r>
                  <a:rPr lang="en-US" dirty="0">
                    <a:solidFill>
                      <a:schemeClr val="accent5"/>
                    </a:solidFill>
                  </a:rPr>
                  <a:t> did they get the treatment? (1 if yes, 0 if no)</a:t>
                </a:r>
              </a:p>
              <a:p>
                <a:pPr marL="285750" indent="-285750">
                  <a:buFont typeface="Arial" panose="020B0604020202020204" pitchFamily="34" charset="0"/>
                  <a:buChar char="•"/>
                </a:pPr>
                <a14:m>
                  <m:oMath xmlns:m="http://schemas.openxmlformats.org/officeDocument/2006/math">
                    <m:sSub>
                      <m:sSubPr>
                        <m:ctrlPr>
                          <a:rPr lang="en-US" b="0" i="1" smtClean="0">
                            <a:solidFill>
                              <a:schemeClr val="accent5"/>
                            </a:solidFill>
                            <a:latin typeface="Cambria Math" panose="02040503050406030204" pitchFamily="18" charset="0"/>
                          </a:rPr>
                        </m:ctrlPr>
                      </m:sSubPr>
                      <m:e>
                        <m:r>
                          <a:rPr lang="en-US" b="0" i="1" smtClean="0">
                            <a:solidFill>
                              <a:schemeClr val="accent5"/>
                            </a:solidFill>
                            <a:latin typeface="Cambria Math" panose="02040503050406030204" pitchFamily="18" charset="0"/>
                          </a:rPr>
                          <m:t>𝑌</m:t>
                        </m:r>
                      </m:e>
                      <m:sub>
                        <m:r>
                          <a:rPr lang="en-US" b="0" i="1" smtClean="0">
                            <a:solidFill>
                              <a:schemeClr val="accent5"/>
                            </a:solidFill>
                            <a:latin typeface="Cambria Math" panose="02040503050406030204" pitchFamily="18" charset="0"/>
                          </a:rPr>
                          <m:t>𝑖</m:t>
                        </m:r>
                      </m:sub>
                    </m:sSub>
                    <m:d>
                      <m:dPr>
                        <m:ctrlPr>
                          <a:rPr lang="en-US" b="0" i="1" smtClean="0">
                            <a:solidFill>
                              <a:schemeClr val="accent5"/>
                            </a:solidFill>
                            <a:latin typeface="Cambria Math" panose="02040503050406030204" pitchFamily="18" charset="0"/>
                          </a:rPr>
                        </m:ctrlPr>
                      </m:dPr>
                      <m:e>
                        <m:r>
                          <a:rPr lang="en-US" b="0" i="1" smtClean="0">
                            <a:solidFill>
                              <a:schemeClr val="accent5"/>
                            </a:solidFill>
                            <a:latin typeface="Cambria Math" panose="02040503050406030204" pitchFamily="18" charset="0"/>
                          </a:rPr>
                          <m:t>𝑗</m:t>
                        </m:r>
                      </m:e>
                    </m:d>
                    <m:r>
                      <a:rPr lang="en-US" b="0" i="1" smtClean="0">
                        <a:solidFill>
                          <a:schemeClr val="accent5"/>
                        </a:solidFill>
                        <a:latin typeface="Cambria Math" panose="02040503050406030204" pitchFamily="18" charset="0"/>
                      </a:rPr>
                      <m:t>=</m:t>
                    </m:r>
                  </m:oMath>
                </a14:m>
                <a:r>
                  <a:rPr lang="en-US" dirty="0">
                    <a:solidFill>
                      <a:schemeClr val="accent5"/>
                    </a:solidFill>
                  </a:rPr>
                  <a:t> potential outcome for person </a:t>
                </a:r>
                <a14:m>
                  <m:oMath xmlns:m="http://schemas.openxmlformats.org/officeDocument/2006/math">
                    <m:r>
                      <a:rPr lang="en-US" b="0" i="1" smtClean="0">
                        <a:solidFill>
                          <a:schemeClr val="accent5"/>
                        </a:solidFill>
                        <a:latin typeface="Cambria Math" panose="02040503050406030204" pitchFamily="18" charset="0"/>
                      </a:rPr>
                      <m:t>𝑖</m:t>
                    </m:r>
                  </m:oMath>
                </a14:m>
                <a:r>
                  <a:rPr lang="en-US" dirty="0">
                    <a:solidFill>
                      <a:schemeClr val="accent5"/>
                    </a:solidFill>
                  </a:rPr>
                  <a:t> if </a:t>
                </a:r>
                <a14:m>
                  <m:oMath xmlns:m="http://schemas.openxmlformats.org/officeDocument/2006/math">
                    <m:sSub>
                      <m:sSubPr>
                        <m:ctrlPr>
                          <a:rPr lang="en-US" b="0" i="1" smtClean="0">
                            <a:solidFill>
                              <a:schemeClr val="accent5"/>
                            </a:solidFill>
                            <a:latin typeface="Cambria Math" panose="02040503050406030204" pitchFamily="18" charset="0"/>
                          </a:rPr>
                        </m:ctrlPr>
                      </m:sSubPr>
                      <m:e>
                        <m:r>
                          <a:rPr lang="en-US" b="0" i="1" smtClean="0">
                            <a:solidFill>
                              <a:schemeClr val="accent5"/>
                            </a:solidFill>
                            <a:latin typeface="Cambria Math" panose="02040503050406030204" pitchFamily="18" charset="0"/>
                          </a:rPr>
                          <m:t>𝑊</m:t>
                        </m:r>
                      </m:e>
                      <m:sub>
                        <m:r>
                          <a:rPr lang="en-US" b="0" i="1" smtClean="0">
                            <a:solidFill>
                              <a:schemeClr val="accent5"/>
                            </a:solidFill>
                            <a:latin typeface="Cambria Math" panose="02040503050406030204" pitchFamily="18" charset="0"/>
                          </a:rPr>
                          <m:t>𝑖</m:t>
                        </m:r>
                      </m:sub>
                    </m:sSub>
                    <m:r>
                      <a:rPr lang="en-US" b="0" i="1" smtClean="0">
                        <a:solidFill>
                          <a:schemeClr val="accent5"/>
                        </a:solidFill>
                        <a:latin typeface="Cambria Math" panose="02040503050406030204" pitchFamily="18" charset="0"/>
                      </a:rPr>
                      <m:t>=</m:t>
                    </m:r>
                    <m:r>
                      <a:rPr lang="en-US" b="0" i="1" smtClean="0">
                        <a:solidFill>
                          <a:schemeClr val="accent5"/>
                        </a:solidFill>
                        <a:latin typeface="Cambria Math" panose="02040503050406030204" pitchFamily="18" charset="0"/>
                      </a:rPr>
                      <m:t>𝑗</m:t>
                    </m:r>
                  </m:oMath>
                </a14:m>
                <a:endParaRPr lang="en-US" dirty="0">
                  <a:solidFill>
                    <a:schemeClr val="accent5"/>
                  </a:solidFill>
                </a:endParaRPr>
              </a:p>
            </p:txBody>
          </p:sp>
        </mc:Choice>
        <mc:Fallback xmlns="">
          <p:sp>
            <p:nvSpPr>
              <p:cNvPr id="9" name="TextBox 8">
                <a:extLst>
                  <a:ext uri="{FF2B5EF4-FFF2-40B4-BE49-F238E27FC236}">
                    <a16:creationId xmlns:a16="http://schemas.microsoft.com/office/drawing/2014/main" id="{8D0DF0BE-D7EC-67DD-DD44-573C412C505A}"/>
                  </a:ext>
                </a:extLst>
              </p:cNvPr>
              <p:cNvSpPr txBox="1">
                <a:spLocks noRot="1" noChangeAspect="1" noMove="1" noResize="1" noEditPoints="1" noAdjustHandles="1" noChangeArrowheads="1" noChangeShapeType="1" noTextEdit="1"/>
              </p:cNvSpPr>
              <p:nvPr/>
            </p:nvSpPr>
            <p:spPr>
              <a:xfrm>
                <a:off x="6891670" y="73956"/>
                <a:ext cx="5527158" cy="923330"/>
              </a:xfrm>
              <a:prstGeom prst="rect">
                <a:avLst/>
              </a:prstGeom>
              <a:blipFill>
                <a:blip r:embed="rId6"/>
                <a:stretch>
                  <a:fillRect l="-688" t="-2703" b="-9459"/>
                </a:stretch>
              </a:blipFill>
            </p:spPr>
            <p:txBody>
              <a:bodyPr/>
              <a:lstStyle/>
              <a:p>
                <a:r>
                  <a:rPr lang="en-US">
                    <a:noFill/>
                  </a:rPr>
                  <a:t> </a:t>
                </a:r>
              </a:p>
            </p:txBody>
          </p:sp>
        </mc:Fallback>
      </mc:AlternateContent>
      <p:sp>
        <p:nvSpPr>
          <p:cNvPr id="10" name="Content Placeholder 2">
            <a:extLst>
              <a:ext uri="{FF2B5EF4-FFF2-40B4-BE49-F238E27FC236}">
                <a16:creationId xmlns:a16="http://schemas.microsoft.com/office/drawing/2014/main" id="{23E6BE07-C57A-B53E-B53C-92FF04273A74}"/>
              </a:ext>
            </a:extLst>
          </p:cNvPr>
          <p:cNvSpPr txBox="1">
            <a:spLocks/>
          </p:cNvSpPr>
          <p:nvPr/>
        </p:nvSpPr>
        <p:spPr>
          <a:xfrm>
            <a:off x="6551427" y="4986337"/>
            <a:ext cx="5084135" cy="13255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b="1" dirty="0"/>
              <a:t>Example: </a:t>
            </a:r>
            <a:r>
              <a:rPr lang="en-US" sz="2000" dirty="0"/>
              <a:t>Pick a random aspirin-taker and a random non-aspirin-taker.  What’s the expected difference in how they feel?</a:t>
            </a:r>
          </a:p>
        </p:txBody>
      </p:sp>
      <p:pic>
        <p:nvPicPr>
          <p:cNvPr id="13" name="Picture 12">
            <a:extLst>
              <a:ext uri="{FF2B5EF4-FFF2-40B4-BE49-F238E27FC236}">
                <a16:creationId xmlns:a16="http://schemas.microsoft.com/office/drawing/2014/main" id="{D0774EB5-E285-BAD7-71F8-23BB7A14608F}"/>
              </a:ext>
            </a:extLst>
          </p:cNvPr>
          <p:cNvPicPr>
            <a:picLocks noChangeAspect="1"/>
          </p:cNvPicPr>
          <p:nvPr/>
        </p:nvPicPr>
        <p:blipFill>
          <a:blip r:embed="rId7"/>
          <a:stretch>
            <a:fillRect/>
          </a:stretch>
        </p:blipFill>
        <p:spPr>
          <a:xfrm>
            <a:off x="4860399" y="2831742"/>
            <a:ext cx="2292295" cy="1737511"/>
          </a:xfrm>
          <a:prstGeom prst="rect">
            <a:avLst/>
          </a:prstGeom>
        </p:spPr>
      </p:pic>
    </p:spTree>
    <p:extLst>
      <p:ext uri="{BB962C8B-B14F-4D97-AF65-F5344CB8AC3E}">
        <p14:creationId xmlns:p14="http://schemas.microsoft.com/office/powerpoint/2010/main" val="1728964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5" grpId="0"/>
      <p:bldP spid="6" grpId="0"/>
      <p:bldP spid="8" grpId="0"/>
      <p:bldP spid="1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98DBFD-7369-AD05-3065-C542A3BDDA92}"/>
              </a:ext>
            </a:extLst>
          </p:cNvPr>
          <p:cNvSpPr>
            <a:spLocks noGrp="1"/>
          </p:cNvSpPr>
          <p:nvPr>
            <p:ph type="title"/>
          </p:nvPr>
        </p:nvSpPr>
        <p:spPr/>
        <p:txBody>
          <a:bodyPr/>
          <a:lstStyle/>
          <a:p>
            <a:r>
              <a:rPr lang="en-US" dirty="0"/>
              <a:t>Recap from last time</a:t>
            </a:r>
          </a:p>
        </p:txBody>
      </p:sp>
      <p:sp>
        <p:nvSpPr>
          <p:cNvPr id="3" name="Content Placeholder 2">
            <a:extLst>
              <a:ext uri="{FF2B5EF4-FFF2-40B4-BE49-F238E27FC236}">
                <a16:creationId xmlns:a16="http://schemas.microsoft.com/office/drawing/2014/main" id="{D223B807-74AB-E6BE-1C23-8BF40A0402D0}"/>
              </a:ext>
            </a:extLst>
          </p:cNvPr>
          <p:cNvSpPr>
            <a:spLocks noGrp="1"/>
          </p:cNvSpPr>
          <p:nvPr>
            <p:ph idx="1"/>
          </p:nvPr>
        </p:nvSpPr>
        <p:spPr>
          <a:xfrm>
            <a:off x="838200" y="1825625"/>
            <a:ext cx="10515600" cy="821882"/>
          </a:xfrm>
        </p:spPr>
        <p:txBody>
          <a:bodyPr/>
          <a:lstStyle/>
          <a:p>
            <a:r>
              <a:rPr lang="en-US" b="1" dirty="0"/>
              <a:t>Why</a:t>
            </a:r>
            <a:r>
              <a:rPr lang="en-US" dirty="0"/>
              <a:t> might Observational Comparison be different from ATE?</a:t>
            </a:r>
          </a:p>
          <a:p>
            <a:endParaRPr lang="en-US" dirty="0"/>
          </a:p>
        </p:txBody>
      </p:sp>
      <p:sp>
        <p:nvSpPr>
          <p:cNvPr id="5" name="TextBox 4">
            <a:extLst>
              <a:ext uri="{FF2B5EF4-FFF2-40B4-BE49-F238E27FC236}">
                <a16:creationId xmlns:a16="http://schemas.microsoft.com/office/drawing/2014/main" id="{9F19C0D4-9976-A328-677D-759E4D1498ED}"/>
              </a:ext>
            </a:extLst>
          </p:cNvPr>
          <p:cNvSpPr txBox="1"/>
          <p:nvPr/>
        </p:nvSpPr>
        <p:spPr>
          <a:xfrm>
            <a:off x="838200" y="2471556"/>
            <a:ext cx="6842760" cy="1631216"/>
          </a:xfrm>
          <a:prstGeom prst="rect">
            <a:avLst/>
          </a:prstGeom>
          <a:noFill/>
        </p:spPr>
        <p:txBody>
          <a:bodyPr wrap="square">
            <a:spAutoFit/>
          </a:bodyPr>
          <a:lstStyle/>
          <a:p>
            <a:pPr marL="285750" indent="-285750">
              <a:buFont typeface="Arial" panose="020B0604020202020204" pitchFamily="34" charset="0"/>
              <a:buChar char="•"/>
            </a:pPr>
            <a:r>
              <a:rPr lang="en-US" sz="2800" dirty="0"/>
              <a:t>Confounding Variables:</a:t>
            </a:r>
          </a:p>
          <a:p>
            <a:pPr marL="742950" lvl="1" indent="-285750">
              <a:buFont typeface="Arial" panose="020B0604020202020204" pitchFamily="34" charset="0"/>
              <a:buChar char="•"/>
            </a:pPr>
            <a:r>
              <a:rPr lang="en-US" sz="2400" dirty="0">
                <a:solidFill>
                  <a:schemeClr val="accent1"/>
                </a:solidFill>
              </a:rPr>
              <a:t>Some other variable affects both who is in the treatment group and also the outcome.</a:t>
            </a:r>
          </a:p>
          <a:p>
            <a:pPr marL="285750" indent="-285750">
              <a:buFont typeface="Arial" panose="020B0604020202020204" pitchFamily="34" charset="0"/>
              <a:buChar char="•"/>
            </a:pPr>
            <a:r>
              <a:rPr lang="en-US" sz="2400" dirty="0"/>
              <a:t>(Also called “Selection Effects”)</a:t>
            </a:r>
          </a:p>
        </p:txBody>
      </p:sp>
      <p:grpSp>
        <p:nvGrpSpPr>
          <p:cNvPr id="4" name="Group 3">
            <a:extLst>
              <a:ext uri="{FF2B5EF4-FFF2-40B4-BE49-F238E27FC236}">
                <a16:creationId xmlns:a16="http://schemas.microsoft.com/office/drawing/2014/main" id="{E0841D92-8AE9-EEE4-5412-08FA04144ED1}"/>
              </a:ext>
            </a:extLst>
          </p:cNvPr>
          <p:cNvGrpSpPr/>
          <p:nvPr/>
        </p:nvGrpSpPr>
        <p:grpSpPr>
          <a:xfrm>
            <a:off x="7458598" y="2689061"/>
            <a:ext cx="4090251" cy="3424370"/>
            <a:chOff x="7974749" y="1257041"/>
            <a:chExt cx="4090251" cy="3424370"/>
          </a:xfrm>
        </p:grpSpPr>
        <p:pic>
          <p:nvPicPr>
            <p:cNvPr id="8" name="Picture 7" descr="Adoptable Rabbits | morabbit">
              <a:extLst>
                <a:ext uri="{FF2B5EF4-FFF2-40B4-BE49-F238E27FC236}">
                  <a16:creationId xmlns:a16="http://schemas.microsoft.com/office/drawing/2014/main" id="{5B2AC5FD-209C-30C1-32E5-E7C53CDDB56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10972106" y="2886759"/>
              <a:ext cx="1092894" cy="1794652"/>
            </a:xfrm>
            <a:prstGeom prst="rect">
              <a:avLst/>
            </a:prstGeom>
            <a:noFill/>
            <a:extLst>
              <a:ext uri="{909E8E84-426E-40DD-AFC4-6F175D3DCCD1}">
                <a14:hiddenFill xmlns:a14="http://schemas.microsoft.com/office/drawing/2010/main">
                  <a:solidFill>
                    <a:srgbClr val="FFFFFF"/>
                  </a:solidFill>
                </a14:hiddenFill>
              </a:ext>
            </a:extLst>
          </p:spPr>
        </p:pic>
        <p:sp>
          <p:nvSpPr>
            <p:cNvPr id="9" name="Rounded Rectangular Callout 8">
              <a:extLst>
                <a:ext uri="{FF2B5EF4-FFF2-40B4-BE49-F238E27FC236}">
                  <a16:creationId xmlns:a16="http://schemas.microsoft.com/office/drawing/2014/main" id="{28639433-15E5-D439-DE22-AD8934CE5E04}"/>
                </a:ext>
              </a:extLst>
            </p:cNvPr>
            <p:cNvSpPr/>
            <p:nvPr/>
          </p:nvSpPr>
          <p:spPr>
            <a:xfrm>
              <a:off x="7974749" y="1257041"/>
              <a:ext cx="3752690" cy="1498802"/>
            </a:xfrm>
            <a:prstGeom prst="wedgeRoundRectCallout">
              <a:avLst>
                <a:gd name="adj1" fmla="val 38998"/>
                <a:gd name="adj2" fmla="val 75522"/>
                <a:gd name="adj3" fmla="val 16667"/>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I’m the sort of person who is conscious of my health.  I take aspirin, but I also eat healthy and get lots of sleep…</a:t>
              </a:r>
            </a:p>
          </p:txBody>
        </p:sp>
      </p:grpSp>
      <p:grpSp>
        <p:nvGrpSpPr>
          <p:cNvPr id="12" name="Group 11">
            <a:extLst>
              <a:ext uri="{FF2B5EF4-FFF2-40B4-BE49-F238E27FC236}">
                <a16:creationId xmlns:a16="http://schemas.microsoft.com/office/drawing/2014/main" id="{871F3ABB-B541-19C6-86C9-D683FB1E24F4}"/>
              </a:ext>
            </a:extLst>
          </p:cNvPr>
          <p:cNvGrpSpPr/>
          <p:nvPr/>
        </p:nvGrpSpPr>
        <p:grpSpPr>
          <a:xfrm>
            <a:off x="838200" y="4210494"/>
            <a:ext cx="8171351" cy="2290378"/>
            <a:chOff x="857497" y="2213350"/>
            <a:chExt cx="8171351" cy="2290378"/>
          </a:xfrm>
        </p:grpSpPr>
        <p:sp>
          <p:nvSpPr>
            <p:cNvPr id="13" name="Oval 12">
              <a:extLst>
                <a:ext uri="{FF2B5EF4-FFF2-40B4-BE49-F238E27FC236}">
                  <a16:creationId xmlns:a16="http://schemas.microsoft.com/office/drawing/2014/main" id="{FE7FC1A2-1A7D-8E15-1786-A9AF928B2E6A}"/>
                </a:ext>
              </a:extLst>
            </p:cNvPr>
            <p:cNvSpPr/>
            <p:nvPr/>
          </p:nvSpPr>
          <p:spPr>
            <a:xfrm>
              <a:off x="857497" y="2789086"/>
              <a:ext cx="1819694" cy="1251382"/>
            </a:xfrm>
            <a:prstGeom prst="ellipse">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Being health-conscious</a:t>
              </a:r>
            </a:p>
          </p:txBody>
        </p:sp>
        <p:cxnSp>
          <p:nvCxnSpPr>
            <p:cNvPr id="14" name="Straight Arrow Connector 13">
              <a:extLst>
                <a:ext uri="{FF2B5EF4-FFF2-40B4-BE49-F238E27FC236}">
                  <a16:creationId xmlns:a16="http://schemas.microsoft.com/office/drawing/2014/main" id="{6F1C6428-C267-78D6-544B-589240C2989A}"/>
                </a:ext>
              </a:extLst>
            </p:cNvPr>
            <p:cNvCxnSpPr>
              <a:cxnSpLocks/>
              <a:stCxn id="13" idx="7"/>
              <a:endCxn id="15" idx="2"/>
            </p:cNvCxnSpPr>
            <p:nvPr/>
          </p:nvCxnSpPr>
          <p:spPr>
            <a:xfrm flipV="1">
              <a:off x="2410703" y="2748745"/>
              <a:ext cx="1678768" cy="223602"/>
            </a:xfrm>
            <a:prstGeom prst="straightConnector1">
              <a:avLst/>
            </a:prstGeom>
            <a:ln w="571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xmlns:a16="http://schemas.microsoft.com/office/drawing/2014/main" id="{121A03B4-2643-F358-5241-D64C13C36112}"/>
                </a:ext>
              </a:extLst>
            </p:cNvPr>
            <p:cNvSpPr/>
            <p:nvPr/>
          </p:nvSpPr>
          <p:spPr>
            <a:xfrm>
              <a:off x="4089471" y="2213350"/>
              <a:ext cx="1843485" cy="1070790"/>
            </a:xfrm>
            <a:prstGeom prst="ellips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Taking medicine when sick</a:t>
              </a:r>
            </a:p>
          </p:txBody>
        </p:sp>
        <p:sp>
          <p:nvSpPr>
            <p:cNvPr id="16" name="Oval 15">
              <a:extLst>
                <a:ext uri="{FF2B5EF4-FFF2-40B4-BE49-F238E27FC236}">
                  <a16:creationId xmlns:a16="http://schemas.microsoft.com/office/drawing/2014/main" id="{99D0820A-04E5-BDF5-43C3-DA58F30CB9BB}"/>
                </a:ext>
              </a:extLst>
            </p:cNvPr>
            <p:cNvSpPr/>
            <p:nvPr/>
          </p:nvSpPr>
          <p:spPr>
            <a:xfrm>
              <a:off x="3815445" y="3336658"/>
              <a:ext cx="1974183" cy="1167070"/>
            </a:xfrm>
            <a:prstGeom prst="ellips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Getting lots of sleep</a:t>
              </a:r>
            </a:p>
          </p:txBody>
        </p:sp>
        <p:cxnSp>
          <p:nvCxnSpPr>
            <p:cNvPr id="17" name="Straight Arrow Connector 16">
              <a:extLst>
                <a:ext uri="{FF2B5EF4-FFF2-40B4-BE49-F238E27FC236}">
                  <a16:creationId xmlns:a16="http://schemas.microsoft.com/office/drawing/2014/main" id="{C1ABB7FE-982D-DFB3-2A93-9CC11B810D14}"/>
                </a:ext>
              </a:extLst>
            </p:cNvPr>
            <p:cNvCxnSpPr>
              <a:cxnSpLocks/>
            </p:cNvCxnSpPr>
            <p:nvPr/>
          </p:nvCxnSpPr>
          <p:spPr>
            <a:xfrm>
              <a:off x="2501537" y="3863198"/>
              <a:ext cx="1339250" cy="138096"/>
            </a:xfrm>
            <a:prstGeom prst="straightConnector1">
              <a:avLst/>
            </a:prstGeom>
            <a:ln w="571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1B223B0B-C862-D63D-6CBD-703421546CCC}"/>
                </a:ext>
              </a:extLst>
            </p:cNvPr>
            <p:cNvCxnSpPr>
              <a:cxnSpLocks/>
            </p:cNvCxnSpPr>
            <p:nvPr/>
          </p:nvCxnSpPr>
          <p:spPr>
            <a:xfrm flipV="1">
              <a:off x="5777560" y="3525285"/>
              <a:ext cx="1404340" cy="468829"/>
            </a:xfrm>
            <a:prstGeom prst="straightConnector1">
              <a:avLst/>
            </a:prstGeom>
            <a:ln w="571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E1428834-7F75-9864-6F9E-5FA726C532A7}"/>
                </a:ext>
              </a:extLst>
            </p:cNvPr>
            <p:cNvCxnSpPr>
              <a:cxnSpLocks/>
              <a:stCxn id="15" idx="6"/>
            </p:cNvCxnSpPr>
            <p:nvPr/>
          </p:nvCxnSpPr>
          <p:spPr>
            <a:xfrm>
              <a:off x="5932956" y="2748745"/>
              <a:ext cx="1252407" cy="477199"/>
            </a:xfrm>
            <a:prstGeom prst="straightConnector1">
              <a:avLst/>
            </a:prstGeom>
            <a:ln w="571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20" name="Oval 19">
              <a:extLst>
                <a:ext uri="{FF2B5EF4-FFF2-40B4-BE49-F238E27FC236}">
                  <a16:creationId xmlns:a16="http://schemas.microsoft.com/office/drawing/2014/main" id="{9457DA20-9341-186F-4C01-AFAAFABEF6EB}"/>
                </a:ext>
              </a:extLst>
            </p:cNvPr>
            <p:cNvSpPr/>
            <p:nvPr/>
          </p:nvSpPr>
          <p:spPr>
            <a:xfrm>
              <a:off x="7136111" y="2792408"/>
              <a:ext cx="1892737" cy="1070790"/>
            </a:xfrm>
            <a:prstGeom prst="ellips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Recovering from illness faster</a:t>
              </a:r>
            </a:p>
          </p:txBody>
        </p:sp>
      </p:grpSp>
    </p:spTree>
    <p:extLst>
      <p:ext uri="{BB962C8B-B14F-4D97-AF65-F5344CB8AC3E}">
        <p14:creationId xmlns:p14="http://schemas.microsoft.com/office/powerpoint/2010/main" val="14490119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582138-496A-A69D-0A5C-FBC1CF429F75}"/>
              </a:ext>
            </a:extLst>
          </p:cNvPr>
          <p:cNvSpPr>
            <a:spLocks noGrp="1"/>
          </p:cNvSpPr>
          <p:nvPr>
            <p:ph type="title"/>
          </p:nvPr>
        </p:nvSpPr>
        <p:spPr/>
        <p:txBody>
          <a:bodyPr/>
          <a:lstStyle/>
          <a:p>
            <a:r>
              <a:rPr lang="en-US" dirty="0"/>
              <a:t>(The Magic of) Randomized Control Trials (RCTs)</a:t>
            </a:r>
          </a:p>
        </p:txBody>
      </p:sp>
      <p:sp>
        <p:nvSpPr>
          <p:cNvPr id="3" name="Text Placeholder 2">
            <a:extLst>
              <a:ext uri="{FF2B5EF4-FFF2-40B4-BE49-F238E27FC236}">
                <a16:creationId xmlns:a16="http://schemas.microsoft.com/office/drawing/2014/main" id="{7FBA8A84-6AE1-1668-EFB7-7113A5B1D82E}"/>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5945282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DC2EE1-CC86-70ED-D77A-ED5CC92652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B511D3-5057-75FF-8458-969BCF54136A}"/>
              </a:ext>
            </a:extLst>
          </p:cNvPr>
          <p:cNvSpPr>
            <a:spLocks noGrp="1"/>
          </p:cNvSpPr>
          <p:nvPr>
            <p:ph type="title"/>
          </p:nvPr>
        </p:nvSpPr>
        <p:spPr/>
        <p:txBody>
          <a:bodyPr/>
          <a:lstStyle/>
          <a:p>
            <a:r>
              <a:rPr lang="en-US" sz="2800" dirty="0"/>
              <a:t>Pre-Class Reading:</a:t>
            </a:r>
            <a:br>
              <a:rPr lang="en-US" dirty="0"/>
            </a:br>
            <a:r>
              <a:rPr lang="en-US" dirty="0"/>
              <a:t>To Randomize or not to Randomize?</a:t>
            </a:r>
          </a:p>
        </p:txBody>
      </p:sp>
      <p:pic>
        <p:nvPicPr>
          <p:cNvPr id="1026" name="Picture 2" descr="Angus Deaton | Biography, Nobel Prize, &amp; Facts | Britannica Money">
            <a:extLst>
              <a:ext uri="{FF2B5EF4-FFF2-40B4-BE49-F238E27FC236}">
                <a16:creationId xmlns:a16="http://schemas.microsoft.com/office/drawing/2014/main" id="{EF514164-1176-41E4-214D-480E4F25A7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91475" y="3826123"/>
            <a:ext cx="1828815" cy="2560104"/>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C03EDE29-5F8F-5C3D-2EB8-C3C0D83FF15F}"/>
              </a:ext>
            </a:extLst>
          </p:cNvPr>
          <p:cNvSpPr txBox="1"/>
          <p:nvPr/>
        </p:nvSpPr>
        <p:spPr>
          <a:xfrm>
            <a:off x="7382311" y="6135764"/>
            <a:ext cx="2921017" cy="584775"/>
          </a:xfrm>
          <a:prstGeom prst="rect">
            <a:avLst/>
          </a:prstGeom>
          <a:solidFill>
            <a:schemeClr val="bg1"/>
          </a:solidFill>
        </p:spPr>
        <p:txBody>
          <a:bodyPr wrap="square" rtlCol="0">
            <a:spAutoFit/>
          </a:bodyPr>
          <a:lstStyle/>
          <a:p>
            <a:pPr algn="r"/>
            <a:r>
              <a:rPr lang="en-US" dirty="0"/>
              <a:t>Angus Deaton </a:t>
            </a:r>
          </a:p>
          <a:p>
            <a:pPr algn="r"/>
            <a:r>
              <a:rPr lang="en-US" sz="1400" dirty="0"/>
              <a:t>(2015 Nobel Laureate in Econ)</a:t>
            </a:r>
            <a:endParaRPr lang="en-US" dirty="0"/>
          </a:p>
        </p:txBody>
      </p:sp>
      <p:sp>
        <p:nvSpPr>
          <p:cNvPr id="4" name="TextBox 3">
            <a:extLst>
              <a:ext uri="{FF2B5EF4-FFF2-40B4-BE49-F238E27FC236}">
                <a16:creationId xmlns:a16="http://schemas.microsoft.com/office/drawing/2014/main" id="{173003ED-DF85-E9DD-2933-89FAB8F72CCE}"/>
              </a:ext>
            </a:extLst>
          </p:cNvPr>
          <p:cNvSpPr txBox="1"/>
          <p:nvPr/>
        </p:nvSpPr>
        <p:spPr>
          <a:xfrm>
            <a:off x="685800" y="4653028"/>
            <a:ext cx="6629931" cy="2145268"/>
          </a:xfrm>
          <a:prstGeom prst="wedgeRoundRectCallout">
            <a:avLst>
              <a:gd name="adj1" fmla="val 58459"/>
              <a:gd name="adj2" fmla="val -32898"/>
              <a:gd name="adj3" fmla="val 16667"/>
            </a:avLst>
          </a:prstGeom>
          <a:solidFill>
            <a:schemeClr val="tx2">
              <a:lumMod val="10000"/>
              <a:lumOff val="90000"/>
            </a:schemeClr>
          </a:solidFill>
          <a:ln>
            <a:solidFill>
              <a:schemeClr val="tx1"/>
            </a:solidFill>
          </a:ln>
        </p:spPr>
        <p:txBody>
          <a:bodyPr wrap="square" rtlCol="0">
            <a:spAutoFit/>
          </a:bodyPr>
          <a:lstStyle/>
          <a:p>
            <a:r>
              <a:rPr lang="en-US" sz="2400" dirty="0"/>
              <a:t>“Randomized controlled trials cannot automatically trump other evidence, they do not occupy any special place in some hierarchy of evidence, nor does it make sense to refer to them as ‘hard’ while other methods are ‘soft.’  ”</a:t>
            </a:r>
          </a:p>
        </p:txBody>
      </p:sp>
      <p:pic>
        <p:nvPicPr>
          <p:cNvPr id="1030" name="Picture 6" descr="1890年02月17日英國統計與遺傳學家R. A. Fisher誕生| GeneOnline News">
            <a:extLst>
              <a:ext uri="{FF2B5EF4-FFF2-40B4-BE49-F238E27FC236}">
                <a16:creationId xmlns:a16="http://schemas.microsoft.com/office/drawing/2014/main" id="{69F2E1BE-3A4B-E5FE-5ACE-43F49C1898E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1755165"/>
            <a:ext cx="2690446" cy="223385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3EE7B0F9-0D53-EB3D-1CDB-5F6981EBC99B}"/>
              </a:ext>
            </a:extLst>
          </p:cNvPr>
          <p:cNvSpPr txBox="1"/>
          <p:nvPr/>
        </p:nvSpPr>
        <p:spPr>
          <a:xfrm>
            <a:off x="685800" y="3989016"/>
            <a:ext cx="6981092" cy="584775"/>
          </a:xfrm>
          <a:prstGeom prst="rect">
            <a:avLst/>
          </a:prstGeom>
          <a:noFill/>
        </p:spPr>
        <p:txBody>
          <a:bodyPr wrap="square" rtlCol="0">
            <a:spAutoFit/>
          </a:bodyPr>
          <a:lstStyle/>
          <a:p>
            <a:r>
              <a:rPr lang="en-US" dirty="0"/>
              <a:t>Ronald A. Fisher, 1890-1962</a:t>
            </a:r>
          </a:p>
          <a:p>
            <a:r>
              <a:rPr lang="en-US" sz="1400" dirty="0"/>
              <a:t>(According to Wikipedia, “the single most important figure in 20</a:t>
            </a:r>
            <a:r>
              <a:rPr lang="en-US" sz="1400" baseline="30000" dirty="0"/>
              <a:t>th</a:t>
            </a:r>
            <a:r>
              <a:rPr lang="en-US" sz="1400" dirty="0"/>
              <a:t> century statistics”)</a:t>
            </a:r>
          </a:p>
        </p:txBody>
      </p:sp>
      <p:sp>
        <p:nvSpPr>
          <p:cNvPr id="8" name="TextBox 7">
            <a:extLst>
              <a:ext uri="{FF2B5EF4-FFF2-40B4-BE49-F238E27FC236}">
                <a16:creationId xmlns:a16="http://schemas.microsoft.com/office/drawing/2014/main" id="{C20618FA-20F7-066D-EB35-95786EDB424E}"/>
              </a:ext>
            </a:extLst>
          </p:cNvPr>
          <p:cNvSpPr txBox="1"/>
          <p:nvPr/>
        </p:nvSpPr>
        <p:spPr>
          <a:xfrm>
            <a:off x="4047392" y="1755165"/>
            <a:ext cx="7239000" cy="1736646"/>
          </a:xfrm>
          <a:prstGeom prst="wedgeRoundRectCallout">
            <a:avLst>
              <a:gd name="adj1" fmla="val -69740"/>
              <a:gd name="adj2" fmla="val 20648"/>
              <a:gd name="adj3" fmla="val 16667"/>
            </a:avLst>
          </a:prstGeom>
          <a:solidFill>
            <a:schemeClr val="accent6">
              <a:lumMod val="20000"/>
              <a:lumOff val="80000"/>
            </a:schemeClr>
          </a:solidFill>
          <a:ln>
            <a:solidFill>
              <a:schemeClr val="tx1"/>
            </a:solidFill>
          </a:ln>
        </p:spPr>
        <p:txBody>
          <a:bodyPr wrap="square">
            <a:spAutoFit/>
          </a:bodyPr>
          <a:lstStyle/>
          <a:p>
            <a:r>
              <a:rPr lang="en-US" sz="2400" dirty="0"/>
              <a:t>What’s needed is a "full procedure of randomization, by which the validity of the test of significance may be guaranteed against corruption by the causes of disturbance which have not been eliminated." </a:t>
            </a:r>
          </a:p>
        </p:txBody>
      </p:sp>
    </p:spTree>
    <p:extLst>
      <p:ext uri="{BB962C8B-B14F-4D97-AF65-F5344CB8AC3E}">
        <p14:creationId xmlns:p14="http://schemas.microsoft.com/office/powerpoint/2010/main" val="25912011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20159B-10EE-E323-D54E-F0E126A23F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8936EE-6693-822A-4A62-89DDB2A9D7CD}"/>
              </a:ext>
            </a:extLst>
          </p:cNvPr>
          <p:cNvSpPr>
            <a:spLocks noGrp="1"/>
          </p:cNvSpPr>
          <p:nvPr>
            <p:ph type="title"/>
          </p:nvPr>
        </p:nvSpPr>
        <p:spPr/>
        <p:txBody>
          <a:bodyPr/>
          <a:lstStyle/>
          <a:p>
            <a:r>
              <a:rPr lang="en-US" sz="2800" dirty="0"/>
              <a:t>Pre-Class Reading:</a:t>
            </a:r>
            <a:br>
              <a:rPr lang="en-US" dirty="0"/>
            </a:br>
            <a:r>
              <a:rPr lang="en-US" dirty="0"/>
              <a:t>To Randomize or not to Randomize?</a:t>
            </a:r>
          </a:p>
        </p:txBody>
      </p:sp>
      <p:pic>
        <p:nvPicPr>
          <p:cNvPr id="1026" name="Picture 2" descr="Angus Deaton | Biography, Nobel Prize, &amp; Facts | Britannica Money">
            <a:extLst>
              <a:ext uri="{FF2B5EF4-FFF2-40B4-BE49-F238E27FC236}">
                <a16:creationId xmlns:a16="http://schemas.microsoft.com/office/drawing/2014/main" id="{DFC44430-F39A-7CBB-CE00-3A2079B4A0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91475" y="3826123"/>
            <a:ext cx="1828815" cy="2560104"/>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E13E59A7-C929-AE9F-AE7B-8E63FE2B1E93}"/>
              </a:ext>
            </a:extLst>
          </p:cNvPr>
          <p:cNvSpPr txBox="1"/>
          <p:nvPr/>
        </p:nvSpPr>
        <p:spPr>
          <a:xfrm>
            <a:off x="7382311" y="6135764"/>
            <a:ext cx="2921017" cy="584775"/>
          </a:xfrm>
          <a:prstGeom prst="rect">
            <a:avLst/>
          </a:prstGeom>
          <a:solidFill>
            <a:schemeClr val="bg1"/>
          </a:solidFill>
        </p:spPr>
        <p:txBody>
          <a:bodyPr wrap="square" rtlCol="0">
            <a:spAutoFit/>
          </a:bodyPr>
          <a:lstStyle/>
          <a:p>
            <a:pPr algn="r"/>
            <a:r>
              <a:rPr lang="en-US" dirty="0"/>
              <a:t>Angus Deaton </a:t>
            </a:r>
          </a:p>
          <a:p>
            <a:pPr algn="r"/>
            <a:r>
              <a:rPr lang="en-US" sz="1400" dirty="0"/>
              <a:t>(2015 Nobel Laureate in Econ)</a:t>
            </a:r>
            <a:endParaRPr lang="en-US" dirty="0"/>
          </a:p>
        </p:txBody>
      </p:sp>
      <p:sp>
        <p:nvSpPr>
          <p:cNvPr id="4" name="TextBox 3">
            <a:extLst>
              <a:ext uri="{FF2B5EF4-FFF2-40B4-BE49-F238E27FC236}">
                <a16:creationId xmlns:a16="http://schemas.microsoft.com/office/drawing/2014/main" id="{93A0CDA2-30BA-8AF1-189E-6A74A1CA245D}"/>
              </a:ext>
            </a:extLst>
          </p:cNvPr>
          <p:cNvSpPr txBox="1"/>
          <p:nvPr/>
        </p:nvSpPr>
        <p:spPr>
          <a:xfrm>
            <a:off x="685800" y="4653028"/>
            <a:ext cx="6629931" cy="2145268"/>
          </a:xfrm>
          <a:prstGeom prst="wedgeRoundRectCallout">
            <a:avLst>
              <a:gd name="adj1" fmla="val 58459"/>
              <a:gd name="adj2" fmla="val -32898"/>
              <a:gd name="adj3" fmla="val 16667"/>
            </a:avLst>
          </a:prstGeom>
          <a:solidFill>
            <a:schemeClr val="tx2">
              <a:lumMod val="10000"/>
              <a:lumOff val="90000"/>
            </a:schemeClr>
          </a:solidFill>
          <a:ln>
            <a:solidFill>
              <a:schemeClr val="tx1"/>
            </a:solidFill>
          </a:ln>
        </p:spPr>
        <p:txBody>
          <a:bodyPr wrap="square" rtlCol="0">
            <a:spAutoFit/>
          </a:bodyPr>
          <a:lstStyle/>
          <a:p>
            <a:r>
              <a:rPr lang="en-US" sz="2400" dirty="0"/>
              <a:t>“Randomized controlled trials cannot automatically trump other evidence, they do not occupy any special place in some hierarchy of evidence, nor does it make sense to refer to them as ‘hard’ while other methods are ‘soft.’  ”</a:t>
            </a:r>
          </a:p>
        </p:txBody>
      </p:sp>
      <p:pic>
        <p:nvPicPr>
          <p:cNvPr id="1030" name="Picture 6" descr="1890年02月17日英國統計與遺傳學家R. A. Fisher誕生| GeneOnline News">
            <a:extLst>
              <a:ext uri="{FF2B5EF4-FFF2-40B4-BE49-F238E27FC236}">
                <a16:creationId xmlns:a16="http://schemas.microsoft.com/office/drawing/2014/main" id="{2873F25B-3EC5-F042-5231-C91BFF5D61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1755165"/>
            <a:ext cx="2690446" cy="223385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C6341658-01D2-AA20-3C7A-7AADC7DB8ABB}"/>
              </a:ext>
            </a:extLst>
          </p:cNvPr>
          <p:cNvSpPr txBox="1"/>
          <p:nvPr/>
        </p:nvSpPr>
        <p:spPr>
          <a:xfrm>
            <a:off x="685800" y="3989016"/>
            <a:ext cx="6981092" cy="584775"/>
          </a:xfrm>
          <a:prstGeom prst="rect">
            <a:avLst/>
          </a:prstGeom>
          <a:noFill/>
        </p:spPr>
        <p:txBody>
          <a:bodyPr wrap="square" rtlCol="0">
            <a:spAutoFit/>
          </a:bodyPr>
          <a:lstStyle/>
          <a:p>
            <a:r>
              <a:rPr lang="en-US" dirty="0"/>
              <a:t>Ronald A. Fisher, 1890-1962</a:t>
            </a:r>
          </a:p>
          <a:p>
            <a:r>
              <a:rPr lang="en-US" sz="1400" dirty="0"/>
              <a:t>(According to Wikipedia, “the single most important figure in 20</a:t>
            </a:r>
            <a:r>
              <a:rPr lang="en-US" sz="1400" baseline="30000" dirty="0"/>
              <a:t>th</a:t>
            </a:r>
            <a:r>
              <a:rPr lang="en-US" sz="1400" dirty="0"/>
              <a:t> century statistics”)</a:t>
            </a:r>
          </a:p>
        </p:txBody>
      </p:sp>
      <p:sp>
        <p:nvSpPr>
          <p:cNvPr id="8" name="TextBox 7">
            <a:extLst>
              <a:ext uri="{FF2B5EF4-FFF2-40B4-BE49-F238E27FC236}">
                <a16:creationId xmlns:a16="http://schemas.microsoft.com/office/drawing/2014/main" id="{AB98D94C-AA38-BDDE-3216-0B181B46B8CE}"/>
              </a:ext>
            </a:extLst>
          </p:cNvPr>
          <p:cNvSpPr txBox="1"/>
          <p:nvPr/>
        </p:nvSpPr>
        <p:spPr>
          <a:xfrm>
            <a:off x="4047392" y="1755165"/>
            <a:ext cx="7239000" cy="1736646"/>
          </a:xfrm>
          <a:prstGeom prst="wedgeRoundRectCallout">
            <a:avLst>
              <a:gd name="adj1" fmla="val -69740"/>
              <a:gd name="adj2" fmla="val 20648"/>
              <a:gd name="adj3" fmla="val 16667"/>
            </a:avLst>
          </a:prstGeom>
          <a:solidFill>
            <a:schemeClr val="accent6">
              <a:lumMod val="20000"/>
              <a:lumOff val="80000"/>
            </a:schemeClr>
          </a:solidFill>
          <a:ln>
            <a:solidFill>
              <a:schemeClr val="tx1"/>
            </a:solidFill>
          </a:ln>
        </p:spPr>
        <p:txBody>
          <a:bodyPr wrap="square">
            <a:spAutoFit/>
          </a:bodyPr>
          <a:lstStyle/>
          <a:p>
            <a:r>
              <a:rPr lang="en-US" sz="2400" dirty="0"/>
              <a:t>What’s needed is a "full procedure of randomization, by which the validity of the test of significance may be guaranteed against corruption by the causes of disturbance which have not been eliminated." </a:t>
            </a:r>
          </a:p>
        </p:txBody>
      </p:sp>
      <p:pic>
        <p:nvPicPr>
          <p:cNvPr id="7" name="Picture 6" descr="A diagram of a pyramid with Mediterranean Sea in the background&#10;&#10;AI-generated content may be incorrect.">
            <a:extLst>
              <a:ext uri="{FF2B5EF4-FFF2-40B4-BE49-F238E27FC236}">
                <a16:creationId xmlns:a16="http://schemas.microsoft.com/office/drawing/2014/main" id="{D96387ED-9A7C-D383-3312-883BF21483B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000326" y="3657994"/>
            <a:ext cx="2041929" cy="2067668"/>
          </a:xfrm>
          <a:prstGeom prst="rect">
            <a:avLst/>
          </a:prstGeom>
        </p:spPr>
      </p:pic>
    </p:spTree>
    <p:extLst>
      <p:ext uri="{BB962C8B-B14F-4D97-AF65-F5344CB8AC3E}">
        <p14:creationId xmlns:p14="http://schemas.microsoft.com/office/powerpoint/2010/main" val="2615064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2E8BA3-F49D-4FA7-F392-13E1F996CE76}"/>
              </a:ext>
            </a:extLst>
          </p:cNvPr>
          <p:cNvSpPr>
            <a:spLocks noGrp="1"/>
          </p:cNvSpPr>
          <p:nvPr>
            <p:ph type="title"/>
          </p:nvPr>
        </p:nvSpPr>
        <p:spPr/>
        <p:txBody>
          <a:bodyPr/>
          <a:lstStyle/>
          <a:p>
            <a:r>
              <a:rPr lang="en-US" dirty="0"/>
              <a:t>What do you think?</a:t>
            </a:r>
          </a:p>
        </p:txBody>
      </p:sp>
      <p:cxnSp>
        <p:nvCxnSpPr>
          <p:cNvPr id="5" name="Straight Arrow Connector 4">
            <a:extLst>
              <a:ext uri="{FF2B5EF4-FFF2-40B4-BE49-F238E27FC236}">
                <a16:creationId xmlns:a16="http://schemas.microsoft.com/office/drawing/2014/main" id="{45E3FC43-0599-BBA9-2960-D0A88EE54889}"/>
              </a:ext>
            </a:extLst>
          </p:cNvPr>
          <p:cNvCxnSpPr/>
          <p:nvPr/>
        </p:nvCxnSpPr>
        <p:spPr>
          <a:xfrm>
            <a:off x="1863970" y="3845168"/>
            <a:ext cx="8745415" cy="0"/>
          </a:xfrm>
          <a:prstGeom prst="straightConnector1">
            <a:avLst/>
          </a:prstGeom>
          <a:ln w="76200">
            <a:solidFill>
              <a:srgbClr val="C00000"/>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CCCB7CEF-75F6-AAF9-13BC-52A7B83CDF5A}"/>
              </a:ext>
            </a:extLst>
          </p:cNvPr>
          <p:cNvSpPr txBox="1"/>
          <p:nvPr/>
        </p:nvSpPr>
        <p:spPr>
          <a:xfrm>
            <a:off x="9050215" y="2228671"/>
            <a:ext cx="2766645" cy="1200329"/>
          </a:xfrm>
          <a:prstGeom prst="rect">
            <a:avLst/>
          </a:prstGeom>
          <a:noFill/>
        </p:spPr>
        <p:txBody>
          <a:bodyPr wrap="square" rtlCol="0">
            <a:spAutoFit/>
          </a:bodyPr>
          <a:lstStyle/>
          <a:p>
            <a:r>
              <a:rPr lang="en-US" dirty="0"/>
              <a:t>Randomization (or some approximation of it) is the only way we can make causal statements!</a:t>
            </a:r>
          </a:p>
        </p:txBody>
      </p:sp>
      <p:cxnSp>
        <p:nvCxnSpPr>
          <p:cNvPr id="8" name="Straight Connector 7">
            <a:extLst>
              <a:ext uri="{FF2B5EF4-FFF2-40B4-BE49-F238E27FC236}">
                <a16:creationId xmlns:a16="http://schemas.microsoft.com/office/drawing/2014/main" id="{D3E60D07-5E74-6A65-55F0-63FE7F47CF74}"/>
              </a:ext>
            </a:extLst>
          </p:cNvPr>
          <p:cNvCxnSpPr/>
          <p:nvPr/>
        </p:nvCxnSpPr>
        <p:spPr>
          <a:xfrm>
            <a:off x="9976338" y="3563815"/>
            <a:ext cx="0" cy="586154"/>
          </a:xfrm>
          <a:prstGeom prst="line">
            <a:avLst/>
          </a:prstGeom>
          <a:ln w="38100">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4A3C47D5-4C1B-1E62-A2DA-0603D8013A7A}"/>
              </a:ext>
            </a:extLst>
          </p:cNvPr>
          <p:cNvCxnSpPr/>
          <p:nvPr/>
        </p:nvCxnSpPr>
        <p:spPr>
          <a:xfrm>
            <a:off x="2461846" y="3563815"/>
            <a:ext cx="0" cy="586154"/>
          </a:xfrm>
          <a:prstGeom prst="line">
            <a:avLst/>
          </a:prstGeom>
          <a:ln w="38100">
            <a:solidFill>
              <a:srgbClr val="C00000"/>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B0329ECD-79DA-9D6E-E605-DA5E2DFB891C}"/>
              </a:ext>
            </a:extLst>
          </p:cNvPr>
          <p:cNvSpPr txBox="1"/>
          <p:nvPr/>
        </p:nvSpPr>
        <p:spPr>
          <a:xfrm>
            <a:off x="908542" y="2222809"/>
            <a:ext cx="3106608" cy="1200329"/>
          </a:xfrm>
          <a:prstGeom prst="rect">
            <a:avLst/>
          </a:prstGeom>
          <a:noFill/>
        </p:spPr>
        <p:txBody>
          <a:bodyPr wrap="square" rtlCol="0">
            <a:spAutoFit/>
          </a:bodyPr>
          <a:lstStyle/>
          <a:p>
            <a:pPr algn="ctr"/>
            <a:r>
              <a:rPr lang="en-US" dirty="0"/>
              <a:t>Randomization is not a good idea.  It limits us from taking advantage of our own knowledge/intuition.</a:t>
            </a:r>
          </a:p>
        </p:txBody>
      </p:sp>
      <p:cxnSp>
        <p:nvCxnSpPr>
          <p:cNvPr id="11" name="Straight Connector 10">
            <a:extLst>
              <a:ext uri="{FF2B5EF4-FFF2-40B4-BE49-F238E27FC236}">
                <a16:creationId xmlns:a16="http://schemas.microsoft.com/office/drawing/2014/main" id="{E66118E0-89A0-4F50-8379-8DA248591E7D}"/>
              </a:ext>
            </a:extLst>
          </p:cNvPr>
          <p:cNvCxnSpPr/>
          <p:nvPr/>
        </p:nvCxnSpPr>
        <p:spPr>
          <a:xfrm>
            <a:off x="6107723" y="3563815"/>
            <a:ext cx="0" cy="586154"/>
          </a:xfrm>
          <a:prstGeom prst="line">
            <a:avLst/>
          </a:prstGeom>
          <a:ln w="38100">
            <a:solidFill>
              <a:srgbClr val="C00000"/>
            </a:solidFill>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7C691741-2042-FC33-27C9-F50610C65ADA}"/>
              </a:ext>
            </a:extLst>
          </p:cNvPr>
          <p:cNvSpPr txBox="1"/>
          <p:nvPr/>
        </p:nvSpPr>
        <p:spPr>
          <a:xfrm>
            <a:off x="5342794" y="3150494"/>
            <a:ext cx="1529857" cy="369332"/>
          </a:xfrm>
          <a:prstGeom prst="rect">
            <a:avLst/>
          </a:prstGeom>
          <a:noFill/>
        </p:spPr>
        <p:txBody>
          <a:bodyPr wrap="square" rtlCol="0">
            <a:spAutoFit/>
          </a:bodyPr>
          <a:lstStyle/>
          <a:p>
            <a:pPr algn="ctr"/>
            <a:r>
              <a:rPr lang="en-US" dirty="0"/>
              <a:t>Meh.</a:t>
            </a:r>
          </a:p>
        </p:txBody>
      </p:sp>
    </p:spTree>
    <p:extLst>
      <p:ext uri="{BB962C8B-B14F-4D97-AF65-F5344CB8AC3E}">
        <p14:creationId xmlns:p14="http://schemas.microsoft.com/office/powerpoint/2010/main" val="41761441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6194F-7AC4-F51F-93B7-B5657E9A667F}"/>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4D5E3FC8-0336-A13C-B651-69028E45A124}"/>
              </a:ext>
            </a:extLst>
          </p:cNvPr>
          <p:cNvSpPr>
            <a:spLocks noGrp="1"/>
          </p:cNvSpPr>
          <p:nvPr>
            <p:ph type="subTitle" idx="1"/>
          </p:nvPr>
        </p:nvSpPr>
        <p:spPr/>
        <p:txBody>
          <a:bodyPr/>
          <a:lstStyle/>
          <a:p>
            <a:endParaRPr lang="en-US"/>
          </a:p>
        </p:txBody>
      </p:sp>
      <p:pic>
        <p:nvPicPr>
          <p:cNvPr id="5" name="slide.url=https://www.polleverywhere.com/clickable_images/pzoXCXhdbaDKqmdbnYvQX">
            <a:extLst>
              <a:ext uri="{FF2B5EF4-FFF2-40B4-BE49-F238E27FC236}">
                <a16:creationId xmlns:a16="http://schemas.microsoft.com/office/drawing/2014/main" id="{BD1CD0F8-0D28-0E6C-6306-273784F1B02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3500" y="63500"/>
            <a:ext cx="12065000" cy="6731000"/>
          </a:xfrm>
          <a:prstGeom prst="rect">
            <a:avLst/>
          </a:prstGeom>
        </p:spPr>
      </p:pic>
    </p:spTree>
    <p:extLst>
      <p:ext uri="{BB962C8B-B14F-4D97-AF65-F5344CB8AC3E}">
        <p14:creationId xmlns:p14="http://schemas.microsoft.com/office/powerpoint/2010/main" val="7076946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65A5A0-204D-AABD-7409-7A44FCB60023}"/>
              </a:ext>
            </a:extLst>
          </p:cNvPr>
          <p:cNvSpPr>
            <a:spLocks noGrp="1"/>
          </p:cNvSpPr>
          <p:nvPr>
            <p:ph type="title"/>
          </p:nvPr>
        </p:nvSpPr>
        <p:spPr/>
        <p:txBody>
          <a:bodyPr/>
          <a:lstStyle/>
          <a:p>
            <a:r>
              <a:rPr lang="en-US" dirty="0"/>
              <a:t>Our approach in this class</a:t>
            </a:r>
          </a:p>
        </p:txBody>
      </p:sp>
      <p:sp>
        <p:nvSpPr>
          <p:cNvPr id="3" name="Content Placeholder 2">
            <a:extLst>
              <a:ext uri="{FF2B5EF4-FFF2-40B4-BE49-F238E27FC236}">
                <a16:creationId xmlns:a16="http://schemas.microsoft.com/office/drawing/2014/main" id="{3511ED3C-524C-2EF0-BC1F-F2DBEA13C4F3}"/>
              </a:ext>
            </a:extLst>
          </p:cNvPr>
          <p:cNvSpPr>
            <a:spLocks noGrp="1"/>
          </p:cNvSpPr>
          <p:nvPr>
            <p:ph idx="1"/>
          </p:nvPr>
        </p:nvSpPr>
        <p:spPr/>
        <p:txBody>
          <a:bodyPr/>
          <a:lstStyle/>
          <a:p>
            <a:r>
              <a:rPr lang="en-US" dirty="0"/>
              <a:t>Randomization is good.</a:t>
            </a:r>
          </a:p>
          <a:p>
            <a:pPr lvl="1"/>
            <a:r>
              <a:rPr lang="en-US" dirty="0">
                <a:solidFill>
                  <a:schemeClr val="accent1"/>
                </a:solidFill>
              </a:rPr>
              <a:t>Today, we’ll formalize why! </a:t>
            </a:r>
          </a:p>
          <a:p>
            <a:endParaRPr lang="en-US" dirty="0"/>
          </a:p>
          <a:p>
            <a:r>
              <a:rPr lang="en-US" dirty="0"/>
              <a:t>But there are legitimate concerns about randomized experiments.</a:t>
            </a:r>
          </a:p>
          <a:p>
            <a:pPr lvl="1"/>
            <a:r>
              <a:rPr lang="en-US" dirty="0">
                <a:solidFill>
                  <a:schemeClr val="accent1"/>
                </a:solidFill>
              </a:rPr>
              <a:t>Next time, we’ll talk about those!</a:t>
            </a:r>
          </a:p>
        </p:txBody>
      </p:sp>
    </p:spTree>
    <p:extLst>
      <p:ext uri="{BB962C8B-B14F-4D97-AF65-F5344CB8AC3E}">
        <p14:creationId xmlns:p14="http://schemas.microsoft.com/office/powerpoint/2010/main" val="35257977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67D4AB-7D2D-3313-6805-4D514C227DCC}"/>
              </a:ext>
            </a:extLst>
          </p:cNvPr>
          <p:cNvSpPr>
            <a:spLocks noGrp="1"/>
          </p:cNvSpPr>
          <p:nvPr>
            <p:ph type="title"/>
          </p:nvPr>
        </p:nvSpPr>
        <p:spPr/>
        <p:txBody>
          <a:bodyPr/>
          <a:lstStyle/>
          <a:p>
            <a:r>
              <a:rPr lang="en-US" dirty="0"/>
              <a:t>Randomized Control Trials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6664B51-14CA-BCF6-9E28-A32AE953B4B9}"/>
                  </a:ext>
                </a:extLst>
              </p:cNvPr>
              <p:cNvSpPr>
                <a:spLocks noGrp="1"/>
              </p:cNvSpPr>
              <p:nvPr>
                <p:ph idx="1"/>
              </p:nvPr>
            </p:nvSpPr>
            <p:spPr>
              <a:xfrm>
                <a:off x="838200" y="1825625"/>
                <a:ext cx="11099800" cy="4351338"/>
              </a:xfrm>
            </p:spPr>
            <p:txBody>
              <a:bodyPr/>
              <a:lstStyle/>
              <a:p>
                <a:r>
                  <a:rPr lang="en-US" dirty="0"/>
                  <a:t>Say we want to know the effect of a treatment (aspirin) on an outcome (headaches)</a:t>
                </a:r>
              </a:p>
              <a:p>
                <a:r>
                  <a:rPr lang="en-US" b="1" dirty="0"/>
                  <a:t>Randomly </a:t>
                </a:r>
                <a:r>
                  <a:rPr lang="en-US" dirty="0"/>
                  <a:t>divide people into a treatment group (aspirin) and a control group (placebo).</a:t>
                </a:r>
                <a:endParaRPr lang="en-US" b="1" dirty="0"/>
              </a:p>
              <a:p>
                <a:r>
                  <a:rPr lang="en-US" dirty="0"/>
                  <a:t>Look at </a:t>
                </a:r>
                <a14:m>
                  <m:oMath xmlns:m="http://schemas.openxmlformats.org/officeDocument/2006/math">
                    <m:f>
                      <m:fPr>
                        <m:ctrlPr>
                          <a:rPr lang="en-US" i="1" dirty="0">
                            <a:solidFill>
                              <a:schemeClr val="accent1"/>
                            </a:solidFill>
                            <a:latin typeface="Cambria Math" panose="02040503050406030204" pitchFamily="18" charset="0"/>
                          </a:rPr>
                        </m:ctrlPr>
                      </m:fPr>
                      <m:num>
                        <m:r>
                          <a:rPr lang="en-US" i="1" dirty="0">
                            <a:solidFill>
                              <a:schemeClr val="accent1"/>
                            </a:solidFill>
                            <a:latin typeface="Cambria Math" panose="02040503050406030204" pitchFamily="18" charset="0"/>
                          </a:rPr>
                          <m:t>1</m:t>
                        </m:r>
                      </m:num>
                      <m:den>
                        <m:sSub>
                          <m:sSubPr>
                            <m:ctrlPr>
                              <a:rPr lang="en-US" i="1" dirty="0">
                                <a:solidFill>
                                  <a:schemeClr val="accent1"/>
                                </a:solidFill>
                                <a:latin typeface="Cambria Math" panose="02040503050406030204" pitchFamily="18" charset="0"/>
                              </a:rPr>
                            </m:ctrlPr>
                          </m:sSubPr>
                          <m:e>
                            <m:r>
                              <a:rPr lang="en-US" i="1" dirty="0">
                                <a:solidFill>
                                  <a:schemeClr val="accent1"/>
                                </a:solidFill>
                                <a:latin typeface="Cambria Math" panose="02040503050406030204" pitchFamily="18" charset="0"/>
                              </a:rPr>
                              <m:t>𝑁</m:t>
                            </m:r>
                          </m:e>
                          <m:sub>
                            <m:r>
                              <a:rPr lang="en-US" i="1" dirty="0">
                                <a:solidFill>
                                  <a:schemeClr val="accent1"/>
                                </a:solidFill>
                                <a:latin typeface="Cambria Math" panose="02040503050406030204" pitchFamily="18" charset="0"/>
                              </a:rPr>
                              <m:t>1</m:t>
                            </m:r>
                          </m:sub>
                        </m:sSub>
                      </m:den>
                    </m:f>
                    <m:nary>
                      <m:naryPr>
                        <m:chr m:val="∑"/>
                        <m:supHide m:val="on"/>
                        <m:ctrlPr>
                          <a:rPr lang="en-US" i="1" dirty="0">
                            <a:solidFill>
                              <a:schemeClr val="accent1"/>
                            </a:solidFill>
                            <a:latin typeface="Cambria Math" panose="02040503050406030204" pitchFamily="18" charset="0"/>
                          </a:rPr>
                        </m:ctrlPr>
                      </m:naryPr>
                      <m:sub>
                        <m:r>
                          <m:rPr>
                            <m:brk m:alnAt="7"/>
                          </m:rPr>
                          <a:rPr lang="en-US" i="1" dirty="0">
                            <a:solidFill>
                              <a:schemeClr val="accent1"/>
                            </a:solidFill>
                            <a:latin typeface="Cambria Math" panose="02040503050406030204" pitchFamily="18" charset="0"/>
                          </a:rPr>
                          <m:t>𝑖</m:t>
                        </m:r>
                        <m:r>
                          <a:rPr lang="en-US" i="1" dirty="0">
                            <a:solidFill>
                              <a:schemeClr val="accent1"/>
                            </a:solidFill>
                            <a:latin typeface="Cambria Math" panose="02040503050406030204" pitchFamily="18" charset="0"/>
                          </a:rPr>
                          <m:t>:</m:t>
                        </m:r>
                        <m:sSub>
                          <m:sSubPr>
                            <m:ctrlPr>
                              <a:rPr lang="en-US" i="1" dirty="0">
                                <a:solidFill>
                                  <a:schemeClr val="accent1"/>
                                </a:solidFill>
                                <a:latin typeface="Cambria Math" panose="02040503050406030204" pitchFamily="18" charset="0"/>
                              </a:rPr>
                            </m:ctrlPr>
                          </m:sSubPr>
                          <m:e>
                            <m:r>
                              <m:rPr>
                                <m:brk m:alnAt="7"/>
                              </m:rPr>
                              <a:rPr lang="en-US" i="1" dirty="0">
                                <a:solidFill>
                                  <a:schemeClr val="accent1"/>
                                </a:solidFill>
                                <a:latin typeface="Cambria Math" panose="02040503050406030204" pitchFamily="18" charset="0"/>
                              </a:rPr>
                              <m:t>𝑊</m:t>
                            </m:r>
                          </m:e>
                          <m:sub>
                            <m:r>
                              <m:rPr>
                                <m:brk m:alnAt="7"/>
                              </m:rPr>
                              <a:rPr lang="en-US" i="1" dirty="0">
                                <a:solidFill>
                                  <a:schemeClr val="accent1"/>
                                </a:solidFill>
                                <a:latin typeface="Cambria Math" panose="02040503050406030204" pitchFamily="18" charset="0"/>
                              </a:rPr>
                              <m:t>𝑖</m:t>
                            </m:r>
                          </m:sub>
                        </m:sSub>
                        <m:r>
                          <m:rPr>
                            <m:brk m:alnAt="7"/>
                          </m:rPr>
                          <a:rPr lang="en-US" i="1" dirty="0">
                            <a:solidFill>
                              <a:schemeClr val="accent1"/>
                            </a:solidFill>
                            <a:latin typeface="Cambria Math" panose="02040503050406030204" pitchFamily="18" charset="0"/>
                          </a:rPr>
                          <m:t>=</m:t>
                        </m:r>
                        <m:r>
                          <a:rPr lang="en-US" i="1" dirty="0">
                            <a:solidFill>
                              <a:schemeClr val="accent1"/>
                            </a:solidFill>
                            <a:latin typeface="Cambria Math" panose="02040503050406030204" pitchFamily="18" charset="0"/>
                          </a:rPr>
                          <m:t>1</m:t>
                        </m:r>
                      </m:sub>
                      <m:sup/>
                      <m:e>
                        <m:sSub>
                          <m:sSubPr>
                            <m:ctrlPr>
                              <a:rPr lang="en-US" i="1" dirty="0">
                                <a:solidFill>
                                  <a:schemeClr val="accent1"/>
                                </a:solidFill>
                                <a:latin typeface="Cambria Math" panose="02040503050406030204" pitchFamily="18" charset="0"/>
                              </a:rPr>
                            </m:ctrlPr>
                          </m:sSubPr>
                          <m:e>
                            <m:r>
                              <a:rPr lang="en-US" i="1" dirty="0">
                                <a:solidFill>
                                  <a:schemeClr val="accent1"/>
                                </a:solidFill>
                                <a:latin typeface="Cambria Math" panose="02040503050406030204" pitchFamily="18" charset="0"/>
                              </a:rPr>
                              <m:t>𝑌</m:t>
                            </m:r>
                          </m:e>
                          <m:sub>
                            <m:r>
                              <a:rPr lang="en-US" i="1" dirty="0">
                                <a:solidFill>
                                  <a:schemeClr val="accent1"/>
                                </a:solidFill>
                                <a:latin typeface="Cambria Math" panose="02040503050406030204" pitchFamily="18" charset="0"/>
                              </a:rPr>
                              <m:t>𝑖</m:t>
                            </m:r>
                          </m:sub>
                        </m:sSub>
                      </m:e>
                    </m:nary>
                    <m:r>
                      <a:rPr lang="en-US" i="1" dirty="0">
                        <a:solidFill>
                          <a:schemeClr val="accent1"/>
                        </a:solidFill>
                        <a:latin typeface="Cambria Math" panose="02040503050406030204" pitchFamily="18" charset="0"/>
                      </a:rPr>
                      <m:t>−</m:t>
                    </m:r>
                    <m:f>
                      <m:fPr>
                        <m:ctrlPr>
                          <a:rPr lang="en-US" i="1" dirty="0">
                            <a:solidFill>
                              <a:schemeClr val="accent1"/>
                            </a:solidFill>
                            <a:latin typeface="Cambria Math" panose="02040503050406030204" pitchFamily="18" charset="0"/>
                          </a:rPr>
                        </m:ctrlPr>
                      </m:fPr>
                      <m:num>
                        <m:r>
                          <a:rPr lang="en-US" i="1" dirty="0">
                            <a:solidFill>
                              <a:schemeClr val="accent1"/>
                            </a:solidFill>
                            <a:latin typeface="Cambria Math" panose="02040503050406030204" pitchFamily="18" charset="0"/>
                          </a:rPr>
                          <m:t>1</m:t>
                        </m:r>
                      </m:num>
                      <m:den>
                        <m:sSub>
                          <m:sSubPr>
                            <m:ctrlPr>
                              <a:rPr lang="en-US" i="1" dirty="0">
                                <a:solidFill>
                                  <a:schemeClr val="accent1"/>
                                </a:solidFill>
                                <a:latin typeface="Cambria Math" panose="02040503050406030204" pitchFamily="18" charset="0"/>
                              </a:rPr>
                            </m:ctrlPr>
                          </m:sSubPr>
                          <m:e>
                            <m:r>
                              <a:rPr lang="en-US" i="1" dirty="0">
                                <a:solidFill>
                                  <a:schemeClr val="accent1"/>
                                </a:solidFill>
                                <a:latin typeface="Cambria Math" panose="02040503050406030204" pitchFamily="18" charset="0"/>
                              </a:rPr>
                              <m:t>𝑁</m:t>
                            </m:r>
                          </m:e>
                          <m:sub>
                            <m:r>
                              <a:rPr lang="en-US" i="1" dirty="0">
                                <a:solidFill>
                                  <a:schemeClr val="accent1"/>
                                </a:solidFill>
                                <a:latin typeface="Cambria Math" panose="02040503050406030204" pitchFamily="18" charset="0"/>
                              </a:rPr>
                              <m:t>0</m:t>
                            </m:r>
                          </m:sub>
                        </m:sSub>
                      </m:den>
                    </m:f>
                    <m:nary>
                      <m:naryPr>
                        <m:chr m:val="∑"/>
                        <m:supHide m:val="on"/>
                        <m:ctrlPr>
                          <a:rPr lang="en-US" i="1" dirty="0">
                            <a:solidFill>
                              <a:schemeClr val="accent1"/>
                            </a:solidFill>
                            <a:latin typeface="Cambria Math" panose="02040503050406030204" pitchFamily="18" charset="0"/>
                          </a:rPr>
                        </m:ctrlPr>
                      </m:naryPr>
                      <m:sub>
                        <m:r>
                          <m:rPr>
                            <m:brk m:alnAt="7"/>
                          </m:rPr>
                          <a:rPr lang="en-US" i="1" dirty="0">
                            <a:solidFill>
                              <a:schemeClr val="accent1"/>
                            </a:solidFill>
                            <a:latin typeface="Cambria Math" panose="02040503050406030204" pitchFamily="18" charset="0"/>
                          </a:rPr>
                          <m:t>𝑖</m:t>
                        </m:r>
                        <m:r>
                          <a:rPr lang="en-US" i="1" dirty="0">
                            <a:solidFill>
                              <a:schemeClr val="accent1"/>
                            </a:solidFill>
                            <a:latin typeface="Cambria Math" panose="02040503050406030204" pitchFamily="18" charset="0"/>
                          </a:rPr>
                          <m:t>:</m:t>
                        </m:r>
                        <m:sSub>
                          <m:sSubPr>
                            <m:ctrlPr>
                              <a:rPr lang="en-US" i="1" dirty="0">
                                <a:solidFill>
                                  <a:schemeClr val="accent1"/>
                                </a:solidFill>
                                <a:latin typeface="Cambria Math" panose="02040503050406030204" pitchFamily="18" charset="0"/>
                              </a:rPr>
                            </m:ctrlPr>
                          </m:sSubPr>
                          <m:e>
                            <m:r>
                              <m:rPr>
                                <m:brk m:alnAt="7"/>
                              </m:rPr>
                              <a:rPr lang="en-US" i="1" dirty="0">
                                <a:solidFill>
                                  <a:schemeClr val="accent1"/>
                                </a:solidFill>
                                <a:latin typeface="Cambria Math" panose="02040503050406030204" pitchFamily="18" charset="0"/>
                              </a:rPr>
                              <m:t>𝑊</m:t>
                            </m:r>
                          </m:e>
                          <m:sub>
                            <m:r>
                              <m:rPr>
                                <m:brk m:alnAt="7"/>
                              </m:rPr>
                              <a:rPr lang="en-US" i="1" dirty="0">
                                <a:solidFill>
                                  <a:schemeClr val="accent1"/>
                                </a:solidFill>
                                <a:latin typeface="Cambria Math" panose="02040503050406030204" pitchFamily="18" charset="0"/>
                              </a:rPr>
                              <m:t>𝑖</m:t>
                            </m:r>
                          </m:sub>
                        </m:sSub>
                        <m:r>
                          <m:rPr>
                            <m:brk m:alnAt="7"/>
                          </m:rPr>
                          <a:rPr lang="en-US" i="1" dirty="0">
                            <a:solidFill>
                              <a:schemeClr val="accent1"/>
                            </a:solidFill>
                            <a:latin typeface="Cambria Math" panose="02040503050406030204" pitchFamily="18" charset="0"/>
                          </a:rPr>
                          <m:t>=</m:t>
                        </m:r>
                        <m:r>
                          <a:rPr lang="en-US" i="1" dirty="0">
                            <a:solidFill>
                              <a:schemeClr val="accent1"/>
                            </a:solidFill>
                            <a:latin typeface="Cambria Math" panose="02040503050406030204" pitchFamily="18" charset="0"/>
                          </a:rPr>
                          <m:t>0</m:t>
                        </m:r>
                      </m:sub>
                      <m:sup/>
                      <m:e>
                        <m:sSub>
                          <m:sSubPr>
                            <m:ctrlPr>
                              <a:rPr lang="en-US" i="1" dirty="0">
                                <a:solidFill>
                                  <a:schemeClr val="accent1"/>
                                </a:solidFill>
                                <a:latin typeface="Cambria Math" panose="02040503050406030204" pitchFamily="18" charset="0"/>
                              </a:rPr>
                            </m:ctrlPr>
                          </m:sSubPr>
                          <m:e>
                            <m:r>
                              <a:rPr lang="en-US" i="1" dirty="0">
                                <a:solidFill>
                                  <a:schemeClr val="accent1"/>
                                </a:solidFill>
                                <a:latin typeface="Cambria Math" panose="02040503050406030204" pitchFamily="18" charset="0"/>
                              </a:rPr>
                              <m:t>𝑌</m:t>
                            </m:r>
                          </m:e>
                          <m:sub>
                            <m:r>
                              <a:rPr lang="en-US" i="1" dirty="0">
                                <a:solidFill>
                                  <a:schemeClr val="accent1"/>
                                </a:solidFill>
                                <a:latin typeface="Cambria Math" panose="02040503050406030204" pitchFamily="18" charset="0"/>
                              </a:rPr>
                              <m:t>𝑖</m:t>
                            </m:r>
                          </m:sub>
                        </m:sSub>
                      </m:e>
                    </m:nary>
                  </m:oMath>
                </a14:m>
                <a:r>
                  <a:rPr lang="en-US" dirty="0"/>
                  <a:t> and hope it’s close to ATE.</a:t>
                </a:r>
              </a:p>
            </p:txBody>
          </p:sp>
        </mc:Choice>
        <mc:Fallback xmlns="">
          <p:sp>
            <p:nvSpPr>
              <p:cNvPr id="3" name="Content Placeholder 2">
                <a:extLst>
                  <a:ext uri="{FF2B5EF4-FFF2-40B4-BE49-F238E27FC236}">
                    <a16:creationId xmlns:a16="http://schemas.microsoft.com/office/drawing/2014/main" id="{16664B51-14CA-BCF6-9E28-A32AE953B4B9}"/>
                  </a:ext>
                </a:extLst>
              </p:cNvPr>
              <p:cNvSpPr>
                <a:spLocks noGrp="1" noRot="1" noChangeAspect="1" noMove="1" noResize="1" noEditPoints="1" noAdjustHandles="1" noChangeArrowheads="1" noChangeShapeType="1" noTextEdit="1"/>
              </p:cNvSpPr>
              <p:nvPr>
                <p:ph idx="1"/>
              </p:nvPr>
            </p:nvSpPr>
            <p:spPr>
              <a:xfrm>
                <a:off x="838200" y="1825625"/>
                <a:ext cx="11099800" cy="4351338"/>
              </a:xfrm>
              <a:blipFill>
                <a:blip r:embed="rId3"/>
                <a:stretch>
                  <a:fillRect l="-1030" t="-2326"/>
                </a:stretch>
              </a:blipFill>
            </p:spPr>
            <p:txBody>
              <a:bodyPr/>
              <a:lstStyle/>
              <a:p>
                <a:r>
                  <a:rPr lang="en-US">
                    <a:noFill/>
                  </a:rPr>
                  <a:t> </a:t>
                </a:r>
              </a:p>
            </p:txBody>
          </p:sp>
        </mc:Fallback>
      </mc:AlternateContent>
      <p:grpSp>
        <p:nvGrpSpPr>
          <p:cNvPr id="6" name="Group 5">
            <a:extLst>
              <a:ext uri="{FF2B5EF4-FFF2-40B4-BE49-F238E27FC236}">
                <a16:creationId xmlns:a16="http://schemas.microsoft.com/office/drawing/2014/main" id="{5D7FC3D3-3049-F27E-E839-A94C23566B94}"/>
              </a:ext>
            </a:extLst>
          </p:cNvPr>
          <p:cNvGrpSpPr/>
          <p:nvPr/>
        </p:nvGrpSpPr>
        <p:grpSpPr>
          <a:xfrm>
            <a:off x="1025610" y="4356580"/>
            <a:ext cx="10328190" cy="2136295"/>
            <a:chOff x="1025610" y="4356580"/>
            <a:chExt cx="10328190" cy="2136295"/>
          </a:xfrm>
        </p:grpSpPr>
        <p:sp>
          <p:nvSpPr>
            <p:cNvPr id="4" name="Rounded Rectangle 3">
              <a:extLst>
                <a:ext uri="{FF2B5EF4-FFF2-40B4-BE49-F238E27FC236}">
                  <a16:creationId xmlns:a16="http://schemas.microsoft.com/office/drawing/2014/main" id="{BD3F2398-4146-5FF6-33FF-26DC6D8722F9}"/>
                </a:ext>
              </a:extLst>
            </p:cNvPr>
            <p:cNvSpPr/>
            <p:nvPr/>
          </p:nvSpPr>
          <p:spPr>
            <a:xfrm>
              <a:off x="1025610" y="4755936"/>
              <a:ext cx="8219989" cy="173693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t>Discuss: </a:t>
              </a:r>
              <a:r>
                <a:rPr lang="en-US" sz="2800" dirty="0"/>
                <a:t>Intuitively, why should randomizing help with confounding variables / selection effects?</a:t>
              </a:r>
            </a:p>
          </p:txBody>
        </p:sp>
        <p:pic>
          <p:nvPicPr>
            <p:cNvPr id="5" name="Picture 4">
              <a:extLst>
                <a:ext uri="{FF2B5EF4-FFF2-40B4-BE49-F238E27FC236}">
                  <a16:creationId xmlns:a16="http://schemas.microsoft.com/office/drawing/2014/main" id="{EDD5DBFF-E828-59C6-8F7C-201E22E5610F}"/>
                </a:ext>
              </a:extLst>
            </p:cNvPr>
            <p:cNvPicPr>
              <a:picLocks noChangeAspect="1"/>
            </p:cNvPicPr>
            <p:nvPr/>
          </p:nvPicPr>
          <p:blipFill>
            <a:blip r:embed="rId4"/>
            <a:stretch>
              <a:fillRect/>
            </a:stretch>
          </p:blipFill>
          <p:spPr>
            <a:xfrm>
              <a:off x="9253939" y="4356580"/>
              <a:ext cx="2099861" cy="1820383"/>
            </a:xfrm>
            <a:prstGeom prst="rect">
              <a:avLst/>
            </a:prstGeom>
          </p:spPr>
        </p:pic>
      </p:grpSp>
    </p:spTree>
    <p:extLst>
      <p:ext uri="{BB962C8B-B14F-4D97-AF65-F5344CB8AC3E}">
        <p14:creationId xmlns:p14="http://schemas.microsoft.com/office/powerpoint/2010/main" val="32068283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981C6F-4D87-4D2E-4656-5F760DFF3F25}"/>
              </a:ext>
            </a:extLst>
          </p:cNvPr>
          <p:cNvSpPr>
            <a:spLocks noGrp="1"/>
          </p:cNvSpPr>
          <p:nvPr>
            <p:ph type="title"/>
          </p:nvPr>
        </p:nvSpPr>
        <p:spPr/>
        <p:txBody>
          <a:bodyPr>
            <a:normAutofit/>
          </a:bodyPr>
          <a:lstStyle/>
          <a:p>
            <a:r>
              <a:rPr lang="en-US" sz="4000" dirty="0"/>
              <a:t>From a “confounding variables” point of view</a:t>
            </a:r>
          </a:p>
        </p:txBody>
      </p:sp>
      <p:sp>
        <p:nvSpPr>
          <p:cNvPr id="3" name="Content Placeholder 2">
            <a:extLst>
              <a:ext uri="{FF2B5EF4-FFF2-40B4-BE49-F238E27FC236}">
                <a16:creationId xmlns:a16="http://schemas.microsoft.com/office/drawing/2014/main" id="{C6460FAE-F2F6-1871-BE72-017BCED4ED63}"/>
              </a:ext>
            </a:extLst>
          </p:cNvPr>
          <p:cNvSpPr>
            <a:spLocks noGrp="1"/>
          </p:cNvSpPr>
          <p:nvPr>
            <p:ph idx="1"/>
          </p:nvPr>
        </p:nvSpPr>
        <p:spPr/>
        <p:txBody>
          <a:bodyPr>
            <a:normAutofit fontScale="92500"/>
          </a:bodyPr>
          <a:lstStyle/>
          <a:p>
            <a:r>
              <a:rPr lang="en-US" dirty="0"/>
              <a:t>The “confounders” no longer have a causal link with the treatment!</a:t>
            </a:r>
          </a:p>
          <a:p>
            <a:endParaRPr lang="en-US" dirty="0"/>
          </a:p>
          <a:p>
            <a:endParaRPr lang="en-US" dirty="0"/>
          </a:p>
          <a:p>
            <a:endParaRPr lang="en-US" dirty="0"/>
          </a:p>
          <a:p>
            <a:endParaRPr lang="en-US" dirty="0"/>
          </a:p>
          <a:p>
            <a:endParaRPr lang="en-US" dirty="0"/>
          </a:p>
          <a:p>
            <a:endParaRPr lang="en-US" dirty="0"/>
          </a:p>
          <a:p>
            <a:endParaRPr lang="en-US" dirty="0"/>
          </a:p>
          <a:p>
            <a:r>
              <a:rPr lang="en-US" dirty="0"/>
              <a:t>Note: other causal links may be harder to cut.</a:t>
            </a:r>
          </a:p>
        </p:txBody>
      </p:sp>
      <p:cxnSp>
        <p:nvCxnSpPr>
          <p:cNvPr id="5" name="Straight Arrow Connector 4">
            <a:extLst>
              <a:ext uri="{FF2B5EF4-FFF2-40B4-BE49-F238E27FC236}">
                <a16:creationId xmlns:a16="http://schemas.microsoft.com/office/drawing/2014/main" id="{A923C187-3459-902A-677E-C872C06AE0EA}"/>
              </a:ext>
            </a:extLst>
          </p:cNvPr>
          <p:cNvCxnSpPr>
            <a:cxnSpLocks/>
          </p:cNvCxnSpPr>
          <p:nvPr/>
        </p:nvCxnSpPr>
        <p:spPr>
          <a:xfrm flipV="1">
            <a:off x="3436393" y="3668131"/>
            <a:ext cx="1460522" cy="242182"/>
          </a:xfrm>
          <a:prstGeom prst="straightConnector1">
            <a:avLst/>
          </a:prstGeom>
          <a:ln w="571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a16="http://schemas.microsoft.com/office/drawing/2014/main" id="{B7C1C52D-07D6-1BCE-ED68-675152B9FB26}"/>
              </a:ext>
            </a:extLst>
          </p:cNvPr>
          <p:cNvGrpSpPr/>
          <p:nvPr/>
        </p:nvGrpSpPr>
        <p:grpSpPr>
          <a:xfrm>
            <a:off x="1683932" y="3251624"/>
            <a:ext cx="8373221" cy="2255657"/>
            <a:chOff x="1669418" y="3195184"/>
            <a:chExt cx="8373221" cy="2255657"/>
          </a:xfrm>
        </p:grpSpPr>
        <p:sp>
          <p:nvSpPr>
            <p:cNvPr id="4" name="Oval 3">
              <a:extLst>
                <a:ext uri="{FF2B5EF4-FFF2-40B4-BE49-F238E27FC236}">
                  <a16:creationId xmlns:a16="http://schemas.microsoft.com/office/drawing/2014/main" id="{AD3BCC4F-D3FD-F18D-53ED-14B95BB152C4}"/>
                </a:ext>
              </a:extLst>
            </p:cNvPr>
            <p:cNvSpPr/>
            <p:nvPr/>
          </p:nvSpPr>
          <p:spPr>
            <a:xfrm>
              <a:off x="1669418" y="3513215"/>
              <a:ext cx="1819694" cy="1251382"/>
            </a:xfrm>
            <a:prstGeom prst="ellipse">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Being health-conscious</a:t>
              </a:r>
            </a:p>
          </p:txBody>
        </p:sp>
        <p:sp>
          <p:nvSpPr>
            <p:cNvPr id="6" name="Oval 5">
              <a:extLst>
                <a:ext uri="{FF2B5EF4-FFF2-40B4-BE49-F238E27FC236}">
                  <a16:creationId xmlns:a16="http://schemas.microsoft.com/office/drawing/2014/main" id="{9C0CAFE8-FA13-2CE7-7D1F-FFAF6C4A17BC}"/>
                </a:ext>
              </a:extLst>
            </p:cNvPr>
            <p:cNvSpPr/>
            <p:nvPr/>
          </p:nvSpPr>
          <p:spPr>
            <a:xfrm>
              <a:off x="4896915" y="3195184"/>
              <a:ext cx="1843485" cy="1070790"/>
            </a:xfrm>
            <a:prstGeom prst="ellips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Taking medicine when sick</a:t>
              </a:r>
            </a:p>
          </p:txBody>
        </p:sp>
        <p:sp>
          <p:nvSpPr>
            <p:cNvPr id="7" name="Oval 6">
              <a:extLst>
                <a:ext uri="{FF2B5EF4-FFF2-40B4-BE49-F238E27FC236}">
                  <a16:creationId xmlns:a16="http://schemas.microsoft.com/office/drawing/2014/main" id="{7A0BC7A6-A4A0-7743-108C-306ACBF4570E}"/>
                </a:ext>
              </a:extLst>
            </p:cNvPr>
            <p:cNvSpPr/>
            <p:nvPr/>
          </p:nvSpPr>
          <p:spPr>
            <a:xfrm>
              <a:off x="4855310" y="4380051"/>
              <a:ext cx="1974183" cy="1070790"/>
            </a:xfrm>
            <a:prstGeom prst="ellips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Getting lots of sleep</a:t>
              </a:r>
            </a:p>
          </p:txBody>
        </p:sp>
        <p:cxnSp>
          <p:nvCxnSpPr>
            <p:cNvPr id="8" name="Straight Arrow Connector 7">
              <a:extLst>
                <a:ext uri="{FF2B5EF4-FFF2-40B4-BE49-F238E27FC236}">
                  <a16:creationId xmlns:a16="http://schemas.microsoft.com/office/drawing/2014/main" id="{7097464F-049E-2C98-2D99-9EBDF54209DB}"/>
                </a:ext>
              </a:extLst>
            </p:cNvPr>
            <p:cNvCxnSpPr>
              <a:cxnSpLocks/>
            </p:cNvCxnSpPr>
            <p:nvPr/>
          </p:nvCxnSpPr>
          <p:spPr>
            <a:xfrm>
              <a:off x="3365016" y="4420890"/>
              <a:ext cx="1489562" cy="435170"/>
            </a:xfrm>
            <a:prstGeom prst="straightConnector1">
              <a:avLst/>
            </a:prstGeom>
            <a:ln w="571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6FC64D1D-6E6B-B102-6CCF-5CC4830C4751}"/>
                </a:ext>
              </a:extLst>
            </p:cNvPr>
            <p:cNvCxnSpPr>
              <a:cxnSpLocks/>
            </p:cNvCxnSpPr>
            <p:nvPr/>
          </p:nvCxnSpPr>
          <p:spPr>
            <a:xfrm flipV="1">
              <a:off x="6791351" y="4380051"/>
              <a:ext cx="1404340" cy="468829"/>
            </a:xfrm>
            <a:prstGeom prst="straightConnector1">
              <a:avLst/>
            </a:prstGeom>
            <a:ln w="571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16FCC67D-9BA6-6F77-9ED9-98C4C524733B}"/>
                </a:ext>
              </a:extLst>
            </p:cNvPr>
            <p:cNvCxnSpPr>
              <a:cxnSpLocks/>
            </p:cNvCxnSpPr>
            <p:nvPr/>
          </p:nvCxnSpPr>
          <p:spPr>
            <a:xfrm>
              <a:off x="6740400" y="3607168"/>
              <a:ext cx="1458754" cy="473542"/>
            </a:xfrm>
            <a:prstGeom prst="straightConnector1">
              <a:avLst/>
            </a:prstGeom>
            <a:ln w="571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1" name="Oval 10">
              <a:extLst>
                <a:ext uri="{FF2B5EF4-FFF2-40B4-BE49-F238E27FC236}">
                  <a16:creationId xmlns:a16="http://schemas.microsoft.com/office/drawing/2014/main" id="{43505792-6077-A901-8F13-3E5CB48320E1}"/>
                </a:ext>
              </a:extLst>
            </p:cNvPr>
            <p:cNvSpPr/>
            <p:nvPr/>
          </p:nvSpPr>
          <p:spPr>
            <a:xfrm>
              <a:off x="8149902" y="3647174"/>
              <a:ext cx="1892737" cy="1070790"/>
            </a:xfrm>
            <a:prstGeom prst="ellips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Recovering from illness faster</a:t>
              </a:r>
            </a:p>
          </p:txBody>
        </p:sp>
      </p:grpSp>
      <p:pic>
        <p:nvPicPr>
          <p:cNvPr id="1026" name="Picture 2" descr="Zoid 8-1/2&quot; Fabric Scissors">
            <a:extLst>
              <a:ext uri="{FF2B5EF4-FFF2-40B4-BE49-F238E27FC236}">
                <a16:creationId xmlns:a16="http://schemas.microsoft.com/office/drawing/2014/main" id="{9AB212A5-2B2B-4760-F446-33BF52FECB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85084" y="2684523"/>
            <a:ext cx="2153076" cy="21530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07187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2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9" presetClass="exit" presetSubtype="0" fill="hold" nodeType="clickEffect">
                                  <p:stCondLst>
                                    <p:cond delay="0"/>
                                  </p:stCondLst>
                                  <p:childTnLst>
                                    <p:animEffect transition="out" filter="dissolve">
                                      <p:cBhvr>
                                        <p:cTn id="16" dur="500"/>
                                        <p:tgtEl>
                                          <p:spTgt spid="5"/>
                                        </p:tgtEl>
                                      </p:cBhvr>
                                    </p:animEffect>
                                    <p:set>
                                      <p:cBhvr>
                                        <p:cTn id="17" dur="1" fill="hold">
                                          <p:stCondLst>
                                            <p:cond delay="499"/>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1B50B5-AE05-74FA-D135-52DE5A266B20}"/>
              </a:ext>
            </a:extLst>
          </p:cNvPr>
          <p:cNvSpPr>
            <a:spLocks noGrp="1"/>
          </p:cNvSpPr>
          <p:nvPr>
            <p:ph type="title"/>
          </p:nvPr>
        </p:nvSpPr>
        <p:spPr/>
        <p:txBody>
          <a:bodyPr/>
          <a:lstStyle/>
          <a:p>
            <a:r>
              <a:rPr lang="en-US" dirty="0"/>
              <a:t>From a “selection effects” point of view</a:t>
            </a:r>
          </a:p>
        </p:txBody>
      </p:sp>
      <p:sp>
        <p:nvSpPr>
          <p:cNvPr id="3" name="Content Placeholder 2">
            <a:extLst>
              <a:ext uri="{FF2B5EF4-FFF2-40B4-BE49-F238E27FC236}">
                <a16:creationId xmlns:a16="http://schemas.microsoft.com/office/drawing/2014/main" id="{24FA486C-4F91-AD07-BEFB-A64DA2540F41}"/>
              </a:ext>
            </a:extLst>
          </p:cNvPr>
          <p:cNvSpPr>
            <a:spLocks noGrp="1"/>
          </p:cNvSpPr>
          <p:nvPr>
            <p:ph idx="1"/>
          </p:nvPr>
        </p:nvSpPr>
        <p:spPr/>
        <p:txBody>
          <a:bodyPr/>
          <a:lstStyle/>
          <a:p>
            <a:r>
              <a:rPr lang="en-US" dirty="0"/>
              <a:t>The problem was that “people in the treatment group” are systematically different than “people in the control group.”</a:t>
            </a:r>
          </a:p>
          <a:p>
            <a:r>
              <a:rPr lang="en-US" dirty="0"/>
              <a:t>If the “selection” is done at random, this is not the case!</a:t>
            </a:r>
          </a:p>
        </p:txBody>
      </p:sp>
      <p:grpSp>
        <p:nvGrpSpPr>
          <p:cNvPr id="7" name="Group 6">
            <a:extLst>
              <a:ext uri="{FF2B5EF4-FFF2-40B4-BE49-F238E27FC236}">
                <a16:creationId xmlns:a16="http://schemas.microsoft.com/office/drawing/2014/main" id="{DFA27E98-766E-8BB5-D6D0-8C870CB17D3B}"/>
              </a:ext>
            </a:extLst>
          </p:cNvPr>
          <p:cNvGrpSpPr/>
          <p:nvPr/>
        </p:nvGrpSpPr>
        <p:grpSpPr>
          <a:xfrm>
            <a:off x="838200" y="3767847"/>
            <a:ext cx="5257800" cy="2544053"/>
            <a:chOff x="6807200" y="2137358"/>
            <a:chExt cx="5257800" cy="2544053"/>
          </a:xfrm>
        </p:grpSpPr>
        <p:pic>
          <p:nvPicPr>
            <p:cNvPr id="10" name="Picture 9" descr="Adoptable Rabbits | morabbit">
              <a:extLst>
                <a:ext uri="{FF2B5EF4-FFF2-40B4-BE49-F238E27FC236}">
                  <a16:creationId xmlns:a16="http://schemas.microsoft.com/office/drawing/2014/main" id="{7AF0C859-E14A-7643-F631-8C6896C1F2E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10972106" y="2886759"/>
              <a:ext cx="1092894" cy="1794652"/>
            </a:xfrm>
            <a:prstGeom prst="rect">
              <a:avLst/>
            </a:prstGeom>
            <a:noFill/>
            <a:extLst>
              <a:ext uri="{909E8E84-426E-40DD-AFC4-6F175D3DCCD1}">
                <a14:hiddenFill xmlns:a14="http://schemas.microsoft.com/office/drawing/2010/main">
                  <a:solidFill>
                    <a:srgbClr val="FFFFFF"/>
                  </a:solidFill>
                </a14:hiddenFill>
              </a:ext>
            </a:extLst>
          </p:spPr>
        </p:pic>
        <p:sp>
          <p:nvSpPr>
            <p:cNvPr id="11" name="Rounded Rectangular Callout 10">
              <a:extLst>
                <a:ext uri="{FF2B5EF4-FFF2-40B4-BE49-F238E27FC236}">
                  <a16:creationId xmlns:a16="http://schemas.microsoft.com/office/drawing/2014/main" id="{26749C30-BFED-553A-B355-734894A14E89}"/>
                </a:ext>
              </a:extLst>
            </p:cNvPr>
            <p:cNvSpPr/>
            <p:nvPr/>
          </p:nvSpPr>
          <p:spPr>
            <a:xfrm>
              <a:off x="6807200" y="2137358"/>
              <a:ext cx="3752690" cy="1498802"/>
            </a:xfrm>
            <a:prstGeom prst="wedgeRoundRectCallout">
              <a:avLst>
                <a:gd name="adj1" fmla="val 65041"/>
                <a:gd name="adj2" fmla="val 23168"/>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I’m the sort of person who is conscious of my health.  I take aspirin, but I also eat healthy and get lots of sleep…</a:t>
              </a:r>
            </a:p>
          </p:txBody>
        </p:sp>
      </p:grpSp>
    </p:spTree>
    <p:extLst>
      <p:ext uri="{BB962C8B-B14F-4D97-AF65-F5344CB8AC3E}">
        <p14:creationId xmlns:p14="http://schemas.microsoft.com/office/powerpoint/2010/main" val="7362470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1B50B5-AE05-74FA-D135-52DE5A266B20}"/>
              </a:ext>
            </a:extLst>
          </p:cNvPr>
          <p:cNvSpPr>
            <a:spLocks noGrp="1"/>
          </p:cNvSpPr>
          <p:nvPr>
            <p:ph type="title"/>
          </p:nvPr>
        </p:nvSpPr>
        <p:spPr/>
        <p:txBody>
          <a:bodyPr/>
          <a:lstStyle/>
          <a:p>
            <a:r>
              <a:rPr lang="en-US" dirty="0"/>
              <a:t>From a “selection effects” point of view</a:t>
            </a:r>
          </a:p>
        </p:txBody>
      </p:sp>
      <p:sp>
        <p:nvSpPr>
          <p:cNvPr id="3" name="Content Placeholder 2">
            <a:extLst>
              <a:ext uri="{FF2B5EF4-FFF2-40B4-BE49-F238E27FC236}">
                <a16:creationId xmlns:a16="http://schemas.microsoft.com/office/drawing/2014/main" id="{24FA486C-4F91-AD07-BEFB-A64DA2540F41}"/>
              </a:ext>
            </a:extLst>
          </p:cNvPr>
          <p:cNvSpPr>
            <a:spLocks noGrp="1"/>
          </p:cNvSpPr>
          <p:nvPr>
            <p:ph idx="1"/>
          </p:nvPr>
        </p:nvSpPr>
        <p:spPr/>
        <p:txBody>
          <a:bodyPr/>
          <a:lstStyle/>
          <a:p>
            <a:r>
              <a:rPr lang="en-US" dirty="0"/>
              <a:t>The problem was that “people in the treatment group” are systematically different than “people in the control group.”</a:t>
            </a:r>
          </a:p>
          <a:p>
            <a:r>
              <a:rPr lang="en-US" dirty="0"/>
              <a:t>If the “selection” is done at random, this is not the case!</a:t>
            </a:r>
          </a:p>
        </p:txBody>
      </p:sp>
      <p:grpSp>
        <p:nvGrpSpPr>
          <p:cNvPr id="7" name="Group 6">
            <a:extLst>
              <a:ext uri="{FF2B5EF4-FFF2-40B4-BE49-F238E27FC236}">
                <a16:creationId xmlns:a16="http://schemas.microsoft.com/office/drawing/2014/main" id="{DFA27E98-766E-8BB5-D6D0-8C870CB17D3B}"/>
              </a:ext>
            </a:extLst>
          </p:cNvPr>
          <p:cNvGrpSpPr/>
          <p:nvPr/>
        </p:nvGrpSpPr>
        <p:grpSpPr>
          <a:xfrm>
            <a:off x="838200" y="3767847"/>
            <a:ext cx="5257800" cy="2544053"/>
            <a:chOff x="6807200" y="2137358"/>
            <a:chExt cx="5257800" cy="2544053"/>
          </a:xfrm>
        </p:grpSpPr>
        <p:pic>
          <p:nvPicPr>
            <p:cNvPr id="10" name="Picture 9" descr="Adoptable Rabbits | morabbit">
              <a:extLst>
                <a:ext uri="{FF2B5EF4-FFF2-40B4-BE49-F238E27FC236}">
                  <a16:creationId xmlns:a16="http://schemas.microsoft.com/office/drawing/2014/main" id="{7AF0C859-E14A-7643-F631-8C6896C1F2E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10972106" y="2886759"/>
              <a:ext cx="1092894" cy="1794652"/>
            </a:xfrm>
            <a:prstGeom prst="rect">
              <a:avLst/>
            </a:prstGeom>
            <a:noFill/>
            <a:extLst>
              <a:ext uri="{909E8E84-426E-40DD-AFC4-6F175D3DCCD1}">
                <a14:hiddenFill xmlns:a14="http://schemas.microsoft.com/office/drawing/2010/main">
                  <a:solidFill>
                    <a:srgbClr val="FFFFFF"/>
                  </a:solidFill>
                </a14:hiddenFill>
              </a:ext>
            </a:extLst>
          </p:spPr>
        </p:pic>
        <p:sp>
          <p:nvSpPr>
            <p:cNvPr id="11" name="Rounded Rectangular Callout 10">
              <a:extLst>
                <a:ext uri="{FF2B5EF4-FFF2-40B4-BE49-F238E27FC236}">
                  <a16:creationId xmlns:a16="http://schemas.microsoft.com/office/drawing/2014/main" id="{26749C30-BFED-553A-B355-734894A14E89}"/>
                </a:ext>
              </a:extLst>
            </p:cNvPr>
            <p:cNvSpPr/>
            <p:nvPr/>
          </p:nvSpPr>
          <p:spPr>
            <a:xfrm>
              <a:off x="6807200" y="2137358"/>
              <a:ext cx="3752690" cy="1498802"/>
            </a:xfrm>
            <a:prstGeom prst="wedgeRoundRectCallout">
              <a:avLst>
                <a:gd name="adj1" fmla="val 65041"/>
                <a:gd name="adj2" fmla="val 23168"/>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I’m the sort of person who is conscious of my health</a:t>
              </a:r>
              <a:r>
                <a:rPr lang="en-US" strike="sngStrike" dirty="0">
                  <a:solidFill>
                    <a:schemeClr val="accent2"/>
                  </a:solidFill>
                </a:rPr>
                <a:t>.  I take aspirin, but </a:t>
              </a:r>
              <a:r>
                <a:rPr lang="en-US" dirty="0"/>
                <a:t>I also eat healthy and get lots of sleep…</a:t>
              </a:r>
            </a:p>
          </p:txBody>
        </p:sp>
      </p:grpSp>
      <p:pic>
        <p:nvPicPr>
          <p:cNvPr id="4" name="Picture 2" descr="Roll the Dice: A fun probability experiment for all ages | by Kyle McIntyre  | Medium">
            <a:extLst>
              <a:ext uri="{FF2B5EF4-FFF2-40B4-BE49-F238E27FC236}">
                <a16:creationId xmlns:a16="http://schemas.microsoft.com/office/drawing/2014/main" id="{8FF38023-0366-42F9-6E8E-3AE8E450BB0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63581" y="4665121"/>
            <a:ext cx="2200983" cy="1646779"/>
          </a:xfrm>
          <a:prstGeom prst="rect">
            <a:avLst/>
          </a:prstGeom>
          <a:noFill/>
          <a:extLst>
            <a:ext uri="{909E8E84-426E-40DD-AFC4-6F175D3DCCD1}">
              <a14:hiddenFill xmlns:a14="http://schemas.microsoft.com/office/drawing/2010/main">
                <a:solidFill>
                  <a:srgbClr val="FFFFFF"/>
                </a:solidFill>
              </a14:hiddenFill>
            </a:ext>
          </a:extLst>
        </p:spPr>
      </p:pic>
      <p:sp>
        <p:nvSpPr>
          <p:cNvPr id="5" name="Rounded Rectangular Callout 4">
            <a:extLst>
              <a:ext uri="{FF2B5EF4-FFF2-40B4-BE49-F238E27FC236}">
                <a16:creationId xmlns:a16="http://schemas.microsoft.com/office/drawing/2014/main" id="{13978BD1-8825-6B38-FFC4-3687F1196384}"/>
              </a:ext>
            </a:extLst>
          </p:cNvPr>
          <p:cNvSpPr/>
          <p:nvPr/>
        </p:nvSpPr>
        <p:spPr>
          <a:xfrm>
            <a:off x="9164564" y="3204621"/>
            <a:ext cx="2589706" cy="1325563"/>
          </a:xfrm>
          <a:prstGeom prst="wedgeRoundRectCallout">
            <a:avLst>
              <a:gd name="adj1" fmla="val -173060"/>
              <a:gd name="adj2" fmla="val 76698"/>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…but  (in an </a:t>
            </a:r>
            <a:r>
              <a:rPr lang="en-US" dirty="0" err="1"/>
              <a:t>rct</a:t>
            </a:r>
            <a:r>
              <a:rPr lang="en-US" dirty="0"/>
              <a:t>) that has nothing to do with my decision to take aspirin or not.</a:t>
            </a:r>
          </a:p>
        </p:txBody>
      </p:sp>
    </p:spTree>
    <p:extLst>
      <p:ext uri="{BB962C8B-B14F-4D97-AF65-F5344CB8AC3E}">
        <p14:creationId xmlns:p14="http://schemas.microsoft.com/office/powerpoint/2010/main" val="16980305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 calcmode="lin" valueType="num">
                                      <p:cBhvr>
                                        <p:cTn id="9" dur="500" fill="hold"/>
                                        <p:tgtEl>
                                          <p:spTgt spid="4"/>
                                        </p:tgtEl>
                                        <p:attrNameLst>
                                          <p:attrName>style.rotation</p:attrName>
                                        </p:attrNameLst>
                                      </p:cBhvr>
                                      <p:tavLst>
                                        <p:tav tm="0">
                                          <p:val>
                                            <p:fltVal val="360"/>
                                          </p:val>
                                        </p:tav>
                                        <p:tav tm="100000">
                                          <p:val>
                                            <p:fltVal val="0"/>
                                          </p:val>
                                        </p:tav>
                                      </p:tavLst>
                                    </p:anim>
                                    <p:animEffect transition="in" filter="fade">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9F453E-8383-CEB4-8D09-8BBA5FB047AE}"/>
              </a:ext>
            </a:extLst>
          </p:cNvPr>
          <p:cNvSpPr>
            <a:spLocks noGrp="1"/>
          </p:cNvSpPr>
          <p:nvPr>
            <p:ph type="title"/>
          </p:nvPr>
        </p:nvSpPr>
        <p:spPr/>
        <p:txBody>
          <a:bodyPr/>
          <a:lstStyle/>
          <a:p>
            <a:r>
              <a:rPr lang="en-US" dirty="0"/>
              <a:t>Another way to say it</a:t>
            </a:r>
          </a:p>
        </p:txBody>
      </p:sp>
      <p:sp>
        <p:nvSpPr>
          <p:cNvPr id="3" name="Content Placeholder 2">
            <a:extLst>
              <a:ext uri="{FF2B5EF4-FFF2-40B4-BE49-F238E27FC236}">
                <a16:creationId xmlns:a16="http://schemas.microsoft.com/office/drawing/2014/main" id="{2285AF0F-CD6B-AE83-7D1A-C4C21BC56B7F}"/>
              </a:ext>
            </a:extLst>
          </p:cNvPr>
          <p:cNvSpPr>
            <a:spLocks noGrp="1"/>
          </p:cNvSpPr>
          <p:nvPr>
            <p:ph idx="1"/>
          </p:nvPr>
        </p:nvSpPr>
        <p:spPr/>
        <p:txBody>
          <a:bodyPr/>
          <a:lstStyle/>
          <a:p>
            <a:r>
              <a:rPr lang="en-US" dirty="0"/>
              <a:t>Consider the group of “people who care about their health”</a:t>
            </a:r>
          </a:p>
          <a:p>
            <a:pPr lvl="1"/>
            <a:r>
              <a:rPr lang="en-US" dirty="0">
                <a:solidFill>
                  <a:schemeClr val="accent1"/>
                </a:solidFill>
              </a:rPr>
              <a:t>This group will be split approximately in half by our random design!</a:t>
            </a:r>
          </a:p>
          <a:p>
            <a:pPr lvl="1"/>
            <a:endParaRPr lang="en-US" dirty="0">
              <a:solidFill>
                <a:schemeClr val="accent1"/>
              </a:solidFill>
            </a:endParaRPr>
          </a:p>
          <a:p>
            <a:r>
              <a:rPr lang="en-US" dirty="0"/>
              <a:t>So will the group of “people on whom aspirin works better than average”</a:t>
            </a:r>
          </a:p>
          <a:p>
            <a:r>
              <a:rPr lang="en-US" dirty="0"/>
              <a:t>So will the group of “people who have a weird birthmark”</a:t>
            </a:r>
          </a:p>
          <a:p>
            <a:r>
              <a:rPr lang="en-US" dirty="0"/>
              <a:t>…And </a:t>
            </a:r>
            <a:r>
              <a:rPr lang="en-US" b="1" dirty="0">
                <a:solidFill>
                  <a:srgbClr val="7030A0"/>
                </a:solidFill>
              </a:rPr>
              <a:t>all the other </a:t>
            </a:r>
            <a:r>
              <a:rPr lang="en-US" dirty="0"/>
              <a:t>groups that we can’t even think of!</a:t>
            </a:r>
          </a:p>
          <a:p>
            <a:endParaRPr lang="en-US" dirty="0"/>
          </a:p>
          <a:p>
            <a:r>
              <a:rPr lang="en-US" b="1" dirty="0"/>
              <a:t>Yay randomization!</a:t>
            </a:r>
          </a:p>
        </p:txBody>
      </p:sp>
      <p:pic>
        <p:nvPicPr>
          <p:cNvPr id="4" name="Picture 3">
            <a:extLst>
              <a:ext uri="{FF2B5EF4-FFF2-40B4-BE49-F238E27FC236}">
                <a16:creationId xmlns:a16="http://schemas.microsoft.com/office/drawing/2014/main" id="{F9C98A72-7D37-9024-B1E4-C622BE2736ED}"/>
              </a:ext>
            </a:extLst>
          </p:cNvPr>
          <p:cNvPicPr>
            <a:picLocks noChangeAspect="1"/>
          </p:cNvPicPr>
          <p:nvPr/>
        </p:nvPicPr>
        <p:blipFill>
          <a:blip r:embed="rId3"/>
          <a:stretch>
            <a:fillRect/>
          </a:stretch>
        </p:blipFill>
        <p:spPr>
          <a:xfrm>
            <a:off x="4652017" y="5151110"/>
            <a:ext cx="877408" cy="1706890"/>
          </a:xfrm>
          <a:prstGeom prst="rect">
            <a:avLst/>
          </a:prstGeom>
        </p:spPr>
      </p:pic>
    </p:spTree>
    <p:extLst>
      <p:ext uri="{BB962C8B-B14F-4D97-AF65-F5344CB8AC3E}">
        <p14:creationId xmlns:p14="http://schemas.microsoft.com/office/powerpoint/2010/main" val="33979138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8BD3DC-2521-3072-5980-A44FAE8E2869}"/>
              </a:ext>
            </a:extLst>
          </p:cNvPr>
          <p:cNvSpPr>
            <a:spLocks noGrp="1"/>
          </p:cNvSpPr>
          <p:nvPr>
            <p:ph type="title"/>
          </p:nvPr>
        </p:nvSpPr>
        <p:spPr/>
        <p:txBody>
          <a:bodyPr/>
          <a:lstStyle/>
          <a:p>
            <a:r>
              <a:rPr lang="en-US" dirty="0"/>
              <a:t>RCTs are powerful</a:t>
            </a:r>
          </a:p>
        </p:txBody>
      </p:sp>
      <p:sp>
        <p:nvSpPr>
          <p:cNvPr id="3" name="Content Placeholder 2">
            <a:extLst>
              <a:ext uri="{FF2B5EF4-FFF2-40B4-BE49-F238E27FC236}">
                <a16:creationId xmlns:a16="http://schemas.microsoft.com/office/drawing/2014/main" id="{95DB5F07-B80E-BB7B-DAF8-D47F81E1B343}"/>
              </a:ext>
            </a:extLst>
          </p:cNvPr>
          <p:cNvSpPr>
            <a:spLocks noGrp="1"/>
          </p:cNvSpPr>
          <p:nvPr>
            <p:ph idx="1"/>
          </p:nvPr>
        </p:nvSpPr>
        <p:spPr>
          <a:xfrm>
            <a:off x="838200" y="1825625"/>
            <a:ext cx="10947400" cy="4351338"/>
          </a:xfrm>
        </p:spPr>
        <p:txBody>
          <a:bodyPr/>
          <a:lstStyle/>
          <a:p>
            <a:r>
              <a:rPr lang="en-US" dirty="0"/>
              <a:t>They are the </a:t>
            </a:r>
            <a:r>
              <a:rPr lang="en-US" b="1" dirty="0"/>
              <a:t>best</a:t>
            </a:r>
            <a:r>
              <a:rPr lang="en-US" dirty="0"/>
              <a:t> sort of evidence we can get for a causal effect.</a:t>
            </a:r>
          </a:p>
          <a:p>
            <a:r>
              <a:rPr lang="en-US" dirty="0"/>
              <a:t>They can have big effects on policy decisions.</a:t>
            </a:r>
          </a:p>
          <a:p>
            <a:endParaRPr lang="en-US" dirty="0"/>
          </a:p>
          <a:p>
            <a:r>
              <a:rPr lang="en-US" dirty="0"/>
              <a:t>With great power comes great responsibility…</a:t>
            </a:r>
          </a:p>
          <a:p>
            <a:pPr lvl="1"/>
            <a:r>
              <a:rPr lang="en-US" dirty="0">
                <a:solidFill>
                  <a:schemeClr val="accent1"/>
                </a:solidFill>
              </a:rPr>
              <a:t>We need to analyze RCTs carefully </a:t>
            </a:r>
          </a:p>
          <a:p>
            <a:pPr lvl="1"/>
            <a:r>
              <a:rPr lang="en-US" dirty="0">
                <a:solidFill>
                  <a:schemeClr val="accent1"/>
                </a:solidFill>
              </a:rPr>
              <a:t>We need to think carefully about how to interpret RCTs</a:t>
            </a:r>
          </a:p>
        </p:txBody>
      </p:sp>
    </p:spTree>
    <p:extLst>
      <p:ext uri="{BB962C8B-B14F-4D97-AF65-F5344CB8AC3E}">
        <p14:creationId xmlns:p14="http://schemas.microsoft.com/office/powerpoint/2010/main" val="14554799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684221-E71B-AD79-09D1-B48B08157290}"/>
              </a:ext>
            </a:extLst>
          </p:cNvPr>
          <p:cNvSpPr>
            <a:spLocks noGrp="1"/>
          </p:cNvSpPr>
          <p:nvPr>
            <p:ph type="title"/>
          </p:nvPr>
        </p:nvSpPr>
        <p:spPr/>
        <p:txBody>
          <a:bodyPr>
            <a:normAutofit/>
          </a:bodyPr>
          <a:lstStyle/>
          <a:p>
            <a:r>
              <a:rPr lang="en-US" sz="4000" dirty="0">
                <a:solidFill>
                  <a:schemeClr val="accent2"/>
                </a:solidFill>
              </a:rPr>
              <a:t>Example:</a:t>
            </a:r>
            <a:br>
              <a:rPr lang="en-US" dirty="0"/>
            </a:br>
            <a:r>
              <a:rPr lang="en-US" dirty="0"/>
              <a:t>Use of Laptops in Classrooms</a:t>
            </a:r>
          </a:p>
        </p:txBody>
      </p:sp>
      <p:sp>
        <p:nvSpPr>
          <p:cNvPr id="3" name="Text Placeholder 2">
            <a:extLst>
              <a:ext uri="{FF2B5EF4-FFF2-40B4-BE49-F238E27FC236}">
                <a16:creationId xmlns:a16="http://schemas.microsoft.com/office/drawing/2014/main" id="{270DA332-21BC-3391-9426-24DB3B694DED}"/>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3133259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DAFF13-3207-286A-2D6C-C3D7B32B2EE7}"/>
              </a:ext>
            </a:extLst>
          </p:cNvPr>
          <p:cNvSpPr>
            <a:spLocks noGrp="1"/>
          </p:cNvSpPr>
          <p:nvPr>
            <p:ph type="title"/>
          </p:nvPr>
        </p:nvSpPr>
        <p:spPr/>
        <p:txBody>
          <a:bodyPr/>
          <a:lstStyle/>
          <a:p>
            <a:r>
              <a:rPr lang="en-US" dirty="0"/>
              <a:t>Should laptops be allowed in class?</a:t>
            </a:r>
          </a:p>
        </p:txBody>
      </p:sp>
      <p:sp>
        <p:nvSpPr>
          <p:cNvPr id="3" name="Content Placeholder 2">
            <a:extLst>
              <a:ext uri="{FF2B5EF4-FFF2-40B4-BE49-F238E27FC236}">
                <a16:creationId xmlns:a16="http://schemas.microsoft.com/office/drawing/2014/main" id="{68F52E94-13FA-2DD2-912F-1BBFA61A5607}"/>
              </a:ext>
            </a:extLst>
          </p:cNvPr>
          <p:cNvSpPr>
            <a:spLocks noGrp="1"/>
          </p:cNvSpPr>
          <p:nvPr>
            <p:ph idx="1"/>
          </p:nvPr>
        </p:nvSpPr>
        <p:spPr/>
        <p:txBody>
          <a:bodyPr/>
          <a:lstStyle/>
          <a:p>
            <a:r>
              <a:rPr lang="en-US" dirty="0"/>
              <a:t>We don’t allow them in this class.  Why not?</a:t>
            </a:r>
          </a:p>
        </p:txBody>
      </p:sp>
      <p:grpSp>
        <p:nvGrpSpPr>
          <p:cNvPr id="8" name="Group 7">
            <a:extLst>
              <a:ext uri="{FF2B5EF4-FFF2-40B4-BE49-F238E27FC236}">
                <a16:creationId xmlns:a16="http://schemas.microsoft.com/office/drawing/2014/main" id="{E7F36148-5EFD-5E65-BD93-7A14F983A77D}"/>
              </a:ext>
            </a:extLst>
          </p:cNvPr>
          <p:cNvGrpSpPr/>
          <p:nvPr/>
        </p:nvGrpSpPr>
        <p:grpSpPr>
          <a:xfrm>
            <a:off x="2209800" y="2712720"/>
            <a:ext cx="8656320" cy="3469006"/>
            <a:chOff x="2209800" y="2712720"/>
            <a:chExt cx="8656320" cy="3469006"/>
          </a:xfrm>
        </p:grpSpPr>
        <p:pic>
          <p:nvPicPr>
            <p:cNvPr id="4" name="Picture 3">
              <a:extLst>
                <a:ext uri="{FF2B5EF4-FFF2-40B4-BE49-F238E27FC236}">
                  <a16:creationId xmlns:a16="http://schemas.microsoft.com/office/drawing/2014/main" id="{26B7EEFE-5B70-BC87-6707-136C8B82A344}"/>
                </a:ext>
              </a:extLst>
            </p:cNvPr>
            <p:cNvPicPr>
              <a:picLocks noChangeAspect="1"/>
            </p:cNvPicPr>
            <p:nvPr/>
          </p:nvPicPr>
          <p:blipFill>
            <a:blip r:embed="rId3"/>
            <a:stretch>
              <a:fillRect/>
            </a:stretch>
          </p:blipFill>
          <p:spPr>
            <a:xfrm>
              <a:off x="2209800" y="3688080"/>
              <a:ext cx="1558977" cy="2113280"/>
            </a:xfrm>
            <a:prstGeom prst="rect">
              <a:avLst/>
            </a:prstGeom>
          </p:spPr>
        </p:pic>
        <p:pic>
          <p:nvPicPr>
            <p:cNvPr id="5" name="Picture 4">
              <a:extLst>
                <a:ext uri="{FF2B5EF4-FFF2-40B4-BE49-F238E27FC236}">
                  <a16:creationId xmlns:a16="http://schemas.microsoft.com/office/drawing/2014/main" id="{7CA5B11D-127A-3BA7-B8AA-1E5355E2F16C}"/>
                </a:ext>
              </a:extLst>
            </p:cNvPr>
            <p:cNvPicPr>
              <a:picLocks noChangeAspect="1"/>
            </p:cNvPicPr>
            <p:nvPr/>
          </p:nvPicPr>
          <p:blipFill>
            <a:blip r:embed="rId4"/>
            <a:stretch>
              <a:fillRect/>
            </a:stretch>
          </p:blipFill>
          <p:spPr>
            <a:xfrm flipH="1">
              <a:off x="3390316" y="3688080"/>
              <a:ext cx="1352548" cy="2113280"/>
            </a:xfrm>
            <a:prstGeom prst="rect">
              <a:avLst/>
            </a:prstGeom>
          </p:spPr>
        </p:pic>
        <p:sp>
          <p:nvSpPr>
            <p:cNvPr id="6" name="TextBox 5">
              <a:extLst>
                <a:ext uri="{FF2B5EF4-FFF2-40B4-BE49-F238E27FC236}">
                  <a16:creationId xmlns:a16="http://schemas.microsoft.com/office/drawing/2014/main" id="{B607138E-420D-A08A-BFDA-1CEF7A8B900F}"/>
                </a:ext>
              </a:extLst>
            </p:cNvPr>
            <p:cNvSpPr txBox="1"/>
            <p:nvPr/>
          </p:nvSpPr>
          <p:spPr>
            <a:xfrm>
              <a:off x="2514787" y="5812394"/>
              <a:ext cx="1751057" cy="369332"/>
            </a:xfrm>
            <a:prstGeom prst="rect">
              <a:avLst/>
            </a:prstGeom>
            <a:noFill/>
          </p:spPr>
          <p:txBody>
            <a:bodyPr wrap="none" rtlCol="0">
              <a:spAutoFit/>
            </a:bodyPr>
            <a:lstStyle/>
            <a:p>
              <a:r>
                <a:rPr lang="en-US" dirty="0">
                  <a:solidFill>
                    <a:schemeClr val="accent1"/>
                  </a:solidFill>
                </a:rPr>
                <a:t>Guido and Mary</a:t>
              </a:r>
            </a:p>
          </p:txBody>
        </p:sp>
        <p:sp>
          <p:nvSpPr>
            <p:cNvPr id="7" name="Rounded Rectangular Callout 6">
              <a:extLst>
                <a:ext uri="{FF2B5EF4-FFF2-40B4-BE49-F238E27FC236}">
                  <a16:creationId xmlns:a16="http://schemas.microsoft.com/office/drawing/2014/main" id="{1C39A83B-6816-AC9B-F90E-840466289383}"/>
                </a:ext>
              </a:extLst>
            </p:cNvPr>
            <p:cNvSpPr/>
            <p:nvPr/>
          </p:nvSpPr>
          <p:spPr>
            <a:xfrm>
              <a:off x="5836920" y="2712720"/>
              <a:ext cx="5029200" cy="2164080"/>
            </a:xfrm>
            <a:prstGeom prst="wedgeRoundRectCallout">
              <a:avLst>
                <a:gd name="adj1" fmla="val -71136"/>
                <a:gd name="adj2" fmla="val 12500"/>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t>We are capricious dictators on a power trip!</a:t>
              </a:r>
            </a:p>
          </p:txBody>
        </p:sp>
      </p:grpSp>
    </p:spTree>
    <p:extLst>
      <p:ext uri="{BB962C8B-B14F-4D97-AF65-F5344CB8AC3E}">
        <p14:creationId xmlns:p14="http://schemas.microsoft.com/office/powerpoint/2010/main" val="2581788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DAFF13-3207-286A-2D6C-C3D7B32B2EE7}"/>
              </a:ext>
            </a:extLst>
          </p:cNvPr>
          <p:cNvSpPr>
            <a:spLocks noGrp="1"/>
          </p:cNvSpPr>
          <p:nvPr>
            <p:ph type="title"/>
          </p:nvPr>
        </p:nvSpPr>
        <p:spPr/>
        <p:txBody>
          <a:bodyPr/>
          <a:lstStyle/>
          <a:p>
            <a:r>
              <a:rPr lang="en-US" dirty="0"/>
              <a:t>Should laptops be allowed in class?</a:t>
            </a:r>
          </a:p>
        </p:txBody>
      </p:sp>
      <p:sp>
        <p:nvSpPr>
          <p:cNvPr id="3" name="Content Placeholder 2">
            <a:extLst>
              <a:ext uri="{FF2B5EF4-FFF2-40B4-BE49-F238E27FC236}">
                <a16:creationId xmlns:a16="http://schemas.microsoft.com/office/drawing/2014/main" id="{68F52E94-13FA-2DD2-912F-1BBFA61A5607}"/>
              </a:ext>
            </a:extLst>
          </p:cNvPr>
          <p:cNvSpPr>
            <a:spLocks noGrp="1"/>
          </p:cNvSpPr>
          <p:nvPr>
            <p:ph idx="1"/>
          </p:nvPr>
        </p:nvSpPr>
        <p:spPr/>
        <p:txBody>
          <a:bodyPr/>
          <a:lstStyle/>
          <a:p>
            <a:r>
              <a:rPr lang="en-US" dirty="0"/>
              <a:t>We don’t allow them in this class.  Why not?</a:t>
            </a:r>
          </a:p>
        </p:txBody>
      </p:sp>
      <p:grpSp>
        <p:nvGrpSpPr>
          <p:cNvPr id="8" name="Group 7">
            <a:extLst>
              <a:ext uri="{FF2B5EF4-FFF2-40B4-BE49-F238E27FC236}">
                <a16:creationId xmlns:a16="http://schemas.microsoft.com/office/drawing/2014/main" id="{E7F36148-5EFD-5E65-BD93-7A14F983A77D}"/>
              </a:ext>
            </a:extLst>
          </p:cNvPr>
          <p:cNvGrpSpPr/>
          <p:nvPr/>
        </p:nvGrpSpPr>
        <p:grpSpPr>
          <a:xfrm>
            <a:off x="2209800" y="2712720"/>
            <a:ext cx="8656320" cy="3469006"/>
            <a:chOff x="2209800" y="2712720"/>
            <a:chExt cx="8656320" cy="3469006"/>
          </a:xfrm>
        </p:grpSpPr>
        <p:pic>
          <p:nvPicPr>
            <p:cNvPr id="4" name="Picture 3">
              <a:extLst>
                <a:ext uri="{FF2B5EF4-FFF2-40B4-BE49-F238E27FC236}">
                  <a16:creationId xmlns:a16="http://schemas.microsoft.com/office/drawing/2014/main" id="{26B7EEFE-5B70-BC87-6707-136C8B82A344}"/>
                </a:ext>
              </a:extLst>
            </p:cNvPr>
            <p:cNvPicPr>
              <a:picLocks noChangeAspect="1"/>
            </p:cNvPicPr>
            <p:nvPr/>
          </p:nvPicPr>
          <p:blipFill>
            <a:blip r:embed="rId3"/>
            <a:stretch>
              <a:fillRect/>
            </a:stretch>
          </p:blipFill>
          <p:spPr>
            <a:xfrm>
              <a:off x="2209800" y="3688080"/>
              <a:ext cx="1558977" cy="2113280"/>
            </a:xfrm>
            <a:prstGeom prst="rect">
              <a:avLst/>
            </a:prstGeom>
          </p:spPr>
        </p:pic>
        <p:pic>
          <p:nvPicPr>
            <p:cNvPr id="5" name="Picture 4">
              <a:extLst>
                <a:ext uri="{FF2B5EF4-FFF2-40B4-BE49-F238E27FC236}">
                  <a16:creationId xmlns:a16="http://schemas.microsoft.com/office/drawing/2014/main" id="{7CA5B11D-127A-3BA7-B8AA-1E5355E2F16C}"/>
                </a:ext>
              </a:extLst>
            </p:cNvPr>
            <p:cNvPicPr>
              <a:picLocks noChangeAspect="1"/>
            </p:cNvPicPr>
            <p:nvPr/>
          </p:nvPicPr>
          <p:blipFill>
            <a:blip r:embed="rId4"/>
            <a:stretch>
              <a:fillRect/>
            </a:stretch>
          </p:blipFill>
          <p:spPr>
            <a:xfrm flipH="1">
              <a:off x="3390316" y="3688080"/>
              <a:ext cx="1352548" cy="2113280"/>
            </a:xfrm>
            <a:prstGeom prst="rect">
              <a:avLst/>
            </a:prstGeom>
          </p:spPr>
        </p:pic>
        <p:sp>
          <p:nvSpPr>
            <p:cNvPr id="6" name="TextBox 5">
              <a:extLst>
                <a:ext uri="{FF2B5EF4-FFF2-40B4-BE49-F238E27FC236}">
                  <a16:creationId xmlns:a16="http://schemas.microsoft.com/office/drawing/2014/main" id="{B607138E-420D-A08A-BFDA-1CEF7A8B900F}"/>
                </a:ext>
              </a:extLst>
            </p:cNvPr>
            <p:cNvSpPr txBox="1"/>
            <p:nvPr/>
          </p:nvSpPr>
          <p:spPr>
            <a:xfrm>
              <a:off x="2514787" y="5812394"/>
              <a:ext cx="1751057" cy="369332"/>
            </a:xfrm>
            <a:prstGeom prst="rect">
              <a:avLst/>
            </a:prstGeom>
            <a:noFill/>
          </p:spPr>
          <p:txBody>
            <a:bodyPr wrap="none" rtlCol="0">
              <a:spAutoFit/>
            </a:bodyPr>
            <a:lstStyle/>
            <a:p>
              <a:r>
                <a:rPr lang="en-US" dirty="0">
                  <a:solidFill>
                    <a:schemeClr val="accent1"/>
                  </a:solidFill>
                </a:rPr>
                <a:t>Guido and Mary</a:t>
              </a:r>
            </a:p>
          </p:txBody>
        </p:sp>
        <p:sp>
          <p:nvSpPr>
            <p:cNvPr id="7" name="Rounded Rectangular Callout 6">
              <a:extLst>
                <a:ext uri="{FF2B5EF4-FFF2-40B4-BE49-F238E27FC236}">
                  <a16:creationId xmlns:a16="http://schemas.microsoft.com/office/drawing/2014/main" id="{1C39A83B-6816-AC9B-F90E-840466289383}"/>
                </a:ext>
              </a:extLst>
            </p:cNvPr>
            <p:cNvSpPr/>
            <p:nvPr/>
          </p:nvSpPr>
          <p:spPr>
            <a:xfrm>
              <a:off x="5836920" y="2712720"/>
              <a:ext cx="5029200" cy="2164080"/>
            </a:xfrm>
            <a:prstGeom prst="wedgeRoundRectCallout">
              <a:avLst>
                <a:gd name="adj1" fmla="val -71136"/>
                <a:gd name="adj2" fmla="val 12500"/>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t>We are capricious dictators on a power trip!</a:t>
              </a:r>
            </a:p>
          </p:txBody>
        </p:sp>
      </p:grpSp>
      <p:sp>
        <p:nvSpPr>
          <p:cNvPr id="9" name="&quot;No&quot; Symbol 8">
            <a:extLst>
              <a:ext uri="{FF2B5EF4-FFF2-40B4-BE49-F238E27FC236}">
                <a16:creationId xmlns:a16="http://schemas.microsoft.com/office/drawing/2014/main" id="{6AC988A9-F3A0-B668-E892-5798790DD4FE}"/>
              </a:ext>
            </a:extLst>
          </p:cNvPr>
          <p:cNvSpPr/>
          <p:nvPr/>
        </p:nvSpPr>
        <p:spPr>
          <a:xfrm>
            <a:off x="1973580" y="676274"/>
            <a:ext cx="8244840" cy="7498080"/>
          </a:xfrm>
          <a:prstGeom prst="noSmoking">
            <a:avLst>
              <a:gd name="adj" fmla="val 6121"/>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6674724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DAFF13-3207-286A-2D6C-C3D7B32B2EE7}"/>
              </a:ext>
            </a:extLst>
          </p:cNvPr>
          <p:cNvSpPr>
            <a:spLocks noGrp="1"/>
          </p:cNvSpPr>
          <p:nvPr>
            <p:ph type="title"/>
          </p:nvPr>
        </p:nvSpPr>
        <p:spPr/>
        <p:txBody>
          <a:bodyPr/>
          <a:lstStyle/>
          <a:p>
            <a:r>
              <a:rPr lang="en-US" dirty="0"/>
              <a:t>Should laptops be allowed in class?</a:t>
            </a:r>
          </a:p>
        </p:txBody>
      </p:sp>
      <p:sp>
        <p:nvSpPr>
          <p:cNvPr id="3" name="Content Placeholder 2">
            <a:extLst>
              <a:ext uri="{FF2B5EF4-FFF2-40B4-BE49-F238E27FC236}">
                <a16:creationId xmlns:a16="http://schemas.microsoft.com/office/drawing/2014/main" id="{68F52E94-13FA-2DD2-912F-1BBFA61A5607}"/>
              </a:ext>
            </a:extLst>
          </p:cNvPr>
          <p:cNvSpPr>
            <a:spLocks noGrp="1"/>
          </p:cNvSpPr>
          <p:nvPr>
            <p:ph idx="1"/>
          </p:nvPr>
        </p:nvSpPr>
        <p:spPr/>
        <p:txBody>
          <a:bodyPr/>
          <a:lstStyle/>
          <a:p>
            <a:r>
              <a:rPr lang="en-US" dirty="0"/>
              <a:t>We don’t allow them in this class.  Why not?</a:t>
            </a:r>
          </a:p>
        </p:txBody>
      </p:sp>
      <p:grpSp>
        <p:nvGrpSpPr>
          <p:cNvPr id="8" name="Group 7">
            <a:extLst>
              <a:ext uri="{FF2B5EF4-FFF2-40B4-BE49-F238E27FC236}">
                <a16:creationId xmlns:a16="http://schemas.microsoft.com/office/drawing/2014/main" id="{E7F36148-5EFD-5E65-BD93-7A14F983A77D}"/>
              </a:ext>
            </a:extLst>
          </p:cNvPr>
          <p:cNvGrpSpPr/>
          <p:nvPr/>
        </p:nvGrpSpPr>
        <p:grpSpPr>
          <a:xfrm>
            <a:off x="2209800" y="2712720"/>
            <a:ext cx="8656320" cy="3469006"/>
            <a:chOff x="2209800" y="2712720"/>
            <a:chExt cx="8656320" cy="3469006"/>
          </a:xfrm>
        </p:grpSpPr>
        <p:pic>
          <p:nvPicPr>
            <p:cNvPr id="4" name="Picture 3">
              <a:extLst>
                <a:ext uri="{FF2B5EF4-FFF2-40B4-BE49-F238E27FC236}">
                  <a16:creationId xmlns:a16="http://schemas.microsoft.com/office/drawing/2014/main" id="{26B7EEFE-5B70-BC87-6707-136C8B82A344}"/>
                </a:ext>
              </a:extLst>
            </p:cNvPr>
            <p:cNvPicPr>
              <a:picLocks noChangeAspect="1"/>
            </p:cNvPicPr>
            <p:nvPr/>
          </p:nvPicPr>
          <p:blipFill>
            <a:blip r:embed="rId3"/>
            <a:stretch>
              <a:fillRect/>
            </a:stretch>
          </p:blipFill>
          <p:spPr>
            <a:xfrm>
              <a:off x="2209800" y="3688080"/>
              <a:ext cx="1558977" cy="2113280"/>
            </a:xfrm>
            <a:prstGeom prst="rect">
              <a:avLst/>
            </a:prstGeom>
          </p:spPr>
        </p:pic>
        <p:pic>
          <p:nvPicPr>
            <p:cNvPr id="5" name="Picture 4">
              <a:extLst>
                <a:ext uri="{FF2B5EF4-FFF2-40B4-BE49-F238E27FC236}">
                  <a16:creationId xmlns:a16="http://schemas.microsoft.com/office/drawing/2014/main" id="{7CA5B11D-127A-3BA7-B8AA-1E5355E2F16C}"/>
                </a:ext>
              </a:extLst>
            </p:cNvPr>
            <p:cNvPicPr>
              <a:picLocks noChangeAspect="1"/>
            </p:cNvPicPr>
            <p:nvPr/>
          </p:nvPicPr>
          <p:blipFill>
            <a:blip r:embed="rId4"/>
            <a:stretch>
              <a:fillRect/>
            </a:stretch>
          </p:blipFill>
          <p:spPr>
            <a:xfrm flipH="1">
              <a:off x="3390316" y="3688080"/>
              <a:ext cx="1352548" cy="2113280"/>
            </a:xfrm>
            <a:prstGeom prst="rect">
              <a:avLst/>
            </a:prstGeom>
          </p:spPr>
        </p:pic>
        <p:sp>
          <p:nvSpPr>
            <p:cNvPr id="6" name="TextBox 5">
              <a:extLst>
                <a:ext uri="{FF2B5EF4-FFF2-40B4-BE49-F238E27FC236}">
                  <a16:creationId xmlns:a16="http://schemas.microsoft.com/office/drawing/2014/main" id="{B607138E-420D-A08A-BFDA-1CEF7A8B900F}"/>
                </a:ext>
              </a:extLst>
            </p:cNvPr>
            <p:cNvSpPr txBox="1"/>
            <p:nvPr/>
          </p:nvSpPr>
          <p:spPr>
            <a:xfrm>
              <a:off x="2514787" y="5812394"/>
              <a:ext cx="1751057" cy="369332"/>
            </a:xfrm>
            <a:prstGeom prst="rect">
              <a:avLst/>
            </a:prstGeom>
            <a:noFill/>
          </p:spPr>
          <p:txBody>
            <a:bodyPr wrap="none" rtlCol="0">
              <a:spAutoFit/>
            </a:bodyPr>
            <a:lstStyle/>
            <a:p>
              <a:r>
                <a:rPr lang="en-US" dirty="0">
                  <a:solidFill>
                    <a:schemeClr val="accent1"/>
                  </a:solidFill>
                </a:rPr>
                <a:t>Guido and Mary</a:t>
              </a:r>
            </a:p>
          </p:txBody>
        </p:sp>
        <p:sp>
          <p:nvSpPr>
            <p:cNvPr id="7" name="Rounded Rectangular Callout 6">
              <a:extLst>
                <a:ext uri="{FF2B5EF4-FFF2-40B4-BE49-F238E27FC236}">
                  <a16:creationId xmlns:a16="http://schemas.microsoft.com/office/drawing/2014/main" id="{1C39A83B-6816-AC9B-F90E-840466289383}"/>
                </a:ext>
              </a:extLst>
            </p:cNvPr>
            <p:cNvSpPr/>
            <p:nvPr/>
          </p:nvSpPr>
          <p:spPr>
            <a:xfrm>
              <a:off x="5836920" y="2712720"/>
              <a:ext cx="5029200" cy="2164080"/>
            </a:xfrm>
            <a:prstGeom prst="wedgeRoundRectCallout">
              <a:avLst>
                <a:gd name="adj1" fmla="val -71136"/>
                <a:gd name="adj2" fmla="val 12500"/>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t>We are compelled by evidence from an RCT!</a:t>
              </a:r>
            </a:p>
          </p:txBody>
        </p:sp>
      </p:grpSp>
    </p:spTree>
    <p:extLst>
      <p:ext uri="{BB962C8B-B14F-4D97-AF65-F5344CB8AC3E}">
        <p14:creationId xmlns:p14="http://schemas.microsoft.com/office/powerpoint/2010/main" val="13579177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C0CA35-6D4A-B0FC-EC06-04D77CEDE45C}"/>
              </a:ext>
            </a:extLst>
          </p:cNvPr>
          <p:cNvSpPr>
            <a:spLocks noGrp="1"/>
          </p:cNvSpPr>
          <p:nvPr>
            <p:ph type="title"/>
          </p:nvPr>
        </p:nvSpPr>
        <p:spPr/>
        <p:txBody>
          <a:bodyPr/>
          <a:lstStyle/>
          <a:p>
            <a:r>
              <a:rPr lang="en-US" dirty="0"/>
              <a:t>What is the effect on student learning</a:t>
            </a:r>
            <a:br>
              <a:rPr lang="en-US" dirty="0"/>
            </a:br>
            <a:r>
              <a:rPr lang="en-US" dirty="0"/>
              <a:t>of having laptops in class?</a:t>
            </a:r>
          </a:p>
        </p:txBody>
      </p:sp>
      <p:sp>
        <p:nvSpPr>
          <p:cNvPr id="4" name="Rounded Rectangle 3">
            <a:extLst>
              <a:ext uri="{FF2B5EF4-FFF2-40B4-BE49-F238E27FC236}">
                <a16:creationId xmlns:a16="http://schemas.microsoft.com/office/drawing/2014/main" id="{7E0234BD-1D60-0716-0AFA-A5CCFD738D13}"/>
              </a:ext>
            </a:extLst>
          </p:cNvPr>
          <p:cNvSpPr/>
          <p:nvPr/>
        </p:nvSpPr>
        <p:spPr>
          <a:xfrm>
            <a:off x="1066800" y="2331720"/>
            <a:ext cx="7909560" cy="384524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b="1" dirty="0"/>
              <a:t>Discuss: </a:t>
            </a:r>
          </a:p>
          <a:p>
            <a:pPr algn="ctr"/>
            <a:r>
              <a:rPr lang="en-US" sz="4000" dirty="0"/>
              <a:t>How would you design an RCT to measure the effects of laptops in class?</a:t>
            </a:r>
          </a:p>
        </p:txBody>
      </p:sp>
      <p:pic>
        <p:nvPicPr>
          <p:cNvPr id="3" name="Picture 2">
            <a:extLst>
              <a:ext uri="{FF2B5EF4-FFF2-40B4-BE49-F238E27FC236}">
                <a16:creationId xmlns:a16="http://schemas.microsoft.com/office/drawing/2014/main" id="{BB0C35B2-C47A-0E04-2E14-B5F25ECCB74A}"/>
              </a:ext>
            </a:extLst>
          </p:cNvPr>
          <p:cNvPicPr>
            <a:picLocks noChangeAspect="1"/>
          </p:cNvPicPr>
          <p:nvPr/>
        </p:nvPicPr>
        <p:blipFill>
          <a:blip r:embed="rId3"/>
          <a:stretch>
            <a:fillRect/>
          </a:stretch>
        </p:blipFill>
        <p:spPr>
          <a:xfrm>
            <a:off x="9162499" y="4139410"/>
            <a:ext cx="2099861" cy="1820383"/>
          </a:xfrm>
          <a:prstGeom prst="rect">
            <a:avLst/>
          </a:prstGeom>
        </p:spPr>
      </p:pic>
    </p:spTree>
    <p:extLst>
      <p:ext uri="{BB962C8B-B14F-4D97-AF65-F5344CB8AC3E}">
        <p14:creationId xmlns:p14="http://schemas.microsoft.com/office/powerpoint/2010/main" val="3161274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694F0-13ED-0719-6721-351EFA1DCF5D}"/>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E659EADD-1CA0-B57B-532C-7AD58B67E9BC}"/>
              </a:ext>
            </a:extLst>
          </p:cNvPr>
          <p:cNvSpPr>
            <a:spLocks noGrp="1"/>
          </p:cNvSpPr>
          <p:nvPr>
            <p:ph type="subTitle" idx="1"/>
          </p:nvPr>
        </p:nvSpPr>
        <p:spPr/>
        <p:txBody>
          <a:bodyPr/>
          <a:lstStyle/>
          <a:p>
            <a:endParaRPr lang="en-US"/>
          </a:p>
        </p:txBody>
      </p:sp>
      <p:pic>
        <p:nvPicPr>
          <p:cNvPr id="5" name="slide.url=https://www.polleverywhere.com/discourses/AVhAULrUL1WBH9J5PAT39">
            <a:extLst>
              <a:ext uri="{FF2B5EF4-FFF2-40B4-BE49-F238E27FC236}">
                <a16:creationId xmlns:a16="http://schemas.microsoft.com/office/drawing/2014/main" id="{DB5D3D4C-2EBB-088A-6924-9144BB174436}"/>
              </a:ext>
            </a:extLst>
          </p:cNvPr>
          <p:cNvPicPr>
            <a:picLocks/>
          </p:cNvPicPr>
          <p:nvPr>
            <p:custDataLst>
              <p:tags r:id="rId1"/>
            </p:custDataLst>
          </p:nvPr>
        </p:nvPicPr>
        <p:blipFill>
          <a:blip r:embed="rId4">
            <a:extLst>
              <a:ext uri="{28A0092B-C50C-407E-A947-70E740481C1C}">
                <a14:useLocalDpi xmlns:a14="http://schemas.microsoft.com/office/drawing/2010/main" val="0"/>
              </a:ext>
            </a:extLst>
          </a:blip>
          <a:stretch>
            <a:fillRect/>
          </a:stretch>
        </p:blipFill>
        <p:spPr>
          <a:xfrm>
            <a:off x="63500" y="63500"/>
            <a:ext cx="12065000" cy="6731000"/>
          </a:xfrm>
          <a:prstGeom prst="rect">
            <a:avLst/>
          </a:prstGeom>
        </p:spPr>
      </p:pic>
    </p:spTree>
    <p:extLst>
      <p:ext uri="{BB962C8B-B14F-4D97-AF65-F5344CB8AC3E}">
        <p14:creationId xmlns:p14="http://schemas.microsoft.com/office/powerpoint/2010/main" val="6347835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2334FB-DE1C-1B50-CDDE-00F26B268661}"/>
              </a:ext>
            </a:extLst>
          </p:cNvPr>
          <p:cNvSpPr>
            <a:spLocks noGrp="1"/>
          </p:cNvSpPr>
          <p:nvPr>
            <p:ph type="title"/>
          </p:nvPr>
        </p:nvSpPr>
        <p:spPr/>
        <p:txBody>
          <a:bodyPr/>
          <a:lstStyle/>
          <a:p>
            <a:r>
              <a:rPr lang="en-US" dirty="0"/>
              <a:t>Here’s one study that did this already!</a:t>
            </a:r>
            <a:br>
              <a:rPr lang="en-US" dirty="0"/>
            </a:br>
            <a:r>
              <a:rPr lang="en-US" sz="2400" dirty="0"/>
              <a:t>You’ll read and think more about it before next class!</a:t>
            </a:r>
            <a:endParaRPr lang="en-US" dirty="0"/>
          </a:p>
        </p:txBody>
      </p:sp>
      <p:pic>
        <p:nvPicPr>
          <p:cNvPr id="4" name="Picture 3">
            <a:extLst>
              <a:ext uri="{FF2B5EF4-FFF2-40B4-BE49-F238E27FC236}">
                <a16:creationId xmlns:a16="http://schemas.microsoft.com/office/drawing/2014/main" id="{68662ABC-8438-1B8D-3AC3-B251F1D3FC55}"/>
              </a:ext>
            </a:extLst>
          </p:cNvPr>
          <p:cNvPicPr>
            <a:picLocks noChangeAspect="1"/>
          </p:cNvPicPr>
          <p:nvPr/>
        </p:nvPicPr>
        <p:blipFill>
          <a:blip r:embed="rId3"/>
          <a:stretch>
            <a:fillRect/>
          </a:stretch>
        </p:blipFill>
        <p:spPr>
          <a:xfrm>
            <a:off x="1236687" y="1691005"/>
            <a:ext cx="10315233" cy="3961261"/>
          </a:xfrm>
          <a:prstGeom prst="rect">
            <a:avLst/>
          </a:prstGeom>
        </p:spPr>
      </p:pic>
    </p:spTree>
    <p:extLst>
      <p:ext uri="{BB962C8B-B14F-4D97-AF65-F5344CB8AC3E}">
        <p14:creationId xmlns:p14="http://schemas.microsoft.com/office/powerpoint/2010/main" val="15669492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66132E-C7A3-307D-23A5-F04839BCFBF5}"/>
              </a:ext>
            </a:extLst>
          </p:cNvPr>
          <p:cNvSpPr>
            <a:spLocks noGrp="1"/>
          </p:cNvSpPr>
          <p:nvPr>
            <p:ph type="title"/>
          </p:nvPr>
        </p:nvSpPr>
        <p:spPr>
          <a:xfrm>
            <a:off x="838200" y="106681"/>
            <a:ext cx="10515600" cy="1325563"/>
          </a:xfrm>
        </p:spPr>
        <p:txBody>
          <a:bodyPr/>
          <a:lstStyle/>
          <a:p>
            <a:r>
              <a:rPr lang="en-US" dirty="0"/>
              <a:t>RCT on Laptops in Class</a:t>
            </a:r>
          </a:p>
        </p:txBody>
      </p:sp>
      <p:sp>
        <p:nvSpPr>
          <p:cNvPr id="3" name="Content Placeholder 2">
            <a:extLst>
              <a:ext uri="{FF2B5EF4-FFF2-40B4-BE49-F238E27FC236}">
                <a16:creationId xmlns:a16="http://schemas.microsoft.com/office/drawing/2014/main" id="{97A624E4-1705-5ED1-5FE6-380BBD0375D8}"/>
              </a:ext>
            </a:extLst>
          </p:cNvPr>
          <p:cNvSpPr>
            <a:spLocks noGrp="1"/>
          </p:cNvSpPr>
          <p:nvPr>
            <p:ph idx="1"/>
          </p:nvPr>
        </p:nvSpPr>
        <p:spPr>
          <a:xfrm>
            <a:off x="838200" y="1569720"/>
            <a:ext cx="11582400" cy="5181599"/>
          </a:xfrm>
        </p:spPr>
        <p:txBody>
          <a:bodyPr>
            <a:normAutofit/>
          </a:bodyPr>
          <a:lstStyle/>
          <a:p>
            <a:r>
              <a:rPr lang="en-US" dirty="0"/>
              <a:t>Population: 726 students at West Point from 2014-2016</a:t>
            </a:r>
          </a:p>
          <a:p>
            <a:pPr lvl="1"/>
            <a:r>
              <a:rPr lang="en-US" dirty="0">
                <a:solidFill>
                  <a:schemeClr val="accent1"/>
                </a:solidFill>
              </a:rPr>
              <a:t>Students were spread across 50 sections of Intro Econ.</a:t>
            </a:r>
          </a:p>
          <a:p>
            <a:pPr lvl="1"/>
            <a:r>
              <a:rPr lang="en-US" dirty="0">
                <a:solidFill>
                  <a:schemeClr val="accent1"/>
                </a:solidFill>
              </a:rPr>
              <a:t>Note: Intro Econ is required at West Point.</a:t>
            </a:r>
          </a:p>
          <a:p>
            <a:pPr lvl="1"/>
            <a:r>
              <a:rPr lang="en-US" dirty="0">
                <a:solidFill>
                  <a:schemeClr val="accent1"/>
                </a:solidFill>
              </a:rPr>
              <a:t>All sections have same syllabus, textbook, and exam</a:t>
            </a:r>
          </a:p>
          <a:p>
            <a:r>
              <a:rPr lang="en-US" dirty="0"/>
              <a:t>Classrooms were </a:t>
            </a:r>
            <a:r>
              <a:rPr lang="en-US" b="1" dirty="0"/>
              <a:t>randomly</a:t>
            </a:r>
            <a:r>
              <a:rPr lang="en-US" dirty="0"/>
              <a:t> split into three treatment groups:</a:t>
            </a:r>
          </a:p>
          <a:p>
            <a:pPr lvl="1"/>
            <a:r>
              <a:rPr lang="en-US" b="1" dirty="0">
                <a:solidFill>
                  <a:schemeClr val="accent1"/>
                </a:solidFill>
              </a:rPr>
              <a:t>Treatment 1: </a:t>
            </a:r>
            <a:r>
              <a:rPr lang="en-US" dirty="0">
                <a:solidFill>
                  <a:schemeClr val="accent1"/>
                </a:solidFill>
              </a:rPr>
              <a:t>Anything goes (17 classrooms, 248 students)</a:t>
            </a:r>
          </a:p>
          <a:p>
            <a:pPr lvl="1"/>
            <a:r>
              <a:rPr lang="en-US" b="1" dirty="0">
                <a:solidFill>
                  <a:schemeClr val="accent1"/>
                </a:solidFill>
              </a:rPr>
              <a:t>Treatment 2: </a:t>
            </a:r>
            <a:r>
              <a:rPr lang="en-US" dirty="0">
                <a:solidFill>
                  <a:schemeClr val="accent1"/>
                </a:solidFill>
              </a:rPr>
              <a:t>Tablets, but only for note-taking (15 classrooms, 208 students)</a:t>
            </a:r>
          </a:p>
          <a:p>
            <a:pPr lvl="1"/>
            <a:r>
              <a:rPr lang="en-US" b="1" dirty="0">
                <a:solidFill>
                  <a:schemeClr val="accent1"/>
                </a:solidFill>
              </a:rPr>
              <a:t>Control: </a:t>
            </a:r>
            <a:r>
              <a:rPr lang="en-US" dirty="0">
                <a:solidFill>
                  <a:schemeClr val="accent1"/>
                </a:solidFill>
              </a:rPr>
              <a:t>No tablets/computers (18 classrooms, 270 students)</a:t>
            </a:r>
          </a:p>
          <a:p>
            <a:pPr lvl="1"/>
            <a:r>
              <a:rPr lang="en-US" dirty="0">
                <a:solidFill>
                  <a:schemeClr val="accent1"/>
                </a:solidFill>
              </a:rPr>
              <a:t>Students/Professors </a:t>
            </a:r>
            <a:r>
              <a:rPr lang="en-US" b="1" dirty="0">
                <a:solidFill>
                  <a:schemeClr val="accent1"/>
                </a:solidFill>
              </a:rPr>
              <a:t>don’t</a:t>
            </a:r>
            <a:r>
              <a:rPr lang="en-US" dirty="0">
                <a:solidFill>
                  <a:schemeClr val="accent1"/>
                </a:solidFill>
              </a:rPr>
              <a:t> get to choose their group.</a:t>
            </a:r>
          </a:p>
          <a:p>
            <a:r>
              <a:rPr lang="en-US" dirty="0"/>
              <a:t>Outcome:</a:t>
            </a:r>
          </a:p>
          <a:p>
            <a:pPr lvl="1"/>
            <a:r>
              <a:rPr lang="en-US" dirty="0">
                <a:solidFill>
                  <a:schemeClr val="accent1"/>
                </a:solidFill>
              </a:rPr>
              <a:t>Measured on common final exam</a:t>
            </a:r>
            <a:endParaRPr lang="en-US" dirty="0"/>
          </a:p>
          <a:p>
            <a:pPr lvl="1"/>
            <a:endParaRPr lang="en-US" dirty="0"/>
          </a:p>
        </p:txBody>
      </p:sp>
    </p:spTree>
    <p:extLst>
      <p:ext uri="{BB962C8B-B14F-4D97-AF65-F5344CB8AC3E}">
        <p14:creationId xmlns:p14="http://schemas.microsoft.com/office/powerpoint/2010/main" val="39007375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EEA745-FAB1-B81D-694F-222D20579B5F}"/>
              </a:ext>
            </a:extLst>
          </p:cNvPr>
          <p:cNvSpPr>
            <a:spLocks noGrp="1"/>
          </p:cNvSpPr>
          <p:nvPr>
            <p:ph type="title"/>
          </p:nvPr>
        </p:nvSpPr>
        <p:spPr>
          <a:xfrm>
            <a:off x="838200" y="365125"/>
            <a:ext cx="4064000" cy="2162175"/>
          </a:xfrm>
        </p:spPr>
        <p:txBody>
          <a:bodyPr/>
          <a:lstStyle/>
          <a:p>
            <a:r>
              <a:rPr lang="en-US" dirty="0"/>
              <a:t>Are the observables “balanced”?</a:t>
            </a:r>
          </a:p>
        </p:txBody>
      </p:sp>
      <p:sp>
        <p:nvSpPr>
          <p:cNvPr id="3" name="Content Placeholder 2">
            <a:extLst>
              <a:ext uri="{FF2B5EF4-FFF2-40B4-BE49-F238E27FC236}">
                <a16:creationId xmlns:a16="http://schemas.microsoft.com/office/drawing/2014/main" id="{2D64250F-4C1B-DD61-422B-61F4913A43E9}"/>
              </a:ext>
            </a:extLst>
          </p:cNvPr>
          <p:cNvSpPr>
            <a:spLocks noGrp="1"/>
          </p:cNvSpPr>
          <p:nvPr>
            <p:ph idx="1"/>
          </p:nvPr>
        </p:nvSpPr>
        <p:spPr>
          <a:xfrm>
            <a:off x="838200" y="2778125"/>
            <a:ext cx="4064000" cy="4351338"/>
          </a:xfrm>
        </p:spPr>
        <p:txBody>
          <a:bodyPr/>
          <a:lstStyle/>
          <a:p>
            <a:r>
              <a:rPr lang="en-US" dirty="0"/>
              <a:t>We want all groups that we can identify to be about “equally split” between treatment(s) and control.</a:t>
            </a:r>
          </a:p>
          <a:p>
            <a:r>
              <a:rPr lang="en-US" dirty="0"/>
              <a:t>It’s good practice to check this! (what would you do if there was imbalance??)</a:t>
            </a:r>
          </a:p>
        </p:txBody>
      </p:sp>
      <p:pic>
        <p:nvPicPr>
          <p:cNvPr id="4" name="Picture 3">
            <a:extLst>
              <a:ext uri="{FF2B5EF4-FFF2-40B4-BE49-F238E27FC236}">
                <a16:creationId xmlns:a16="http://schemas.microsoft.com/office/drawing/2014/main" id="{53599A97-9949-3788-CE52-23DA79F48DEA}"/>
              </a:ext>
            </a:extLst>
          </p:cNvPr>
          <p:cNvPicPr>
            <a:picLocks noChangeAspect="1"/>
          </p:cNvPicPr>
          <p:nvPr/>
        </p:nvPicPr>
        <p:blipFill>
          <a:blip r:embed="rId3"/>
          <a:stretch>
            <a:fillRect/>
          </a:stretch>
        </p:blipFill>
        <p:spPr>
          <a:xfrm>
            <a:off x="5257800" y="660010"/>
            <a:ext cx="6845300" cy="6197990"/>
          </a:xfrm>
          <a:prstGeom prst="rect">
            <a:avLst/>
          </a:prstGeom>
          <a:ln>
            <a:solidFill>
              <a:schemeClr val="accent1"/>
            </a:solidFill>
          </a:ln>
        </p:spPr>
      </p:pic>
      <p:sp>
        <p:nvSpPr>
          <p:cNvPr id="5" name="TextBox 4">
            <a:extLst>
              <a:ext uri="{FF2B5EF4-FFF2-40B4-BE49-F238E27FC236}">
                <a16:creationId xmlns:a16="http://schemas.microsoft.com/office/drawing/2014/main" id="{5ACA3662-F035-EBAD-3F5D-77ADFE2DCFA7}"/>
              </a:ext>
            </a:extLst>
          </p:cNvPr>
          <p:cNvSpPr txBox="1"/>
          <p:nvPr/>
        </p:nvSpPr>
        <p:spPr>
          <a:xfrm>
            <a:off x="5257800" y="290678"/>
            <a:ext cx="2714974" cy="369332"/>
          </a:xfrm>
          <a:prstGeom prst="rect">
            <a:avLst/>
          </a:prstGeom>
          <a:noFill/>
        </p:spPr>
        <p:txBody>
          <a:bodyPr wrap="none" rtlCol="0">
            <a:spAutoFit/>
          </a:bodyPr>
          <a:lstStyle/>
          <a:p>
            <a:r>
              <a:rPr lang="en-US" dirty="0">
                <a:solidFill>
                  <a:schemeClr val="accent1"/>
                </a:solidFill>
              </a:rPr>
              <a:t>Table* from laptop paper:</a:t>
            </a:r>
          </a:p>
        </p:txBody>
      </p:sp>
      <p:sp>
        <p:nvSpPr>
          <p:cNvPr id="6" name="TextBox 5">
            <a:extLst>
              <a:ext uri="{FF2B5EF4-FFF2-40B4-BE49-F238E27FC236}">
                <a16:creationId xmlns:a16="http://schemas.microsoft.com/office/drawing/2014/main" id="{D5BF1EB9-19DC-A041-6C5C-A096F61BFB66}"/>
              </a:ext>
            </a:extLst>
          </p:cNvPr>
          <p:cNvSpPr txBox="1"/>
          <p:nvPr/>
        </p:nvSpPr>
        <p:spPr>
          <a:xfrm>
            <a:off x="391161" y="6396335"/>
            <a:ext cx="4775200" cy="461665"/>
          </a:xfrm>
          <a:prstGeom prst="rect">
            <a:avLst/>
          </a:prstGeom>
          <a:noFill/>
        </p:spPr>
        <p:txBody>
          <a:bodyPr wrap="square" rtlCol="0">
            <a:spAutoFit/>
          </a:bodyPr>
          <a:lstStyle/>
          <a:p>
            <a:r>
              <a:rPr lang="en-US" sz="1200" dirty="0">
                <a:solidFill>
                  <a:schemeClr val="accent1"/>
                </a:solidFill>
              </a:rPr>
              <a:t>*They also include more evidence that things are fairly balanced, but it involves regression which we haven’t covered yet.</a:t>
            </a:r>
          </a:p>
        </p:txBody>
      </p:sp>
    </p:spTree>
    <p:extLst>
      <p:ext uri="{BB962C8B-B14F-4D97-AF65-F5344CB8AC3E}">
        <p14:creationId xmlns:p14="http://schemas.microsoft.com/office/powerpoint/2010/main" val="32192457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029FD-0981-AB01-B1BB-A60D15BBC0A7}"/>
              </a:ext>
            </a:extLst>
          </p:cNvPr>
          <p:cNvSpPr>
            <a:spLocks noGrp="1"/>
          </p:cNvSpPr>
          <p:nvPr>
            <p:ph type="title"/>
          </p:nvPr>
        </p:nvSpPr>
        <p:spPr>
          <a:xfrm>
            <a:off x="838199" y="365125"/>
            <a:ext cx="10762129" cy="1325563"/>
          </a:xfrm>
        </p:spPr>
        <p:txBody>
          <a:bodyPr>
            <a:normAutofit/>
          </a:bodyPr>
          <a:lstStyle/>
          <a:p>
            <a:r>
              <a:rPr lang="en-US" sz="3600" dirty="0"/>
              <a:t>What do </a:t>
            </a:r>
            <a:r>
              <a:rPr lang="en-US" sz="3600" b="1" dirty="0"/>
              <a:t>you</a:t>
            </a:r>
            <a:r>
              <a:rPr lang="en-US" sz="3600" dirty="0"/>
              <a:t> think the results were?</a:t>
            </a:r>
          </a:p>
        </p:txBody>
      </p:sp>
      <p:sp>
        <p:nvSpPr>
          <p:cNvPr id="3" name="Content Placeholder 2">
            <a:extLst>
              <a:ext uri="{FF2B5EF4-FFF2-40B4-BE49-F238E27FC236}">
                <a16:creationId xmlns:a16="http://schemas.microsoft.com/office/drawing/2014/main" id="{F9DCEF2C-AC3F-C0AA-CDEE-D7C159083001}"/>
              </a:ext>
            </a:extLst>
          </p:cNvPr>
          <p:cNvSpPr>
            <a:spLocks noGrp="1"/>
          </p:cNvSpPr>
          <p:nvPr>
            <p:ph idx="1"/>
          </p:nvPr>
        </p:nvSpPr>
        <p:spPr/>
        <p:txBody>
          <a:bodyPr/>
          <a:lstStyle/>
          <a:p>
            <a:r>
              <a:rPr lang="en-US" dirty="0"/>
              <a:t>Is there an effect?</a:t>
            </a:r>
          </a:p>
          <a:p>
            <a:r>
              <a:rPr lang="en-US" dirty="0"/>
              <a:t>Is the effect the same for:</a:t>
            </a:r>
          </a:p>
          <a:p>
            <a:pPr lvl="1"/>
            <a:r>
              <a:rPr lang="en-US" dirty="0">
                <a:solidFill>
                  <a:schemeClr val="accent1"/>
                </a:solidFill>
              </a:rPr>
              <a:t>Women vs men</a:t>
            </a:r>
          </a:p>
          <a:p>
            <a:pPr lvl="1"/>
            <a:r>
              <a:rPr lang="en-US" dirty="0">
                <a:solidFill>
                  <a:schemeClr val="accent1"/>
                </a:solidFill>
              </a:rPr>
              <a:t>High-ACT vs low-ACT</a:t>
            </a:r>
          </a:p>
          <a:p>
            <a:pPr lvl="1"/>
            <a:r>
              <a:rPr lang="en-US" dirty="0">
                <a:solidFill>
                  <a:schemeClr val="accent1"/>
                </a:solidFill>
              </a:rPr>
              <a:t>White vs non-white</a:t>
            </a:r>
          </a:p>
          <a:p>
            <a:pPr lvl="1"/>
            <a:r>
              <a:rPr lang="en-US" dirty="0">
                <a:solidFill>
                  <a:schemeClr val="accent1"/>
                </a:solidFill>
              </a:rPr>
              <a:t>…</a:t>
            </a:r>
          </a:p>
          <a:p>
            <a:pPr lvl="1"/>
            <a:endParaRPr lang="en-US" dirty="0"/>
          </a:p>
        </p:txBody>
      </p:sp>
      <p:pic>
        <p:nvPicPr>
          <p:cNvPr id="7" name="Picture 6">
            <a:extLst>
              <a:ext uri="{FF2B5EF4-FFF2-40B4-BE49-F238E27FC236}">
                <a16:creationId xmlns:a16="http://schemas.microsoft.com/office/drawing/2014/main" id="{32225150-BC6F-4999-44BA-74BC7D6AC4D3}"/>
              </a:ext>
            </a:extLst>
          </p:cNvPr>
          <p:cNvPicPr>
            <a:picLocks noChangeAspect="1"/>
          </p:cNvPicPr>
          <p:nvPr/>
        </p:nvPicPr>
        <p:blipFill>
          <a:blip r:embed="rId3"/>
          <a:stretch>
            <a:fillRect/>
          </a:stretch>
        </p:blipFill>
        <p:spPr>
          <a:xfrm>
            <a:off x="9845421" y="2871216"/>
            <a:ext cx="1754907" cy="2957086"/>
          </a:xfrm>
          <a:prstGeom prst="rect">
            <a:avLst/>
          </a:prstGeom>
        </p:spPr>
      </p:pic>
    </p:spTree>
    <p:extLst>
      <p:ext uri="{BB962C8B-B14F-4D97-AF65-F5344CB8AC3E}">
        <p14:creationId xmlns:p14="http://schemas.microsoft.com/office/powerpoint/2010/main" val="3583226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B5CE7E-8D8E-228D-6849-8AC9F7C893E3}"/>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14434BC4-DC9C-16FF-A80A-DC639923B053}"/>
              </a:ext>
            </a:extLst>
          </p:cNvPr>
          <p:cNvSpPr>
            <a:spLocks noGrp="1"/>
          </p:cNvSpPr>
          <p:nvPr>
            <p:ph type="subTitle" idx="1"/>
          </p:nvPr>
        </p:nvSpPr>
        <p:spPr/>
        <p:txBody>
          <a:bodyPr/>
          <a:lstStyle/>
          <a:p>
            <a:endParaRPr lang="en-US"/>
          </a:p>
        </p:txBody>
      </p:sp>
      <p:pic>
        <p:nvPicPr>
          <p:cNvPr id="5" name="slide.url=https://www.polleverywhere.com/multiple_choice_polls/cXZcgLIWFjh425Ey9XcE1?state=opened&amp;flow=Default&amp;onscreen=persist">
            <a:extLst>
              <a:ext uri="{FF2B5EF4-FFF2-40B4-BE49-F238E27FC236}">
                <a16:creationId xmlns:a16="http://schemas.microsoft.com/office/drawing/2014/main" id="{4CE25620-4EA0-C66B-7641-C294B08C2641}"/>
              </a:ext>
            </a:extLst>
          </p:cNvPr>
          <p:cNvPicPr>
            <a:picLocks/>
          </p:cNvPicPr>
          <p:nvPr>
            <p:custDataLst>
              <p:tags r:id="rId1"/>
            </p:custDataLst>
          </p:nvPr>
        </p:nvPicPr>
        <p:blipFill>
          <a:blip r:embed="rId4">
            <a:extLst>
              <a:ext uri="{28A0092B-C50C-407E-A947-70E740481C1C}">
                <a14:useLocalDpi xmlns:a14="http://schemas.microsoft.com/office/drawing/2010/main" val="0"/>
              </a:ext>
            </a:extLst>
          </a:blip>
          <a:stretch>
            <a:fillRect/>
          </a:stretch>
        </p:blipFill>
        <p:spPr>
          <a:xfrm>
            <a:off x="63500" y="63500"/>
            <a:ext cx="12065000" cy="6731000"/>
          </a:xfrm>
          <a:prstGeom prst="rect">
            <a:avLst/>
          </a:prstGeom>
        </p:spPr>
      </p:pic>
    </p:spTree>
    <p:extLst>
      <p:ext uri="{BB962C8B-B14F-4D97-AF65-F5344CB8AC3E}">
        <p14:creationId xmlns:p14="http://schemas.microsoft.com/office/powerpoint/2010/main" val="27401821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6D3A8-BB6B-1326-D6E6-E4BC4614F1BE}"/>
              </a:ext>
            </a:extLst>
          </p:cNvPr>
          <p:cNvSpPr>
            <a:spLocks noGrp="1"/>
          </p:cNvSpPr>
          <p:nvPr>
            <p:ph type="title"/>
          </p:nvPr>
        </p:nvSpPr>
        <p:spPr/>
        <p:txBody>
          <a:bodyPr/>
          <a:lstStyle/>
          <a:p>
            <a:r>
              <a:rPr lang="en-US" dirty="0"/>
              <a:t>Outcomes*</a:t>
            </a:r>
          </a:p>
        </p:txBody>
      </p:sp>
      <p:sp>
        <p:nvSpPr>
          <p:cNvPr id="4" name="TextBox 3">
            <a:extLst>
              <a:ext uri="{FF2B5EF4-FFF2-40B4-BE49-F238E27FC236}">
                <a16:creationId xmlns:a16="http://schemas.microsoft.com/office/drawing/2014/main" id="{DB876F27-334D-810D-8E76-3941354CB936}"/>
              </a:ext>
            </a:extLst>
          </p:cNvPr>
          <p:cNvSpPr txBox="1"/>
          <p:nvPr/>
        </p:nvSpPr>
        <p:spPr>
          <a:xfrm>
            <a:off x="457200" y="6488668"/>
            <a:ext cx="4678910" cy="369332"/>
          </a:xfrm>
          <a:prstGeom prst="rect">
            <a:avLst/>
          </a:prstGeom>
          <a:noFill/>
        </p:spPr>
        <p:txBody>
          <a:bodyPr wrap="none" rtlCol="0">
            <a:spAutoFit/>
          </a:bodyPr>
          <a:lstStyle/>
          <a:p>
            <a:r>
              <a:rPr lang="en-US" dirty="0"/>
              <a:t>*Simplified, see paper for much more detail!</a:t>
            </a:r>
          </a:p>
        </p:txBody>
      </p:sp>
      <p:sp>
        <p:nvSpPr>
          <p:cNvPr id="5" name="TextBox 4">
            <a:extLst>
              <a:ext uri="{FF2B5EF4-FFF2-40B4-BE49-F238E27FC236}">
                <a16:creationId xmlns:a16="http://schemas.microsoft.com/office/drawing/2014/main" id="{DA825B66-3B36-7468-5CA0-B6ADDDFF7FF6}"/>
              </a:ext>
            </a:extLst>
          </p:cNvPr>
          <p:cNvSpPr txBox="1"/>
          <p:nvPr/>
        </p:nvSpPr>
        <p:spPr>
          <a:xfrm>
            <a:off x="1036320" y="2700605"/>
            <a:ext cx="1889760" cy="830997"/>
          </a:xfrm>
          <a:prstGeom prst="rect">
            <a:avLst/>
          </a:prstGeom>
          <a:noFill/>
        </p:spPr>
        <p:txBody>
          <a:bodyPr wrap="square" rtlCol="0">
            <a:spAutoFit/>
          </a:bodyPr>
          <a:lstStyle/>
          <a:p>
            <a:pPr algn="r"/>
            <a:r>
              <a:rPr lang="en-US" sz="2400" dirty="0"/>
              <a:t>Anything goes group:</a:t>
            </a:r>
          </a:p>
        </p:txBody>
      </p:sp>
      <p:sp>
        <p:nvSpPr>
          <p:cNvPr id="6" name="TextBox 5">
            <a:extLst>
              <a:ext uri="{FF2B5EF4-FFF2-40B4-BE49-F238E27FC236}">
                <a16:creationId xmlns:a16="http://schemas.microsoft.com/office/drawing/2014/main" id="{CCEC0BBA-2DA0-CC83-D253-02107DBFA634}"/>
              </a:ext>
            </a:extLst>
          </p:cNvPr>
          <p:cNvSpPr txBox="1"/>
          <p:nvPr/>
        </p:nvSpPr>
        <p:spPr>
          <a:xfrm>
            <a:off x="960016" y="4647754"/>
            <a:ext cx="2019190" cy="830997"/>
          </a:xfrm>
          <a:prstGeom prst="rect">
            <a:avLst/>
          </a:prstGeom>
          <a:noFill/>
        </p:spPr>
        <p:txBody>
          <a:bodyPr wrap="square" rtlCol="0">
            <a:spAutoFit/>
          </a:bodyPr>
          <a:lstStyle/>
          <a:p>
            <a:pPr algn="r"/>
            <a:r>
              <a:rPr lang="en-US" sz="2400" dirty="0"/>
              <a:t>Modified-tablet group:</a:t>
            </a:r>
          </a:p>
        </p:txBody>
      </p:sp>
      <p:sp>
        <p:nvSpPr>
          <p:cNvPr id="8" name="TextBox 7">
            <a:extLst>
              <a:ext uri="{FF2B5EF4-FFF2-40B4-BE49-F238E27FC236}">
                <a16:creationId xmlns:a16="http://schemas.microsoft.com/office/drawing/2014/main" id="{8CDC64FC-1283-6819-1C73-964027D3299F}"/>
              </a:ext>
            </a:extLst>
          </p:cNvPr>
          <p:cNvSpPr txBox="1"/>
          <p:nvPr/>
        </p:nvSpPr>
        <p:spPr>
          <a:xfrm>
            <a:off x="6477230" y="1410816"/>
            <a:ext cx="2682240" cy="1015663"/>
          </a:xfrm>
          <a:prstGeom prst="rect">
            <a:avLst/>
          </a:prstGeom>
          <a:noFill/>
        </p:spPr>
        <p:txBody>
          <a:bodyPr wrap="square" rtlCol="0">
            <a:spAutoFit/>
          </a:bodyPr>
          <a:lstStyle/>
          <a:p>
            <a:pPr algn="ctr"/>
            <a:r>
              <a:rPr lang="en-US" sz="2400" dirty="0"/>
              <a:t>p-value</a:t>
            </a:r>
          </a:p>
          <a:p>
            <a:pPr algn="ctr"/>
            <a:r>
              <a:rPr lang="en-US" dirty="0"/>
              <a:t>To reject the null that the treatment had no effect</a:t>
            </a:r>
          </a:p>
        </p:txBody>
      </p:sp>
      <p:sp>
        <p:nvSpPr>
          <p:cNvPr id="9" name="TextBox 8">
            <a:extLst>
              <a:ext uri="{FF2B5EF4-FFF2-40B4-BE49-F238E27FC236}">
                <a16:creationId xmlns:a16="http://schemas.microsoft.com/office/drawing/2014/main" id="{F7F7D844-7F9B-7B3C-4AE4-6347FBAAB9B7}"/>
              </a:ext>
            </a:extLst>
          </p:cNvPr>
          <p:cNvSpPr txBox="1"/>
          <p:nvPr/>
        </p:nvSpPr>
        <p:spPr>
          <a:xfrm>
            <a:off x="9159470" y="1184061"/>
            <a:ext cx="2682240" cy="1292662"/>
          </a:xfrm>
          <a:prstGeom prst="rect">
            <a:avLst/>
          </a:prstGeom>
          <a:noFill/>
        </p:spPr>
        <p:txBody>
          <a:bodyPr wrap="square" rtlCol="0">
            <a:spAutoFit/>
          </a:bodyPr>
          <a:lstStyle/>
          <a:p>
            <a:pPr algn="ctr"/>
            <a:r>
              <a:rPr lang="en-US" sz="2400" dirty="0"/>
              <a:t>Standard Error</a:t>
            </a:r>
          </a:p>
          <a:p>
            <a:pPr algn="ctr"/>
            <a:r>
              <a:rPr lang="en-US" dirty="0"/>
              <a:t>(aka, estimate of std. deviation of the estimated effect)</a:t>
            </a:r>
          </a:p>
        </p:txBody>
      </p:sp>
      <p:grpSp>
        <p:nvGrpSpPr>
          <p:cNvPr id="19" name="Group 18">
            <a:extLst>
              <a:ext uri="{FF2B5EF4-FFF2-40B4-BE49-F238E27FC236}">
                <a16:creationId xmlns:a16="http://schemas.microsoft.com/office/drawing/2014/main" id="{6B73F53E-4E3B-9F53-029F-0FCB4BED52FD}"/>
              </a:ext>
            </a:extLst>
          </p:cNvPr>
          <p:cNvGrpSpPr/>
          <p:nvPr/>
        </p:nvGrpSpPr>
        <p:grpSpPr>
          <a:xfrm>
            <a:off x="4586118" y="4633309"/>
            <a:ext cx="6514957" cy="635704"/>
            <a:chOff x="4586118" y="4633309"/>
            <a:chExt cx="6514957" cy="635704"/>
          </a:xfrm>
        </p:grpSpPr>
        <p:sp>
          <p:nvSpPr>
            <p:cNvPr id="11" name="TextBox 10">
              <a:extLst>
                <a:ext uri="{FF2B5EF4-FFF2-40B4-BE49-F238E27FC236}">
                  <a16:creationId xmlns:a16="http://schemas.microsoft.com/office/drawing/2014/main" id="{9AC7E66E-EA1C-7E19-19DE-CF7EA7E2A9B2}"/>
                </a:ext>
              </a:extLst>
            </p:cNvPr>
            <p:cNvSpPr txBox="1"/>
            <p:nvPr/>
          </p:nvSpPr>
          <p:spPr>
            <a:xfrm>
              <a:off x="4586118" y="4684238"/>
              <a:ext cx="1099981" cy="584775"/>
            </a:xfrm>
            <a:prstGeom prst="rect">
              <a:avLst/>
            </a:prstGeom>
            <a:noFill/>
          </p:spPr>
          <p:txBody>
            <a:bodyPr wrap="none" rtlCol="0">
              <a:spAutoFit/>
            </a:bodyPr>
            <a:lstStyle/>
            <a:p>
              <a:r>
                <a:rPr lang="en-US" sz="3200" dirty="0">
                  <a:solidFill>
                    <a:schemeClr val="accent5"/>
                  </a:solidFill>
                </a:rPr>
                <a:t>-0.17</a:t>
              </a:r>
            </a:p>
          </p:txBody>
        </p:sp>
        <p:sp>
          <p:nvSpPr>
            <p:cNvPr id="12" name="TextBox 11">
              <a:extLst>
                <a:ext uri="{FF2B5EF4-FFF2-40B4-BE49-F238E27FC236}">
                  <a16:creationId xmlns:a16="http://schemas.microsoft.com/office/drawing/2014/main" id="{05FD2D5E-0433-C646-7C93-ACA506668578}"/>
                </a:ext>
              </a:extLst>
            </p:cNvPr>
            <p:cNvSpPr txBox="1"/>
            <p:nvPr/>
          </p:nvSpPr>
          <p:spPr>
            <a:xfrm>
              <a:off x="7228284" y="4647754"/>
              <a:ext cx="960519" cy="584775"/>
            </a:xfrm>
            <a:prstGeom prst="rect">
              <a:avLst/>
            </a:prstGeom>
            <a:noFill/>
          </p:spPr>
          <p:txBody>
            <a:bodyPr wrap="none" rtlCol="0">
              <a:spAutoFit/>
            </a:bodyPr>
            <a:lstStyle/>
            <a:p>
              <a:r>
                <a:rPr lang="en-US" sz="3200" dirty="0">
                  <a:solidFill>
                    <a:schemeClr val="accent5"/>
                  </a:solidFill>
                </a:rPr>
                <a:t>&lt;0.1</a:t>
              </a:r>
            </a:p>
          </p:txBody>
        </p:sp>
        <p:sp>
          <p:nvSpPr>
            <p:cNvPr id="15" name="TextBox 14">
              <a:extLst>
                <a:ext uri="{FF2B5EF4-FFF2-40B4-BE49-F238E27FC236}">
                  <a16:creationId xmlns:a16="http://schemas.microsoft.com/office/drawing/2014/main" id="{D17F3133-9768-28D8-664C-4726C8CE7FB8}"/>
                </a:ext>
              </a:extLst>
            </p:cNvPr>
            <p:cNvSpPr txBox="1"/>
            <p:nvPr/>
          </p:nvSpPr>
          <p:spPr>
            <a:xfrm>
              <a:off x="9900105" y="4633309"/>
              <a:ext cx="1200970" cy="584775"/>
            </a:xfrm>
            <a:prstGeom prst="rect">
              <a:avLst/>
            </a:prstGeom>
            <a:noFill/>
          </p:spPr>
          <p:txBody>
            <a:bodyPr wrap="none" rtlCol="0">
              <a:spAutoFit/>
            </a:bodyPr>
            <a:lstStyle/>
            <a:p>
              <a:r>
                <a:rPr lang="en-US" sz="3200" dirty="0">
                  <a:solidFill>
                    <a:schemeClr val="accent5"/>
                  </a:solidFill>
                </a:rPr>
                <a:t>(0.10)</a:t>
              </a:r>
            </a:p>
          </p:txBody>
        </p:sp>
      </p:grpSp>
      <p:grpSp>
        <p:nvGrpSpPr>
          <p:cNvPr id="3" name="Group 2">
            <a:extLst>
              <a:ext uri="{FF2B5EF4-FFF2-40B4-BE49-F238E27FC236}">
                <a16:creationId xmlns:a16="http://schemas.microsoft.com/office/drawing/2014/main" id="{79D1B19D-91AB-5BC2-4B29-386E313D12D3}"/>
              </a:ext>
            </a:extLst>
          </p:cNvPr>
          <p:cNvGrpSpPr/>
          <p:nvPr/>
        </p:nvGrpSpPr>
        <p:grpSpPr>
          <a:xfrm>
            <a:off x="3825149" y="2777951"/>
            <a:ext cx="2504065" cy="1781231"/>
            <a:chOff x="3825149" y="2777951"/>
            <a:chExt cx="2504065" cy="1781231"/>
          </a:xfrm>
        </p:grpSpPr>
        <p:sp>
          <p:nvSpPr>
            <p:cNvPr id="10" name="TextBox 9">
              <a:extLst>
                <a:ext uri="{FF2B5EF4-FFF2-40B4-BE49-F238E27FC236}">
                  <a16:creationId xmlns:a16="http://schemas.microsoft.com/office/drawing/2014/main" id="{87589E49-1FDC-298A-4591-341E11B7FC5D}"/>
                </a:ext>
              </a:extLst>
            </p:cNvPr>
            <p:cNvSpPr txBox="1"/>
            <p:nvPr/>
          </p:nvSpPr>
          <p:spPr>
            <a:xfrm>
              <a:off x="4586119" y="2777951"/>
              <a:ext cx="1099981" cy="584775"/>
            </a:xfrm>
            <a:prstGeom prst="rect">
              <a:avLst/>
            </a:prstGeom>
            <a:noFill/>
          </p:spPr>
          <p:txBody>
            <a:bodyPr wrap="none" rtlCol="0">
              <a:spAutoFit/>
            </a:bodyPr>
            <a:lstStyle/>
            <a:p>
              <a:r>
                <a:rPr lang="en-US" sz="3200" dirty="0">
                  <a:solidFill>
                    <a:schemeClr val="accent5"/>
                  </a:solidFill>
                </a:rPr>
                <a:t>-0.28</a:t>
              </a:r>
            </a:p>
          </p:txBody>
        </p:sp>
        <p:sp>
          <p:nvSpPr>
            <p:cNvPr id="16" name="TextBox 15">
              <a:extLst>
                <a:ext uri="{FF2B5EF4-FFF2-40B4-BE49-F238E27FC236}">
                  <a16:creationId xmlns:a16="http://schemas.microsoft.com/office/drawing/2014/main" id="{322E714E-C0EC-D248-FE35-7A87B5D7480B}"/>
                </a:ext>
              </a:extLst>
            </p:cNvPr>
            <p:cNvSpPr txBox="1"/>
            <p:nvPr/>
          </p:nvSpPr>
          <p:spPr>
            <a:xfrm>
              <a:off x="3825149" y="3358853"/>
              <a:ext cx="2504065" cy="1200329"/>
            </a:xfrm>
            <a:prstGeom prst="rect">
              <a:avLst/>
            </a:prstGeom>
            <a:noFill/>
          </p:spPr>
          <p:txBody>
            <a:bodyPr wrap="square" rtlCol="0">
              <a:spAutoFit/>
            </a:bodyPr>
            <a:lstStyle/>
            <a:p>
              <a:pPr algn="ctr"/>
              <a:r>
                <a:rPr lang="en-US" dirty="0">
                  <a:solidFill>
                    <a:schemeClr val="accent5"/>
                  </a:solidFill>
                </a:rPr>
                <a:t>Scores for laptop-users were 0.28 standard deviations lower than the control group.*</a:t>
              </a:r>
            </a:p>
          </p:txBody>
        </p:sp>
      </p:gr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AA1A7925-C534-3D64-3E68-55A592BC3126}"/>
                  </a:ext>
                </a:extLst>
              </p:cNvPr>
              <p:cNvSpPr txBox="1"/>
              <p:nvPr/>
            </p:nvSpPr>
            <p:spPr>
              <a:xfrm>
                <a:off x="7042878" y="77733"/>
                <a:ext cx="5129032" cy="646331"/>
              </a:xfrm>
              <a:prstGeom prst="rect">
                <a:avLst/>
              </a:prstGeom>
              <a:noFill/>
            </p:spPr>
            <p:txBody>
              <a:bodyPr wrap="square">
                <a:spAutoFit/>
              </a:bodyPr>
              <a:lstStyle/>
              <a:p>
                <a:pPr algn="ctr"/>
                <a:r>
                  <a:rPr lang="en-US" dirty="0">
                    <a:solidFill>
                      <a:schemeClr val="accent5"/>
                    </a:solidFill>
                  </a:rPr>
                  <a:t>*For this exam, the standard deviation was </a:t>
                </a:r>
                <a14:m>
                  <m:oMath xmlns:m="http://schemas.openxmlformats.org/officeDocument/2006/math">
                    <m:r>
                      <a:rPr lang="en-US" b="0" i="1" smtClean="0">
                        <a:solidFill>
                          <a:schemeClr val="accent5"/>
                        </a:solidFill>
                        <a:latin typeface="Cambria Math" panose="02040503050406030204" pitchFamily="18" charset="0"/>
                      </a:rPr>
                      <m:t>9.2</m:t>
                    </m:r>
                  </m:oMath>
                </a14:m>
                <a:r>
                  <a:rPr lang="en-US" dirty="0">
                    <a:solidFill>
                      <a:schemeClr val="accent5"/>
                    </a:solidFill>
                  </a:rPr>
                  <a:t>, so this is about 2.5 points lower on a 100 point exam.</a:t>
                </a:r>
              </a:p>
            </p:txBody>
          </p:sp>
        </mc:Choice>
        <mc:Fallback xmlns="">
          <p:sp>
            <p:nvSpPr>
              <p:cNvPr id="17" name="TextBox 16">
                <a:extLst>
                  <a:ext uri="{FF2B5EF4-FFF2-40B4-BE49-F238E27FC236}">
                    <a16:creationId xmlns:a16="http://schemas.microsoft.com/office/drawing/2014/main" id="{AA1A7925-C534-3D64-3E68-55A592BC3126}"/>
                  </a:ext>
                </a:extLst>
              </p:cNvPr>
              <p:cNvSpPr txBox="1">
                <a:spLocks noRot="1" noChangeAspect="1" noMove="1" noResize="1" noEditPoints="1" noAdjustHandles="1" noChangeArrowheads="1" noChangeShapeType="1" noTextEdit="1"/>
              </p:cNvSpPr>
              <p:nvPr/>
            </p:nvSpPr>
            <p:spPr>
              <a:xfrm>
                <a:off x="7042878" y="77733"/>
                <a:ext cx="5129032" cy="646331"/>
              </a:xfrm>
              <a:prstGeom prst="rect">
                <a:avLst/>
              </a:prstGeom>
              <a:blipFill>
                <a:blip r:embed="rId3"/>
                <a:stretch>
                  <a:fillRect l="-494" t="-5769" r="-988" b="-11538"/>
                </a:stretch>
              </a:blipFill>
            </p:spPr>
            <p:txBody>
              <a:bodyPr/>
              <a:lstStyle/>
              <a:p>
                <a:r>
                  <a:rPr lang="en-US">
                    <a:noFill/>
                  </a:rPr>
                  <a:t> </a:t>
                </a:r>
              </a:p>
            </p:txBody>
          </p:sp>
        </mc:Fallback>
      </mc:AlternateContent>
      <p:sp>
        <p:nvSpPr>
          <p:cNvPr id="18" name="TextBox 17">
            <a:extLst>
              <a:ext uri="{FF2B5EF4-FFF2-40B4-BE49-F238E27FC236}">
                <a16:creationId xmlns:a16="http://schemas.microsoft.com/office/drawing/2014/main" id="{23CFED46-B50A-0A7F-0266-73F4CB3BEB99}"/>
              </a:ext>
            </a:extLst>
          </p:cNvPr>
          <p:cNvSpPr txBox="1"/>
          <p:nvPr/>
        </p:nvSpPr>
        <p:spPr>
          <a:xfrm>
            <a:off x="3657715" y="1664225"/>
            <a:ext cx="2682240" cy="830997"/>
          </a:xfrm>
          <a:prstGeom prst="rect">
            <a:avLst/>
          </a:prstGeom>
          <a:noFill/>
        </p:spPr>
        <p:txBody>
          <a:bodyPr wrap="square" rtlCol="0">
            <a:spAutoFit/>
          </a:bodyPr>
          <a:lstStyle/>
          <a:p>
            <a:pPr algn="ctr"/>
            <a:r>
              <a:rPr lang="en-US" sz="2400" dirty="0"/>
              <a:t>Estimated average treatment effect</a:t>
            </a:r>
          </a:p>
        </p:txBody>
      </p:sp>
      <p:grpSp>
        <p:nvGrpSpPr>
          <p:cNvPr id="22" name="Group 21">
            <a:extLst>
              <a:ext uri="{FF2B5EF4-FFF2-40B4-BE49-F238E27FC236}">
                <a16:creationId xmlns:a16="http://schemas.microsoft.com/office/drawing/2014/main" id="{EA8E1E33-8836-F63C-0F1A-9AECD5DAD5C5}"/>
              </a:ext>
            </a:extLst>
          </p:cNvPr>
          <p:cNvGrpSpPr/>
          <p:nvPr/>
        </p:nvGrpSpPr>
        <p:grpSpPr>
          <a:xfrm>
            <a:off x="6445783" y="2776157"/>
            <a:ext cx="2853247" cy="1731607"/>
            <a:chOff x="6445783" y="2776157"/>
            <a:chExt cx="2853247" cy="1731607"/>
          </a:xfrm>
        </p:grpSpPr>
        <p:sp>
          <p:nvSpPr>
            <p:cNvPr id="13" name="TextBox 12">
              <a:extLst>
                <a:ext uri="{FF2B5EF4-FFF2-40B4-BE49-F238E27FC236}">
                  <a16:creationId xmlns:a16="http://schemas.microsoft.com/office/drawing/2014/main" id="{2D2CCB63-4751-78D3-C1D3-2D7F7AA44C88}"/>
                </a:ext>
              </a:extLst>
            </p:cNvPr>
            <p:cNvSpPr txBox="1"/>
            <p:nvPr/>
          </p:nvSpPr>
          <p:spPr>
            <a:xfrm>
              <a:off x="7228284" y="2776157"/>
              <a:ext cx="1180131" cy="584775"/>
            </a:xfrm>
            <a:prstGeom prst="rect">
              <a:avLst/>
            </a:prstGeom>
            <a:noFill/>
          </p:spPr>
          <p:txBody>
            <a:bodyPr wrap="none" rtlCol="0">
              <a:spAutoFit/>
            </a:bodyPr>
            <a:lstStyle/>
            <a:p>
              <a:r>
                <a:rPr lang="en-US" sz="3200" dirty="0">
                  <a:solidFill>
                    <a:schemeClr val="accent5"/>
                  </a:solidFill>
                </a:rPr>
                <a:t>&lt;0.01</a:t>
              </a:r>
            </a:p>
          </p:txBody>
        </p:sp>
        <p:sp>
          <p:nvSpPr>
            <p:cNvPr id="20" name="TextBox 19">
              <a:extLst>
                <a:ext uri="{FF2B5EF4-FFF2-40B4-BE49-F238E27FC236}">
                  <a16:creationId xmlns:a16="http://schemas.microsoft.com/office/drawing/2014/main" id="{96BDC3F8-5756-31E3-3139-2795C4CD554C}"/>
                </a:ext>
              </a:extLst>
            </p:cNvPr>
            <p:cNvSpPr txBox="1"/>
            <p:nvPr/>
          </p:nvSpPr>
          <p:spPr>
            <a:xfrm>
              <a:off x="6445783" y="3430546"/>
              <a:ext cx="2853247" cy="1077218"/>
            </a:xfrm>
            <a:prstGeom prst="rect">
              <a:avLst/>
            </a:prstGeom>
            <a:noFill/>
          </p:spPr>
          <p:txBody>
            <a:bodyPr wrap="square" rtlCol="0">
              <a:spAutoFit/>
            </a:bodyPr>
            <a:lstStyle/>
            <a:p>
              <a:pPr algn="ctr"/>
              <a:r>
                <a:rPr lang="en-US" sz="1600" dirty="0">
                  <a:solidFill>
                    <a:schemeClr val="accent5"/>
                  </a:solidFill>
                </a:rPr>
                <a:t>If there were no real effect, seeing something as extreme as “-0.28” would happen with probability &lt;0.01</a:t>
              </a:r>
            </a:p>
          </p:txBody>
        </p:sp>
      </p:grpSp>
      <p:grpSp>
        <p:nvGrpSpPr>
          <p:cNvPr id="23" name="Group 22">
            <a:extLst>
              <a:ext uri="{FF2B5EF4-FFF2-40B4-BE49-F238E27FC236}">
                <a16:creationId xmlns:a16="http://schemas.microsoft.com/office/drawing/2014/main" id="{72824B78-60BC-0B06-9B3F-CDF6BAC0334B}"/>
              </a:ext>
            </a:extLst>
          </p:cNvPr>
          <p:cNvGrpSpPr/>
          <p:nvPr/>
        </p:nvGrpSpPr>
        <p:grpSpPr>
          <a:xfrm>
            <a:off x="9302565" y="2760103"/>
            <a:ext cx="2539145" cy="1621175"/>
            <a:chOff x="9302565" y="2760103"/>
            <a:chExt cx="2539145" cy="1621175"/>
          </a:xfrm>
        </p:grpSpPr>
        <p:sp>
          <p:nvSpPr>
            <p:cNvPr id="14" name="TextBox 13">
              <a:extLst>
                <a:ext uri="{FF2B5EF4-FFF2-40B4-BE49-F238E27FC236}">
                  <a16:creationId xmlns:a16="http://schemas.microsoft.com/office/drawing/2014/main" id="{799AD0D3-5E21-B9DB-7659-945EEB701422}"/>
                </a:ext>
              </a:extLst>
            </p:cNvPr>
            <p:cNvSpPr txBox="1"/>
            <p:nvPr/>
          </p:nvSpPr>
          <p:spPr>
            <a:xfrm>
              <a:off x="9900105" y="2760103"/>
              <a:ext cx="1200970" cy="584775"/>
            </a:xfrm>
            <a:prstGeom prst="rect">
              <a:avLst/>
            </a:prstGeom>
            <a:noFill/>
          </p:spPr>
          <p:txBody>
            <a:bodyPr wrap="none" rtlCol="0">
              <a:spAutoFit/>
            </a:bodyPr>
            <a:lstStyle/>
            <a:p>
              <a:r>
                <a:rPr lang="en-US" sz="3200" dirty="0">
                  <a:solidFill>
                    <a:schemeClr val="accent5"/>
                  </a:solidFill>
                </a:rPr>
                <a:t>(0.10)</a:t>
              </a:r>
            </a:p>
          </p:txBody>
        </p:sp>
        <p:sp>
          <p:nvSpPr>
            <p:cNvPr id="21" name="TextBox 20">
              <a:extLst>
                <a:ext uri="{FF2B5EF4-FFF2-40B4-BE49-F238E27FC236}">
                  <a16:creationId xmlns:a16="http://schemas.microsoft.com/office/drawing/2014/main" id="{8028114C-977C-54FC-625D-52E24019053B}"/>
                </a:ext>
              </a:extLst>
            </p:cNvPr>
            <p:cNvSpPr txBox="1"/>
            <p:nvPr/>
          </p:nvSpPr>
          <p:spPr>
            <a:xfrm>
              <a:off x="9302565" y="3457948"/>
              <a:ext cx="2539145" cy="923330"/>
            </a:xfrm>
            <a:prstGeom prst="rect">
              <a:avLst/>
            </a:prstGeom>
            <a:noFill/>
          </p:spPr>
          <p:txBody>
            <a:bodyPr wrap="square" rtlCol="0">
              <a:spAutoFit/>
            </a:bodyPr>
            <a:lstStyle/>
            <a:p>
              <a:pPr algn="ctr"/>
              <a:r>
                <a:rPr lang="en-US" dirty="0">
                  <a:solidFill>
                    <a:schemeClr val="accent5"/>
                  </a:solidFill>
                </a:rPr>
                <a:t>The estimated standard deviation of the </a:t>
              </a:r>
            </a:p>
            <a:p>
              <a:pPr algn="ctr"/>
              <a:r>
                <a:rPr lang="en-US" dirty="0">
                  <a:solidFill>
                    <a:schemeClr val="accent5"/>
                  </a:solidFill>
                </a:rPr>
                <a:t>result “-0.28” is 0.10</a:t>
              </a:r>
            </a:p>
          </p:txBody>
        </p:sp>
      </p:grpSp>
    </p:spTree>
    <p:extLst>
      <p:ext uri="{BB962C8B-B14F-4D97-AF65-F5344CB8AC3E}">
        <p14:creationId xmlns:p14="http://schemas.microsoft.com/office/powerpoint/2010/main" val="9567970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6D3A8-BB6B-1326-D6E6-E4BC4614F1BE}"/>
              </a:ext>
            </a:extLst>
          </p:cNvPr>
          <p:cNvSpPr>
            <a:spLocks noGrp="1"/>
          </p:cNvSpPr>
          <p:nvPr>
            <p:ph type="title"/>
          </p:nvPr>
        </p:nvSpPr>
        <p:spPr/>
        <p:txBody>
          <a:bodyPr/>
          <a:lstStyle/>
          <a:p>
            <a:r>
              <a:rPr lang="en-US" dirty="0"/>
              <a:t>Outcomes*</a:t>
            </a:r>
          </a:p>
        </p:txBody>
      </p:sp>
      <p:sp>
        <p:nvSpPr>
          <p:cNvPr id="4" name="TextBox 3">
            <a:extLst>
              <a:ext uri="{FF2B5EF4-FFF2-40B4-BE49-F238E27FC236}">
                <a16:creationId xmlns:a16="http://schemas.microsoft.com/office/drawing/2014/main" id="{DB876F27-334D-810D-8E76-3941354CB936}"/>
              </a:ext>
            </a:extLst>
          </p:cNvPr>
          <p:cNvSpPr txBox="1"/>
          <p:nvPr/>
        </p:nvSpPr>
        <p:spPr>
          <a:xfrm>
            <a:off x="457200" y="6488668"/>
            <a:ext cx="4678910" cy="369332"/>
          </a:xfrm>
          <a:prstGeom prst="rect">
            <a:avLst/>
          </a:prstGeom>
          <a:noFill/>
        </p:spPr>
        <p:txBody>
          <a:bodyPr wrap="none" rtlCol="0">
            <a:spAutoFit/>
          </a:bodyPr>
          <a:lstStyle/>
          <a:p>
            <a:r>
              <a:rPr lang="en-US" dirty="0"/>
              <a:t>*Simplified, see paper for much more detail!</a:t>
            </a:r>
          </a:p>
        </p:txBody>
      </p:sp>
      <p:sp>
        <p:nvSpPr>
          <p:cNvPr id="5" name="TextBox 4">
            <a:extLst>
              <a:ext uri="{FF2B5EF4-FFF2-40B4-BE49-F238E27FC236}">
                <a16:creationId xmlns:a16="http://schemas.microsoft.com/office/drawing/2014/main" id="{DA825B66-3B36-7468-5CA0-B6ADDDFF7FF6}"/>
              </a:ext>
            </a:extLst>
          </p:cNvPr>
          <p:cNvSpPr txBox="1"/>
          <p:nvPr/>
        </p:nvSpPr>
        <p:spPr>
          <a:xfrm>
            <a:off x="1036320" y="2700605"/>
            <a:ext cx="1889760" cy="830997"/>
          </a:xfrm>
          <a:prstGeom prst="rect">
            <a:avLst/>
          </a:prstGeom>
          <a:noFill/>
        </p:spPr>
        <p:txBody>
          <a:bodyPr wrap="square" rtlCol="0">
            <a:spAutoFit/>
          </a:bodyPr>
          <a:lstStyle/>
          <a:p>
            <a:pPr algn="r"/>
            <a:r>
              <a:rPr lang="en-US" sz="2400" dirty="0"/>
              <a:t>Anything goes group:</a:t>
            </a:r>
          </a:p>
        </p:txBody>
      </p:sp>
      <p:sp>
        <p:nvSpPr>
          <p:cNvPr id="6" name="TextBox 5">
            <a:extLst>
              <a:ext uri="{FF2B5EF4-FFF2-40B4-BE49-F238E27FC236}">
                <a16:creationId xmlns:a16="http://schemas.microsoft.com/office/drawing/2014/main" id="{CCEC0BBA-2DA0-CC83-D253-02107DBFA634}"/>
              </a:ext>
            </a:extLst>
          </p:cNvPr>
          <p:cNvSpPr txBox="1"/>
          <p:nvPr/>
        </p:nvSpPr>
        <p:spPr>
          <a:xfrm>
            <a:off x="960016" y="4647754"/>
            <a:ext cx="2019190" cy="830997"/>
          </a:xfrm>
          <a:prstGeom prst="rect">
            <a:avLst/>
          </a:prstGeom>
          <a:noFill/>
        </p:spPr>
        <p:txBody>
          <a:bodyPr wrap="square" rtlCol="0">
            <a:spAutoFit/>
          </a:bodyPr>
          <a:lstStyle/>
          <a:p>
            <a:pPr algn="r"/>
            <a:r>
              <a:rPr lang="en-US" sz="2400" dirty="0"/>
              <a:t>Modified-tablet group:</a:t>
            </a:r>
          </a:p>
        </p:txBody>
      </p:sp>
      <p:sp>
        <p:nvSpPr>
          <p:cNvPr id="10" name="TextBox 9">
            <a:extLst>
              <a:ext uri="{FF2B5EF4-FFF2-40B4-BE49-F238E27FC236}">
                <a16:creationId xmlns:a16="http://schemas.microsoft.com/office/drawing/2014/main" id="{87589E49-1FDC-298A-4591-341E11B7FC5D}"/>
              </a:ext>
            </a:extLst>
          </p:cNvPr>
          <p:cNvSpPr txBox="1"/>
          <p:nvPr/>
        </p:nvSpPr>
        <p:spPr>
          <a:xfrm>
            <a:off x="4586119" y="2777951"/>
            <a:ext cx="1099981" cy="584775"/>
          </a:xfrm>
          <a:prstGeom prst="rect">
            <a:avLst/>
          </a:prstGeom>
          <a:noFill/>
        </p:spPr>
        <p:txBody>
          <a:bodyPr wrap="none" rtlCol="0">
            <a:spAutoFit/>
          </a:bodyPr>
          <a:lstStyle/>
          <a:p>
            <a:r>
              <a:rPr lang="en-US" sz="3200" dirty="0">
                <a:solidFill>
                  <a:schemeClr val="accent5"/>
                </a:solidFill>
              </a:rPr>
              <a:t>-0.28</a:t>
            </a:r>
          </a:p>
        </p:txBody>
      </p:sp>
      <p:sp>
        <p:nvSpPr>
          <p:cNvPr id="11" name="TextBox 10">
            <a:extLst>
              <a:ext uri="{FF2B5EF4-FFF2-40B4-BE49-F238E27FC236}">
                <a16:creationId xmlns:a16="http://schemas.microsoft.com/office/drawing/2014/main" id="{9AC7E66E-EA1C-7E19-19DE-CF7EA7E2A9B2}"/>
              </a:ext>
            </a:extLst>
          </p:cNvPr>
          <p:cNvSpPr txBox="1"/>
          <p:nvPr/>
        </p:nvSpPr>
        <p:spPr>
          <a:xfrm>
            <a:off x="4586118" y="4684238"/>
            <a:ext cx="1099981" cy="584775"/>
          </a:xfrm>
          <a:prstGeom prst="rect">
            <a:avLst/>
          </a:prstGeom>
          <a:noFill/>
        </p:spPr>
        <p:txBody>
          <a:bodyPr wrap="none" rtlCol="0">
            <a:spAutoFit/>
          </a:bodyPr>
          <a:lstStyle/>
          <a:p>
            <a:r>
              <a:rPr lang="en-US" sz="3200" dirty="0">
                <a:solidFill>
                  <a:schemeClr val="accent5"/>
                </a:solidFill>
              </a:rPr>
              <a:t>-0.17</a:t>
            </a:r>
          </a:p>
        </p:txBody>
      </p:sp>
      <p:sp>
        <p:nvSpPr>
          <p:cNvPr id="12" name="TextBox 11">
            <a:extLst>
              <a:ext uri="{FF2B5EF4-FFF2-40B4-BE49-F238E27FC236}">
                <a16:creationId xmlns:a16="http://schemas.microsoft.com/office/drawing/2014/main" id="{05FD2D5E-0433-C646-7C93-ACA506668578}"/>
              </a:ext>
            </a:extLst>
          </p:cNvPr>
          <p:cNvSpPr txBox="1"/>
          <p:nvPr/>
        </p:nvSpPr>
        <p:spPr>
          <a:xfrm>
            <a:off x="7228284" y="4647754"/>
            <a:ext cx="960519" cy="584775"/>
          </a:xfrm>
          <a:prstGeom prst="rect">
            <a:avLst/>
          </a:prstGeom>
          <a:noFill/>
        </p:spPr>
        <p:txBody>
          <a:bodyPr wrap="none" rtlCol="0">
            <a:spAutoFit/>
          </a:bodyPr>
          <a:lstStyle/>
          <a:p>
            <a:r>
              <a:rPr lang="en-US" sz="3200" dirty="0">
                <a:solidFill>
                  <a:schemeClr val="accent5"/>
                </a:solidFill>
              </a:rPr>
              <a:t>&lt;0.1</a:t>
            </a:r>
          </a:p>
        </p:txBody>
      </p:sp>
      <p:sp>
        <p:nvSpPr>
          <p:cNvPr id="13" name="TextBox 12">
            <a:extLst>
              <a:ext uri="{FF2B5EF4-FFF2-40B4-BE49-F238E27FC236}">
                <a16:creationId xmlns:a16="http://schemas.microsoft.com/office/drawing/2014/main" id="{2D2CCB63-4751-78D3-C1D3-2D7F7AA44C88}"/>
              </a:ext>
            </a:extLst>
          </p:cNvPr>
          <p:cNvSpPr txBox="1"/>
          <p:nvPr/>
        </p:nvSpPr>
        <p:spPr>
          <a:xfrm>
            <a:off x="7228284" y="2776157"/>
            <a:ext cx="1180131" cy="584775"/>
          </a:xfrm>
          <a:prstGeom prst="rect">
            <a:avLst/>
          </a:prstGeom>
          <a:noFill/>
        </p:spPr>
        <p:txBody>
          <a:bodyPr wrap="none" rtlCol="0">
            <a:spAutoFit/>
          </a:bodyPr>
          <a:lstStyle/>
          <a:p>
            <a:r>
              <a:rPr lang="en-US" sz="3200" dirty="0">
                <a:solidFill>
                  <a:schemeClr val="accent5"/>
                </a:solidFill>
              </a:rPr>
              <a:t>&lt;0.01</a:t>
            </a:r>
          </a:p>
        </p:txBody>
      </p:sp>
      <p:sp>
        <p:nvSpPr>
          <p:cNvPr id="14" name="TextBox 13">
            <a:extLst>
              <a:ext uri="{FF2B5EF4-FFF2-40B4-BE49-F238E27FC236}">
                <a16:creationId xmlns:a16="http://schemas.microsoft.com/office/drawing/2014/main" id="{799AD0D3-5E21-B9DB-7659-945EEB701422}"/>
              </a:ext>
            </a:extLst>
          </p:cNvPr>
          <p:cNvSpPr txBox="1"/>
          <p:nvPr/>
        </p:nvSpPr>
        <p:spPr>
          <a:xfrm>
            <a:off x="9900105" y="2760103"/>
            <a:ext cx="1200970" cy="584775"/>
          </a:xfrm>
          <a:prstGeom prst="rect">
            <a:avLst/>
          </a:prstGeom>
          <a:noFill/>
        </p:spPr>
        <p:txBody>
          <a:bodyPr wrap="none" rtlCol="0">
            <a:spAutoFit/>
          </a:bodyPr>
          <a:lstStyle/>
          <a:p>
            <a:r>
              <a:rPr lang="en-US" sz="3200" dirty="0">
                <a:solidFill>
                  <a:schemeClr val="accent5"/>
                </a:solidFill>
              </a:rPr>
              <a:t>(0.10)</a:t>
            </a:r>
          </a:p>
        </p:txBody>
      </p:sp>
      <p:sp>
        <p:nvSpPr>
          <p:cNvPr id="15" name="TextBox 14">
            <a:extLst>
              <a:ext uri="{FF2B5EF4-FFF2-40B4-BE49-F238E27FC236}">
                <a16:creationId xmlns:a16="http://schemas.microsoft.com/office/drawing/2014/main" id="{D17F3133-9768-28D8-664C-4726C8CE7FB8}"/>
              </a:ext>
            </a:extLst>
          </p:cNvPr>
          <p:cNvSpPr txBox="1"/>
          <p:nvPr/>
        </p:nvSpPr>
        <p:spPr>
          <a:xfrm>
            <a:off x="9900105" y="4633309"/>
            <a:ext cx="1200970" cy="584775"/>
          </a:xfrm>
          <a:prstGeom prst="rect">
            <a:avLst/>
          </a:prstGeom>
          <a:noFill/>
        </p:spPr>
        <p:txBody>
          <a:bodyPr wrap="none" rtlCol="0">
            <a:spAutoFit/>
          </a:bodyPr>
          <a:lstStyle/>
          <a:p>
            <a:r>
              <a:rPr lang="en-US" sz="3200" dirty="0">
                <a:solidFill>
                  <a:schemeClr val="accent5"/>
                </a:solidFill>
              </a:rPr>
              <a:t>(0.10)</a:t>
            </a:r>
          </a:p>
        </p:txBody>
      </p:sp>
      <p:sp>
        <p:nvSpPr>
          <p:cNvPr id="3" name="TextBox 2">
            <a:extLst>
              <a:ext uri="{FF2B5EF4-FFF2-40B4-BE49-F238E27FC236}">
                <a16:creationId xmlns:a16="http://schemas.microsoft.com/office/drawing/2014/main" id="{33488A73-BF35-6FB9-3EA1-9DECEE3858AE}"/>
              </a:ext>
            </a:extLst>
          </p:cNvPr>
          <p:cNvSpPr txBox="1"/>
          <p:nvPr/>
        </p:nvSpPr>
        <p:spPr>
          <a:xfrm>
            <a:off x="377127" y="3531602"/>
            <a:ext cx="2586735" cy="707886"/>
          </a:xfrm>
          <a:prstGeom prst="rect">
            <a:avLst/>
          </a:prstGeom>
          <a:noFill/>
        </p:spPr>
        <p:txBody>
          <a:bodyPr wrap="square" rtlCol="0">
            <a:spAutoFit/>
          </a:bodyPr>
          <a:lstStyle/>
          <a:p>
            <a:pPr algn="r"/>
            <a:r>
              <a:rPr lang="en-US" sz="2000" dirty="0">
                <a:solidFill>
                  <a:schemeClr val="accent2"/>
                </a:solidFill>
              </a:rPr>
              <a:t>Controlling for demographics:</a:t>
            </a:r>
          </a:p>
        </p:txBody>
      </p:sp>
      <p:sp>
        <p:nvSpPr>
          <p:cNvPr id="17" name="TextBox 16">
            <a:extLst>
              <a:ext uri="{FF2B5EF4-FFF2-40B4-BE49-F238E27FC236}">
                <a16:creationId xmlns:a16="http://schemas.microsoft.com/office/drawing/2014/main" id="{16C8A048-B80C-0C66-31DE-9D4DC06B8A47}"/>
              </a:ext>
            </a:extLst>
          </p:cNvPr>
          <p:cNvSpPr txBox="1"/>
          <p:nvPr/>
        </p:nvSpPr>
        <p:spPr>
          <a:xfrm>
            <a:off x="377127" y="5447862"/>
            <a:ext cx="2586735" cy="707886"/>
          </a:xfrm>
          <a:prstGeom prst="rect">
            <a:avLst/>
          </a:prstGeom>
          <a:noFill/>
        </p:spPr>
        <p:txBody>
          <a:bodyPr wrap="square" rtlCol="0">
            <a:spAutoFit/>
          </a:bodyPr>
          <a:lstStyle/>
          <a:p>
            <a:pPr algn="r"/>
            <a:r>
              <a:rPr lang="en-US" sz="2000" dirty="0">
                <a:solidFill>
                  <a:schemeClr val="accent2"/>
                </a:solidFill>
              </a:rPr>
              <a:t>Controlling for demographics:</a:t>
            </a:r>
          </a:p>
        </p:txBody>
      </p:sp>
      <p:grpSp>
        <p:nvGrpSpPr>
          <p:cNvPr id="7" name="Group 6">
            <a:extLst>
              <a:ext uri="{FF2B5EF4-FFF2-40B4-BE49-F238E27FC236}">
                <a16:creationId xmlns:a16="http://schemas.microsoft.com/office/drawing/2014/main" id="{391C1A7F-84B1-0251-D16E-18C208099C87}"/>
              </a:ext>
            </a:extLst>
          </p:cNvPr>
          <p:cNvGrpSpPr/>
          <p:nvPr/>
        </p:nvGrpSpPr>
        <p:grpSpPr>
          <a:xfrm>
            <a:off x="4586118" y="3375745"/>
            <a:ext cx="6514957" cy="2547466"/>
            <a:chOff x="4586118" y="3375745"/>
            <a:chExt cx="6514957" cy="2547466"/>
          </a:xfrm>
        </p:grpSpPr>
        <p:sp>
          <p:nvSpPr>
            <p:cNvPr id="18" name="TextBox 17">
              <a:extLst>
                <a:ext uri="{FF2B5EF4-FFF2-40B4-BE49-F238E27FC236}">
                  <a16:creationId xmlns:a16="http://schemas.microsoft.com/office/drawing/2014/main" id="{A65993D6-BB33-FC62-A5A1-2039D43B7969}"/>
                </a:ext>
              </a:extLst>
            </p:cNvPr>
            <p:cNvSpPr txBox="1"/>
            <p:nvPr/>
          </p:nvSpPr>
          <p:spPr>
            <a:xfrm>
              <a:off x="4586118" y="3445265"/>
              <a:ext cx="1099981" cy="584775"/>
            </a:xfrm>
            <a:prstGeom prst="rect">
              <a:avLst/>
            </a:prstGeom>
            <a:noFill/>
          </p:spPr>
          <p:txBody>
            <a:bodyPr wrap="none" rtlCol="0">
              <a:spAutoFit/>
            </a:bodyPr>
            <a:lstStyle/>
            <a:p>
              <a:r>
                <a:rPr lang="en-US" sz="3200" dirty="0">
                  <a:solidFill>
                    <a:schemeClr val="accent2"/>
                  </a:solidFill>
                </a:rPr>
                <a:t>-0.18</a:t>
              </a:r>
            </a:p>
          </p:txBody>
        </p:sp>
        <p:sp>
          <p:nvSpPr>
            <p:cNvPr id="19" name="TextBox 18">
              <a:extLst>
                <a:ext uri="{FF2B5EF4-FFF2-40B4-BE49-F238E27FC236}">
                  <a16:creationId xmlns:a16="http://schemas.microsoft.com/office/drawing/2014/main" id="{BF2AD157-9C88-2282-7A86-8EA0BAE2BC4F}"/>
                </a:ext>
              </a:extLst>
            </p:cNvPr>
            <p:cNvSpPr txBox="1"/>
            <p:nvPr/>
          </p:nvSpPr>
          <p:spPr>
            <a:xfrm>
              <a:off x="7228284" y="3449931"/>
              <a:ext cx="1180131" cy="584775"/>
            </a:xfrm>
            <a:prstGeom prst="rect">
              <a:avLst/>
            </a:prstGeom>
            <a:noFill/>
          </p:spPr>
          <p:txBody>
            <a:bodyPr wrap="none" rtlCol="0">
              <a:spAutoFit/>
            </a:bodyPr>
            <a:lstStyle/>
            <a:p>
              <a:r>
                <a:rPr lang="en-US" sz="3200" dirty="0">
                  <a:solidFill>
                    <a:schemeClr val="accent2"/>
                  </a:solidFill>
                </a:rPr>
                <a:t>&lt;0.01</a:t>
              </a:r>
            </a:p>
          </p:txBody>
        </p:sp>
        <p:sp>
          <p:nvSpPr>
            <p:cNvPr id="20" name="TextBox 19">
              <a:extLst>
                <a:ext uri="{FF2B5EF4-FFF2-40B4-BE49-F238E27FC236}">
                  <a16:creationId xmlns:a16="http://schemas.microsoft.com/office/drawing/2014/main" id="{A56C3D46-9560-4F30-3102-D2BD36DA7BF0}"/>
                </a:ext>
              </a:extLst>
            </p:cNvPr>
            <p:cNvSpPr txBox="1"/>
            <p:nvPr/>
          </p:nvSpPr>
          <p:spPr>
            <a:xfrm>
              <a:off x="9900105" y="3375745"/>
              <a:ext cx="1200970" cy="584775"/>
            </a:xfrm>
            <a:prstGeom prst="rect">
              <a:avLst/>
            </a:prstGeom>
            <a:noFill/>
          </p:spPr>
          <p:txBody>
            <a:bodyPr wrap="none" rtlCol="0">
              <a:spAutoFit/>
            </a:bodyPr>
            <a:lstStyle/>
            <a:p>
              <a:r>
                <a:rPr lang="en-US" sz="3200" dirty="0">
                  <a:solidFill>
                    <a:schemeClr val="accent2"/>
                  </a:solidFill>
                </a:rPr>
                <a:t>(0.07)</a:t>
              </a:r>
            </a:p>
          </p:txBody>
        </p:sp>
        <p:sp>
          <p:nvSpPr>
            <p:cNvPr id="21" name="TextBox 20">
              <a:extLst>
                <a:ext uri="{FF2B5EF4-FFF2-40B4-BE49-F238E27FC236}">
                  <a16:creationId xmlns:a16="http://schemas.microsoft.com/office/drawing/2014/main" id="{F58385FF-7ACC-97E4-8E32-EDE6A3F5EEA2}"/>
                </a:ext>
              </a:extLst>
            </p:cNvPr>
            <p:cNvSpPr txBox="1"/>
            <p:nvPr/>
          </p:nvSpPr>
          <p:spPr>
            <a:xfrm>
              <a:off x="4586118" y="5338436"/>
              <a:ext cx="1099981" cy="584775"/>
            </a:xfrm>
            <a:prstGeom prst="rect">
              <a:avLst/>
            </a:prstGeom>
            <a:noFill/>
          </p:spPr>
          <p:txBody>
            <a:bodyPr wrap="none" rtlCol="0">
              <a:spAutoFit/>
            </a:bodyPr>
            <a:lstStyle/>
            <a:p>
              <a:r>
                <a:rPr lang="en-US" sz="3200" dirty="0">
                  <a:solidFill>
                    <a:schemeClr val="accent2"/>
                  </a:solidFill>
                </a:rPr>
                <a:t>-0.17</a:t>
              </a:r>
            </a:p>
          </p:txBody>
        </p:sp>
        <p:sp>
          <p:nvSpPr>
            <p:cNvPr id="22" name="TextBox 21">
              <a:extLst>
                <a:ext uri="{FF2B5EF4-FFF2-40B4-BE49-F238E27FC236}">
                  <a16:creationId xmlns:a16="http://schemas.microsoft.com/office/drawing/2014/main" id="{86CAA30E-A986-349E-B7DE-92099F9B3C69}"/>
                </a:ext>
              </a:extLst>
            </p:cNvPr>
            <p:cNvSpPr txBox="1"/>
            <p:nvPr/>
          </p:nvSpPr>
          <p:spPr>
            <a:xfrm>
              <a:off x="7089795" y="5338435"/>
              <a:ext cx="1180131" cy="584775"/>
            </a:xfrm>
            <a:prstGeom prst="rect">
              <a:avLst/>
            </a:prstGeom>
            <a:noFill/>
          </p:spPr>
          <p:txBody>
            <a:bodyPr wrap="none" rtlCol="0">
              <a:spAutoFit/>
            </a:bodyPr>
            <a:lstStyle/>
            <a:p>
              <a:r>
                <a:rPr lang="en-US" sz="3200" dirty="0">
                  <a:solidFill>
                    <a:schemeClr val="accent2"/>
                  </a:solidFill>
                </a:rPr>
                <a:t>&lt;0.05</a:t>
              </a:r>
            </a:p>
          </p:txBody>
        </p:sp>
        <p:sp>
          <p:nvSpPr>
            <p:cNvPr id="23" name="TextBox 22">
              <a:extLst>
                <a:ext uri="{FF2B5EF4-FFF2-40B4-BE49-F238E27FC236}">
                  <a16:creationId xmlns:a16="http://schemas.microsoft.com/office/drawing/2014/main" id="{79CA2AF2-E895-396E-D02C-7C5670A3A5DC}"/>
                </a:ext>
              </a:extLst>
            </p:cNvPr>
            <p:cNvSpPr txBox="1"/>
            <p:nvPr/>
          </p:nvSpPr>
          <p:spPr>
            <a:xfrm>
              <a:off x="9900105" y="5338434"/>
              <a:ext cx="1200970" cy="584775"/>
            </a:xfrm>
            <a:prstGeom prst="rect">
              <a:avLst/>
            </a:prstGeom>
            <a:noFill/>
          </p:spPr>
          <p:txBody>
            <a:bodyPr wrap="none" rtlCol="0">
              <a:spAutoFit/>
            </a:bodyPr>
            <a:lstStyle/>
            <a:p>
              <a:r>
                <a:rPr lang="en-US" sz="3200" dirty="0">
                  <a:solidFill>
                    <a:schemeClr val="accent2"/>
                  </a:solidFill>
                </a:rPr>
                <a:t>(0.07)</a:t>
              </a:r>
            </a:p>
          </p:txBody>
        </p:sp>
      </p:grpSp>
      <p:sp>
        <p:nvSpPr>
          <p:cNvPr id="16" name="TextBox 15">
            <a:extLst>
              <a:ext uri="{FF2B5EF4-FFF2-40B4-BE49-F238E27FC236}">
                <a16:creationId xmlns:a16="http://schemas.microsoft.com/office/drawing/2014/main" id="{1BF44973-0B46-9725-5AA1-155988A62531}"/>
              </a:ext>
            </a:extLst>
          </p:cNvPr>
          <p:cNvSpPr txBox="1"/>
          <p:nvPr/>
        </p:nvSpPr>
        <p:spPr>
          <a:xfrm>
            <a:off x="3657715" y="1664225"/>
            <a:ext cx="2682240" cy="830997"/>
          </a:xfrm>
          <a:prstGeom prst="rect">
            <a:avLst/>
          </a:prstGeom>
          <a:noFill/>
        </p:spPr>
        <p:txBody>
          <a:bodyPr wrap="square" rtlCol="0">
            <a:spAutoFit/>
          </a:bodyPr>
          <a:lstStyle/>
          <a:p>
            <a:pPr algn="ctr"/>
            <a:r>
              <a:rPr lang="en-US" sz="2400" dirty="0"/>
              <a:t>Estimated average treatment effect</a:t>
            </a:r>
          </a:p>
        </p:txBody>
      </p:sp>
      <p:sp>
        <p:nvSpPr>
          <p:cNvPr id="24" name="TextBox 23">
            <a:extLst>
              <a:ext uri="{FF2B5EF4-FFF2-40B4-BE49-F238E27FC236}">
                <a16:creationId xmlns:a16="http://schemas.microsoft.com/office/drawing/2014/main" id="{43A67DAC-A2FD-12E6-A484-793510420DF9}"/>
              </a:ext>
            </a:extLst>
          </p:cNvPr>
          <p:cNvSpPr txBox="1"/>
          <p:nvPr/>
        </p:nvSpPr>
        <p:spPr>
          <a:xfrm>
            <a:off x="6477230" y="1410816"/>
            <a:ext cx="2682240" cy="1015663"/>
          </a:xfrm>
          <a:prstGeom prst="rect">
            <a:avLst/>
          </a:prstGeom>
          <a:noFill/>
        </p:spPr>
        <p:txBody>
          <a:bodyPr wrap="square" rtlCol="0">
            <a:spAutoFit/>
          </a:bodyPr>
          <a:lstStyle/>
          <a:p>
            <a:pPr algn="ctr"/>
            <a:r>
              <a:rPr lang="en-US" sz="2400" dirty="0"/>
              <a:t>p-value</a:t>
            </a:r>
          </a:p>
          <a:p>
            <a:pPr algn="ctr"/>
            <a:r>
              <a:rPr lang="en-US" dirty="0"/>
              <a:t>To reject the null that the treatment had no effect</a:t>
            </a:r>
          </a:p>
        </p:txBody>
      </p:sp>
      <p:sp>
        <p:nvSpPr>
          <p:cNvPr id="25" name="TextBox 24">
            <a:extLst>
              <a:ext uri="{FF2B5EF4-FFF2-40B4-BE49-F238E27FC236}">
                <a16:creationId xmlns:a16="http://schemas.microsoft.com/office/drawing/2014/main" id="{8CA44344-987F-F5B2-BBA9-C0F81FA36D16}"/>
              </a:ext>
            </a:extLst>
          </p:cNvPr>
          <p:cNvSpPr txBox="1"/>
          <p:nvPr/>
        </p:nvSpPr>
        <p:spPr>
          <a:xfrm>
            <a:off x="9159470" y="1184061"/>
            <a:ext cx="2682240" cy="1292662"/>
          </a:xfrm>
          <a:prstGeom prst="rect">
            <a:avLst/>
          </a:prstGeom>
          <a:noFill/>
        </p:spPr>
        <p:txBody>
          <a:bodyPr wrap="square" rtlCol="0">
            <a:spAutoFit/>
          </a:bodyPr>
          <a:lstStyle/>
          <a:p>
            <a:pPr algn="ctr"/>
            <a:r>
              <a:rPr lang="en-US" sz="2400" dirty="0"/>
              <a:t>Standard Error</a:t>
            </a:r>
          </a:p>
          <a:p>
            <a:pPr algn="ctr"/>
            <a:r>
              <a:rPr lang="en-US" dirty="0"/>
              <a:t>(aka, estimate of std. deviation of the estimated effect)</a:t>
            </a:r>
          </a:p>
        </p:txBody>
      </p:sp>
      <p:sp>
        <p:nvSpPr>
          <p:cNvPr id="26" name="Rounded Rectangle 25">
            <a:extLst>
              <a:ext uri="{FF2B5EF4-FFF2-40B4-BE49-F238E27FC236}">
                <a16:creationId xmlns:a16="http://schemas.microsoft.com/office/drawing/2014/main" id="{0BFEC363-F617-5CC8-7981-A7A45B822BA5}"/>
              </a:ext>
            </a:extLst>
          </p:cNvPr>
          <p:cNvSpPr/>
          <p:nvPr/>
        </p:nvSpPr>
        <p:spPr>
          <a:xfrm>
            <a:off x="4277203" y="79312"/>
            <a:ext cx="7823200" cy="766047"/>
          </a:xfrm>
          <a:prstGeom prst="round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t>Don’t worry about how we “control for demographics” for now… we’ll come back to this when we talk about regression </a:t>
            </a:r>
            <a:r>
              <a:rPr lang="en-US" sz="2000" dirty="0">
                <a:sym typeface="Wingdings" pitchFamily="2" charset="2"/>
              </a:rPr>
              <a:t> </a:t>
            </a:r>
            <a:endParaRPr lang="en-US" sz="2000" dirty="0"/>
          </a:p>
        </p:txBody>
      </p:sp>
    </p:spTree>
    <p:extLst>
      <p:ext uri="{BB962C8B-B14F-4D97-AF65-F5344CB8AC3E}">
        <p14:creationId xmlns:p14="http://schemas.microsoft.com/office/powerpoint/2010/main" val="20320996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3F03AA-6795-FA9A-6B77-8427D80174FB}"/>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85F8AECE-7A51-FCAB-8DB2-1E670FC3C438}"/>
              </a:ext>
            </a:extLst>
          </p:cNvPr>
          <p:cNvSpPr>
            <a:spLocks noGrp="1"/>
          </p:cNvSpPr>
          <p:nvPr>
            <p:ph type="subTitle" idx="1"/>
          </p:nvPr>
        </p:nvSpPr>
        <p:spPr/>
        <p:txBody>
          <a:bodyPr/>
          <a:lstStyle/>
          <a:p>
            <a:endParaRPr lang="en-US"/>
          </a:p>
        </p:txBody>
      </p:sp>
      <p:pic>
        <p:nvPicPr>
          <p:cNvPr id="5" name="slide.url=https://www.polleverywhere.com/multiple_choice_polls/BGCGIR6QDV4H25MzVP0it?state=opened&amp;flow=Default&amp;onscreen=persist">
            <a:extLst>
              <a:ext uri="{FF2B5EF4-FFF2-40B4-BE49-F238E27FC236}">
                <a16:creationId xmlns:a16="http://schemas.microsoft.com/office/drawing/2014/main" id="{5F2F10BA-5713-C7C3-6217-1F6F0C723CD2}"/>
              </a:ext>
            </a:extLst>
          </p:cNvPr>
          <p:cNvPicPr>
            <a:picLocks/>
          </p:cNvPicPr>
          <p:nvPr>
            <p:custDataLst>
              <p:tags r:id="rId1"/>
            </p:custDataLst>
          </p:nvPr>
        </p:nvPicPr>
        <p:blipFill>
          <a:blip r:embed="rId4">
            <a:extLst>
              <a:ext uri="{28A0092B-C50C-407E-A947-70E740481C1C}">
                <a14:useLocalDpi xmlns:a14="http://schemas.microsoft.com/office/drawing/2010/main" val="0"/>
              </a:ext>
            </a:extLst>
          </a:blip>
          <a:stretch>
            <a:fillRect/>
          </a:stretch>
        </p:blipFill>
        <p:spPr>
          <a:xfrm>
            <a:off x="63500" y="63500"/>
            <a:ext cx="12065000" cy="6731000"/>
          </a:xfrm>
          <a:prstGeom prst="rect">
            <a:avLst/>
          </a:prstGeom>
        </p:spPr>
      </p:pic>
    </p:spTree>
    <p:extLst>
      <p:ext uri="{BB962C8B-B14F-4D97-AF65-F5344CB8AC3E}">
        <p14:creationId xmlns:p14="http://schemas.microsoft.com/office/powerpoint/2010/main" val="87439652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794DF-C5A9-FB35-9A62-AF8E70C499E6}"/>
              </a:ext>
            </a:extLst>
          </p:cNvPr>
          <p:cNvSpPr>
            <a:spLocks noGrp="1"/>
          </p:cNvSpPr>
          <p:nvPr>
            <p:ph type="title"/>
          </p:nvPr>
        </p:nvSpPr>
        <p:spPr/>
        <p:txBody>
          <a:bodyPr/>
          <a:lstStyle/>
          <a:p>
            <a:r>
              <a:rPr lang="en-US" dirty="0"/>
              <a:t>Heterogeneous effects of laptop use</a:t>
            </a:r>
          </a:p>
        </p:txBody>
      </p:sp>
      <p:sp>
        <p:nvSpPr>
          <p:cNvPr id="5" name="TextBox 4">
            <a:extLst>
              <a:ext uri="{FF2B5EF4-FFF2-40B4-BE49-F238E27FC236}">
                <a16:creationId xmlns:a16="http://schemas.microsoft.com/office/drawing/2014/main" id="{25331D77-2162-69E5-54AC-FE2C27CD22B1}"/>
              </a:ext>
            </a:extLst>
          </p:cNvPr>
          <p:cNvSpPr txBox="1"/>
          <p:nvPr/>
        </p:nvSpPr>
        <p:spPr>
          <a:xfrm>
            <a:off x="441960" y="5934670"/>
            <a:ext cx="2069028" cy="923330"/>
          </a:xfrm>
          <a:prstGeom prst="rect">
            <a:avLst/>
          </a:prstGeom>
          <a:noFill/>
        </p:spPr>
        <p:txBody>
          <a:bodyPr wrap="none" rtlCol="0">
            <a:spAutoFit/>
          </a:bodyPr>
          <a:lstStyle/>
          <a:p>
            <a:r>
              <a:rPr lang="en-US" dirty="0"/>
              <a:t>*** = p-value &lt;0.01</a:t>
            </a:r>
          </a:p>
          <a:p>
            <a:r>
              <a:rPr lang="en-US" dirty="0"/>
              <a:t>** = p-value &lt; 0.05</a:t>
            </a:r>
          </a:p>
          <a:p>
            <a:r>
              <a:rPr lang="en-US" dirty="0"/>
              <a:t>* = p-value &lt; 0.1</a:t>
            </a:r>
          </a:p>
        </p:txBody>
      </p:sp>
      <p:sp>
        <p:nvSpPr>
          <p:cNvPr id="6" name="TextBox 5">
            <a:extLst>
              <a:ext uri="{FF2B5EF4-FFF2-40B4-BE49-F238E27FC236}">
                <a16:creationId xmlns:a16="http://schemas.microsoft.com/office/drawing/2014/main" id="{27EBE75A-5222-884A-B5D1-568DBF133C1D}"/>
              </a:ext>
            </a:extLst>
          </p:cNvPr>
          <p:cNvSpPr txBox="1"/>
          <p:nvPr/>
        </p:nvSpPr>
        <p:spPr>
          <a:xfrm>
            <a:off x="838200" y="1859280"/>
            <a:ext cx="1387624" cy="523220"/>
          </a:xfrm>
          <a:prstGeom prst="rect">
            <a:avLst/>
          </a:prstGeom>
          <a:noFill/>
        </p:spPr>
        <p:txBody>
          <a:bodyPr wrap="none" rtlCol="0">
            <a:spAutoFit/>
          </a:bodyPr>
          <a:lstStyle/>
          <a:p>
            <a:r>
              <a:rPr lang="en-US" sz="2800" dirty="0"/>
              <a:t>Women</a:t>
            </a:r>
          </a:p>
        </p:txBody>
      </p:sp>
      <p:sp>
        <p:nvSpPr>
          <p:cNvPr id="7" name="TextBox 6">
            <a:extLst>
              <a:ext uri="{FF2B5EF4-FFF2-40B4-BE49-F238E27FC236}">
                <a16:creationId xmlns:a16="http://schemas.microsoft.com/office/drawing/2014/main" id="{CA9CA743-6043-3C15-6E68-2021698222AD}"/>
              </a:ext>
            </a:extLst>
          </p:cNvPr>
          <p:cNvSpPr txBox="1"/>
          <p:nvPr/>
        </p:nvSpPr>
        <p:spPr>
          <a:xfrm>
            <a:off x="2510988" y="1859280"/>
            <a:ext cx="854721" cy="523220"/>
          </a:xfrm>
          <a:prstGeom prst="rect">
            <a:avLst/>
          </a:prstGeom>
          <a:noFill/>
        </p:spPr>
        <p:txBody>
          <a:bodyPr wrap="none" rtlCol="0">
            <a:spAutoFit/>
          </a:bodyPr>
          <a:lstStyle/>
          <a:p>
            <a:r>
              <a:rPr lang="en-US" sz="2800" dirty="0"/>
              <a:t>Men</a:t>
            </a:r>
          </a:p>
        </p:txBody>
      </p:sp>
      <p:sp>
        <p:nvSpPr>
          <p:cNvPr id="8" name="TextBox 7">
            <a:extLst>
              <a:ext uri="{FF2B5EF4-FFF2-40B4-BE49-F238E27FC236}">
                <a16:creationId xmlns:a16="http://schemas.microsoft.com/office/drawing/2014/main" id="{32CB4BB7-1386-76FD-38F4-F67124AEF06B}"/>
              </a:ext>
            </a:extLst>
          </p:cNvPr>
          <p:cNvSpPr txBox="1"/>
          <p:nvPr/>
        </p:nvSpPr>
        <p:spPr>
          <a:xfrm>
            <a:off x="4297238" y="1833860"/>
            <a:ext cx="1798762" cy="523220"/>
          </a:xfrm>
          <a:prstGeom prst="rect">
            <a:avLst/>
          </a:prstGeom>
          <a:noFill/>
        </p:spPr>
        <p:txBody>
          <a:bodyPr wrap="none" rtlCol="0">
            <a:spAutoFit/>
          </a:bodyPr>
          <a:lstStyle/>
          <a:p>
            <a:r>
              <a:rPr lang="en-US" sz="2800" dirty="0"/>
              <a:t>Non-white</a:t>
            </a:r>
          </a:p>
        </p:txBody>
      </p:sp>
      <p:sp>
        <p:nvSpPr>
          <p:cNvPr id="9" name="TextBox 8">
            <a:extLst>
              <a:ext uri="{FF2B5EF4-FFF2-40B4-BE49-F238E27FC236}">
                <a16:creationId xmlns:a16="http://schemas.microsoft.com/office/drawing/2014/main" id="{15A73E96-69AC-F869-184D-38D2F29C4748}"/>
              </a:ext>
            </a:extLst>
          </p:cNvPr>
          <p:cNvSpPr txBox="1"/>
          <p:nvPr/>
        </p:nvSpPr>
        <p:spPr>
          <a:xfrm>
            <a:off x="6295788" y="1854160"/>
            <a:ext cx="1090235" cy="523220"/>
          </a:xfrm>
          <a:prstGeom prst="rect">
            <a:avLst/>
          </a:prstGeom>
          <a:noFill/>
        </p:spPr>
        <p:txBody>
          <a:bodyPr wrap="none" rtlCol="0">
            <a:spAutoFit/>
          </a:bodyPr>
          <a:lstStyle/>
          <a:p>
            <a:r>
              <a:rPr lang="en-US" sz="2800" dirty="0"/>
              <a:t>White</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D6632485-392A-F782-390B-4A0107DE3738}"/>
                  </a:ext>
                </a:extLst>
              </p:cNvPr>
              <p:cNvSpPr txBox="1"/>
              <p:nvPr/>
            </p:nvSpPr>
            <p:spPr>
              <a:xfrm>
                <a:off x="8167414" y="1546383"/>
                <a:ext cx="1509709" cy="830997"/>
              </a:xfrm>
              <a:prstGeom prst="rect">
                <a:avLst/>
              </a:prstGeom>
              <a:noFill/>
            </p:spPr>
            <p:txBody>
              <a:bodyPr wrap="none" rtlCol="0">
                <a:spAutoFit/>
              </a:bodyPr>
              <a:lstStyle/>
              <a:p>
                <a:r>
                  <a:rPr lang="en-US" sz="2800" dirty="0"/>
                  <a:t>Low ACT</a:t>
                </a:r>
              </a:p>
              <a:p>
                <a:pPr algn="ctr"/>
                <a:r>
                  <a:rPr lang="en-US" dirty="0"/>
                  <a:t>(</a:t>
                </a:r>
                <a14:m>
                  <m:oMath xmlns:m="http://schemas.openxmlformats.org/officeDocument/2006/math">
                    <m:r>
                      <a:rPr lang="en-US" b="0" i="1" smtClean="0">
                        <a:latin typeface="Cambria Math" panose="02040503050406030204" pitchFamily="18" charset="0"/>
                      </a:rPr>
                      <m:t>≤28)</m:t>
                    </m:r>
                  </m:oMath>
                </a14:m>
                <a:endParaRPr lang="en-US" dirty="0"/>
              </a:p>
            </p:txBody>
          </p:sp>
        </mc:Choice>
        <mc:Fallback xmlns="">
          <p:sp>
            <p:nvSpPr>
              <p:cNvPr id="10" name="TextBox 9">
                <a:extLst>
                  <a:ext uri="{FF2B5EF4-FFF2-40B4-BE49-F238E27FC236}">
                    <a16:creationId xmlns:a16="http://schemas.microsoft.com/office/drawing/2014/main" id="{D6632485-392A-F782-390B-4A0107DE3738}"/>
                  </a:ext>
                </a:extLst>
              </p:cNvPr>
              <p:cNvSpPr txBox="1">
                <a:spLocks noRot="1" noChangeAspect="1" noMove="1" noResize="1" noEditPoints="1" noAdjustHandles="1" noChangeArrowheads="1" noChangeShapeType="1" noTextEdit="1"/>
              </p:cNvSpPr>
              <p:nvPr/>
            </p:nvSpPr>
            <p:spPr>
              <a:xfrm>
                <a:off x="8167414" y="1546383"/>
                <a:ext cx="1509709" cy="830997"/>
              </a:xfrm>
              <a:prstGeom prst="rect">
                <a:avLst/>
              </a:prstGeom>
              <a:blipFill>
                <a:blip r:embed="rId3"/>
                <a:stretch>
                  <a:fillRect l="-8403" t="-7463" r="-7563" b="-597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D0EDBBCD-D817-584C-C422-C259E06F3DC4}"/>
                  </a:ext>
                </a:extLst>
              </p:cNvPr>
              <p:cNvSpPr txBox="1"/>
              <p:nvPr/>
            </p:nvSpPr>
            <p:spPr>
              <a:xfrm>
                <a:off x="9760607" y="1526083"/>
                <a:ext cx="1586075" cy="800219"/>
              </a:xfrm>
              <a:prstGeom prst="rect">
                <a:avLst/>
              </a:prstGeom>
              <a:noFill/>
            </p:spPr>
            <p:txBody>
              <a:bodyPr wrap="none" rtlCol="0">
                <a:spAutoFit/>
              </a:bodyPr>
              <a:lstStyle/>
              <a:p>
                <a:r>
                  <a:rPr lang="en-US" sz="2800" dirty="0"/>
                  <a:t>High ACT</a:t>
                </a:r>
              </a:p>
              <a:p>
                <a:pPr algn="ctr"/>
                <a:r>
                  <a:rPr lang="en-US" dirty="0"/>
                  <a:t>(</a:t>
                </a:r>
                <a14:m>
                  <m:oMath xmlns:m="http://schemas.openxmlformats.org/officeDocument/2006/math">
                    <m:r>
                      <a:rPr lang="en-US" i="1">
                        <a:latin typeface="Cambria Math" panose="02040503050406030204" pitchFamily="18" charset="0"/>
                      </a:rPr>
                      <m:t>&gt;</m:t>
                    </m:r>
                    <m:r>
                      <a:rPr lang="en-US" b="0" i="1" smtClean="0">
                        <a:latin typeface="Cambria Math" panose="02040503050406030204" pitchFamily="18" charset="0"/>
                      </a:rPr>
                      <m:t>28)</m:t>
                    </m:r>
                  </m:oMath>
                </a14:m>
                <a:endParaRPr lang="en-US" dirty="0"/>
              </a:p>
            </p:txBody>
          </p:sp>
        </mc:Choice>
        <mc:Fallback xmlns="">
          <p:sp>
            <p:nvSpPr>
              <p:cNvPr id="11" name="TextBox 10">
                <a:extLst>
                  <a:ext uri="{FF2B5EF4-FFF2-40B4-BE49-F238E27FC236}">
                    <a16:creationId xmlns:a16="http://schemas.microsoft.com/office/drawing/2014/main" id="{D0EDBBCD-D817-584C-C422-C259E06F3DC4}"/>
                  </a:ext>
                </a:extLst>
              </p:cNvPr>
              <p:cNvSpPr txBox="1">
                <a:spLocks noRot="1" noChangeAspect="1" noMove="1" noResize="1" noEditPoints="1" noAdjustHandles="1" noChangeArrowheads="1" noChangeShapeType="1" noTextEdit="1"/>
              </p:cNvSpPr>
              <p:nvPr/>
            </p:nvSpPr>
            <p:spPr>
              <a:xfrm>
                <a:off x="9760607" y="1526083"/>
                <a:ext cx="1586075" cy="800219"/>
              </a:xfrm>
              <a:prstGeom prst="rect">
                <a:avLst/>
              </a:prstGeom>
              <a:blipFill>
                <a:blip r:embed="rId4"/>
                <a:stretch>
                  <a:fillRect l="-7937" t="-7813" r="-7143" b="-10938"/>
                </a:stretch>
              </a:blipFill>
            </p:spPr>
            <p:txBody>
              <a:bodyPr/>
              <a:lstStyle/>
              <a:p>
                <a:r>
                  <a:rPr lang="en-US">
                    <a:noFill/>
                  </a:rPr>
                  <a:t> </a:t>
                </a:r>
              </a:p>
            </p:txBody>
          </p:sp>
        </mc:Fallback>
      </mc:AlternateContent>
      <p:grpSp>
        <p:nvGrpSpPr>
          <p:cNvPr id="3" name="Group 2">
            <a:extLst>
              <a:ext uri="{FF2B5EF4-FFF2-40B4-BE49-F238E27FC236}">
                <a16:creationId xmlns:a16="http://schemas.microsoft.com/office/drawing/2014/main" id="{C2F06F27-80E2-B968-7DD1-195E7A9E48C2}"/>
              </a:ext>
            </a:extLst>
          </p:cNvPr>
          <p:cNvGrpSpPr/>
          <p:nvPr/>
        </p:nvGrpSpPr>
        <p:grpSpPr>
          <a:xfrm>
            <a:off x="898783" y="2465813"/>
            <a:ext cx="2934206" cy="1692771"/>
            <a:chOff x="898783" y="2465813"/>
            <a:chExt cx="2934206" cy="1692771"/>
          </a:xfrm>
        </p:grpSpPr>
        <p:sp>
          <p:nvSpPr>
            <p:cNvPr id="12" name="TextBox 11">
              <a:extLst>
                <a:ext uri="{FF2B5EF4-FFF2-40B4-BE49-F238E27FC236}">
                  <a16:creationId xmlns:a16="http://schemas.microsoft.com/office/drawing/2014/main" id="{393C5EB0-A2B3-A828-F3AA-CC325835C6C6}"/>
                </a:ext>
              </a:extLst>
            </p:cNvPr>
            <p:cNvSpPr txBox="1"/>
            <p:nvPr/>
          </p:nvSpPr>
          <p:spPr>
            <a:xfrm>
              <a:off x="898783" y="2465813"/>
              <a:ext cx="1155381" cy="1692771"/>
            </a:xfrm>
            <a:prstGeom prst="rect">
              <a:avLst/>
            </a:prstGeom>
            <a:noFill/>
          </p:spPr>
          <p:txBody>
            <a:bodyPr wrap="none" rtlCol="0">
              <a:spAutoFit/>
            </a:bodyPr>
            <a:lstStyle/>
            <a:p>
              <a:pPr algn="ctr"/>
              <a:r>
                <a:rPr lang="en-US" sz="2800" dirty="0">
                  <a:solidFill>
                    <a:schemeClr val="accent5"/>
                  </a:solidFill>
                </a:rPr>
                <a:t>+0.02 </a:t>
              </a:r>
            </a:p>
            <a:p>
              <a:pPr algn="ctr"/>
              <a:r>
                <a:rPr lang="en-US" sz="2800" dirty="0">
                  <a:solidFill>
                    <a:schemeClr val="accent5"/>
                  </a:solidFill>
                </a:rPr>
                <a:t>(0.14)</a:t>
              </a:r>
            </a:p>
            <a:p>
              <a:pPr algn="ctr"/>
              <a:endParaRPr lang="en-US" sz="2800" dirty="0">
                <a:solidFill>
                  <a:schemeClr val="accent5"/>
                </a:solidFill>
              </a:endParaRPr>
            </a:p>
            <a:p>
              <a:pPr algn="ctr"/>
              <a:r>
                <a:rPr lang="en-US" dirty="0">
                  <a:solidFill>
                    <a:schemeClr val="accent5"/>
                  </a:solidFill>
                </a:rPr>
                <a:t>131 total</a:t>
              </a:r>
            </a:p>
          </p:txBody>
        </p:sp>
        <p:sp>
          <p:nvSpPr>
            <p:cNvPr id="13" name="TextBox 12">
              <a:extLst>
                <a:ext uri="{FF2B5EF4-FFF2-40B4-BE49-F238E27FC236}">
                  <a16:creationId xmlns:a16="http://schemas.microsoft.com/office/drawing/2014/main" id="{BB806046-56F8-C43A-C395-CACC45080F88}"/>
                </a:ext>
              </a:extLst>
            </p:cNvPr>
            <p:cNvSpPr txBox="1"/>
            <p:nvPr/>
          </p:nvSpPr>
          <p:spPr>
            <a:xfrm>
              <a:off x="2356303" y="2474893"/>
              <a:ext cx="1476686" cy="1661993"/>
            </a:xfrm>
            <a:prstGeom prst="rect">
              <a:avLst/>
            </a:prstGeom>
            <a:noFill/>
          </p:spPr>
          <p:txBody>
            <a:bodyPr wrap="none" rtlCol="0">
              <a:spAutoFit/>
            </a:bodyPr>
            <a:lstStyle/>
            <a:p>
              <a:pPr algn="ctr"/>
              <a:r>
                <a:rPr lang="en-US" sz="2800" dirty="0">
                  <a:solidFill>
                    <a:schemeClr val="accent5"/>
                  </a:solidFill>
                </a:rPr>
                <a:t>-0.21***</a:t>
              </a:r>
            </a:p>
            <a:p>
              <a:pPr algn="ctr"/>
              <a:r>
                <a:rPr lang="en-US" sz="2800" dirty="0">
                  <a:solidFill>
                    <a:schemeClr val="accent5"/>
                  </a:solidFill>
                </a:rPr>
                <a:t>(0.06)</a:t>
              </a:r>
            </a:p>
            <a:p>
              <a:pPr algn="ctr"/>
              <a:endParaRPr lang="en-US" sz="2800" dirty="0">
                <a:solidFill>
                  <a:schemeClr val="accent5"/>
                </a:solidFill>
              </a:endParaRPr>
            </a:p>
            <a:p>
              <a:pPr algn="ctr"/>
              <a:r>
                <a:rPr lang="en-US" dirty="0">
                  <a:solidFill>
                    <a:schemeClr val="accent5"/>
                  </a:solidFill>
                </a:rPr>
                <a:t>580 total</a:t>
              </a:r>
            </a:p>
          </p:txBody>
        </p:sp>
      </p:grpSp>
      <p:grpSp>
        <p:nvGrpSpPr>
          <p:cNvPr id="4" name="Group 3">
            <a:extLst>
              <a:ext uri="{FF2B5EF4-FFF2-40B4-BE49-F238E27FC236}">
                <a16:creationId xmlns:a16="http://schemas.microsoft.com/office/drawing/2014/main" id="{93900BC3-913D-4CE3-1F64-F1B0F898D115}"/>
              </a:ext>
            </a:extLst>
          </p:cNvPr>
          <p:cNvGrpSpPr/>
          <p:nvPr/>
        </p:nvGrpSpPr>
        <p:grpSpPr>
          <a:xfrm>
            <a:off x="4621781" y="2444115"/>
            <a:ext cx="2772584" cy="1683691"/>
            <a:chOff x="4621781" y="2444115"/>
            <a:chExt cx="2772584" cy="1683691"/>
          </a:xfrm>
        </p:grpSpPr>
        <p:sp>
          <p:nvSpPr>
            <p:cNvPr id="14" name="TextBox 13">
              <a:extLst>
                <a:ext uri="{FF2B5EF4-FFF2-40B4-BE49-F238E27FC236}">
                  <a16:creationId xmlns:a16="http://schemas.microsoft.com/office/drawing/2014/main" id="{8958E11D-875F-6262-28EB-B58DD447BE35}"/>
                </a:ext>
              </a:extLst>
            </p:cNvPr>
            <p:cNvSpPr txBox="1"/>
            <p:nvPr/>
          </p:nvSpPr>
          <p:spPr>
            <a:xfrm>
              <a:off x="4621781" y="2444115"/>
              <a:ext cx="1149674" cy="1661993"/>
            </a:xfrm>
            <a:prstGeom prst="rect">
              <a:avLst/>
            </a:prstGeom>
            <a:noFill/>
          </p:spPr>
          <p:txBody>
            <a:bodyPr wrap="none" rtlCol="0">
              <a:spAutoFit/>
            </a:bodyPr>
            <a:lstStyle/>
            <a:p>
              <a:pPr algn="ctr"/>
              <a:r>
                <a:rPr lang="en-US" sz="2800" dirty="0">
                  <a:solidFill>
                    <a:schemeClr val="accent5"/>
                  </a:solidFill>
                </a:rPr>
                <a:t>-0.22*</a:t>
              </a:r>
            </a:p>
            <a:p>
              <a:pPr algn="ctr"/>
              <a:r>
                <a:rPr lang="en-US" sz="2800" dirty="0">
                  <a:solidFill>
                    <a:schemeClr val="accent5"/>
                  </a:solidFill>
                </a:rPr>
                <a:t>(0.10)</a:t>
              </a:r>
            </a:p>
            <a:p>
              <a:pPr algn="ctr"/>
              <a:endParaRPr lang="en-US" sz="2800" dirty="0">
                <a:solidFill>
                  <a:schemeClr val="accent5"/>
                </a:solidFill>
              </a:endParaRPr>
            </a:p>
            <a:p>
              <a:pPr algn="ctr"/>
              <a:r>
                <a:rPr lang="en-US" dirty="0">
                  <a:solidFill>
                    <a:schemeClr val="accent5"/>
                  </a:solidFill>
                </a:rPr>
                <a:t>244 total</a:t>
              </a:r>
            </a:p>
          </p:txBody>
        </p:sp>
        <p:sp>
          <p:nvSpPr>
            <p:cNvPr id="15" name="TextBox 14">
              <a:extLst>
                <a:ext uri="{FF2B5EF4-FFF2-40B4-BE49-F238E27FC236}">
                  <a16:creationId xmlns:a16="http://schemas.microsoft.com/office/drawing/2014/main" id="{8296A76D-9FD0-CA6C-3983-DA34A51270D9}"/>
                </a:ext>
              </a:extLst>
            </p:cNvPr>
            <p:cNvSpPr txBox="1"/>
            <p:nvPr/>
          </p:nvSpPr>
          <p:spPr>
            <a:xfrm>
              <a:off x="6244691" y="2465813"/>
              <a:ext cx="1149674" cy="1661993"/>
            </a:xfrm>
            <a:prstGeom prst="rect">
              <a:avLst/>
            </a:prstGeom>
            <a:noFill/>
          </p:spPr>
          <p:txBody>
            <a:bodyPr wrap="none" rtlCol="0">
              <a:spAutoFit/>
            </a:bodyPr>
            <a:lstStyle/>
            <a:p>
              <a:pPr algn="ctr"/>
              <a:r>
                <a:rPr lang="en-US" sz="2800" dirty="0">
                  <a:solidFill>
                    <a:schemeClr val="accent5"/>
                  </a:solidFill>
                </a:rPr>
                <a:t>-0.18*</a:t>
              </a:r>
            </a:p>
            <a:p>
              <a:pPr algn="ctr"/>
              <a:r>
                <a:rPr lang="en-US" sz="2800" dirty="0">
                  <a:solidFill>
                    <a:schemeClr val="accent5"/>
                  </a:solidFill>
                </a:rPr>
                <a:t>(0.07)</a:t>
              </a:r>
            </a:p>
            <a:p>
              <a:pPr algn="ctr"/>
              <a:endParaRPr lang="en-US" sz="2800" dirty="0">
                <a:solidFill>
                  <a:schemeClr val="accent5"/>
                </a:solidFill>
              </a:endParaRPr>
            </a:p>
            <a:p>
              <a:pPr algn="ctr"/>
              <a:r>
                <a:rPr lang="en-US" dirty="0">
                  <a:solidFill>
                    <a:schemeClr val="accent5"/>
                  </a:solidFill>
                </a:rPr>
                <a:t>476 total</a:t>
              </a:r>
            </a:p>
          </p:txBody>
        </p:sp>
      </p:grpSp>
      <p:grpSp>
        <p:nvGrpSpPr>
          <p:cNvPr id="18" name="Group 17">
            <a:extLst>
              <a:ext uri="{FF2B5EF4-FFF2-40B4-BE49-F238E27FC236}">
                <a16:creationId xmlns:a16="http://schemas.microsoft.com/office/drawing/2014/main" id="{F94C7211-119A-07E6-E447-1D10526F6586}"/>
              </a:ext>
            </a:extLst>
          </p:cNvPr>
          <p:cNvGrpSpPr/>
          <p:nvPr/>
        </p:nvGrpSpPr>
        <p:grpSpPr>
          <a:xfrm>
            <a:off x="8395882" y="2444113"/>
            <a:ext cx="2899222" cy="1661994"/>
            <a:chOff x="8395882" y="2444113"/>
            <a:chExt cx="2899222" cy="1661994"/>
          </a:xfrm>
        </p:grpSpPr>
        <p:sp>
          <p:nvSpPr>
            <p:cNvPr id="16" name="TextBox 15">
              <a:extLst>
                <a:ext uri="{FF2B5EF4-FFF2-40B4-BE49-F238E27FC236}">
                  <a16:creationId xmlns:a16="http://schemas.microsoft.com/office/drawing/2014/main" id="{9C281FF1-B6EF-05E6-6C8F-B1744EC64509}"/>
                </a:ext>
              </a:extLst>
            </p:cNvPr>
            <p:cNvSpPr txBox="1"/>
            <p:nvPr/>
          </p:nvSpPr>
          <p:spPr>
            <a:xfrm>
              <a:off x="8395882" y="2444114"/>
              <a:ext cx="1075936" cy="1661993"/>
            </a:xfrm>
            <a:prstGeom prst="rect">
              <a:avLst/>
            </a:prstGeom>
            <a:noFill/>
          </p:spPr>
          <p:txBody>
            <a:bodyPr wrap="none" rtlCol="0">
              <a:spAutoFit/>
            </a:bodyPr>
            <a:lstStyle/>
            <a:p>
              <a:pPr algn="ctr"/>
              <a:r>
                <a:rPr lang="en-US" sz="2800" dirty="0">
                  <a:solidFill>
                    <a:schemeClr val="accent5"/>
                  </a:solidFill>
                </a:rPr>
                <a:t>-0.07</a:t>
              </a:r>
            </a:p>
            <a:p>
              <a:pPr algn="ctr"/>
              <a:r>
                <a:rPr lang="en-US" sz="2800" dirty="0">
                  <a:solidFill>
                    <a:schemeClr val="accent5"/>
                  </a:solidFill>
                </a:rPr>
                <a:t>(0.08)</a:t>
              </a:r>
            </a:p>
            <a:p>
              <a:pPr algn="ctr"/>
              <a:endParaRPr lang="en-US" sz="2800" dirty="0">
                <a:solidFill>
                  <a:schemeClr val="accent5"/>
                </a:solidFill>
              </a:endParaRPr>
            </a:p>
            <a:p>
              <a:pPr algn="ctr"/>
              <a:r>
                <a:rPr lang="en-US" dirty="0">
                  <a:solidFill>
                    <a:schemeClr val="accent5"/>
                  </a:solidFill>
                </a:rPr>
                <a:t>351 total</a:t>
              </a:r>
            </a:p>
          </p:txBody>
        </p:sp>
        <p:sp>
          <p:nvSpPr>
            <p:cNvPr id="17" name="TextBox 16">
              <a:extLst>
                <a:ext uri="{FF2B5EF4-FFF2-40B4-BE49-F238E27FC236}">
                  <a16:creationId xmlns:a16="http://schemas.microsoft.com/office/drawing/2014/main" id="{1AEE8CA0-B512-6257-3578-01F0156D98E4}"/>
                </a:ext>
              </a:extLst>
            </p:cNvPr>
            <p:cNvSpPr txBox="1"/>
            <p:nvPr/>
          </p:nvSpPr>
          <p:spPr>
            <a:xfrm>
              <a:off x="9818417" y="2444113"/>
              <a:ext cx="1476687" cy="1661993"/>
            </a:xfrm>
            <a:prstGeom prst="rect">
              <a:avLst/>
            </a:prstGeom>
            <a:noFill/>
          </p:spPr>
          <p:txBody>
            <a:bodyPr wrap="none" rtlCol="0">
              <a:spAutoFit/>
            </a:bodyPr>
            <a:lstStyle/>
            <a:p>
              <a:pPr algn="ctr"/>
              <a:r>
                <a:rPr lang="en-US" sz="2800" dirty="0">
                  <a:solidFill>
                    <a:schemeClr val="accent5"/>
                  </a:solidFill>
                </a:rPr>
                <a:t>-0.27***</a:t>
              </a:r>
            </a:p>
            <a:p>
              <a:pPr algn="ctr"/>
              <a:r>
                <a:rPr lang="en-US" sz="2800" dirty="0">
                  <a:solidFill>
                    <a:schemeClr val="accent5"/>
                  </a:solidFill>
                </a:rPr>
                <a:t>(0.08)</a:t>
              </a:r>
            </a:p>
            <a:p>
              <a:pPr algn="ctr"/>
              <a:endParaRPr lang="en-US" sz="2800" dirty="0">
                <a:solidFill>
                  <a:schemeClr val="accent5"/>
                </a:solidFill>
              </a:endParaRPr>
            </a:p>
            <a:p>
              <a:pPr algn="ctr"/>
              <a:r>
                <a:rPr lang="en-US" dirty="0">
                  <a:solidFill>
                    <a:schemeClr val="accent5"/>
                  </a:solidFill>
                </a:rPr>
                <a:t>360 total</a:t>
              </a:r>
            </a:p>
          </p:txBody>
        </p:sp>
      </p:grpSp>
      <p:cxnSp>
        <p:nvCxnSpPr>
          <p:cNvPr id="19" name="Straight Connector 18">
            <a:extLst>
              <a:ext uri="{FF2B5EF4-FFF2-40B4-BE49-F238E27FC236}">
                <a16:creationId xmlns:a16="http://schemas.microsoft.com/office/drawing/2014/main" id="{C030A03C-12BA-C67F-3889-07AD72930BD3}"/>
              </a:ext>
            </a:extLst>
          </p:cNvPr>
          <p:cNvCxnSpPr/>
          <p:nvPr/>
        </p:nvCxnSpPr>
        <p:spPr>
          <a:xfrm>
            <a:off x="7924800" y="1546383"/>
            <a:ext cx="0" cy="3421857"/>
          </a:xfrm>
          <a:prstGeom prst="line">
            <a:avLst/>
          </a:prstGeom>
        </p:spPr>
        <p:style>
          <a:lnRef idx="2">
            <a:schemeClr val="dk1"/>
          </a:lnRef>
          <a:fillRef idx="0">
            <a:schemeClr val="dk1"/>
          </a:fillRef>
          <a:effectRef idx="1">
            <a:schemeClr val="dk1"/>
          </a:effectRef>
          <a:fontRef idx="minor">
            <a:schemeClr val="tx1"/>
          </a:fontRef>
        </p:style>
      </p:cxnSp>
      <p:cxnSp>
        <p:nvCxnSpPr>
          <p:cNvPr id="20" name="Straight Connector 19">
            <a:extLst>
              <a:ext uri="{FF2B5EF4-FFF2-40B4-BE49-F238E27FC236}">
                <a16:creationId xmlns:a16="http://schemas.microsoft.com/office/drawing/2014/main" id="{B3508B7D-9301-CBEE-3554-4D1E67ACF187}"/>
              </a:ext>
            </a:extLst>
          </p:cNvPr>
          <p:cNvCxnSpPr/>
          <p:nvPr/>
        </p:nvCxnSpPr>
        <p:spPr>
          <a:xfrm>
            <a:off x="4038600" y="1485423"/>
            <a:ext cx="0" cy="3421857"/>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5911505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C9FFE4F-491D-4096-BC7B-3D0E264A8043}"/>
              </a:ext>
            </a:extLst>
          </p:cNvPr>
          <p:cNvPicPr>
            <a:picLocks noChangeAspect="1"/>
          </p:cNvPicPr>
          <p:nvPr/>
        </p:nvPicPr>
        <p:blipFill>
          <a:blip r:embed="rId3"/>
          <a:stretch>
            <a:fillRect/>
          </a:stretch>
        </p:blipFill>
        <p:spPr>
          <a:xfrm>
            <a:off x="659026" y="2159916"/>
            <a:ext cx="2083705" cy="1868950"/>
          </a:xfrm>
          <a:prstGeom prst="rect">
            <a:avLst/>
          </a:prstGeom>
        </p:spPr>
      </p:pic>
      <p:sp>
        <p:nvSpPr>
          <p:cNvPr id="2" name="Title 1">
            <a:extLst>
              <a:ext uri="{FF2B5EF4-FFF2-40B4-BE49-F238E27FC236}">
                <a16:creationId xmlns:a16="http://schemas.microsoft.com/office/drawing/2014/main" id="{02ABAE5D-26B5-B869-6AB4-63C632EDCC16}"/>
              </a:ext>
            </a:extLst>
          </p:cNvPr>
          <p:cNvSpPr>
            <a:spLocks noGrp="1"/>
          </p:cNvSpPr>
          <p:nvPr>
            <p:ph type="title"/>
          </p:nvPr>
        </p:nvSpPr>
        <p:spPr/>
        <p:txBody>
          <a:bodyPr>
            <a:normAutofit/>
          </a:bodyPr>
          <a:lstStyle/>
          <a:p>
            <a:r>
              <a:rPr lang="en-US" dirty="0"/>
              <a:t>We had to make a decision! Are we right to act on the basis of this study?</a:t>
            </a:r>
          </a:p>
        </p:txBody>
      </p:sp>
      <p:grpSp>
        <p:nvGrpSpPr>
          <p:cNvPr id="4" name="Group 3">
            <a:extLst>
              <a:ext uri="{FF2B5EF4-FFF2-40B4-BE49-F238E27FC236}">
                <a16:creationId xmlns:a16="http://schemas.microsoft.com/office/drawing/2014/main" id="{FEB29ADC-5387-1EE8-3F9A-7EDD4E6F7D25}"/>
              </a:ext>
            </a:extLst>
          </p:cNvPr>
          <p:cNvGrpSpPr/>
          <p:nvPr/>
        </p:nvGrpSpPr>
        <p:grpSpPr>
          <a:xfrm>
            <a:off x="1602697" y="4788836"/>
            <a:ext cx="7687606" cy="1694895"/>
            <a:chOff x="1924530" y="3473636"/>
            <a:chExt cx="13499641" cy="2976281"/>
          </a:xfrm>
        </p:grpSpPr>
        <p:pic>
          <p:nvPicPr>
            <p:cNvPr id="5" name="Picture 4">
              <a:extLst>
                <a:ext uri="{FF2B5EF4-FFF2-40B4-BE49-F238E27FC236}">
                  <a16:creationId xmlns:a16="http://schemas.microsoft.com/office/drawing/2014/main" id="{C849F267-E2D3-4C53-84D3-5B445EF7EA3A}"/>
                </a:ext>
              </a:extLst>
            </p:cNvPr>
            <p:cNvPicPr>
              <a:picLocks noChangeAspect="1"/>
            </p:cNvPicPr>
            <p:nvPr/>
          </p:nvPicPr>
          <p:blipFill>
            <a:blip r:embed="rId4"/>
            <a:stretch>
              <a:fillRect/>
            </a:stretch>
          </p:blipFill>
          <p:spPr>
            <a:xfrm>
              <a:off x="2209800" y="3688080"/>
              <a:ext cx="1558977" cy="2113280"/>
            </a:xfrm>
            <a:prstGeom prst="rect">
              <a:avLst/>
            </a:prstGeom>
          </p:spPr>
        </p:pic>
        <p:pic>
          <p:nvPicPr>
            <p:cNvPr id="6" name="Picture 5">
              <a:extLst>
                <a:ext uri="{FF2B5EF4-FFF2-40B4-BE49-F238E27FC236}">
                  <a16:creationId xmlns:a16="http://schemas.microsoft.com/office/drawing/2014/main" id="{EE2B22C8-941D-8951-6441-E4CBAD69EBD6}"/>
                </a:ext>
              </a:extLst>
            </p:cNvPr>
            <p:cNvPicPr>
              <a:picLocks noChangeAspect="1"/>
            </p:cNvPicPr>
            <p:nvPr/>
          </p:nvPicPr>
          <p:blipFill>
            <a:blip r:embed="rId5"/>
            <a:stretch>
              <a:fillRect/>
            </a:stretch>
          </p:blipFill>
          <p:spPr>
            <a:xfrm flipH="1">
              <a:off x="3390316" y="3688080"/>
              <a:ext cx="1352548" cy="2113280"/>
            </a:xfrm>
            <a:prstGeom prst="rect">
              <a:avLst/>
            </a:prstGeom>
          </p:spPr>
        </p:pic>
        <p:sp>
          <p:nvSpPr>
            <p:cNvPr id="7" name="TextBox 6">
              <a:extLst>
                <a:ext uri="{FF2B5EF4-FFF2-40B4-BE49-F238E27FC236}">
                  <a16:creationId xmlns:a16="http://schemas.microsoft.com/office/drawing/2014/main" id="{B77D4E14-A8B1-1082-F99D-7570295961F5}"/>
                </a:ext>
              </a:extLst>
            </p:cNvPr>
            <p:cNvSpPr txBox="1"/>
            <p:nvPr/>
          </p:nvSpPr>
          <p:spPr>
            <a:xfrm>
              <a:off x="1924530" y="5801360"/>
              <a:ext cx="3074903" cy="648557"/>
            </a:xfrm>
            <a:prstGeom prst="rect">
              <a:avLst/>
            </a:prstGeom>
            <a:noFill/>
          </p:spPr>
          <p:txBody>
            <a:bodyPr wrap="none" rtlCol="0">
              <a:spAutoFit/>
            </a:bodyPr>
            <a:lstStyle/>
            <a:p>
              <a:r>
                <a:rPr lang="en-US" dirty="0">
                  <a:solidFill>
                    <a:schemeClr val="accent1"/>
                  </a:solidFill>
                </a:rPr>
                <a:t>Guido and Mary</a:t>
              </a:r>
            </a:p>
          </p:txBody>
        </p:sp>
        <p:sp>
          <p:nvSpPr>
            <p:cNvPr id="8" name="Rounded Rectangular Callout 7">
              <a:extLst>
                <a:ext uri="{FF2B5EF4-FFF2-40B4-BE49-F238E27FC236}">
                  <a16:creationId xmlns:a16="http://schemas.microsoft.com/office/drawing/2014/main" id="{FB060500-88AC-E5A1-CE23-1A9D342AB5FC}"/>
                </a:ext>
              </a:extLst>
            </p:cNvPr>
            <p:cNvSpPr/>
            <p:nvPr/>
          </p:nvSpPr>
          <p:spPr>
            <a:xfrm>
              <a:off x="6179946" y="3473636"/>
              <a:ext cx="9244225" cy="2327724"/>
            </a:xfrm>
            <a:prstGeom prst="wedgeRoundRectCallout">
              <a:avLst>
                <a:gd name="adj1" fmla="val -64883"/>
                <a:gd name="adj2" fmla="val -14243"/>
                <a:gd name="adj3" fmla="val 16667"/>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Are we just capricious dictators on a power trip?</a:t>
              </a:r>
            </a:p>
          </p:txBody>
        </p:sp>
      </p:grpSp>
      <p:sp>
        <p:nvSpPr>
          <p:cNvPr id="9" name="Rounded Rectangle 8">
            <a:extLst>
              <a:ext uri="{FF2B5EF4-FFF2-40B4-BE49-F238E27FC236}">
                <a16:creationId xmlns:a16="http://schemas.microsoft.com/office/drawing/2014/main" id="{EDFC841F-9EEA-431B-1D55-77809675FF03}"/>
              </a:ext>
            </a:extLst>
          </p:cNvPr>
          <p:cNvSpPr/>
          <p:nvPr/>
        </p:nvSpPr>
        <p:spPr>
          <a:xfrm>
            <a:off x="2644550" y="2039022"/>
            <a:ext cx="9117150" cy="211073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Discuss: </a:t>
            </a:r>
          </a:p>
          <a:p>
            <a:pPr algn="ctr"/>
            <a:r>
              <a:rPr lang="en-US" sz="3200" dirty="0"/>
              <a:t>What are some weaknesses with the study?  </a:t>
            </a:r>
          </a:p>
          <a:p>
            <a:pPr algn="ctr"/>
            <a:r>
              <a:rPr lang="en-US" sz="3200" dirty="0"/>
              <a:t>Are you compelled by these findings?</a:t>
            </a:r>
          </a:p>
          <a:p>
            <a:pPr algn="ctr"/>
            <a:r>
              <a:rPr lang="en-US" dirty="0"/>
              <a:t>We’ll talk a lot more about this in the next class!</a:t>
            </a:r>
          </a:p>
        </p:txBody>
      </p:sp>
    </p:spTree>
    <p:extLst>
      <p:ext uri="{BB962C8B-B14F-4D97-AF65-F5344CB8AC3E}">
        <p14:creationId xmlns:p14="http://schemas.microsoft.com/office/powerpoint/2010/main" val="271189539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C450A-F25B-5354-2653-28E7DA3C2337}"/>
              </a:ext>
            </a:extLst>
          </p:cNvPr>
          <p:cNvSpPr>
            <a:spLocks noGrp="1"/>
          </p:cNvSpPr>
          <p:nvPr>
            <p:ph type="title"/>
          </p:nvPr>
        </p:nvSpPr>
        <p:spPr/>
        <p:txBody>
          <a:bodyPr/>
          <a:lstStyle/>
          <a:p>
            <a:r>
              <a:rPr lang="en-US" dirty="0"/>
              <a:t>The Statistical Analysis of RCTs</a:t>
            </a:r>
          </a:p>
        </p:txBody>
      </p:sp>
      <p:sp>
        <p:nvSpPr>
          <p:cNvPr id="3" name="Text Placeholder 2">
            <a:extLst>
              <a:ext uri="{FF2B5EF4-FFF2-40B4-BE49-F238E27FC236}">
                <a16:creationId xmlns:a16="http://schemas.microsoft.com/office/drawing/2014/main" id="{74B454E7-7E44-27B5-8500-AD767F908DB6}"/>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58520690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8D79A-6C87-865E-BA39-8DF0B19C7553}"/>
              </a:ext>
            </a:extLst>
          </p:cNvPr>
          <p:cNvSpPr>
            <a:spLocks noGrp="1"/>
          </p:cNvSpPr>
          <p:nvPr>
            <p:ph type="title"/>
          </p:nvPr>
        </p:nvSpPr>
        <p:spPr>
          <a:xfrm>
            <a:off x="838199" y="365125"/>
            <a:ext cx="11078817" cy="1325563"/>
          </a:xfrm>
        </p:spPr>
        <p:txBody>
          <a:bodyPr>
            <a:normAutofit/>
          </a:bodyPr>
          <a:lstStyle/>
          <a:p>
            <a:r>
              <a:rPr lang="en-US" sz="4000" dirty="0"/>
              <a:t>In the RCT context, our “Observational Comparison” from last class is an </a:t>
            </a:r>
            <a:r>
              <a:rPr lang="en-US" sz="4000" b="1" dirty="0"/>
              <a:t>estimator</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6D5BAE5-E935-C272-C85B-67BC28F9B161}"/>
                  </a:ext>
                </a:extLst>
              </p:cNvPr>
              <p:cNvSpPr>
                <a:spLocks noGrp="1"/>
              </p:cNvSpPr>
              <p:nvPr>
                <p:ph idx="1"/>
              </p:nvPr>
            </p:nvSpPr>
            <p:spPr/>
            <p:txBody>
              <a:bodyPr>
                <a:normAutofit/>
              </a:bodyPr>
              <a:lstStyle/>
              <a:p>
                <a:r>
                  <a:rPr lang="en-US" dirty="0"/>
                  <a:t>What we </a:t>
                </a:r>
                <a:r>
                  <a:rPr lang="en-US" b="1" dirty="0"/>
                  <a:t>want</a:t>
                </a:r>
                <a:r>
                  <a:rPr lang="en-US" dirty="0"/>
                  <a:t>: Average Treatment Effect:</a:t>
                </a:r>
              </a:p>
              <a:p>
                <a:endParaRPr lang="en-US" dirty="0"/>
              </a:p>
              <a:p>
                <a:pPr marL="0" indent="0">
                  <a:buNone/>
                </a:pPr>
                <a14:m>
                  <m:oMathPara xmlns:m="http://schemas.openxmlformats.org/officeDocument/2006/math">
                    <m:oMathParaPr>
                      <m:jc m:val="center"/>
                    </m:oMathParaPr>
                    <m:oMath xmlns:m="http://schemas.openxmlformats.org/officeDocument/2006/math">
                      <m:r>
                        <a:rPr lang="en-US" b="0" i="1" smtClean="0">
                          <a:solidFill>
                            <a:schemeClr val="accent1"/>
                          </a:solidFill>
                          <a:latin typeface="Cambria Math" panose="02040503050406030204" pitchFamily="18" charset="0"/>
                        </a:rPr>
                        <m:t>𝜏</m:t>
                      </m:r>
                      <m:r>
                        <a:rPr lang="en-US" b="0" i="1" smtClean="0">
                          <a:solidFill>
                            <a:schemeClr val="accent1"/>
                          </a:solidFill>
                          <a:latin typeface="Cambria Math" panose="02040503050406030204" pitchFamily="18" charset="0"/>
                        </a:rPr>
                        <m:t>=</m:t>
                      </m:r>
                      <m:f>
                        <m:fPr>
                          <m:ctrlPr>
                            <a:rPr lang="en-US" b="0" i="1" smtClean="0">
                              <a:solidFill>
                                <a:schemeClr val="accent1"/>
                              </a:solidFill>
                              <a:latin typeface="Cambria Math" panose="02040503050406030204" pitchFamily="18" charset="0"/>
                            </a:rPr>
                          </m:ctrlPr>
                        </m:fPr>
                        <m:num>
                          <m:r>
                            <a:rPr lang="en-US" b="0" i="1" smtClean="0">
                              <a:solidFill>
                                <a:schemeClr val="accent1"/>
                              </a:solidFill>
                              <a:latin typeface="Cambria Math" panose="02040503050406030204" pitchFamily="18" charset="0"/>
                            </a:rPr>
                            <m:t>1</m:t>
                          </m:r>
                        </m:num>
                        <m:den>
                          <m:r>
                            <a:rPr lang="en-US" b="0" i="1" smtClean="0">
                              <a:solidFill>
                                <a:schemeClr val="accent1"/>
                              </a:solidFill>
                              <a:latin typeface="Cambria Math" panose="02040503050406030204" pitchFamily="18" charset="0"/>
                            </a:rPr>
                            <m:t>𝑁</m:t>
                          </m:r>
                        </m:den>
                      </m:f>
                      <m:nary>
                        <m:naryPr>
                          <m:chr m:val="∑"/>
                          <m:ctrlPr>
                            <a:rPr lang="en-US" b="0" i="1" smtClean="0">
                              <a:solidFill>
                                <a:schemeClr val="accent1"/>
                              </a:solidFill>
                              <a:latin typeface="Cambria Math" panose="02040503050406030204" pitchFamily="18" charset="0"/>
                            </a:rPr>
                          </m:ctrlPr>
                        </m:naryPr>
                        <m:sub>
                          <m:r>
                            <m:rPr>
                              <m:brk m:alnAt="23"/>
                            </m:rPr>
                            <a:rPr lang="en-US" b="0" i="1" smtClean="0">
                              <a:solidFill>
                                <a:schemeClr val="accent1"/>
                              </a:solidFill>
                              <a:latin typeface="Cambria Math" panose="02040503050406030204" pitchFamily="18" charset="0"/>
                            </a:rPr>
                            <m:t>𝑖</m:t>
                          </m:r>
                          <m:r>
                            <a:rPr lang="en-US" b="0" i="1" smtClean="0">
                              <a:solidFill>
                                <a:schemeClr val="accent1"/>
                              </a:solidFill>
                              <a:latin typeface="Cambria Math" panose="02040503050406030204" pitchFamily="18" charset="0"/>
                            </a:rPr>
                            <m:t>=1</m:t>
                          </m:r>
                        </m:sub>
                        <m:sup>
                          <m:r>
                            <a:rPr lang="en-US" b="0" i="1" smtClean="0">
                              <a:solidFill>
                                <a:schemeClr val="accent1"/>
                              </a:solidFill>
                              <a:latin typeface="Cambria Math" panose="02040503050406030204" pitchFamily="18" charset="0"/>
                            </a:rPr>
                            <m:t>𝑁</m:t>
                          </m:r>
                        </m:sup>
                        <m:e>
                          <m:d>
                            <m:dPr>
                              <m:ctrlPr>
                                <a:rPr lang="en-US" b="0" i="1" smtClean="0">
                                  <a:solidFill>
                                    <a:schemeClr val="accent1"/>
                                  </a:solidFill>
                                  <a:latin typeface="Cambria Math" panose="02040503050406030204" pitchFamily="18" charset="0"/>
                                </a:rPr>
                              </m:ctrlPr>
                            </m:dPr>
                            <m:e>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𝑌</m:t>
                                  </m:r>
                                </m:e>
                                <m:sub>
                                  <m:r>
                                    <a:rPr lang="en-US" b="0" i="1" smtClean="0">
                                      <a:solidFill>
                                        <a:schemeClr val="accent1"/>
                                      </a:solidFill>
                                      <a:latin typeface="Cambria Math" panose="02040503050406030204" pitchFamily="18" charset="0"/>
                                    </a:rPr>
                                    <m:t>𝑖</m:t>
                                  </m:r>
                                </m:sub>
                              </m:sSub>
                              <m:d>
                                <m:dPr>
                                  <m:ctrlPr>
                                    <a:rPr lang="en-US" b="0" i="1" smtClean="0">
                                      <a:solidFill>
                                        <a:schemeClr val="accent1"/>
                                      </a:solidFill>
                                      <a:latin typeface="Cambria Math" panose="02040503050406030204" pitchFamily="18" charset="0"/>
                                    </a:rPr>
                                  </m:ctrlPr>
                                </m:dPr>
                                <m:e>
                                  <m:r>
                                    <a:rPr lang="en-US" b="0" i="1" smtClean="0">
                                      <a:solidFill>
                                        <a:schemeClr val="accent1"/>
                                      </a:solidFill>
                                      <a:latin typeface="Cambria Math" panose="02040503050406030204" pitchFamily="18" charset="0"/>
                                    </a:rPr>
                                    <m:t>1</m:t>
                                  </m:r>
                                </m:e>
                              </m:d>
                              <m:r>
                                <a:rPr lang="en-US" b="0" i="1" smtClean="0">
                                  <a:solidFill>
                                    <a:schemeClr val="accent1"/>
                                  </a:solidFill>
                                  <a:latin typeface="Cambria Math" panose="02040503050406030204" pitchFamily="18" charset="0"/>
                                </a:rPr>
                                <m:t>−</m:t>
                              </m:r>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𝑌</m:t>
                                  </m:r>
                                </m:e>
                                <m:sub>
                                  <m:r>
                                    <a:rPr lang="en-US" b="0" i="1" smtClean="0">
                                      <a:solidFill>
                                        <a:schemeClr val="accent1"/>
                                      </a:solidFill>
                                      <a:latin typeface="Cambria Math" panose="02040503050406030204" pitchFamily="18" charset="0"/>
                                    </a:rPr>
                                    <m:t>𝑖</m:t>
                                  </m:r>
                                </m:sub>
                              </m:sSub>
                              <m:r>
                                <a:rPr lang="en-US" b="0" i="1" smtClean="0">
                                  <a:solidFill>
                                    <a:schemeClr val="accent1"/>
                                  </a:solidFill>
                                  <a:latin typeface="Cambria Math" panose="02040503050406030204" pitchFamily="18" charset="0"/>
                                </a:rPr>
                                <m:t>(0)</m:t>
                              </m:r>
                            </m:e>
                          </m:d>
                        </m:e>
                      </m:nary>
                    </m:oMath>
                  </m:oMathPara>
                </a14:m>
                <a:endParaRPr lang="en-US" dirty="0"/>
              </a:p>
              <a:p>
                <a:pPr marL="0" indent="0">
                  <a:buNone/>
                </a:pPr>
                <a:endParaRPr lang="en-US" dirty="0"/>
              </a:p>
              <a:p>
                <a:r>
                  <a:rPr lang="en-US" dirty="0"/>
                  <a:t>What we </a:t>
                </a:r>
                <a:r>
                  <a:rPr lang="en-US" b="1" dirty="0"/>
                  <a:t>have</a:t>
                </a:r>
                <a:r>
                  <a:rPr lang="en-US" dirty="0"/>
                  <a:t>:</a:t>
                </a:r>
              </a:p>
              <a:p>
                <a:pPr marL="0" indent="0" algn="ctr">
                  <a:buNone/>
                </a:pPr>
                <a14:m>
                  <m:oMathPara xmlns:m="http://schemas.openxmlformats.org/officeDocument/2006/math">
                    <m:oMathParaPr>
                      <m:jc m:val="centerGroup"/>
                    </m:oMathParaPr>
                    <m:oMath xmlns:m="http://schemas.openxmlformats.org/officeDocument/2006/math">
                      <m:acc>
                        <m:accPr>
                          <m:chr m:val="̂"/>
                          <m:ctrlPr>
                            <a:rPr lang="en-US" b="0" i="1" smtClean="0">
                              <a:solidFill>
                                <a:schemeClr val="accent1"/>
                              </a:solidFill>
                              <a:latin typeface="Cambria Math" panose="02040503050406030204" pitchFamily="18" charset="0"/>
                            </a:rPr>
                          </m:ctrlPr>
                        </m:accPr>
                        <m:e>
                          <m:r>
                            <a:rPr lang="en-US" b="0" i="1" smtClean="0">
                              <a:solidFill>
                                <a:schemeClr val="accent1"/>
                              </a:solidFill>
                              <a:latin typeface="Cambria Math" panose="02040503050406030204" pitchFamily="18" charset="0"/>
                            </a:rPr>
                            <m:t>𝜏</m:t>
                          </m:r>
                        </m:e>
                      </m:acc>
                      <m:r>
                        <a:rPr lang="en-US" b="0" i="1" dirty="0" smtClean="0">
                          <a:solidFill>
                            <a:schemeClr val="accent1"/>
                          </a:solidFill>
                          <a:latin typeface="Cambria Math" panose="02040503050406030204" pitchFamily="18" charset="0"/>
                        </a:rPr>
                        <m:t>=</m:t>
                      </m:r>
                      <m:f>
                        <m:fPr>
                          <m:ctrlPr>
                            <a:rPr lang="en-US" b="0" i="1" dirty="0" smtClean="0">
                              <a:solidFill>
                                <a:schemeClr val="accent1"/>
                              </a:solidFill>
                              <a:latin typeface="Cambria Math" panose="02040503050406030204" pitchFamily="18" charset="0"/>
                            </a:rPr>
                          </m:ctrlPr>
                        </m:fPr>
                        <m:num>
                          <m:r>
                            <a:rPr lang="en-US" b="0" i="1" dirty="0" smtClean="0">
                              <a:solidFill>
                                <a:schemeClr val="accent1"/>
                              </a:solidFill>
                              <a:latin typeface="Cambria Math" panose="02040503050406030204" pitchFamily="18" charset="0"/>
                            </a:rPr>
                            <m:t>1</m:t>
                          </m:r>
                        </m:num>
                        <m:den>
                          <m:sSub>
                            <m:sSubPr>
                              <m:ctrlPr>
                                <a:rPr lang="en-US" b="0" i="1" dirty="0" smtClean="0">
                                  <a:solidFill>
                                    <a:schemeClr val="accent1"/>
                                  </a:solidFill>
                                  <a:latin typeface="Cambria Math" panose="02040503050406030204" pitchFamily="18" charset="0"/>
                                </a:rPr>
                              </m:ctrlPr>
                            </m:sSubPr>
                            <m:e>
                              <m:r>
                                <a:rPr lang="en-US" b="0" i="1" dirty="0" smtClean="0">
                                  <a:solidFill>
                                    <a:schemeClr val="accent1"/>
                                  </a:solidFill>
                                  <a:latin typeface="Cambria Math" panose="02040503050406030204" pitchFamily="18" charset="0"/>
                                </a:rPr>
                                <m:t>𝑁</m:t>
                              </m:r>
                            </m:e>
                            <m:sub>
                              <m:r>
                                <a:rPr lang="en-US" b="0" i="1" dirty="0" smtClean="0">
                                  <a:solidFill>
                                    <a:schemeClr val="accent1"/>
                                  </a:solidFill>
                                  <a:latin typeface="Cambria Math" panose="02040503050406030204" pitchFamily="18" charset="0"/>
                                </a:rPr>
                                <m:t>1</m:t>
                              </m:r>
                            </m:sub>
                          </m:sSub>
                        </m:den>
                      </m:f>
                      <m:nary>
                        <m:naryPr>
                          <m:chr m:val="∑"/>
                          <m:supHide m:val="on"/>
                          <m:ctrlPr>
                            <a:rPr lang="en-US" b="0" i="1" dirty="0" smtClean="0">
                              <a:solidFill>
                                <a:schemeClr val="accent1"/>
                              </a:solidFill>
                              <a:latin typeface="Cambria Math" panose="02040503050406030204" pitchFamily="18" charset="0"/>
                            </a:rPr>
                          </m:ctrlPr>
                        </m:naryPr>
                        <m:sub>
                          <m:r>
                            <m:rPr>
                              <m:brk m:alnAt="7"/>
                            </m:rPr>
                            <a:rPr lang="en-US" b="0" i="1" dirty="0" smtClean="0">
                              <a:solidFill>
                                <a:schemeClr val="accent1"/>
                              </a:solidFill>
                              <a:latin typeface="Cambria Math" panose="02040503050406030204" pitchFamily="18" charset="0"/>
                            </a:rPr>
                            <m:t>𝑖</m:t>
                          </m:r>
                          <m:r>
                            <a:rPr lang="en-US" b="0" i="1" dirty="0" smtClean="0">
                              <a:solidFill>
                                <a:schemeClr val="accent1"/>
                              </a:solidFill>
                              <a:latin typeface="Cambria Math" panose="02040503050406030204" pitchFamily="18" charset="0"/>
                            </a:rPr>
                            <m:t>:</m:t>
                          </m:r>
                          <m:sSub>
                            <m:sSubPr>
                              <m:ctrlPr>
                                <a:rPr lang="en-US" b="0" i="1" dirty="0" smtClean="0">
                                  <a:solidFill>
                                    <a:schemeClr val="accent1"/>
                                  </a:solidFill>
                                  <a:latin typeface="Cambria Math" panose="02040503050406030204" pitchFamily="18" charset="0"/>
                                </a:rPr>
                              </m:ctrlPr>
                            </m:sSubPr>
                            <m:e>
                              <m:r>
                                <m:rPr>
                                  <m:brk m:alnAt="7"/>
                                </m:rPr>
                                <a:rPr lang="en-US" b="0" i="1" dirty="0" smtClean="0">
                                  <a:solidFill>
                                    <a:schemeClr val="accent1"/>
                                  </a:solidFill>
                                  <a:latin typeface="Cambria Math" panose="02040503050406030204" pitchFamily="18" charset="0"/>
                                </a:rPr>
                                <m:t>𝑊</m:t>
                              </m:r>
                            </m:e>
                            <m:sub>
                              <m:r>
                                <m:rPr>
                                  <m:brk m:alnAt="7"/>
                                </m:rPr>
                                <a:rPr lang="en-US" b="0" i="1" dirty="0" smtClean="0">
                                  <a:solidFill>
                                    <a:schemeClr val="accent1"/>
                                  </a:solidFill>
                                  <a:latin typeface="Cambria Math" panose="02040503050406030204" pitchFamily="18" charset="0"/>
                                </a:rPr>
                                <m:t>𝑖</m:t>
                              </m:r>
                            </m:sub>
                          </m:sSub>
                          <m:r>
                            <m:rPr>
                              <m:brk m:alnAt="7"/>
                            </m:rPr>
                            <a:rPr lang="en-US" b="0" i="1" dirty="0" smtClean="0">
                              <a:solidFill>
                                <a:schemeClr val="accent1"/>
                              </a:solidFill>
                              <a:latin typeface="Cambria Math" panose="02040503050406030204" pitchFamily="18" charset="0"/>
                            </a:rPr>
                            <m:t>=</m:t>
                          </m:r>
                          <m:r>
                            <a:rPr lang="en-US" b="0" i="1" dirty="0" smtClean="0">
                              <a:solidFill>
                                <a:schemeClr val="accent1"/>
                              </a:solidFill>
                              <a:latin typeface="Cambria Math" panose="02040503050406030204" pitchFamily="18" charset="0"/>
                            </a:rPr>
                            <m:t>1</m:t>
                          </m:r>
                        </m:sub>
                        <m:sup/>
                        <m:e>
                          <m:sSub>
                            <m:sSubPr>
                              <m:ctrlPr>
                                <a:rPr lang="en-US" b="0" i="1" dirty="0" smtClean="0">
                                  <a:solidFill>
                                    <a:schemeClr val="accent1"/>
                                  </a:solidFill>
                                  <a:latin typeface="Cambria Math" panose="02040503050406030204" pitchFamily="18" charset="0"/>
                                </a:rPr>
                              </m:ctrlPr>
                            </m:sSubPr>
                            <m:e>
                              <m:r>
                                <a:rPr lang="en-US" b="0" i="1" dirty="0" smtClean="0">
                                  <a:solidFill>
                                    <a:schemeClr val="accent1"/>
                                  </a:solidFill>
                                  <a:latin typeface="Cambria Math" panose="02040503050406030204" pitchFamily="18" charset="0"/>
                                </a:rPr>
                                <m:t>𝑌</m:t>
                              </m:r>
                            </m:e>
                            <m:sub>
                              <m:r>
                                <a:rPr lang="en-US" b="0" i="1" dirty="0" smtClean="0">
                                  <a:solidFill>
                                    <a:schemeClr val="accent1"/>
                                  </a:solidFill>
                                  <a:latin typeface="Cambria Math" panose="02040503050406030204" pitchFamily="18" charset="0"/>
                                </a:rPr>
                                <m:t>𝑖</m:t>
                              </m:r>
                            </m:sub>
                          </m:sSub>
                        </m:e>
                      </m:nary>
                      <m:r>
                        <a:rPr lang="en-US" b="0" i="1" dirty="0" smtClean="0">
                          <a:solidFill>
                            <a:schemeClr val="accent1"/>
                          </a:solidFill>
                          <a:latin typeface="Cambria Math" panose="02040503050406030204" pitchFamily="18" charset="0"/>
                        </a:rPr>
                        <m:t>−</m:t>
                      </m:r>
                      <m:f>
                        <m:fPr>
                          <m:ctrlPr>
                            <a:rPr lang="en-US" b="0" i="1" dirty="0" smtClean="0">
                              <a:solidFill>
                                <a:schemeClr val="accent1"/>
                              </a:solidFill>
                              <a:latin typeface="Cambria Math" panose="02040503050406030204" pitchFamily="18" charset="0"/>
                            </a:rPr>
                          </m:ctrlPr>
                        </m:fPr>
                        <m:num>
                          <m:r>
                            <a:rPr lang="en-US" b="0" i="1" dirty="0" smtClean="0">
                              <a:solidFill>
                                <a:schemeClr val="accent1"/>
                              </a:solidFill>
                              <a:latin typeface="Cambria Math" panose="02040503050406030204" pitchFamily="18" charset="0"/>
                            </a:rPr>
                            <m:t>1</m:t>
                          </m:r>
                        </m:num>
                        <m:den>
                          <m:sSub>
                            <m:sSubPr>
                              <m:ctrlPr>
                                <a:rPr lang="en-US" b="0" i="1" dirty="0" smtClean="0">
                                  <a:solidFill>
                                    <a:schemeClr val="accent1"/>
                                  </a:solidFill>
                                  <a:latin typeface="Cambria Math" panose="02040503050406030204" pitchFamily="18" charset="0"/>
                                </a:rPr>
                              </m:ctrlPr>
                            </m:sSubPr>
                            <m:e>
                              <m:r>
                                <a:rPr lang="en-US" b="0" i="1" dirty="0" smtClean="0">
                                  <a:solidFill>
                                    <a:schemeClr val="accent1"/>
                                  </a:solidFill>
                                  <a:latin typeface="Cambria Math" panose="02040503050406030204" pitchFamily="18" charset="0"/>
                                </a:rPr>
                                <m:t>𝑁</m:t>
                              </m:r>
                            </m:e>
                            <m:sub>
                              <m:r>
                                <a:rPr lang="en-US" b="0" i="1" dirty="0" smtClean="0">
                                  <a:solidFill>
                                    <a:schemeClr val="accent1"/>
                                  </a:solidFill>
                                  <a:latin typeface="Cambria Math" panose="02040503050406030204" pitchFamily="18" charset="0"/>
                                </a:rPr>
                                <m:t>0</m:t>
                              </m:r>
                            </m:sub>
                          </m:sSub>
                        </m:den>
                      </m:f>
                      <m:nary>
                        <m:naryPr>
                          <m:chr m:val="∑"/>
                          <m:supHide m:val="on"/>
                          <m:ctrlPr>
                            <a:rPr lang="en-US" b="0" i="1" dirty="0" smtClean="0">
                              <a:solidFill>
                                <a:schemeClr val="accent1"/>
                              </a:solidFill>
                              <a:latin typeface="Cambria Math" panose="02040503050406030204" pitchFamily="18" charset="0"/>
                            </a:rPr>
                          </m:ctrlPr>
                        </m:naryPr>
                        <m:sub>
                          <m:r>
                            <m:rPr>
                              <m:brk m:alnAt="7"/>
                            </m:rPr>
                            <a:rPr lang="en-US" b="0" i="1" dirty="0" smtClean="0">
                              <a:solidFill>
                                <a:schemeClr val="accent1"/>
                              </a:solidFill>
                              <a:latin typeface="Cambria Math" panose="02040503050406030204" pitchFamily="18" charset="0"/>
                            </a:rPr>
                            <m:t>𝑖</m:t>
                          </m:r>
                          <m:r>
                            <a:rPr lang="en-US" b="0" i="1" dirty="0" smtClean="0">
                              <a:solidFill>
                                <a:schemeClr val="accent1"/>
                              </a:solidFill>
                              <a:latin typeface="Cambria Math" panose="02040503050406030204" pitchFamily="18" charset="0"/>
                            </a:rPr>
                            <m:t>:</m:t>
                          </m:r>
                          <m:sSub>
                            <m:sSubPr>
                              <m:ctrlPr>
                                <a:rPr lang="en-US" b="0" i="1" dirty="0" smtClean="0">
                                  <a:solidFill>
                                    <a:schemeClr val="accent1"/>
                                  </a:solidFill>
                                  <a:latin typeface="Cambria Math" panose="02040503050406030204" pitchFamily="18" charset="0"/>
                                </a:rPr>
                              </m:ctrlPr>
                            </m:sSubPr>
                            <m:e>
                              <m:r>
                                <m:rPr>
                                  <m:brk m:alnAt="7"/>
                                </m:rPr>
                                <a:rPr lang="en-US" b="0" i="1" dirty="0" smtClean="0">
                                  <a:solidFill>
                                    <a:schemeClr val="accent1"/>
                                  </a:solidFill>
                                  <a:latin typeface="Cambria Math" panose="02040503050406030204" pitchFamily="18" charset="0"/>
                                </a:rPr>
                                <m:t>𝑊</m:t>
                              </m:r>
                            </m:e>
                            <m:sub>
                              <m:r>
                                <m:rPr>
                                  <m:brk m:alnAt="7"/>
                                </m:rPr>
                                <a:rPr lang="en-US" b="0" i="1" dirty="0" smtClean="0">
                                  <a:solidFill>
                                    <a:schemeClr val="accent1"/>
                                  </a:solidFill>
                                  <a:latin typeface="Cambria Math" panose="02040503050406030204" pitchFamily="18" charset="0"/>
                                </a:rPr>
                                <m:t>𝑖</m:t>
                              </m:r>
                            </m:sub>
                          </m:sSub>
                          <m:r>
                            <m:rPr>
                              <m:brk m:alnAt="7"/>
                            </m:rPr>
                            <a:rPr lang="en-US" b="0" i="1" dirty="0" smtClean="0">
                              <a:solidFill>
                                <a:schemeClr val="accent1"/>
                              </a:solidFill>
                              <a:latin typeface="Cambria Math" panose="02040503050406030204" pitchFamily="18" charset="0"/>
                            </a:rPr>
                            <m:t>=</m:t>
                          </m:r>
                          <m:r>
                            <a:rPr lang="en-US" b="0" i="1" dirty="0" smtClean="0">
                              <a:solidFill>
                                <a:schemeClr val="accent1"/>
                              </a:solidFill>
                              <a:latin typeface="Cambria Math" panose="02040503050406030204" pitchFamily="18" charset="0"/>
                            </a:rPr>
                            <m:t>0</m:t>
                          </m:r>
                        </m:sub>
                        <m:sup/>
                        <m:e>
                          <m:sSub>
                            <m:sSubPr>
                              <m:ctrlPr>
                                <a:rPr lang="en-US" b="0" i="1" dirty="0" smtClean="0">
                                  <a:solidFill>
                                    <a:schemeClr val="accent1"/>
                                  </a:solidFill>
                                  <a:latin typeface="Cambria Math" panose="02040503050406030204" pitchFamily="18" charset="0"/>
                                </a:rPr>
                              </m:ctrlPr>
                            </m:sSubPr>
                            <m:e>
                              <m:r>
                                <a:rPr lang="en-US" b="0" i="1" dirty="0" smtClean="0">
                                  <a:solidFill>
                                    <a:schemeClr val="accent1"/>
                                  </a:solidFill>
                                  <a:latin typeface="Cambria Math" panose="02040503050406030204" pitchFamily="18" charset="0"/>
                                </a:rPr>
                                <m:t>𝑌</m:t>
                              </m:r>
                            </m:e>
                            <m:sub>
                              <m:r>
                                <a:rPr lang="en-US" b="0" i="1" dirty="0" smtClean="0">
                                  <a:solidFill>
                                    <a:schemeClr val="accent1"/>
                                  </a:solidFill>
                                  <a:latin typeface="Cambria Math" panose="02040503050406030204" pitchFamily="18" charset="0"/>
                                </a:rPr>
                                <m:t>𝑖</m:t>
                              </m:r>
                            </m:sub>
                          </m:sSub>
                        </m:e>
                      </m:nary>
                    </m:oMath>
                  </m:oMathPara>
                </a14:m>
                <a:endParaRPr lang="en-US" dirty="0"/>
              </a:p>
            </p:txBody>
          </p:sp>
        </mc:Choice>
        <mc:Fallback xmlns="">
          <p:sp>
            <p:nvSpPr>
              <p:cNvPr id="3" name="Content Placeholder 2">
                <a:extLst>
                  <a:ext uri="{FF2B5EF4-FFF2-40B4-BE49-F238E27FC236}">
                    <a16:creationId xmlns:a16="http://schemas.microsoft.com/office/drawing/2014/main" id="{36D5BAE5-E935-C272-C85B-67BC28F9B161}"/>
                  </a:ext>
                </a:extLst>
              </p:cNvPr>
              <p:cNvSpPr>
                <a:spLocks noGrp="1" noRot="1" noChangeAspect="1" noMove="1" noResize="1" noEditPoints="1" noAdjustHandles="1" noChangeArrowheads="1" noChangeShapeType="1" noTextEdit="1"/>
              </p:cNvSpPr>
              <p:nvPr>
                <p:ph idx="1"/>
              </p:nvPr>
            </p:nvSpPr>
            <p:spPr>
              <a:blipFill>
                <a:blip r:embed="rId3"/>
                <a:stretch>
                  <a:fillRect l="-1043" t="-238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B551EA40-F038-D3E9-1A85-30D54570FC94}"/>
                  </a:ext>
                </a:extLst>
              </p:cNvPr>
              <p:cNvSpPr txBox="1"/>
              <p:nvPr/>
            </p:nvSpPr>
            <p:spPr>
              <a:xfrm>
                <a:off x="8835887" y="4721087"/>
                <a:ext cx="3081130" cy="1200329"/>
              </a:xfrm>
              <a:prstGeom prst="rect">
                <a:avLst/>
              </a:prstGeom>
              <a:noFill/>
            </p:spPr>
            <p:txBody>
              <a:bodyPr wrap="square" rtlCol="0">
                <a:spAutoFit/>
              </a:bodyPr>
              <a:lstStyle/>
              <a:p>
                <a:pPr marL="285750" indent="-285750">
                  <a:buFont typeface="Arial" panose="020B0604020202020204" pitchFamily="34" charset="0"/>
                  <a:buChar char="•"/>
                </a:pPr>
                <a14:m>
                  <m:oMath xmlns:m="http://schemas.openxmlformats.org/officeDocument/2006/math">
                    <m:sSub>
                      <m:sSubPr>
                        <m:ctrlPr>
                          <a:rPr lang="en-US" b="0" i="1" smtClean="0">
                            <a:solidFill>
                              <a:schemeClr val="accent5"/>
                            </a:solidFill>
                            <a:latin typeface="Cambria Math" panose="02040503050406030204" pitchFamily="18" charset="0"/>
                          </a:rPr>
                        </m:ctrlPr>
                      </m:sSubPr>
                      <m:e>
                        <m:r>
                          <a:rPr lang="en-US" b="0" i="1" smtClean="0">
                            <a:solidFill>
                              <a:schemeClr val="accent5"/>
                            </a:solidFill>
                            <a:latin typeface="Cambria Math" panose="02040503050406030204" pitchFamily="18" charset="0"/>
                          </a:rPr>
                          <m:t>𝑁</m:t>
                        </m:r>
                      </m:e>
                      <m:sub>
                        <m:r>
                          <a:rPr lang="en-US" b="0" i="1" smtClean="0">
                            <a:solidFill>
                              <a:schemeClr val="accent5"/>
                            </a:solidFill>
                            <a:latin typeface="Cambria Math" panose="02040503050406030204" pitchFamily="18" charset="0"/>
                          </a:rPr>
                          <m:t>0</m:t>
                        </m:r>
                      </m:sub>
                    </m:sSub>
                    <m:r>
                      <a:rPr lang="en-US" b="0" i="1" smtClean="0">
                        <a:solidFill>
                          <a:schemeClr val="accent5"/>
                        </a:solidFill>
                        <a:latin typeface="Cambria Math" panose="02040503050406030204" pitchFamily="18" charset="0"/>
                      </a:rPr>
                      <m:t>=</m:t>
                    </m:r>
                  </m:oMath>
                </a14:m>
                <a:r>
                  <a:rPr lang="en-US" dirty="0">
                    <a:solidFill>
                      <a:schemeClr val="accent5"/>
                    </a:solidFill>
                  </a:rPr>
                  <a:t> number of people in control group</a:t>
                </a:r>
              </a:p>
              <a:p>
                <a:pPr marL="285750" indent="-285750">
                  <a:buFont typeface="Arial" panose="020B0604020202020204" pitchFamily="34" charset="0"/>
                  <a:buChar char="•"/>
                </a:pPr>
                <a14:m>
                  <m:oMath xmlns:m="http://schemas.openxmlformats.org/officeDocument/2006/math">
                    <m:sSub>
                      <m:sSubPr>
                        <m:ctrlPr>
                          <a:rPr lang="en-US" b="0" i="1" smtClean="0">
                            <a:solidFill>
                              <a:schemeClr val="accent5"/>
                            </a:solidFill>
                            <a:latin typeface="Cambria Math" panose="02040503050406030204" pitchFamily="18" charset="0"/>
                          </a:rPr>
                        </m:ctrlPr>
                      </m:sSubPr>
                      <m:e>
                        <m:r>
                          <a:rPr lang="en-US" b="0" i="1" smtClean="0">
                            <a:solidFill>
                              <a:schemeClr val="accent5"/>
                            </a:solidFill>
                            <a:latin typeface="Cambria Math" panose="02040503050406030204" pitchFamily="18" charset="0"/>
                          </a:rPr>
                          <m:t>𝑁</m:t>
                        </m:r>
                      </m:e>
                      <m:sub>
                        <m:r>
                          <a:rPr lang="en-US" b="0" i="1" smtClean="0">
                            <a:solidFill>
                              <a:schemeClr val="accent5"/>
                            </a:solidFill>
                            <a:latin typeface="Cambria Math" panose="02040503050406030204" pitchFamily="18" charset="0"/>
                          </a:rPr>
                          <m:t>1</m:t>
                        </m:r>
                      </m:sub>
                    </m:sSub>
                    <m:r>
                      <a:rPr lang="en-US" b="0" i="1" smtClean="0">
                        <a:solidFill>
                          <a:schemeClr val="accent5"/>
                        </a:solidFill>
                        <a:latin typeface="Cambria Math" panose="02040503050406030204" pitchFamily="18" charset="0"/>
                      </a:rPr>
                      <m:t>=</m:t>
                    </m:r>
                  </m:oMath>
                </a14:m>
                <a:r>
                  <a:rPr lang="en-US" dirty="0">
                    <a:solidFill>
                      <a:schemeClr val="accent5"/>
                    </a:solidFill>
                  </a:rPr>
                  <a:t> number of people in treatment group</a:t>
                </a:r>
              </a:p>
            </p:txBody>
          </p:sp>
        </mc:Choice>
        <mc:Fallback xmlns="">
          <p:sp>
            <p:nvSpPr>
              <p:cNvPr id="4" name="TextBox 3">
                <a:extLst>
                  <a:ext uri="{FF2B5EF4-FFF2-40B4-BE49-F238E27FC236}">
                    <a16:creationId xmlns:a16="http://schemas.microsoft.com/office/drawing/2014/main" id="{B551EA40-F038-D3E9-1A85-30D54570FC94}"/>
                  </a:ext>
                </a:extLst>
              </p:cNvPr>
              <p:cNvSpPr txBox="1">
                <a:spLocks noRot="1" noChangeAspect="1" noMove="1" noResize="1" noEditPoints="1" noAdjustHandles="1" noChangeArrowheads="1" noChangeShapeType="1" noTextEdit="1"/>
              </p:cNvSpPr>
              <p:nvPr/>
            </p:nvSpPr>
            <p:spPr>
              <a:xfrm>
                <a:off x="8835887" y="4721087"/>
                <a:ext cx="3081130" cy="1200329"/>
              </a:xfrm>
              <a:prstGeom prst="rect">
                <a:avLst/>
              </a:prstGeom>
              <a:blipFill>
                <a:blip r:embed="rId4"/>
                <a:stretch>
                  <a:fillRect l="-1230" t="-2083" b="-6250"/>
                </a:stretch>
              </a:blipFill>
            </p:spPr>
            <p:txBody>
              <a:bodyPr/>
              <a:lstStyle/>
              <a:p>
                <a:r>
                  <a:rPr lang="en-US">
                    <a:noFill/>
                  </a:rPr>
                  <a:t> </a:t>
                </a:r>
              </a:p>
            </p:txBody>
          </p:sp>
        </mc:Fallback>
      </mc:AlternateContent>
    </p:spTree>
    <p:extLst>
      <p:ext uri="{BB962C8B-B14F-4D97-AF65-F5344CB8AC3E}">
        <p14:creationId xmlns:p14="http://schemas.microsoft.com/office/powerpoint/2010/main" val="23587951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DFBDD6-330D-3567-9638-2E9A4747ECD6}"/>
              </a:ext>
            </a:extLst>
          </p:cNvPr>
          <p:cNvSpPr>
            <a:spLocks noGrp="1"/>
          </p:cNvSpPr>
          <p:nvPr>
            <p:ph type="title"/>
          </p:nvPr>
        </p:nvSpPr>
        <p:spPr>
          <a:xfrm>
            <a:off x="838200" y="146733"/>
            <a:ext cx="10515600" cy="1325563"/>
          </a:xfrm>
        </p:spPr>
        <p:txBody>
          <a:bodyPr>
            <a:normAutofit/>
          </a:bodyPr>
          <a:lstStyle/>
          <a:p>
            <a:r>
              <a:rPr lang="en-US" dirty="0"/>
              <a:t>Aspirin example </a:t>
            </a:r>
            <a:br>
              <a:rPr lang="en-US" dirty="0"/>
            </a:br>
            <a:r>
              <a:rPr lang="en-US" sz="2700" dirty="0"/>
              <a:t>from last time</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6906FCE-E006-A2A5-E738-49D5D0271730}"/>
                  </a:ext>
                </a:extLst>
              </p:cNvPr>
              <p:cNvSpPr>
                <a:spLocks noGrp="1"/>
              </p:cNvSpPr>
              <p:nvPr>
                <p:ph idx="1"/>
              </p:nvPr>
            </p:nvSpPr>
            <p:spPr>
              <a:xfrm>
                <a:off x="838200" y="1550418"/>
                <a:ext cx="10515600" cy="4351338"/>
              </a:xfrm>
            </p:spPr>
            <p:txBody>
              <a:bodyPr/>
              <a:lstStyle/>
              <a:p>
                <a:r>
                  <a:rPr lang="en-US" b="1" dirty="0"/>
                  <a:t>Randomly</a:t>
                </a:r>
                <a:r>
                  <a:rPr lang="en-US" dirty="0"/>
                  <a:t> choose 3 of the 6 units for the control group, the rest are in the treatment group.</a:t>
                </a:r>
              </a:p>
              <a:p>
                <a:pPr lvl="1"/>
                <a14:m>
                  <m:oMath xmlns:m="http://schemas.openxmlformats.org/officeDocument/2006/math">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𝑁</m:t>
                        </m:r>
                      </m:e>
                      <m:sub>
                        <m:r>
                          <a:rPr lang="en-US" b="0" i="1" smtClean="0">
                            <a:solidFill>
                              <a:schemeClr val="accent1"/>
                            </a:solidFill>
                            <a:latin typeface="Cambria Math" panose="02040503050406030204" pitchFamily="18" charset="0"/>
                          </a:rPr>
                          <m:t>0</m:t>
                        </m:r>
                      </m:sub>
                    </m:sSub>
                    <m:r>
                      <a:rPr lang="en-US" b="0" i="1" smtClean="0">
                        <a:solidFill>
                          <a:schemeClr val="accent1"/>
                        </a:solidFill>
                        <a:latin typeface="Cambria Math" panose="02040503050406030204" pitchFamily="18" charset="0"/>
                      </a:rPr>
                      <m:t>=</m:t>
                    </m:r>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𝑁</m:t>
                        </m:r>
                      </m:e>
                      <m:sub>
                        <m:r>
                          <a:rPr lang="en-US" b="0" i="1" smtClean="0">
                            <a:solidFill>
                              <a:schemeClr val="accent1"/>
                            </a:solidFill>
                            <a:latin typeface="Cambria Math" panose="02040503050406030204" pitchFamily="18" charset="0"/>
                          </a:rPr>
                          <m:t>1</m:t>
                        </m:r>
                      </m:sub>
                    </m:sSub>
                    <m:r>
                      <a:rPr lang="en-US" b="0" i="1" smtClean="0">
                        <a:solidFill>
                          <a:schemeClr val="accent1"/>
                        </a:solidFill>
                        <a:latin typeface="Cambria Math" panose="02040503050406030204" pitchFamily="18" charset="0"/>
                      </a:rPr>
                      <m:t>=3</m:t>
                    </m:r>
                  </m:oMath>
                </a14:m>
                <a:endParaRPr lang="en-US" dirty="0">
                  <a:solidFill>
                    <a:schemeClr val="accent1"/>
                  </a:solidFill>
                </a:endParaRPr>
              </a:p>
              <a:p>
                <a:pPr lvl="1"/>
                <a:r>
                  <a:rPr lang="en-US" dirty="0">
                    <a:solidFill>
                      <a:schemeClr val="accent1"/>
                    </a:solidFill>
                  </a:rPr>
                  <a:t>For each </a:t>
                </a:r>
                <a14:m>
                  <m:oMath xmlns:m="http://schemas.openxmlformats.org/officeDocument/2006/math">
                    <m:r>
                      <a:rPr lang="en-US" b="0" i="1" smtClean="0">
                        <a:solidFill>
                          <a:schemeClr val="accent1"/>
                        </a:solidFill>
                        <a:latin typeface="Cambria Math" panose="02040503050406030204" pitchFamily="18" charset="0"/>
                      </a:rPr>
                      <m:t>𝑖</m:t>
                    </m:r>
                  </m:oMath>
                </a14:m>
                <a:r>
                  <a:rPr lang="en-US" dirty="0">
                    <a:solidFill>
                      <a:schemeClr val="accent1"/>
                    </a:solidFill>
                  </a:rPr>
                  <a:t>, </a:t>
                </a:r>
                <a14:m>
                  <m:oMath xmlns:m="http://schemas.openxmlformats.org/officeDocument/2006/math">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𝑊</m:t>
                        </m:r>
                      </m:e>
                      <m:sub>
                        <m:r>
                          <a:rPr lang="en-US" b="0" i="1" smtClean="0">
                            <a:solidFill>
                              <a:schemeClr val="accent1"/>
                            </a:solidFill>
                            <a:latin typeface="Cambria Math" panose="02040503050406030204" pitchFamily="18" charset="0"/>
                          </a:rPr>
                          <m:t>𝑖</m:t>
                        </m:r>
                      </m:sub>
                    </m:sSub>
                    <m:r>
                      <a:rPr lang="en-US" b="0" i="1" smtClean="0">
                        <a:solidFill>
                          <a:schemeClr val="accent1"/>
                        </a:solidFill>
                        <a:latin typeface="Cambria Math" panose="02040503050406030204" pitchFamily="18" charset="0"/>
                      </a:rPr>
                      <m:t>=1</m:t>
                    </m:r>
                  </m:oMath>
                </a14:m>
                <a:r>
                  <a:rPr lang="en-US" dirty="0">
                    <a:solidFill>
                      <a:schemeClr val="accent1"/>
                    </a:solidFill>
                  </a:rPr>
                  <a:t> with probability ½ and </a:t>
                </a:r>
                <a14:m>
                  <m:oMath xmlns:m="http://schemas.openxmlformats.org/officeDocument/2006/math">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𝑊</m:t>
                        </m:r>
                      </m:e>
                      <m:sub>
                        <m:r>
                          <a:rPr lang="en-US" b="0" i="1" smtClean="0">
                            <a:solidFill>
                              <a:schemeClr val="accent1"/>
                            </a:solidFill>
                            <a:latin typeface="Cambria Math" panose="02040503050406030204" pitchFamily="18" charset="0"/>
                          </a:rPr>
                          <m:t>𝑖</m:t>
                        </m:r>
                      </m:sub>
                    </m:sSub>
                    <m:r>
                      <a:rPr lang="en-US" b="0" i="1" smtClean="0">
                        <a:solidFill>
                          <a:schemeClr val="accent1"/>
                        </a:solidFill>
                        <a:latin typeface="Cambria Math" panose="02040503050406030204" pitchFamily="18" charset="0"/>
                      </a:rPr>
                      <m:t>=0</m:t>
                    </m:r>
                  </m:oMath>
                </a14:m>
                <a:r>
                  <a:rPr lang="en-US" dirty="0">
                    <a:solidFill>
                      <a:schemeClr val="accent1"/>
                    </a:solidFill>
                  </a:rPr>
                  <a:t> with probability ½ </a:t>
                </a:r>
              </a:p>
            </p:txBody>
          </p:sp>
        </mc:Choice>
        <mc:Fallback xmlns="">
          <p:sp>
            <p:nvSpPr>
              <p:cNvPr id="3" name="Content Placeholder 2">
                <a:extLst>
                  <a:ext uri="{FF2B5EF4-FFF2-40B4-BE49-F238E27FC236}">
                    <a16:creationId xmlns:a16="http://schemas.microsoft.com/office/drawing/2014/main" id="{A6906FCE-E006-A2A5-E738-49D5D0271730}"/>
                  </a:ext>
                </a:extLst>
              </p:cNvPr>
              <p:cNvSpPr>
                <a:spLocks noGrp="1" noRot="1" noChangeAspect="1" noMove="1" noResize="1" noEditPoints="1" noAdjustHandles="1" noChangeArrowheads="1" noChangeShapeType="1" noTextEdit="1"/>
              </p:cNvSpPr>
              <p:nvPr>
                <p:ph idx="1"/>
              </p:nvPr>
            </p:nvSpPr>
            <p:spPr>
              <a:xfrm>
                <a:off x="838200" y="1550418"/>
                <a:ext cx="10515600" cy="4351338"/>
              </a:xfrm>
              <a:blipFill>
                <a:blip r:embed="rId3"/>
                <a:stretch>
                  <a:fillRect l="-1043" t="-2381" r="-1855"/>
                </a:stretch>
              </a:blipFill>
            </p:spPr>
            <p:txBody>
              <a:bodyPr/>
              <a:lstStyle/>
              <a:p>
                <a:r>
                  <a:rPr lang="en-US">
                    <a:noFill/>
                  </a:rPr>
                  <a:t> </a:t>
                </a:r>
              </a:p>
            </p:txBody>
          </p:sp>
        </mc:Fallback>
      </mc:AlternateContent>
      <p:grpSp>
        <p:nvGrpSpPr>
          <p:cNvPr id="54" name="Group 53">
            <a:extLst>
              <a:ext uri="{FF2B5EF4-FFF2-40B4-BE49-F238E27FC236}">
                <a16:creationId xmlns:a16="http://schemas.microsoft.com/office/drawing/2014/main" id="{E29183B7-8CE6-356D-0B0B-9D0A0A67F367}"/>
              </a:ext>
            </a:extLst>
          </p:cNvPr>
          <p:cNvGrpSpPr/>
          <p:nvPr/>
        </p:nvGrpSpPr>
        <p:grpSpPr>
          <a:xfrm>
            <a:off x="3947586" y="3632886"/>
            <a:ext cx="8143380" cy="3190567"/>
            <a:chOff x="5013146" y="4084919"/>
            <a:chExt cx="7077820" cy="2773082"/>
          </a:xfrm>
        </p:grpSpPr>
        <p:grpSp>
          <p:nvGrpSpPr>
            <p:cNvPr id="55" name="Group 54">
              <a:extLst>
                <a:ext uri="{FF2B5EF4-FFF2-40B4-BE49-F238E27FC236}">
                  <a16:creationId xmlns:a16="http://schemas.microsoft.com/office/drawing/2014/main" id="{7CCC21EE-FC62-166A-BAFC-C7CFFABD6807}"/>
                </a:ext>
              </a:extLst>
            </p:cNvPr>
            <p:cNvGrpSpPr/>
            <p:nvPr/>
          </p:nvGrpSpPr>
          <p:grpSpPr>
            <a:xfrm>
              <a:off x="5013146" y="4084919"/>
              <a:ext cx="7077820" cy="2773082"/>
              <a:chOff x="5906366" y="4477790"/>
              <a:chExt cx="6399132" cy="2526149"/>
            </a:xfrm>
          </p:grpSpPr>
          <p:sp>
            <p:nvSpPr>
              <p:cNvPr id="58" name="Rectangle 57">
                <a:extLst>
                  <a:ext uri="{FF2B5EF4-FFF2-40B4-BE49-F238E27FC236}">
                    <a16:creationId xmlns:a16="http://schemas.microsoft.com/office/drawing/2014/main" id="{1B6DD7DC-F313-5D8E-F3E8-EB2FF08B7A7A}"/>
                  </a:ext>
                </a:extLst>
              </p:cNvPr>
              <p:cNvSpPr/>
              <p:nvPr/>
            </p:nvSpPr>
            <p:spPr>
              <a:xfrm>
                <a:off x="5906366" y="4505989"/>
                <a:ext cx="6399131" cy="2460011"/>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grpSp>
            <p:nvGrpSpPr>
              <p:cNvPr id="59" name="Group 58">
                <a:extLst>
                  <a:ext uri="{FF2B5EF4-FFF2-40B4-BE49-F238E27FC236}">
                    <a16:creationId xmlns:a16="http://schemas.microsoft.com/office/drawing/2014/main" id="{C4DA7C3C-3379-0F67-1666-E8A340A1BE59}"/>
                  </a:ext>
                </a:extLst>
              </p:cNvPr>
              <p:cNvGrpSpPr/>
              <p:nvPr/>
            </p:nvGrpSpPr>
            <p:grpSpPr>
              <a:xfrm>
                <a:off x="5906366" y="4477790"/>
                <a:ext cx="6399132" cy="2526149"/>
                <a:chOff x="122688" y="2152268"/>
                <a:chExt cx="12072323" cy="4765722"/>
              </a:xfrm>
            </p:grpSpPr>
            <p:pic>
              <p:nvPicPr>
                <p:cNvPr id="60" name="Picture 59">
                  <a:extLst>
                    <a:ext uri="{FF2B5EF4-FFF2-40B4-BE49-F238E27FC236}">
                      <a16:creationId xmlns:a16="http://schemas.microsoft.com/office/drawing/2014/main" id="{6FBEE280-CB4B-7B6F-3E54-6DF699B8FBAD}"/>
                    </a:ext>
                  </a:extLst>
                </p:cNvPr>
                <p:cNvPicPr>
                  <a:picLocks noChangeAspect="1"/>
                </p:cNvPicPr>
                <p:nvPr/>
              </p:nvPicPr>
              <p:blipFill>
                <a:blip r:embed="rId4"/>
                <a:stretch>
                  <a:fillRect/>
                </a:stretch>
              </p:blipFill>
              <p:spPr>
                <a:xfrm>
                  <a:off x="2145207" y="2605430"/>
                  <a:ext cx="729848" cy="1107433"/>
                </a:xfrm>
                <a:prstGeom prst="rect">
                  <a:avLst/>
                </a:prstGeom>
              </p:spPr>
            </p:pic>
            <p:pic>
              <p:nvPicPr>
                <p:cNvPr id="61" name="Picture 60">
                  <a:extLst>
                    <a:ext uri="{FF2B5EF4-FFF2-40B4-BE49-F238E27FC236}">
                      <a16:creationId xmlns:a16="http://schemas.microsoft.com/office/drawing/2014/main" id="{D60151DC-DC24-F4A4-01F7-7E8974835891}"/>
                    </a:ext>
                  </a:extLst>
                </p:cNvPr>
                <p:cNvPicPr>
                  <a:picLocks noChangeAspect="1"/>
                </p:cNvPicPr>
                <p:nvPr/>
              </p:nvPicPr>
              <p:blipFill>
                <a:blip r:embed="rId5"/>
                <a:stretch>
                  <a:fillRect/>
                </a:stretch>
              </p:blipFill>
              <p:spPr>
                <a:xfrm>
                  <a:off x="3667491" y="2856752"/>
                  <a:ext cx="830685" cy="742035"/>
                </a:xfrm>
                <a:prstGeom prst="rect">
                  <a:avLst/>
                </a:prstGeom>
              </p:spPr>
            </p:pic>
            <p:pic>
              <p:nvPicPr>
                <p:cNvPr id="62" name="Picture 61">
                  <a:extLst>
                    <a:ext uri="{FF2B5EF4-FFF2-40B4-BE49-F238E27FC236}">
                      <a16:creationId xmlns:a16="http://schemas.microsoft.com/office/drawing/2014/main" id="{885869E1-A0F7-9841-59B9-896FDDC2AE2A}"/>
                    </a:ext>
                  </a:extLst>
                </p:cNvPr>
                <p:cNvPicPr>
                  <a:picLocks noChangeAspect="1"/>
                </p:cNvPicPr>
                <p:nvPr/>
              </p:nvPicPr>
              <p:blipFill>
                <a:blip r:embed="rId6"/>
                <a:stretch>
                  <a:fillRect/>
                </a:stretch>
              </p:blipFill>
              <p:spPr>
                <a:xfrm>
                  <a:off x="7552886" y="2688341"/>
                  <a:ext cx="648054" cy="910446"/>
                </a:xfrm>
                <a:prstGeom prst="rect">
                  <a:avLst/>
                </a:prstGeom>
              </p:spPr>
            </p:pic>
            <p:pic>
              <p:nvPicPr>
                <p:cNvPr id="63" name="Picture 62">
                  <a:extLst>
                    <a:ext uri="{FF2B5EF4-FFF2-40B4-BE49-F238E27FC236}">
                      <a16:creationId xmlns:a16="http://schemas.microsoft.com/office/drawing/2014/main" id="{507A37B1-D280-B4EA-510F-798BB69BC615}"/>
                    </a:ext>
                  </a:extLst>
                </p:cNvPr>
                <p:cNvPicPr>
                  <a:picLocks noChangeAspect="1"/>
                </p:cNvPicPr>
                <p:nvPr/>
              </p:nvPicPr>
              <p:blipFill>
                <a:blip r:embed="rId7"/>
                <a:stretch>
                  <a:fillRect/>
                </a:stretch>
              </p:blipFill>
              <p:spPr>
                <a:xfrm>
                  <a:off x="9224580" y="2791814"/>
                  <a:ext cx="566568" cy="721917"/>
                </a:xfrm>
                <a:prstGeom prst="rect">
                  <a:avLst/>
                </a:prstGeom>
              </p:spPr>
            </p:pic>
            <p:pic>
              <p:nvPicPr>
                <p:cNvPr id="64" name="Picture 63">
                  <a:extLst>
                    <a:ext uri="{FF2B5EF4-FFF2-40B4-BE49-F238E27FC236}">
                      <a16:creationId xmlns:a16="http://schemas.microsoft.com/office/drawing/2014/main" id="{A537B9CF-BE8E-5411-676D-5282DEF68777}"/>
                    </a:ext>
                  </a:extLst>
                </p:cNvPr>
                <p:cNvPicPr>
                  <a:picLocks noChangeAspect="1"/>
                </p:cNvPicPr>
                <p:nvPr/>
              </p:nvPicPr>
              <p:blipFill>
                <a:blip r:embed="rId8"/>
                <a:stretch>
                  <a:fillRect/>
                </a:stretch>
              </p:blipFill>
              <p:spPr>
                <a:xfrm>
                  <a:off x="11095039" y="2646625"/>
                  <a:ext cx="697482" cy="882528"/>
                </a:xfrm>
                <a:prstGeom prst="rect">
                  <a:avLst/>
                </a:prstGeom>
              </p:spPr>
            </p:pic>
            <p:pic>
              <p:nvPicPr>
                <p:cNvPr id="65" name="Picture 7" descr="Adoptable Rabbits | morabbit">
                  <a:extLst>
                    <a:ext uri="{FF2B5EF4-FFF2-40B4-BE49-F238E27FC236}">
                      <a16:creationId xmlns:a16="http://schemas.microsoft.com/office/drawing/2014/main" id="{6FB1F77D-7D8E-E3CD-F233-08246D764B9F}"/>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flipH="1">
                  <a:off x="5756618" y="2658902"/>
                  <a:ext cx="648054" cy="1072230"/>
                </a:xfrm>
                <a:prstGeom prst="rect">
                  <a:avLst/>
                </a:prstGeom>
                <a:noFill/>
                <a:extLst>
                  <a:ext uri="{909E8E84-426E-40DD-AFC4-6F175D3DCCD1}">
                    <a14:hiddenFill xmlns:a14="http://schemas.microsoft.com/office/drawing/2010/main">
                      <a:solidFill>
                        <a:srgbClr val="FFFFFF"/>
                      </a:solidFill>
                    </a14:hiddenFill>
                  </a:ext>
                </a:extLst>
              </p:spPr>
            </p:pic>
            <p:pic>
              <p:nvPicPr>
                <p:cNvPr id="66" name="Picture 2" descr="ASPIRIN® Extra Strength 500mg | ASPIRIN® Canada">
                  <a:extLst>
                    <a:ext uri="{FF2B5EF4-FFF2-40B4-BE49-F238E27FC236}">
                      <a16:creationId xmlns:a16="http://schemas.microsoft.com/office/drawing/2014/main" id="{C76D9CC0-8C42-0BE4-1712-5827D5ECC4AD}"/>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36385" y="3832624"/>
                  <a:ext cx="827664" cy="827664"/>
                </a:xfrm>
                <a:prstGeom prst="rect">
                  <a:avLst/>
                </a:prstGeom>
                <a:noFill/>
                <a:extLst>
                  <a:ext uri="{909E8E84-426E-40DD-AFC4-6F175D3DCCD1}">
                    <a14:hiddenFill xmlns:a14="http://schemas.microsoft.com/office/drawing/2010/main">
                      <a:solidFill>
                        <a:srgbClr val="FFFFFF"/>
                      </a:solidFill>
                    </a14:hiddenFill>
                  </a:ext>
                </a:extLst>
              </p:spPr>
            </p:pic>
            <p:pic>
              <p:nvPicPr>
                <p:cNvPr id="67" name="Picture 66">
                  <a:extLst>
                    <a:ext uri="{FF2B5EF4-FFF2-40B4-BE49-F238E27FC236}">
                      <a16:creationId xmlns:a16="http://schemas.microsoft.com/office/drawing/2014/main" id="{006F1DFB-08FA-89D9-5692-36741DF81D03}"/>
                    </a:ext>
                  </a:extLst>
                </p:cNvPr>
                <p:cNvPicPr>
                  <a:picLocks noChangeAspect="1"/>
                </p:cNvPicPr>
                <p:nvPr/>
              </p:nvPicPr>
              <p:blipFill>
                <a:blip r:embed="rId11"/>
                <a:stretch>
                  <a:fillRect/>
                </a:stretch>
              </p:blipFill>
              <p:spPr>
                <a:xfrm>
                  <a:off x="592477" y="5415856"/>
                  <a:ext cx="724786" cy="476115"/>
                </a:xfrm>
                <a:prstGeom prst="rect">
                  <a:avLst/>
                </a:prstGeom>
              </p:spPr>
            </p:pic>
            <p:cxnSp>
              <p:nvCxnSpPr>
                <p:cNvPr id="68" name="Straight Connector 67">
                  <a:extLst>
                    <a:ext uri="{FF2B5EF4-FFF2-40B4-BE49-F238E27FC236}">
                      <a16:creationId xmlns:a16="http://schemas.microsoft.com/office/drawing/2014/main" id="{44C3AE0F-80F5-0036-43E2-9CB0650261A7}"/>
                    </a:ext>
                  </a:extLst>
                </p:cNvPr>
                <p:cNvCxnSpPr>
                  <a:cxnSpLocks/>
                </p:cNvCxnSpPr>
                <p:nvPr/>
              </p:nvCxnSpPr>
              <p:spPr>
                <a:xfrm flipH="1">
                  <a:off x="122688" y="3712862"/>
                  <a:ext cx="12072321" cy="73733"/>
                </a:xfrm>
                <a:prstGeom prst="line">
                  <a:avLst/>
                </a:prstGeom>
              </p:spPr>
              <p:style>
                <a:lnRef idx="2">
                  <a:schemeClr val="accent1"/>
                </a:lnRef>
                <a:fillRef idx="0">
                  <a:schemeClr val="accent1"/>
                </a:fillRef>
                <a:effectRef idx="1">
                  <a:schemeClr val="accent1"/>
                </a:effectRef>
                <a:fontRef idx="minor">
                  <a:schemeClr val="tx1"/>
                </a:fontRef>
              </p:style>
            </p:cxnSp>
            <p:pic>
              <p:nvPicPr>
                <p:cNvPr id="69" name="Picture 10" descr="Download Smile, Emoji, Happy. Royalty-Free Vector Graphic - Pixabay">
                  <a:extLst>
                    <a:ext uri="{FF2B5EF4-FFF2-40B4-BE49-F238E27FC236}">
                      <a16:creationId xmlns:a16="http://schemas.microsoft.com/office/drawing/2014/main" id="{7C498083-A576-1535-808A-2720CB038BA7}"/>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791225" y="3838278"/>
                  <a:ext cx="569070" cy="569070"/>
                </a:xfrm>
                <a:prstGeom prst="rect">
                  <a:avLst/>
                </a:prstGeom>
                <a:noFill/>
                <a:extLst>
                  <a:ext uri="{909E8E84-426E-40DD-AFC4-6F175D3DCCD1}">
                    <a14:hiddenFill xmlns:a14="http://schemas.microsoft.com/office/drawing/2010/main">
                      <a:solidFill>
                        <a:srgbClr val="FFFFFF"/>
                      </a:solidFill>
                    </a14:hiddenFill>
                  </a:ext>
                </a:extLst>
              </p:spPr>
            </p:pic>
            <p:pic>
              <p:nvPicPr>
                <p:cNvPr id="70" name="Picture 10" descr="Download Smile, Emoji, Happy. Royalty-Free Vector Graphic - Pixabay">
                  <a:extLst>
                    <a:ext uri="{FF2B5EF4-FFF2-40B4-BE49-F238E27FC236}">
                      <a16:creationId xmlns:a16="http://schemas.microsoft.com/office/drawing/2014/main" id="{883100A4-F2B6-1A85-554E-6E2F22F12A66}"/>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354501" y="3883972"/>
                  <a:ext cx="569070" cy="569070"/>
                </a:xfrm>
                <a:prstGeom prst="rect">
                  <a:avLst/>
                </a:prstGeom>
                <a:noFill/>
                <a:extLst>
                  <a:ext uri="{909E8E84-426E-40DD-AFC4-6F175D3DCCD1}">
                    <a14:hiddenFill xmlns:a14="http://schemas.microsoft.com/office/drawing/2010/main">
                      <a:solidFill>
                        <a:srgbClr val="FFFFFF"/>
                      </a:solidFill>
                    </a14:hiddenFill>
                  </a:ext>
                </a:extLst>
              </p:spPr>
            </p:pic>
            <p:pic>
              <p:nvPicPr>
                <p:cNvPr id="71" name="Picture 10" descr="Download Smile, Emoji, Happy. Royalty-Free Vector Graphic - Pixabay">
                  <a:extLst>
                    <a:ext uri="{FF2B5EF4-FFF2-40B4-BE49-F238E27FC236}">
                      <a16:creationId xmlns:a16="http://schemas.microsoft.com/office/drawing/2014/main" id="{093F79D2-0E37-F70D-9B45-49EAFDA1EBBE}"/>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1091806" y="5383880"/>
                  <a:ext cx="569070" cy="569069"/>
                </a:xfrm>
                <a:prstGeom prst="rect">
                  <a:avLst/>
                </a:prstGeom>
                <a:noFill/>
                <a:extLst>
                  <a:ext uri="{909E8E84-426E-40DD-AFC4-6F175D3DCCD1}">
                    <a14:hiddenFill xmlns:a14="http://schemas.microsoft.com/office/drawing/2010/main">
                      <a:solidFill>
                        <a:srgbClr val="FFFFFF"/>
                      </a:solidFill>
                    </a14:hiddenFill>
                  </a:ext>
                </a:extLst>
              </p:spPr>
            </p:pic>
            <p:pic>
              <p:nvPicPr>
                <p:cNvPr id="72" name="Picture 10" descr="Download Smile, Emoji, Happy. Royalty-Free Vector Graphic - Pixabay">
                  <a:extLst>
                    <a:ext uri="{FF2B5EF4-FFF2-40B4-BE49-F238E27FC236}">
                      <a16:creationId xmlns:a16="http://schemas.microsoft.com/office/drawing/2014/main" id="{04D833EE-E0E7-E4D5-7401-F85B3D5B204A}"/>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982401" y="3932237"/>
                  <a:ext cx="569070" cy="569069"/>
                </a:xfrm>
                <a:prstGeom prst="rect">
                  <a:avLst/>
                </a:prstGeom>
                <a:noFill/>
                <a:extLst>
                  <a:ext uri="{909E8E84-426E-40DD-AFC4-6F175D3DCCD1}">
                    <a14:hiddenFill xmlns:a14="http://schemas.microsoft.com/office/drawing/2010/main">
                      <a:solidFill>
                        <a:srgbClr val="FFFFFF"/>
                      </a:solidFill>
                    </a14:hiddenFill>
                  </a:ext>
                </a:extLst>
              </p:spPr>
            </p:pic>
            <p:pic>
              <p:nvPicPr>
                <p:cNvPr id="73" name="Picture 10" descr="Download Smile, Emoji, Happy. Royalty-Free Vector Graphic - Pixabay">
                  <a:extLst>
                    <a:ext uri="{FF2B5EF4-FFF2-40B4-BE49-F238E27FC236}">
                      <a16:creationId xmlns:a16="http://schemas.microsoft.com/office/drawing/2014/main" id="{F6FE818F-6555-37F0-C2B0-2376EE7B5A38}"/>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313552" y="3938458"/>
                  <a:ext cx="569070" cy="569069"/>
                </a:xfrm>
                <a:prstGeom prst="rect">
                  <a:avLst/>
                </a:prstGeom>
                <a:noFill/>
                <a:extLst>
                  <a:ext uri="{909E8E84-426E-40DD-AFC4-6F175D3DCCD1}">
                    <a14:hiddenFill xmlns:a14="http://schemas.microsoft.com/office/drawing/2010/main">
                      <a:solidFill>
                        <a:srgbClr val="FFFFFF"/>
                      </a:solidFill>
                    </a14:hiddenFill>
                  </a:ext>
                </a:extLst>
              </p:spPr>
            </p:pic>
            <p:cxnSp>
              <p:nvCxnSpPr>
                <p:cNvPr id="74" name="Straight Connector 73">
                  <a:extLst>
                    <a:ext uri="{FF2B5EF4-FFF2-40B4-BE49-F238E27FC236}">
                      <a16:creationId xmlns:a16="http://schemas.microsoft.com/office/drawing/2014/main" id="{A67F6F4E-0687-B4DD-7A37-03EE79A35A7B}"/>
                    </a:ext>
                  </a:extLst>
                </p:cNvPr>
                <p:cNvCxnSpPr>
                  <a:cxnSpLocks/>
                </p:cNvCxnSpPr>
                <p:nvPr/>
              </p:nvCxnSpPr>
              <p:spPr>
                <a:xfrm flipV="1">
                  <a:off x="1675989" y="2205467"/>
                  <a:ext cx="0" cy="4640949"/>
                </a:xfrm>
                <a:prstGeom prst="line">
                  <a:avLst/>
                </a:prstGeom>
              </p:spPr>
              <p:style>
                <a:lnRef idx="2">
                  <a:schemeClr val="accent1"/>
                </a:lnRef>
                <a:fillRef idx="0">
                  <a:schemeClr val="accent1"/>
                </a:fillRef>
                <a:effectRef idx="1">
                  <a:schemeClr val="accent1"/>
                </a:effectRef>
                <a:fontRef idx="minor">
                  <a:schemeClr val="tx1"/>
                </a:fontRef>
              </p:style>
            </p:cxnSp>
            <p:pic>
              <p:nvPicPr>
                <p:cNvPr id="75" name="Picture 74">
                  <a:extLst>
                    <a:ext uri="{FF2B5EF4-FFF2-40B4-BE49-F238E27FC236}">
                      <a16:creationId xmlns:a16="http://schemas.microsoft.com/office/drawing/2014/main" id="{12E8CB3A-27ED-F82A-5ACC-60E3AAD4C270}"/>
                    </a:ext>
                  </a:extLst>
                </p:cNvPr>
                <p:cNvPicPr>
                  <a:picLocks noChangeAspect="1"/>
                </p:cNvPicPr>
                <p:nvPr/>
              </p:nvPicPr>
              <p:blipFill>
                <a:blip r:embed="rId13"/>
                <a:stretch>
                  <a:fillRect/>
                </a:stretch>
              </p:blipFill>
              <p:spPr>
                <a:xfrm>
                  <a:off x="2098757" y="4995365"/>
                  <a:ext cx="980721" cy="1457828"/>
                </a:xfrm>
                <a:prstGeom prst="rect">
                  <a:avLst/>
                </a:prstGeom>
              </p:spPr>
            </p:pic>
            <p:pic>
              <p:nvPicPr>
                <p:cNvPr id="76" name="Picture 75">
                  <a:extLst>
                    <a:ext uri="{FF2B5EF4-FFF2-40B4-BE49-F238E27FC236}">
                      <a16:creationId xmlns:a16="http://schemas.microsoft.com/office/drawing/2014/main" id="{121BAF33-6219-38EE-91AD-AC188651CD6E}"/>
                    </a:ext>
                  </a:extLst>
                </p:cNvPr>
                <p:cNvPicPr>
                  <a:picLocks noChangeAspect="1"/>
                </p:cNvPicPr>
                <p:nvPr/>
              </p:nvPicPr>
              <p:blipFill>
                <a:blip r:embed="rId13"/>
                <a:stretch>
                  <a:fillRect/>
                </a:stretch>
              </p:blipFill>
              <p:spPr>
                <a:xfrm>
                  <a:off x="3816974" y="4889021"/>
                  <a:ext cx="980721" cy="1457828"/>
                </a:xfrm>
                <a:prstGeom prst="rect">
                  <a:avLst/>
                </a:prstGeom>
              </p:spPr>
            </p:pic>
            <p:pic>
              <p:nvPicPr>
                <p:cNvPr id="77" name="Picture 76">
                  <a:extLst>
                    <a:ext uri="{FF2B5EF4-FFF2-40B4-BE49-F238E27FC236}">
                      <a16:creationId xmlns:a16="http://schemas.microsoft.com/office/drawing/2014/main" id="{5234891F-19EC-02D2-58EC-5A66647BBAEF}"/>
                    </a:ext>
                  </a:extLst>
                </p:cNvPr>
                <p:cNvPicPr>
                  <a:picLocks noChangeAspect="1"/>
                </p:cNvPicPr>
                <p:nvPr/>
              </p:nvPicPr>
              <p:blipFill>
                <a:blip r:embed="rId13"/>
                <a:stretch>
                  <a:fillRect/>
                </a:stretch>
              </p:blipFill>
              <p:spPr>
                <a:xfrm>
                  <a:off x="5605639" y="4897421"/>
                  <a:ext cx="980721" cy="1457828"/>
                </a:xfrm>
                <a:prstGeom prst="rect">
                  <a:avLst/>
                </a:prstGeom>
              </p:spPr>
            </p:pic>
            <p:pic>
              <p:nvPicPr>
                <p:cNvPr id="78" name="Picture 77">
                  <a:extLst>
                    <a:ext uri="{FF2B5EF4-FFF2-40B4-BE49-F238E27FC236}">
                      <a16:creationId xmlns:a16="http://schemas.microsoft.com/office/drawing/2014/main" id="{9A1CF252-A9CA-9169-041B-FC12D8D54464}"/>
                    </a:ext>
                  </a:extLst>
                </p:cNvPr>
                <p:cNvPicPr>
                  <a:picLocks noChangeAspect="1"/>
                </p:cNvPicPr>
                <p:nvPr/>
              </p:nvPicPr>
              <p:blipFill>
                <a:blip r:embed="rId13"/>
                <a:stretch>
                  <a:fillRect/>
                </a:stretch>
              </p:blipFill>
              <p:spPr>
                <a:xfrm>
                  <a:off x="7380256" y="4958844"/>
                  <a:ext cx="980721" cy="1457828"/>
                </a:xfrm>
                <a:prstGeom prst="rect">
                  <a:avLst/>
                </a:prstGeom>
              </p:spPr>
            </p:pic>
            <p:pic>
              <p:nvPicPr>
                <p:cNvPr id="79" name="Picture 78">
                  <a:extLst>
                    <a:ext uri="{FF2B5EF4-FFF2-40B4-BE49-F238E27FC236}">
                      <a16:creationId xmlns:a16="http://schemas.microsoft.com/office/drawing/2014/main" id="{E3433776-B619-C37C-555E-1B28FC9F0969}"/>
                    </a:ext>
                  </a:extLst>
                </p:cNvPr>
                <p:cNvPicPr>
                  <a:picLocks noChangeAspect="1"/>
                </p:cNvPicPr>
                <p:nvPr/>
              </p:nvPicPr>
              <p:blipFill>
                <a:blip r:embed="rId13"/>
                <a:stretch>
                  <a:fillRect/>
                </a:stretch>
              </p:blipFill>
              <p:spPr>
                <a:xfrm>
                  <a:off x="9156032" y="4975038"/>
                  <a:ext cx="980721" cy="1457828"/>
                </a:xfrm>
                <a:prstGeom prst="rect">
                  <a:avLst/>
                </a:prstGeom>
              </p:spPr>
            </p:pic>
            <p:pic>
              <p:nvPicPr>
                <p:cNvPr id="80" name="Picture 79">
                  <a:extLst>
                    <a:ext uri="{FF2B5EF4-FFF2-40B4-BE49-F238E27FC236}">
                      <a16:creationId xmlns:a16="http://schemas.microsoft.com/office/drawing/2014/main" id="{F2A5AE51-0926-7AD1-B37A-C7BB602C4A80}"/>
                    </a:ext>
                  </a:extLst>
                </p:cNvPr>
                <p:cNvPicPr>
                  <a:picLocks noChangeAspect="1"/>
                </p:cNvPicPr>
                <p:nvPr/>
              </p:nvPicPr>
              <p:blipFill>
                <a:blip r:embed="rId13"/>
                <a:stretch>
                  <a:fillRect/>
                </a:stretch>
              </p:blipFill>
              <p:spPr>
                <a:xfrm>
                  <a:off x="10849929" y="3464381"/>
                  <a:ext cx="980721" cy="1457828"/>
                </a:xfrm>
                <a:prstGeom prst="rect">
                  <a:avLst/>
                </a:prstGeom>
              </p:spPr>
            </p:pic>
            <p:pic>
              <p:nvPicPr>
                <p:cNvPr id="81" name="Picture 80">
                  <a:extLst>
                    <a:ext uri="{FF2B5EF4-FFF2-40B4-BE49-F238E27FC236}">
                      <a16:creationId xmlns:a16="http://schemas.microsoft.com/office/drawing/2014/main" id="{5AAC4AD1-DECB-1916-D5ED-354C72ECA9AF}"/>
                    </a:ext>
                  </a:extLst>
                </p:cNvPr>
                <p:cNvPicPr>
                  <a:picLocks noChangeAspect="1"/>
                </p:cNvPicPr>
                <p:nvPr/>
              </p:nvPicPr>
              <p:blipFill>
                <a:blip r:embed="rId13"/>
                <a:stretch>
                  <a:fillRect/>
                </a:stretch>
              </p:blipFill>
              <p:spPr>
                <a:xfrm>
                  <a:off x="7402838" y="3439593"/>
                  <a:ext cx="980721" cy="1457828"/>
                </a:xfrm>
                <a:prstGeom prst="rect">
                  <a:avLst/>
                </a:prstGeom>
              </p:spPr>
            </p:pic>
            <p:cxnSp>
              <p:nvCxnSpPr>
                <p:cNvPr id="82" name="Straight Connector 81">
                  <a:extLst>
                    <a:ext uri="{FF2B5EF4-FFF2-40B4-BE49-F238E27FC236}">
                      <a16:creationId xmlns:a16="http://schemas.microsoft.com/office/drawing/2014/main" id="{10A0FD33-F557-9BD9-F266-817F86CDD324}"/>
                    </a:ext>
                  </a:extLst>
                </p:cNvPr>
                <p:cNvCxnSpPr>
                  <a:cxnSpLocks/>
                </p:cNvCxnSpPr>
                <p:nvPr/>
              </p:nvCxnSpPr>
              <p:spPr>
                <a:xfrm flipH="1">
                  <a:off x="122688" y="5139752"/>
                  <a:ext cx="12072323" cy="104426"/>
                </a:xfrm>
                <a:prstGeom prst="line">
                  <a:avLst/>
                </a:prstGeom>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83" name="TextBox 82">
                      <a:extLst>
                        <a:ext uri="{FF2B5EF4-FFF2-40B4-BE49-F238E27FC236}">
                          <a16:creationId xmlns:a16="http://schemas.microsoft.com/office/drawing/2014/main" id="{AF21FE58-F0DB-54EE-FBAF-556A5A0C7758}"/>
                        </a:ext>
                      </a:extLst>
                    </p:cNvPr>
                    <p:cNvSpPr txBox="1"/>
                    <p:nvPr/>
                  </p:nvSpPr>
                  <p:spPr>
                    <a:xfrm>
                      <a:off x="2269140" y="4512871"/>
                      <a:ext cx="618340" cy="68958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smtClean="0">
                                <a:solidFill>
                                  <a:schemeClr val="accent5"/>
                                </a:solidFill>
                                <a:latin typeface="Cambria Math" panose="02040503050406030204" pitchFamily="18" charset="0"/>
                              </a:rPr>
                              <m:t>1</m:t>
                            </m:r>
                          </m:oMath>
                        </m:oMathPara>
                      </a14:m>
                      <a:endParaRPr lang="en-US" sz="2400" dirty="0">
                        <a:solidFill>
                          <a:schemeClr val="accent5"/>
                        </a:solidFill>
                      </a:endParaRPr>
                    </a:p>
                  </p:txBody>
                </p:sp>
              </mc:Choice>
              <mc:Fallback xmlns="">
                <p:sp>
                  <p:nvSpPr>
                    <p:cNvPr id="83" name="TextBox 82">
                      <a:extLst>
                        <a:ext uri="{FF2B5EF4-FFF2-40B4-BE49-F238E27FC236}">
                          <a16:creationId xmlns:a16="http://schemas.microsoft.com/office/drawing/2014/main" id="{AF21FE58-F0DB-54EE-FBAF-556A5A0C7758}"/>
                        </a:ext>
                      </a:extLst>
                    </p:cNvPr>
                    <p:cNvSpPr txBox="1">
                      <a:spLocks noRot="1" noChangeAspect="1" noMove="1" noResize="1" noEditPoints="1" noAdjustHandles="1" noChangeArrowheads="1" noChangeShapeType="1" noTextEdit="1"/>
                    </p:cNvSpPr>
                    <p:nvPr/>
                  </p:nvSpPr>
                  <p:spPr>
                    <a:xfrm>
                      <a:off x="2269140" y="4512871"/>
                      <a:ext cx="618340" cy="689585"/>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4" name="TextBox 83">
                      <a:extLst>
                        <a:ext uri="{FF2B5EF4-FFF2-40B4-BE49-F238E27FC236}">
                          <a16:creationId xmlns:a16="http://schemas.microsoft.com/office/drawing/2014/main" id="{F6468FA9-860B-A69B-6D59-388C785036ED}"/>
                        </a:ext>
                      </a:extLst>
                    </p:cNvPr>
                    <p:cNvSpPr txBox="1"/>
                    <p:nvPr/>
                  </p:nvSpPr>
                  <p:spPr>
                    <a:xfrm>
                      <a:off x="3866483" y="4521639"/>
                      <a:ext cx="618340" cy="68958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smtClean="0">
                                <a:solidFill>
                                  <a:schemeClr val="accent5"/>
                                </a:solidFill>
                                <a:latin typeface="Cambria Math" panose="02040503050406030204" pitchFamily="18" charset="0"/>
                              </a:rPr>
                              <m:t>1</m:t>
                            </m:r>
                          </m:oMath>
                        </m:oMathPara>
                      </a14:m>
                      <a:endParaRPr lang="en-US" sz="2400" dirty="0">
                        <a:solidFill>
                          <a:schemeClr val="accent5"/>
                        </a:solidFill>
                      </a:endParaRPr>
                    </a:p>
                  </p:txBody>
                </p:sp>
              </mc:Choice>
              <mc:Fallback xmlns="">
                <p:sp>
                  <p:nvSpPr>
                    <p:cNvPr id="84" name="TextBox 83">
                      <a:extLst>
                        <a:ext uri="{FF2B5EF4-FFF2-40B4-BE49-F238E27FC236}">
                          <a16:creationId xmlns:a16="http://schemas.microsoft.com/office/drawing/2014/main" id="{F6468FA9-860B-A69B-6D59-388C785036ED}"/>
                        </a:ext>
                      </a:extLst>
                    </p:cNvPr>
                    <p:cNvSpPr txBox="1">
                      <a:spLocks noRot="1" noChangeAspect="1" noMove="1" noResize="1" noEditPoints="1" noAdjustHandles="1" noChangeArrowheads="1" noChangeShapeType="1" noTextEdit="1"/>
                    </p:cNvSpPr>
                    <p:nvPr/>
                  </p:nvSpPr>
                  <p:spPr>
                    <a:xfrm>
                      <a:off x="3866483" y="4521639"/>
                      <a:ext cx="618340" cy="689585"/>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5" name="TextBox 84">
                      <a:extLst>
                        <a:ext uri="{FF2B5EF4-FFF2-40B4-BE49-F238E27FC236}">
                          <a16:creationId xmlns:a16="http://schemas.microsoft.com/office/drawing/2014/main" id="{AC1E9BD3-16E0-AEDF-A461-3B4F72183784}"/>
                        </a:ext>
                      </a:extLst>
                    </p:cNvPr>
                    <p:cNvSpPr txBox="1"/>
                    <p:nvPr/>
                  </p:nvSpPr>
                  <p:spPr>
                    <a:xfrm>
                      <a:off x="5331148" y="4491659"/>
                      <a:ext cx="1514685" cy="68958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smtClean="0">
                                <a:solidFill>
                                  <a:schemeClr val="accent5"/>
                                </a:solidFill>
                                <a:latin typeface="Cambria Math" panose="02040503050406030204" pitchFamily="18" charset="0"/>
                              </a:rPr>
                              <m:t>1</m:t>
                            </m:r>
                          </m:oMath>
                        </m:oMathPara>
                      </a14:m>
                      <a:endParaRPr lang="en-US" sz="2400" dirty="0">
                        <a:solidFill>
                          <a:schemeClr val="accent5"/>
                        </a:solidFill>
                      </a:endParaRPr>
                    </a:p>
                  </p:txBody>
                </p:sp>
              </mc:Choice>
              <mc:Fallback xmlns="">
                <p:sp>
                  <p:nvSpPr>
                    <p:cNvPr id="85" name="TextBox 84">
                      <a:extLst>
                        <a:ext uri="{FF2B5EF4-FFF2-40B4-BE49-F238E27FC236}">
                          <a16:creationId xmlns:a16="http://schemas.microsoft.com/office/drawing/2014/main" id="{AC1E9BD3-16E0-AEDF-A461-3B4F72183784}"/>
                        </a:ext>
                      </a:extLst>
                    </p:cNvPr>
                    <p:cNvSpPr txBox="1">
                      <a:spLocks noRot="1" noChangeAspect="1" noMove="1" noResize="1" noEditPoints="1" noAdjustHandles="1" noChangeArrowheads="1" noChangeShapeType="1" noTextEdit="1"/>
                    </p:cNvSpPr>
                    <p:nvPr/>
                  </p:nvSpPr>
                  <p:spPr>
                    <a:xfrm>
                      <a:off x="5331148" y="4491659"/>
                      <a:ext cx="1514685" cy="689585"/>
                    </a:xfrm>
                    <a:prstGeom prst="rect">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6" name="TextBox 85">
                      <a:extLst>
                        <a:ext uri="{FF2B5EF4-FFF2-40B4-BE49-F238E27FC236}">
                          <a16:creationId xmlns:a16="http://schemas.microsoft.com/office/drawing/2014/main" id="{1CC518ED-A30E-DE99-9D8F-FA5ABAE9582D}"/>
                        </a:ext>
                      </a:extLst>
                    </p:cNvPr>
                    <p:cNvSpPr txBox="1"/>
                    <p:nvPr/>
                  </p:nvSpPr>
                  <p:spPr>
                    <a:xfrm>
                      <a:off x="7628123" y="4495835"/>
                      <a:ext cx="618340" cy="68958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smtClean="0">
                                <a:solidFill>
                                  <a:schemeClr val="accent5"/>
                                </a:solidFill>
                                <a:latin typeface="Cambria Math" panose="02040503050406030204" pitchFamily="18" charset="0"/>
                              </a:rPr>
                              <m:t>0</m:t>
                            </m:r>
                          </m:oMath>
                        </m:oMathPara>
                      </a14:m>
                      <a:endParaRPr lang="en-US" sz="2400" dirty="0">
                        <a:solidFill>
                          <a:schemeClr val="accent5"/>
                        </a:solidFill>
                      </a:endParaRPr>
                    </a:p>
                  </p:txBody>
                </p:sp>
              </mc:Choice>
              <mc:Fallback xmlns="">
                <p:sp>
                  <p:nvSpPr>
                    <p:cNvPr id="86" name="TextBox 85">
                      <a:extLst>
                        <a:ext uri="{FF2B5EF4-FFF2-40B4-BE49-F238E27FC236}">
                          <a16:creationId xmlns:a16="http://schemas.microsoft.com/office/drawing/2014/main" id="{1CC518ED-A30E-DE99-9D8F-FA5ABAE9582D}"/>
                        </a:ext>
                      </a:extLst>
                    </p:cNvPr>
                    <p:cNvSpPr txBox="1">
                      <a:spLocks noRot="1" noChangeAspect="1" noMove="1" noResize="1" noEditPoints="1" noAdjustHandles="1" noChangeArrowheads="1" noChangeShapeType="1" noTextEdit="1"/>
                    </p:cNvSpPr>
                    <p:nvPr/>
                  </p:nvSpPr>
                  <p:spPr>
                    <a:xfrm>
                      <a:off x="7628123" y="4495835"/>
                      <a:ext cx="618340" cy="689585"/>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7" name="TextBox 86">
                      <a:extLst>
                        <a:ext uri="{FF2B5EF4-FFF2-40B4-BE49-F238E27FC236}">
                          <a16:creationId xmlns:a16="http://schemas.microsoft.com/office/drawing/2014/main" id="{64B19E32-12F8-7BC0-E0C1-67F28B8BCBCB}"/>
                        </a:ext>
                      </a:extLst>
                    </p:cNvPr>
                    <p:cNvSpPr txBox="1"/>
                    <p:nvPr/>
                  </p:nvSpPr>
                  <p:spPr>
                    <a:xfrm>
                      <a:off x="9349545" y="4497666"/>
                      <a:ext cx="618340" cy="68958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smtClean="0">
                                <a:solidFill>
                                  <a:schemeClr val="accent5"/>
                                </a:solidFill>
                                <a:latin typeface="Cambria Math" panose="02040503050406030204" pitchFamily="18" charset="0"/>
                              </a:rPr>
                              <m:t>1</m:t>
                            </m:r>
                          </m:oMath>
                        </m:oMathPara>
                      </a14:m>
                      <a:endParaRPr lang="en-US" sz="2400" dirty="0">
                        <a:solidFill>
                          <a:schemeClr val="accent5"/>
                        </a:solidFill>
                      </a:endParaRPr>
                    </a:p>
                  </p:txBody>
                </p:sp>
              </mc:Choice>
              <mc:Fallback xmlns="">
                <p:sp>
                  <p:nvSpPr>
                    <p:cNvPr id="87" name="TextBox 86">
                      <a:extLst>
                        <a:ext uri="{FF2B5EF4-FFF2-40B4-BE49-F238E27FC236}">
                          <a16:creationId xmlns:a16="http://schemas.microsoft.com/office/drawing/2014/main" id="{64B19E32-12F8-7BC0-E0C1-67F28B8BCBCB}"/>
                        </a:ext>
                      </a:extLst>
                    </p:cNvPr>
                    <p:cNvSpPr txBox="1">
                      <a:spLocks noRot="1" noChangeAspect="1" noMove="1" noResize="1" noEditPoints="1" noAdjustHandles="1" noChangeArrowheads="1" noChangeShapeType="1" noTextEdit="1"/>
                    </p:cNvSpPr>
                    <p:nvPr/>
                  </p:nvSpPr>
                  <p:spPr>
                    <a:xfrm>
                      <a:off x="9349545" y="4497666"/>
                      <a:ext cx="618340" cy="689585"/>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8" name="TextBox 87">
                      <a:extLst>
                        <a:ext uri="{FF2B5EF4-FFF2-40B4-BE49-F238E27FC236}">
                          <a16:creationId xmlns:a16="http://schemas.microsoft.com/office/drawing/2014/main" id="{B460D7AA-2E65-2C39-295D-7A64B5F53DD6}"/>
                        </a:ext>
                      </a:extLst>
                    </p:cNvPr>
                    <p:cNvSpPr txBox="1"/>
                    <p:nvPr/>
                  </p:nvSpPr>
                  <p:spPr>
                    <a:xfrm>
                      <a:off x="10849922" y="4524792"/>
                      <a:ext cx="1068463" cy="68958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smtClean="0">
                                <a:solidFill>
                                  <a:schemeClr val="accent5"/>
                                </a:solidFill>
                                <a:latin typeface="Cambria Math" panose="02040503050406030204" pitchFamily="18" charset="0"/>
                              </a:rPr>
                              <m:t>0</m:t>
                            </m:r>
                          </m:oMath>
                        </m:oMathPara>
                      </a14:m>
                      <a:endParaRPr lang="en-US" sz="2400" dirty="0">
                        <a:solidFill>
                          <a:schemeClr val="accent5"/>
                        </a:solidFill>
                      </a:endParaRPr>
                    </a:p>
                  </p:txBody>
                </p:sp>
              </mc:Choice>
              <mc:Fallback xmlns="">
                <p:sp>
                  <p:nvSpPr>
                    <p:cNvPr id="88" name="TextBox 87">
                      <a:extLst>
                        <a:ext uri="{FF2B5EF4-FFF2-40B4-BE49-F238E27FC236}">
                          <a16:creationId xmlns:a16="http://schemas.microsoft.com/office/drawing/2014/main" id="{B460D7AA-2E65-2C39-295D-7A64B5F53DD6}"/>
                        </a:ext>
                      </a:extLst>
                    </p:cNvPr>
                    <p:cNvSpPr txBox="1">
                      <a:spLocks noRot="1" noChangeAspect="1" noMove="1" noResize="1" noEditPoints="1" noAdjustHandles="1" noChangeArrowheads="1" noChangeShapeType="1" noTextEdit="1"/>
                    </p:cNvSpPr>
                    <p:nvPr/>
                  </p:nvSpPr>
                  <p:spPr>
                    <a:xfrm>
                      <a:off x="10849922" y="4524792"/>
                      <a:ext cx="1068463" cy="689585"/>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9" name="TextBox 88">
                      <a:extLst>
                        <a:ext uri="{FF2B5EF4-FFF2-40B4-BE49-F238E27FC236}">
                          <a16:creationId xmlns:a16="http://schemas.microsoft.com/office/drawing/2014/main" id="{4D6BDBA0-C095-54A3-8EAB-BCF2C990A038}"/>
                        </a:ext>
                      </a:extLst>
                    </p:cNvPr>
                    <p:cNvSpPr txBox="1"/>
                    <p:nvPr/>
                  </p:nvSpPr>
                  <p:spPr>
                    <a:xfrm>
                      <a:off x="1981859" y="6082622"/>
                      <a:ext cx="1020877" cy="68958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smtClean="0">
                                <a:solidFill>
                                  <a:schemeClr val="accent5"/>
                                </a:solidFill>
                                <a:latin typeface="Cambria Math" panose="02040503050406030204" pitchFamily="18" charset="0"/>
                              </a:rPr>
                              <m:t>0</m:t>
                            </m:r>
                          </m:oMath>
                        </m:oMathPara>
                      </a14:m>
                      <a:endParaRPr lang="en-US" sz="2400" dirty="0">
                        <a:solidFill>
                          <a:schemeClr val="accent5"/>
                        </a:solidFill>
                      </a:endParaRPr>
                    </a:p>
                  </p:txBody>
                </p:sp>
              </mc:Choice>
              <mc:Fallback xmlns="">
                <p:sp>
                  <p:nvSpPr>
                    <p:cNvPr id="89" name="TextBox 88">
                      <a:extLst>
                        <a:ext uri="{FF2B5EF4-FFF2-40B4-BE49-F238E27FC236}">
                          <a16:creationId xmlns:a16="http://schemas.microsoft.com/office/drawing/2014/main" id="{4D6BDBA0-C095-54A3-8EAB-BCF2C990A038}"/>
                        </a:ext>
                      </a:extLst>
                    </p:cNvPr>
                    <p:cNvSpPr txBox="1">
                      <a:spLocks noRot="1" noChangeAspect="1" noMove="1" noResize="1" noEditPoints="1" noAdjustHandles="1" noChangeArrowheads="1" noChangeShapeType="1" noTextEdit="1"/>
                    </p:cNvSpPr>
                    <p:nvPr/>
                  </p:nvSpPr>
                  <p:spPr>
                    <a:xfrm>
                      <a:off x="1981859" y="6082622"/>
                      <a:ext cx="1020877" cy="689585"/>
                    </a:xfrm>
                    <a:prstGeom prst="rect">
                      <a:avLst/>
                    </a:prstGeom>
                    <a:blipFill>
                      <a:blip r:embed="rId2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0" name="TextBox 89">
                      <a:extLst>
                        <a:ext uri="{FF2B5EF4-FFF2-40B4-BE49-F238E27FC236}">
                          <a16:creationId xmlns:a16="http://schemas.microsoft.com/office/drawing/2014/main" id="{A5909E4E-7DF8-E59B-F586-6271C5700AB9}"/>
                        </a:ext>
                      </a:extLst>
                    </p:cNvPr>
                    <p:cNvSpPr txBox="1"/>
                    <p:nvPr/>
                  </p:nvSpPr>
                  <p:spPr>
                    <a:xfrm>
                      <a:off x="3681383" y="6082622"/>
                      <a:ext cx="1379168" cy="68958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smtClean="0">
                                <a:solidFill>
                                  <a:schemeClr val="accent5"/>
                                </a:solidFill>
                                <a:latin typeface="Cambria Math" panose="02040503050406030204" pitchFamily="18" charset="0"/>
                              </a:rPr>
                              <m:t>0</m:t>
                            </m:r>
                          </m:oMath>
                        </m:oMathPara>
                      </a14:m>
                      <a:endParaRPr lang="en-US" sz="2400" dirty="0">
                        <a:solidFill>
                          <a:schemeClr val="accent5"/>
                        </a:solidFill>
                      </a:endParaRPr>
                    </a:p>
                  </p:txBody>
                </p:sp>
              </mc:Choice>
              <mc:Fallback xmlns="">
                <p:sp>
                  <p:nvSpPr>
                    <p:cNvPr id="90" name="TextBox 89">
                      <a:extLst>
                        <a:ext uri="{FF2B5EF4-FFF2-40B4-BE49-F238E27FC236}">
                          <a16:creationId xmlns:a16="http://schemas.microsoft.com/office/drawing/2014/main" id="{A5909E4E-7DF8-E59B-F586-6271C5700AB9}"/>
                        </a:ext>
                      </a:extLst>
                    </p:cNvPr>
                    <p:cNvSpPr txBox="1">
                      <a:spLocks noRot="1" noChangeAspect="1" noMove="1" noResize="1" noEditPoints="1" noAdjustHandles="1" noChangeArrowheads="1" noChangeShapeType="1" noTextEdit="1"/>
                    </p:cNvSpPr>
                    <p:nvPr/>
                  </p:nvSpPr>
                  <p:spPr>
                    <a:xfrm>
                      <a:off x="3681383" y="6082622"/>
                      <a:ext cx="1379168" cy="689585"/>
                    </a:xfrm>
                    <a:prstGeom prst="rect">
                      <a:avLst/>
                    </a:prstGeom>
                    <a:blipFill>
                      <a:blip r:embed="rId2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1" name="TextBox 90">
                      <a:extLst>
                        <a:ext uri="{FF2B5EF4-FFF2-40B4-BE49-F238E27FC236}">
                          <a16:creationId xmlns:a16="http://schemas.microsoft.com/office/drawing/2014/main" id="{E07AA31B-96EA-ADBB-7DEF-19B57232F53E}"/>
                        </a:ext>
                      </a:extLst>
                    </p:cNvPr>
                    <p:cNvSpPr txBox="1"/>
                    <p:nvPr/>
                  </p:nvSpPr>
                  <p:spPr>
                    <a:xfrm>
                      <a:off x="5610123" y="6103529"/>
                      <a:ext cx="1009843" cy="68958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smtClean="0">
                                <a:solidFill>
                                  <a:schemeClr val="accent5"/>
                                </a:solidFill>
                                <a:latin typeface="Cambria Math" panose="02040503050406030204" pitchFamily="18" charset="0"/>
                              </a:rPr>
                              <m:t>0</m:t>
                            </m:r>
                          </m:oMath>
                        </m:oMathPara>
                      </a14:m>
                      <a:endParaRPr lang="en-US" sz="2400" dirty="0">
                        <a:solidFill>
                          <a:schemeClr val="accent5"/>
                        </a:solidFill>
                      </a:endParaRPr>
                    </a:p>
                  </p:txBody>
                </p:sp>
              </mc:Choice>
              <mc:Fallback xmlns="">
                <p:sp>
                  <p:nvSpPr>
                    <p:cNvPr id="91" name="TextBox 90">
                      <a:extLst>
                        <a:ext uri="{FF2B5EF4-FFF2-40B4-BE49-F238E27FC236}">
                          <a16:creationId xmlns:a16="http://schemas.microsoft.com/office/drawing/2014/main" id="{E07AA31B-96EA-ADBB-7DEF-19B57232F53E}"/>
                        </a:ext>
                      </a:extLst>
                    </p:cNvPr>
                    <p:cNvSpPr txBox="1">
                      <a:spLocks noRot="1" noChangeAspect="1" noMove="1" noResize="1" noEditPoints="1" noAdjustHandles="1" noChangeArrowheads="1" noChangeShapeType="1" noTextEdit="1"/>
                    </p:cNvSpPr>
                    <p:nvPr/>
                  </p:nvSpPr>
                  <p:spPr>
                    <a:xfrm>
                      <a:off x="5610123" y="6103529"/>
                      <a:ext cx="1009843" cy="689585"/>
                    </a:xfrm>
                    <a:prstGeom prst="rect">
                      <a:avLst/>
                    </a:prstGeom>
                    <a:blipFill>
                      <a:blip r:embed="rId2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2" name="TextBox 91">
                      <a:extLst>
                        <a:ext uri="{FF2B5EF4-FFF2-40B4-BE49-F238E27FC236}">
                          <a16:creationId xmlns:a16="http://schemas.microsoft.com/office/drawing/2014/main" id="{91EF7509-0D81-26E6-1EC5-710281F22846}"/>
                        </a:ext>
                      </a:extLst>
                    </p:cNvPr>
                    <p:cNvSpPr txBox="1"/>
                    <p:nvPr/>
                  </p:nvSpPr>
                  <p:spPr>
                    <a:xfrm>
                      <a:off x="7435553" y="6103529"/>
                      <a:ext cx="892707" cy="68958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smtClean="0">
                                <a:solidFill>
                                  <a:schemeClr val="accent5"/>
                                </a:solidFill>
                                <a:latin typeface="Cambria Math" panose="02040503050406030204" pitchFamily="18" charset="0"/>
                              </a:rPr>
                              <m:t>0</m:t>
                            </m:r>
                          </m:oMath>
                        </m:oMathPara>
                      </a14:m>
                      <a:endParaRPr lang="en-US" sz="2400" dirty="0">
                        <a:solidFill>
                          <a:schemeClr val="accent5"/>
                        </a:solidFill>
                      </a:endParaRPr>
                    </a:p>
                  </p:txBody>
                </p:sp>
              </mc:Choice>
              <mc:Fallback xmlns="">
                <p:sp>
                  <p:nvSpPr>
                    <p:cNvPr id="92" name="TextBox 91">
                      <a:extLst>
                        <a:ext uri="{FF2B5EF4-FFF2-40B4-BE49-F238E27FC236}">
                          <a16:creationId xmlns:a16="http://schemas.microsoft.com/office/drawing/2014/main" id="{91EF7509-0D81-26E6-1EC5-710281F22846}"/>
                        </a:ext>
                      </a:extLst>
                    </p:cNvPr>
                    <p:cNvSpPr txBox="1">
                      <a:spLocks noRot="1" noChangeAspect="1" noMove="1" noResize="1" noEditPoints="1" noAdjustHandles="1" noChangeArrowheads="1" noChangeShapeType="1" noTextEdit="1"/>
                    </p:cNvSpPr>
                    <p:nvPr/>
                  </p:nvSpPr>
                  <p:spPr>
                    <a:xfrm>
                      <a:off x="7435553" y="6103529"/>
                      <a:ext cx="892707" cy="689585"/>
                    </a:xfrm>
                    <a:prstGeom prst="rect">
                      <a:avLst/>
                    </a:prstGeom>
                    <a:blipFill>
                      <a:blip r:embed="rId2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3" name="TextBox 92">
                      <a:extLst>
                        <a:ext uri="{FF2B5EF4-FFF2-40B4-BE49-F238E27FC236}">
                          <a16:creationId xmlns:a16="http://schemas.microsoft.com/office/drawing/2014/main" id="{45F04062-7C91-9E69-F8A1-F3E520C2AD1F}"/>
                        </a:ext>
                      </a:extLst>
                    </p:cNvPr>
                    <p:cNvSpPr txBox="1"/>
                    <p:nvPr/>
                  </p:nvSpPr>
                  <p:spPr>
                    <a:xfrm>
                      <a:off x="8958862" y="6141735"/>
                      <a:ext cx="1431366" cy="68958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smtClean="0">
                                <a:solidFill>
                                  <a:schemeClr val="accent5"/>
                                </a:solidFill>
                                <a:latin typeface="Cambria Math" panose="02040503050406030204" pitchFamily="18" charset="0"/>
                              </a:rPr>
                              <m:t>0</m:t>
                            </m:r>
                          </m:oMath>
                        </m:oMathPara>
                      </a14:m>
                      <a:endParaRPr lang="en-US" sz="2400" dirty="0">
                        <a:solidFill>
                          <a:schemeClr val="accent5"/>
                        </a:solidFill>
                      </a:endParaRPr>
                    </a:p>
                  </p:txBody>
                </p:sp>
              </mc:Choice>
              <mc:Fallback xmlns="">
                <p:sp>
                  <p:nvSpPr>
                    <p:cNvPr id="93" name="TextBox 92">
                      <a:extLst>
                        <a:ext uri="{FF2B5EF4-FFF2-40B4-BE49-F238E27FC236}">
                          <a16:creationId xmlns:a16="http://schemas.microsoft.com/office/drawing/2014/main" id="{45F04062-7C91-9E69-F8A1-F3E520C2AD1F}"/>
                        </a:ext>
                      </a:extLst>
                    </p:cNvPr>
                    <p:cNvSpPr txBox="1">
                      <a:spLocks noRot="1" noChangeAspect="1" noMove="1" noResize="1" noEditPoints="1" noAdjustHandles="1" noChangeArrowheads="1" noChangeShapeType="1" noTextEdit="1"/>
                    </p:cNvSpPr>
                    <p:nvPr/>
                  </p:nvSpPr>
                  <p:spPr>
                    <a:xfrm>
                      <a:off x="8958862" y="6141735"/>
                      <a:ext cx="1431366" cy="689585"/>
                    </a:xfrm>
                    <a:prstGeom prst="rect">
                      <a:avLst/>
                    </a:prstGeom>
                    <a:blipFill>
                      <a:blip r:embed="rId2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4" name="TextBox 93">
                      <a:extLst>
                        <a:ext uri="{FF2B5EF4-FFF2-40B4-BE49-F238E27FC236}">
                          <a16:creationId xmlns:a16="http://schemas.microsoft.com/office/drawing/2014/main" id="{33E2DDD3-1704-F7DF-E329-EEFD3D1F1971}"/>
                        </a:ext>
                      </a:extLst>
                    </p:cNvPr>
                    <p:cNvSpPr txBox="1"/>
                    <p:nvPr/>
                  </p:nvSpPr>
                  <p:spPr>
                    <a:xfrm>
                      <a:off x="10836137" y="6082622"/>
                      <a:ext cx="1130565" cy="68958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smtClean="0">
                                <a:solidFill>
                                  <a:schemeClr val="accent5"/>
                                </a:solidFill>
                                <a:latin typeface="Cambria Math" panose="02040503050406030204" pitchFamily="18" charset="0"/>
                              </a:rPr>
                              <m:t>1</m:t>
                            </m:r>
                          </m:oMath>
                        </m:oMathPara>
                      </a14:m>
                      <a:endParaRPr lang="en-US" sz="2400" dirty="0">
                        <a:solidFill>
                          <a:schemeClr val="accent5"/>
                        </a:solidFill>
                      </a:endParaRPr>
                    </a:p>
                  </p:txBody>
                </p:sp>
              </mc:Choice>
              <mc:Fallback xmlns="">
                <p:sp>
                  <p:nvSpPr>
                    <p:cNvPr id="94" name="TextBox 93">
                      <a:extLst>
                        <a:ext uri="{FF2B5EF4-FFF2-40B4-BE49-F238E27FC236}">
                          <a16:creationId xmlns:a16="http://schemas.microsoft.com/office/drawing/2014/main" id="{33E2DDD3-1704-F7DF-E329-EEFD3D1F1971}"/>
                        </a:ext>
                      </a:extLst>
                    </p:cNvPr>
                    <p:cNvSpPr txBox="1">
                      <a:spLocks noRot="1" noChangeAspect="1" noMove="1" noResize="1" noEditPoints="1" noAdjustHandles="1" noChangeArrowheads="1" noChangeShapeType="1" noTextEdit="1"/>
                    </p:cNvSpPr>
                    <p:nvPr/>
                  </p:nvSpPr>
                  <p:spPr>
                    <a:xfrm>
                      <a:off x="10836137" y="6082622"/>
                      <a:ext cx="1130565" cy="689585"/>
                    </a:xfrm>
                    <a:prstGeom prst="rect">
                      <a:avLst/>
                    </a:prstGeom>
                    <a:blipFill>
                      <a:blip r:embed="rId26"/>
                      <a:stretch>
                        <a:fillRect/>
                      </a:stretch>
                    </a:blipFill>
                  </p:spPr>
                  <p:txBody>
                    <a:bodyPr/>
                    <a:lstStyle/>
                    <a:p>
                      <a:r>
                        <a:rPr lang="en-US">
                          <a:noFill/>
                        </a:rPr>
                        <a:t> </a:t>
                      </a:r>
                    </a:p>
                  </p:txBody>
                </p:sp>
              </mc:Fallback>
            </mc:AlternateContent>
            <p:cxnSp>
              <p:nvCxnSpPr>
                <p:cNvPr id="95" name="Straight Connector 94">
                  <a:extLst>
                    <a:ext uri="{FF2B5EF4-FFF2-40B4-BE49-F238E27FC236}">
                      <a16:creationId xmlns:a16="http://schemas.microsoft.com/office/drawing/2014/main" id="{99E25DC5-E390-5D6C-5BBB-850BB56B8A48}"/>
                    </a:ext>
                  </a:extLst>
                </p:cNvPr>
                <p:cNvCxnSpPr>
                  <a:cxnSpLocks/>
                </p:cNvCxnSpPr>
                <p:nvPr/>
              </p:nvCxnSpPr>
              <p:spPr>
                <a:xfrm flipV="1">
                  <a:off x="3336099" y="2205467"/>
                  <a:ext cx="0" cy="4712523"/>
                </a:xfrm>
                <a:prstGeom prst="line">
                  <a:avLst/>
                </a:prstGeom>
              </p:spPr>
              <p:style>
                <a:lnRef idx="2">
                  <a:schemeClr val="accent1"/>
                </a:lnRef>
                <a:fillRef idx="0">
                  <a:schemeClr val="accent1"/>
                </a:fillRef>
                <a:effectRef idx="1">
                  <a:schemeClr val="accent1"/>
                </a:effectRef>
                <a:fontRef idx="minor">
                  <a:schemeClr val="tx1"/>
                </a:fontRef>
              </p:style>
            </p:cxnSp>
            <p:cxnSp>
              <p:nvCxnSpPr>
                <p:cNvPr id="96" name="Straight Connector 95">
                  <a:extLst>
                    <a:ext uri="{FF2B5EF4-FFF2-40B4-BE49-F238E27FC236}">
                      <a16:creationId xmlns:a16="http://schemas.microsoft.com/office/drawing/2014/main" id="{F993F745-68C5-CFC8-67CC-AE8B09EBD7AF}"/>
                    </a:ext>
                  </a:extLst>
                </p:cNvPr>
                <p:cNvCxnSpPr>
                  <a:cxnSpLocks/>
                </p:cNvCxnSpPr>
                <p:nvPr/>
              </p:nvCxnSpPr>
              <p:spPr>
                <a:xfrm flipV="1">
                  <a:off x="5117275" y="2205467"/>
                  <a:ext cx="0" cy="4648995"/>
                </a:xfrm>
                <a:prstGeom prst="line">
                  <a:avLst/>
                </a:prstGeom>
              </p:spPr>
              <p:style>
                <a:lnRef idx="2">
                  <a:schemeClr val="accent1"/>
                </a:lnRef>
                <a:fillRef idx="0">
                  <a:schemeClr val="accent1"/>
                </a:fillRef>
                <a:effectRef idx="1">
                  <a:schemeClr val="accent1"/>
                </a:effectRef>
                <a:fontRef idx="minor">
                  <a:schemeClr val="tx1"/>
                </a:fontRef>
              </p:style>
            </p:cxnSp>
            <p:cxnSp>
              <p:nvCxnSpPr>
                <p:cNvPr id="97" name="Straight Connector 96">
                  <a:extLst>
                    <a:ext uri="{FF2B5EF4-FFF2-40B4-BE49-F238E27FC236}">
                      <a16:creationId xmlns:a16="http://schemas.microsoft.com/office/drawing/2014/main" id="{2E2A8B12-6CE2-B343-A4A7-87F29B56617C}"/>
                    </a:ext>
                  </a:extLst>
                </p:cNvPr>
                <p:cNvCxnSpPr>
                  <a:cxnSpLocks/>
                </p:cNvCxnSpPr>
                <p:nvPr/>
              </p:nvCxnSpPr>
              <p:spPr>
                <a:xfrm flipV="1">
                  <a:off x="6984175" y="2205467"/>
                  <a:ext cx="0" cy="4640949"/>
                </a:xfrm>
                <a:prstGeom prst="line">
                  <a:avLst/>
                </a:prstGeom>
              </p:spPr>
              <p:style>
                <a:lnRef idx="2">
                  <a:schemeClr val="accent1"/>
                </a:lnRef>
                <a:fillRef idx="0">
                  <a:schemeClr val="accent1"/>
                </a:fillRef>
                <a:effectRef idx="1">
                  <a:schemeClr val="accent1"/>
                </a:effectRef>
                <a:fontRef idx="minor">
                  <a:schemeClr val="tx1"/>
                </a:fontRef>
              </p:style>
            </p:cxnSp>
            <p:cxnSp>
              <p:nvCxnSpPr>
                <p:cNvPr id="98" name="Straight Connector 97">
                  <a:extLst>
                    <a:ext uri="{FF2B5EF4-FFF2-40B4-BE49-F238E27FC236}">
                      <a16:creationId xmlns:a16="http://schemas.microsoft.com/office/drawing/2014/main" id="{1D487ECB-EEA6-FFA7-FE55-097321686C12}"/>
                    </a:ext>
                  </a:extLst>
                </p:cNvPr>
                <p:cNvCxnSpPr>
                  <a:cxnSpLocks/>
                </p:cNvCxnSpPr>
                <p:nvPr/>
              </p:nvCxnSpPr>
              <p:spPr>
                <a:xfrm flipV="1">
                  <a:off x="8779639" y="2205467"/>
                  <a:ext cx="0" cy="4656040"/>
                </a:xfrm>
                <a:prstGeom prst="line">
                  <a:avLst/>
                </a:prstGeom>
              </p:spPr>
              <p:style>
                <a:lnRef idx="2">
                  <a:schemeClr val="accent1"/>
                </a:lnRef>
                <a:fillRef idx="0">
                  <a:schemeClr val="accent1"/>
                </a:fillRef>
                <a:effectRef idx="1">
                  <a:schemeClr val="accent1"/>
                </a:effectRef>
                <a:fontRef idx="minor">
                  <a:schemeClr val="tx1"/>
                </a:fontRef>
              </p:style>
            </p:cxnSp>
            <p:cxnSp>
              <p:nvCxnSpPr>
                <p:cNvPr id="99" name="Straight Connector 98">
                  <a:extLst>
                    <a:ext uri="{FF2B5EF4-FFF2-40B4-BE49-F238E27FC236}">
                      <a16:creationId xmlns:a16="http://schemas.microsoft.com/office/drawing/2014/main" id="{E952FBA1-2B78-FAF2-4105-9EC8E6A92476}"/>
                    </a:ext>
                  </a:extLst>
                </p:cNvPr>
                <p:cNvCxnSpPr>
                  <a:cxnSpLocks/>
                </p:cNvCxnSpPr>
                <p:nvPr/>
              </p:nvCxnSpPr>
              <p:spPr>
                <a:xfrm flipV="1">
                  <a:off x="10489376" y="2205467"/>
                  <a:ext cx="0" cy="4652533"/>
                </a:xfrm>
                <a:prstGeom prst="line">
                  <a:avLst/>
                </a:prstGeom>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00" name="TextBox 99">
                      <a:extLst>
                        <a:ext uri="{FF2B5EF4-FFF2-40B4-BE49-F238E27FC236}">
                          <a16:creationId xmlns:a16="http://schemas.microsoft.com/office/drawing/2014/main" id="{6C3CBF8D-3DB8-7DEF-2050-BD3ED87AC588}"/>
                        </a:ext>
                      </a:extLst>
                    </p:cNvPr>
                    <p:cNvSpPr txBox="1"/>
                    <p:nvPr/>
                  </p:nvSpPr>
                  <p:spPr>
                    <a:xfrm>
                      <a:off x="2218573" y="2171230"/>
                      <a:ext cx="883977" cy="68958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i="1" dirty="0" smtClean="0">
                                <a:solidFill>
                                  <a:schemeClr val="accent5"/>
                                </a:solidFill>
                                <a:latin typeface="Cambria Math" panose="02040503050406030204" pitchFamily="18" charset="0"/>
                              </a:rPr>
                              <m:t>1</m:t>
                            </m:r>
                          </m:oMath>
                        </m:oMathPara>
                      </a14:m>
                      <a:endParaRPr lang="en-US" sz="2400" dirty="0">
                        <a:solidFill>
                          <a:schemeClr val="accent5"/>
                        </a:solidFill>
                      </a:endParaRPr>
                    </a:p>
                  </p:txBody>
                </p:sp>
              </mc:Choice>
              <mc:Fallback xmlns="">
                <p:sp>
                  <p:nvSpPr>
                    <p:cNvPr id="100" name="TextBox 99">
                      <a:extLst>
                        <a:ext uri="{FF2B5EF4-FFF2-40B4-BE49-F238E27FC236}">
                          <a16:creationId xmlns:a16="http://schemas.microsoft.com/office/drawing/2014/main" id="{6C3CBF8D-3DB8-7DEF-2050-BD3ED87AC588}"/>
                        </a:ext>
                      </a:extLst>
                    </p:cNvPr>
                    <p:cNvSpPr txBox="1">
                      <a:spLocks noRot="1" noChangeAspect="1" noMove="1" noResize="1" noEditPoints="1" noAdjustHandles="1" noChangeArrowheads="1" noChangeShapeType="1" noTextEdit="1"/>
                    </p:cNvSpPr>
                    <p:nvPr/>
                  </p:nvSpPr>
                  <p:spPr>
                    <a:xfrm>
                      <a:off x="2218573" y="2171230"/>
                      <a:ext cx="883977" cy="689585"/>
                    </a:xfrm>
                    <a:prstGeom prst="rect">
                      <a:avLst/>
                    </a:prstGeom>
                    <a:blipFill>
                      <a:blip r:embed="rId2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1" name="TextBox 100">
                      <a:extLst>
                        <a:ext uri="{FF2B5EF4-FFF2-40B4-BE49-F238E27FC236}">
                          <a16:creationId xmlns:a16="http://schemas.microsoft.com/office/drawing/2014/main" id="{FA1FB036-BB68-9B72-E632-77E5E6C105D3}"/>
                        </a:ext>
                      </a:extLst>
                    </p:cNvPr>
                    <p:cNvSpPr txBox="1"/>
                    <p:nvPr/>
                  </p:nvSpPr>
                  <p:spPr>
                    <a:xfrm>
                      <a:off x="3844100" y="2214243"/>
                      <a:ext cx="836612" cy="68958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dirty="0" smtClean="0">
                                <a:solidFill>
                                  <a:schemeClr val="accent5"/>
                                </a:solidFill>
                                <a:latin typeface="Cambria Math" panose="02040503050406030204" pitchFamily="18" charset="0"/>
                              </a:rPr>
                              <m:t>2</m:t>
                            </m:r>
                          </m:oMath>
                        </m:oMathPara>
                      </a14:m>
                      <a:endParaRPr lang="en-US" sz="2400" dirty="0">
                        <a:solidFill>
                          <a:schemeClr val="accent5"/>
                        </a:solidFill>
                      </a:endParaRPr>
                    </a:p>
                  </p:txBody>
                </p:sp>
              </mc:Choice>
              <mc:Fallback xmlns="">
                <p:sp>
                  <p:nvSpPr>
                    <p:cNvPr id="101" name="TextBox 100">
                      <a:extLst>
                        <a:ext uri="{FF2B5EF4-FFF2-40B4-BE49-F238E27FC236}">
                          <a16:creationId xmlns:a16="http://schemas.microsoft.com/office/drawing/2014/main" id="{FA1FB036-BB68-9B72-E632-77E5E6C105D3}"/>
                        </a:ext>
                      </a:extLst>
                    </p:cNvPr>
                    <p:cNvSpPr txBox="1">
                      <a:spLocks noRot="1" noChangeAspect="1" noMove="1" noResize="1" noEditPoints="1" noAdjustHandles="1" noChangeArrowheads="1" noChangeShapeType="1" noTextEdit="1"/>
                    </p:cNvSpPr>
                    <p:nvPr/>
                  </p:nvSpPr>
                  <p:spPr>
                    <a:xfrm>
                      <a:off x="3844100" y="2214243"/>
                      <a:ext cx="836612" cy="689585"/>
                    </a:xfrm>
                    <a:prstGeom prst="rect">
                      <a:avLst/>
                    </a:prstGeom>
                    <a:blipFill>
                      <a:blip r:embed="rId2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2" name="TextBox 101">
                      <a:extLst>
                        <a:ext uri="{FF2B5EF4-FFF2-40B4-BE49-F238E27FC236}">
                          <a16:creationId xmlns:a16="http://schemas.microsoft.com/office/drawing/2014/main" id="{EA95458C-4F60-4817-8BD7-DA7D0C262722}"/>
                        </a:ext>
                      </a:extLst>
                    </p:cNvPr>
                    <p:cNvSpPr txBox="1"/>
                    <p:nvPr/>
                  </p:nvSpPr>
                  <p:spPr>
                    <a:xfrm>
                      <a:off x="467726" y="2765282"/>
                      <a:ext cx="1020878" cy="59764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𝑖</m:t>
                            </m:r>
                          </m:oMath>
                        </m:oMathPara>
                      </a14:m>
                      <a:endParaRPr lang="en-US" sz="2000" dirty="0"/>
                    </a:p>
                  </p:txBody>
                </p:sp>
              </mc:Choice>
              <mc:Fallback xmlns="">
                <p:sp>
                  <p:nvSpPr>
                    <p:cNvPr id="102" name="TextBox 101">
                      <a:extLst>
                        <a:ext uri="{FF2B5EF4-FFF2-40B4-BE49-F238E27FC236}">
                          <a16:creationId xmlns:a16="http://schemas.microsoft.com/office/drawing/2014/main" id="{EA95458C-4F60-4817-8BD7-DA7D0C262722}"/>
                        </a:ext>
                      </a:extLst>
                    </p:cNvPr>
                    <p:cNvSpPr txBox="1">
                      <a:spLocks noRot="1" noChangeAspect="1" noMove="1" noResize="1" noEditPoints="1" noAdjustHandles="1" noChangeArrowheads="1" noChangeShapeType="1" noTextEdit="1"/>
                    </p:cNvSpPr>
                    <p:nvPr/>
                  </p:nvSpPr>
                  <p:spPr>
                    <a:xfrm>
                      <a:off x="467726" y="2765282"/>
                      <a:ext cx="1020878" cy="597641"/>
                    </a:xfrm>
                    <a:prstGeom prst="rect">
                      <a:avLst/>
                    </a:prstGeom>
                    <a:blipFill>
                      <a:blip r:embed="rId2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3" name="TextBox 102">
                      <a:extLst>
                        <a:ext uri="{FF2B5EF4-FFF2-40B4-BE49-F238E27FC236}">
                          <a16:creationId xmlns:a16="http://schemas.microsoft.com/office/drawing/2014/main" id="{C79E9924-7B3C-F15C-BCC5-D7452EB4F5B3}"/>
                        </a:ext>
                      </a:extLst>
                    </p:cNvPr>
                    <p:cNvSpPr txBox="1"/>
                    <p:nvPr/>
                  </p:nvSpPr>
                  <p:spPr>
                    <a:xfrm>
                      <a:off x="5707261" y="2205464"/>
                      <a:ext cx="836612" cy="68958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dirty="0" smtClean="0">
                                <a:solidFill>
                                  <a:schemeClr val="accent5"/>
                                </a:solidFill>
                                <a:latin typeface="Cambria Math" panose="02040503050406030204" pitchFamily="18" charset="0"/>
                              </a:rPr>
                              <m:t>3</m:t>
                            </m:r>
                          </m:oMath>
                        </m:oMathPara>
                      </a14:m>
                      <a:endParaRPr lang="en-US" sz="2400" dirty="0">
                        <a:solidFill>
                          <a:schemeClr val="accent5"/>
                        </a:solidFill>
                      </a:endParaRPr>
                    </a:p>
                  </p:txBody>
                </p:sp>
              </mc:Choice>
              <mc:Fallback xmlns="">
                <p:sp>
                  <p:nvSpPr>
                    <p:cNvPr id="103" name="TextBox 102">
                      <a:extLst>
                        <a:ext uri="{FF2B5EF4-FFF2-40B4-BE49-F238E27FC236}">
                          <a16:creationId xmlns:a16="http://schemas.microsoft.com/office/drawing/2014/main" id="{C79E9924-7B3C-F15C-BCC5-D7452EB4F5B3}"/>
                        </a:ext>
                      </a:extLst>
                    </p:cNvPr>
                    <p:cNvSpPr txBox="1">
                      <a:spLocks noRot="1" noChangeAspect="1" noMove="1" noResize="1" noEditPoints="1" noAdjustHandles="1" noChangeArrowheads="1" noChangeShapeType="1" noTextEdit="1"/>
                    </p:cNvSpPr>
                    <p:nvPr/>
                  </p:nvSpPr>
                  <p:spPr>
                    <a:xfrm>
                      <a:off x="5707261" y="2205464"/>
                      <a:ext cx="836612" cy="689585"/>
                    </a:xfrm>
                    <a:prstGeom prst="rect">
                      <a:avLst/>
                    </a:prstGeom>
                    <a:blipFill>
                      <a:blip r:embed="rId3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4" name="TextBox 103">
                      <a:extLst>
                        <a:ext uri="{FF2B5EF4-FFF2-40B4-BE49-F238E27FC236}">
                          <a16:creationId xmlns:a16="http://schemas.microsoft.com/office/drawing/2014/main" id="{6CC95C66-DE2C-D3C6-4244-812F77219EFB}"/>
                        </a:ext>
                      </a:extLst>
                    </p:cNvPr>
                    <p:cNvSpPr txBox="1"/>
                    <p:nvPr/>
                  </p:nvSpPr>
                  <p:spPr>
                    <a:xfrm>
                      <a:off x="7387428" y="2187881"/>
                      <a:ext cx="836612" cy="68958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dirty="0" smtClean="0">
                                <a:solidFill>
                                  <a:schemeClr val="accent5"/>
                                </a:solidFill>
                                <a:latin typeface="Cambria Math" panose="02040503050406030204" pitchFamily="18" charset="0"/>
                              </a:rPr>
                              <m:t>4</m:t>
                            </m:r>
                          </m:oMath>
                        </m:oMathPara>
                      </a14:m>
                      <a:endParaRPr lang="en-US" sz="2400" dirty="0">
                        <a:solidFill>
                          <a:schemeClr val="accent5"/>
                        </a:solidFill>
                      </a:endParaRPr>
                    </a:p>
                  </p:txBody>
                </p:sp>
              </mc:Choice>
              <mc:Fallback xmlns="">
                <p:sp>
                  <p:nvSpPr>
                    <p:cNvPr id="104" name="TextBox 103">
                      <a:extLst>
                        <a:ext uri="{FF2B5EF4-FFF2-40B4-BE49-F238E27FC236}">
                          <a16:creationId xmlns:a16="http://schemas.microsoft.com/office/drawing/2014/main" id="{6CC95C66-DE2C-D3C6-4244-812F77219EFB}"/>
                        </a:ext>
                      </a:extLst>
                    </p:cNvPr>
                    <p:cNvSpPr txBox="1">
                      <a:spLocks noRot="1" noChangeAspect="1" noMove="1" noResize="1" noEditPoints="1" noAdjustHandles="1" noChangeArrowheads="1" noChangeShapeType="1" noTextEdit="1"/>
                    </p:cNvSpPr>
                    <p:nvPr/>
                  </p:nvSpPr>
                  <p:spPr>
                    <a:xfrm>
                      <a:off x="7387428" y="2187881"/>
                      <a:ext cx="836612" cy="689585"/>
                    </a:xfrm>
                    <a:prstGeom prst="rect">
                      <a:avLst/>
                    </a:prstGeom>
                    <a:blipFill>
                      <a:blip r:embed="rId3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5" name="TextBox 104">
                      <a:extLst>
                        <a:ext uri="{FF2B5EF4-FFF2-40B4-BE49-F238E27FC236}">
                          <a16:creationId xmlns:a16="http://schemas.microsoft.com/office/drawing/2014/main" id="{A54E6034-EB72-0A69-31F4-FF2ADFA3B5A5}"/>
                        </a:ext>
                      </a:extLst>
                    </p:cNvPr>
                    <p:cNvSpPr txBox="1"/>
                    <p:nvPr/>
                  </p:nvSpPr>
                  <p:spPr>
                    <a:xfrm>
                      <a:off x="9182890" y="2171230"/>
                      <a:ext cx="836612" cy="68958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dirty="0" smtClean="0">
                                <a:solidFill>
                                  <a:schemeClr val="accent5"/>
                                </a:solidFill>
                                <a:latin typeface="Cambria Math" panose="02040503050406030204" pitchFamily="18" charset="0"/>
                              </a:rPr>
                              <m:t>5</m:t>
                            </m:r>
                          </m:oMath>
                        </m:oMathPara>
                      </a14:m>
                      <a:endParaRPr lang="en-US" sz="2400" dirty="0">
                        <a:solidFill>
                          <a:schemeClr val="accent5"/>
                        </a:solidFill>
                      </a:endParaRPr>
                    </a:p>
                  </p:txBody>
                </p:sp>
              </mc:Choice>
              <mc:Fallback xmlns="">
                <p:sp>
                  <p:nvSpPr>
                    <p:cNvPr id="105" name="TextBox 104">
                      <a:extLst>
                        <a:ext uri="{FF2B5EF4-FFF2-40B4-BE49-F238E27FC236}">
                          <a16:creationId xmlns:a16="http://schemas.microsoft.com/office/drawing/2014/main" id="{A54E6034-EB72-0A69-31F4-FF2ADFA3B5A5}"/>
                        </a:ext>
                      </a:extLst>
                    </p:cNvPr>
                    <p:cNvSpPr txBox="1">
                      <a:spLocks noRot="1" noChangeAspect="1" noMove="1" noResize="1" noEditPoints="1" noAdjustHandles="1" noChangeArrowheads="1" noChangeShapeType="1" noTextEdit="1"/>
                    </p:cNvSpPr>
                    <p:nvPr/>
                  </p:nvSpPr>
                  <p:spPr>
                    <a:xfrm>
                      <a:off x="9182890" y="2171230"/>
                      <a:ext cx="836612" cy="689585"/>
                    </a:xfrm>
                    <a:prstGeom prst="rect">
                      <a:avLst/>
                    </a:prstGeom>
                    <a:blipFill>
                      <a:blip r:embed="rId3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6" name="TextBox 105">
                      <a:extLst>
                        <a:ext uri="{FF2B5EF4-FFF2-40B4-BE49-F238E27FC236}">
                          <a16:creationId xmlns:a16="http://schemas.microsoft.com/office/drawing/2014/main" id="{86F5AB8A-5469-41C8-54E8-EA2990A33950}"/>
                        </a:ext>
                      </a:extLst>
                    </p:cNvPr>
                    <p:cNvSpPr txBox="1"/>
                    <p:nvPr/>
                  </p:nvSpPr>
                  <p:spPr>
                    <a:xfrm>
                      <a:off x="10882543" y="2152268"/>
                      <a:ext cx="836612" cy="68958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dirty="0" smtClean="0">
                                <a:solidFill>
                                  <a:schemeClr val="accent5"/>
                                </a:solidFill>
                                <a:latin typeface="Cambria Math" panose="02040503050406030204" pitchFamily="18" charset="0"/>
                              </a:rPr>
                              <m:t>6</m:t>
                            </m:r>
                          </m:oMath>
                        </m:oMathPara>
                      </a14:m>
                      <a:endParaRPr lang="en-US" sz="2400" dirty="0">
                        <a:solidFill>
                          <a:schemeClr val="accent5"/>
                        </a:solidFill>
                      </a:endParaRPr>
                    </a:p>
                  </p:txBody>
                </p:sp>
              </mc:Choice>
              <mc:Fallback xmlns="">
                <p:sp>
                  <p:nvSpPr>
                    <p:cNvPr id="106" name="TextBox 105">
                      <a:extLst>
                        <a:ext uri="{FF2B5EF4-FFF2-40B4-BE49-F238E27FC236}">
                          <a16:creationId xmlns:a16="http://schemas.microsoft.com/office/drawing/2014/main" id="{86F5AB8A-5469-41C8-54E8-EA2990A33950}"/>
                        </a:ext>
                      </a:extLst>
                    </p:cNvPr>
                    <p:cNvSpPr txBox="1">
                      <a:spLocks noRot="1" noChangeAspect="1" noMove="1" noResize="1" noEditPoints="1" noAdjustHandles="1" noChangeArrowheads="1" noChangeShapeType="1" noTextEdit="1"/>
                    </p:cNvSpPr>
                    <p:nvPr/>
                  </p:nvSpPr>
                  <p:spPr>
                    <a:xfrm>
                      <a:off x="10882543" y="2152268"/>
                      <a:ext cx="836612" cy="689585"/>
                    </a:xfrm>
                    <a:prstGeom prst="rect">
                      <a:avLst/>
                    </a:prstGeom>
                    <a:blipFill>
                      <a:blip r:embed="rId33"/>
                      <a:stretch>
                        <a:fillRect/>
                      </a:stretch>
                    </a:blipFill>
                  </p:spPr>
                  <p:txBody>
                    <a:bodyPr/>
                    <a:lstStyle/>
                    <a:p>
                      <a:r>
                        <a:rPr lang="en-US">
                          <a:noFill/>
                        </a:rPr>
                        <a:t> </a:t>
                      </a:r>
                    </a:p>
                  </p:txBody>
                </p:sp>
              </mc:Fallback>
            </mc:AlternateContent>
          </p:grpSp>
        </p:grpSp>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9BD8837E-8045-B367-82BB-CCAF797A5951}"/>
                    </a:ext>
                  </a:extLst>
                </p:cNvPr>
                <p:cNvSpPr txBox="1"/>
                <p:nvPr/>
              </p:nvSpPr>
              <p:spPr>
                <a:xfrm>
                  <a:off x="5156466" y="5453170"/>
                  <a:ext cx="598526" cy="34775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𝑌</m:t>
                            </m:r>
                          </m:e>
                          <m:sub>
                            <m:r>
                              <a:rPr lang="en-US" sz="2000" b="0" i="1" smtClean="0">
                                <a:latin typeface="Cambria Math" panose="02040503050406030204" pitchFamily="18" charset="0"/>
                              </a:rPr>
                              <m:t>𝑖</m:t>
                            </m:r>
                          </m:sub>
                        </m:sSub>
                        <m:r>
                          <a:rPr lang="en-US" sz="2000" b="0" i="1" smtClean="0">
                            <a:latin typeface="Cambria Math" panose="02040503050406030204" pitchFamily="18" charset="0"/>
                          </a:rPr>
                          <m:t>(1)</m:t>
                        </m:r>
                      </m:oMath>
                    </m:oMathPara>
                  </a14:m>
                  <a:endParaRPr lang="en-US" sz="2000" dirty="0"/>
                </a:p>
              </p:txBody>
            </p:sp>
          </mc:Choice>
          <mc:Fallback xmlns="">
            <p:sp>
              <p:nvSpPr>
                <p:cNvPr id="56" name="TextBox 55">
                  <a:extLst>
                    <a:ext uri="{FF2B5EF4-FFF2-40B4-BE49-F238E27FC236}">
                      <a16:creationId xmlns:a16="http://schemas.microsoft.com/office/drawing/2014/main" id="{9BD8837E-8045-B367-82BB-CCAF797A5951}"/>
                    </a:ext>
                  </a:extLst>
                </p:cNvPr>
                <p:cNvSpPr txBox="1">
                  <a:spLocks noRot="1" noChangeAspect="1" noMove="1" noResize="1" noEditPoints="1" noAdjustHandles="1" noChangeArrowheads="1" noChangeShapeType="1" noTextEdit="1"/>
                </p:cNvSpPr>
                <p:nvPr/>
              </p:nvSpPr>
              <p:spPr>
                <a:xfrm>
                  <a:off x="5156466" y="5453170"/>
                  <a:ext cx="598526" cy="347756"/>
                </a:xfrm>
                <a:prstGeom prst="rect">
                  <a:avLst/>
                </a:prstGeom>
                <a:blipFill>
                  <a:blip r:embed="rId34"/>
                  <a:stretch>
                    <a:fillRect r="-9091" b="-1212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C152D6BE-0116-A70D-1BCD-C18A824D4716}"/>
                    </a:ext>
                  </a:extLst>
                </p:cNvPr>
                <p:cNvSpPr txBox="1"/>
                <p:nvPr/>
              </p:nvSpPr>
              <p:spPr>
                <a:xfrm>
                  <a:off x="5170527" y="6318043"/>
                  <a:ext cx="598526" cy="34775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𝑌</m:t>
                            </m:r>
                          </m:e>
                          <m:sub>
                            <m:r>
                              <a:rPr lang="en-US" sz="2000" b="0" i="1" smtClean="0">
                                <a:latin typeface="Cambria Math" panose="02040503050406030204" pitchFamily="18" charset="0"/>
                              </a:rPr>
                              <m:t>𝑖</m:t>
                            </m:r>
                          </m:sub>
                        </m:sSub>
                        <m:r>
                          <a:rPr lang="en-US" sz="2000" b="0" i="1" smtClean="0">
                            <a:latin typeface="Cambria Math" panose="02040503050406030204" pitchFamily="18" charset="0"/>
                          </a:rPr>
                          <m:t>(0)</m:t>
                        </m:r>
                      </m:oMath>
                    </m:oMathPara>
                  </a14:m>
                  <a:endParaRPr lang="en-US" sz="2000" dirty="0"/>
                </a:p>
              </p:txBody>
            </p:sp>
          </mc:Choice>
          <mc:Fallback xmlns="">
            <p:sp>
              <p:nvSpPr>
                <p:cNvPr id="57" name="TextBox 56">
                  <a:extLst>
                    <a:ext uri="{FF2B5EF4-FFF2-40B4-BE49-F238E27FC236}">
                      <a16:creationId xmlns:a16="http://schemas.microsoft.com/office/drawing/2014/main" id="{C152D6BE-0116-A70D-1BCD-C18A824D4716}"/>
                    </a:ext>
                  </a:extLst>
                </p:cNvPr>
                <p:cNvSpPr txBox="1">
                  <a:spLocks noRot="1" noChangeAspect="1" noMove="1" noResize="1" noEditPoints="1" noAdjustHandles="1" noChangeArrowheads="1" noChangeShapeType="1" noTextEdit="1"/>
                </p:cNvSpPr>
                <p:nvPr/>
              </p:nvSpPr>
              <p:spPr>
                <a:xfrm>
                  <a:off x="5170527" y="6318043"/>
                  <a:ext cx="598526" cy="347756"/>
                </a:xfrm>
                <a:prstGeom prst="rect">
                  <a:avLst/>
                </a:prstGeom>
                <a:blipFill>
                  <a:blip r:embed="rId35"/>
                  <a:stretch>
                    <a:fillRect r="-8929" b="-15625"/>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107" name="Rounded Rectangle 106">
                <a:extLst>
                  <a:ext uri="{FF2B5EF4-FFF2-40B4-BE49-F238E27FC236}">
                    <a16:creationId xmlns:a16="http://schemas.microsoft.com/office/drawing/2014/main" id="{9A5BDE18-4FF3-6D6D-A0CF-F405E652D6F8}"/>
                  </a:ext>
                </a:extLst>
              </p:cNvPr>
              <p:cNvSpPr/>
              <p:nvPr/>
            </p:nvSpPr>
            <p:spPr>
              <a:xfrm>
                <a:off x="628795" y="3589105"/>
                <a:ext cx="3036621" cy="310703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Discuss: </a:t>
                </a:r>
              </a:p>
              <a:p>
                <a:pPr algn="ctr"/>
                <a:endParaRPr lang="en-US" sz="2400" b="1" dirty="0"/>
              </a:p>
              <a:p>
                <a:pPr algn="ctr"/>
                <a:r>
                  <a:rPr lang="en-US" sz="2400" dirty="0"/>
                  <a:t>What is </a:t>
                </a:r>
                <a14:m>
                  <m:oMath xmlns:m="http://schemas.openxmlformats.org/officeDocument/2006/math">
                    <m:r>
                      <a:rPr lang="en-US" sz="3600" i="1">
                        <a:latin typeface="Cambria Math" panose="02040503050406030204" pitchFamily="18" charset="0"/>
                        <a:ea typeface="Cambria Math" panose="02040503050406030204" pitchFamily="18" charset="0"/>
                      </a:rPr>
                      <m:t>𝔼</m:t>
                    </m:r>
                    <m:r>
                      <a:rPr lang="en-US" sz="3600" b="0" i="1" smtClean="0">
                        <a:latin typeface="Cambria Math" panose="02040503050406030204" pitchFamily="18" charset="0"/>
                        <a:ea typeface="Cambria Math" panose="02040503050406030204" pitchFamily="18" charset="0"/>
                      </a:rPr>
                      <m:t>[</m:t>
                    </m:r>
                    <m:acc>
                      <m:accPr>
                        <m:chr m:val="̂"/>
                        <m:ctrlPr>
                          <a:rPr lang="en-US" sz="3600" b="0" i="1" smtClean="0">
                            <a:latin typeface="Cambria Math" panose="02040503050406030204" pitchFamily="18" charset="0"/>
                          </a:rPr>
                        </m:ctrlPr>
                      </m:accPr>
                      <m:e>
                        <m:r>
                          <a:rPr lang="en-US" sz="3600" b="0" i="1" smtClean="0">
                            <a:latin typeface="Cambria Math" panose="02040503050406030204" pitchFamily="18" charset="0"/>
                          </a:rPr>
                          <m:t>𝜏</m:t>
                        </m:r>
                      </m:e>
                    </m:acc>
                    <m:r>
                      <a:rPr lang="en-US" sz="3600" b="0" i="1" smtClean="0">
                        <a:latin typeface="Cambria Math" panose="02040503050406030204" pitchFamily="18" charset="0"/>
                      </a:rPr>
                      <m:t>]</m:t>
                    </m:r>
                  </m:oMath>
                </a14:m>
                <a:r>
                  <a:rPr lang="en-US" sz="2400" dirty="0"/>
                  <a:t> in this example?</a:t>
                </a:r>
              </a:p>
              <a:p>
                <a:pPr algn="ctr"/>
                <a:endParaRPr lang="en-US" dirty="0"/>
              </a:p>
            </p:txBody>
          </p:sp>
        </mc:Choice>
        <mc:Fallback xmlns="">
          <p:sp>
            <p:nvSpPr>
              <p:cNvPr id="107" name="Rounded Rectangle 106">
                <a:extLst>
                  <a:ext uri="{FF2B5EF4-FFF2-40B4-BE49-F238E27FC236}">
                    <a16:creationId xmlns:a16="http://schemas.microsoft.com/office/drawing/2014/main" id="{9A5BDE18-4FF3-6D6D-A0CF-F405E652D6F8}"/>
                  </a:ext>
                </a:extLst>
              </p:cNvPr>
              <p:cNvSpPr>
                <a:spLocks noRot="1" noChangeAspect="1" noMove="1" noResize="1" noEditPoints="1" noAdjustHandles="1" noChangeArrowheads="1" noChangeShapeType="1" noTextEdit="1"/>
              </p:cNvSpPr>
              <p:nvPr/>
            </p:nvSpPr>
            <p:spPr>
              <a:xfrm>
                <a:off x="628795" y="3589105"/>
                <a:ext cx="3036621" cy="3107034"/>
              </a:xfrm>
              <a:prstGeom prst="roundRect">
                <a:avLst/>
              </a:prstGeom>
              <a:blipFill>
                <a:blip r:embed="rId3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F7A25A60-BB68-4443-AD4A-AAC224AC20C1}"/>
                  </a:ext>
                </a:extLst>
              </p:cNvPr>
              <p:cNvSpPr txBox="1"/>
              <p:nvPr/>
            </p:nvSpPr>
            <p:spPr>
              <a:xfrm>
                <a:off x="7971815" y="144269"/>
                <a:ext cx="4061184" cy="103663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en-US" sz="2400" b="0" i="1" smtClean="0">
                              <a:solidFill>
                                <a:schemeClr val="accent5"/>
                              </a:solidFill>
                              <a:latin typeface="Cambria Math" panose="02040503050406030204" pitchFamily="18" charset="0"/>
                            </a:rPr>
                          </m:ctrlPr>
                        </m:accPr>
                        <m:e>
                          <m:r>
                            <a:rPr lang="en-US" sz="2400" b="0" i="1" smtClean="0">
                              <a:solidFill>
                                <a:schemeClr val="accent5"/>
                              </a:solidFill>
                              <a:latin typeface="Cambria Math" panose="02040503050406030204" pitchFamily="18" charset="0"/>
                            </a:rPr>
                            <m:t>𝜏</m:t>
                          </m:r>
                        </m:e>
                      </m:acc>
                      <m:r>
                        <a:rPr lang="en-US" sz="2400" b="0" i="1" dirty="0" smtClean="0">
                          <a:solidFill>
                            <a:schemeClr val="accent5"/>
                          </a:solidFill>
                          <a:latin typeface="Cambria Math" panose="02040503050406030204" pitchFamily="18" charset="0"/>
                        </a:rPr>
                        <m:t>=</m:t>
                      </m:r>
                      <m:f>
                        <m:fPr>
                          <m:ctrlPr>
                            <a:rPr lang="en-US" sz="2400" b="0" i="1" dirty="0" smtClean="0">
                              <a:solidFill>
                                <a:schemeClr val="accent5"/>
                              </a:solidFill>
                              <a:latin typeface="Cambria Math" panose="02040503050406030204" pitchFamily="18" charset="0"/>
                            </a:rPr>
                          </m:ctrlPr>
                        </m:fPr>
                        <m:num>
                          <m:r>
                            <a:rPr lang="en-US" sz="2400" b="0" i="1" dirty="0" smtClean="0">
                              <a:solidFill>
                                <a:schemeClr val="accent5"/>
                              </a:solidFill>
                              <a:latin typeface="Cambria Math" panose="02040503050406030204" pitchFamily="18" charset="0"/>
                            </a:rPr>
                            <m:t>1</m:t>
                          </m:r>
                        </m:num>
                        <m:den>
                          <m:sSub>
                            <m:sSubPr>
                              <m:ctrlPr>
                                <a:rPr lang="en-US" sz="2400" b="0" i="1" dirty="0" smtClean="0">
                                  <a:solidFill>
                                    <a:schemeClr val="accent5"/>
                                  </a:solidFill>
                                  <a:latin typeface="Cambria Math" panose="02040503050406030204" pitchFamily="18" charset="0"/>
                                </a:rPr>
                              </m:ctrlPr>
                            </m:sSubPr>
                            <m:e>
                              <m:r>
                                <a:rPr lang="en-US" sz="2400" b="0" i="1" dirty="0" smtClean="0">
                                  <a:solidFill>
                                    <a:schemeClr val="accent5"/>
                                  </a:solidFill>
                                  <a:latin typeface="Cambria Math" panose="02040503050406030204" pitchFamily="18" charset="0"/>
                                </a:rPr>
                                <m:t>𝑁</m:t>
                              </m:r>
                            </m:e>
                            <m:sub>
                              <m:r>
                                <a:rPr lang="en-US" sz="2400" b="0" i="1" dirty="0" smtClean="0">
                                  <a:solidFill>
                                    <a:schemeClr val="accent5"/>
                                  </a:solidFill>
                                  <a:latin typeface="Cambria Math" panose="02040503050406030204" pitchFamily="18" charset="0"/>
                                </a:rPr>
                                <m:t>1</m:t>
                              </m:r>
                            </m:sub>
                          </m:sSub>
                        </m:den>
                      </m:f>
                      <m:nary>
                        <m:naryPr>
                          <m:chr m:val="∑"/>
                          <m:supHide m:val="on"/>
                          <m:ctrlPr>
                            <a:rPr lang="en-US" sz="2400" b="0" i="1" dirty="0" smtClean="0">
                              <a:solidFill>
                                <a:schemeClr val="accent5"/>
                              </a:solidFill>
                              <a:latin typeface="Cambria Math" panose="02040503050406030204" pitchFamily="18" charset="0"/>
                            </a:rPr>
                          </m:ctrlPr>
                        </m:naryPr>
                        <m:sub>
                          <m:r>
                            <m:rPr>
                              <m:brk m:alnAt="7"/>
                            </m:rPr>
                            <a:rPr lang="en-US" sz="2400" b="0" i="1" dirty="0" smtClean="0">
                              <a:solidFill>
                                <a:schemeClr val="accent5"/>
                              </a:solidFill>
                              <a:latin typeface="Cambria Math" panose="02040503050406030204" pitchFamily="18" charset="0"/>
                            </a:rPr>
                            <m:t>𝑖</m:t>
                          </m:r>
                          <m:r>
                            <a:rPr lang="en-US" sz="2400" b="0" i="1" dirty="0" smtClean="0">
                              <a:solidFill>
                                <a:schemeClr val="accent5"/>
                              </a:solidFill>
                              <a:latin typeface="Cambria Math" panose="02040503050406030204" pitchFamily="18" charset="0"/>
                            </a:rPr>
                            <m:t>:</m:t>
                          </m:r>
                          <m:sSub>
                            <m:sSubPr>
                              <m:ctrlPr>
                                <a:rPr lang="en-US" sz="2400" b="0" i="1" dirty="0" smtClean="0">
                                  <a:solidFill>
                                    <a:schemeClr val="accent5"/>
                                  </a:solidFill>
                                  <a:latin typeface="Cambria Math" panose="02040503050406030204" pitchFamily="18" charset="0"/>
                                </a:rPr>
                              </m:ctrlPr>
                            </m:sSubPr>
                            <m:e>
                              <m:r>
                                <m:rPr>
                                  <m:brk m:alnAt="7"/>
                                </m:rPr>
                                <a:rPr lang="en-US" sz="2400" b="0" i="1" dirty="0" smtClean="0">
                                  <a:solidFill>
                                    <a:schemeClr val="accent5"/>
                                  </a:solidFill>
                                  <a:latin typeface="Cambria Math" panose="02040503050406030204" pitchFamily="18" charset="0"/>
                                </a:rPr>
                                <m:t>𝑊</m:t>
                              </m:r>
                            </m:e>
                            <m:sub>
                              <m:r>
                                <m:rPr>
                                  <m:brk m:alnAt="7"/>
                                </m:rPr>
                                <a:rPr lang="en-US" sz="2400" b="0" i="1" dirty="0" smtClean="0">
                                  <a:solidFill>
                                    <a:schemeClr val="accent5"/>
                                  </a:solidFill>
                                  <a:latin typeface="Cambria Math" panose="02040503050406030204" pitchFamily="18" charset="0"/>
                                </a:rPr>
                                <m:t>𝑖</m:t>
                              </m:r>
                            </m:sub>
                          </m:sSub>
                          <m:r>
                            <m:rPr>
                              <m:brk m:alnAt="7"/>
                            </m:rPr>
                            <a:rPr lang="en-US" sz="2400" b="0" i="1" dirty="0" smtClean="0">
                              <a:solidFill>
                                <a:schemeClr val="accent5"/>
                              </a:solidFill>
                              <a:latin typeface="Cambria Math" panose="02040503050406030204" pitchFamily="18" charset="0"/>
                            </a:rPr>
                            <m:t>=</m:t>
                          </m:r>
                          <m:r>
                            <a:rPr lang="en-US" sz="2400" b="0" i="1" dirty="0" smtClean="0">
                              <a:solidFill>
                                <a:schemeClr val="accent5"/>
                              </a:solidFill>
                              <a:latin typeface="Cambria Math" panose="02040503050406030204" pitchFamily="18" charset="0"/>
                            </a:rPr>
                            <m:t>1</m:t>
                          </m:r>
                        </m:sub>
                        <m:sup/>
                        <m:e>
                          <m:sSub>
                            <m:sSubPr>
                              <m:ctrlPr>
                                <a:rPr lang="en-US" sz="2400" b="0" i="1" dirty="0" smtClean="0">
                                  <a:solidFill>
                                    <a:schemeClr val="accent5"/>
                                  </a:solidFill>
                                  <a:latin typeface="Cambria Math" panose="02040503050406030204" pitchFamily="18" charset="0"/>
                                </a:rPr>
                              </m:ctrlPr>
                            </m:sSubPr>
                            <m:e>
                              <m:r>
                                <a:rPr lang="en-US" sz="2400" b="0" i="1" dirty="0" smtClean="0">
                                  <a:solidFill>
                                    <a:schemeClr val="accent5"/>
                                  </a:solidFill>
                                  <a:latin typeface="Cambria Math" panose="02040503050406030204" pitchFamily="18" charset="0"/>
                                </a:rPr>
                                <m:t>𝑌</m:t>
                              </m:r>
                            </m:e>
                            <m:sub>
                              <m:r>
                                <a:rPr lang="en-US" sz="2400" b="0" i="1" dirty="0" smtClean="0">
                                  <a:solidFill>
                                    <a:schemeClr val="accent5"/>
                                  </a:solidFill>
                                  <a:latin typeface="Cambria Math" panose="02040503050406030204" pitchFamily="18" charset="0"/>
                                </a:rPr>
                                <m:t>𝑖</m:t>
                              </m:r>
                            </m:sub>
                          </m:sSub>
                        </m:e>
                      </m:nary>
                      <m:r>
                        <a:rPr lang="en-US" sz="2400" b="0" i="1" dirty="0" smtClean="0">
                          <a:solidFill>
                            <a:schemeClr val="accent5"/>
                          </a:solidFill>
                          <a:latin typeface="Cambria Math" panose="02040503050406030204" pitchFamily="18" charset="0"/>
                        </a:rPr>
                        <m:t>−</m:t>
                      </m:r>
                      <m:f>
                        <m:fPr>
                          <m:ctrlPr>
                            <a:rPr lang="en-US" sz="2400" b="0" i="1" dirty="0" smtClean="0">
                              <a:solidFill>
                                <a:schemeClr val="accent5"/>
                              </a:solidFill>
                              <a:latin typeface="Cambria Math" panose="02040503050406030204" pitchFamily="18" charset="0"/>
                            </a:rPr>
                          </m:ctrlPr>
                        </m:fPr>
                        <m:num>
                          <m:r>
                            <a:rPr lang="en-US" sz="2400" b="0" i="1" dirty="0" smtClean="0">
                              <a:solidFill>
                                <a:schemeClr val="accent5"/>
                              </a:solidFill>
                              <a:latin typeface="Cambria Math" panose="02040503050406030204" pitchFamily="18" charset="0"/>
                            </a:rPr>
                            <m:t>1</m:t>
                          </m:r>
                        </m:num>
                        <m:den>
                          <m:sSub>
                            <m:sSubPr>
                              <m:ctrlPr>
                                <a:rPr lang="en-US" sz="2400" b="0" i="1" dirty="0" smtClean="0">
                                  <a:solidFill>
                                    <a:schemeClr val="accent5"/>
                                  </a:solidFill>
                                  <a:latin typeface="Cambria Math" panose="02040503050406030204" pitchFamily="18" charset="0"/>
                                </a:rPr>
                              </m:ctrlPr>
                            </m:sSubPr>
                            <m:e>
                              <m:r>
                                <a:rPr lang="en-US" sz="2400" b="0" i="1" dirty="0" smtClean="0">
                                  <a:solidFill>
                                    <a:schemeClr val="accent5"/>
                                  </a:solidFill>
                                  <a:latin typeface="Cambria Math" panose="02040503050406030204" pitchFamily="18" charset="0"/>
                                </a:rPr>
                                <m:t>𝑁</m:t>
                              </m:r>
                            </m:e>
                            <m:sub>
                              <m:r>
                                <a:rPr lang="en-US" sz="2400" b="0" i="1" dirty="0" smtClean="0">
                                  <a:solidFill>
                                    <a:schemeClr val="accent5"/>
                                  </a:solidFill>
                                  <a:latin typeface="Cambria Math" panose="02040503050406030204" pitchFamily="18" charset="0"/>
                                </a:rPr>
                                <m:t>0</m:t>
                              </m:r>
                            </m:sub>
                          </m:sSub>
                        </m:den>
                      </m:f>
                      <m:nary>
                        <m:naryPr>
                          <m:chr m:val="∑"/>
                          <m:supHide m:val="on"/>
                          <m:ctrlPr>
                            <a:rPr lang="en-US" sz="2400" b="0" i="1" dirty="0" smtClean="0">
                              <a:solidFill>
                                <a:schemeClr val="accent5"/>
                              </a:solidFill>
                              <a:latin typeface="Cambria Math" panose="02040503050406030204" pitchFamily="18" charset="0"/>
                            </a:rPr>
                          </m:ctrlPr>
                        </m:naryPr>
                        <m:sub>
                          <m:r>
                            <m:rPr>
                              <m:brk m:alnAt="7"/>
                            </m:rPr>
                            <a:rPr lang="en-US" sz="2400" b="0" i="1" dirty="0" smtClean="0">
                              <a:solidFill>
                                <a:schemeClr val="accent5"/>
                              </a:solidFill>
                              <a:latin typeface="Cambria Math" panose="02040503050406030204" pitchFamily="18" charset="0"/>
                            </a:rPr>
                            <m:t>𝑖</m:t>
                          </m:r>
                          <m:r>
                            <a:rPr lang="en-US" sz="2400" b="0" i="1" dirty="0" smtClean="0">
                              <a:solidFill>
                                <a:schemeClr val="accent5"/>
                              </a:solidFill>
                              <a:latin typeface="Cambria Math" panose="02040503050406030204" pitchFamily="18" charset="0"/>
                            </a:rPr>
                            <m:t>:</m:t>
                          </m:r>
                          <m:sSub>
                            <m:sSubPr>
                              <m:ctrlPr>
                                <a:rPr lang="en-US" sz="2400" b="0" i="1" dirty="0" smtClean="0">
                                  <a:solidFill>
                                    <a:schemeClr val="accent5"/>
                                  </a:solidFill>
                                  <a:latin typeface="Cambria Math" panose="02040503050406030204" pitchFamily="18" charset="0"/>
                                </a:rPr>
                              </m:ctrlPr>
                            </m:sSubPr>
                            <m:e>
                              <m:r>
                                <m:rPr>
                                  <m:brk m:alnAt="7"/>
                                </m:rPr>
                                <a:rPr lang="en-US" sz="2400" b="0" i="1" dirty="0" smtClean="0">
                                  <a:solidFill>
                                    <a:schemeClr val="accent5"/>
                                  </a:solidFill>
                                  <a:latin typeface="Cambria Math" panose="02040503050406030204" pitchFamily="18" charset="0"/>
                                </a:rPr>
                                <m:t>𝑊</m:t>
                              </m:r>
                            </m:e>
                            <m:sub>
                              <m:r>
                                <m:rPr>
                                  <m:brk m:alnAt="7"/>
                                </m:rPr>
                                <a:rPr lang="en-US" sz="2400" b="0" i="1" dirty="0" smtClean="0">
                                  <a:solidFill>
                                    <a:schemeClr val="accent5"/>
                                  </a:solidFill>
                                  <a:latin typeface="Cambria Math" panose="02040503050406030204" pitchFamily="18" charset="0"/>
                                </a:rPr>
                                <m:t>𝑖</m:t>
                              </m:r>
                            </m:sub>
                          </m:sSub>
                          <m:r>
                            <m:rPr>
                              <m:brk m:alnAt="7"/>
                            </m:rPr>
                            <a:rPr lang="en-US" sz="2400" b="0" i="1" dirty="0" smtClean="0">
                              <a:solidFill>
                                <a:schemeClr val="accent5"/>
                              </a:solidFill>
                              <a:latin typeface="Cambria Math" panose="02040503050406030204" pitchFamily="18" charset="0"/>
                            </a:rPr>
                            <m:t>=</m:t>
                          </m:r>
                          <m:r>
                            <a:rPr lang="en-US" sz="2400" b="0" i="1" dirty="0" smtClean="0">
                              <a:solidFill>
                                <a:schemeClr val="accent5"/>
                              </a:solidFill>
                              <a:latin typeface="Cambria Math" panose="02040503050406030204" pitchFamily="18" charset="0"/>
                            </a:rPr>
                            <m:t>0</m:t>
                          </m:r>
                        </m:sub>
                        <m:sup/>
                        <m:e>
                          <m:sSub>
                            <m:sSubPr>
                              <m:ctrlPr>
                                <a:rPr lang="en-US" sz="2400" b="0" i="1" dirty="0" smtClean="0">
                                  <a:solidFill>
                                    <a:schemeClr val="accent5"/>
                                  </a:solidFill>
                                  <a:latin typeface="Cambria Math" panose="02040503050406030204" pitchFamily="18" charset="0"/>
                                </a:rPr>
                              </m:ctrlPr>
                            </m:sSubPr>
                            <m:e>
                              <m:r>
                                <a:rPr lang="en-US" sz="2400" b="0" i="1" dirty="0" smtClean="0">
                                  <a:solidFill>
                                    <a:schemeClr val="accent5"/>
                                  </a:solidFill>
                                  <a:latin typeface="Cambria Math" panose="02040503050406030204" pitchFamily="18" charset="0"/>
                                </a:rPr>
                                <m:t>𝑌</m:t>
                              </m:r>
                            </m:e>
                            <m:sub>
                              <m:r>
                                <a:rPr lang="en-US" sz="2400" b="0" i="1" dirty="0" smtClean="0">
                                  <a:solidFill>
                                    <a:schemeClr val="accent5"/>
                                  </a:solidFill>
                                  <a:latin typeface="Cambria Math" panose="02040503050406030204" pitchFamily="18" charset="0"/>
                                </a:rPr>
                                <m:t>𝑖</m:t>
                              </m:r>
                            </m:sub>
                          </m:sSub>
                        </m:e>
                      </m:nary>
                    </m:oMath>
                  </m:oMathPara>
                </a14:m>
                <a:endParaRPr lang="en-US" sz="2400" dirty="0">
                  <a:solidFill>
                    <a:schemeClr val="accent5"/>
                  </a:solidFill>
                </a:endParaRPr>
              </a:p>
            </p:txBody>
          </p:sp>
        </mc:Choice>
        <mc:Fallback xmlns="">
          <p:sp>
            <p:nvSpPr>
              <p:cNvPr id="5" name="TextBox 4">
                <a:extLst>
                  <a:ext uri="{FF2B5EF4-FFF2-40B4-BE49-F238E27FC236}">
                    <a16:creationId xmlns:a16="http://schemas.microsoft.com/office/drawing/2014/main" id="{F7A25A60-BB68-4443-AD4A-AAC224AC20C1}"/>
                  </a:ext>
                </a:extLst>
              </p:cNvPr>
              <p:cNvSpPr txBox="1">
                <a:spLocks noRot="1" noChangeAspect="1" noMove="1" noResize="1" noEditPoints="1" noAdjustHandles="1" noChangeArrowheads="1" noChangeShapeType="1" noTextEdit="1"/>
              </p:cNvSpPr>
              <p:nvPr/>
            </p:nvSpPr>
            <p:spPr>
              <a:xfrm>
                <a:off x="7971815" y="144269"/>
                <a:ext cx="4061184" cy="1036630"/>
              </a:xfrm>
              <a:prstGeom prst="rect">
                <a:avLst/>
              </a:prstGeom>
              <a:blipFill>
                <a:blip r:embed="rId37"/>
                <a:stretch>
                  <a:fillRect t="-124096" r="-3738" b="-166265"/>
                </a:stretch>
              </a:blipFill>
            </p:spPr>
            <p:txBody>
              <a:bodyPr/>
              <a:lstStyle/>
              <a:p>
                <a:r>
                  <a:rPr lang="en-US">
                    <a:noFill/>
                  </a:rPr>
                  <a:t> </a:t>
                </a:r>
              </a:p>
            </p:txBody>
          </p:sp>
        </mc:Fallback>
      </mc:AlternateContent>
    </p:spTree>
    <p:extLst>
      <p:ext uri="{BB962C8B-B14F-4D97-AF65-F5344CB8AC3E}">
        <p14:creationId xmlns:p14="http://schemas.microsoft.com/office/powerpoint/2010/main" val="20658813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07"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BE01AA-EA37-15C1-FFF1-C215EC5198FF}"/>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8FF74F9A-FE03-F3F3-A055-147FE6895F69}"/>
              </a:ext>
            </a:extLst>
          </p:cNvPr>
          <p:cNvSpPr>
            <a:spLocks noGrp="1"/>
          </p:cNvSpPr>
          <p:nvPr>
            <p:ph type="subTitle" idx="1"/>
          </p:nvPr>
        </p:nvSpPr>
        <p:spPr/>
        <p:txBody>
          <a:bodyPr/>
          <a:lstStyle/>
          <a:p>
            <a:endParaRPr lang="en-US"/>
          </a:p>
        </p:txBody>
      </p:sp>
      <p:pic>
        <p:nvPicPr>
          <p:cNvPr id="5" name="slide.url=https://www.polleverywhere.com/multiple_choice_polls/Yd4I7U6FvNrYJilEMviEJ?state=opened&amp;flow=Default&amp;onscreen=persist">
            <a:extLst>
              <a:ext uri="{FF2B5EF4-FFF2-40B4-BE49-F238E27FC236}">
                <a16:creationId xmlns:a16="http://schemas.microsoft.com/office/drawing/2014/main" id="{DBE85F2E-A35A-846C-FB51-CAC68EEFBB48}"/>
              </a:ext>
            </a:extLst>
          </p:cNvPr>
          <p:cNvPicPr>
            <a:picLocks/>
          </p:cNvPicPr>
          <p:nvPr>
            <p:custDataLst>
              <p:tags r:id="rId1"/>
            </p:custDataLst>
          </p:nvPr>
        </p:nvPicPr>
        <p:blipFill>
          <a:blip r:embed="rId4">
            <a:extLst>
              <a:ext uri="{28A0092B-C50C-407E-A947-70E740481C1C}">
                <a14:useLocalDpi xmlns:a14="http://schemas.microsoft.com/office/drawing/2010/main" val="0"/>
              </a:ext>
            </a:extLst>
          </a:blip>
          <a:stretch>
            <a:fillRect/>
          </a:stretch>
        </p:blipFill>
        <p:spPr>
          <a:xfrm>
            <a:off x="63500" y="63500"/>
            <a:ext cx="12065000" cy="6731000"/>
          </a:xfrm>
          <a:prstGeom prst="rect">
            <a:avLst/>
          </a:prstGeom>
        </p:spPr>
      </p:pic>
    </p:spTree>
    <p:extLst>
      <p:ext uri="{BB962C8B-B14F-4D97-AF65-F5344CB8AC3E}">
        <p14:creationId xmlns:p14="http://schemas.microsoft.com/office/powerpoint/2010/main" val="217965407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DFBDD6-330D-3567-9638-2E9A4747ECD6}"/>
              </a:ext>
            </a:extLst>
          </p:cNvPr>
          <p:cNvSpPr>
            <a:spLocks noGrp="1"/>
          </p:cNvSpPr>
          <p:nvPr>
            <p:ph type="title"/>
          </p:nvPr>
        </p:nvSpPr>
        <p:spPr>
          <a:xfrm>
            <a:off x="857391" y="90820"/>
            <a:ext cx="10515600" cy="1325563"/>
          </a:xfrm>
        </p:spPr>
        <p:txBody>
          <a:bodyPr/>
          <a:lstStyle/>
          <a:p>
            <a:r>
              <a:rPr lang="en-US" dirty="0"/>
              <a:t>Aspirin example </a:t>
            </a:r>
            <a:br>
              <a:rPr lang="en-US" dirty="0"/>
            </a:br>
            <a:r>
              <a:rPr lang="en-US" sz="2700" dirty="0"/>
              <a:t>from last time</a:t>
            </a:r>
            <a:endParaRPr lang="en-US" dirty="0"/>
          </a:p>
        </p:txBody>
      </p:sp>
      <p:sp>
        <p:nvSpPr>
          <p:cNvPr id="3" name="Content Placeholder 2">
            <a:extLst>
              <a:ext uri="{FF2B5EF4-FFF2-40B4-BE49-F238E27FC236}">
                <a16:creationId xmlns:a16="http://schemas.microsoft.com/office/drawing/2014/main" id="{A6906FCE-E006-A2A5-E738-49D5D0271730}"/>
              </a:ext>
            </a:extLst>
          </p:cNvPr>
          <p:cNvSpPr>
            <a:spLocks noGrp="1"/>
          </p:cNvSpPr>
          <p:nvPr>
            <p:ph idx="1"/>
          </p:nvPr>
        </p:nvSpPr>
        <p:spPr>
          <a:xfrm>
            <a:off x="838200" y="1492832"/>
            <a:ext cx="10515600" cy="4351338"/>
          </a:xfrm>
        </p:spPr>
        <p:txBody>
          <a:bodyPr/>
          <a:lstStyle/>
          <a:p>
            <a:r>
              <a:rPr lang="en-US" dirty="0"/>
              <a:t>Randomly choose 3 of the 6 units for the control group, put the rest in the treatment group.</a:t>
            </a:r>
          </a:p>
        </p:txBody>
      </p:sp>
      <p:grpSp>
        <p:nvGrpSpPr>
          <p:cNvPr id="54" name="Group 53">
            <a:extLst>
              <a:ext uri="{FF2B5EF4-FFF2-40B4-BE49-F238E27FC236}">
                <a16:creationId xmlns:a16="http://schemas.microsoft.com/office/drawing/2014/main" id="{E29183B7-8CE6-356D-0B0B-9D0A0A67F367}"/>
              </a:ext>
            </a:extLst>
          </p:cNvPr>
          <p:cNvGrpSpPr/>
          <p:nvPr/>
        </p:nvGrpSpPr>
        <p:grpSpPr>
          <a:xfrm>
            <a:off x="3947586" y="3632886"/>
            <a:ext cx="8143380" cy="3190567"/>
            <a:chOff x="5013146" y="4084919"/>
            <a:chExt cx="7077820" cy="2773082"/>
          </a:xfrm>
        </p:grpSpPr>
        <p:grpSp>
          <p:nvGrpSpPr>
            <p:cNvPr id="55" name="Group 54">
              <a:extLst>
                <a:ext uri="{FF2B5EF4-FFF2-40B4-BE49-F238E27FC236}">
                  <a16:creationId xmlns:a16="http://schemas.microsoft.com/office/drawing/2014/main" id="{7CCC21EE-FC62-166A-BAFC-C7CFFABD6807}"/>
                </a:ext>
              </a:extLst>
            </p:cNvPr>
            <p:cNvGrpSpPr/>
            <p:nvPr/>
          </p:nvGrpSpPr>
          <p:grpSpPr>
            <a:xfrm>
              <a:off x="5013146" y="4084919"/>
              <a:ext cx="7077820" cy="2773082"/>
              <a:chOff x="5906366" y="4477790"/>
              <a:chExt cx="6399132" cy="2526149"/>
            </a:xfrm>
          </p:grpSpPr>
          <p:sp>
            <p:nvSpPr>
              <p:cNvPr id="58" name="Rectangle 57">
                <a:extLst>
                  <a:ext uri="{FF2B5EF4-FFF2-40B4-BE49-F238E27FC236}">
                    <a16:creationId xmlns:a16="http://schemas.microsoft.com/office/drawing/2014/main" id="{1B6DD7DC-F313-5D8E-F3E8-EB2FF08B7A7A}"/>
                  </a:ext>
                </a:extLst>
              </p:cNvPr>
              <p:cNvSpPr/>
              <p:nvPr/>
            </p:nvSpPr>
            <p:spPr>
              <a:xfrm>
                <a:off x="5906366" y="4505989"/>
                <a:ext cx="6399131" cy="2460011"/>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grpSp>
            <p:nvGrpSpPr>
              <p:cNvPr id="59" name="Group 58">
                <a:extLst>
                  <a:ext uri="{FF2B5EF4-FFF2-40B4-BE49-F238E27FC236}">
                    <a16:creationId xmlns:a16="http://schemas.microsoft.com/office/drawing/2014/main" id="{C4DA7C3C-3379-0F67-1666-E8A340A1BE59}"/>
                  </a:ext>
                </a:extLst>
              </p:cNvPr>
              <p:cNvGrpSpPr/>
              <p:nvPr/>
            </p:nvGrpSpPr>
            <p:grpSpPr>
              <a:xfrm>
                <a:off x="5906366" y="4477790"/>
                <a:ext cx="6399132" cy="2526149"/>
                <a:chOff x="122688" y="2152268"/>
                <a:chExt cx="12072323" cy="4765722"/>
              </a:xfrm>
            </p:grpSpPr>
            <p:pic>
              <p:nvPicPr>
                <p:cNvPr id="60" name="Picture 59">
                  <a:extLst>
                    <a:ext uri="{FF2B5EF4-FFF2-40B4-BE49-F238E27FC236}">
                      <a16:creationId xmlns:a16="http://schemas.microsoft.com/office/drawing/2014/main" id="{6FBEE280-CB4B-7B6F-3E54-6DF699B8FBAD}"/>
                    </a:ext>
                  </a:extLst>
                </p:cNvPr>
                <p:cNvPicPr>
                  <a:picLocks noChangeAspect="1"/>
                </p:cNvPicPr>
                <p:nvPr/>
              </p:nvPicPr>
              <p:blipFill>
                <a:blip r:embed="rId3"/>
                <a:stretch>
                  <a:fillRect/>
                </a:stretch>
              </p:blipFill>
              <p:spPr>
                <a:xfrm>
                  <a:off x="2145207" y="2605430"/>
                  <a:ext cx="729848" cy="1107433"/>
                </a:xfrm>
                <a:prstGeom prst="rect">
                  <a:avLst/>
                </a:prstGeom>
              </p:spPr>
            </p:pic>
            <p:pic>
              <p:nvPicPr>
                <p:cNvPr id="61" name="Picture 60">
                  <a:extLst>
                    <a:ext uri="{FF2B5EF4-FFF2-40B4-BE49-F238E27FC236}">
                      <a16:creationId xmlns:a16="http://schemas.microsoft.com/office/drawing/2014/main" id="{D60151DC-DC24-F4A4-01F7-7E8974835891}"/>
                    </a:ext>
                  </a:extLst>
                </p:cNvPr>
                <p:cNvPicPr>
                  <a:picLocks noChangeAspect="1"/>
                </p:cNvPicPr>
                <p:nvPr/>
              </p:nvPicPr>
              <p:blipFill>
                <a:blip r:embed="rId4"/>
                <a:stretch>
                  <a:fillRect/>
                </a:stretch>
              </p:blipFill>
              <p:spPr>
                <a:xfrm>
                  <a:off x="3667491" y="2856752"/>
                  <a:ext cx="830685" cy="742035"/>
                </a:xfrm>
                <a:prstGeom prst="rect">
                  <a:avLst/>
                </a:prstGeom>
              </p:spPr>
            </p:pic>
            <p:pic>
              <p:nvPicPr>
                <p:cNvPr id="62" name="Picture 61">
                  <a:extLst>
                    <a:ext uri="{FF2B5EF4-FFF2-40B4-BE49-F238E27FC236}">
                      <a16:creationId xmlns:a16="http://schemas.microsoft.com/office/drawing/2014/main" id="{885869E1-A0F7-9841-59B9-896FDDC2AE2A}"/>
                    </a:ext>
                  </a:extLst>
                </p:cNvPr>
                <p:cNvPicPr>
                  <a:picLocks noChangeAspect="1"/>
                </p:cNvPicPr>
                <p:nvPr/>
              </p:nvPicPr>
              <p:blipFill>
                <a:blip r:embed="rId5"/>
                <a:stretch>
                  <a:fillRect/>
                </a:stretch>
              </p:blipFill>
              <p:spPr>
                <a:xfrm>
                  <a:off x="7552886" y="2688341"/>
                  <a:ext cx="648054" cy="910446"/>
                </a:xfrm>
                <a:prstGeom prst="rect">
                  <a:avLst/>
                </a:prstGeom>
              </p:spPr>
            </p:pic>
            <p:pic>
              <p:nvPicPr>
                <p:cNvPr id="63" name="Picture 62">
                  <a:extLst>
                    <a:ext uri="{FF2B5EF4-FFF2-40B4-BE49-F238E27FC236}">
                      <a16:creationId xmlns:a16="http://schemas.microsoft.com/office/drawing/2014/main" id="{507A37B1-D280-B4EA-510F-798BB69BC615}"/>
                    </a:ext>
                  </a:extLst>
                </p:cNvPr>
                <p:cNvPicPr>
                  <a:picLocks noChangeAspect="1"/>
                </p:cNvPicPr>
                <p:nvPr/>
              </p:nvPicPr>
              <p:blipFill>
                <a:blip r:embed="rId6"/>
                <a:stretch>
                  <a:fillRect/>
                </a:stretch>
              </p:blipFill>
              <p:spPr>
                <a:xfrm>
                  <a:off x="9224580" y="2791814"/>
                  <a:ext cx="566568" cy="721917"/>
                </a:xfrm>
                <a:prstGeom prst="rect">
                  <a:avLst/>
                </a:prstGeom>
              </p:spPr>
            </p:pic>
            <p:pic>
              <p:nvPicPr>
                <p:cNvPr id="64" name="Picture 63">
                  <a:extLst>
                    <a:ext uri="{FF2B5EF4-FFF2-40B4-BE49-F238E27FC236}">
                      <a16:creationId xmlns:a16="http://schemas.microsoft.com/office/drawing/2014/main" id="{A537B9CF-BE8E-5411-676D-5282DEF68777}"/>
                    </a:ext>
                  </a:extLst>
                </p:cNvPr>
                <p:cNvPicPr>
                  <a:picLocks noChangeAspect="1"/>
                </p:cNvPicPr>
                <p:nvPr/>
              </p:nvPicPr>
              <p:blipFill>
                <a:blip r:embed="rId7"/>
                <a:stretch>
                  <a:fillRect/>
                </a:stretch>
              </p:blipFill>
              <p:spPr>
                <a:xfrm>
                  <a:off x="11095039" y="2646625"/>
                  <a:ext cx="697482" cy="882528"/>
                </a:xfrm>
                <a:prstGeom prst="rect">
                  <a:avLst/>
                </a:prstGeom>
              </p:spPr>
            </p:pic>
            <p:pic>
              <p:nvPicPr>
                <p:cNvPr id="65" name="Picture 7" descr="Adoptable Rabbits | morabbit">
                  <a:extLst>
                    <a:ext uri="{FF2B5EF4-FFF2-40B4-BE49-F238E27FC236}">
                      <a16:creationId xmlns:a16="http://schemas.microsoft.com/office/drawing/2014/main" id="{6FB1F77D-7D8E-E3CD-F233-08246D764B9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flipH="1">
                  <a:off x="5756618" y="2658902"/>
                  <a:ext cx="648054" cy="1072230"/>
                </a:xfrm>
                <a:prstGeom prst="rect">
                  <a:avLst/>
                </a:prstGeom>
                <a:noFill/>
                <a:extLst>
                  <a:ext uri="{909E8E84-426E-40DD-AFC4-6F175D3DCCD1}">
                    <a14:hiddenFill xmlns:a14="http://schemas.microsoft.com/office/drawing/2010/main">
                      <a:solidFill>
                        <a:srgbClr val="FFFFFF"/>
                      </a:solidFill>
                    </a14:hiddenFill>
                  </a:ext>
                </a:extLst>
              </p:spPr>
            </p:pic>
            <p:pic>
              <p:nvPicPr>
                <p:cNvPr id="66" name="Picture 2" descr="ASPIRIN® Extra Strength 500mg | ASPIRIN® Canada">
                  <a:extLst>
                    <a:ext uri="{FF2B5EF4-FFF2-40B4-BE49-F238E27FC236}">
                      <a16:creationId xmlns:a16="http://schemas.microsoft.com/office/drawing/2014/main" id="{C76D9CC0-8C42-0BE4-1712-5827D5ECC4AD}"/>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36385" y="3832624"/>
                  <a:ext cx="827664" cy="827664"/>
                </a:xfrm>
                <a:prstGeom prst="rect">
                  <a:avLst/>
                </a:prstGeom>
                <a:noFill/>
                <a:extLst>
                  <a:ext uri="{909E8E84-426E-40DD-AFC4-6F175D3DCCD1}">
                    <a14:hiddenFill xmlns:a14="http://schemas.microsoft.com/office/drawing/2010/main">
                      <a:solidFill>
                        <a:srgbClr val="FFFFFF"/>
                      </a:solidFill>
                    </a14:hiddenFill>
                  </a:ext>
                </a:extLst>
              </p:spPr>
            </p:pic>
            <p:pic>
              <p:nvPicPr>
                <p:cNvPr id="67" name="Picture 66">
                  <a:extLst>
                    <a:ext uri="{FF2B5EF4-FFF2-40B4-BE49-F238E27FC236}">
                      <a16:creationId xmlns:a16="http://schemas.microsoft.com/office/drawing/2014/main" id="{006F1DFB-08FA-89D9-5692-36741DF81D03}"/>
                    </a:ext>
                  </a:extLst>
                </p:cNvPr>
                <p:cNvPicPr>
                  <a:picLocks noChangeAspect="1"/>
                </p:cNvPicPr>
                <p:nvPr/>
              </p:nvPicPr>
              <p:blipFill>
                <a:blip r:embed="rId10"/>
                <a:stretch>
                  <a:fillRect/>
                </a:stretch>
              </p:blipFill>
              <p:spPr>
                <a:xfrm>
                  <a:off x="592477" y="5415856"/>
                  <a:ext cx="724786" cy="476115"/>
                </a:xfrm>
                <a:prstGeom prst="rect">
                  <a:avLst/>
                </a:prstGeom>
              </p:spPr>
            </p:pic>
            <p:cxnSp>
              <p:nvCxnSpPr>
                <p:cNvPr id="68" name="Straight Connector 67">
                  <a:extLst>
                    <a:ext uri="{FF2B5EF4-FFF2-40B4-BE49-F238E27FC236}">
                      <a16:creationId xmlns:a16="http://schemas.microsoft.com/office/drawing/2014/main" id="{44C3AE0F-80F5-0036-43E2-9CB0650261A7}"/>
                    </a:ext>
                  </a:extLst>
                </p:cNvPr>
                <p:cNvCxnSpPr>
                  <a:cxnSpLocks/>
                </p:cNvCxnSpPr>
                <p:nvPr/>
              </p:nvCxnSpPr>
              <p:spPr>
                <a:xfrm flipH="1">
                  <a:off x="122688" y="3712862"/>
                  <a:ext cx="12072321" cy="73733"/>
                </a:xfrm>
                <a:prstGeom prst="line">
                  <a:avLst/>
                </a:prstGeom>
              </p:spPr>
              <p:style>
                <a:lnRef idx="2">
                  <a:schemeClr val="accent1"/>
                </a:lnRef>
                <a:fillRef idx="0">
                  <a:schemeClr val="accent1"/>
                </a:fillRef>
                <a:effectRef idx="1">
                  <a:schemeClr val="accent1"/>
                </a:effectRef>
                <a:fontRef idx="minor">
                  <a:schemeClr val="tx1"/>
                </a:fontRef>
              </p:style>
            </p:cxnSp>
            <p:pic>
              <p:nvPicPr>
                <p:cNvPr id="69" name="Picture 10" descr="Download Smile, Emoji, Happy. Royalty-Free Vector Graphic - Pixabay">
                  <a:extLst>
                    <a:ext uri="{FF2B5EF4-FFF2-40B4-BE49-F238E27FC236}">
                      <a16:creationId xmlns:a16="http://schemas.microsoft.com/office/drawing/2014/main" id="{7C498083-A576-1535-808A-2720CB038BA7}"/>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791225" y="3838278"/>
                  <a:ext cx="569070" cy="569070"/>
                </a:xfrm>
                <a:prstGeom prst="rect">
                  <a:avLst/>
                </a:prstGeom>
                <a:noFill/>
                <a:extLst>
                  <a:ext uri="{909E8E84-426E-40DD-AFC4-6F175D3DCCD1}">
                    <a14:hiddenFill xmlns:a14="http://schemas.microsoft.com/office/drawing/2010/main">
                      <a:solidFill>
                        <a:srgbClr val="FFFFFF"/>
                      </a:solidFill>
                    </a14:hiddenFill>
                  </a:ext>
                </a:extLst>
              </p:spPr>
            </p:pic>
            <p:pic>
              <p:nvPicPr>
                <p:cNvPr id="70" name="Picture 10" descr="Download Smile, Emoji, Happy. Royalty-Free Vector Graphic - Pixabay">
                  <a:extLst>
                    <a:ext uri="{FF2B5EF4-FFF2-40B4-BE49-F238E27FC236}">
                      <a16:creationId xmlns:a16="http://schemas.microsoft.com/office/drawing/2014/main" id="{883100A4-F2B6-1A85-554E-6E2F22F12A66}"/>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354501" y="3883972"/>
                  <a:ext cx="569070" cy="569070"/>
                </a:xfrm>
                <a:prstGeom prst="rect">
                  <a:avLst/>
                </a:prstGeom>
                <a:noFill/>
                <a:extLst>
                  <a:ext uri="{909E8E84-426E-40DD-AFC4-6F175D3DCCD1}">
                    <a14:hiddenFill xmlns:a14="http://schemas.microsoft.com/office/drawing/2010/main">
                      <a:solidFill>
                        <a:srgbClr val="FFFFFF"/>
                      </a:solidFill>
                    </a14:hiddenFill>
                  </a:ext>
                </a:extLst>
              </p:spPr>
            </p:pic>
            <p:pic>
              <p:nvPicPr>
                <p:cNvPr id="71" name="Picture 10" descr="Download Smile, Emoji, Happy. Royalty-Free Vector Graphic - Pixabay">
                  <a:extLst>
                    <a:ext uri="{FF2B5EF4-FFF2-40B4-BE49-F238E27FC236}">
                      <a16:creationId xmlns:a16="http://schemas.microsoft.com/office/drawing/2014/main" id="{093F79D2-0E37-F70D-9B45-49EAFDA1EBBE}"/>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1091806" y="5383880"/>
                  <a:ext cx="569070" cy="569069"/>
                </a:xfrm>
                <a:prstGeom prst="rect">
                  <a:avLst/>
                </a:prstGeom>
                <a:noFill/>
                <a:extLst>
                  <a:ext uri="{909E8E84-426E-40DD-AFC4-6F175D3DCCD1}">
                    <a14:hiddenFill xmlns:a14="http://schemas.microsoft.com/office/drawing/2010/main">
                      <a:solidFill>
                        <a:srgbClr val="FFFFFF"/>
                      </a:solidFill>
                    </a14:hiddenFill>
                  </a:ext>
                </a:extLst>
              </p:spPr>
            </p:pic>
            <p:pic>
              <p:nvPicPr>
                <p:cNvPr id="72" name="Picture 10" descr="Download Smile, Emoji, Happy. Royalty-Free Vector Graphic - Pixabay">
                  <a:extLst>
                    <a:ext uri="{FF2B5EF4-FFF2-40B4-BE49-F238E27FC236}">
                      <a16:creationId xmlns:a16="http://schemas.microsoft.com/office/drawing/2014/main" id="{04D833EE-E0E7-E4D5-7401-F85B3D5B204A}"/>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982401" y="3932237"/>
                  <a:ext cx="569070" cy="569069"/>
                </a:xfrm>
                <a:prstGeom prst="rect">
                  <a:avLst/>
                </a:prstGeom>
                <a:noFill/>
                <a:extLst>
                  <a:ext uri="{909E8E84-426E-40DD-AFC4-6F175D3DCCD1}">
                    <a14:hiddenFill xmlns:a14="http://schemas.microsoft.com/office/drawing/2010/main">
                      <a:solidFill>
                        <a:srgbClr val="FFFFFF"/>
                      </a:solidFill>
                    </a14:hiddenFill>
                  </a:ext>
                </a:extLst>
              </p:spPr>
            </p:pic>
            <p:pic>
              <p:nvPicPr>
                <p:cNvPr id="73" name="Picture 10" descr="Download Smile, Emoji, Happy. Royalty-Free Vector Graphic - Pixabay">
                  <a:extLst>
                    <a:ext uri="{FF2B5EF4-FFF2-40B4-BE49-F238E27FC236}">
                      <a16:creationId xmlns:a16="http://schemas.microsoft.com/office/drawing/2014/main" id="{F6FE818F-6555-37F0-C2B0-2376EE7B5A38}"/>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313552" y="3938458"/>
                  <a:ext cx="569070" cy="569069"/>
                </a:xfrm>
                <a:prstGeom prst="rect">
                  <a:avLst/>
                </a:prstGeom>
                <a:noFill/>
                <a:extLst>
                  <a:ext uri="{909E8E84-426E-40DD-AFC4-6F175D3DCCD1}">
                    <a14:hiddenFill xmlns:a14="http://schemas.microsoft.com/office/drawing/2010/main">
                      <a:solidFill>
                        <a:srgbClr val="FFFFFF"/>
                      </a:solidFill>
                    </a14:hiddenFill>
                  </a:ext>
                </a:extLst>
              </p:spPr>
            </p:pic>
            <p:cxnSp>
              <p:nvCxnSpPr>
                <p:cNvPr id="74" name="Straight Connector 73">
                  <a:extLst>
                    <a:ext uri="{FF2B5EF4-FFF2-40B4-BE49-F238E27FC236}">
                      <a16:creationId xmlns:a16="http://schemas.microsoft.com/office/drawing/2014/main" id="{A67F6F4E-0687-B4DD-7A37-03EE79A35A7B}"/>
                    </a:ext>
                  </a:extLst>
                </p:cNvPr>
                <p:cNvCxnSpPr>
                  <a:cxnSpLocks/>
                </p:cNvCxnSpPr>
                <p:nvPr/>
              </p:nvCxnSpPr>
              <p:spPr>
                <a:xfrm flipV="1">
                  <a:off x="1675989" y="2205467"/>
                  <a:ext cx="0" cy="4640949"/>
                </a:xfrm>
                <a:prstGeom prst="line">
                  <a:avLst/>
                </a:prstGeom>
              </p:spPr>
              <p:style>
                <a:lnRef idx="2">
                  <a:schemeClr val="accent1"/>
                </a:lnRef>
                <a:fillRef idx="0">
                  <a:schemeClr val="accent1"/>
                </a:fillRef>
                <a:effectRef idx="1">
                  <a:schemeClr val="accent1"/>
                </a:effectRef>
                <a:fontRef idx="minor">
                  <a:schemeClr val="tx1"/>
                </a:fontRef>
              </p:style>
            </p:cxnSp>
            <p:pic>
              <p:nvPicPr>
                <p:cNvPr id="75" name="Picture 74">
                  <a:extLst>
                    <a:ext uri="{FF2B5EF4-FFF2-40B4-BE49-F238E27FC236}">
                      <a16:creationId xmlns:a16="http://schemas.microsoft.com/office/drawing/2014/main" id="{12E8CB3A-27ED-F82A-5ACC-60E3AAD4C270}"/>
                    </a:ext>
                  </a:extLst>
                </p:cNvPr>
                <p:cNvPicPr>
                  <a:picLocks noChangeAspect="1"/>
                </p:cNvPicPr>
                <p:nvPr/>
              </p:nvPicPr>
              <p:blipFill>
                <a:blip r:embed="rId12"/>
                <a:stretch>
                  <a:fillRect/>
                </a:stretch>
              </p:blipFill>
              <p:spPr>
                <a:xfrm>
                  <a:off x="2098757" y="4995365"/>
                  <a:ext cx="980721" cy="1457828"/>
                </a:xfrm>
                <a:prstGeom prst="rect">
                  <a:avLst/>
                </a:prstGeom>
              </p:spPr>
            </p:pic>
            <p:pic>
              <p:nvPicPr>
                <p:cNvPr id="76" name="Picture 75">
                  <a:extLst>
                    <a:ext uri="{FF2B5EF4-FFF2-40B4-BE49-F238E27FC236}">
                      <a16:creationId xmlns:a16="http://schemas.microsoft.com/office/drawing/2014/main" id="{121BAF33-6219-38EE-91AD-AC188651CD6E}"/>
                    </a:ext>
                  </a:extLst>
                </p:cNvPr>
                <p:cNvPicPr>
                  <a:picLocks noChangeAspect="1"/>
                </p:cNvPicPr>
                <p:nvPr/>
              </p:nvPicPr>
              <p:blipFill>
                <a:blip r:embed="rId12"/>
                <a:stretch>
                  <a:fillRect/>
                </a:stretch>
              </p:blipFill>
              <p:spPr>
                <a:xfrm>
                  <a:off x="3816974" y="4889021"/>
                  <a:ext cx="980721" cy="1457828"/>
                </a:xfrm>
                <a:prstGeom prst="rect">
                  <a:avLst/>
                </a:prstGeom>
              </p:spPr>
            </p:pic>
            <p:pic>
              <p:nvPicPr>
                <p:cNvPr id="77" name="Picture 76">
                  <a:extLst>
                    <a:ext uri="{FF2B5EF4-FFF2-40B4-BE49-F238E27FC236}">
                      <a16:creationId xmlns:a16="http://schemas.microsoft.com/office/drawing/2014/main" id="{5234891F-19EC-02D2-58EC-5A66647BBAEF}"/>
                    </a:ext>
                  </a:extLst>
                </p:cNvPr>
                <p:cNvPicPr>
                  <a:picLocks noChangeAspect="1"/>
                </p:cNvPicPr>
                <p:nvPr/>
              </p:nvPicPr>
              <p:blipFill>
                <a:blip r:embed="rId12"/>
                <a:stretch>
                  <a:fillRect/>
                </a:stretch>
              </p:blipFill>
              <p:spPr>
                <a:xfrm>
                  <a:off x="5605639" y="4897421"/>
                  <a:ext cx="980721" cy="1457828"/>
                </a:xfrm>
                <a:prstGeom prst="rect">
                  <a:avLst/>
                </a:prstGeom>
              </p:spPr>
            </p:pic>
            <p:pic>
              <p:nvPicPr>
                <p:cNvPr id="78" name="Picture 77">
                  <a:extLst>
                    <a:ext uri="{FF2B5EF4-FFF2-40B4-BE49-F238E27FC236}">
                      <a16:creationId xmlns:a16="http://schemas.microsoft.com/office/drawing/2014/main" id="{9A1CF252-A9CA-9169-041B-FC12D8D54464}"/>
                    </a:ext>
                  </a:extLst>
                </p:cNvPr>
                <p:cNvPicPr>
                  <a:picLocks noChangeAspect="1"/>
                </p:cNvPicPr>
                <p:nvPr/>
              </p:nvPicPr>
              <p:blipFill>
                <a:blip r:embed="rId12"/>
                <a:stretch>
                  <a:fillRect/>
                </a:stretch>
              </p:blipFill>
              <p:spPr>
                <a:xfrm>
                  <a:off x="7380256" y="4958844"/>
                  <a:ext cx="980721" cy="1457828"/>
                </a:xfrm>
                <a:prstGeom prst="rect">
                  <a:avLst/>
                </a:prstGeom>
              </p:spPr>
            </p:pic>
            <p:pic>
              <p:nvPicPr>
                <p:cNvPr id="79" name="Picture 78">
                  <a:extLst>
                    <a:ext uri="{FF2B5EF4-FFF2-40B4-BE49-F238E27FC236}">
                      <a16:creationId xmlns:a16="http://schemas.microsoft.com/office/drawing/2014/main" id="{E3433776-B619-C37C-555E-1B28FC9F0969}"/>
                    </a:ext>
                  </a:extLst>
                </p:cNvPr>
                <p:cNvPicPr>
                  <a:picLocks noChangeAspect="1"/>
                </p:cNvPicPr>
                <p:nvPr/>
              </p:nvPicPr>
              <p:blipFill>
                <a:blip r:embed="rId12"/>
                <a:stretch>
                  <a:fillRect/>
                </a:stretch>
              </p:blipFill>
              <p:spPr>
                <a:xfrm>
                  <a:off x="9156032" y="4975038"/>
                  <a:ext cx="980721" cy="1457828"/>
                </a:xfrm>
                <a:prstGeom prst="rect">
                  <a:avLst/>
                </a:prstGeom>
              </p:spPr>
            </p:pic>
            <p:pic>
              <p:nvPicPr>
                <p:cNvPr id="80" name="Picture 79">
                  <a:extLst>
                    <a:ext uri="{FF2B5EF4-FFF2-40B4-BE49-F238E27FC236}">
                      <a16:creationId xmlns:a16="http://schemas.microsoft.com/office/drawing/2014/main" id="{F2A5AE51-0926-7AD1-B37A-C7BB602C4A80}"/>
                    </a:ext>
                  </a:extLst>
                </p:cNvPr>
                <p:cNvPicPr>
                  <a:picLocks noChangeAspect="1"/>
                </p:cNvPicPr>
                <p:nvPr/>
              </p:nvPicPr>
              <p:blipFill>
                <a:blip r:embed="rId12"/>
                <a:stretch>
                  <a:fillRect/>
                </a:stretch>
              </p:blipFill>
              <p:spPr>
                <a:xfrm>
                  <a:off x="10849929" y="3464381"/>
                  <a:ext cx="980721" cy="1457828"/>
                </a:xfrm>
                <a:prstGeom prst="rect">
                  <a:avLst/>
                </a:prstGeom>
              </p:spPr>
            </p:pic>
            <p:pic>
              <p:nvPicPr>
                <p:cNvPr id="81" name="Picture 80">
                  <a:extLst>
                    <a:ext uri="{FF2B5EF4-FFF2-40B4-BE49-F238E27FC236}">
                      <a16:creationId xmlns:a16="http://schemas.microsoft.com/office/drawing/2014/main" id="{5AAC4AD1-DECB-1916-D5ED-354C72ECA9AF}"/>
                    </a:ext>
                  </a:extLst>
                </p:cNvPr>
                <p:cNvPicPr>
                  <a:picLocks noChangeAspect="1"/>
                </p:cNvPicPr>
                <p:nvPr/>
              </p:nvPicPr>
              <p:blipFill>
                <a:blip r:embed="rId12"/>
                <a:stretch>
                  <a:fillRect/>
                </a:stretch>
              </p:blipFill>
              <p:spPr>
                <a:xfrm>
                  <a:off x="7402838" y="3439593"/>
                  <a:ext cx="980721" cy="1457828"/>
                </a:xfrm>
                <a:prstGeom prst="rect">
                  <a:avLst/>
                </a:prstGeom>
              </p:spPr>
            </p:pic>
            <p:cxnSp>
              <p:nvCxnSpPr>
                <p:cNvPr id="82" name="Straight Connector 81">
                  <a:extLst>
                    <a:ext uri="{FF2B5EF4-FFF2-40B4-BE49-F238E27FC236}">
                      <a16:creationId xmlns:a16="http://schemas.microsoft.com/office/drawing/2014/main" id="{10A0FD33-F557-9BD9-F266-817F86CDD324}"/>
                    </a:ext>
                  </a:extLst>
                </p:cNvPr>
                <p:cNvCxnSpPr>
                  <a:cxnSpLocks/>
                </p:cNvCxnSpPr>
                <p:nvPr/>
              </p:nvCxnSpPr>
              <p:spPr>
                <a:xfrm flipH="1">
                  <a:off x="122688" y="5139752"/>
                  <a:ext cx="12072323" cy="104426"/>
                </a:xfrm>
                <a:prstGeom prst="line">
                  <a:avLst/>
                </a:prstGeom>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83" name="TextBox 82">
                      <a:extLst>
                        <a:ext uri="{FF2B5EF4-FFF2-40B4-BE49-F238E27FC236}">
                          <a16:creationId xmlns:a16="http://schemas.microsoft.com/office/drawing/2014/main" id="{AF21FE58-F0DB-54EE-FBAF-556A5A0C7758}"/>
                        </a:ext>
                      </a:extLst>
                    </p:cNvPr>
                    <p:cNvSpPr txBox="1"/>
                    <p:nvPr/>
                  </p:nvSpPr>
                  <p:spPr>
                    <a:xfrm>
                      <a:off x="2269140" y="4512871"/>
                      <a:ext cx="618340" cy="68958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smtClean="0">
                                <a:solidFill>
                                  <a:schemeClr val="accent5"/>
                                </a:solidFill>
                                <a:latin typeface="Cambria Math" panose="02040503050406030204" pitchFamily="18" charset="0"/>
                              </a:rPr>
                              <m:t>1</m:t>
                            </m:r>
                          </m:oMath>
                        </m:oMathPara>
                      </a14:m>
                      <a:endParaRPr lang="en-US" sz="2400" dirty="0">
                        <a:solidFill>
                          <a:schemeClr val="accent5"/>
                        </a:solidFill>
                      </a:endParaRPr>
                    </a:p>
                  </p:txBody>
                </p:sp>
              </mc:Choice>
              <mc:Fallback xmlns="">
                <p:sp>
                  <p:nvSpPr>
                    <p:cNvPr id="83" name="TextBox 82">
                      <a:extLst>
                        <a:ext uri="{FF2B5EF4-FFF2-40B4-BE49-F238E27FC236}">
                          <a16:creationId xmlns:a16="http://schemas.microsoft.com/office/drawing/2014/main" id="{AF21FE58-F0DB-54EE-FBAF-556A5A0C7758}"/>
                        </a:ext>
                      </a:extLst>
                    </p:cNvPr>
                    <p:cNvSpPr txBox="1">
                      <a:spLocks noRot="1" noChangeAspect="1" noMove="1" noResize="1" noEditPoints="1" noAdjustHandles="1" noChangeArrowheads="1" noChangeShapeType="1" noTextEdit="1"/>
                    </p:cNvSpPr>
                    <p:nvPr/>
                  </p:nvSpPr>
                  <p:spPr>
                    <a:xfrm>
                      <a:off x="2269140" y="4512871"/>
                      <a:ext cx="618340" cy="689585"/>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4" name="TextBox 83">
                      <a:extLst>
                        <a:ext uri="{FF2B5EF4-FFF2-40B4-BE49-F238E27FC236}">
                          <a16:creationId xmlns:a16="http://schemas.microsoft.com/office/drawing/2014/main" id="{F6468FA9-860B-A69B-6D59-388C785036ED}"/>
                        </a:ext>
                      </a:extLst>
                    </p:cNvPr>
                    <p:cNvSpPr txBox="1"/>
                    <p:nvPr/>
                  </p:nvSpPr>
                  <p:spPr>
                    <a:xfrm>
                      <a:off x="3866483" y="4521639"/>
                      <a:ext cx="618340" cy="68958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smtClean="0">
                                <a:solidFill>
                                  <a:schemeClr val="accent5"/>
                                </a:solidFill>
                                <a:latin typeface="Cambria Math" panose="02040503050406030204" pitchFamily="18" charset="0"/>
                              </a:rPr>
                              <m:t>1</m:t>
                            </m:r>
                          </m:oMath>
                        </m:oMathPara>
                      </a14:m>
                      <a:endParaRPr lang="en-US" sz="2400" dirty="0">
                        <a:solidFill>
                          <a:schemeClr val="accent5"/>
                        </a:solidFill>
                      </a:endParaRPr>
                    </a:p>
                  </p:txBody>
                </p:sp>
              </mc:Choice>
              <mc:Fallback xmlns="">
                <p:sp>
                  <p:nvSpPr>
                    <p:cNvPr id="84" name="TextBox 83">
                      <a:extLst>
                        <a:ext uri="{FF2B5EF4-FFF2-40B4-BE49-F238E27FC236}">
                          <a16:creationId xmlns:a16="http://schemas.microsoft.com/office/drawing/2014/main" id="{F6468FA9-860B-A69B-6D59-388C785036ED}"/>
                        </a:ext>
                      </a:extLst>
                    </p:cNvPr>
                    <p:cNvSpPr txBox="1">
                      <a:spLocks noRot="1" noChangeAspect="1" noMove="1" noResize="1" noEditPoints="1" noAdjustHandles="1" noChangeArrowheads="1" noChangeShapeType="1" noTextEdit="1"/>
                    </p:cNvSpPr>
                    <p:nvPr/>
                  </p:nvSpPr>
                  <p:spPr>
                    <a:xfrm>
                      <a:off x="3866483" y="4521639"/>
                      <a:ext cx="618340" cy="689585"/>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5" name="TextBox 84">
                      <a:extLst>
                        <a:ext uri="{FF2B5EF4-FFF2-40B4-BE49-F238E27FC236}">
                          <a16:creationId xmlns:a16="http://schemas.microsoft.com/office/drawing/2014/main" id="{AC1E9BD3-16E0-AEDF-A461-3B4F72183784}"/>
                        </a:ext>
                      </a:extLst>
                    </p:cNvPr>
                    <p:cNvSpPr txBox="1"/>
                    <p:nvPr/>
                  </p:nvSpPr>
                  <p:spPr>
                    <a:xfrm>
                      <a:off x="5331148" y="4491659"/>
                      <a:ext cx="1514685" cy="68958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smtClean="0">
                                <a:solidFill>
                                  <a:schemeClr val="accent5"/>
                                </a:solidFill>
                                <a:latin typeface="Cambria Math" panose="02040503050406030204" pitchFamily="18" charset="0"/>
                              </a:rPr>
                              <m:t>1</m:t>
                            </m:r>
                          </m:oMath>
                        </m:oMathPara>
                      </a14:m>
                      <a:endParaRPr lang="en-US" sz="2400" dirty="0">
                        <a:solidFill>
                          <a:schemeClr val="accent5"/>
                        </a:solidFill>
                      </a:endParaRPr>
                    </a:p>
                  </p:txBody>
                </p:sp>
              </mc:Choice>
              <mc:Fallback xmlns="">
                <p:sp>
                  <p:nvSpPr>
                    <p:cNvPr id="85" name="TextBox 84">
                      <a:extLst>
                        <a:ext uri="{FF2B5EF4-FFF2-40B4-BE49-F238E27FC236}">
                          <a16:creationId xmlns:a16="http://schemas.microsoft.com/office/drawing/2014/main" id="{AC1E9BD3-16E0-AEDF-A461-3B4F72183784}"/>
                        </a:ext>
                      </a:extLst>
                    </p:cNvPr>
                    <p:cNvSpPr txBox="1">
                      <a:spLocks noRot="1" noChangeAspect="1" noMove="1" noResize="1" noEditPoints="1" noAdjustHandles="1" noChangeArrowheads="1" noChangeShapeType="1" noTextEdit="1"/>
                    </p:cNvSpPr>
                    <p:nvPr/>
                  </p:nvSpPr>
                  <p:spPr>
                    <a:xfrm>
                      <a:off x="5331148" y="4491659"/>
                      <a:ext cx="1514685" cy="689585"/>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6" name="TextBox 85">
                      <a:extLst>
                        <a:ext uri="{FF2B5EF4-FFF2-40B4-BE49-F238E27FC236}">
                          <a16:creationId xmlns:a16="http://schemas.microsoft.com/office/drawing/2014/main" id="{1CC518ED-A30E-DE99-9D8F-FA5ABAE9582D}"/>
                        </a:ext>
                      </a:extLst>
                    </p:cNvPr>
                    <p:cNvSpPr txBox="1"/>
                    <p:nvPr/>
                  </p:nvSpPr>
                  <p:spPr>
                    <a:xfrm>
                      <a:off x="7628123" y="4495835"/>
                      <a:ext cx="618340" cy="68958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smtClean="0">
                                <a:solidFill>
                                  <a:schemeClr val="accent5"/>
                                </a:solidFill>
                                <a:latin typeface="Cambria Math" panose="02040503050406030204" pitchFamily="18" charset="0"/>
                              </a:rPr>
                              <m:t>0</m:t>
                            </m:r>
                          </m:oMath>
                        </m:oMathPara>
                      </a14:m>
                      <a:endParaRPr lang="en-US" sz="2400" dirty="0">
                        <a:solidFill>
                          <a:schemeClr val="accent5"/>
                        </a:solidFill>
                      </a:endParaRPr>
                    </a:p>
                  </p:txBody>
                </p:sp>
              </mc:Choice>
              <mc:Fallback xmlns="">
                <p:sp>
                  <p:nvSpPr>
                    <p:cNvPr id="86" name="TextBox 85">
                      <a:extLst>
                        <a:ext uri="{FF2B5EF4-FFF2-40B4-BE49-F238E27FC236}">
                          <a16:creationId xmlns:a16="http://schemas.microsoft.com/office/drawing/2014/main" id="{1CC518ED-A30E-DE99-9D8F-FA5ABAE9582D}"/>
                        </a:ext>
                      </a:extLst>
                    </p:cNvPr>
                    <p:cNvSpPr txBox="1">
                      <a:spLocks noRot="1" noChangeAspect="1" noMove="1" noResize="1" noEditPoints="1" noAdjustHandles="1" noChangeArrowheads="1" noChangeShapeType="1" noTextEdit="1"/>
                    </p:cNvSpPr>
                    <p:nvPr/>
                  </p:nvSpPr>
                  <p:spPr>
                    <a:xfrm>
                      <a:off x="7628123" y="4495835"/>
                      <a:ext cx="618340" cy="689585"/>
                    </a:xfrm>
                    <a:prstGeom prst="rect">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7" name="TextBox 86">
                      <a:extLst>
                        <a:ext uri="{FF2B5EF4-FFF2-40B4-BE49-F238E27FC236}">
                          <a16:creationId xmlns:a16="http://schemas.microsoft.com/office/drawing/2014/main" id="{64B19E32-12F8-7BC0-E0C1-67F28B8BCBCB}"/>
                        </a:ext>
                      </a:extLst>
                    </p:cNvPr>
                    <p:cNvSpPr txBox="1"/>
                    <p:nvPr/>
                  </p:nvSpPr>
                  <p:spPr>
                    <a:xfrm>
                      <a:off x="9349545" y="4497666"/>
                      <a:ext cx="618340" cy="68958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smtClean="0">
                                <a:solidFill>
                                  <a:schemeClr val="accent5"/>
                                </a:solidFill>
                                <a:latin typeface="Cambria Math" panose="02040503050406030204" pitchFamily="18" charset="0"/>
                              </a:rPr>
                              <m:t>1</m:t>
                            </m:r>
                          </m:oMath>
                        </m:oMathPara>
                      </a14:m>
                      <a:endParaRPr lang="en-US" sz="2400" dirty="0">
                        <a:solidFill>
                          <a:schemeClr val="accent5"/>
                        </a:solidFill>
                      </a:endParaRPr>
                    </a:p>
                  </p:txBody>
                </p:sp>
              </mc:Choice>
              <mc:Fallback xmlns="">
                <p:sp>
                  <p:nvSpPr>
                    <p:cNvPr id="87" name="TextBox 86">
                      <a:extLst>
                        <a:ext uri="{FF2B5EF4-FFF2-40B4-BE49-F238E27FC236}">
                          <a16:creationId xmlns:a16="http://schemas.microsoft.com/office/drawing/2014/main" id="{64B19E32-12F8-7BC0-E0C1-67F28B8BCBCB}"/>
                        </a:ext>
                      </a:extLst>
                    </p:cNvPr>
                    <p:cNvSpPr txBox="1">
                      <a:spLocks noRot="1" noChangeAspect="1" noMove="1" noResize="1" noEditPoints="1" noAdjustHandles="1" noChangeArrowheads="1" noChangeShapeType="1" noTextEdit="1"/>
                    </p:cNvSpPr>
                    <p:nvPr/>
                  </p:nvSpPr>
                  <p:spPr>
                    <a:xfrm>
                      <a:off x="9349545" y="4497666"/>
                      <a:ext cx="618340" cy="689585"/>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8" name="TextBox 87">
                      <a:extLst>
                        <a:ext uri="{FF2B5EF4-FFF2-40B4-BE49-F238E27FC236}">
                          <a16:creationId xmlns:a16="http://schemas.microsoft.com/office/drawing/2014/main" id="{B460D7AA-2E65-2C39-295D-7A64B5F53DD6}"/>
                        </a:ext>
                      </a:extLst>
                    </p:cNvPr>
                    <p:cNvSpPr txBox="1"/>
                    <p:nvPr/>
                  </p:nvSpPr>
                  <p:spPr>
                    <a:xfrm>
                      <a:off x="10849922" y="4524792"/>
                      <a:ext cx="1068463" cy="68958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smtClean="0">
                                <a:solidFill>
                                  <a:schemeClr val="accent5"/>
                                </a:solidFill>
                                <a:latin typeface="Cambria Math" panose="02040503050406030204" pitchFamily="18" charset="0"/>
                              </a:rPr>
                              <m:t>0</m:t>
                            </m:r>
                          </m:oMath>
                        </m:oMathPara>
                      </a14:m>
                      <a:endParaRPr lang="en-US" sz="2400" dirty="0">
                        <a:solidFill>
                          <a:schemeClr val="accent5"/>
                        </a:solidFill>
                      </a:endParaRPr>
                    </a:p>
                  </p:txBody>
                </p:sp>
              </mc:Choice>
              <mc:Fallback xmlns="">
                <p:sp>
                  <p:nvSpPr>
                    <p:cNvPr id="88" name="TextBox 87">
                      <a:extLst>
                        <a:ext uri="{FF2B5EF4-FFF2-40B4-BE49-F238E27FC236}">
                          <a16:creationId xmlns:a16="http://schemas.microsoft.com/office/drawing/2014/main" id="{B460D7AA-2E65-2C39-295D-7A64B5F53DD6}"/>
                        </a:ext>
                      </a:extLst>
                    </p:cNvPr>
                    <p:cNvSpPr txBox="1">
                      <a:spLocks noRot="1" noChangeAspect="1" noMove="1" noResize="1" noEditPoints="1" noAdjustHandles="1" noChangeArrowheads="1" noChangeShapeType="1" noTextEdit="1"/>
                    </p:cNvSpPr>
                    <p:nvPr/>
                  </p:nvSpPr>
                  <p:spPr>
                    <a:xfrm>
                      <a:off x="10849922" y="4524792"/>
                      <a:ext cx="1068463" cy="689585"/>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9" name="TextBox 88">
                      <a:extLst>
                        <a:ext uri="{FF2B5EF4-FFF2-40B4-BE49-F238E27FC236}">
                          <a16:creationId xmlns:a16="http://schemas.microsoft.com/office/drawing/2014/main" id="{4D6BDBA0-C095-54A3-8EAB-BCF2C990A038}"/>
                        </a:ext>
                      </a:extLst>
                    </p:cNvPr>
                    <p:cNvSpPr txBox="1"/>
                    <p:nvPr/>
                  </p:nvSpPr>
                  <p:spPr>
                    <a:xfrm>
                      <a:off x="1981859" y="6082622"/>
                      <a:ext cx="1020877" cy="68958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smtClean="0">
                                <a:solidFill>
                                  <a:schemeClr val="accent5"/>
                                </a:solidFill>
                                <a:latin typeface="Cambria Math" panose="02040503050406030204" pitchFamily="18" charset="0"/>
                              </a:rPr>
                              <m:t>0</m:t>
                            </m:r>
                          </m:oMath>
                        </m:oMathPara>
                      </a14:m>
                      <a:endParaRPr lang="en-US" sz="2400" dirty="0">
                        <a:solidFill>
                          <a:schemeClr val="accent5"/>
                        </a:solidFill>
                      </a:endParaRPr>
                    </a:p>
                  </p:txBody>
                </p:sp>
              </mc:Choice>
              <mc:Fallback xmlns="">
                <p:sp>
                  <p:nvSpPr>
                    <p:cNvPr id="89" name="TextBox 88">
                      <a:extLst>
                        <a:ext uri="{FF2B5EF4-FFF2-40B4-BE49-F238E27FC236}">
                          <a16:creationId xmlns:a16="http://schemas.microsoft.com/office/drawing/2014/main" id="{4D6BDBA0-C095-54A3-8EAB-BCF2C990A038}"/>
                        </a:ext>
                      </a:extLst>
                    </p:cNvPr>
                    <p:cNvSpPr txBox="1">
                      <a:spLocks noRot="1" noChangeAspect="1" noMove="1" noResize="1" noEditPoints="1" noAdjustHandles="1" noChangeArrowheads="1" noChangeShapeType="1" noTextEdit="1"/>
                    </p:cNvSpPr>
                    <p:nvPr/>
                  </p:nvSpPr>
                  <p:spPr>
                    <a:xfrm>
                      <a:off x="1981859" y="6082622"/>
                      <a:ext cx="1020877" cy="689585"/>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0" name="TextBox 89">
                      <a:extLst>
                        <a:ext uri="{FF2B5EF4-FFF2-40B4-BE49-F238E27FC236}">
                          <a16:creationId xmlns:a16="http://schemas.microsoft.com/office/drawing/2014/main" id="{A5909E4E-7DF8-E59B-F586-6271C5700AB9}"/>
                        </a:ext>
                      </a:extLst>
                    </p:cNvPr>
                    <p:cNvSpPr txBox="1"/>
                    <p:nvPr/>
                  </p:nvSpPr>
                  <p:spPr>
                    <a:xfrm>
                      <a:off x="3681383" y="6082622"/>
                      <a:ext cx="1379168" cy="68958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smtClean="0">
                                <a:solidFill>
                                  <a:schemeClr val="accent5"/>
                                </a:solidFill>
                                <a:latin typeface="Cambria Math" panose="02040503050406030204" pitchFamily="18" charset="0"/>
                              </a:rPr>
                              <m:t>0</m:t>
                            </m:r>
                          </m:oMath>
                        </m:oMathPara>
                      </a14:m>
                      <a:endParaRPr lang="en-US" sz="2400" dirty="0">
                        <a:solidFill>
                          <a:schemeClr val="accent5"/>
                        </a:solidFill>
                      </a:endParaRPr>
                    </a:p>
                  </p:txBody>
                </p:sp>
              </mc:Choice>
              <mc:Fallback xmlns="">
                <p:sp>
                  <p:nvSpPr>
                    <p:cNvPr id="90" name="TextBox 89">
                      <a:extLst>
                        <a:ext uri="{FF2B5EF4-FFF2-40B4-BE49-F238E27FC236}">
                          <a16:creationId xmlns:a16="http://schemas.microsoft.com/office/drawing/2014/main" id="{A5909E4E-7DF8-E59B-F586-6271C5700AB9}"/>
                        </a:ext>
                      </a:extLst>
                    </p:cNvPr>
                    <p:cNvSpPr txBox="1">
                      <a:spLocks noRot="1" noChangeAspect="1" noMove="1" noResize="1" noEditPoints="1" noAdjustHandles="1" noChangeArrowheads="1" noChangeShapeType="1" noTextEdit="1"/>
                    </p:cNvSpPr>
                    <p:nvPr/>
                  </p:nvSpPr>
                  <p:spPr>
                    <a:xfrm>
                      <a:off x="3681383" y="6082622"/>
                      <a:ext cx="1379168" cy="689585"/>
                    </a:xfrm>
                    <a:prstGeom prst="rect">
                      <a:avLst/>
                    </a:prstGeom>
                    <a:blipFill>
                      <a:blip r:embed="rId2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1" name="TextBox 90">
                      <a:extLst>
                        <a:ext uri="{FF2B5EF4-FFF2-40B4-BE49-F238E27FC236}">
                          <a16:creationId xmlns:a16="http://schemas.microsoft.com/office/drawing/2014/main" id="{E07AA31B-96EA-ADBB-7DEF-19B57232F53E}"/>
                        </a:ext>
                      </a:extLst>
                    </p:cNvPr>
                    <p:cNvSpPr txBox="1"/>
                    <p:nvPr/>
                  </p:nvSpPr>
                  <p:spPr>
                    <a:xfrm>
                      <a:off x="5610123" y="6103529"/>
                      <a:ext cx="1009843" cy="68958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smtClean="0">
                                <a:solidFill>
                                  <a:schemeClr val="accent5"/>
                                </a:solidFill>
                                <a:latin typeface="Cambria Math" panose="02040503050406030204" pitchFamily="18" charset="0"/>
                              </a:rPr>
                              <m:t>0</m:t>
                            </m:r>
                          </m:oMath>
                        </m:oMathPara>
                      </a14:m>
                      <a:endParaRPr lang="en-US" sz="2400" dirty="0">
                        <a:solidFill>
                          <a:schemeClr val="accent5"/>
                        </a:solidFill>
                      </a:endParaRPr>
                    </a:p>
                  </p:txBody>
                </p:sp>
              </mc:Choice>
              <mc:Fallback xmlns="">
                <p:sp>
                  <p:nvSpPr>
                    <p:cNvPr id="91" name="TextBox 90">
                      <a:extLst>
                        <a:ext uri="{FF2B5EF4-FFF2-40B4-BE49-F238E27FC236}">
                          <a16:creationId xmlns:a16="http://schemas.microsoft.com/office/drawing/2014/main" id="{E07AA31B-96EA-ADBB-7DEF-19B57232F53E}"/>
                        </a:ext>
                      </a:extLst>
                    </p:cNvPr>
                    <p:cNvSpPr txBox="1">
                      <a:spLocks noRot="1" noChangeAspect="1" noMove="1" noResize="1" noEditPoints="1" noAdjustHandles="1" noChangeArrowheads="1" noChangeShapeType="1" noTextEdit="1"/>
                    </p:cNvSpPr>
                    <p:nvPr/>
                  </p:nvSpPr>
                  <p:spPr>
                    <a:xfrm>
                      <a:off x="5610123" y="6103529"/>
                      <a:ext cx="1009843" cy="689585"/>
                    </a:xfrm>
                    <a:prstGeom prst="rect">
                      <a:avLst/>
                    </a:prstGeom>
                    <a:blipFill>
                      <a:blip r:embed="rId2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2" name="TextBox 91">
                      <a:extLst>
                        <a:ext uri="{FF2B5EF4-FFF2-40B4-BE49-F238E27FC236}">
                          <a16:creationId xmlns:a16="http://schemas.microsoft.com/office/drawing/2014/main" id="{91EF7509-0D81-26E6-1EC5-710281F22846}"/>
                        </a:ext>
                      </a:extLst>
                    </p:cNvPr>
                    <p:cNvSpPr txBox="1"/>
                    <p:nvPr/>
                  </p:nvSpPr>
                  <p:spPr>
                    <a:xfrm>
                      <a:off x="7435553" y="6103529"/>
                      <a:ext cx="892707" cy="68958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smtClean="0">
                                <a:solidFill>
                                  <a:schemeClr val="accent5"/>
                                </a:solidFill>
                                <a:latin typeface="Cambria Math" panose="02040503050406030204" pitchFamily="18" charset="0"/>
                              </a:rPr>
                              <m:t>0</m:t>
                            </m:r>
                          </m:oMath>
                        </m:oMathPara>
                      </a14:m>
                      <a:endParaRPr lang="en-US" sz="2400" dirty="0">
                        <a:solidFill>
                          <a:schemeClr val="accent5"/>
                        </a:solidFill>
                      </a:endParaRPr>
                    </a:p>
                  </p:txBody>
                </p:sp>
              </mc:Choice>
              <mc:Fallback xmlns="">
                <p:sp>
                  <p:nvSpPr>
                    <p:cNvPr id="92" name="TextBox 91">
                      <a:extLst>
                        <a:ext uri="{FF2B5EF4-FFF2-40B4-BE49-F238E27FC236}">
                          <a16:creationId xmlns:a16="http://schemas.microsoft.com/office/drawing/2014/main" id="{91EF7509-0D81-26E6-1EC5-710281F22846}"/>
                        </a:ext>
                      </a:extLst>
                    </p:cNvPr>
                    <p:cNvSpPr txBox="1">
                      <a:spLocks noRot="1" noChangeAspect="1" noMove="1" noResize="1" noEditPoints="1" noAdjustHandles="1" noChangeArrowheads="1" noChangeShapeType="1" noTextEdit="1"/>
                    </p:cNvSpPr>
                    <p:nvPr/>
                  </p:nvSpPr>
                  <p:spPr>
                    <a:xfrm>
                      <a:off x="7435553" y="6103529"/>
                      <a:ext cx="892707" cy="689585"/>
                    </a:xfrm>
                    <a:prstGeom prst="rect">
                      <a:avLst/>
                    </a:prstGeom>
                    <a:blipFill>
                      <a:blip r:embed="rId2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3" name="TextBox 92">
                      <a:extLst>
                        <a:ext uri="{FF2B5EF4-FFF2-40B4-BE49-F238E27FC236}">
                          <a16:creationId xmlns:a16="http://schemas.microsoft.com/office/drawing/2014/main" id="{45F04062-7C91-9E69-F8A1-F3E520C2AD1F}"/>
                        </a:ext>
                      </a:extLst>
                    </p:cNvPr>
                    <p:cNvSpPr txBox="1"/>
                    <p:nvPr/>
                  </p:nvSpPr>
                  <p:spPr>
                    <a:xfrm>
                      <a:off x="8958862" y="6141735"/>
                      <a:ext cx="1431366" cy="68958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smtClean="0">
                                <a:solidFill>
                                  <a:schemeClr val="accent5"/>
                                </a:solidFill>
                                <a:latin typeface="Cambria Math" panose="02040503050406030204" pitchFamily="18" charset="0"/>
                              </a:rPr>
                              <m:t>0</m:t>
                            </m:r>
                          </m:oMath>
                        </m:oMathPara>
                      </a14:m>
                      <a:endParaRPr lang="en-US" sz="2400" dirty="0">
                        <a:solidFill>
                          <a:schemeClr val="accent5"/>
                        </a:solidFill>
                      </a:endParaRPr>
                    </a:p>
                  </p:txBody>
                </p:sp>
              </mc:Choice>
              <mc:Fallback xmlns="">
                <p:sp>
                  <p:nvSpPr>
                    <p:cNvPr id="93" name="TextBox 92">
                      <a:extLst>
                        <a:ext uri="{FF2B5EF4-FFF2-40B4-BE49-F238E27FC236}">
                          <a16:creationId xmlns:a16="http://schemas.microsoft.com/office/drawing/2014/main" id="{45F04062-7C91-9E69-F8A1-F3E520C2AD1F}"/>
                        </a:ext>
                      </a:extLst>
                    </p:cNvPr>
                    <p:cNvSpPr txBox="1">
                      <a:spLocks noRot="1" noChangeAspect="1" noMove="1" noResize="1" noEditPoints="1" noAdjustHandles="1" noChangeArrowheads="1" noChangeShapeType="1" noTextEdit="1"/>
                    </p:cNvSpPr>
                    <p:nvPr/>
                  </p:nvSpPr>
                  <p:spPr>
                    <a:xfrm>
                      <a:off x="8958862" y="6141735"/>
                      <a:ext cx="1431366" cy="689585"/>
                    </a:xfrm>
                    <a:prstGeom prst="rect">
                      <a:avLst/>
                    </a:prstGeom>
                    <a:blipFill>
                      <a:blip r:embed="rId2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4" name="TextBox 93">
                      <a:extLst>
                        <a:ext uri="{FF2B5EF4-FFF2-40B4-BE49-F238E27FC236}">
                          <a16:creationId xmlns:a16="http://schemas.microsoft.com/office/drawing/2014/main" id="{33E2DDD3-1704-F7DF-E329-EEFD3D1F1971}"/>
                        </a:ext>
                      </a:extLst>
                    </p:cNvPr>
                    <p:cNvSpPr txBox="1"/>
                    <p:nvPr/>
                  </p:nvSpPr>
                  <p:spPr>
                    <a:xfrm>
                      <a:off x="10836137" y="6082622"/>
                      <a:ext cx="1130565" cy="68958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smtClean="0">
                                <a:solidFill>
                                  <a:schemeClr val="accent5"/>
                                </a:solidFill>
                                <a:latin typeface="Cambria Math" panose="02040503050406030204" pitchFamily="18" charset="0"/>
                              </a:rPr>
                              <m:t>1</m:t>
                            </m:r>
                          </m:oMath>
                        </m:oMathPara>
                      </a14:m>
                      <a:endParaRPr lang="en-US" sz="2400" dirty="0">
                        <a:solidFill>
                          <a:schemeClr val="accent5"/>
                        </a:solidFill>
                      </a:endParaRPr>
                    </a:p>
                  </p:txBody>
                </p:sp>
              </mc:Choice>
              <mc:Fallback xmlns="">
                <p:sp>
                  <p:nvSpPr>
                    <p:cNvPr id="94" name="TextBox 93">
                      <a:extLst>
                        <a:ext uri="{FF2B5EF4-FFF2-40B4-BE49-F238E27FC236}">
                          <a16:creationId xmlns:a16="http://schemas.microsoft.com/office/drawing/2014/main" id="{33E2DDD3-1704-F7DF-E329-EEFD3D1F1971}"/>
                        </a:ext>
                      </a:extLst>
                    </p:cNvPr>
                    <p:cNvSpPr txBox="1">
                      <a:spLocks noRot="1" noChangeAspect="1" noMove="1" noResize="1" noEditPoints="1" noAdjustHandles="1" noChangeArrowheads="1" noChangeShapeType="1" noTextEdit="1"/>
                    </p:cNvSpPr>
                    <p:nvPr/>
                  </p:nvSpPr>
                  <p:spPr>
                    <a:xfrm>
                      <a:off x="10836137" y="6082622"/>
                      <a:ext cx="1130565" cy="689585"/>
                    </a:xfrm>
                    <a:prstGeom prst="rect">
                      <a:avLst/>
                    </a:prstGeom>
                    <a:blipFill>
                      <a:blip r:embed="rId25"/>
                      <a:stretch>
                        <a:fillRect/>
                      </a:stretch>
                    </a:blipFill>
                  </p:spPr>
                  <p:txBody>
                    <a:bodyPr/>
                    <a:lstStyle/>
                    <a:p>
                      <a:r>
                        <a:rPr lang="en-US">
                          <a:noFill/>
                        </a:rPr>
                        <a:t> </a:t>
                      </a:r>
                    </a:p>
                  </p:txBody>
                </p:sp>
              </mc:Fallback>
            </mc:AlternateContent>
            <p:cxnSp>
              <p:nvCxnSpPr>
                <p:cNvPr id="95" name="Straight Connector 94">
                  <a:extLst>
                    <a:ext uri="{FF2B5EF4-FFF2-40B4-BE49-F238E27FC236}">
                      <a16:creationId xmlns:a16="http://schemas.microsoft.com/office/drawing/2014/main" id="{99E25DC5-E390-5D6C-5BBB-850BB56B8A48}"/>
                    </a:ext>
                  </a:extLst>
                </p:cNvPr>
                <p:cNvCxnSpPr>
                  <a:cxnSpLocks/>
                </p:cNvCxnSpPr>
                <p:nvPr/>
              </p:nvCxnSpPr>
              <p:spPr>
                <a:xfrm flipV="1">
                  <a:off x="3336099" y="2205467"/>
                  <a:ext cx="0" cy="4712523"/>
                </a:xfrm>
                <a:prstGeom prst="line">
                  <a:avLst/>
                </a:prstGeom>
              </p:spPr>
              <p:style>
                <a:lnRef idx="2">
                  <a:schemeClr val="accent1"/>
                </a:lnRef>
                <a:fillRef idx="0">
                  <a:schemeClr val="accent1"/>
                </a:fillRef>
                <a:effectRef idx="1">
                  <a:schemeClr val="accent1"/>
                </a:effectRef>
                <a:fontRef idx="minor">
                  <a:schemeClr val="tx1"/>
                </a:fontRef>
              </p:style>
            </p:cxnSp>
            <p:cxnSp>
              <p:nvCxnSpPr>
                <p:cNvPr id="96" name="Straight Connector 95">
                  <a:extLst>
                    <a:ext uri="{FF2B5EF4-FFF2-40B4-BE49-F238E27FC236}">
                      <a16:creationId xmlns:a16="http://schemas.microsoft.com/office/drawing/2014/main" id="{F993F745-68C5-CFC8-67CC-AE8B09EBD7AF}"/>
                    </a:ext>
                  </a:extLst>
                </p:cNvPr>
                <p:cNvCxnSpPr>
                  <a:cxnSpLocks/>
                </p:cNvCxnSpPr>
                <p:nvPr/>
              </p:nvCxnSpPr>
              <p:spPr>
                <a:xfrm flipV="1">
                  <a:off x="5117275" y="2205467"/>
                  <a:ext cx="0" cy="4648995"/>
                </a:xfrm>
                <a:prstGeom prst="line">
                  <a:avLst/>
                </a:prstGeom>
              </p:spPr>
              <p:style>
                <a:lnRef idx="2">
                  <a:schemeClr val="accent1"/>
                </a:lnRef>
                <a:fillRef idx="0">
                  <a:schemeClr val="accent1"/>
                </a:fillRef>
                <a:effectRef idx="1">
                  <a:schemeClr val="accent1"/>
                </a:effectRef>
                <a:fontRef idx="minor">
                  <a:schemeClr val="tx1"/>
                </a:fontRef>
              </p:style>
            </p:cxnSp>
            <p:cxnSp>
              <p:nvCxnSpPr>
                <p:cNvPr id="97" name="Straight Connector 96">
                  <a:extLst>
                    <a:ext uri="{FF2B5EF4-FFF2-40B4-BE49-F238E27FC236}">
                      <a16:creationId xmlns:a16="http://schemas.microsoft.com/office/drawing/2014/main" id="{2E2A8B12-6CE2-B343-A4A7-87F29B56617C}"/>
                    </a:ext>
                  </a:extLst>
                </p:cNvPr>
                <p:cNvCxnSpPr>
                  <a:cxnSpLocks/>
                </p:cNvCxnSpPr>
                <p:nvPr/>
              </p:nvCxnSpPr>
              <p:spPr>
                <a:xfrm flipV="1">
                  <a:off x="6984175" y="2205467"/>
                  <a:ext cx="0" cy="4640949"/>
                </a:xfrm>
                <a:prstGeom prst="line">
                  <a:avLst/>
                </a:prstGeom>
              </p:spPr>
              <p:style>
                <a:lnRef idx="2">
                  <a:schemeClr val="accent1"/>
                </a:lnRef>
                <a:fillRef idx="0">
                  <a:schemeClr val="accent1"/>
                </a:fillRef>
                <a:effectRef idx="1">
                  <a:schemeClr val="accent1"/>
                </a:effectRef>
                <a:fontRef idx="minor">
                  <a:schemeClr val="tx1"/>
                </a:fontRef>
              </p:style>
            </p:cxnSp>
            <p:cxnSp>
              <p:nvCxnSpPr>
                <p:cNvPr id="98" name="Straight Connector 97">
                  <a:extLst>
                    <a:ext uri="{FF2B5EF4-FFF2-40B4-BE49-F238E27FC236}">
                      <a16:creationId xmlns:a16="http://schemas.microsoft.com/office/drawing/2014/main" id="{1D487ECB-EEA6-FFA7-FE55-097321686C12}"/>
                    </a:ext>
                  </a:extLst>
                </p:cNvPr>
                <p:cNvCxnSpPr>
                  <a:cxnSpLocks/>
                </p:cNvCxnSpPr>
                <p:nvPr/>
              </p:nvCxnSpPr>
              <p:spPr>
                <a:xfrm flipV="1">
                  <a:off x="8779639" y="2205467"/>
                  <a:ext cx="0" cy="4656040"/>
                </a:xfrm>
                <a:prstGeom prst="line">
                  <a:avLst/>
                </a:prstGeom>
              </p:spPr>
              <p:style>
                <a:lnRef idx="2">
                  <a:schemeClr val="accent1"/>
                </a:lnRef>
                <a:fillRef idx="0">
                  <a:schemeClr val="accent1"/>
                </a:fillRef>
                <a:effectRef idx="1">
                  <a:schemeClr val="accent1"/>
                </a:effectRef>
                <a:fontRef idx="minor">
                  <a:schemeClr val="tx1"/>
                </a:fontRef>
              </p:style>
            </p:cxnSp>
            <p:cxnSp>
              <p:nvCxnSpPr>
                <p:cNvPr id="99" name="Straight Connector 98">
                  <a:extLst>
                    <a:ext uri="{FF2B5EF4-FFF2-40B4-BE49-F238E27FC236}">
                      <a16:creationId xmlns:a16="http://schemas.microsoft.com/office/drawing/2014/main" id="{E952FBA1-2B78-FAF2-4105-9EC8E6A92476}"/>
                    </a:ext>
                  </a:extLst>
                </p:cNvPr>
                <p:cNvCxnSpPr>
                  <a:cxnSpLocks/>
                </p:cNvCxnSpPr>
                <p:nvPr/>
              </p:nvCxnSpPr>
              <p:spPr>
                <a:xfrm flipV="1">
                  <a:off x="10489376" y="2205467"/>
                  <a:ext cx="0" cy="4652533"/>
                </a:xfrm>
                <a:prstGeom prst="line">
                  <a:avLst/>
                </a:prstGeom>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00" name="TextBox 99">
                      <a:extLst>
                        <a:ext uri="{FF2B5EF4-FFF2-40B4-BE49-F238E27FC236}">
                          <a16:creationId xmlns:a16="http://schemas.microsoft.com/office/drawing/2014/main" id="{6C3CBF8D-3DB8-7DEF-2050-BD3ED87AC588}"/>
                        </a:ext>
                      </a:extLst>
                    </p:cNvPr>
                    <p:cNvSpPr txBox="1"/>
                    <p:nvPr/>
                  </p:nvSpPr>
                  <p:spPr>
                    <a:xfrm>
                      <a:off x="2218573" y="2171230"/>
                      <a:ext cx="883977" cy="68958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i="1" dirty="0" smtClean="0">
                                <a:solidFill>
                                  <a:schemeClr val="accent5"/>
                                </a:solidFill>
                                <a:latin typeface="Cambria Math" panose="02040503050406030204" pitchFamily="18" charset="0"/>
                              </a:rPr>
                              <m:t>1</m:t>
                            </m:r>
                          </m:oMath>
                        </m:oMathPara>
                      </a14:m>
                      <a:endParaRPr lang="en-US" sz="2400" dirty="0">
                        <a:solidFill>
                          <a:schemeClr val="accent5"/>
                        </a:solidFill>
                      </a:endParaRPr>
                    </a:p>
                  </p:txBody>
                </p:sp>
              </mc:Choice>
              <mc:Fallback xmlns="">
                <p:sp>
                  <p:nvSpPr>
                    <p:cNvPr id="100" name="TextBox 99">
                      <a:extLst>
                        <a:ext uri="{FF2B5EF4-FFF2-40B4-BE49-F238E27FC236}">
                          <a16:creationId xmlns:a16="http://schemas.microsoft.com/office/drawing/2014/main" id="{6C3CBF8D-3DB8-7DEF-2050-BD3ED87AC588}"/>
                        </a:ext>
                      </a:extLst>
                    </p:cNvPr>
                    <p:cNvSpPr txBox="1">
                      <a:spLocks noRot="1" noChangeAspect="1" noMove="1" noResize="1" noEditPoints="1" noAdjustHandles="1" noChangeArrowheads="1" noChangeShapeType="1" noTextEdit="1"/>
                    </p:cNvSpPr>
                    <p:nvPr/>
                  </p:nvSpPr>
                  <p:spPr>
                    <a:xfrm>
                      <a:off x="2218573" y="2171230"/>
                      <a:ext cx="883977" cy="689585"/>
                    </a:xfrm>
                    <a:prstGeom prst="rect">
                      <a:avLst/>
                    </a:prstGeom>
                    <a:blipFill>
                      <a:blip r:embed="rId2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1" name="TextBox 100">
                      <a:extLst>
                        <a:ext uri="{FF2B5EF4-FFF2-40B4-BE49-F238E27FC236}">
                          <a16:creationId xmlns:a16="http://schemas.microsoft.com/office/drawing/2014/main" id="{FA1FB036-BB68-9B72-E632-77E5E6C105D3}"/>
                        </a:ext>
                      </a:extLst>
                    </p:cNvPr>
                    <p:cNvSpPr txBox="1"/>
                    <p:nvPr/>
                  </p:nvSpPr>
                  <p:spPr>
                    <a:xfrm>
                      <a:off x="3844100" y="2214243"/>
                      <a:ext cx="836612" cy="68958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dirty="0" smtClean="0">
                                <a:solidFill>
                                  <a:schemeClr val="accent5"/>
                                </a:solidFill>
                                <a:latin typeface="Cambria Math" panose="02040503050406030204" pitchFamily="18" charset="0"/>
                              </a:rPr>
                              <m:t>2</m:t>
                            </m:r>
                          </m:oMath>
                        </m:oMathPara>
                      </a14:m>
                      <a:endParaRPr lang="en-US" sz="2400" dirty="0">
                        <a:solidFill>
                          <a:schemeClr val="accent5"/>
                        </a:solidFill>
                      </a:endParaRPr>
                    </a:p>
                  </p:txBody>
                </p:sp>
              </mc:Choice>
              <mc:Fallback xmlns="">
                <p:sp>
                  <p:nvSpPr>
                    <p:cNvPr id="101" name="TextBox 100">
                      <a:extLst>
                        <a:ext uri="{FF2B5EF4-FFF2-40B4-BE49-F238E27FC236}">
                          <a16:creationId xmlns:a16="http://schemas.microsoft.com/office/drawing/2014/main" id="{FA1FB036-BB68-9B72-E632-77E5E6C105D3}"/>
                        </a:ext>
                      </a:extLst>
                    </p:cNvPr>
                    <p:cNvSpPr txBox="1">
                      <a:spLocks noRot="1" noChangeAspect="1" noMove="1" noResize="1" noEditPoints="1" noAdjustHandles="1" noChangeArrowheads="1" noChangeShapeType="1" noTextEdit="1"/>
                    </p:cNvSpPr>
                    <p:nvPr/>
                  </p:nvSpPr>
                  <p:spPr>
                    <a:xfrm>
                      <a:off x="3844100" y="2214243"/>
                      <a:ext cx="836612" cy="689585"/>
                    </a:xfrm>
                    <a:prstGeom prst="rect">
                      <a:avLst/>
                    </a:prstGeom>
                    <a:blipFill>
                      <a:blip r:embed="rId2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2" name="TextBox 101">
                      <a:extLst>
                        <a:ext uri="{FF2B5EF4-FFF2-40B4-BE49-F238E27FC236}">
                          <a16:creationId xmlns:a16="http://schemas.microsoft.com/office/drawing/2014/main" id="{EA95458C-4F60-4817-8BD7-DA7D0C262722}"/>
                        </a:ext>
                      </a:extLst>
                    </p:cNvPr>
                    <p:cNvSpPr txBox="1"/>
                    <p:nvPr/>
                  </p:nvSpPr>
                  <p:spPr>
                    <a:xfrm>
                      <a:off x="467726" y="2765282"/>
                      <a:ext cx="1020878" cy="59764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𝑖</m:t>
                            </m:r>
                          </m:oMath>
                        </m:oMathPara>
                      </a14:m>
                      <a:endParaRPr lang="en-US" sz="2000" dirty="0"/>
                    </a:p>
                  </p:txBody>
                </p:sp>
              </mc:Choice>
              <mc:Fallback xmlns="">
                <p:sp>
                  <p:nvSpPr>
                    <p:cNvPr id="102" name="TextBox 101">
                      <a:extLst>
                        <a:ext uri="{FF2B5EF4-FFF2-40B4-BE49-F238E27FC236}">
                          <a16:creationId xmlns:a16="http://schemas.microsoft.com/office/drawing/2014/main" id="{EA95458C-4F60-4817-8BD7-DA7D0C262722}"/>
                        </a:ext>
                      </a:extLst>
                    </p:cNvPr>
                    <p:cNvSpPr txBox="1">
                      <a:spLocks noRot="1" noChangeAspect="1" noMove="1" noResize="1" noEditPoints="1" noAdjustHandles="1" noChangeArrowheads="1" noChangeShapeType="1" noTextEdit="1"/>
                    </p:cNvSpPr>
                    <p:nvPr/>
                  </p:nvSpPr>
                  <p:spPr>
                    <a:xfrm>
                      <a:off x="467726" y="2765282"/>
                      <a:ext cx="1020878" cy="597641"/>
                    </a:xfrm>
                    <a:prstGeom prst="rect">
                      <a:avLst/>
                    </a:prstGeom>
                    <a:blipFill>
                      <a:blip r:embed="rId2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3" name="TextBox 102">
                      <a:extLst>
                        <a:ext uri="{FF2B5EF4-FFF2-40B4-BE49-F238E27FC236}">
                          <a16:creationId xmlns:a16="http://schemas.microsoft.com/office/drawing/2014/main" id="{C79E9924-7B3C-F15C-BCC5-D7452EB4F5B3}"/>
                        </a:ext>
                      </a:extLst>
                    </p:cNvPr>
                    <p:cNvSpPr txBox="1"/>
                    <p:nvPr/>
                  </p:nvSpPr>
                  <p:spPr>
                    <a:xfrm>
                      <a:off x="5707261" y="2205464"/>
                      <a:ext cx="836612" cy="68958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dirty="0" smtClean="0">
                                <a:solidFill>
                                  <a:schemeClr val="accent5"/>
                                </a:solidFill>
                                <a:latin typeface="Cambria Math" panose="02040503050406030204" pitchFamily="18" charset="0"/>
                              </a:rPr>
                              <m:t>3</m:t>
                            </m:r>
                          </m:oMath>
                        </m:oMathPara>
                      </a14:m>
                      <a:endParaRPr lang="en-US" sz="2400" dirty="0">
                        <a:solidFill>
                          <a:schemeClr val="accent5"/>
                        </a:solidFill>
                      </a:endParaRPr>
                    </a:p>
                  </p:txBody>
                </p:sp>
              </mc:Choice>
              <mc:Fallback xmlns="">
                <p:sp>
                  <p:nvSpPr>
                    <p:cNvPr id="103" name="TextBox 102">
                      <a:extLst>
                        <a:ext uri="{FF2B5EF4-FFF2-40B4-BE49-F238E27FC236}">
                          <a16:creationId xmlns:a16="http://schemas.microsoft.com/office/drawing/2014/main" id="{C79E9924-7B3C-F15C-BCC5-D7452EB4F5B3}"/>
                        </a:ext>
                      </a:extLst>
                    </p:cNvPr>
                    <p:cNvSpPr txBox="1">
                      <a:spLocks noRot="1" noChangeAspect="1" noMove="1" noResize="1" noEditPoints="1" noAdjustHandles="1" noChangeArrowheads="1" noChangeShapeType="1" noTextEdit="1"/>
                    </p:cNvSpPr>
                    <p:nvPr/>
                  </p:nvSpPr>
                  <p:spPr>
                    <a:xfrm>
                      <a:off x="5707261" y="2205464"/>
                      <a:ext cx="836612" cy="689585"/>
                    </a:xfrm>
                    <a:prstGeom prst="rect">
                      <a:avLst/>
                    </a:prstGeom>
                    <a:blipFill>
                      <a:blip r:embed="rId2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4" name="TextBox 103">
                      <a:extLst>
                        <a:ext uri="{FF2B5EF4-FFF2-40B4-BE49-F238E27FC236}">
                          <a16:creationId xmlns:a16="http://schemas.microsoft.com/office/drawing/2014/main" id="{6CC95C66-DE2C-D3C6-4244-812F77219EFB}"/>
                        </a:ext>
                      </a:extLst>
                    </p:cNvPr>
                    <p:cNvSpPr txBox="1"/>
                    <p:nvPr/>
                  </p:nvSpPr>
                  <p:spPr>
                    <a:xfrm>
                      <a:off x="7387428" y="2187881"/>
                      <a:ext cx="836612" cy="68958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dirty="0" smtClean="0">
                                <a:solidFill>
                                  <a:schemeClr val="accent5"/>
                                </a:solidFill>
                                <a:latin typeface="Cambria Math" panose="02040503050406030204" pitchFamily="18" charset="0"/>
                              </a:rPr>
                              <m:t>4</m:t>
                            </m:r>
                          </m:oMath>
                        </m:oMathPara>
                      </a14:m>
                      <a:endParaRPr lang="en-US" sz="2400" dirty="0">
                        <a:solidFill>
                          <a:schemeClr val="accent5"/>
                        </a:solidFill>
                      </a:endParaRPr>
                    </a:p>
                  </p:txBody>
                </p:sp>
              </mc:Choice>
              <mc:Fallback xmlns="">
                <p:sp>
                  <p:nvSpPr>
                    <p:cNvPr id="104" name="TextBox 103">
                      <a:extLst>
                        <a:ext uri="{FF2B5EF4-FFF2-40B4-BE49-F238E27FC236}">
                          <a16:creationId xmlns:a16="http://schemas.microsoft.com/office/drawing/2014/main" id="{6CC95C66-DE2C-D3C6-4244-812F77219EFB}"/>
                        </a:ext>
                      </a:extLst>
                    </p:cNvPr>
                    <p:cNvSpPr txBox="1">
                      <a:spLocks noRot="1" noChangeAspect="1" noMove="1" noResize="1" noEditPoints="1" noAdjustHandles="1" noChangeArrowheads="1" noChangeShapeType="1" noTextEdit="1"/>
                    </p:cNvSpPr>
                    <p:nvPr/>
                  </p:nvSpPr>
                  <p:spPr>
                    <a:xfrm>
                      <a:off x="7387428" y="2187881"/>
                      <a:ext cx="836612" cy="689585"/>
                    </a:xfrm>
                    <a:prstGeom prst="rect">
                      <a:avLst/>
                    </a:prstGeom>
                    <a:blipFill>
                      <a:blip r:embed="rId3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5" name="TextBox 104">
                      <a:extLst>
                        <a:ext uri="{FF2B5EF4-FFF2-40B4-BE49-F238E27FC236}">
                          <a16:creationId xmlns:a16="http://schemas.microsoft.com/office/drawing/2014/main" id="{A54E6034-EB72-0A69-31F4-FF2ADFA3B5A5}"/>
                        </a:ext>
                      </a:extLst>
                    </p:cNvPr>
                    <p:cNvSpPr txBox="1"/>
                    <p:nvPr/>
                  </p:nvSpPr>
                  <p:spPr>
                    <a:xfrm>
                      <a:off x="9182890" y="2171230"/>
                      <a:ext cx="836612" cy="68958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dirty="0" smtClean="0">
                                <a:solidFill>
                                  <a:schemeClr val="accent5"/>
                                </a:solidFill>
                                <a:latin typeface="Cambria Math" panose="02040503050406030204" pitchFamily="18" charset="0"/>
                              </a:rPr>
                              <m:t>5</m:t>
                            </m:r>
                          </m:oMath>
                        </m:oMathPara>
                      </a14:m>
                      <a:endParaRPr lang="en-US" sz="2400" dirty="0">
                        <a:solidFill>
                          <a:schemeClr val="accent5"/>
                        </a:solidFill>
                      </a:endParaRPr>
                    </a:p>
                  </p:txBody>
                </p:sp>
              </mc:Choice>
              <mc:Fallback xmlns="">
                <p:sp>
                  <p:nvSpPr>
                    <p:cNvPr id="105" name="TextBox 104">
                      <a:extLst>
                        <a:ext uri="{FF2B5EF4-FFF2-40B4-BE49-F238E27FC236}">
                          <a16:creationId xmlns:a16="http://schemas.microsoft.com/office/drawing/2014/main" id="{A54E6034-EB72-0A69-31F4-FF2ADFA3B5A5}"/>
                        </a:ext>
                      </a:extLst>
                    </p:cNvPr>
                    <p:cNvSpPr txBox="1">
                      <a:spLocks noRot="1" noChangeAspect="1" noMove="1" noResize="1" noEditPoints="1" noAdjustHandles="1" noChangeArrowheads="1" noChangeShapeType="1" noTextEdit="1"/>
                    </p:cNvSpPr>
                    <p:nvPr/>
                  </p:nvSpPr>
                  <p:spPr>
                    <a:xfrm>
                      <a:off x="9182890" y="2171230"/>
                      <a:ext cx="836612" cy="689585"/>
                    </a:xfrm>
                    <a:prstGeom prst="rect">
                      <a:avLst/>
                    </a:prstGeom>
                    <a:blipFill>
                      <a:blip r:embed="rId3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6" name="TextBox 105">
                      <a:extLst>
                        <a:ext uri="{FF2B5EF4-FFF2-40B4-BE49-F238E27FC236}">
                          <a16:creationId xmlns:a16="http://schemas.microsoft.com/office/drawing/2014/main" id="{86F5AB8A-5469-41C8-54E8-EA2990A33950}"/>
                        </a:ext>
                      </a:extLst>
                    </p:cNvPr>
                    <p:cNvSpPr txBox="1"/>
                    <p:nvPr/>
                  </p:nvSpPr>
                  <p:spPr>
                    <a:xfrm>
                      <a:off x="10882543" y="2152268"/>
                      <a:ext cx="836612" cy="68958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dirty="0" smtClean="0">
                                <a:solidFill>
                                  <a:schemeClr val="accent5"/>
                                </a:solidFill>
                                <a:latin typeface="Cambria Math" panose="02040503050406030204" pitchFamily="18" charset="0"/>
                              </a:rPr>
                              <m:t>6</m:t>
                            </m:r>
                          </m:oMath>
                        </m:oMathPara>
                      </a14:m>
                      <a:endParaRPr lang="en-US" sz="2400" dirty="0">
                        <a:solidFill>
                          <a:schemeClr val="accent5"/>
                        </a:solidFill>
                      </a:endParaRPr>
                    </a:p>
                  </p:txBody>
                </p:sp>
              </mc:Choice>
              <mc:Fallback xmlns="">
                <p:sp>
                  <p:nvSpPr>
                    <p:cNvPr id="106" name="TextBox 105">
                      <a:extLst>
                        <a:ext uri="{FF2B5EF4-FFF2-40B4-BE49-F238E27FC236}">
                          <a16:creationId xmlns:a16="http://schemas.microsoft.com/office/drawing/2014/main" id="{86F5AB8A-5469-41C8-54E8-EA2990A33950}"/>
                        </a:ext>
                      </a:extLst>
                    </p:cNvPr>
                    <p:cNvSpPr txBox="1">
                      <a:spLocks noRot="1" noChangeAspect="1" noMove="1" noResize="1" noEditPoints="1" noAdjustHandles="1" noChangeArrowheads="1" noChangeShapeType="1" noTextEdit="1"/>
                    </p:cNvSpPr>
                    <p:nvPr/>
                  </p:nvSpPr>
                  <p:spPr>
                    <a:xfrm>
                      <a:off x="10882543" y="2152268"/>
                      <a:ext cx="836612" cy="689585"/>
                    </a:xfrm>
                    <a:prstGeom prst="rect">
                      <a:avLst/>
                    </a:prstGeom>
                    <a:blipFill>
                      <a:blip r:embed="rId32"/>
                      <a:stretch>
                        <a:fillRect/>
                      </a:stretch>
                    </a:blipFill>
                  </p:spPr>
                  <p:txBody>
                    <a:bodyPr/>
                    <a:lstStyle/>
                    <a:p>
                      <a:r>
                        <a:rPr lang="en-US">
                          <a:noFill/>
                        </a:rPr>
                        <a:t> </a:t>
                      </a:r>
                    </a:p>
                  </p:txBody>
                </p:sp>
              </mc:Fallback>
            </mc:AlternateContent>
          </p:grpSp>
        </p:grpSp>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9BD8837E-8045-B367-82BB-CCAF797A5951}"/>
                    </a:ext>
                  </a:extLst>
                </p:cNvPr>
                <p:cNvSpPr txBox="1"/>
                <p:nvPr/>
              </p:nvSpPr>
              <p:spPr>
                <a:xfrm>
                  <a:off x="5156466" y="5453170"/>
                  <a:ext cx="598526" cy="34775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𝑌</m:t>
                            </m:r>
                          </m:e>
                          <m:sub>
                            <m:r>
                              <a:rPr lang="en-US" sz="2000" b="0" i="1" smtClean="0">
                                <a:latin typeface="Cambria Math" panose="02040503050406030204" pitchFamily="18" charset="0"/>
                              </a:rPr>
                              <m:t>𝑖</m:t>
                            </m:r>
                          </m:sub>
                        </m:sSub>
                        <m:r>
                          <a:rPr lang="en-US" sz="2000" b="0" i="1" smtClean="0">
                            <a:latin typeface="Cambria Math" panose="02040503050406030204" pitchFamily="18" charset="0"/>
                          </a:rPr>
                          <m:t>(1)</m:t>
                        </m:r>
                      </m:oMath>
                    </m:oMathPara>
                  </a14:m>
                  <a:endParaRPr lang="en-US" sz="2000" dirty="0"/>
                </a:p>
              </p:txBody>
            </p:sp>
          </mc:Choice>
          <mc:Fallback xmlns="">
            <p:sp>
              <p:nvSpPr>
                <p:cNvPr id="56" name="TextBox 55">
                  <a:extLst>
                    <a:ext uri="{FF2B5EF4-FFF2-40B4-BE49-F238E27FC236}">
                      <a16:creationId xmlns:a16="http://schemas.microsoft.com/office/drawing/2014/main" id="{9BD8837E-8045-B367-82BB-CCAF797A5951}"/>
                    </a:ext>
                  </a:extLst>
                </p:cNvPr>
                <p:cNvSpPr txBox="1">
                  <a:spLocks noRot="1" noChangeAspect="1" noMove="1" noResize="1" noEditPoints="1" noAdjustHandles="1" noChangeArrowheads="1" noChangeShapeType="1" noTextEdit="1"/>
                </p:cNvSpPr>
                <p:nvPr/>
              </p:nvSpPr>
              <p:spPr>
                <a:xfrm>
                  <a:off x="5156466" y="5453170"/>
                  <a:ext cx="598526" cy="347756"/>
                </a:xfrm>
                <a:prstGeom prst="rect">
                  <a:avLst/>
                </a:prstGeom>
                <a:blipFill>
                  <a:blip r:embed="rId33"/>
                  <a:stretch>
                    <a:fillRect r="-9091" b="-1212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C152D6BE-0116-A70D-1BCD-C18A824D4716}"/>
                    </a:ext>
                  </a:extLst>
                </p:cNvPr>
                <p:cNvSpPr txBox="1"/>
                <p:nvPr/>
              </p:nvSpPr>
              <p:spPr>
                <a:xfrm>
                  <a:off x="5170527" y="6318043"/>
                  <a:ext cx="598526" cy="34775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𝑌</m:t>
                            </m:r>
                          </m:e>
                          <m:sub>
                            <m:r>
                              <a:rPr lang="en-US" sz="2000" b="0" i="1" smtClean="0">
                                <a:latin typeface="Cambria Math" panose="02040503050406030204" pitchFamily="18" charset="0"/>
                              </a:rPr>
                              <m:t>𝑖</m:t>
                            </m:r>
                          </m:sub>
                        </m:sSub>
                        <m:r>
                          <a:rPr lang="en-US" sz="2000" b="0" i="1" smtClean="0">
                            <a:latin typeface="Cambria Math" panose="02040503050406030204" pitchFamily="18" charset="0"/>
                          </a:rPr>
                          <m:t>(0)</m:t>
                        </m:r>
                      </m:oMath>
                    </m:oMathPara>
                  </a14:m>
                  <a:endParaRPr lang="en-US" sz="2000" dirty="0"/>
                </a:p>
              </p:txBody>
            </p:sp>
          </mc:Choice>
          <mc:Fallback xmlns="">
            <p:sp>
              <p:nvSpPr>
                <p:cNvPr id="57" name="TextBox 56">
                  <a:extLst>
                    <a:ext uri="{FF2B5EF4-FFF2-40B4-BE49-F238E27FC236}">
                      <a16:creationId xmlns:a16="http://schemas.microsoft.com/office/drawing/2014/main" id="{C152D6BE-0116-A70D-1BCD-C18A824D4716}"/>
                    </a:ext>
                  </a:extLst>
                </p:cNvPr>
                <p:cNvSpPr txBox="1">
                  <a:spLocks noRot="1" noChangeAspect="1" noMove="1" noResize="1" noEditPoints="1" noAdjustHandles="1" noChangeArrowheads="1" noChangeShapeType="1" noTextEdit="1"/>
                </p:cNvSpPr>
                <p:nvPr/>
              </p:nvSpPr>
              <p:spPr>
                <a:xfrm>
                  <a:off x="5170527" y="6318043"/>
                  <a:ext cx="598526" cy="347756"/>
                </a:xfrm>
                <a:prstGeom prst="rect">
                  <a:avLst/>
                </a:prstGeom>
                <a:blipFill>
                  <a:blip r:embed="rId34"/>
                  <a:stretch>
                    <a:fillRect r="-8929" b="-15625"/>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F7A25A60-BB68-4443-AD4A-AAC224AC20C1}"/>
                  </a:ext>
                </a:extLst>
              </p:cNvPr>
              <p:cNvSpPr txBox="1"/>
              <p:nvPr/>
            </p:nvSpPr>
            <p:spPr>
              <a:xfrm>
                <a:off x="7337296" y="168339"/>
                <a:ext cx="4899663" cy="103663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en-US" sz="2400" b="0" i="1" smtClean="0">
                              <a:solidFill>
                                <a:schemeClr val="accent5"/>
                              </a:solidFill>
                              <a:latin typeface="Cambria Math" panose="02040503050406030204" pitchFamily="18" charset="0"/>
                            </a:rPr>
                          </m:ctrlPr>
                        </m:accPr>
                        <m:e>
                          <m:r>
                            <a:rPr lang="en-US" sz="2400" b="0" i="1" smtClean="0">
                              <a:solidFill>
                                <a:schemeClr val="accent5"/>
                              </a:solidFill>
                              <a:latin typeface="Cambria Math" panose="02040503050406030204" pitchFamily="18" charset="0"/>
                            </a:rPr>
                            <m:t>𝜏</m:t>
                          </m:r>
                        </m:e>
                      </m:acc>
                      <m:r>
                        <a:rPr lang="en-US" sz="2400" b="0" i="1" dirty="0" smtClean="0">
                          <a:solidFill>
                            <a:schemeClr val="accent5"/>
                          </a:solidFill>
                          <a:latin typeface="Cambria Math" panose="02040503050406030204" pitchFamily="18" charset="0"/>
                        </a:rPr>
                        <m:t>=</m:t>
                      </m:r>
                      <m:f>
                        <m:fPr>
                          <m:ctrlPr>
                            <a:rPr lang="en-US" sz="2400" b="0" i="1" dirty="0" smtClean="0">
                              <a:solidFill>
                                <a:schemeClr val="accent5"/>
                              </a:solidFill>
                              <a:latin typeface="Cambria Math" panose="02040503050406030204" pitchFamily="18" charset="0"/>
                            </a:rPr>
                          </m:ctrlPr>
                        </m:fPr>
                        <m:num>
                          <m:r>
                            <a:rPr lang="en-US" sz="2400" b="0" i="1" dirty="0" smtClean="0">
                              <a:solidFill>
                                <a:schemeClr val="accent5"/>
                              </a:solidFill>
                              <a:latin typeface="Cambria Math" panose="02040503050406030204" pitchFamily="18" charset="0"/>
                            </a:rPr>
                            <m:t>1</m:t>
                          </m:r>
                        </m:num>
                        <m:den>
                          <m:sSub>
                            <m:sSubPr>
                              <m:ctrlPr>
                                <a:rPr lang="en-US" sz="2400" b="0" i="1" dirty="0" smtClean="0">
                                  <a:solidFill>
                                    <a:schemeClr val="accent5"/>
                                  </a:solidFill>
                                  <a:latin typeface="Cambria Math" panose="02040503050406030204" pitchFamily="18" charset="0"/>
                                </a:rPr>
                              </m:ctrlPr>
                            </m:sSubPr>
                            <m:e>
                              <m:r>
                                <a:rPr lang="en-US" sz="2400" b="0" i="1" dirty="0" smtClean="0">
                                  <a:solidFill>
                                    <a:schemeClr val="accent5"/>
                                  </a:solidFill>
                                  <a:latin typeface="Cambria Math" panose="02040503050406030204" pitchFamily="18" charset="0"/>
                                </a:rPr>
                                <m:t>𝑁</m:t>
                              </m:r>
                            </m:e>
                            <m:sub>
                              <m:r>
                                <a:rPr lang="en-US" sz="2400" b="0" i="1" dirty="0" smtClean="0">
                                  <a:solidFill>
                                    <a:schemeClr val="accent5"/>
                                  </a:solidFill>
                                  <a:latin typeface="Cambria Math" panose="02040503050406030204" pitchFamily="18" charset="0"/>
                                </a:rPr>
                                <m:t>1</m:t>
                              </m:r>
                            </m:sub>
                          </m:sSub>
                        </m:den>
                      </m:f>
                      <m:nary>
                        <m:naryPr>
                          <m:chr m:val="∑"/>
                          <m:supHide m:val="on"/>
                          <m:ctrlPr>
                            <a:rPr lang="en-US" sz="2400" b="0" i="1" dirty="0" smtClean="0">
                              <a:solidFill>
                                <a:schemeClr val="accent5"/>
                              </a:solidFill>
                              <a:latin typeface="Cambria Math" panose="02040503050406030204" pitchFamily="18" charset="0"/>
                            </a:rPr>
                          </m:ctrlPr>
                        </m:naryPr>
                        <m:sub>
                          <m:r>
                            <m:rPr>
                              <m:brk m:alnAt="7"/>
                            </m:rPr>
                            <a:rPr lang="en-US" sz="2400" b="0" i="1" dirty="0" smtClean="0">
                              <a:solidFill>
                                <a:schemeClr val="accent5"/>
                              </a:solidFill>
                              <a:latin typeface="Cambria Math" panose="02040503050406030204" pitchFamily="18" charset="0"/>
                            </a:rPr>
                            <m:t>𝑖</m:t>
                          </m:r>
                          <m:r>
                            <a:rPr lang="en-US" sz="2400" b="0" i="1" dirty="0" smtClean="0">
                              <a:solidFill>
                                <a:schemeClr val="accent5"/>
                              </a:solidFill>
                              <a:latin typeface="Cambria Math" panose="02040503050406030204" pitchFamily="18" charset="0"/>
                            </a:rPr>
                            <m:t>:</m:t>
                          </m:r>
                          <m:sSub>
                            <m:sSubPr>
                              <m:ctrlPr>
                                <a:rPr lang="en-US" sz="2400" b="0" i="1" dirty="0" smtClean="0">
                                  <a:solidFill>
                                    <a:schemeClr val="accent5"/>
                                  </a:solidFill>
                                  <a:latin typeface="Cambria Math" panose="02040503050406030204" pitchFamily="18" charset="0"/>
                                </a:rPr>
                              </m:ctrlPr>
                            </m:sSubPr>
                            <m:e>
                              <m:r>
                                <m:rPr>
                                  <m:brk m:alnAt="7"/>
                                </m:rPr>
                                <a:rPr lang="en-US" sz="2400" b="0" i="1" dirty="0" smtClean="0">
                                  <a:solidFill>
                                    <a:schemeClr val="accent5"/>
                                  </a:solidFill>
                                  <a:latin typeface="Cambria Math" panose="02040503050406030204" pitchFamily="18" charset="0"/>
                                </a:rPr>
                                <m:t>𝑊</m:t>
                              </m:r>
                            </m:e>
                            <m:sub>
                              <m:r>
                                <m:rPr>
                                  <m:brk m:alnAt="7"/>
                                </m:rPr>
                                <a:rPr lang="en-US" sz="2400" b="0" i="1" dirty="0" smtClean="0">
                                  <a:solidFill>
                                    <a:schemeClr val="accent5"/>
                                  </a:solidFill>
                                  <a:latin typeface="Cambria Math" panose="02040503050406030204" pitchFamily="18" charset="0"/>
                                </a:rPr>
                                <m:t>𝑖</m:t>
                              </m:r>
                            </m:sub>
                          </m:sSub>
                          <m:r>
                            <m:rPr>
                              <m:brk m:alnAt="7"/>
                            </m:rPr>
                            <a:rPr lang="en-US" sz="2400" b="0" i="1" dirty="0" smtClean="0">
                              <a:solidFill>
                                <a:schemeClr val="accent5"/>
                              </a:solidFill>
                              <a:latin typeface="Cambria Math" panose="02040503050406030204" pitchFamily="18" charset="0"/>
                            </a:rPr>
                            <m:t>=</m:t>
                          </m:r>
                          <m:r>
                            <a:rPr lang="en-US" sz="2400" b="0" i="1" dirty="0" smtClean="0">
                              <a:solidFill>
                                <a:schemeClr val="accent5"/>
                              </a:solidFill>
                              <a:latin typeface="Cambria Math" panose="02040503050406030204" pitchFamily="18" charset="0"/>
                            </a:rPr>
                            <m:t>1</m:t>
                          </m:r>
                        </m:sub>
                        <m:sup/>
                        <m:e>
                          <m:sSub>
                            <m:sSubPr>
                              <m:ctrlPr>
                                <a:rPr lang="en-US" sz="2400" b="0" i="1" dirty="0" smtClean="0">
                                  <a:solidFill>
                                    <a:schemeClr val="accent5"/>
                                  </a:solidFill>
                                  <a:latin typeface="Cambria Math" panose="02040503050406030204" pitchFamily="18" charset="0"/>
                                </a:rPr>
                              </m:ctrlPr>
                            </m:sSubPr>
                            <m:e>
                              <m:r>
                                <a:rPr lang="en-US" sz="2400" b="0" i="1" dirty="0" smtClean="0">
                                  <a:solidFill>
                                    <a:schemeClr val="accent5"/>
                                  </a:solidFill>
                                  <a:latin typeface="Cambria Math" panose="02040503050406030204" pitchFamily="18" charset="0"/>
                                </a:rPr>
                                <m:t>𝑌</m:t>
                              </m:r>
                            </m:e>
                            <m:sub>
                              <m:r>
                                <a:rPr lang="en-US" sz="2400" b="0" i="1" dirty="0" smtClean="0">
                                  <a:solidFill>
                                    <a:schemeClr val="accent5"/>
                                  </a:solidFill>
                                  <a:latin typeface="Cambria Math" panose="02040503050406030204" pitchFamily="18" charset="0"/>
                                </a:rPr>
                                <m:t>𝑖</m:t>
                              </m:r>
                            </m:sub>
                          </m:sSub>
                        </m:e>
                      </m:nary>
                      <m:r>
                        <a:rPr lang="en-US" sz="2400" b="0" i="1" dirty="0" smtClean="0">
                          <a:solidFill>
                            <a:schemeClr val="accent5"/>
                          </a:solidFill>
                          <a:latin typeface="Cambria Math" panose="02040503050406030204" pitchFamily="18" charset="0"/>
                        </a:rPr>
                        <m:t>−</m:t>
                      </m:r>
                      <m:f>
                        <m:fPr>
                          <m:ctrlPr>
                            <a:rPr lang="en-US" sz="2400" b="0" i="1" dirty="0" smtClean="0">
                              <a:solidFill>
                                <a:schemeClr val="accent5"/>
                              </a:solidFill>
                              <a:latin typeface="Cambria Math" panose="02040503050406030204" pitchFamily="18" charset="0"/>
                            </a:rPr>
                          </m:ctrlPr>
                        </m:fPr>
                        <m:num>
                          <m:r>
                            <a:rPr lang="en-US" sz="2400" b="0" i="1" dirty="0" smtClean="0">
                              <a:solidFill>
                                <a:schemeClr val="accent5"/>
                              </a:solidFill>
                              <a:latin typeface="Cambria Math" panose="02040503050406030204" pitchFamily="18" charset="0"/>
                            </a:rPr>
                            <m:t>1</m:t>
                          </m:r>
                        </m:num>
                        <m:den>
                          <m:sSub>
                            <m:sSubPr>
                              <m:ctrlPr>
                                <a:rPr lang="en-US" sz="2400" b="0" i="1" dirty="0" smtClean="0">
                                  <a:solidFill>
                                    <a:schemeClr val="accent5"/>
                                  </a:solidFill>
                                  <a:latin typeface="Cambria Math" panose="02040503050406030204" pitchFamily="18" charset="0"/>
                                </a:rPr>
                              </m:ctrlPr>
                            </m:sSubPr>
                            <m:e>
                              <m:r>
                                <a:rPr lang="en-US" sz="2400" b="0" i="1" dirty="0" smtClean="0">
                                  <a:solidFill>
                                    <a:schemeClr val="accent5"/>
                                  </a:solidFill>
                                  <a:latin typeface="Cambria Math" panose="02040503050406030204" pitchFamily="18" charset="0"/>
                                </a:rPr>
                                <m:t>𝑁</m:t>
                              </m:r>
                            </m:e>
                            <m:sub>
                              <m:r>
                                <a:rPr lang="en-US" sz="2400" b="0" i="1" dirty="0" smtClean="0">
                                  <a:solidFill>
                                    <a:schemeClr val="accent5"/>
                                  </a:solidFill>
                                  <a:latin typeface="Cambria Math" panose="02040503050406030204" pitchFamily="18" charset="0"/>
                                </a:rPr>
                                <m:t>0</m:t>
                              </m:r>
                            </m:sub>
                          </m:sSub>
                        </m:den>
                      </m:f>
                      <m:nary>
                        <m:naryPr>
                          <m:chr m:val="∑"/>
                          <m:supHide m:val="on"/>
                          <m:ctrlPr>
                            <a:rPr lang="en-US" sz="2400" b="0" i="1" dirty="0" smtClean="0">
                              <a:solidFill>
                                <a:schemeClr val="accent5"/>
                              </a:solidFill>
                              <a:latin typeface="Cambria Math" panose="02040503050406030204" pitchFamily="18" charset="0"/>
                            </a:rPr>
                          </m:ctrlPr>
                        </m:naryPr>
                        <m:sub>
                          <m:r>
                            <m:rPr>
                              <m:brk m:alnAt="7"/>
                            </m:rPr>
                            <a:rPr lang="en-US" sz="2400" b="0" i="1" dirty="0" smtClean="0">
                              <a:solidFill>
                                <a:schemeClr val="accent5"/>
                              </a:solidFill>
                              <a:latin typeface="Cambria Math" panose="02040503050406030204" pitchFamily="18" charset="0"/>
                            </a:rPr>
                            <m:t>𝑖</m:t>
                          </m:r>
                          <m:r>
                            <a:rPr lang="en-US" sz="2400" b="0" i="1" dirty="0" smtClean="0">
                              <a:solidFill>
                                <a:schemeClr val="accent5"/>
                              </a:solidFill>
                              <a:latin typeface="Cambria Math" panose="02040503050406030204" pitchFamily="18" charset="0"/>
                            </a:rPr>
                            <m:t>:</m:t>
                          </m:r>
                          <m:sSub>
                            <m:sSubPr>
                              <m:ctrlPr>
                                <a:rPr lang="en-US" sz="2400" b="0" i="1" dirty="0" smtClean="0">
                                  <a:solidFill>
                                    <a:schemeClr val="accent5"/>
                                  </a:solidFill>
                                  <a:latin typeface="Cambria Math" panose="02040503050406030204" pitchFamily="18" charset="0"/>
                                </a:rPr>
                              </m:ctrlPr>
                            </m:sSubPr>
                            <m:e>
                              <m:r>
                                <m:rPr>
                                  <m:brk m:alnAt="7"/>
                                </m:rPr>
                                <a:rPr lang="en-US" sz="2400" b="0" i="1" dirty="0" smtClean="0">
                                  <a:solidFill>
                                    <a:schemeClr val="accent5"/>
                                  </a:solidFill>
                                  <a:latin typeface="Cambria Math" panose="02040503050406030204" pitchFamily="18" charset="0"/>
                                </a:rPr>
                                <m:t>𝑊</m:t>
                              </m:r>
                            </m:e>
                            <m:sub>
                              <m:r>
                                <m:rPr>
                                  <m:brk m:alnAt="7"/>
                                </m:rPr>
                                <a:rPr lang="en-US" sz="2400" b="0" i="1" dirty="0" smtClean="0">
                                  <a:solidFill>
                                    <a:schemeClr val="accent5"/>
                                  </a:solidFill>
                                  <a:latin typeface="Cambria Math" panose="02040503050406030204" pitchFamily="18" charset="0"/>
                                </a:rPr>
                                <m:t>𝑖</m:t>
                              </m:r>
                            </m:sub>
                          </m:sSub>
                          <m:r>
                            <m:rPr>
                              <m:brk m:alnAt="7"/>
                            </m:rPr>
                            <a:rPr lang="en-US" sz="2400" b="0" i="1" dirty="0" smtClean="0">
                              <a:solidFill>
                                <a:schemeClr val="accent5"/>
                              </a:solidFill>
                              <a:latin typeface="Cambria Math" panose="02040503050406030204" pitchFamily="18" charset="0"/>
                            </a:rPr>
                            <m:t>=</m:t>
                          </m:r>
                          <m:r>
                            <a:rPr lang="en-US" sz="2400" b="0" i="1" dirty="0" smtClean="0">
                              <a:solidFill>
                                <a:schemeClr val="accent5"/>
                              </a:solidFill>
                              <a:latin typeface="Cambria Math" panose="02040503050406030204" pitchFamily="18" charset="0"/>
                            </a:rPr>
                            <m:t>0</m:t>
                          </m:r>
                        </m:sub>
                        <m:sup/>
                        <m:e>
                          <m:sSub>
                            <m:sSubPr>
                              <m:ctrlPr>
                                <a:rPr lang="en-US" sz="2400" b="0" i="1" dirty="0" smtClean="0">
                                  <a:solidFill>
                                    <a:schemeClr val="accent5"/>
                                  </a:solidFill>
                                  <a:latin typeface="Cambria Math" panose="02040503050406030204" pitchFamily="18" charset="0"/>
                                </a:rPr>
                              </m:ctrlPr>
                            </m:sSubPr>
                            <m:e>
                              <m:r>
                                <a:rPr lang="en-US" sz="2400" b="0" i="1" dirty="0" smtClean="0">
                                  <a:solidFill>
                                    <a:schemeClr val="accent5"/>
                                  </a:solidFill>
                                  <a:latin typeface="Cambria Math" panose="02040503050406030204" pitchFamily="18" charset="0"/>
                                </a:rPr>
                                <m:t>𝑌</m:t>
                              </m:r>
                            </m:e>
                            <m:sub>
                              <m:r>
                                <a:rPr lang="en-US" sz="2400" b="0" i="1" dirty="0" smtClean="0">
                                  <a:solidFill>
                                    <a:schemeClr val="accent5"/>
                                  </a:solidFill>
                                  <a:latin typeface="Cambria Math" panose="02040503050406030204" pitchFamily="18" charset="0"/>
                                </a:rPr>
                                <m:t>𝑖</m:t>
                              </m:r>
                            </m:sub>
                          </m:sSub>
                        </m:e>
                      </m:nary>
                    </m:oMath>
                  </m:oMathPara>
                </a14:m>
                <a:endParaRPr lang="en-US" sz="2400" dirty="0">
                  <a:solidFill>
                    <a:schemeClr val="accent5"/>
                  </a:solidFill>
                </a:endParaRPr>
              </a:p>
            </p:txBody>
          </p:sp>
        </mc:Choice>
        <mc:Fallback xmlns="">
          <p:sp>
            <p:nvSpPr>
              <p:cNvPr id="5" name="TextBox 4">
                <a:extLst>
                  <a:ext uri="{FF2B5EF4-FFF2-40B4-BE49-F238E27FC236}">
                    <a16:creationId xmlns:a16="http://schemas.microsoft.com/office/drawing/2014/main" id="{F7A25A60-BB68-4443-AD4A-AAC224AC20C1}"/>
                  </a:ext>
                </a:extLst>
              </p:cNvPr>
              <p:cNvSpPr txBox="1">
                <a:spLocks noRot="1" noChangeAspect="1" noMove="1" noResize="1" noEditPoints="1" noAdjustHandles="1" noChangeArrowheads="1" noChangeShapeType="1" noTextEdit="1"/>
              </p:cNvSpPr>
              <p:nvPr/>
            </p:nvSpPr>
            <p:spPr>
              <a:xfrm>
                <a:off x="7337296" y="168339"/>
                <a:ext cx="4899663" cy="1036630"/>
              </a:xfrm>
              <a:prstGeom prst="rect">
                <a:avLst/>
              </a:prstGeom>
              <a:blipFill>
                <a:blip r:embed="rId35"/>
                <a:stretch>
                  <a:fillRect t="-124096" b="-166265"/>
                </a:stretch>
              </a:blipFill>
            </p:spPr>
            <p:txBody>
              <a:bodyPr/>
              <a:lstStyle/>
              <a:p>
                <a:r>
                  <a:rPr lang="en-US">
                    <a:noFill/>
                  </a:rPr>
                  <a:t> </a:t>
                </a:r>
              </a:p>
            </p:txBody>
          </p:sp>
        </mc:Fallback>
      </mc:AlternateContent>
      <p:sp>
        <p:nvSpPr>
          <p:cNvPr id="4" name="Rounded Rectangle 3">
            <a:extLst>
              <a:ext uri="{FF2B5EF4-FFF2-40B4-BE49-F238E27FC236}">
                <a16:creationId xmlns:a16="http://schemas.microsoft.com/office/drawing/2014/main" id="{96B5AB7A-FC85-795A-4CF1-7DB9A0315CEB}"/>
              </a:ext>
            </a:extLst>
          </p:cNvPr>
          <p:cNvSpPr/>
          <p:nvPr/>
        </p:nvSpPr>
        <p:spPr>
          <a:xfrm>
            <a:off x="638952" y="5791710"/>
            <a:ext cx="3036621" cy="972952"/>
          </a:xfrm>
          <a:prstGeom prst="round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It’s ½!  Same as ATE!</a:t>
            </a:r>
          </a:p>
        </p:txBody>
      </p:sp>
      <mc:AlternateContent xmlns:mc="http://schemas.openxmlformats.org/markup-compatibility/2006" xmlns:a14="http://schemas.microsoft.com/office/drawing/2010/main">
        <mc:Choice Requires="a14">
          <p:sp>
            <p:nvSpPr>
              <p:cNvPr id="6" name="Rounded Rectangle 5">
                <a:extLst>
                  <a:ext uri="{FF2B5EF4-FFF2-40B4-BE49-F238E27FC236}">
                    <a16:creationId xmlns:a16="http://schemas.microsoft.com/office/drawing/2014/main" id="{9826751B-9835-AA22-D21D-67C8521B119C}"/>
                  </a:ext>
                </a:extLst>
              </p:cNvPr>
              <p:cNvSpPr/>
              <p:nvPr/>
            </p:nvSpPr>
            <p:spPr>
              <a:xfrm>
                <a:off x="677888" y="2500040"/>
                <a:ext cx="3036621" cy="310703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Discuss: </a:t>
                </a:r>
              </a:p>
              <a:p>
                <a:pPr algn="ctr"/>
                <a:endParaRPr lang="en-US" sz="2400" b="1" dirty="0"/>
              </a:p>
              <a:p>
                <a:pPr algn="ctr"/>
                <a:r>
                  <a:rPr lang="en-US" sz="2400" dirty="0"/>
                  <a:t>What is </a:t>
                </a:r>
                <a14:m>
                  <m:oMath xmlns:m="http://schemas.openxmlformats.org/officeDocument/2006/math">
                    <m:r>
                      <a:rPr lang="en-US" sz="3600" i="1">
                        <a:latin typeface="Cambria Math" panose="02040503050406030204" pitchFamily="18" charset="0"/>
                        <a:ea typeface="Cambria Math" panose="02040503050406030204" pitchFamily="18" charset="0"/>
                      </a:rPr>
                      <m:t>𝔼</m:t>
                    </m:r>
                    <m:r>
                      <a:rPr lang="en-US" sz="3600" b="0" i="1" smtClean="0">
                        <a:latin typeface="Cambria Math" panose="02040503050406030204" pitchFamily="18" charset="0"/>
                        <a:ea typeface="Cambria Math" panose="02040503050406030204" pitchFamily="18" charset="0"/>
                      </a:rPr>
                      <m:t>[</m:t>
                    </m:r>
                    <m:acc>
                      <m:accPr>
                        <m:chr m:val="̂"/>
                        <m:ctrlPr>
                          <a:rPr lang="en-US" sz="3600" b="0" i="1" smtClean="0">
                            <a:latin typeface="Cambria Math" panose="02040503050406030204" pitchFamily="18" charset="0"/>
                          </a:rPr>
                        </m:ctrlPr>
                      </m:accPr>
                      <m:e>
                        <m:r>
                          <a:rPr lang="en-US" sz="3600" b="0" i="1" smtClean="0">
                            <a:latin typeface="Cambria Math" panose="02040503050406030204" pitchFamily="18" charset="0"/>
                          </a:rPr>
                          <m:t>𝜏</m:t>
                        </m:r>
                      </m:e>
                    </m:acc>
                    <m:r>
                      <a:rPr lang="en-US" sz="3600" b="0" i="1" smtClean="0">
                        <a:latin typeface="Cambria Math" panose="02040503050406030204" pitchFamily="18" charset="0"/>
                      </a:rPr>
                      <m:t>]</m:t>
                    </m:r>
                  </m:oMath>
                </a14:m>
                <a:r>
                  <a:rPr lang="en-US" sz="2400" dirty="0"/>
                  <a:t> in this example?</a:t>
                </a:r>
              </a:p>
              <a:p>
                <a:pPr algn="ctr"/>
                <a:endParaRPr lang="en-US" dirty="0"/>
              </a:p>
            </p:txBody>
          </p:sp>
        </mc:Choice>
        <mc:Fallback xmlns="">
          <p:sp>
            <p:nvSpPr>
              <p:cNvPr id="6" name="Rounded Rectangle 5">
                <a:extLst>
                  <a:ext uri="{FF2B5EF4-FFF2-40B4-BE49-F238E27FC236}">
                    <a16:creationId xmlns:a16="http://schemas.microsoft.com/office/drawing/2014/main" id="{9826751B-9835-AA22-D21D-67C8521B119C}"/>
                  </a:ext>
                </a:extLst>
              </p:cNvPr>
              <p:cNvSpPr>
                <a:spLocks noRot="1" noChangeAspect="1" noMove="1" noResize="1" noEditPoints="1" noAdjustHandles="1" noChangeArrowheads="1" noChangeShapeType="1" noTextEdit="1"/>
              </p:cNvSpPr>
              <p:nvPr/>
            </p:nvSpPr>
            <p:spPr>
              <a:xfrm>
                <a:off x="677888" y="2500040"/>
                <a:ext cx="3036621" cy="3107034"/>
              </a:xfrm>
              <a:prstGeom prst="roundRect">
                <a:avLst/>
              </a:prstGeom>
              <a:blipFill>
                <a:blip r:embed="rId3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8412362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786C3BBC-3DAA-0925-FC14-7991DF65539C}"/>
                  </a:ext>
                </a:extLst>
              </p:cNvPr>
              <p:cNvSpPr>
                <a:spLocks noGrp="1"/>
              </p:cNvSpPr>
              <p:nvPr>
                <p:ph type="title"/>
              </p:nvPr>
            </p:nvSpPr>
            <p:spPr/>
            <p:txBody>
              <a:bodyPr/>
              <a:lstStyle/>
              <a:p>
                <a:r>
                  <a:rPr lang="en-US" dirty="0"/>
                  <a:t>Why does </a:t>
                </a:r>
                <a14:m>
                  <m:oMath xmlns:m="http://schemas.openxmlformats.org/officeDocument/2006/math">
                    <m:r>
                      <a:rPr lang="en-US" i="1" smtClean="0">
                        <a:latin typeface="Cambria Math" panose="02040503050406030204" pitchFamily="18" charset="0"/>
                        <a:ea typeface="Cambria Math" panose="02040503050406030204" pitchFamily="18" charset="0"/>
                      </a:rPr>
                      <m:t>𝔼</m:t>
                    </m:r>
                    <m:d>
                      <m:dPr>
                        <m:begChr m:val="["/>
                        <m:endChr m:val="]"/>
                        <m:ctrlPr>
                          <a:rPr lang="en-US" b="0" i="1" smtClean="0">
                            <a:latin typeface="Cambria Math" panose="02040503050406030204" pitchFamily="18" charset="0"/>
                            <a:ea typeface="Cambria Math" panose="02040503050406030204" pitchFamily="18" charset="0"/>
                          </a:rPr>
                        </m:ctrlPr>
                      </m:dPr>
                      <m:e>
                        <m:acc>
                          <m:accPr>
                            <m:chr m:val="̂"/>
                            <m:ctrlPr>
                              <a:rPr lang="en-US" b="0" i="1" smtClean="0">
                                <a:latin typeface="Cambria Math" panose="02040503050406030204" pitchFamily="18" charset="0"/>
                                <a:ea typeface="Cambria Math" panose="02040503050406030204" pitchFamily="18" charset="0"/>
                              </a:rPr>
                            </m:ctrlPr>
                          </m:accPr>
                          <m:e>
                            <m:r>
                              <a:rPr lang="en-US" b="0" i="1" smtClean="0">
                                <a:latin typeface="Cambria Math" panose="02040503050406030204" pitchFamily="18" charset="0"/>
                                <a:ea typeface="Cambria Math" panose="02040503050406030204" pitchFamily="18" charset="0"/>
                              </a:rPr>
                              <m:t>𝜏</m:t>
                            </m:r>
                          </m:e>
                        </m:acc>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𝜏</m:t>
                    </m:r>
                  </m:oMath>
                </a14:m>
                <a:r>
                  <a:rPr lang="en-US" dirty="0"/>
                  <a:t>?</a:t>
                </a:r>
              </a:p>
            </p:txBody>
          </p:sp>
        </mc:Choice>
        <mc:Fallback xmlns="">
          <p:sp>
            <p:nvSpPr>
              <p:cNvPr id="2" name="Title 1">
                <a:extLst>
                  <a:ext uri="{FF2B5EF4-FFF2-40B4-BE49-F238E27FC236}">
                    <a16:creationId xmlns:a16="http://schemas.microsoft.com/office/drawing/2014/main" id="{786C3BBC-3DAA-0925-FC14-7991DF65539C}"/>
                  </a:ext>
                </a:extLst>
              </p:cNvPr>
              <p:cNvSpPr>
                <a:spLocks noGrp="1" noRot="1" noChangeAspect="1" noMove="1" noResize="1" noEditPoints="1" noAdjustHandles="1" noChangeArrowheads="1" noChangeShapeType="1" noTextEdit="1"/>
              </p:cNvSpPr>
              <p:nvPr>
                <p:ph type="title"/>
              </p:nvPr>
            </p:nvSpPr>
            <p:spPr>
              <a:blipFill>
                <a:blip r:embed="rId4"/>
                <a:stretch>
                  <a:fillRect l="-241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85BCF22E-4076-2A34-819D-2FBAC5BB70B6}"/>
                  </a:ext>
                </a:extLst>
              </p:cNvPr>
              <p:cNvSpPr txBox="1"/>
              <p:nvPr/>
            </p:nvSpPr>
            <p:spPr>
              <a:xfrm>
                <a:off x="1509091" y="1663662"/>
                <a:ext cx="6097656" cy="1036630"/>
              </a:xfrm>
              <a:prstGeom prst="rect">
                <a:avLst/>
              </a:prstGeom>
              <a:noFill/>
            </p:spPr>
            <p:txBody>
              <a:bodyPr wrap="square">
                <a:spAutoFit/>
              </a:bodyPr>
              <a:lstStyle/>
              <a:p>
                <a:pPr marL="0" indent="0" algn="ctr">
                  <a:buNone/>
                </a:pPr>
                <a14:m>
                  <m:oMathPara xmlns:m="http://schemas.openxmlformats.org/officeDocument/2006/math">
                    <m:oMathParaPr>
                      <m:jc m:val="centerGroup"/>
                    </m:oMathParaPr>
                    <m:oMath xmlns:m="http://schemas.openxmlformats.org/officeDocument/2006/math">
                      <m:acc>
                        <m:accPr>
                          <m:chr m:val="̂"/>
                          <m:ctrlPr>
                            <a:rPr lang="en-US" sz="2400" b="0" i="1" smtClean="0">
                              <a:latin typeface="Cambria Math" panose="02040503050406030204" pitchFamily="18" charset="0"/>
                            </a:rPr>
                          </m:ctrlPr>
                        </m:accPr>
                        <m:e>
                          <m:r>
                            <a:rPr lang="en-US" sz="2400" b="0" i="1" smtClean="0">
                              <a:latin typeface="Cambria Math" panose="02040503050406030204" pitchFamily="18" charset="0"/>
                            </a:rPr>
                            <m:t>𝜏</m:t>
                          </m:r>
                        </m:e>
                      </m:acc>
                      <m:r>
                        <a:rPr lang="en-US" sz="2400" b="0" i="1" smtClean="0">
                          <a:latin typeface="Cambria Math" panose="02040503050406030204" pitchFamily="18" charset="0"/>
                        </a:rPr>
                        <m:t>  </m:t>
                      </m:r>
                      <m:r>
                        <a:rPr lang="en-US" sz="2400" b="0" i="1" dirty="0" smtClean="0">
                          <a:latin typeface="Cambria Math" panose="02040503050406030204" pitchFamily="18" charset="0"/>
                        </a:rPr>
                        <m:t>=          </m:t>
                      </m:r>
                      <m:f>
                        <m:fPr>
                          <m:ctrlPr>
                            <a:rPr lang="en-US" sz="2400" b="0" i="1" dirty="0" smtClean="0">
                              <a:latin typeface="Cambria Math" panose="02040503050406030204" pitchFamily="18" charset="0"/>
                            </a:rPr>
                          </m:ctrlPr>
                        </m:fPr>
                        <m:num>
                          <m:r>
                            <a:rPr lang="en-US" sz="2400" b="0" i="1" dirty="0" smtClean="0">
                              <a:latin typeface="Cambria Math" panose="02040503050406030204" pitchFamily="18" charset="0"/>
                            </a:rPr>
                            <m:t>1</m:t>
                          </m:r>
                        </m:num>
                        <m:den>
                          <m:sSub>
                            <m:sSubPr>
                              <m:ctrlPr>
                                <a:rPr lang="en-US" sz="2400" b="0" i="1" dirty="0" smtClean="0">
                                  <a:latin typeface="Cambria Math" panose="02040503050406030204" pitchFamily="18" charset="0"/>
                                </a:rPr>
                              </m:ctrlPr>
                            </m:sSubPr>
                            <m:e>
                              <m:r>
                                <a:rPr lang="en-US" sz="2400" b="0" i="1" dirty="0" smtClean="0">
                                  <a:latin typeface="Cambria Math" panose="02040503050406030204" pitchFamily="18" charset="0"/>
                                </a:rPr>
                                <m:t>𝑁</m:t>
                              </m:r>
                            </m:e>
                            <m:sub>
                              <m:r>
                                <a:rPr lang="en-US" sz="2400" b="0" i="1" dirty="0" smtClean="0">
                                  <a:latin typeface="Cambria Math" panose="02040503050406030204" pitchFamily="18" charset="0"/>
                                </a:rPr>
                                <m:t>1</m:t>
                              </m:r>
                            </m:sub>
                          </m:sSub>
                        </m:den>
                      </m:f>
                      <m:nary>
                        <m:naryPr>
                          <m:chr m:val="∑"/>
                          <m:supHide m:val="on"/>
                          <m:ctrlPr>
                            <a:rPr lang="en-US" sz="2400" b="0" i="1" dirty="0" smtClean="0">
                              <a:latin typeface="Cambria Math" panose="02040503050406030204" pitchFamily="18" charset="0"/>
                            </a:rPr>
                          </m:ctrlPr>
                        </m:naryPr>
                        <m:sub>
                          <m:r>
                            <m:rPr>
                              <m:brk m:alnAt="7"/>
                            </m:rPr>
                            <a:rPr lang="en-US" sz="2400" b="0" i="1" dirty="0" smtClean="0">
                              <a:latin typeface="Cambria Math" panose="02040503050406030204" pitchFamily="18" charset="0"/>
                            </a:rPr>
                            <m:t>𝑖</m:t>
                          </m:r>
                          <m:r>
                            <a:rPr lang="en-US" sz="2400" b="0" i="1" dirty="0" smtClean="0">
                              <a:latin typeface="Cambria Math" panose="02040503050406030204" pitchFamily="18" charset="0"/>
                            </a:rPr>
                            <m:t>:</m:t>
                          </m:r>
                          <m:sSub>
                            <m:sSubPr>
                              <m:ctrlPr>
                                <a:rPr lang="en-US" sz="2400" b="0" i="1" dirty="0" smtClean="0">
                                  <a:latin typeface="Cambria Math" panose="02040503050406030204" pitchFamily="18" charset="0"/>
                                </a:rPr>
                              </m:ctrlPr>
                            </m:sSubPr>
                            <m:e>
                              <m:r>
                                <m:rPr>
                                  <m:brk m:alnAt="7"/>
                                </m:rPr>
                                <a:rPr lang="en-US" sz="2400" b="0" i="1" dirty="0" smtClean="0">
                                  <a:latin typeface="Cambria Math" panose="02040503050406030204" pitchFamily="18" charset="0"/>
                                </a:rPr>
                                <m:t>𝑊</m:t>
                              </m:r>
                            </m:e>
                            <m:sub>
                              <m:r>
                                <m:rPr>
                                  <m:brk m:alnAt="7"/>
                                </m:rPr>
                                <a:rPr lang="en-US" sz="2400" b="0" i="1" dirty="0" smtClean="0">
                                  <a:latin typeface="Cambria Math" panose="02040503050406030204" pitchFamily="18" charset="0"/>
                                </a:rPr>
                                <m:t>𝑖</m:t>
                              </m:r>
                            </m:sub>
                          </m:sSub>
                          <m:r>
                            <m:rPr>
                              <m:brk m:alnAt="7"/>
                            </m:rPr>
                            <a:rPr lang="en-US" sz="2400" b="0" i="1" dirty="0" smtClean="0">
                              <a:latin typeface="Cambria Math" panose="02040503050406030204" pitchFamily="18" charset="0"/>
                            </a:rPr>
                            <m:t>=</m:t>
                          </m:r>
                          <m:r>
                            <a:rPr lang="en-US" sz="2400" b="0" i="1" dirty="0" smtClean="0">
                              <a:latin typeface="Cambria Math" panose="02040503050406030204" pitchFamily="18" charset="0"/>
                            </a:rPr>
                            <m:t>1</m:t>
                          </m:r>
                        </m:sub>
                        <m:sup/>
                        <m:e>
                          <m:sSub>
                            <m:sSubPr>
                              <m:ctrlPr>
                                <a:rPr lang="en-US" sz="2400" b="0" i="1" dirty="0" smtClean="0">
                                  <a:latin typeface="Cambria Math" panose="02040503050406030204" pitchFamily="18" charset="0"/>
                                </a:rPr>
                              </m:ctrlPr>
                            </m:sSubPr>
                            <m:e>
                              <m:r>
                                <a:rPr lang="en-US" sz="2400" b="0" i="1" dirty="0" smtClean="0">
                                  <a:latin typeface="Cambria Math" panose="02040503050406030204" pitchFamily="18" charset="0"/>
                                </a:rPr>
                                <m:t>𝑌</m:t>
                              </m:r>
                            </m:e>
                            <m:sub>
                              <m:r>
                                <a:rPr lang="en-US" sz="2400" b="0" i="1" dirty="0" smtClean="0">
                                  <a:latin typeface="Cambria Math" panose="02040503050406030204" pitchFamily="18" charset="0"/>
                                </a:rPr>
                                <m:t>𝑖</m:t>
                              </m:r>
                            </m:sub>
                          </m:sSub>
                        </m:e>
                      </m:nary>
                      <m:r>
                        <a:rPr lang="en-US" sz="2400" b="0" i="1" dirty="0" smtClean="0">
                          <a:latin typeface="Cambria Math" panose="02040503050406030204" pitchFamily="18" charset="0"/>
                        </a:rPr>
                        <m:t>−</m:t>
                      </m:r>
                      <m:f>
                        <m:fPr>
                          <m:ctrlPr>
                            <a:rPr lang="en-US" sz="2400" b="0" i="1" dirty="0" smtClean="0">
                              <a:latin typeface="Cambria Math" panose="02040503050406030204" pitchFamily="18" charset="0"/>
                            </a:rPr>
                          </m:ctrlPr>
                        </m:fPr>
                        <m:num>
                          <m:r>
                            <a:rPr lang="en-US" sz="2400" b="0" i="1" dirty="0" smtClean="0">
                              <a:latin typeface="Cambria Math" panose="02040503050406030204" pitchFamily="18" charset="0"/>
                            </a:rPr>
                            <m:t>1</m:t>
                          </m:r>
                        </m:num>
                        <m:den>
                          <m:sSub>
                            <m:sSubPr>
                              <m:ctrlPr>
                                <a:rPr lang="en-US" sz="2400" b="0" i="1" dirty="0" smtClean="0">
                                  <a:latin typeface="Cambria Math" panose="02040503050406030204" pitchFamily="18" charset="0"/>
                                </a:rPr>
                              </m:ctrlPr>
                            </m:sSubPr>
                            <m:e>
                              <m:r>
                                <a:rPr lang="en-US" sz="2400" b="0" i="1" dirty="0" smtClean="0">
                                  <a:latin typeface="Cambria Math" panose="02040503050406030204" pitchFamily="18" charset="0"/>
                                </a:rPr>
                                <m:t>𝑁</m:t>
                              </m:r>
                            </m:e>
                            <m:sub>
                              <m:r>
                                <a:rPr lang="en-US" sz="2400" b="0" i="1" dirty="0" smtClean="0">
                                  <a:latin typeface="Cambria Math" panose="02040503050406030204" pitchFamily="18" charset="0"/>
                                </a:rPr>
                                <m:t>0</m:t>
                              </m:r>
                            </m:sub>
                          </m:sSub>
                        </m:den>
                      </m:f>
                      <m:nary>
                        <m:naryPr>
                          <m:chr m:val="∑"/>
                          <m:supHide m:val="on"/>
                          <m:ctrlPr>
                            <a:rPr lang="en-US" sz="2400" b="0" i="1" dirty="0" smtClean="0">
                              <a:latin typeface="Cambria Math" panose="02040503050406030204" pitchFamily="18" charset="0"/>
                            </a:rPr>
                          </m:ctrlPr>
                        </m:naryPr>
                        <m:sub>
                          <m:r>
                            <m:rPr>
                              <m:brk m:alnAt="7"/>
                            </m:rPr>
                            <a:rPr lang="en-US" sz="2400" b="0" i="1" dirty="0" smtClean="0">
                              <a:latin typeface="Cambria Math" panose="02040503050406030204" pitchFamily="18" charset="0"/>
                            </a:rPr>
                            <m:t>𝑖</m:t>
                          </m:r>
                          <m:r>
                            <a:rPr lang="en-US" sz="2400" b="0" i="1" dirty="0" smtClean="0">
                              <a:latin typeface="Cambria Math" panose="02040503050406030204" pitchFamily="18" charset="0"/>
                            </a:rPr>
                            <m:t>:</m:t>
                          </m:r>
                          <m:sSub>
                            <m:sSubPr>
                              <m:ctrlPr>
                                <a:rPr lang="en-US" sz="2400" b="0" i="1" dirty="0" smtClean="0">
                                  <a:latin typeface="Cambria Math" panose="02040503050406030204" pitchFamily="18" charset="0"/>
                                </a:rPr>
                              </m:ctrlPr>
                            </m:sSubPr>
                            <m:e>
                              <m:r>
                                <m:rPr>
                                  <m:brk m:alnAt="7"/>
                                </m:rPr>
                                <a:rPr lang="en-US" sz="2400" b="0" i="1" dirty="0" smtClean="0">
                                  <a:latin typeface="Cambria Math" panose="02040503050406030204" pitchFamily="18" charset="0"/>
                                </a:rPr>
                                <m:t>𝑊</m:t>
                              </m:r>
                            </m:e>
                            <m:sub>
                              <m:r>
                                <m:rPr>
                                  <m:brk m:alnAt="7"/>
                                </m:rPr>
                                <a:rPr lang="en-US" sz="2400" b="0" i="1" dirty="0" smtClean="0">
                                  <a:latin typeface="Cambria Math" panose="02040503050406030204" pitchFamily="18" charset="0"/>
                                </a:rPr>
                                <m:t>𝑖</m:t>
                              </m:r>
                            </m:sub>
                          </m:sSub>
                          <m:r>
                            <m:rPr>
                              <m:brk m:alnAt="7"/>
                            </m:rPr>
                            <a:rPr lang="en-US" sz="2400" b="0" i="1" dirty="0" smtClean="0">
                              <a:latin typeface="Cambria Math" panose="02040503050406030204" pitchFamily="18" charset="0"/>
                            </a:rPr>
                            <m:t>=</m:t>
                          </m:r>
                          <m:r>
                            <a:rPr lang="en-US" sz="2400" b="0" i="1" dirty="0" smtClean="0">
                              <a:latin typeface="Cambria Math" panose="02040503050406030204" pitchFamily="18" charset="0"/>
                            </a:rPr>
                            <m:t>0</m:t>
                          </m:r>
                        </m:sub>
                        <m:sup/>
                        <m:e>
                          <m:sSub>
                            <m:sSubPr>
                              <m:ctrlPr>
                                <a:rPr lang="en-US" sz="2400" b="0" i="1" dirty="0" smtClean="0">
                                  <a:latin typeface="Cambria Math" panose="02040503050406030204" pitchFamily="18" charset="0"/>
                                </a:rPr>
                              </m:ctrlPr>
                            </m:sSubPr>
                            <m:e>
                              <m:r>
                                <a:rPr lang="en-US" sz="2400" b="0" i="1" dirty="0" smtClean="0">
                                  <a:latin typeface="Cambria Math" panose="02040503050406030204" pitchFamily="18" charset="0"/>
                                </a:rPr>
                                <m:t>𝑌</m:t>
                              </m:r>
                            </m:e>
                            <m:sub>
                              <m:r>
                                <a:rPr lang="en-US" sz="2400" b="0" i="1" dirty="0" smtClean="0">
                                  <a:latin typeface="Cambria Math" panose="02040503050406030204" pitchFamily="18" charset="0"/>
                                </a:rPr>
                                <m:t>𝑖</m:t>
                              </m:r>
                            </m:sub>
                          </m:sSub>
                        </m:e>
                      </m:nary>
                    </m:oMath>
                  </m:oMathPara>
                </a14:m>
                <a:endParaRPr lang="en-US" sz="2400" dirty="0"/>
              </a:p>
            </p:txBody>
          </p:sp>
        </mc:Choice>
        <mc:Fallback xmlns="">
          <p:sp>
            <p:nvSpPr>
              <p:cNvPr id="6" name="TextBox 5">
                <a:extLst>
                  <a:ext uri="{FF2B5EF4-FFF2-40B4-BE49-F238E27FC236}">
                    <a16:creationId xmlns:a16="http://schemas.microsoft.com/office/drawing/2014/main" id="{85BCF22E-4076-2A34-819D-2FBAC5BB70B6}"/>
                  </a:ext>
                </a:extLst>
              </p:cNvPr>
              <p:cNvSpPr txBox="1">
                <a:spLocks noRot="1" noChangeAspect="1" noMove="1" noResize="1" noEditPoints="1" noAdjustHandles="1" noChangeArrowheads="1" noChangeShapeType="1" noTextEdit="1"/>
              </p:cNvSpPr>
              <p:nvPr/>
            </p:nvSpPr>
            <p:spPr>
              <a:xfrm>
                <a:off x="1509091" y="1663662"/>
                <a:ext cx="6097656" cy="1036630"/>
              </a:xfrm>
              <a:prstGeom prst="rect">
                <a:avLst/>
              </a:prstGeom>
              <a:blipFill>
                <a:blip r:embed="rId5"/>
                <a:stretch>
                  <a:fillRect t="-125610" b="-16829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0CD1686E-3EDC-5EBE-A5A2-56EC23CA6EE2}"/>
                  </a:ext>
                </a:extLst>
              </p:cNvPr>
              <p:cNvSpPr txBox="1"/>
              <p:nvPr/>
            </p:nvSpPr>
            <p:spPr>
              <a:xfrm>
                <a:off x="1707874" y="1779299"/>
                <a:ext cx="1033670" cy="64633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3600" i="1" smtClean="0">
                          <a:solidFill>
                            <a:schemeClr val="accent5"/>
                          </a:solidFill>
                          <a:latin typeface="Cambria Math" panose="02040503050406030204" pitchFamily="18" charset="0"/>
                          <a:ea typeface="Cambria Math" panose="02040503050406030204" pitchFamily="18" charset="0"/>
                        </a:rPr>
                        <m:t>𝔼</m:t>
                      </m:r>
                      <m:r>
                        <a:rPr lang="en-US" sz="3600" b="0" i="1" smtClean="0">
                          <a:solidFill>
                            <a:schemeClr val="accent5"/>
                          </a:solidFill>
                          <a:latin typeface="Cambria Math" panose="02040503050406030204" pitchFamily="18" charset="0"/>
                          <a:ea typeface="Cambria Math" panose="02040503050406030204" pitchFamily="18" charset="0"/>
                        </a:rPr>
                        <m:t>[  ]</m:t>
                      </m:r>
                    </m:oMath>
                  </m:oMathPara>
                </a14:m>
                <a:endParaRPr lang="en-US" dirty="0">
                  <a:solidFill>
                    <a:schemeClr val="accent5"/>
                  </a:solidFill>
                </a:endParaRPr>
              </a:p>
            </p:txBody>
          </p:sp>
        </mc:Choice>
        <mc:Fallback xmlns="">
          <p:sp>
            <p:nvSpPr>
              <p:cNvPr id="8" name="TextBox 7">
                <a:extLst>
                  <a:ext uri="{FF2B5EF4-FFF2-40B4-BE49-F238E27FC236}">
                    <a16:creationId xmlns:a16="http://schemas.microsoft.com/office/drawing/2014/main" id="{0CD1686E-3EDC-5EBE-A5A2-56EC23CA6EE2}"/>
                  </a:ext>
                </a:extLst>
              </p:cNvPr>
              <p:cNvSpPr txBox="1">
                <a:spLocks noRot="1" noChangeAspect="1" noMove="1" noResize="1" noEditPoints="1" noAdjustHandles="1" noChangeArrowheads="1" noChangeShapeType="1" noTextEdit="1"/>
              </p:cNvSpPr>
              <p:nvPr/>
            </p:nvSpPr>
            <p:spPr>
              <a:xfrm>
                <a:off x="1707874" y="1779299"/>
                <a:ext cx="1033670" cy="646331"/>
              </a:xfrm>
              <a:prstGeom prst="rect">
                <a:avLst/>
              </a:prstGeom>
              <a:blipFill>
                <a:blip r:embed="rId6"/>
                <a:stretch>
                  <a:fillRect l="-3614" t="-1923" r="-8434" b="-2307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091A1BB7-10D1-70B1-AFFA-B15AD81052DD}"/>
                  </a:ext>
                </a:extLst>
              </p:cNvPr>
              <p:cNvSpPr txBox="1"/>
              <p:nvPr/>
            </p:nvSpPr>
            <p:spPr>
              <a:xfrm>
                <a:off x="2940327" y="1779254"/>
                <a:ext cx="1033670" cy="64633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3600" i="1" smtClean="0">
                          <a:solidFill>
                            <a:schemeClr val="accent5"/>
                          </a:solidFill>
                          <a:latin typeface="Cambria Math" panose="02040503050406030204" pitchFamily="18" charset="0"/>
                          <a:ea typeface="Cambria Math" panose="02040503050406030204" pitchFamily="18" charset="0"/>
                        </a:rPr>
                        <m:t>𝔼</m:t>
                      </m:r>
                      <m:r>
                        <a:rPr lang="en-US" sz="3600" b="0" i="1" smtClean="0">
                          <a:solidFill>
                            <a:schemeClr val="accent5"/>
                          </a:solidFill>
                          <a:latin typeface="Cambria Math" panose="02040503050406030204" pitchFamily="18" charset="0"/>
                          <a:ea typeface="Cambria Math" panose="02040503050406030204" pitchFamily="18" charset="0"/>
                        </a:rPr>
                        <m:t>[                                  ]</m:t>
                      </m:r>
                    </m:oMath>
                  </m:oMathPara>
                </a14:m>
                <a:endParaRPr lang="en-US" dirty="0">
                  <a:solidFill>
                    <a:schemeClr val="accent5"/>
                  </a:solidFill>
                </a:endParaRPr>
              </a:p>
            </p:txBody>
          </p:sp>
        </mc:Choice>
        <mc:Fallback xmlns="">
          <p:sp>
            <p:nvSpPr>
              <p:cNvPr id="9" name="TextBox 8">
                <a:extLst>
                  <a:ext uri="{FF2B5EF4-FFF2-40B4-BE49-F238E27FC236}">
                    <a16:creationId xmlns:a16="http://schemas.microsoft.com/office/drawing/2014/main" id="{091A1BB7-10D1-70B1-AFFA-B15AD81052DD}"/>
                  </a:ext>
                </a:extLst>
              </p:cNvPr>
              <p:cNvSpPr txBox="1">
                <a:spLocks noRot="1" noChangeAspect="1" noMove="1" noResize="1" noEditPoints="1" noAdjustHandles="1" noChangeArrowheads="1" noChangeShapeType="1" noTextEdit="1"/>
              </p:cNvSpPr>
              <p:nvPr/>
            </p:nvSpPr>
            <p:spPr>
              <a:xfrm>
                <a:off x="2940327" y="1779254"/>
                <a:ext cx="1033670" cy="646331"/>
              </a:xfrm>
              <a:prstGeom prst="rect">
                <a:avLst/>
              </a:prstGeom>
              <a:blipFill>
                <a:blip r:embed="rId7"/>
                <a:stretch>
                  <a:fillRect l="-6098" t="-1923" r="-315854" b="-2307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AA29FAF7-E8F1-D8DB-FF3F-4903D01FF2F0}"/>
                  </a:ext>
                </a:extLst>
              </p:cNvPr>
              <p:cNvSpPr txBox="1"/>
              <p:nvPr/>
            </p:nvSpPr>
            <p:spPr>
              <a:xfrm>
                <a:off x="7606747" y="119270"/>
                <a:ext cx="4359966" cy="1015663"/>
              </a:xfrm>
              <a:prstGeom prst="rect">
                <a:avLst/>
              </a:prstGeom>
              <a:noFill/>
            </p:spPr>
            <p:txBody>
              <a:bodyPr wrap="square" rtlCol="0">
                <a:spAutoFit/>
              </a:bodyPr>
              <a:lstStyle/>
              <a:p>
                <a:pPr algn="r"/>
                <a:r>
                  <a:rPr lang="en-US" sz="2000" dirty="0">
                    <a:solidFill>
                      <a:schemeClr val="accent5"/>
                    </a:solidFill>
                  </a:rPr>
                  <a:t>Say we choose </a:t>
                </a:r>
                <a14:m>
                  <m:oMath xmlns:m="http://schemas.openxmlformats.org/officeDocument/2006/math">
                    <m:sSub>
                      <m:sSubPr>
                        <m:ctrlPr>
                          <a:rPr lang="en-US" sz="2000" b="0" i="1" smtClean="0">
                            <a:solidFill>
                              <a:schemeClr val="accent5"/>
                            </a:solidFill>
                            <a:latin typeface="Cambria Math" panose="02040503050406030204" pitchFamily="18" charset="0"/>
                          </a:rPr>
                        </m:ctrlPr>
                      </m:sSubPr>
                      <m:e>
                        <m:r>
                          <a:rPr lang="en-US" sz="2000" b="0" i="1" smtClean="0">
                            <a:solidFill>
                              <a:schemeClr val="accent5"/>
                            </a:solidFill>
                            <a:latin typeface="Cambria Math" panose="02040503050406030204" pitchFamily="18" charset="0"/>
                          </a:rPr>
                          <m:t>𝑁</m:t>
                        </m:r>
                      </m:e>
                      <m:sub>
                        <m:r>
                          <a:rPr lang="en-US" sz="2000" b="0" i="1" smtClean="0">
                            <a:solidFill>
                              <a:schemeClr val="accent5"/>
                            </a:solidFill>
                            <a:latin typeface="Cambria Math" panose="02040503050406030204" pitchFamily="18" charset="0"/>
                          </a:rPr>
                          <m:t>0</m:t>
                        </m:r>
                      </m:sub>
                    </m:sSub>
                  </m:oMath>
                </a14:m>
                <a:r>
                  <a:rPr lang="en-US" sz="2000" dirty="0">
                    <a:solidFill>
                      <a:schemeClr val="accent5"/>
                    </a:solidFill>
                  </a:rPr>
                  <a:t> people at random for the control group, and </a:t>
                </a:r>
                <a14:m>
                  <m:oMath xmlns:m="http://schemas.openxmlformats.org/officeDocument/2006/math">
                    <m:sSub>
                      <m:sSubPr>
                        <m:ctrlPr>
                          <a:rPr lang="en-US" sz="2000" b="0" i="1" smtClean="0">
                            <a:solidFill>
                              <a:schemeClr val="accent5"/>
                            </a:solidFill>
                            <a:latin typeface="Cambria Math" panose="02040503050406030204" pitchFamily="18" charset="0"/>
                          </a:rPr>
                        </m:ctrlPr>
                      </m:sSubPr>
                      <m:e>
                        <m:r>
                          <a:rPr lang="en-US" sz="2000" b="0" i="1" smtClean="0">
                            <a:solidFill>
                              <a:schemeClr val="accent5"/>
                            </a:solidFill>
                            <a:latin typeface="Cambria Math" panose="02040503050406030204" pitchFamily="18" charset="0"/>
                          </a:rPr>
                          <m:t>𝑁</m:t>
                        </m:r>
                      </m:e>
                      <m:sub>
                        <m:r>
                          <a:rPr lang="en-US" sz="2000" b="0" i="1" smtClean="0">
                            <a:solidFill>
                              <a:schemeClr val="accent5"/>
                            </a:solidFill>
                            <a:latin typeface="Cambria Math" panose="02040503050406030204" pitchFamily="18" charset="0"/>
                          </a:rPr>
                          <m:t>1</m:t>
                        </m:r>
                      </m:sub>
                    </m:sSub>
                  </m:oMath>
                </a14:m>
                <a:r>
                  <a:rPr lang="en-US" sz="2000" dirty="0">
                    <a:solidFill>
                      <a:schemeClr val="accent5"/>
                    </a:solidFill>
                  </a:rPr>
                  <a:t> people at random for the treatment group.</a:t>
                </a:r>
              </a:p>
            </p:txBody>
          </p:sp>
        </mc:Choice>
        <mc:Fallback xmlns="">
          <p:sp>
            <p:nvSpPr>
              <p:cNvPr id="10" name="TextBox 9">
                <a:extLst>
                  <a:ext uri="{FF2B5EF4-FFF2-40B4-BE49-F238E27FC236}">
                    <a16:creationId xmlns:a16="http://schemas.microsoft.com/office/drawing/2014/main" id="{AA29FAF7-E8F1-D8DB-FF3F-4903D01FF2F0}"/>
                  </a:ext>
                </a:extLst>
              </p:cNvPr>
              <p:cNvSpPr txBox="1">
                <a:spLocks noRot="1" noChangeAspect="1" noMove="1" noResize="1" noEditPoints="1" noAdjustHandles="1" noChangeArrowheads="1" noChangeShapeType="1" noTextEdit="1"/>
              </p:cNvSpPr>
              <p:nvPr/>
            </p:nvSpPr>
            <p:spPr>
              <a:xfrm>
                <a:off x="7606747" y="119270"/>
                <a:ext cx="4359966" cy="1015663"/>
              </a:xfrm>
              <a:prstGeom prst="rect">
                <a:avLst/>
              </a:prstGeom>
              <a:blipFill>
                <a:blip r:embed="rId8"/>
                <a:stretch>
                  <a:fillRect l="-1453" t="-2469" r="-2616" b="-9877"/>
                </a:stretch>
              </a:blipFill>
            </p:spPr>
            <p:txBody>
              <a:bodyPr/>
              <a:lstStyle/>
              <a:p>
                <a:r>
                  <a:rPr lang="en-US">
                    <a:noFill/>
                  </a:rPr>
                  <a:t> </a:t>
                </a:r>
              </a:p>
            </p:txBody>
          </p:sp>
        </mc:Fallback>
      </mc:AlternateContent>
    </p:spTree>
    <p:extLst>
      <p:ext uri="{BB962C8B-B14F-4D97-AF65-F5344CB8AC3E}">
        <p14:creationId xmlns:p14="http://schemas.microsoft.com/office/powerpoint/2010/main" val="193100673"/>
      </p:ext>
    </p:extLst>
  </p:cSld>
  <p:clrMapOvr>
    <a:masterClrMapping/>
  </p:clrMapOvr>
  <p:extLst>
    <p:ext uri="{6950BFC3-D8DA-4A85-94F7-54DA5524770B}">
      <p188:commentRel xmlns:p188="http://schemas.microsoft.com/office/powerpoint/2018/8/main" r:id="rId3"/>
    </p:ext>
  </p:extLs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786C3BBC-3DAA-0925-FC14-7991DF65539C}"/>
                  </a:ext>
                </a:extLst>
              </p:cNvPr>
              <p:cNvSpPr>
                <a:spLocks noGrp="1"/>
              </p:cNvSpPr>
              <p:nvPr>
                <p:ph type="title"/>
              </p:nvPr>
            </p:nvSpPr>
            <p:spPr/>
            <p:txBody>
              <a:bodyPr/>
              <a:lstStyle/>
              <a:p>
                <a:r>
                  <a:rPr lang="en-US" dirty="0"/>
                  <a:t>Why does </a:t>
                </a:r>
                <a14:m>
                  <m:oMath xmlns:m="http://schemas.openxmlformats.org/officeDocument/2006/math">
                    <m:r>
                      <a:rPr lang="en-US" i="1" smtClean="0">
                        <a:latin typeface="Cambria Math" panose="02040503050406030204" pitchFamily="18" charset="0"/>
                        <a:ea typeface="Cambria Math" panose="02040503050406030204" pitchFamily="18" charset="0"/>
                      </a:rPr>
                      <m:t>𝔼</m:t>
                    </m:r>
                    <m:d>
                      <m:dPr>
                        <m:begChr m:val="["/>
                        <m:endChr m:val="]"/>
                        <m:ctrlPr>
                          <a:rPr lang="en-US" b="0" i="1" smtClean="0">
                            <a:latin typeface="Cambria Math" panose="02040503050406030204" pitchFamily="18" charset="0"/>
                            <a:ea typeface="Cambria Math" panose="02040503050406030204" pitchFamily="18" charset="0"/>
                          </a:rPr>
                        </m:ctrlPr>
                      </m:dPr>
                      <m:e>
                        <m:acc>
                          <m:accPr>
                            <m:chr m:val="̂"/>
                            <m:ctrlPr>
                              <a:rPr lang="en-US" b="0" i="1" smtClean="0">
                                <a:latin typeface="Cambria Math" panose="02040503050406030204" pitchFamily="18" charset="0"/>
                                <a:ea typeface="Cambria Math" panose="02040503050406030204" pitchFamily="18" charset="0"/>
                              </a:rPr>
                            </m:ctrlPr>
                          </m:accPr>
                          <m:e>
                            <m:r>
                              <a:rPr lang="en-US" b="0" i="1" smtClean="0">
                                <a:latin typeface="Cambria Math" panose="02040503050406030204" pitchFamily="18" charset="0"/>
                                <a:ea typeface="Cambria Math" panose="02040503050406030204" pitchFamily="18" charset="0"/>
                              </a:rPr>
                              <m:t>𝜏</m:t>
                            </m:r>
                          </m:e>
                        </m:acc>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𝜏</m:t>
                    </m:r>
                  </m:oMath>
                </a14:m>
                <a:r>
                  <a:rPr lang="en-US" dirty="0"/>
                  <a:t>?</a:t>
                </a:r>
              </a:p>
            </p:txBody>
          </p:sp>
        </mc:Choice>
        <mc:Fallback xmlns="">
          <p:sp>
            <p:nvSpPr>
              <p:cNvPr id="2" name="Title 1">
                <a:extLst>
                  <a:ext uri="{FF2B5EF4-FFF2-40B4-BE49-F238E27FC236}">
                    <a16:creationId xmlns:a16="http://schemas.microsoft.com/office/drawing/2014/main" id="{786C3BBC-3DAA-0925-FC14-7991DF65539C}"/>
                  </a:ext>
                </a:extLst>
              </p:cNvPr>
              <p:cNvSpPr>
                <a:spLocks noGrp="1" noRot="1" noChangeAspect="1" noMove="1" noResize="1" noEditPoints="1" noAdjustHandles="1" noChangeArrowheads="1" noChangeShapeType="1" noTextEdit="1"/>
              </p:cNvSpPr>
              <p:nvPr>
                <p:ph type="title"/>
              </p:nvPr>
            </p:nvSpPr>
            <p:spPr>
              <a:blipFill>
                <a:blip r:embed="rId3"/>
                <a:stretch>
                  <a:fillRect l="-241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85BCF22E-4076-2A34-819D-2FBAC5BB70B6}"/>
                  </a:ext>
                </a:extLst>
              </p:cNvPr>
              <p:cNvSpPr txBox="1"/>
              <p:nvPr/>
            </p:nvSpPr>
            <p:spPr>
              <a:xfrm>
                <a:off x="1509091" y="1663662"/>
                <a:ext cx="6097656" cy="1036630"/>
              </a:xfrm>
              <a:prstGeom prst="rect">
                <a:avLst/>
              </a:prstGeom>
              <a:noFill/>
            </p:spPr>
            <p:txBody>
              <a:bodyPr wrap="square">
                <a:spAutoFit/>
              </a:bodyPr>
              <a:lstStyle/>
              <a:p>
                <a:pPr marL="0" indent="0" algn="ctr">
                  <a:buNone/>
                </a:pPr>
                <a14:m>
                  <m:oMathPara xmlns:m="http://schemas.openxmlformats.org/officeDocument/2006/math">
                    <m:oMathParaPr>
                      <m:jc m:val="centerGroup"/>
                    </m:oMathParaPr>
                    <m:oMath xmlns:m="http://schemas.openxmlformats.org/officeDocument/2006/math">
                      <m:acc>
                        <m:accPr>
                          <m:chr m:val="̂"/>
                          <m:ctrlPr>
                            <a:rPr lang="en-US" sz="2400" b="0" i="1" smtClean="0">
                              <a:latin typeface="Cambria Math" panose="02040503050406030204" pitchFamily="18" charset="0"/>
                            </a:rPr>
                          </m:ctrlPr>
                        </m:accPr>
                        <m:e>
                          <m:r>
                            <a:rPr lang="en-US" sz="2400" b="0" i="1" smtClean="0">
                              <a:latin typeface="Cambria Math" panose="02040503050406030204" pitchFamily="18" charset="0"/>
                            </a:rPr>
                            <m:t>𝜏</m:t>
                          </m:r>
                        </m:e>
                      </m:acc>
                      <m:r>
                        <a:rPr lang="en-US" sz="2400" b="0" i="1" smtClean="0">
                          <a:latin typeface="Cambria Math" panose="02040503050406030204" pitchFamily="18" charset="0"/>
                        </a:rPr>
                        <m:t>  </m:t>
                      </m:r>
                      <m:r>
                        <a:rPr lang="en-US" sz="2400" b="0" i="1" dirty="0" smtClean="0">
                          <a:latin typeface="Cambria Math" panose="02040503050406030204" pitchFamily="18" charset="0"/>
                        </a:rPr>
                        <m:t>=          </m:t>
                      </m:r>
                      <m:f>
                        <m:fPr>
                          <m:ctrlPr>
                            <a:rPr lang="en-US" sz="2400" b="0" i="1" dirty="0" smtClean="0">
                              <a:latin typeface="Cambria Math" panose="02040503050406030204" pitchFamily="18" charset="0"/>
                            </a:rPr>
                          </m:ctrlPr>
                        </m:fPr>
                        <m:num>
                          <m:r>
                            <a:rPr lang="en-US" sz="2400" b="0" i="1" dirty="0" smtClean="0">
                              <a:latin typeface="Cambria Math" panose="02040503050406030204" pitchFamily="18" charset="0"/>
                            </a:rPr>
                            <m:t>1</m:t>
                          </m:r>
                        </m:num>
                        <m:den>
                          <m:sSub>
                            <m:sSubPr>
                              <m:ctrlPr>
                                <a:rPr lang="en-US" sz="2400" b="0" i="1" dirty="0" smtClean="0">
                                  <a:latin typeface="Cambria Math" panose="02040503050406030204" pitchFamily="18" charset="0"/>
                                </a:rPr>
                              </m:ctrlPr>
                            </m:sSubPr>
                            <m:e>
                              <m:r>
                                <a:rPr lang="en-US" sz="2400" b="0" i="1" dirty="0" smtClean="0">
                                  <a:latin typeface="Cambria Math" panose="02040503050406030204" pitchFamily="18" charset="0"/>
                                </a:rPr>
                                <m:t>𝑁</m:t>
                              </m:r>
                            </m:e>
                            <m:sub>
                              <m:r>
                                <a:rPr lang="en-US" sz="2400" b="0" i="1" dirty="0" smtClean="0">
                                  <a:latin typeface="Cambria Math" panose="02040503050406030204" pitchFamily="18" charset="0"/>
                                </a:rPr>
                                <m:t>1</m:t>
                              </m:r>
                            </m:sub>
                          </m:sSub>
                        </m:den>
                      </m:f>
                      <m:nary>
                        <m:naryPr>
                          <m:chr m:val="∑"/>
                          <m:supHide m:val="on"/>
                          <m:ctrlPr>
                            <a:rPr lang="en-US" sz="2400" b="0" i="1" dirty="0" smtClean="0">
                              <a:latin typeface="Cambria Math" panose="02040503050406030204" pitchFamily="18" charset="0"/>
                            </a:rPr>
                          </m:ctrlPr>
                        </m:naryPr>
                        <m:sub>
                          <m:r>
                            <m:rPr>
                              <m:brk m:alnAt="7"/>
                            </m:rPr>
                            <a:rPr lang="en-US" sz="2400" b="0" i="1" dirty="0" smtClean="0">
                              <a:latin typeface="Cambria Math" panose="02040503050406030204" pitchFamily="18" charset="0"/>
                            </a:rPr>
                            <m:t>𝑖</m:t>
                          </m:r>
                          <m:r>
                            <a:rPr lang="en-US" sz="2400" b="0" i="1" dirty="0" smtClean="0">
                              <a:latin typeface="Cambria Math" panose="02040503050406030204" pitchFamily="18" charset="0"/>
                            </a:rPr>
                            <m:t>:</m:t>
                          </m:r>
                          <m:sSub>
                            <m:sSubPr>
                              <m:ctrlPr>
                                <a:rPr lang="en-US" sz="2400" b="0" i="1" dirty="0" smtClean="0">
                                  <a:latin typeface="Cambria Math" panose="02040503050406030204" pitchFamily="18" charset="0"/>
                                </a:rPr>
                              </m:ctrlPr>
                            </m:sSubPr>
                            <m:e>
                              <m:r>
                                <m:rPr>
                                  <m:brk m:alnAt="7"/>
                                </m:rPr>
                                <a:rPr lang="en-US" sz="2400" b="0" i="1" dirty="0" smtClean="0">
                                  <a:latin typeface="Cambria Math" panose="02040503050406030204" pitchFamily="18" charset="0"/>
                                </a:rPr>
                                <m:t>𝑊</m:t>
                              </m:r>
                            </m:e>
                            <m:sub>
                              <m:r>
                                <m:rPr>
                                  <m:brk m:alnAt="7"/>
                                </m:rPr>
                                <a:rPr lang="en-US" sz="2400" b="0" i="1" dirty="0" smtClean="0">
                                  <a:latin typeface="Cambria Math" panose="02040503050406030204" pitchFamily="18" charset="0"/>
                                </a:rPr>
                                <m:t>𝑖</m:t>
                              </m:r>
                            </m:sub>
                          </m:sSub>
                          <m:r>
                            <m:rPr>
                              <m:brk m:alnAt="7"/>
                            </m:rPr>
                            <a:rPr lang="en-US" sz="2400" b="0" i="1" dirty="0" smtClean="0">
                              <a:latin typeface="Cambria Math" panose="02040503050406030204" pitchFamily="18" charset="0"/>
                            </a:rPr>
                            <m:t>=</m:t>
                          </m:r>
                          <m:r>
                            <a:rPr lang="en-US" sz="2400" b="0" i="1" dirty="0" smtClean="0">
                              <a:latin typeface="Cambria Math" panose="02040503050406030204" pitchFamily="18" charset="0"/>
                            </a:rPr>
                            <m:t>1</m:t>
                          </m:r>
                        </m:sub>
                        <m:sup/>
                        <m:e>
                          <m:sSub>
                            <m:sSubPr>
                              <m:ctrlPr>
                                <a:rPr lang="en-US" sz="2400" b="0" i="1" dirty="0" smtClean="0">
                                  <a:latin typeface="Cambria Math" panose="02040503050406030204" pitchFamily="18" charset="0"/>
                                </a:rPr>
                              </m:ctrlPr>
                            </m:sSubPr>
                            <m:e>
                              <m:r>
                                <a:rPr lang="en-US" sz="2400" b="0" i="1" dirty="0" smtClean="0">
                                  <a:latin typeface="Cambria Math" panose="02040503050406030204" pitchFamily="18" charset="0"/>
                                </a:rPr>
                                <m:t>𝑌</m:t>
                              </m:r>
                            </m:e>
                            <m:sub>
                              <m:r>
                                <a:rPr lang="en-US" sz="2400" b="0" i="1" dirty="0" smtClean="0">
                                  <a:latin typeface="Cambria Math" panose="02040503050406030204" pitchFamily="18" charset="0"/>
                                </a:rPr>
                                <m:t>𝑖</m:t>
                              </m:r>
                            </m:sub>
                          </m:sSub>
                        </m:e>
                      </m:nary>
                      <m:r>
                        <a:rPr lang="en-US" sz="2400" b="0" i="1" dirty="0" smtClean="0">
                          <a:latin typeface="Cambria Math" panose="02040503050406030204" pitchFamily="18" charset="0"/>
                        </a:rPr>
                        <m:t>−</m:t>
                      </m:r>
                      <m:f>
                        <m:fPr>
                          <m:ctrlPr>
                            <a:rPr lang="en-US" sz="2400" b="0" i="1" dirty="0" smtClean="0">
                              <a:latin typeface="Cambria Math" panose="02040503050406030204" pitchFamily="18" charset="0"/>
                            </a:rPr>
                          </m:ctrlPr>
                        </m:fPr>
                        <m:num>
                          <m:r>
                            <a:rPr lang="en-US" sz="2400" b="0" i="1" dirty="0" smtClean="0">
                              <a:latin typeface="Cambria Math" panose="02040503050406030204" pitchFamily="18" charset="0"/>
                            </a:rPr>
                            <m:t>1</m:t>
                          </m:r>
                        </m:num>
                        <m:den>
                          <m:sSub>
                            <m:sSubPr>
                              <m:ctrlPr>
                                <a:rPr lang="en-US" sz="2400" b="0" i="1" dirty="0" smtClean="0">
                                  <a:latin typeface="Cambria Math" panose="02040503050406030204" pitchFamily="18" charset="0"/>
                                </a:rPr>
                              </m:ctrlPr>
                            </m:sSubPr>
                            <m:e>
                              <m:r>
                                <a:rPr lang="en-US" sz="2400" b="0" i="1" dirty="0" smtClean="0">
                                  <a:latin typeface="Cambria Math" panose="02040503050406030204" pitchFamily="18" charset="0"/>
                                </a:rPr>
                                <m:t>𝑁</m:t>
                              </m:r>
                            </m:e>
                            <m:sub>
                              <m:r>
                                <a:rPr lang="en-US" sz="2400" b="0" i="1" dirty="0" smtClean="0">
                                  <a:latin typeface="Cambria Math" panose="02040503050406030204" pitchFamily="18" charset="0"/>
                                </a:rPr>
                                <m:t>0</m:t>
                              </m:r>
                            </m:sub>
                          </m:sSub>
                        </m:den>
                      </m:f>
                      <m:nary>
                        <m:naryPr>
                          <m:chr m:val="∑"/>
                          <m:supHide m:val="on"/>
                          <m:ctrlPr>
                            <a:rPr lang="en-US" sz="2400" b="0" i="1" dirty="0" smtClean="0">
                              <a:latin typeface="Cambria Math" panose="02040503050406030204" pitchFamily="18" charset="0"/>
                            </a:rPr>
                          </m:ctrlPr>
                        </m:naryPr>
                        <m:sub>
                          <m:r>
                            <m:rPr>
                              <m:brk m:alnAt="7"/>
                            </m:rPr>
                            <a:rPr lang="en-US" sz="2400" b="0" i="1" dirty="0" smtClean="0">
                              <a:latin typeface="Cambria Math" panose="02040503050406030204" pitchFamily="18" charset="0"/>
                            </a:rPr>
                            <m:t>𝑖</m:t>
                          </m:r>
                          <m:r>
                            <a:rPr lang="en-US" sz="2400" b="0" i="1" dirty="0" smtClean="0">
                              <a:latin typeface="Cambria Math" panose="02040503050406030204" pitchFamily="18" charset="0"/>
                            </a:rPr>
                            <m:t>:</m:t>
                          </m:r>
                          <m:sSub>
                            <m:sSubPr>
                              <m:ctrlPr>
                                <a:rPr lang="en-US" sz="2400" b="0" i="1" dirty="0" smtClean="0">
                                  <a:latin typeface="Cambria Math" panose="02040503050406030204" pitchFamily="18" charset="0"/>
                                </a:rPr>
                              </m:ctrlPr>
                            </m:sSubPr>
                            <m:e>
                              <m:r>
                                <m:rPr>
                                  <m:brk m:alnAt="7"/>
                                </m:rPr>
                                <a:rPr lang="en-US" sz="2400" b="0" i="1" dirty="0" smtClean="0">
                                  <a:latin typeface="Cambria Math" panose="02040503050406030204" pitchFamily="18" charset="0"/>
                                </a:rPr>
                                <m:t>𝑊</m:t>
                              </m:r>
                            </m:e>
                            <m:sub>
                              <m:r>
                                <m:rPr>
                                  <m:brk m:alnAt="7"/>
                                </m:rPr>
                                <a:rPr lang="en-US" sz="2400" b="0" i="1" dirty="0" smtClean="0">
                                  <a:latin typeface="Cambria Math" panose="02040503050406030204" pitchFamily="18" charset="0"/>
                                </a:rPr>
                                <m:t>𝑖</m:t>
                              </m:r>
                            </m:sub>
                          </m:sSub>
                          <m:r>
                            <m:rPr>
                              <m:brk m:alnAt="7"/>
                            </m:rPr>
                            <a:rPr lang="en-US" sz="2400" b="0" i="1" dirty="0" smtClean="0">
                              <a:latin typeface="Cambria Math" panose="02040503050406030204" pitchFamily="18" charset="0"/>
                            </a:rPr>
                            <m:t>=</m:t>
                          </m:r>
                          <m:r>
                            <a:rPr lang="en-US" sz="2400" b="0" i="1" dirty="0" smtClean="0">
                              <a:latin typeface="Cambria Math" panose="02040503050406030204" pitchFamily="18" charset="0"/>
                            </a:rPr>
                            <m:t>0</m:t>
                          </m:r>
                        </m:sub>
                        <m:sup/>
                        <m:e>
                          <m:sSub>
                            <m:sSubPr>
                              <m:ctrlPr>
                                <a:rPr lang="en-US" sz="2400" b="0" i="1" dirty="0" smtClean="0">
                                  <a:latin typeface="Cambria Math" panose="02040503050406030204" pitchFamily="18" charset="0"/>
                                </a:rPr>
                              </m:ctrlPr>
                            </m:sSubPr>
                            <m:e>
                              <m:r>
                                <a:rPr lang="en-US" sz="2400" b="0" i="1" dirty="0" smtClean="0">
                                  <a:latin typeface="Cambria Math" panose="02040503050406030204" pitchFamily="18" charset="0"/>
                                </a:rPr>
                                <m:t>𝑌</m:t>
                              </m:r>
                            </m:e>
                            <m:sub>
                              <m:r>
                                <a:rPr lang="en-US" sz="2400" b="0" i="1" dirty="0" smtClean="0">
                                  <a:latin typeface="Cambria Math" panose="02040503050406030204" pitchFamily="18" charset="0"/>
                                </a:rPr>
                                <m:t>𝑖</m:t>
                              </m:r>
                            </m:sub>
                          </m:sSub>
                        </m:e>
                      </m:nary>
                    </m:oMath>
                  </m:oMathPara>
                </a14:m>
                <a:endParaRPr lang="en-US" sz="2400" dirty="0"/>
              </a:p>
            </p:txBody>
          </p:sp>
        </mc:Choice>
        <mc:Fallback xmlns="">
          <p:sp>
            <p:nvSpPr>
              <p:cNvPr id="6" name="TextBox 5">
                <a:extLst>
                  <a:ext uri="{FF2B5EF4-FFF2-40B4-BE49-F238E27FC236}">
                    <a16:creationId xmlns:a16="http://schemas.microsoft.com/office/drawing/2014/main" id="{85BCF22E-4076-2A34-819D-2FBAC5BB70B6}"/>
                  </a:ext>
                </a:extLst>
              </p:cNvPr>
              <p:cNvSpPr txBox="1">
                <a:spLocks noRot="1" noChangeAspect="1" noMove="1" noResize="1" noEditPoints="1" noAdjustHandles="1" noChangeArrowheads="1" noChangeShapeType="1" noTextEdit="1"/>
              </p:cNvSpPr>
              <p:nvPr/>
            </p:nvSpPr>
            <p:spPr>
              <a:xfrm>
                <a:off x="1509091" y="1663662"/>
                <a:ext cx="6097656" cy="1036630"/>
              </a:xfrm>
              <a:prstGeom prst="rect">
                <a:avLst/>
              </a:prstGeom>
              <a:blipFill>
                <a:blip r:embed="rId4"/>
                <a:stretch>
                  <a:fillRect t="-125610" b="-16829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0CD1686E-3EDC-5EBE-A5A2-56EC23CA6EE2}"/>
                  </a:ext>
                </a:extLst>
              </p:cNvPr>
              <p:cNvSpPr txBox="1"/>
              <p:nvPr/>
            </p:nvSpPr>
            <p:spPr>
              <a:xfrm>
                <a:off x="1707874" y="1779299"/>
                <a:ext cx="1033670" cy="64633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3600" i="1" smtClean="0">
                          <a:solidFill>
                            <a:schemeClr val="tx1"/>
                          </a:solidFill>
                          <a:latin typeface="Cambria Math" panose="02040503050406030204" pitchFamily="18" charset="0"/>
                          <a:ea typeface="Cambria Math" panose="02040503050406030204" pitchFamily="18" charset="0"/>
                        </a:rPr>
                        <m:t>𝔼</m:t>
                      </m:r>
                      <m:r>
                        <a:rPr lang="en-US" sz="3600" b="0" i="1" smtClean="0">
                          <a:solidFill>
                            <a:schemeClr val="tx1"/>
                          </a:solidFill>
                          <a:latin typeface="Cambria Math" panose="02040503050406030204" pitchFamily="18" charset="0"/>
                          <a:ea typeface="Cambria Math" panose="02040503050406030204" pitchFamily="18" charset="0"/>
                        </a:rPr>
                        <m:t>[  ]</m:t>
                      </m:r>
                    </m:oMath>
                  </m:oMathPara>
                </a14:m>
                <a:endParaRPr lang="en-US" dirty="0">
                  <a:solidFill>
                    <a:schemeClr val="tx1"/>
                  </a:solidFill>
                </a:endParaRPr>
              </a:p>
            </p:txBody>
          </p:sp>
        </mc:Choice>
        <mc:Fallback xmlns="">
          <p:sp>
            <p:nvSpPr>
              <p:cNvPr id="8" name="TextBox 7">
                <a:extLst>
                  <a:ext uri="{FF2B5EF4-FFF2-40B4-BE49-F238E27FC236}">
                    <a16:creationId xmlns:a16="http://schemas.microsoft.com/office/drawing/2014/main" id="{0CD1686E-3EDC-5EBE-A5A2-56EC23CA6EE2}"/>
                  </a:ext>
                </a:extLst>
              </p:cNvPr>
              <p:cNvSpPr txBox="1">
                <a:spLocks noRot="1" noChangeAspect="1" noMove="1" noResize="1" noEditPoints="1" noAdjustHandles="1" noChangeArrowheads="1" noChangeShapeType="1" noTextEdit="1"/>
              </p:cNvSpPr>
              <p:nvPr/>
            </p:nvSpPr>
            <p:spPr>
              <a:xfrm>
                <a:off x="1707874" y="1779299"/>
                <a:ext cx="1033670" cy="646331"/>
              </a:xfrm>
              <a:prstGeom prst="rect">
                <a:avLst/>
              </a:prstGeom>
              <a:blipFill>
                <a:blip r:embed="rId5"/>
                <a:stretch>
                  <a:fillRect l="-3614" t="-1923" r="-8434" b="-2307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091A1BB7-10D1-70B1-AFFA-B15AD81052DD}"/>
                  </a:ext>
                </a:extLst>
              </p:cNvPr>
              <p:cNvSpPr txBox="1"/>
              <p:nvPr/>
            </p:nvSpPr>
            <p:spPr>
              <a:xfrm>
                <a:off x="2940327" y="1779254"/>
                <a:ext cx="1033670" cy="64633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3600" i="1" smtClean="0">
                          <a:solidFill>
                            <a:schemeClr val="tx1"/>
                          </a:solidFill>
                          <a:latin typeface="Cambria Math" panose="02040503050406030204" pitchFamily="18" charset="0"/>
                          <a:ea typeface="Cambria Math" panose="02040503050406030204" pitchFamily="18" charset="0"/>
                        </a:rPr>
                        <m:t>𝔼</m:t>
                      </m:r>
                      <m:r>
                        <a:rPr lang="en-US" sz="3600" b="0" i="1" smtClean="0">
                          <a:solidFill>
                            <a:schemeClr val="tx1"/>
                          </a:solidFill>
                          <a:latin typeface="Cambria Math" panose="02040503050406030204" pitchFamily="18" charset="0"/>
                          <a:ea typeface="Cambria Math" panose="02040503050406030204" pitchFamily="18" charset="0"/>
                        </a:rPr>
                        <m:t>[                                  ]</m:t>
                      </m:r>
                    </m:oMath>
                  </m:oMathPara>
                </a14:m>
                <a:endParaRPr lang="en-US" dirty="0">
                  <a:solidFill>
                    <a:schemeClr val="tx1"/>
                  </a:solidFill>
                </a:endParaRPr>
              </a:p>
            </p:txBody>
          </p:sp>
        </mc:Choice>
        <mc:Fallback xmlns="">
          <p:sp>
            <p:nvSpPr>
              <p:cNvPr id="9" name="TextBox 8">
                <a:extLst>
                  <a:ext uri="{FF2B5EF4-FFF2-40B4-BE49-F238E27FC236}">
                    <a16:creationId xmlns:a16="http://schemas.microsoft.com/office/drawing/2014/main" id="{091A1BB7-10D1-70B1-AFFA-B15AD81052DD}"/>
                  </a:ext>
                </a:extLst>
              </p:cNvPr>
              <p:cNvSpPr txBox="1">
                <a:spLocks noRot="1" noChangeAspect="1" noMove="1" noResize="1" noEditPoints="1" noAdjustHandles="1" noChangeArrowheads="1" noChangeShapeType="1" noTextEdit="1"/>
              </p:cNvSpPr>
              <p:nvPr/>
            </p:nvSpPr>
            <p:spPr>
              <a:xfrm>
                <a:off x="2940327" y="1779254"/>
                <a:ext cx="1033670" cy="646331"/>
              </a:xfrm>
              <a:prstGeom prst="rect">
                <a:avLst/>
              </a:prstGeom>
              <a:blipFill>
                <a:blip r:embed="rId6"/>
                <a:stretch>
                  <a:fillRect l="-6098" t="-1923" r="-315854" b="-2307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5C58F4CF-CB8E-13D0-7127-37111CF73504}"/>
                  </a:ext>
                </a:extLst>
              </p:cNvPr>
              <p:cNvSpPr txBox="1"/>
              <p:nvPr/>
            </p:nvSpPr>
            <p:spPr>
              <a:xfrm>
                <a:off x="1707874" y="2802447"/>
                <a:ext cx="9079396" cy="130388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ea typeface="Cambria Math" panose="02040503050406030204" pitchFamily="18" charset="0"/>
                        </a:rPr>
                        <m:t>=</m:t>
                      </m:r>
                      <m:r>
                        <a:rPr lang="en-US" sz="2800" b="0" i="1" smtClean="0">
                          <a:solidFill>
                            <a:schemeClr val="tx1"/>
                          </a:solidFill>
                          <a:latin typeface="Cambria Math" panose="02040503050406030204" pitchFamily="18" charset="0"/>
                          <a:ea typeface="Cambria Math" panose="02040503050406030204" pitchFamily="18" charset="0"/>
                        </a:rPr>
                        <m:t>𝔼</m:t>
                      </m:r>
                      <m:d>
                        <m:dPr>
                          <m:begChr m:val="["/>
                          <m:endChr m:val="]"/>
                          <m:ctrlPr>
                            <a:rPr lang="en-US" sz="2800" b="0" i="1" smtClean="0">
                              <a:solidFill>
                                <a:schemeClr val="tx1"/>
                              </a:solidFill>
                              <a:latin typeface="Cambria Math" panose="02040503050406030204" pitchFamily="18" charset="0"/>
                              <a:ea typeface="Cambria Math" panose="02040503050406030204" pitchFamily="18" charset="0"/>
                            </a:rPr>
                          </m:ctrlPr>
                        </m:dPr>
                        <m:e>
                          <m:f>
                            <m:fPr>
                              <m:ctrlPr>
                                <a:rPr lang="en-US" sz="2800" b="0" i="1" smtClean="0">
                                  <a:solidFill>
                                    <a:schemeClr val="tx1"/>
                                  </a:solidFill>
                                  <a:latin typeface="Cambria Math" panose="02040503050406030204" pitchFamily="18" charset="0"/>
                                  <a:ea typeface="Cambria Math" panose="02040503050406030204" pitchFamily="18" charset="0"/>
                                </a:rPr>
                              </m:ctrlPr>
                            </m:fPr>
                            <m:num>
                              <m:r>
                                <a:rPr lang="en-US" sz="2800" b="0" i="1" smtClean="0">
                                  <a:solidFill>
                                    <a:schemeClr val="tx1"/>
                                  </a:solidFill>
                                  <a:latin typeface="Cambria Math" panose="02040503050406030204" pitchFamily="18" charset="0"/>
                                  <a:ea typeface="Cambria Math" panose="02040503050406030204" pitchFamily="18" charset="0"/>
                                </a:rPr>
                                <m:t>1</m:t>
                              </m:r>
                            </m:num>
                            <m:den>
                              <m:sSub>
                                <m:sSubPr>
                                  <m:ctrlPr>
                                    <a:rPr lang="en-US" sz="2800" b="0" i="1" smtClean="0">
                                      <a:solidFill>
                                        <a:schemeClr val="tx1"/>
                                      </a:solidFill>
                                      <a:latin typeface="Cambria Math" panose="02040503050406030204" pitchFamily="18" charset="0"/>
                                      <a:ea typeface="Cambria Math" panose="02040503050406030204" pitchFamily="18" charset="0"/>
                                    </a:rPr>
                                  </m:ctrlPr>
                                </m:sSubPr>
                                <m:e>
                                  <m:r>
                                    <a:rPr lang="en-US" sz="2800" b="0" i="1" smtClean="0">
                                      <a:solidFill>
                                        <a:schemeClr val="tx1"/>
                                      </a:solidFill>
                                      <a:latin typeface="Cambria Math" panose="02040503050406030204" pitchFamily="18" charset="0"/>
                                      <a:ea typeface="Cambria Math" panose="02040503050406030204" pitchFamily="18" charset="0"/>
                                    </a:rPr>
                                    <m:t>𝑁</m:t>
                                  </m:r>
                                </m:e>
                                <m:sub>
                                  <m:r>
                                    <a:rPr lang="en-US" sz="2800" b="0" i="1" smtClean="0">
                                      <a:solidFill>
                                        <a:schemeClr val="tx1"/>
                                      </a:solidFill>
                                      <a:latin typeface="Cambria Math" panose="02040503050406030204" pitchFamily="18" charset="0"/>
                                      <a:ea typeface="Cambria Math" panose="02040503050406030204" pitchFamily="18" charset="0"/>
                                    </a:rPr>
                                    <m:t>1</m:t>
                                  </m:r>
                                </m:sub>
                              </m:sSub>
                            </m:den>
                          </m:f>
                          <m:nary>
                            <m:naryPr>
                              <m:chr m:val="∑"/>
                              <m:ctrlPr>
                                <a:rPr lang="en-US" sz="2800" b="0" i="1" smtClean="0">
                                  <a:solidFill>
                                    <a:schemeClr val="tx1"/>
                                  </a:solidFill>
                                  <a:latin typeface="Cambria Math" panose="02040503050406030204" pitchFamily="18" charset="0"/>
                                  <a:ea typeface="Cambria Math" panose="02040503050406030204" pitchFamily="18" charset="0"/>
                                </a:rPr>
                              </m:ctrlPr>
                            </m:naryPr>
                            <m:sub>
                              <m:r>
                                <m:rPr>
                                  <m:brk m:alnAt="23"/>
                                </m:rPr>
                                <a:rPr lang="en-US" sz="2800" b="0" i="1" smtClean="0">
                                  <a:solidFill>
                                    <a:schemeClr val="tx1"/>
                                  </a:solidFill>
                                  <a:latin typeface="Cambria Math" panose="02040503050406030204" pitchFamily="18" charset="0"/>
                                  <a:ea typeface="Cambria Math" panose="02040503050406030204" pitchFamily="18" charset="0"/>
                                </a:rPr>
                                <m:t>𝑖</m:t>
                              </m:r>
                              <m:r>
                                <a:rPr lang="en-US" sz="2800" b="0" i="1" smtClean="0">
                                  <a:solidFill>
                                    <a:schemeClr val="tx1"/>
                                  </a:solidFill>
                                  <a:latin typeface="Cambria Math" panose="02040503050406030204" pitchFamily="18" charset="0"/>
                                  <a:ea typeface="Cambria Math" panose="02040503050406030204" pitchFamily="18" charset="0"/>
                                </a:rPr>
                                <m:t>=1</m:t>
                              </m:r>
                            </m:sub>
                            <m:sup>
                              <m:r>
                                <a:rPr lang="en-US" sz="2800" b="0" i="1" smtClean="0">
                                  <a:solidFill>
                                    <a:schemeClr val="tx1"/>
                                  </a:solidFill>
                                  <a:latin typeface="Cambria Math" panose="02040503050406030204" pitchFamily="18" charset="0"/>
                                  <a:ea typeface="Cambria Math" panose="02040503050406030204" pitchFamily="18" charset="0"/>
                                </a:rPr>
                                <m:t>𝑁</m:t>
                              </m:r>
                            </m:sup>
                            <m:e>
                              <m:r>
                                <a:rPr lang="en-US" sz="2800" b="1" i="1" smtClean="0">
                                  <a:solidFill>
                                    <a:schemeClr val="accent5"/>
                                  </a:solidFill>
                                  <a:latin typeface="Cambria Math" panose="02040503050406030204" pitchFamily="18" charset="0"/>
                                  <a:ea typeface="Cambria Math" panose="02040503050406030204" pitchFamily="18" charset="0"/>
                                </a:rPr>
                                <m:t>𝟏</m:t>
                              </m:r>
                              <m:d>
                                <m:dPr>
                                  <m:begChr m:val="["/>
                                  <m:endChr m:val="]"/>
                                  <m:ctrlPr>
                                    <a:rPr lang="en-US" sz="2800" b="0" i="1" smtClean="0">
                                      <a:solidFill>
                                        <a:schemeClr val="accent5"/>
                                      </a:solidFill>
                                      <a:latin typeface="Cambria Math" panose="02040503050406030204" pitchFamily="18" charset="0"/>
                                      <a:ea typeface="Cambria Math" panose="02040503050406030204" pitchFamily="18" charset="0"/>
                                    </a:rPr>
                                  </m:ctrlPr>
                                </m:dPr>
                                <m:e>
                                  <m:sSub>
                                    <m:sSubPr>
                                      <m:ctrlPr>
                                        <a:rPr lang="en-US" sz="2800" b="0" i="1" smtClean="0">
                                          <a:solidFill>
                                            <a:schemeClr val="accent5"/>
                                          </a:solidFill>
                                          <a:latin typeface="Cambria Math" panose="02040503050406030204" pitchFamily="18" charset="0"/>
                                          <a:ea typeface="Cambria Math" panose="02040503050406030204" pitchFamily="18" charset="0"/>
                                        </a:rPr>
                                      </m:ctrlPr>
                                    </m:sSubPr>
                                    <m:e>
                                      <m:r>
                                        <a:rPr lang="en-US" sz="2800" b="0" i="1" smtClean="0">
                                          <a:solidFill>
                                            <a:schemeClr val="accent5"/>
                                          </a:solidFill>
                                          <a:latin typeface="Cambria Math" panose="02040503050406030204" pitchFamily="18" charset="0"/>
                                          <a:ea typeface="Cambria Math" panose="02040503050406030204" pitchFamily="18" charset="0"/>
                                        </a:rPr>
                                        <m:t>𝑊</m:t>
                                      </m:r>
                                    </m:e>
                                    <m:sub>
                                      <m:r>
                                        <a:rPr lang="en-US" sz="2800" b="0" i="1" smtClean="0">
                                          <a:solidFill>
                                            <a:schemeClr val="accent5"/>
                                          </a:solidFill>
                                          <a:latin typeface="Cambria Math" panose="02040503050406030204" pitchFamily="18" charset="0"/>
                                          <a:ea typeface="Cambria Math" panose="02040503050406030204" pitchFamily="18" charset="0"/>
                                        </a:rPr>
                                        <m:t>𝑖</m:t>
                                      </m:r>
                                    </m:sub>
                                  </m:sSub>
                                  <m:r>
                                    <a:rPr lang="en-US" sz="2800" b="0" i="1" smtClean="0">
                                      <a:solidFill>
                                        <a:schemeClr val="accent5"/>
                                      </a:solidFill>
                                      <a:latin typeface="Cambria Math" panose="02040503050406030204" pitchFamily="18" charset="0"/>
                                      <a:ea typeface="Cambria Math" panose="02040503050406030204" pitchFamily="18" charset="0"/>
                                    </a:rPr>
                                    <m:t>=1</m:t>
                                  </m:r>
                                </m:e>
                              </m:d>
                              <m:sSub>
                                <m:sSubPr>
                                  <m:ctrlPr>
                                    <a:rPr lang="en-US" sz="2800" b="0" i="1" smtClean="0">
                                      <a:solidFill>
                                        <a:schemeClr val="tx1"/>
                                      </a:solidFill>
                                      <a:latin typeface="Cambria Math" panose="02040503050406030204" pitchFamily="18" charset="0"/>
                                      <a:ea typeface="Cambria Math" panose="02040503050406030204" pitchFamily="18" charset="0"/>
                                    </a:rPr>
                                  </m:ctrlPr>
                                </m:sSubPr>
                                <m:e>
                                  <m:r>
                                    <a:rPr lang="en-US" sz="2800" b="0" i="1" smtClean="0">
                                      <a:solidFill>
                                        <a:schemeClr val="tx1"/>
                                      </a:solidFill>
                                      <a:latin typeface="Cambria Math" panose="02040503050406030204" pitchFamily="18" charset="0"/>
                                      <a:ea typeface="Cambria Math" panose="02040503050406030204" pitchFamily="18" charset="0"/>
                                    </a:rPr>
                                    <m:t>𝑌</m:t>
                                  </m:r>
                                </m:e>
                                <m:sub>
                                  <m:r>
                                    <a:rPr lang="en-US" sz="2800" b="0" i="1" smtClean="0">
                                      <a:solidFill>
                                        <a:schemeClr val="tx1"/>
                                      </a:solidFill>
                                      <a:latin typeface="Cambria Math" panose="02040503050406030204" pitchFamily="18" charset="0"/>
                                      <a:ea typeface="Cambria Math" panose="02040503050406030204" pitchFamily="18" charset="0"/>
                                    </a:rPr>
                                    <m:t>𝑖</m:t>
                                  </m:r>
                                </m:sub>
                              </m:sSub>
                              <m:r>
                                <a:rPr lang="en-US" sz="2800" b="0" i="1" smtClean="0">
                                  <a:solidFill>
                                    <a:schemeClr val="tx1"/>
                                  </a:solidFill>
                                  <a:latin typeface="Cambria Math" panose="02040503050406030204" pitchFamily="18" charset="0"/>
                                  <a:ea typeface="Cambria Math" panose="02040503050406030204" pitchFamily="18" charset="0"/>
                                </a:rPr>
                                <m:t>(1) −</m:t>
                              </m:r>
                              <m:f>
                                <m:fPr>
                                  <m:ctrlPr>
                                    <a:rPr lang="en-US" sz="2800" b="0" i="1" smtClean="0">
                                      <a:solidFill>
                                        <a:schemeClr val="tx1"/>
                                      </a:solidFill>
                                      <a:latin typeface="Cambria Math" panose="02040503050406030204" pitchFamily="18" charset="0"/>
                                      <a:ea typeface="Cambria Math" panose="02040503050406030204" pitchFamily="18" charset="0"/>
                                    </a:rPr>
                                  </m:ctrlPr>
                                </m:fPr>
                                <m:num>
                                  <m:r>
                                    <a:rPr lang="en-US" sz="2800" b="0" i="1" smtClean="0">
                                      <a:solidFill>
                                        <a:schemeClr val="tx1"/>
                                      </a:solidFill>
                                      <a:latin typeface="Cambria Math" panose="02040503050406030204" pitchFamily="18" charset="0"/>
                                      <a:ea typeface="Cambria Math" panose="02040503050406030204" pitchFamily="18" charset="0"/>
                                    </a:rPr>
                                    <m:t>1</m:t>
                                  </m:r>
                                </m:num>
                                <m:den>
                                  <m:sSub>
                                    <m:sSubPr>
                                      <m:ctrlPr>
                                        <a:rPr lang="en-US" sz="2800" b="0" i="1" smtClean="0">
                                          <a:solidFill>
                                            <a:schemeClr val="tx1"/>
                                          </a:solidFill>
                                          <a:latin typeface="Cambria Math" panose="02040503050406030204" pitchFamily="18" charset="0"/>
                                          <a:ea typeface="Cambria Math" panose="02040503050406030204" pitchFamily="18" charset="0"/>
                                        </a:rPr>
                                      </m:ctrlPr>
                                    </m:sSubPr>
                                    <m:e>
                                      <m:r>
                                        <a:rPr lang="en-US" sz="2800" b="0" i="1" smtClean="0">
                                          <a:solidFill>
                                            <a:schemeClr val="tx1"/>
                                          </a:solidFill>
                                          <a:latin typeface="Cambria Math" panose="02040503050406030204" pitchFamily="18" charset="0"/>
                                          <a:ea typeface="Cambria Math" panose="02040503050406030204" pitchFamily="18" charset="0"/>
                                        </a:rPr>
                                        <m:t>𝑁</m:t>
                                      </m:r>
                                    </m:e>
                                    <m:sub>
                                      <m:r>
                                        <a:rPr lang="en-US" sz="2800" b="0" i="1" smtClean="0">
                                          <a:solidFill>
                                            <a:schemeClr val="tx1"/>
                                          </a:solidFill>
                                          <a:latin typeface="Cambria Math" panose="02040503050406030204" pitchFamily="18" charset="0"/>
                                          <a:ea typeface="Cambria Math" panose="02040503050406030204" pitchFamily="18" charset="0"/>
                                        </a:rPr>
                                        <m:t>0</m:t>
                                      </m:r>
                                    </m:sub>
                                  </m:sSub>
                                </m:den>
                              </m:f>
                            </m:e>
                          </m:nary>
                          <m:nary>
                            <m:naryPr>
                              <m:chr m:val="∑"/>
                              <m:ctrlPr>
                                <a:rPr lang="en-US" sz="2800" i="1">
                                  <a:latin typeface="Cambria Math" panose="02040503050406030204" pitchFamily="18" charset="0"/>
                                  <a:ea typeface="Cambria Math" panose="02040503050406030204" pitchFamily="18" charset="0"/>
                                </a:rPr>
                              </m:ctrlPr>
                            </m:naryPr>
                            <m:sub>
                              <m:r>
                                <m:rPr>
                                  <m:brk m:alnAt="23"/>
                                </m:rPr>
                                <a:rPr lang="en-US" sz="2800" i="1">
                                  <a:latin typeface="Cambria Math" panose="02040503050406030204" pitchFamily="18" charset="0"/>
                                  <a:ea typeface="Cambria Math" panose="02040503050406030204" pitchFamily="18" charset="0"/>
                                </a:rPr>
                                <m:t>𝑖</m:t>
                              </m:r>
                              <m:r>
                                <a:rPr lang="en-US" sz="2800" i="1">
                                  <a:latin typeface="Cambria Math" panose="02040503050406030204" pitchFamily="18" charset="0"/>
                                  <a:ea typeface="Cambria Math" panose="02040503050406030204" pitchFamily="18" charset="0"/>
                                </a:rPr>
                                <m:t>=1</m:t>
                              </m:r>
                            </m:sub>
                            <m:sup>
                              <m:r>
                                <a:rPr lang="en-US" sz="2800" i="1">
                                  <a:latin typeface="Cambria Math" panose="02040503050406030204" pitchFamily="18" charset="0"/>
                                  <a:ea typeface="Cambria Math" panose="02040503050406030204" pitchFamily="18" charset="0"/>
                                </a:rPr>
                                <m:t>𝑁</m:t>
                              </m:r>
                            </m:sup>
                            <m:e>
                              <m:r>
                                <a:rPr lang="en-US" sz="2800" b="1" i="1" smtClean="0">
                                  <a:solidFill>
                                    <a:schemeClr val="accent5"/>
                                  </a:solidFill>
                                  <a:latin typeface="Cambria Math" panose="02040503050406030204" pitchFamily="18" charset="0"/>
                                  <a:ea typeface="Cambria Math" panose="02040503050406030204" pitchFamily="18" charset="0"/>
                                </a:rPr>
                                <m:t>𝟏</m:t>
                              </m:r>
                              <m:d>
                                <m:dPr>
                                  <m:begChr m:val="["/>
                                  <m:endChr m:val="]"/>
                                  <m:ctrlPr>
                                    <a:rPr lang="en-US" sz="2800" i="1">
                                      <a:solidFill>
                                        <a:schemeClr val="accent5"/>
                                      </a:solidFill>
                                      <a:latin typeface="Cambria Math" panose="02040503050406030204" pitchFamily="18" charset="0"/>
                                      <a:ea typeface="Cambria Math" panose="02040503050406030204" pitchFamily="18" charset="0"/>
                                    </a:rPr>
                                  </m:ctrlPr>
                                </m:dPr>
                                <m:e>
                                  <m:sSub>
                                    <m:sSubPr>
                                      <m:ctrlPr>
                                        <a:rPr lang="en-US" sz="2800" i="1">
                                          <a:solidFill>
                                            <a:schemeClr val="accent5"/>
                                          </a:solidFill>
                                          <a:latin typeface="Cambria Math" panose="02040503050406030204" pitchFamily="18" charset="0"/>
                                          <a:ea typeface="Cambria Math" panose="02040503050406030204" pitchFamily="18" charset="0"/>
                                        </a:rPr>
                                      </m:ctrlPr>
                                    </m:sSubPr>
                                    <m:e>
                                      <m:r>
                                        <a:rPr lang="en-US" sz="2800" i="1">
                                          <a:solidFill>
                                            <a:schemeClr val="accent5"/>
                                          </a:solidFill>
                                          <a:latin typeface="Cambria Math" panose="02040503050406030204" pitchFamily="18" charset="0"/>
                                          <a:ea typeface="Cambria Math" panose="02040503050406030204" pitchFamily="18" charset="0"/>
                                        </a:rPr>
                                        <m:t>𝑊</m:t>
                                      </m:r>
                                    </m:e>
                                    <m:sub>
                                      <m:r>
                                        <a:rPr lang="en-US" sz="2800" i="1">
                                          <a:solidFill>
                                            <a:schemeClr val="accent5"/>
                                          </a:solidFill>
                                          <a:latin typeface="Cambria Math" panose="02040503050406030204" pitchFamily="18" charset="0"/>
                                          <a:ea typeface="Cambria Math" panose="02040503050406030204" pitchFamily="18" charset="0"/>
                                        </a:rPr>
                                        <m:t>𝑖</m:t>
                                      </m:r>
                                    </m:sub>
                                  </m:sSub>
                                  <m:r>
                                    <a:rPr lang="en-US" sz="2800" i="1">
                                      <a:solidFill>
                                        <a:schemeClr val="accent5"/>
                                      </a:solidFill>
                                      <a:latin typeface="Cambria Math" panose="02040503050406030204" pitchFamily="18" charset="0"/>
                                      <a:ea typeface="Cambria Math" panose="02040503050406030204" pitchFamily="18" charset="0"/>
                                    </a:rPr>
                                    <m:t>=</m:t>
                                  </m:r>
                                  <m:r>
                                    <a:rPr lang="en-US" sz="2800" b="0" i="1" smtClean="0">
                                      <a:solidFill>
                                        <a:schemeClr val="accent5"/>
                                      </a:solidFill>
                                      <a:latin typeface="Cambria Math" panose="02040503050406030204" pitchFamily="18" charset="0"/>
                                      <a:ea typeface="Cambria Math" panose="02040503050406030204" pitchFamily="18" charset="0"/>
                                    </a:rPr>
                                    <m:t>0</m:t>
                                  </m:r>
                                </m:e>
                              </m:d>
                              <m:sSub>
                                <m:sSubPr>
                                  <m:ctrlPr>
                                    <a:rPr lang="en-US" sz="2800" i="1">
                                      <a:latin typeface="Cambria Math" panose="02040503050406030204" pitchFamily="18" charset="0"/>
                                      <a:ea typeface="Cambria Math" panose="02040503050406030204" pitchFamily="18" charset="0"/>
                                    </a:rPr>
                                  </m:ctrlPr>
                                </m:sSubPr>
                                <m:e>
                                  <m:r>
                                    <a:rPr lang="en-US" sz="2800" i="1">
                                      <a:latin typeface="Cambria Math" panose="02040503050406030204" pitchFamily="18" charset="0"/>
                                      <a:ea typeface="Cambria Math" panose="02040503050406030204" pitchFamily="18" charset="0"/>
                                    </a:rPr>
                                    <m:t>𝑌</m:t>
                                  </m:r>
                                </m:e>
                                <m:sub>
                                  <m:r>
                                    <a:rPr lang="en-US" sz="2800" i="1">
                                      <a:latin typeface="Cambria Math" panose="02040503050406030204" pitchFamily="18" charset="0"/>
                                      <a:ea typeface="Cambria Math" panose="02040503050406030204" pitchFamily="18" charset="0"/>
                                    </a:rPr>
                                    <m:t>𝑖</m:t>
                                  </m:r>
                                </m:sub>
                              </m:sSub>
                              <m:r>
                                <a:rPr lang="en-US" sz="2800" b="0" i="1" smtClean="0">
                                  <a:latin typeface="Cambria Math" panose="02040503050406030204" pitchFamily="18" charset="0"/>
                                  <a:ea typeface="Cambria Math" panose="02040503050406030204" pitchFamily="18" charset="0"/>
                                </a:rPr>
                                <m:t>(0)</m:t>
                              </m:r>
                              <m:r>
                                <a:rPr lang="en-US" sz="2800" i="1">
                                  <a:latin typeface="Cambria Math" panose="02040503050406030204" pitchFamily="18" charset="0"/>
                                  <a:ea typeface="Cambria Math" panose="02040503050406030204" pitchFamily="18" charset="0"/>
                                </a:rPr>
                                <m:t> </m:t>
                              </m:r>
                            </m:e>
                          </m:nary>
                        </m:e>
                      </m:d>
                    </m:oMath>
                  </m:oMathPara>
                </a14:m>
                <a:endParaRPr lang="en-US" sz="1400" dirty="0">
                  <a:solidFill>
                    <a:schemeClr val="tx1"/>
                  </a:solidFill>
                </a:endParaRPr>
              </a:p>
            </p:txBody>
          </p:sp>
        </mc:Choice>
        <mc:Fallback xmlns="">
          <p:sp>
            <p:nvSpPr>
              <p:cNvPr id="3" name="TextBox 2">
                <a:extLst>
                  <a:ext uri="{FF2B5EF4-FFF2-40B4-BE49-F238E27FC236}">
                    <a16:creationId xmlns:a16="http://schemas.microsoft.com/office/drawing/2014/main" id="{5C58F4CF-CB8E-13D0-7127-37111CF73504}"/>
                  </a:ext>
                </a:extLst>
              </p:cNvPr>
              <p:cNvSpPr txBox="1">
                <a:spLocks noRot="1" noChangeAspect="1" noMove="1" noResize="1" noEditPoints="1" noAdjustHandles="1" noChangeArrowheads="1" noChangeShapeType="1" noTextEdit="1"/>
              </p:cNvSpPr>
              <p:nvPr/>
            </p:nvSpPr>
            <p:spPr>
              <a:xfrm>
                <a:off x="1707874" y="2802447"/>
                <a:ext cx="9079396" cy="1303883"/>
              </a:xfrm>
              <a:prstGeom prst="rect">
                <a:avLst/>
              </a:prstGeom>
              <a:blipFill>
                <a:blip r:embed="rId7"/>
                <a:stretch>
                  <a:fillRect t="-100000" b="-1576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C4F5077C-F3EF-0BD8-B7A4-B286DF5E1FC9}"/>
                  </a:ext>
                </a:extLst>
              </p:cNvPr>
              <p:cNvSpPr txBox="1"/>
              <p:nvPr/>
            </p:nvSpPr>
            <p:spPr>
              <a:xfrm>
                <a:off x="7606747" y="119270"/>
                <a:ext cx="4359966" cy="1015663"/>
              </a:xfrm>
              <a:prstGeom prst="rect">
                <a:avLst/>
              </a:prstGeom>
              <a:noFill/>
            </p:spPr>
            <p:txBody>
              <a:bodyPr wrap="square" rtlCol="0">
                <a:spAutoFit/>
              </a:bodyPr>
              <a:lstStyle/>
              <a:p>
                <a:pPr algn="r"/>
                <a:r>
                  <a:rPr lang="en-US" sz="2000" dirty="0">
                    <a:solidFill>
                      <a:schemeClr val="accent5"/>
                    </a:solidFill>
                  </a:rPr>
                  <a:t>Say we choose </a:t>
                </a:r>
                <a14:m>
                  <m:oMath xmlns:m="http://schemas.openxmlformats.org/officeDocument/2006/math">
                    <m:sSub>
                      <m:sSubPr>
                        <m:ctrlPr>
                          <a:rPr lang="en-US" sz="2000" b="0" i="1" smtClean="0">
                            <a:solidFill>
                              <a:schemeClr val="accent5"/>
                            </a:solidFill>
                            <a:latin typeface="Cambria Math" panose="02040503050406030204" pitchFamily="18" charset="0"/>
                          </a:rPr>
                        </m:ctrlPr>
                      </m:sSubPr>
                      <m:e>
                        <m:r>
                          <a:rPr lang="en-US" sz="2000" b="0" i="1" smtClean="0">
                            <a:solidFill>
                              <a:schemeClr val="accent5"/>
                            </a:solidFill>
                            <a:latin typeface="Cambria Math" panose="02040503050406030204" pitchFamily="18" charset="0"/>
                          </a:rPr>
                          <m:t>𝑁</m:t>
                        </m:r>
                      </m:e>
                      <m:sub>
                        <m:r>
                          <a:rPr lang="en-US" sz="2000" b="0" i="1" smtClean="0">
                            <a:solidFill>
                              <a:schemeClr val="accent5"/>
                            </a:solidFill>
                            <a:latin typeface="Cambria Math" panose="02040503050406030204" pitchFamily="18" charset="0"/>
                          </a:rPr>
                          <m:t>0</m:t>
                        </m:r>
                      </m:sub>
                    </m:sSub>
                  </m:oMath>
                </a14:m>
                <a:r>
                  <a:rPr lang="en-US" sz="2000" dirty="0">
                    <a:solidFill>
                      <a:schemeClr val="accent5"/>
                    </a:solidFill>
                  </a:rPr>
                  <a:t> people at random for the control group, and </a:t>
                </a:r>
                <a14:m>
                  <m:oMath xmlns:m="http://schemas.openxmlformats.org/officeDocument/2006/math">
                    <m:sSub>
                      <m:sSubPr>
                        <m:ctrlPr>
                          <a:rPr lang="en-US" sz="2000" b="0" i="1" smtClean="0">
                            <a:solidFill>
                              <a:schemeClr val="accent5"/>
                            </a:solidFill>
                            <a:latin typeface="Cambria Math" panose="02040503050406030204" pitchFamily="18" charset="0"/>
                          </a:rPr>
                        </m:ctrlPr>
                      </m:sSubPr>
                      <m:e>
                        <m:r>
                          <a:rPr lang="en-US" sz="2000" b="0" i="1" smtClean="0">
                            <a:solidFill>
                              <a:schemeClr val="accent5"/>
                            </a:solidFill>
                            <a:latin typeface="Cambria Math" panose="02040503050406030204" pitchFamily="18" charset="0"/>
                          </a:rPr>
                          <m:t>𝑁</m:t>
                        </m:r>
                      </m:e>
                      <m:sub>
                        <m:r>
                          <a:rPr lang="en-US" sz="2000" b="0" i="1" smtClean="0">
                            <a:solidFill>
                              <a:schemeClr val="accent5"/>
                            </a:solidFill>
                            <a:latin typeface="Cambria Math" panose="02040503050406030204" pitchFamily="18" charset="0"/>
                          </a:rPr>
                          <m:t>1</m:t>
                        </m:r>
                      </m:sub>
                    </m:sSub>
                  </m:oMath>
                </a14:m>
                <a:r>
                  <a:rPr lang="en-US" sz="2000" dirty="0">
                    <a:solidFill>
                      <a:schemeClr val="accent5"/>
                    </a:solidFill>
                  </a:rPr>
                  <a:t> people at random for the treatment group.</a:t>
                </a:r>
              </a:p>
            </p:txBody>
          </p:sp>
        </mc:Choice>
        <mc:Fallback xmlns="">
          <p:sp>
            <p:nvSpPr>
              <p:cNvPr id="5" name="TextBox 4">
                <a:extLst>
                  <a:ext uri="{FF2B5EF4-FFF2-40B4-BE49-F238E27FC236}">
                    <a16:creationId xmlns:a16="http://schemas.microsoft.com/office/drawing/2014/main" id="{C4F5077C-F3EF-0BD8-B7A4-B286DF5E1FC9}"/>
                  </a:ext>
                </a:extLst>
              </p:cNvPr>
              <p:cNvSpPr txBox="1">
                <a:spLocks noRot="1" noChangeAspect="1" noMove="1" noResize="1" noEditPoints="1" noAdjustHandles="1" noChangeArrowheads="1" noChangeShapeType="1" noTextEdit="1"/>
              </p:cNvSpPr>
              <p:nvPr/>
            </p:nvSpPr>
            <p:spPr>
              <a:xfrm>
                <a:off x="7606747" y="119270"/>
                <a:ext cx="4359966" cy="1015663"/>
              </a:xfrm>
              <a:prstGeom prst="rect">
                <a:avLst/>
              </a:prstGeom>
              <a:blipFill>
                <a:blip r:embed="rId8"/>
                <a:stretch>
                  <a:fillRect l="-1453" t="-2469" r="-2616" b="-9877"/>
                </a:stretch>
              </a:blipFill>
            </p:spPr>
            <p:txBody>
              <a:bodyPr/>
              <a:lstStyle/>
              <a:p>
                <a:r>
                  <a:rPr lang="en-US">
                    <a:noFill/>
                  </a:rPr>
                  <a:t> </a:t>
                </a:r>
              </a:p>
            </p:txBody>
          </p:sp>
        </mc:Fallback>
      </mc:AlternateContent>
    </p:spTree>
    <p:extLst>
      <p:ext uri="{BB962C8B-B14F-4D97-AF65-F5344CB8AC3E}">
        <p14:creationId xmlns:p14="http://schemas.microsoft.com/office/powerpoint/2010/main" val="48092629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786C3BBC-3DAA-0925-FC14-7991DF65539C}"/>
                  </a:ext>
                </a:extLst>
              </p:cNvPr>
              <p:cNvSpPr>
                <a:spLocks noGrp="1"/>
              </p:cNvSpPr>
              <p:nvPr>
                <p:ph type="title"/>
              </p:nvPr>
            </p:nvSpPr>
            <p:spPr/>
            <p:txBody>
              <a:bodyPr/>
              <a:lstStyle/>
              <a:p>
                <a:r>
                  <a:rPr lang="en-US" dirty="0"/>
                  <a:t>Why does </a:t>
                </a:r>
                <a14:m>
                  <m:oMath xmlns:m="http://schemas.openxmlformats.org/officeDocument/2006/math">
                    <m:r>
                      <a:rPr lang="en-US" i="1" smtClean="0">
                        <a:latin typeface="Cambria Math" panose="02040503050406030204" pitchFamily="18" charset="0"/>
                        <a:ea typeface="Cambria Math" panose="02040503050406030204" pitchFamily="18" charset="0"/>
                      </a:rPr>
                      <m:t>𝔼</m:t>
                    </m:r>
                    <m:d>
                      <m:dPr>
                        <m:begChr m:val="["/>
                        <m:endChr m:val="]"/>
                        <m:ctrlPr>
                          <a:rPr lang="en-US" b="0" i="1" smtClean="0">
                            <a:latin typeface="Cambria Math" panose="02040503050406030204" pitchFamily="18" charset="0"/>
                            <a:ea typeface="Cambria Math" panose="02040503050406030204" pitchFamily="18" charset="0"/>
                          </a:rPr>
                        </m:ctrlPr>
                      </m:dPr>
                      <m:e>
                        <m:acc>
                          <m:accPr>
                            <m:chr m:val="̂"/>
                            <m:ctrlPr>
                              <a:rPr lang="en-US" b="0" i="1" smtClean="0">
                                <a:latin typeface="Cambria Math" panose="02040503050406030204" pitchFamily="18" charset="0"/>
                                <a:ea typeface="Cambria Math" panose="02040503050406030204" pitchFamily="18" charset="0"/>
                              </a:rPr>
                            </m:ctrlPr>
                          </m:accPr>
                          <m:e>
                            <m:r>
                              <a:rPr lang="en-US" b="0" i="1" smtClean="0">
                                <a:latin typeface="Cambria Math" panose="02040503050406030204" pitchFamily="18" charset="0"/>
                                <a:ea typeface="Cambria Math" panose="02040503050406030204" pitchFamily="18" charset="0"/>
                              </a:rPr>
                              <m:t>𝜏</m:t>
                            </m:r>
                          </m:e>
                        </m:acc>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𝜏</m:t>
                    </m:r>
                  </m:oMath>
                </a14:m>
                <a:r>
                  <a:rPr lang="en-US" dirty="0"/>
                  <a:t>?</a:t>
                </a:r>
              </a:p>
            </p:txBody>
          </p:sp>
        </mc:Choice>
        <mc:Fallback xmlns="">
          <p:sp>
            <p:nvSpPr>
              <p:cNvPr id="2" name="Title 1">
                <a:extLst>
                  <a:ext uri="{FF2B5EF4-FFF2-40B4-BE49-F238E27FC236}">
                    <a16:creationId xmlns:a16="http://schemas.microsoft.com/office/drawing/2014/main" id="{786C3BBC-3DAA-0925-FC14-7991DF65539C}"/>
                  </a:ext>
                </a:extLst>
              </p:cNvPr>
              <p:cNvSpPr>
                <a:spLocks noGrp="1" noRot="1" noChangeAspect="1" noMove="1" noResize="1" noEditPoints="1" noAdjustHandles="1" noChangeArrowheads="1" noChangeShapeType="1" noTextEdit="1"/>
              </p:cNvSpPr>
              <p:nvPr>
                <p:ph type="title"/>
              </p:nvPr>
            </p:nvSpPr>
            <p:spPr>
              <a:blipFill>
                <a:blip r:embed="rId3"/>
                <a:stretch>
                  <a:fillRect l="-241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85BCF22E-4076-2A34-819D-2FBAC5BB70B6}"/>
                  </a:ext>
                </a:extLst>
              </p:cNvPr>
              <p:cNvSpPr txBox="1"/>
              <p:nvPr/>
            </p:nvSpPr>
            <p:spPr>
              <a:xfrm>
                <a:off x="1509091" y="1654617"/>
                <a:ext cx="6097656" cy="1036630"/>
              </a:xfrm>
              <a:prstGeom prst="rect">
                <a:avLst/>
              </a:prstGeom>
              <a:noFill/>
            </p:spPr>
            <p:txBody>
              <a:bodyPr wrap="square">
                <a:spAutoFit/>
              </a:bodyPr>
              <a:lstStyle/>
              <a:p>
                <a:pPr marL="0" indent="0" algn="ctr">
                  <a:buNone/>
                </a:pPr>
                <a14:m>
                  <m:oMathPara xmlns:m="http://schemas.openxmlformats.org/officeDocument/2006/math">
                    <m:oMathParaPr>
                      <m:jc m:val="centerGroup"/>
                    </m:oMathParaPr>
                    <m:oMath xmlns:m="http://schemas.openxmlformats.org/officeDocument/2006/math">
                      <m:acc>
                        <m:accPr>
                          <m:chr m:val="̂"/>
                          <m:ctrlPr>
                            <a:rPr lang="en-US" sz="2400" b="0" i="1" smtClean="0">
                              <a:latin typeface="Cambria Math" panose="02040503050406030204" pitchFamily="18" charset="0"/>
                            </a:rPr>
                          </m:ctrlPr>
                        </m:accPr>
                        <m:e>
                          <m:r>
                            <a:rPr lang="en-US" sz="2400" b="0" i="1" smtClean="0">
                              <a:latin typeface="Cambria Math" panose="02040503050406030204" pitchFamily="18" charset="0"/>
                            </a:rPr>
                            <m:t>𝜏</m:t>
                          </m:r>
                        </m:e>
                      </m:acc>
                      <m:r>
                        <a:rPr lang="en-US" sz="2400" b="0" i="1" smtClean="0">
                          <a:latin typeface="Cambria Math" panose="02040503050406030204" pitchFamily="18" charset="0"/>
                        </a:rPr>
                        <m:t>  </m:t>
                      </m:r>
                      <m:r>
                        <a:rPr lang="en-US" sz="2400" b="0" i="1" dirty="0" smtClean="0">
                          <a:latin typeface="Cambria Math" panose="02040503050406030204" pitchFamily="18" charset="0"/>
                        </a:rPr>
                        <m:t>=          </m:t>
                      </m:r>
                      <m:f>
                        <m:fPr>
                          <m:ctrlPr>
                            <a:rPr lang="en-US" sz="2400" b="0" i="1" dirty="0" smtClean="0">
                              <a:latin typeface="Cambria Math" panose="02040503050406030204" pitchFamily="18" charset="0"/>
                            </a:rPr>
                          </m:ctrlPr>
                        </m:fPr>
                        <m:num>
                          <m:r>
                            <a:rPr lang="en-US" sz="2400" b="0" i="1" dirty="0" smtClean="0">
                              <a:latin typeface="Cambria Math" panose="02040503050406030204" pitchFamily="18" charset="0"/>
                            </a:rPr>
                            <m:t>1</m:t>
                          </m:r>
                        </m:num>
                        <m:den>
                          <m:sSub>
                            <m:sSubPr>
                              <m:ctrlPr>
                                <a:rPr lang="en-US" sz="2400" b="0" i="1" dirty="0" smtClean="0">
                                  <a:latin typeface="Cambria Math" panose="02040503050406030204" pitchFamily="18" charset="0"/>
                                </a:rPr>
                              </m:ctrlPr>
                            </m:sSubPr>
                            <m:e>
                              <m:r>
                                <a:rPr lang="en-US" sz="2400" b="0" i="1" dirty="0" smtClean="0">
                                  <a:latin typeface="Cambria Math" panose="02040503050406030204" pitchFamily="18" charset="0"/>
                                </a:rPr>
                                <m:t>𝑁</m:t>
                              </m:r>
                            </m:e>
                            <m:sub>
                              <m:r>
                                <a:rPr lang="en-US" sz="2400" b="0" i="1" dirty="0" smtClean="0">
                                  <a:latin typeface="Cambria Math" panose="02040503050406030204" pitchFamily="18" charset="0"/>
                                </a:rPr>
                                <m:t>1</m:t>
                              </m:r>
                            </m:sub>
                          </m:sSub>
                        </m:den>
                      </m:f>
                      <m:nary>
                        <m:naryPr>
                          <m:chr m:val="∑"/>
                          <m:supHide m:val="on"/>
                          <m:ctrlPr>
                            <a:rPr lang="en-US" sz="2400" b="0" i="1" dirty="0" smtClean="0">
                              <a:latin typeface="Cambria Math" panose="02040503050406030204" pitchFamily="18" charset="0"/>
                            </a:rPr>
                          </m:ctrlPr>
                        </m:naryPr>
                        <m:sub>
                          <m:r>
                            <m:rPr>
                              <m:brk m:alnAt="7"/>
                            </m:rPr>
                            <a:rPr lang="en-US" sz="2400" b="0" i="1" dirty="0" smtClean="0">
                              <a:latin typeface="Cambria Math" panose="02040503050406030204" pitchFamily="18" charset="0"/>
                            </a:rPr>
                            <m:t>𝑖</m:t>
                          </m:r>
                          <m:r>
                            <a:rPr lang="en-US" sz="2400" b="0" i="1" dirty="0" smtClean="0">
                              <a:latin typeface="Cambria Math" panose="02040503050406030204" pitchFamily="18" charset="0"/>
                            </a:rPr>
                            <m:t>:</m:t>
                          </m:r>
                          <m:sSub>
                            <m:sSubPr>
                              <m:ctrlPr>
                                <a:rPr lang="en-US" sz="2400" b="0" i="1" dirty="0" smtClean="0">
                                  <a:latin typeface="Cambria Math" panose="02040503050406030204" pitchFamily="18" charset="0"/>
                                </a:rPr>
                              </m:ctrlPr>
                            </m:sSubPr>
                            <m:e>
                              <m:r>
                                <m:rPr>
                                  <m:brk m:alnAt="7"/>
                                </m:rPr>
                                <a:rPr lang="en-US" sz="2400" b="0" i="1" dirty="0" smtClean="0">
                                  <a:latin typeface="Cambria Math" panose="02040503050406030204" pitchFamily="18" charset="0"/>
                                </a:rPr>
                                <m:t>𝑊</m:t>
                              </m:r>
                            </m:e>
                            <m:sub>
                              <m:r>
                                <m:rPr>
                                  <m:brk m:alnAt="7"/>
                                </m:rPr>
                                <a:rPr lang="en-US" sz="2400" b="0" i="1" dirty="0" smtClean="0">
                                  <a:latin typeface="Cambria Math" panose="02040503050406030204" pitchFamily="18" charset="0"/>
                                </a:rPr>
                                <m:t>𝑖</m:t>
                              </m:r>
                            </m:sub>
                          </m:sSub>
                          <m:r>
                            <m:rPr>
                              <m:brk m:alnAt="7"/>
                            </m:rPr>
                            <a:rPr lang="en-US" sz="2400" b="0" i="1" dirty="0" smtClean="0">
                              <a:latin typeface="Cambria Math" panose="02040503050406030204" pitchFamily="18" charset="0"/>
                            </a:rPr>
                            <m:t>=</m:t>
                          </m:r>
                          <m:r>
                            <a:rPr lang="en-US" sz="2400" b="0" i="1" dirty="0" smtClean="0">
                              <a:latin typeface="Cambria Math" panose="02040503050406030204" pitchFamily="18" charset="0"/>
                            </a:rPr>
                            <m:t>1</m:t>
                          </m:r>
                        </m:sub>
                        <m:sup/>
                        <m:e>
                          <m:sSub>
                            <m:sSubPr>
                              <m:ctrlPr>
                                <a:rPr lang="en-US" sz="2400" b="0" i="1" dirty="0" smtClean="0">
                                  <a:latin typeface="Cambria Math" panose="02040503050406030204" pitchFamily="18" charset="0"/>
                                </a:rPr>
                              </m:ctrlPr>
                            </m:sSubPr>
                            <m:e>
                              <m:r>
                                <a:rPr lang="en-US" sz="2400" b="0" i="1" dirty="0" smtClean="0">
                                  <a:latin typeface="Cambria Math" panose="02040503050406030204" pitchFamily="18" charset="0"/>
                                </a:rPr>
                                <m:t>𝑌</m:t>
                              </m:r>
                            </m:e>
                            <m:sub>
                              <m:r>
                                <a:rPr lang="en-US" sz="2400" b="0" i="1" dirty="0" smtClean="0">
                                  <a:latin typeface="Cambria Math" panose="02040503050406030204" pitchFamily="18" charset="0"/>
                                </a:rPr>
                                <m:t>𝑖</m:t>
                              </m:r>
                            </m:sub>
                          </m:sSub>
                        </m:e>
                      </m:nary>
                      <m:r>
                        <a:rPr lang="en-US" sz="2400" b="0" i="1" dirty="0" smtClean="0">
                          <a:latin typeface="Cambria Math" panose="02040503050406030204" pitchFamily="18" charset="0"/>
                        </a:rPr>
                        <m:t>−</m:t>
                      </m:r>
                      <m:f>
                        <m:fPr>
                          <m:ctrlPr>
                            <a:rPr lang="en-US" sz="2400" b="0" i="1" dirty="0" smtClean="0">
                              <a:latin typeface="Cambria Math" panose="02040503050406030204" pitchFamily="18" charset="0"/>
                            </a:rPr>
                          </m:ctrlPr>
                        </m:fPr>
                        <m:num>
                          <m:r>
                            <a:rPr lang="en-US" sz="2400" b="0" i="1" dirty="0" smtClean="0">
                              <a:latin typeface="Cambria Math" panose="02040503050406030204" pitchFamily="18" charset="0"/>
                            </a:rPr>
                            <m:t>1</m:t>
                          </m:r>
                        </m:num>
                        <m:den>
                          <m:sSub>
                            <m:sSubPr>
                              <m:ctrlPr>
                                <a:rPr lang="en-US" sz="2400" b="0" i="1" dirty="0" smtClean="0">
                                  <a:latin typeface="Cambria Math" panose="02040503050406030204" pitchFamily="18" charset="0"/>
                                </a:rPr>
                              </m:ctrlPr>
                            </m:sSubPr>
                            <m:e>
                              <m:r>
                                <a:rPr lang="en-US" sz="2400" b="0" i="1" dirty="0" smtClean="0">
                                  <a:latin typeface="Cambria Math" panose="02040503050406030204" pitchFamily="18" charset="0"/>
                                </a:rPr>
                                <m:t>𝑁</m:t>
                              </m:r>
                            </m:e>
                            <m:sub>
                              <m:r>
                                <a:rPr lang="en-US" sz="2400" b="0" i="1" dirty="0" smtClean="0">
                                  <a:latin typeface="Cambria Math" panose="02040503050406030204" pitchFamily="18" charset="0"/>
                                </a:rPr>
                                <m:t>0</m:t>
                              </m:r>
                            </m:sub>
                          </m:sSub>
                        </m:den>
                      </m:f>
                      <m:nary>
                        <m:naryPr>
                          <m:chr m:val="∑"/>
                          <m:supHide m:val="on"/>
                          <m:ctrlPr>
                            <a:rPr lang="en-US" sz="2400" b="0" i="1" dirty="0" smtClean="0">
                              <a:latin typeface="Cambria Math" panose="02040503050406030204" pitchFamily="18" charset="0"/>
                            </a:rPr>
                          </m:ctrlPr>
                        </m:naryPr>
                        <m:sub>
                          <m:r>
                            <m:rPr>
                              <m:brk m:alnAt="7"/>
                            </m:rPr>
                            <a:rPr lang="en-US" sz="2400" b="0" i="1" dirty="0" smtClean="0">
                              <a:latin typeface="Cambria Math" panose="02040503050406030204" pitchFamily="18" charset="0"/>
                            </a:rPr>
                            <m:t>𝑖</m:t>
                          </m:r>
                          <m:r>
                            <a:rPr lang="en-US" sz="2400" b="0" i="1" dirty="0" smtClean="0">
                              <a:latin typeface="Cambria Math" panose="02040503050406030204" pitchFamily="18" charset="0"/>
                            </a:rPr>
                            <m:t>:</m:t>
                          </m:r>
                          <m:sSub>
                            <m:sSubPr>
                              <m:ctrlPr>
                                <a:rPr lang="en-US" sz="2400" b="0" i="1" dirty="0" smtClean="0">
                                  <a:latin typeface="Cambria Math" panose="02040503050406030204" pitchFamily="18" charset="0"/>
                                </a:rPr>
                              </m:ctrlPr>
                            </m:sSubPr>
                            <m:e>
                              <m:r>
                                <m:rPr>
                                  <m:brk m:alnAt="7"/>
                                </m:rPr>
                                <a:rPr lang="en-US" sz="2400" b="0" i="1" dirty="0" smtClean="0">
                                  <a:latin typeface="Cambria Math" panose="02040503050406030204" pitchFamily="18" charset="0"/>
                                </a:rPr>
                                <m:t>𝑊</m:t>
                              </m:r>
                            </m:e>
                            <m:sub>
                              <m:r>
                                <m:rPr>
                                  <m:brk m:alnAt="7"/>
                                </m:rPr>
                                <a:rPr lang="en-US" sz="2400" b="0" i="1" dirty="0" smtClean="0">
                                  <a:latin typeface="Cambria Math" panose="02040503050406030204" pitchFamily="18" charset="0"/>
                                </a:rPr>
                                <m:t>𝑖</m:t>
                              </m:r>
                            </m:sub>
                          </m:sSub>
                          <m:r>
                            <m:rPr>
                              <m:brk m:alnAt="7"/>
                            </m:rPr>
                            <a:rPr lang="en-US" sz="2400" b="0" i="1" dirty="0" smtClean="0">
                              <a:latin typeface="Cambria Math" panose="02040503050406030204" pitchFamily="18" charset="0"/>
                            </a:rPr>
                            <m:t>=</m:t>
                          </m:r>
                          <m:r>
                            <a:rPr lang="en-US" sz="2400" b="0" i="1" dirty="0" smtClean="0">
                              <a:latin typeface="Cambria Math" panose="02040503050406030204" pitchFamily="18" charset="0"/>
                            </a:rPr>
                            <m:t>0</m:t>
                          </m:r>
                        </m:sub>
                        <m:sup/>
                        <m:e>
                          <m:sSub>
                            <m:sSubPr>
                              <m:ctrlPr>
                                <a:rPr lang="en-US" sz="2400" b="0" i="1" dirty="0" smtClean="0">
                                  <a:latin typeface="Cambria Math" panose="02040503050406030204" pitchFamily="18" charset="0"/>
                                </a:rPr>
                              </m:ctrlPr>
                            </m:sSubPr>
                            <m:e>
                              <m:r>
                                <a:rPr lang="en-US" sz="2400" b="0" i="1" dirty="0" smtClean="0">
                                  <a:latin typeface="Cambria Math" panose="02040503050406030204" pitchFamily="18" charset="0"/>
                                </a:rPr>
                                <m:t>𝑌</m:t>
                              </m:r>
                            </m:e>
                            <m:sub>
                              <m:r>
                                <a:rPr lang="en-US" sz="2400" b="0" i="1" dirty="0" smtClean="0">
                                  <a:latin typeface="Cambria Math" panose="02040503050406030204" pitchFamily="18" charset="0"/>
                                </a:rPr>
                                <m:t>𝑖</m:t>
                              </m:r>
                            </m:sub>
                          </m:sSub>
                        </m:e>
                      </m:nary>
                    </m:oMath>
                  </m:oMathPara>
                </a14:m>
                <a:endParaRPr lang="en-US" sz="2400" dirty="0"/>
              </a:p>
            </p:txBody>
          </p:sp>
        </mc:Choice>
        <mc:Fallback xmlns="">
          <p:sp>
            <p:nvSpPr>
              <p:cNvPr id="6" name="TextBox 5">
                <a:extLst>
                  <a:ext uri="{FF2B5EF4-FFF2-40B4-BE49-F238E27FC236}">
                    <a16:creationId xmlns:a16="http://schemas.microsoft.com/office/drawing/2014/main" id="{85BCF22E-4076-2A34-819D-2FBAC5BB70B6}"/>
                  </a:ext>
                </a:extLst>
              </p:cNvPr>
              <p:cNvSpPr txBox="1">
                <a:spLocks noRot="1" noChangeAspect="1" noMove="1" noResize="1" noEditPoints="1" noAdjustHandles="1" noChangeArrowheads="1" noChangeShapeType="1" noTextEdit="1"/>
              </p:cNvSpPr>
              <p:nvPr/>
            </p:nvSpPr>
            <p:spPr>
              <a:xfrm>
                <a:off x="1509091" y="1654617"/>
                <a:ext cx="6097656" cy="1036630"/>
              </a:xfrm>
              <a:prstGeom prst="rect">
                <a:avLst/>
              </a:prstGeom>
              <a:blipFill>
                <a:blip r:embed="rId4"/>
                <a:stretch>
                  <a:fillRect t="-125610" b="-16829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0CD1686E-3EDC-5EBE-A5A2-56EC23CA6EE2}"/>
                  </a:ext>
                </a:extLst>
              </p:cNvPr>
              <p:cNvSpPr txBox="1"/>
              <p:nvPr/>
            </p:nvSpPr>
            <p:spPr>
              <a:xfrm>
                <a:off x="1707874" y="1770254"/>
                <a:ext cx="1033670" cy="64633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3600" i="1" smtClean="0">
                          <a:solidFill>
                            <a:schemeClr val="tx1"/>
                          </a:solidFill>
                          <a:latin typeface="Cambria Math" panose="02040503050406030204" pitchFamily="18" charset="0"/>
                          <a:ea typeface="Cambria Math" panose="02040503050406030204" pitchFamily="18" charset="0"/>
                        </a:rPr>
                        <m:t>𝔼</m:t>
                      </m:r>
                      <m:r>
                        <a:rPr lang="en-US" sz="3600" b="0" i="1" smtClean="0">
                          <a:solidFill>
                            <a:schemeClr val="tx1"/>
                          </a:solidFill>
                          <a:latin typeface="Cambria Math" panose="02040503050406030204" pitchFamily="18" charset="0"/>
                          <a:ea typeface="Cambria Math" panose="02040503050406030204" pitchFamily="18" charset="0"/>
                        </a:rPr>
                        <m:t>[  ]</m:t>
                      </m:r>
                    </m:oMath>
                  </m:oMathPara>
                </a14:m>
                <a:endParaRPr lang="en-US" dirty="0">
                  <a:solidFill>
                    <a:schemeClr val="tx1"/>
                  </a:solidFill>
                </a:endParaRPr>
              </a:p>
            </p:txBody>
          </p:sp>
        </mc:Choice>
        <mc:Fallback xmlns="">
          <p:sp>
            <p:nvSpPr>
              <p:cNvPr id="8" name="TextBox 7">
                <a:extLst>
                  <a:ext uri="{FF2B5EF4-FFF2-40B4-BE49-F238E27FC236}">
                    <a16:creationId xmlns:a16="http://schemas.microsoft.com/office/drawing/2014/main" id="{0CD1686E-3EDC-5EBE-A5A2-56EC23CA6EE2}"/>
                  </a:ext>
                </a:extLst>
              </p:cNvPr>
              <p:cNvSpPr txBox="1">
                <a:spLocks noRot="1" noChangeAspect="1" noMove="1" noResize="1" noEditPoints="1" noAdjustHandles="1" noChangeArrowheads="1" noChangeShapeType="1" noTextEdit="1"/>
              </p:cNvSpPr>
              <p:nvPr/>
            </p:nvSpPr>
            <p:spPr>
              <a:xfrm>
                <a:off x="1707874" y="1770254"/>
                <a:ext cx="1033670" cy="646331"/>
              </a:xfrm>
              <a:prstGeom prst="rect">
                <a:avLst/>
              </a:prstGeom>
              <a:blipFill>
                <a:blip r:embed="rId5"/>
                <a:stretch>
                  <a:fillRect l="-3614" t="-1923" r="-8434" b="-2307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091A1BB7-10D1-70B1-AFFA-B15AD81052DD}"/>
                  </a:ext>
                </a:extLst>
              </p:cNvPr>
              <p:cNvSpPr txBox="1"/>
              <p:nvPr/>
            </p:nvSpPr>
            <p:spPr>
              <a:xfrm>
                <a:off x="2940327" y="1770209"/>
                <a:ext cx="1033670" cy="64633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3600" i="1" smtClean="0">
                          <a:solidFill>
                            <a:schemeClr val="tx1"/>
                          </a:solidFill>
                          <a:latin typeface="Cambria Math" panose="02040503050406030204" pitchFamily="18" charset="0"/>
                          <a:ea typeface="Cambria Math" panose="02040503050406030204" pitchFamily="18" charset="0"/>
                        </a:rPr>
                        <m:t>𝔼</m:t>
                      </m:r>
                      <m:r>
                        <a:rPr lang="en-US" sz="3600" b="0" i="1" smtClean="0">
                          <a:solidFill>
                            <a:schemeClr val="tx1"/>
                          </a:solidFill>
                          <a:latin typeface="Cambria Math" panose="02040503050406030204" pitchFamily="18" charset="0"/>
                          <a:ea typeface="Cambria Math" panose="02040503050406030204" pitchFamily="18" charset="0"/>
                        </a:rPr>
                        <m:t>[                                  ]</m:t>
                      </m:r>
                    </m:oMath>
                  </m:oMathPara>
                </a14:m>
                <a:endParaRPr lang="en-US" dirty="0">
                  <a:solidFill>
                    <a:schemeClr val="tx1"/>
                  </a:solidFill>
                </a:endParaRPr>
              </a:p>
            </p:txBody>
          </p:sp>
        </mc:Choice>
        <mc:Fallback xmlns="">
          <p:sp>
            <p:nvSpPr>
              <p:cNvPr id="9" name="TextBox 8">
                <a:extLst>
                  <a:ext uri="{FF2B5EF4-FFF2-40B4-BE49-F238E27FC236}">
                    <a16:creationId xmlns:a16="http://schemas.microsoft.com/office/drawing/2014/main" id="{091A1BB7-10D1-70B1-AFFA-B15AD81052DD}"/>
                  </a:ext>
                </a:extLst>
              </p:cNvPr>
              <p:cNvSpPr txBox="1">
                <a:spLocks noRot="1" noChangeAspect="1" noMove="1" noResize="1" noEditPoints="1" noAdjustHandles="1" noChangeArrowheads="1" noChangeShapeType="1" noTextEdit="1"/>
              </p:cNvSpPr>
              <p:nvPr/>
            </p:nvSpPr>
            <p:spPr>
              <a:xfrm>
                <a:off x="2940327" y="1770209"/>
                <a:ext cx="1033670" cy="646331"/>
              </a:xfrm>
              <a:prstGeom prst="rect">
                <a:avLst/>
              </a:prstGeom>
              <a:blipFill>
                <a:blip r:embed="rId6"/>
                <a:stretch>
                  <a:fillRect l="-6098" t="-1923" r="-315854" b="-2307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5C58F4CF-CB8E-13D0-7127-37111CF73504}"/>
                  </a:ext>
                </a:extLst>
              </p:cNvPr>
              <p:cNvSpPr txBox="1"/>
              <p:nvPr/>
            </p:nvSpPr>
            <p:spPr>
              <a:xfrm>
                <a:off x="1707874" y="2793402"/>
                <a:ext cx="9079396" cy="130388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ea typeface="Cambria Math" panose="02040503050406030204" pitchFamily="18" charset="0"/>
                        </a:rPr>
                        <m:t>=</m:t>
                      </m:r>
                      <m:r>
                        <a:rPr lang="en-US" sz="2800" b="0" i="1" smtClean="0">
                          <a:solidFill>
                            <a:schemeClr val="tx1"/>
                          </a:solidFill>
                          <a:latin typeface="Cambria Math" panose="02040503050406030204" pitchFamily="18" charset="0"/>
                          <a:ea typeface="Cambria Math" panose="02040503050406030204" pitchFamily="18" charset="0"/>
                        </a:rPr>
                        <m:t>𝔼</m:t>
                      </m:r>
                      <m:d>
                        <m:dPr>
                          <m:begChr m:val="["/>
                          <m:endChr m:val="]"/>
                          <m:ctrlPr>
                            <a:rPr lang="en-US" sz="2800" b="0" i="1" smtClean="0">
                              <a:solidFill>
                                <a:schemeClr val="tx1"/>
                              </a:solidFill>
                              <a:latin typeface="Cambria Math" panose="02040503050406030204" pitchFamily="18" charset="0"/>
                              <a:ea typeface="Cambria Math" panose="02040503050406030204" pitchFamily="18" charset="0"/>
                            </a:rPr>
                          </m:ctrlPr>
                        </m:dPr>
                        <m:e>
                          <m:f>
                            <m:fPr>
                              <m:ctrlPr>
                                <a:rPr lang="en-US" sz="2800" b="0" i="1" smtClean="0">
                                  <a:solidFill>
                                    <a:schemeClr val="tx1"/>
                                  </a:solidFill>
                                  <a:latin typeface="Cambria Math" panose="02040503050406030204" pitchFamily="18" charset="0"/>
                                  <a:ea typeface="Cambria Math" panose="02040503050406030204" pitchFamily="18" charset="0"/>
                                </a:rPr>
                              </m:ctrlPr>
                            </m:fPr>
                            <m:num>
                              <m:r>
                                <a:rPr lang="en-US" sz="2800" b="0" i="1" smtClean="0">
                                  <a:solidFill>
                                    <a:schemeClr val="tx1"/>
                                  </a:solidFill>
                                  <a:latin typeface="Cambria Math" panose="02040503050406030204" pitchFamily="18" charset="0"/>
                                  <a:ea typeface="Cambria Math" panose="02040503050406030204" pitchFamily="18" charset="0"/>
                                </a:rPr>
                                <m:t>1</m:t>
                              </m:r>
                            </m:num>
                            <m:den>
                              <m:sSub>
                                <m:sSubPr>
                                  <m:ctrlPr>
                                    <a:rPr lang="en-US" sz="2800" b="0" i="1" smtClean="0">
                                      <a:solidFill>
                                        <a:schemeClr val="tx1"/>
                                      </a:solidFill>
                                      <a:latin typeface="Cambria Math" panose="02040503050406030204" pitchFamily="18" charset="0"/>
                                      <a:ea typeface="Cambria Math" panose="02040503050406030204" pitchFamily="18" charset="0"/>
                                    </a:rPr>
                                  </m:ctrlPr>
                                </m:sSubPr>
                                <m:e>
                                  <m:r>
                                    <a:rPr lang="en-US" sz="2800" b="0" i="1" smtClean="0">
                                      <a:solidFill>
                                        <a:schemeClr val="tx1"/>
                                      </a:solidFill>
                                      <a:latin typeface="Cambria Math" panose="02040503050406030204" pitchFamily="18" charset="0"/>
                                      <a:ea typeface="Cambria Math" panose="02040503050406030204" pitchFamily="18" charset="0"/>
                                    </a:rPr>
                                    <m:t>𝑁</m:t>
                                  </m:r>
                                </m:e>
                                <m:sub>
                                  <m:r>
                                    <a:rPr lang="en-US" sz="2800" b="0" i="1" smtClean="0">
                                      <a:solidFill>
                                        <a:schemeClr val="tx1"/>
                                      </a:solidFill>
                                      <a:latin typeface="Cambria Math" panose="02040503050406030204" pitchFamily="18" charset="0"/>
                                      <a:ea typeface="Cambria Math" panose="02040503050406030204" pitchFamily="18" charset="0"/>
                                    </a:rPr>
                                    <m:t>1</m:t>
                                  </m:r>
                                </m:sub>
                              </m:sSub>
                            </m:den>
                          </m:f>
                          <m:nary>
                            <m:naryPr>
                              <m:chr m:val="∑"/>
                              <m:ctrlPr>
                                <a:rPr lang="en-US" sz="2800" b="0" i="1" smtClean="0">
                                  <a:solidFill>
                                    <a:schemeClr val="tx1"/>
                                  </a:solidFill>
                                  <a:latin typeface="Cambria Math" panose="02040503050406030204" pitchFamily="18" charset="0"/>
                                  <a:ea typeface="Cambria Math" panose="02040503050406030204" pitchFamily="18" charset="0"/>
                                </a:rPr>
                              </m:ctrlPr>
                            </m:naryPr>
                            <m:sub>
                              <m:r>
                                <m:rPr>
                                  <m:brk m:alnAt="23"/>
                                </m:rPr>
                                <a:rPr lang="en-US" sz="2800" b="0" i="1" smtClean="0">
                                  <a:solidFill>
                                    <a:schemeClr val="tx1"/>
                                  </a:solidFill>
                                  <a:latin typeface="Cambria Math" panose="02040503050406030204" pitchFamily="18" charset="0"/>
                                  <a:ea typeface="Cambria Math" panose="02040503050406030204" pitchFamily="18" charset="0"/>
                                </a:rPr>
                                <m:t>𝑖</m:t>
                              </m:r>
                              <m:r>
                                <a:rPr lang="en-US" sz="2800" b="0" i="1" smtClean="0">
                                  <a:solidFill>
                                    <a:schemeClr val="tx1"/>
                                  </a:solidFill>
                                  <a:latin typeface="Cambria Math" panose="02040503050406030204" pitchFamily="18" charset="0"/>
                                  <a:ea typeface="Cambria Math" panose="02040503050406030204" pitchFamily="18" charset="0"/>
                                </a:rPr>
                                <m:t>=1</m:t>
                              </m:r>
                            </m:sub>
                            <m:sup>
                              <m:r>
                                <a:rPr lang="en-US" sz="2800" b="0" i="1" smtClean="0">
                                  <a:solidFill>
                                    <a:schemeClr val="tx1"/>
                                  </a:solidFill>
                                  <a:latin typeface="Cambria Math" panose="02040503050406030204" pitchFamily="18" charset="0"/>
                                  <a:ea typeface="Cambria Math" panose="02040503050406030204" pitchFamily="18" charset="0"/>
                                </a:rPr>
                                <m:t>𝑁</m:t>
                              </m:r>
                            </m:sup>
                            <m:e>
                              <m:r>
                                <a:rPr lang="en-US" sz="2800" b="1" i="1" smtClean="0">
                                  <a:solidFill>
                                    <a:schemeClr val="tx1"/>
                                  </a:solidFill>
                                  <a:latin typeface="Cambria Math" panose="02040503050406030204" pitchFamily="18" charset="0"/>
                                  <a:ea typeface="Cambria Math" panose="02040503050406030204" pitchFamily="18" charset="0"/>
                                </a:rPr>
                                <m:t>𝟏</m:t>
                              </m:r>
                              <m:d>
                                <m:dPr>
                                  <m:begChr m:val="["/>
                                  <m:endChr m:val="]"/>
                                  <m:ctrlPr>
                                    <a:rPr lang="en-US" sz="2800" b="0" i="1" smtClean="0">
                                      <a:solidFill>
                                        <a:schemeClr val="tx1"/>
                                      </a:solidFill>
                                      <a:latin typeface="Cambria Math" panose="02040503050406030204" pitchFamily="18" charset="0"/>
                                      <a:ea typeface="Cambria Math" panose="02040503050406030204" pitchFamily="18" charset="0"/>
                                    </a:rPr>
                                  </m:ctrlPr>
                                </m:dPr>
                                <m:e>
                                  <m:sSub>
                                    <m:sSubPr>
                                      <m:ctrlPr>
                                        <a:rPr lang="en-US" sz="2800" b="0" i="1" smtClean="0">
                                          <a:solidFill>
                                            <a:schemeClr val="tx1"/>
                                          </a:solidFill>
                                          <a:latin typeface="Cambria Math" panose="02040503050406030204" pitchFamily="18" charset="0"/>
                                          <a:ea typeface="Cambria Math" panose="02040503050406030204" pitchFamily="18" charset="0"/>
                                        </a:rPr>
                                      </m:ctrlPr>
                                    </m:sSubPr>
                                    <m:e>
                                      <m:r>
                                        <a:rPr lang="en-US" sz="2800" b="0" i="1" smtClean="0">
                                          <a:solidFill>
                                            <a:schemeClr val="tx1"/>
                                          </a:solidFill>
                                          <a:latin typeface="Cambria Math" panose="02040503050406030204" pitchFamily="18" charset="0"/>
                                          <a:ea typeface="Cambria Math" panose="02040503050406030204" pitchFamily="18" charset="0"/>
                                        </a:rPr>
                                        <m:t>𝑊</m:t>
                                      </m:r>
                                    </m:e>
                                    <m:sub>
                                      <m:r>
                                        <a:rPr lang="en-US" sz="2800" b="0" i="1" smtClean="0">
                                          <a:solidFill>
                                            <a:schemeClr val="tx1"/>
                                          </a:solidFill>
                                          <a:latin typeface="Cambria Math" panose="02040503050406030204" pitchFamily="18" charset="0"/>
                                          <a:ea typeface="Cambria Math" panose="02040503050406030204" pitchFamily="18" charset="0"/>
                                        </a:rPr>
                                        <m:t>𝑖</m:t>
                                      </m:r>
                                    </m:sub>
                                  </m:sSub>
                                  <m:r>
                                    <a:rPr lang="en-US" sz="2800" b="0" i="1" smtClean="0">
                                      <a:solidFill>
                                        <a:schemeClr val="tx1"/>
                                      </a:solidFill>
                                      <a:latin typeface="Cambria Math" panose="02040503050406030204" pitchFamily="18" charset="0"/>
                                      <a:ea typeface="Cambria Math" panose="02040503050406030204" pitchFamily="18" charset="0"/>
                                    </a:rPr>
                                    <m:t>=1</m:t>
                                  </m:r>
                                </m:e>
                              </m:d>
                              <m:sSub>
                                <m:sSubPr>
                                  <m:ctrlPr>
                                    <a:rPr lang="en-US" sz="2800" b="0" i="1" smtClean="0">
                                      <a:solidFill>
                                        <a:schemeClr val="tx1"/>
                                      </a:solidFill>
                                      <a:latin typeface="Cambria Math" panose="02040503050406030204" pitchFamily="18" charset="0"/>
                                      <a:ea typeface="Cambria Math" panose="02040503050406030204" pitchFamily="18" charset="0"/>
                                    </a:rPr>
                                  </m:ctrlPr>
                                </m:sSubPr>
                                <m:e>
                                  <m:r>
                                    <a:rPr lang="en-US" sz="2800" b="0" i="1" smtClean="0">
                                      <a:solidFill>
                                        <a:schemeClr val="tx1"/>
                                      </a:solidFill>
                                      <a:latin typeface="Cambria Math" panose="02040503050406030204" pitchFamily="18" charset="0"/>
                                      <a:ea typeface="Cambria Math" panose="02040503050406030204" pitchFamily="18" charset="0"/>
                                    </a:rPr>
                                    <m:t>𝑌</m:t>
                                  </m:r>
                                </m:e>
                                <m:sub>
                                  <m:r>
                                    <a:rPr lang="en-US" sz="2800" b="0" i="1" smtClean="0">
                                      <a:solidFill>
                                        <a:schemeClr val="tx1"/>
                                      </a:solidFill>
                                      <a:latin typeface="Cambria Math" panose="02040503050406030204" pitchFamily="18" charset="0"/>
                                      <a:ea typeface="Cambria Math" panose="02040503050406030204" pitchFamily="18" charset="0"/>
                                    </a:rPr>
                                    <m:t>𝑖</m:t>
                                  </m:r>
                                </m:sub>
                              </m:sSub>
                              <m:r>
                                <a:rPr lang="en-US" sz="2800" b="0" i="1" smtClean="0">
                                  <a:solidFill>
                                    <a:schemeClr val="tx1"/>
                                  </a:solidFill>
                                  <a:latin typeface="Cambria Math" panose="02040503050406030204" pitchFamily="18" charset="0"/>
                                  <a:ea typeface="Cambria Math" panose="02040503050406030204" pitchFamily="18" charset="0"/>
                                </a:rPr>
                                <m:t>(1) −</m:t>
                              </m:r>
                              <m:f>
                                <m:fPr>
                                  <m:ctrlPr>
                                    <a:rPr lang="en-US" sz="2800" b="0" i="1" smtClean="0">
                                      <a:solidFill>
                                        <a:schemeClr val="tx1"/>
                                      </a:solidFill>
                                      <a:latin typeface="Cambria Math" panose="02040503050406030204" pitchFamily="18" charset="0"/>
                                      <a:ea typeface="Cambria Math" panose="02040503050406030204" pitchFamily="18" charset="0"/>
                                    </a:rPr>
                                  </m:ctrlPr>
                                </m:fPr>
                                <m:num>
                                  <m:r>
                                    <a:rPr lang="en-US" sz="2800" b="0" i="1" smtClean="0">
                                      <a:solidFill>
                                        <a:schemeClr val="tx1"/>
                                      </a:solidFill>
                                      <a:latin typeface="Cambria Math" panose="02040503050406030204" pitchFamily="18" charset="0"/>
                                      <a:ea typeface="Cambria Math" panose="02040503050406030204" pitchFamily="18" charset="0"/>
                                    </a:rPr>
                                    <m:t>1</m:t>
                                  </m:r>
                                </m:num>
                                <m:den>
                                  <m:sSub>
                                    <m:sSubPr>
                                      <m:ctrlPr>
                                        <a:rPr lang="en-US" sz="2800" b="0" i="1" smtClean="0">
                                          <a:solidFill>
                                            <a:schemeClr val="tx1"/>
                                          </a:solidFill>
                                          <a:latin typeface="Cambria Math" panose="02040503050406030204" pitchFamily="18" charset="0"/>
                                          <a:ea typeface="Cambria Math" panose="02040503050406030204" pitchFamily="18" charset="0"/>
                                        </a:rPr>
                                      </m:ctrlPr>
                                    </m:sSubPr>
                                    <m:e>
                                      <m:r>
                                        <a:rPr lang="en-US" sz="2800" b="0" i="1" smtClean="0">
                                          <a:solidFill>
                                            <a:schemeClr val="tx1"/>
                                          </a:solidFill>
                                          <a:latin typeface="Cambria Math" panose="02040503050406030204" pitchFamily="18" charset="0"/>
                                          <a:ea typeface="Cambria Math" panose="02040503050406030204" pitchFamily="18" charset="0"/>
                                        </a:rPr>
                                        <m:t>𝑁</m:t>
                                      </m:r>
                                    </m:e>
                                    <m:sub>
                                      <m:r>
                                        <a:rPr lang="en-US" sz="2800" b="0" i="1" smtClean="0">
                                          <a:solidFill>
                                            <a:schemeClr val="tx1"/>
                                          </a:solidFill>
                                          <a:latin typeface="Cambria Math" panose="02040503050406030204" pitchFamily="18" charset="0"/>
                                          <a:ea typeface="Cambria Math" panose="02040503050406030204" pitchFamily="18" charset="0"/>
                                        </a:rPr>
                                        <m:t>0</m:t>
                                      </m:r>
                                    </m:sub>
                                  </m:sSub>
                                </m:den>
                              </m:f>
                            </m:e>
                          </m:nary>
                          <m:nary>
                            <m:naryPr>
                              <m:chr m:val="∑"/>
                              <m:ctrlPr>
                                <a:rPr lang="en-US" sz="2800" i="1">
                                  <a:solidFill>
                                    <a:schemeClr val="tx1"/>
                                  </a:solidFill>
                                  <a:latin typeface="Cambria Math" panose="02040503050406030204" pitchFamily="18" charset="0"/>
                                  <a:ea typeface="Cambria Math" panose="02040503050406030204" pitchFamily="18" charset="0"/>
                                </a:rPr>
                              </m:ctrlPr>
                            </m:naryPr>
                            <m:sub>
                              <m:r>
                                <m:rPr>
                                  <m:brk m:alnAt="23"/>
                                </m:rPr>
                                <a:rPr lang="en-US" sz="2800" i="1">
                                  <a:solidFill>
                                    <a:schemeClr val="tx1"/>
                                  </a:solidFill>
                                  <a:latin typeface="Cambria Math" panose="02040503050406030204" pitchFamily="18" charset="0"/>
                                  <a:ea typeface="Cambria Math" panose="02040503050406030204" pitchFamily="18" charset="0"/>
                                </a:rPr>
                                <m:t>𝑖</m:t>
                              </m:r>
                              <m:r>
                                <a:rPr lang="en-US" sz="2800" i="1">
                                  <a:solidFill>
                                    <a:schemeClr val="tx1"/>
                                  </a:solidFill>
                                  <a:latin typeface="Cambria Math" panose="02040503050406030204" pitchFamily="18" charset="0"/>
                                  <a:ea typeface="Cambria Math" panose="02040503050406030204" pitchFamily="18" charset="0"/>
                                </a:rPr>
                                <m:t>=1</m:t>
                              </m:r>
                            </m:sub>
                            <m:sup>
                              <m:r>
                                <a:rPr lang="en-US" sz="2800" i="1">
                                  <a:solidFill>
                                    <a:schemeClr val="tx1"/>
                                  </a:solidFill>
                                  <a:latin typeface="Cambria Math" panose="02040503050406030204" pitchFamily="18" charset="0"/>
                                  <a:ea typeface="Cambria Math" panose="02040503050406030204" pitchFamily="18" charset="0"/>
                                </a:rPr>
                                <m:t>𝑁</m:t>
                              </m:r>
                            </m:sup>
                            <m:e>
                              <m:r>
                                <a:rPr lang="en-US" sz="2800" b="1" i="1" smtClean="0">
                                  <a:solidFill>
                                    <a:schemeClr val="tx1"/>
                                  </a:solidFill>
                                  <a:latin typeface="Cambria Math" panose="02040503050406030204" pitchFamily="18" charset="0"/>
                                  <a:ea typeface="Cambria Math" panose="02040503050406030204" pitchFamily="18" charset="0"/>
                                </a:rPr>
                                <m:t>𝟏</m:t>
                              </m:r>
                              <m:d>
                                <m:dPr>
                                  <m:begChr m:val="["/>
                                  <m:endChr m:val="]"/>
                                  <m:ctrlPr>
                                    <a:rPr lang="en-US" sz="2800" i="1">
                                      <a:solidFill>
                                        <a:schemeClr val="tx1"/>
                                      </a:solidFill>
                                      <a:latin typeface="Cambria Math" panose="02040503050406030204" pitchFamily="18" charset="0"/>
                                      <a:ea typeface="Cambria Math" panose="02040503050406030204" pitchFamily="18" charset="0"/>
                                    </a:rPr>
                                  </m:ctrlPr>
                                </m:dPr>
                                <m:e>
                                  <m:sSub>
                                    <m:sSubPr>
                                      <m:ctrlPr>
                                        <a:rPr lang="en-US" sz="2800" i="1">
                                          <a:solidFill>
                                            <a:schemeClr val="tx1"/>
                                          </a:solidFill>
                                          <a:latin typeface="Cambria Math" panose="02040503050406030204" pitchFamily="18" charset="0"/>
                                          <a:ea typeface="Cambria Math" panose="02040503050406030204" pitchFamily="18" charset="0"/>
                                        </a:rPr>
                                      </m:ctrlPr>
                                    </m:sSubPr>
                                    <m:e>
                                      <m:r>
                                        <a:rPr lang="en-US" sz="2800" i="1">
                                          <a:solidFill>
                                            <a:schemeClr val="tx1"/>
                                          </a:solidFill>
                                          <a:latin typeface="Cambria Math" panose="02040503050406030204" pitchFamily="18" charset="0"/>
                                          <a:ea typeface="Cambria Math" panose="02040503050406030204" pitchFamily="18" charset="0"/>
                                        </a:rPr>
                                        <m:t>𝑊</m:t>
                                      </m:r>
                                    </m:e>
                                    <m:sub>
                                      <m:r>
                                        <a:rPr lang="en-US" sz="2800" i="1">
                                          <a:solidFill>
                                            <a:schemeClr val="tx1"/>
                                          </a:solidFill>
                                          <a:latin typeface="Cambria Math" panose="02040503050406030204" pitchFamily="18" charset="0"/>
                                          <a:ea typeface="Cambria Math" panose="02040503050406030204" pitchFamily="18" charset="0"/>
                                        </a:rPr>
                                        <m:t>𝑖</m:t>
                                      </m:r>
                                    </m:sub>
                                  </m:sSub>
                                  <m:r>
                                    <a:rPr lang="en-US" sz="2800" i="1">
                                      <a:solidFill>
                                        <a:schemeClr val="tx1"/>
                                      </a:solidFill>
                                      <a:latin typeface="Cambria Math" panose="02040503050406030204" pitchFamily="18" charset="0"/>
                                      <a:ea typeface="Cambria Math" panose="02040503050406030204" pitchFamily="18" charset="0"/>
                                    </a:rPr>
                                    <m:t>=</m:t>
                                  </m:r>
                                  <m:r>
                                    <a:rPr lang="en-US" sz="2800" b="0" i="1" smtClean="0">
                                      <a:solidFill>
                                        <a:schemeClr val="tx1"/>
                                      </a:solidFill>
                                      <a:latin typeface="Cambria Math" panose="02040503050406030204" pitchFamily="18" charset="0"/>
                                      <a:ea typeface="Cambria Math" panose="02040503050406030204" pitchFamily="18" charset="0"/>
                                    </a:rPr>
                                    <m:t>0</m:t>
                                  </m:r>
                                </m:e>
                              </m:d>
                              <m:sSub>
                                <m:sSubPr>
                                  <m:ctrlPr>
                                    <a:rPr lang="en-US" sz="2800" i="1">
                                      <a:solidFill>
                                        <a:schemeClr val="tx1"/>
                                      </a:solidFill>
                                      <a:latin typeface="Cambria Math" panose="02040503050406030204" pitchFamily="18" charset="0"/>
                                      <a:ea typeface="Cambria Math" panose="02040503050406030204" pitchFamily="18" charset="0"/>
                                    </a:rPr>
                                  </m:ctrlPr>
                                </m:sSubPr>
                                <m:e>
                                  <m:r>
                                    <a:rPr lang="en-US" sz="2800" i="1">
                                      <a:solidFill>
                                        <a:schemeClr val="tx1"/>
                                      </a:solidFill>
                                      <a:latin typeface="Cambria Math" panose="02040503050406030204" pitchFamily="18" charset="0"/>
                                      <a:ea typeface="Cambria Math" panose="02040503050406030204" pitchFamily="18" charset="0"/>
                                    </a:rPr>
                                    <m:t>𝑌</m:t>
                                  </m:r>
                                </m:e>
                                <m:sub>
                                  <m:r>
                                    <a:rPr lang="en-US" sz="2800" i="1">
                                      <a:solidFill>
                                        <a:schemeClr val="tx1"/>
                                      </a:solidFill>
                                      <a:latin typeface="Cambria Math" panose="02040503050406030204" pitchFamily="18" charset="0"/>
                                      <a:ea typeface="Cambria Math" panose="02040503050406030204" pitchFamily="18" charset="0"/>
                                    </a:rPr>
                                    <m:t>𝑖</m:t>
                                  </m:r>
                                </m:sub>
                              </m:sSub>
                              <m:r>
                                <a:rPr lang="en-US" sz="2800" b="0" i="1" smtClean="0">
                                  <a:solidFill>
                                    <a:schemeClr val="tx1"/>
                                  </a:solidFill>
                                  <a:latin typeface="Cambria Math" panose="02040503050406030204" pitchFamily="18" charset="0"/>
                                  <a:ea typeface="Cambria Math" panose="02040503050406030204" pitchFamily="18" charset="0"/>
                                </a:rPr>
                                <m:t>(0)</m:t>
                              </m:r>
                              <m:r>
                                <a:rPr lang="en-US" sz="2800" i="1">
                                  <a:solidFill>
                                    <a:schemeClr val="tx1"/>
                                  </a:solidFill>
                                  <a:latin typeface="Cambria Math" panose="02040503050406030204" pitchFamily="18" charset="0"/>
                                  <a:ea typeface="Cambria Math" panose="02040503050406030204" pitchFamily="18" charset="0"/>
                                </a:rPr>
                                <m:t> </m:t>
                              </m:r>
                            </m:e>
                          </m:nary>
                        </m:e>
                      </m:d>
                    </m:oMath>
                  </m:oMathPara>
                </a14:m>
                <a:endParaRPr lang="en-US" sz="1400" dirty="0">
                  <a:solidFill>
                    <a:schemeClr val="tx1"/>
                  </a:solidFill>
                </a:endParaRPr>
              </a:p>
            </p:txBody>
          </p:sp>
        </mc:Choice>
        <mc:Fallback xmlns="">
          <p:sp>
            <p:nvSpPr>
              <p:cNvPr id="3" name="TextBox 2">
                <a:extLst>
                  <a:ext uri="{FF2B5EF4-FFF2-40B4-BE49-F238E27FC236}">
                    <a16:creationId xmlns:a16="http://schemas.microsoft.com/office/drawing/2014/main" id="{5C58F4CF-CB8E-13D0-7127-37111CF73504}"/>
                  </a:ext>
                </a:extLst>
              </p:cNvPr>
              <p:cNvSpPr txBox="1">
                <a:spLocks noRot="1" noChangeAspect="1" noMove="1" noResize="1" noEditPoints="1" noAdjustHandles="1" noChangeArrowheads="1" noChangeShapeType="1" noTextEdit="1"/>
              </p:cNvSpPr>
              <p:nvPr/>
            </p:nvSpPr>
            <p:spPr>
              <a:xfrm>
                <a:off x="1707874" y="2793402"/>
                <a:ext cx="9079396" cy="1303883"/>
              </a:xfrm>
              <a:prstGeom prst="rect">
                <a:avLst/>
              </a:prstGeom>
              <a:blipFill>
                <a:blip r:embed="rId7"/>
                <a:stretch>
                  <a:fillRect t="-100000" b="-1576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65B5805E-7D75-7215-A997-2F571F2C1F8C}"/>
                  </a:ext>
                </a:extLst>
              </p:cNvPr>
              <p:cNvSpPr txBox="1"/>
              <p:nvPr/>
            </p:nvSpPr>
            <p:spPr>
              <a:xfrm>
                <a:off x="1707874" y="4129906"/>
                <a:ext cx="9079396" cy="134928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ea typeface="Cambria Math" panose="02040503050406030204" pitchFamily="18" charset="0"/>
                        </a:rPr>
                        <m:t>=</m:t>
                      </m:r>
                      <m:f>
                        <m:fPr>
                          <m:ctrlPr>
                            <a:rPr lang="en-US" sz="2800" b="0" i="1" smtClean="0">
                              <a:solidFill>
                                <a:schemeClr val="tx1"/>
                              </a:solidFill>
                              <a:latin typeface="Cambria Math" panose="02040503050406030204" pitchFamily="18" charset="0"/>
                              <a:ea typeface="Cambria Math" panose="02040503050406030204" pitchFamily="18" charset="0"/>
                            </a:rPr>
                          </m:ctrlPr>
                        </m:fPr>
                        <m:num>
                          <m:r>
                            <a:rPr lang="en-US" sz="2800" b="0" i="1" smtClean="0">
                              <a:solidFill>
                                <a:schemeClr val="tx1"/>
                              </a:solidFill>
                              <a:latin typeface="Cambria Math" panose="02040503050406030204" pitchFamily="18" charset="0"/>
                              <a:ea typeface="Cambria Math" panose="02040503050406030204" pitchFamily="18" charset="0"/>
                            </a:rPr>
                            <m:t>1</m:t>
                          </m:r>
                        </m:num>
                        <m:den>
                          <m:sSub>
                            <m:sSubPr>
                              <m:ctrlPr>
                                <a:rPr lang="en-US" sz="2800" b="0" i="1" smtClean="0">
                                  <a:solidFill>
                                    <a:schemeClr val="tx1"/>
                                  </a:solidFill>
                                  <a:latin typeface="Cambria Math" panose="02040503050406030204" pitchFamily="18" charset="0"/>
                                  <a:ea typeface="Cambria Math" panose="02040503050406030204" pitchFamily="18" charset="0"/>
                                </a:rPr>
                              </m:ctrlPr>
                            </m:sSubPr>
                            <m:e>
                              <m:r>
                                <a:rPr lang="en-US" sz="2800" b="0" i="1" smtClean="0">
                                  <a:solidFill>
                                    <a:schemeClr val="tx1"/>
                                  </a:solidFill>
                                  <a:latin typeface="Cambria Math" panose="02040503050406030204" pitchFamily="18" charset="0"/>
                                  <a:ea typeface="Cambria Math" panose="02040503050406030204" pitchFamily="18" charset="0"/>
                                </a:rPr>
                                <m:t>𝑁</m:t>
                              </m:r>
                            </m:e>
                            <m:sub>
                              <m:r>
                                <a:rPr lang="en-US" sz="2800" b="0" i="1" smtClean="0">
                                  <a:solidFill>
                                    <a:schemeClr val="tx1"/>
                                  </a:solidFill>
                                  <a:latin typeface="Cambria Math" panose="02040503050406030204" pitchFamily="18" charset="0"/>
                                  <a:ea typeface="Cambria Math" panose="02040503050406030204" pitchFamily="18" charset="0"/>
                                </a:rPr>
                                <m:t>1</m:t>
                              </m:r>
                            </m:sub>
                          </m:sSub>
                        </m:den>
                      </m:f>
                      <m:nary>
                        <m:naryPr>
                          <m:chr m:val="∑"/>
                          <m:ctrlPr>
                            <a:rPr lang="en-US" sz="2800" b="0" i="1" smtClean="0">
                              <a:solidFill>
                                <a:schemeClr val="tx1"/>
                              </a:solidFill>
                              <a:latin typeface="Cambria Math" panose="02040503050406030204" pitchFamily="18" charset="0"/>
                              <a:ea typeface="Cambria Math" panose="02040503050406030204" pitchFamily="18" charset="0"/>
                            </a:rPr>
                          </m:ctrlPr>
                        </m:naryPr>
                        <m:sub>
                          <m:r>
                            <m:rPr>
                              <m:brk m:alnAt="23"/>
                            </m:rPr>
                            <a:rPr lang="en-US" sz="2800" b="0" i="1" smtClean="0">
                              <a:solidFill>
                                <a:schemeClr val="tx1"/>
                              </a:solidFill>
                              <a:latin typeface="Cambria Math" panose="02040503050406030204" pitchFamily="18" charset="0"/>
                              <a:ea typeface="Cambria Math" panose="02040503050406030204" pitchFamily="18" charset="0"/>
                            </a:rPr>
                            <m:t>𝑖</m:t>
                          </m:r>
                          <m:r>
                            <a:rPr lang="en-US" sz="2800" b="0" i="1" smtClean="0">
                              <a:solidFill>
                                <a:schemeClr val="tx1"/>
                              </a:solidFill>
                              <a:latin typeface="Cambria Math" panose="02040503050406030204" pitchFamily="18" charset="0"/>
                              <a:ea typeface="Cambria Math" panose="02040503050406030204" pitchFamily="18" charset="0"/>
                            </a:rPr>
                            <m:t>=1</m:t>
                          </m:r>
                        </m:sub>
                        <m:sup>
                          <m:r>
                            <a:rPr lang="en-US" sz="2800" b="0" i="1" smtClean="0">
                              <a:solidFill>
                                <a:schemeClr val="tx1"/>
                              </a:solidFill>
                              <a:latin typeface="Cambria Math" panose="02040503050406030204" pitchFamily="18" charset="0"/>
                              <a:ea typeface="Cambria Math" panose="02040503050406030204" pitchFamily="18" charset="0"/>
                            </a:rPr>
                            <m:t>𝑁</m:t>
                          </m:r>
                        </m:sup>
                        <m:e>
                          <m:func>
                            <m:funcPr>
                              <m:ctrlPr>
                                <a:rPr lang="en-US" sz="2800" b="0" i="1" smtClean="0">
                                  <a:solidFill>
                                    <a:schemeClr val="tx1"/>
                                  </a:solidFill>
                                  <a:latin typeface="Cambria Math" panose="02040503050406030204" pitchFamily="18" charset="0"/>
                                  <a:ea typeface="Cambria Math" panose="02040503050406030204" pitchFamily="18" charset="0"/>
                                </a:rPr>
                              </m:ctrlPr>
                            </m:funcPr>
                            <m:fName>
                              <m:r>
                                <m:rPr>
                                  <m:sty m:val="p"/>
                                </m:rPr>
                                <a:rPr lang="en-US" sz="2800" b="0" i="0" smtClean="0">
                                  <a:solidFill>
                                    <a:schemeClr val="accent5"/>
                                  </a:solidFill>
                                  <a:latin typeface="Cambria Math" panose="02040503050406030204" pitchFamily="18" charset="0"/>
                                  <a:ea typeface="Cambria Math" panose="02040503050406030204" pitchFamily="18" charset="0"/>
                                </a:rPr>
                                <m:t>Pr</m:t>
                              </m:r>
                            </m:fName>
                            <m:e>
                              <m:d>
                                <m:dPr>
                                  <m:begChr m:val="["/>
                                  <m:endChr m:val="]"/>
                                  <m:ctrlPr>
                                    <a:rPr lang="en-US" sz="2800" b="0" i="1" smtClean="0">
                                      <a:solidFill>
                                        <a:schemeClr val="tx1"/>
                                      </a:solidFill>
                                      <a:latin typeface="Cambria Math" panose="02040503050406030204" pitchFamily="18" charset="0"/>
                                      <a:ea typeface="Cambria Math" panose="02040503050406030204" pitchFamily="18" charset="0"/>
                                    </a:rPr>
                                  </m:ctrlPr>
                                </m:dPr>
                                <m:e>
                                  <m:sSub>
                                    <m:sSubPr>
                                      <m:ctrlPr>
                                        <a:rPr lang="en-US" sz="2800" b="0" i="1" smtClean="0">
                                          <a:solidFill>
                                            <a:schemeClr val="tx1"/>
                                          </a:solidFill>
                                          <a:latin typeface="Cambria Math" panose="02040503050406030204" pitchFamily="18" charset="0"/>
                                          <a:ea typeface="Cambria Math" panose="02040503050406030204" pitchFamily="18" charset="0"/>
                                        </a:rPr>
                                      </m:ctrlPr>
                                    </m:sSubPr>
                                    <m:e>
                                      <m:r>
                                        <a:rPr lang="en-US" sz="2800" b="0" i="1" smtClean="0">
                                          <a:solidFill>
                                            <a:schemeClr val="tx1"/>
                                          </a:solidFill>
                                          <a:latin typeface="Cambria Math" panose="02040503050406030204" pitchFamily="18" charset="0"/>
                                          <a:ea typeface="Cambria Math" panose="02040503050406030204" pitchFamily="18" charset="0"/>
                                        </a:rPr>
                                        <m:t>𝑊</m:t>
                                      </m:r>
                                    </m:e>
                                    <m:sub>
                                      <m:r>
                                        <a:rPr lang="en-US" sz="2800" b="0" i="1" smtClean="0">
                                          <a:solidFill>
                                            <a:schemeClr val="tx1"/>
                                          </a:solidFill>
                                          <a:latin typeface="Cambria Math" panose="02040503050406030204" pitchFamily="18" charset="0"/>
                                          <a:ea typeface="Cambria Math" panose="02040503050406030204" pitchFamily="18" charset="0"/>
                                        </a:rPr>
                                        <m:t>𝑖</m:t>
                                      </m:r>
                                    </m:sub>
                                  </m:sSub>
                                  <m:r>
                                    <a:rPr lang="en-US" sz="2800" b="0" i="1" smtClean="0">
                                      <a:solidFill>
                                        <a:schemeClr val="tx1"/>
                                      </a:solidFill>
                                      <a:latin typeface="Cambria Math" panose="02040503050406030204" pitchFamily="18" charset="0"/>
                                      <a:ea typeface="Cambria Math" panose="02040503050406030204" pitchFamily="18" charset="0"/>
                                    </a:rPr>
                                    <m:t>=1</m:t>
                                  </m:r>
                                </m:e>
                              </m:d>
                            </m:e>
                          </m:func>
                          <m:sSub>
                            <m:sSubPr>
                              <m:ctrlPr>
                                <a:rPr lang="en-US" sz="2800" b="0" i="1" smtClean="0">
                                  <a:solidFill>
                                    <a:schemeClr val="tx1"/>
                                  </a:solidFill>
                                  <a:latin typeface="Cambria Math" panose="02040503050406030204" pitchFamily="18" charset="0"/>
                                  <a:ea typeface="Cambria Math" panose="02040503050406030204" pitchFamily="18" charset="0"/>
                                </a:rPr>
                              </m:ctrlPr>
                            </m:sSubPr>
                            <m:e>
                              <m:r>
                                <a:rPr lang="en-US" sz="2800" b="0" i="1" smtClean="0">
                                  <a:solidFill>
                                    <a:schemeClr val="tx1"/>
                                  </a:solidFill>
                                  <a:latin typeface="Cambria Math" panose="02040503050406030204" pitchFamily="18" charset="0"/>
                                  <a:ea typeface="Cambria Math" panose="02040503050406030204" pitchFamily="18" charset="0"/>
                                </a:rPr>
                                <m:t>𝑌</m:t>
                              </m:r>
                            </m:e>
                            <m:sub>
                              <m:r>
                                <a:rPr lang="en-US" sz="2800" b="0" i="1" smtClean="0">
                                  <a:solidFill>
                                    <a:schemeClr val="tx1"/>
                                  </a:solidFill>
                                  <a:latin typeface="Cambria Math" panose="02040503050406030204" pitchFamily="18" charset="0"/>
                                  <a:ea typeface="Cambria Math" panose="02040503050406030204" pitchFamily="18" charset="0"/>
                                </a:rPr>
                                <m:t>𝑖</m:t>
                              </m:r>
                            </m:sub>
                          </m:sSub>
                          <m:d>
                            <m:dPr>
                              <m:ctrlPr>
                                <a:rPr lang="en-US" sz="2800" b="0" i="1" smtClean="0">
                                  <a:solidFill>
                                    <a:schemeClr val="tx1"/>
                                  </a:solidFill>
                                  <a:latin typeface="Cambria Math" panose="02040503050406030204" pitchFamily="18" charset="0"/>
                                  <a:ea typeface="Cambria Math" panose="02040503050406030204" pitchFamily="18" charset="0"/>
                                </a:rPr>
                              </m:ctrlPr>
                            </m:dPr>
                            <m:e>
                              <m:r>
                                <a:rPr lang="en-US" sz="2800" b="0" i="1" smtClean="0">
                                  <a:solidFill>
                                    <a:schemeClr val="tx1"/>
                                  </a:solidFill>
                                  <a:latin typeface="Cambria Math" panose="02040503050406030204" pitchFamily="18" charset="0"/>
                                  <a:ea typeface="Cambria Math" panose="02040503050406030204" pitchFamily="18" charset="0"/>
                                </a:rPr>
                                <m:t>1</m:t>
                              </m:r>
                            </m:e>
                          </m:d>
                          <m:r>
                            <a:rPr lang="en-US" sz="2800" b="0" i="1" smtClean="0">
                              <a:solidFill>
                                <a:schemeClr val="tx1"/>
                              </a:solidFill>
                              <a:latin typeface="Cambria Math" panose="02040503050406030204" pitchFamily="18" charset="0"/>
                              <a:ea typeface="Cambria Math" panose="02040503050406030204" pitchFamily="18" charset="0"/>
                            </a:rPr>
                            <m:t>− </m:t>
                          </m:r>
                        </m:e>
                      </m:nary>
                      <m:f>
                        <m:fPr>
                          <m:ctrlPr>
                            <a:rPr lang="en-US" sz="2800" b="0" i="1" smtClean="0">
                              <a:solidFill>
                                <a:schemeClr val="tx1"/>
                              </a:solidFill>
                              <a:latin typeface="Cambria Math" panose="02040503050406030204" pitchFamily="18" charset="0"/>
                              <a:ea typeface="Cambria Math" panose="02040503050406030204" pitchFamily="18" charset="0"/>
                            </a:rPr>
                          </m:ctrlPr>
                        </m:fPr>
                        <m:num>
                          <m:r>
                            <a:rPr lang="en-US" sz="2800" b="0" i="1" smtClean="0">
                              <a:solidFill>
                                <a:schemeClr val="tx1"/>
                              </a:solidFill>
                              <a:latin typeface="Cambria Math" panose="02040503050406030204" pitchFamily="18" charset="0"/>
                              <a:ea typeface="Cambria Math" panose="02040503050406030204" pitchFamily="18" charset="0"/>
                            </a:rPr>
                            <m:t>1</m:t>
                          </m:r>
                        </m:num>
                        <m:den>
                          <m:sSub>
                            <m:sSubPr>
                              <m:ctrlPr>
                                <a:rPr lang="en-US" sz="2800" b="0" i="1" smtClean="0">
                                  <a:solidFill>
                                    <a:schemeClr val="tx1"/>
                                  </a:solidFill>
                                  <a:latin typeface="Cambria Math" panose="02040503050406030204" pitchFamily="18" charset="0"/>
                                  <a:ea typeface="Cambria Math" panose="02040503050406030204" pitchFamily="18" charset="0"/>
                                </a:rPr>
                              </m:ctrlPr>
                            </m:sSubPr>
                            <m:e>
                              <m:r>
                                <a:rPr lang="en-US" sz="2800" b="0" i="1" smtClean="0">
                                  <a:solidFill>
                                    <a:schemeClr val="tx1"/>
                                  </a:solidFill>
                                  <a:latin typeface="Cambria Math" panose="02040503050406030204" pitchFamily="18" charset="0"/>
                                  <a:ea typeface="Cambria Math" panose="02040503050406030204" pitchFamily="18" charset="0"/>
                                </a:rPr>
                                <m:t>𝑁</m:t>
                              </m:r>
                            </m:e>
                            <m:sub>
                              <m:r>
                                <a:rPr lang="en-US" sz="2800" b="0" i="1" smtClean="0">
                                  <a:solidFill>
                                    <a:schemeClr val="tx1"/>
                                  </a:solidFill>
                                  <a:latin typeface="Cambria Math" panose="02040503050406030204" pitchFamily="18" charset="0"/>
                                  <a:ea typeface="Cambria Math" panose="02040503050406030204" pitchFamily="18" charset="0"/>
                                </a:rPr>
                                <m:t>0</m:t>
                              </m:r>
                            </m:sub>
                          </m:sSub>
                        </m:den>
                      </m:f>
                      <m:nary>
                        <m:naryPr>
                          <m:chr m:val="∑"/>
                          <m:ctrlPr>
                            <a:rPr lang="en-US" sz="2800" b="0" i="1" smtClean="0">
                              <a:solidFill>
                                <a:schemeClr val="tx1"/>
                              </a:solidFill>
                              <a:latin typeface="Cambria Math" panose="02040503050406030204" pitchFamily="18" charset="0"/>
                              <a:ea typeface="Cambria Math" panose="02040503050406030204" pitchFamily="18" charset="0"/>
                            </a:rPr>
                          </m:ctrlPr>
                        </m:naryPr>
                        <m:sub>
                          <m:r>
                            <m:rPr>
                              <m:brk m:alnAt="23"/>
                            </m:rPr>
                            <a:rPr lang="en-US" sz="2800" b="0" i="1" smtClean="0">
                              <a:solidFill>
                                <a:schemeClr val="tx1"/>
                              </a:solidFill>
                              <a:latin typeface="Cambria Math" panose="02040503050406030204" pitchFamily="18" charset="0"/>
                              <a:ea typeface="Cambria Math" panose="02040503050406030204" pitchFamily="18" charset="0"/>
                            </a:rPr>
                            <m:t>𝑖</m:t>
                          </m:r>
                          <m:r>
                            <a:rPr lang="en-US" sz="2800" b="0" i="1" smtClean="0">
                              <a:solidFill>
                                <a:schemeClr val="tx1"/>
                              </a:solidFill>
                              <a:latin typeface="Cambria Math" panose="02040503050406030204" pitchFamily="18" charset="0"/>
                              <a:ea typeface="Cambria Math" panose="02040503050406030204" pitchFamily="18" charset="0"/>
                            </a:rPr>
                            <m:t>=1</m:t>
                          </m:r>
                        </m:sub>
                        <m:sup>
                          <m:r>
                            <a:rPr lang="en-US" sz="2800" b="0" i="1" smtClean="0">
                              <a:solidFill>
                                <a:schemeClr val="tx1"/>
                              </a:solidFill>
                              <a:latin typeface="Cambria Math" panose="02040503050406030204" pitchFamily="18" charset="0"/>
                              <a:ea typeface="Cambria Math" panose="02040503050406030204" pitchFamily="18" charset="0"/>
                            </a:rPr>
                            <m:t>𝑁</m:t>
                          </m:r>
                        </m:sup>
                        <m:e>
                          <m:func>
                            <m:funcPr>
                              <m:ctrlPr>
                                <a:rPr lang="en-US" sz="2800" b="0" i="1" smtClean="0">
                                  <a:solidFill>
                                    <a:schemeClr val="tx1"/>
                                  </a:solidFill>
                                  <a:latin typeface="Cambria Math" panose="02040503050406030204" pitchFamily="18" charset="0"/>
                                  <a:ea typeface="Cambria Math" panose="02040503050406030204" pitchFamily="18" charset="0"/>
                                </a:rPr>
                              </m:ctrlPr>
                            </m:funcPr>
                            <m:fName>
                              <m:r>
                                <m:rPr>
                                  <m:sty m:val="p"/>
                                </m:rPr>
                                <a:rPr lang="en-US" sz="2800" b="0" i="0" smtClean="0">
                                  <a:solidFill>
                                    <a:schemeClr val="accent5"/>
                                  </a:solidFill>
                                  <a:latin typeface="Cambria Math" panose="02040503050406030204" pitchFamily="18" charset="0"/>
                                  <a:ea typeface="Cambria Math" panose="02040503050406030204" pitchFamily="18" charset="0"/>
                                </a:rPr>
                                <m:t>Pr</m:t>
                              </m:r>
                            </m:fName>
                            <m:e>
                              <m:d>
                                <m:dPr>
                                  <m:begChr m:val="["/>
                                  <m:endChr m:val="]"/>
                                  <m:ctrlPr>
                                    <a:rPr lang="en-US" sz="2800" b="0" i="1" smtClean="0">
                                      <a:solidFill>
                                        <a:schemeClr val="tx1"/>
                                      </a:solidFill>
                                      <a:latin typeface="Cambria Math" panose="02040503050406030204" pitchFamily="18" charset="0"/>
                                      <a:ea typeface="Cambria Math" panose="02040503050406030204" pitchFamily="18" charset="0"/>
                                    </a:rPr>
                                  </m:ctrlPr>
                                </m:dPr>
                                <m:e>
                                  <m:sSub>
                                    <m:sSubPr>
                                      <m:ctrlPr>
                                        <a:rPr lang="en-US" sz="2800" b="0" i="1" smtClean="0">
                                          <a:solidFill>
                                            <a:schemeClr val="tx1"/>
                                          </a:solidFill>
                                          <a:latin typeface="Cambria Math" panose="02040503050406030204" pitchFamily="18" charset="0"/>
                                          <a:ea typeface="Cambria Math" panose="02040503050406030204" pitchFamily="18" charset="0"/>
                                        </a:rPr>
                                      </m:ctrlPr>
                                    </m:sSubPr>
                                    <m:e>
                                      <m:r>
                                        <a:rPr lang="en-US" sz="2800" b="0" i="1" smtClean="0">
                                          <a:solidFill>
                                            <a:schemeClr val="tx1"/>
                                          </a:solidFill>
                                          <a:latin typeface="Cambria Math" panose="02040503050406030204" pitchFamily="18" charset="0"/>
                                          <a:ea typeface="Cambria Math" panose="02040503050406030204" pitchFamily="18" charset="0"/>
                                        </a:rPr>
                                        <m:t>𝑊</m:t>
                                      </m:r>
                                    </m:e>
                                    <m:sub>
                                      <m:r>
                                        <a:rPr lang="en-US" sz="2800" b="0" i="1" smtClean="0">
                                          <a:solidFill>
                                            <a:schemeClr val="tx1"/>
                                          </a:solidFill>
                                          <a:latin typeface="Cambria Math" panose="02040503050406030204" pitchFamily="18" charset="0"/>
                                          <a:ea typeface="Cambria Math" panose="02040503050406030204" pitchFamily="18" charset="0"/>
                                        </a:rPr>
                                        <m:t>𝑖</m:t>
                                      </m:r>
                                    </m:sub>
                                  </m:sSub>
                                  <m:r>
                                    <a:rPr lang="en-US" sz="2800" b="0" i="1" smtClean="0">
                                      <a:solidFill>
                                        <a:schemeClr val="tx1"/>
                                      </a:solidFill>
                                      <a:latin typeface="Cambria Math" panose="02040503050406030204" pitchFamily="18" charset="0"/>
                                      <a:ea typeface="Cambria Math" panose="02040503050406030204" pitchFamily="18" charset="0"/>
                                    </a:rPr>
                                    <m:t>=0</m:t>
                                  </m:r>
                                </m:e>
                              </m:d>
                            </m:e>
                          </m:func>
                          <m:sSub>
                            <m:sSubPr>
                              <m:ctrlPr>
                                <a:rPr lang="en-US" sz="2800" b="0" i="1" smtClean="0">
                                  <a:solidFill>
                                    <a:schemeClr val="tx1"/>
                                  </a:solidFill>
                                  <a:latin typeface="Cambria Math" panose="02040503050406030204" pitchFamily="18" charset="0"/>
                                  <a:ea typeface="Cambria Math" panose="02040503050406030204" pitchFamily="18" charset="0"/>
                                </a:rPr>
                              </m:ctrlPr>
                            </m:sSubPr>
                            <m:e>
                              <m:r>
                                <a:rPr lang="en-US" sz="2800" b="0" i="1" smtClean="0">
                                  <a:solidFill>
                                    <a:schemeClr val="tx1"/>
                                  </a:solidFill>
                                  <a:latin typeface="Cambria Math" panose="02040503050406030204" pitchFamily="18" charset="0"/>
                                  <a:ea typeface="Cambria Math" panose="02040503050406030204" pitchFamily="18" charset="0"/>
                                </a:rPr>
                                <m:t>𝑌</m:t>
                              </m:r>
                            </m:e>
                            <m:sub>
                              <m:r>
                                <a:rPr lang="en-US" sz="2800" b="0" i="1" smtClean="0">
                                  <a:solidFill>
                                    <a:schemeClr val="tx1"/>
                                  </a:solidFill>
                                  <a:latin typeface="Cambria Math" panose="02040503050406030204" pitchFamily="18" charset="0"/>
                                  <a:ea typeface="Cambria Math" panose="02040503050406030204" pitchFamily="18" charset="0"/>
                                </a:rPr>
                                <m:t>𝑖</m:t>
                              </m:r>
                            </m:sub>
                          </m:sSub>
                        </m:e>
                      </m:nary>
                      <m:r>
                        <a:rPr lang="en-US" sz="2800" b="0" i="1" smtClean="0">
                          <a:solidFill>
                            <a:schemeClr val="tx1"/>
                          </a:solidFill>
                          <a:latin typeface="Cambria Math" panose="02040503050406030204" pitchFamily="18" charset="0"/>
                          <a:ea typeface="Cambria Math" panose="02040503050406030204" pitchFamily="18" charset="0"/>
                        </a:rPr>
                        <m:t>(0)</m:t>
                      </m:r>
                    </m:oMath>
                  </m:oMathPara>
                </a14:m>
                <a:endParaRPr lang="en-US" sz="1400" dirty="0">
                  <a:solidFill>
                    <a:schemeClr val="tx1"/>
                  </a:solidFill>
                </a:endParaRPr>
              </a:p>
            </p:txBody>
          </p:sp>
        </mc:Choice>
        <mc:Fallback xmlns="">
          <p:sp>
            <p:nvSpPr>
              <p:cNvPr id="4" name="TextBox 3">
                <a:extLst>
                  <a:ext uri="{FF2B5EF4-FFF2-40B4-BE49-F238E27FC236}">
                    <a16:creationId xmlns:a16="http://schemas.microsoft.com/office/drawing/2014/main" id="{65B5805E-7D75-7215-A997-2F571F2C1F8C}"/>
                  </a:ext>
                </a:extLst>
              </p:cNvPr>
              <p:cNvSpPr txBox="1">
                <a:spLocks noRot="1" noChangeAspect="1" noMove="1" noResize="1" noEditPoints="1" noAdjustHandles="1" noChangeArrowheads="1" noChangeShapeType="1" noTextEdit="1"/>
              </p:cNvSpPr>
              <p:nvPr/>
            </p:nvSpPr>
            <p:spPr>
              <a:xfrm>
                <a:off x="1707874" y="4129906"/>
                <a:ext cx="9079396" cy="1349280"/>
              </a:xfrm>
              <a:prstGeom prst="rect">
                <a:avLst/>
              </a:prstGeom>
              <a:blipFill>
                <a:blip r:embed="rId8"/>
                <a:stretch>
                  <a:fillRect t="-96296" b="-1481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F6208274-7FE8-31D3-590A-B6E6DF311C71}"/>
                  </a:ext>
                </a:extLst>
              </p:cNvPr>
              <p:cNvSpPr txBox="1"/>
              <p:nvPr/>
            </p:nvSpPr>
            <p:spPr>
              <a:xfrm>
                <a:off x="7606747" y="119270"/>
                <a:ext cx="4359966" cy="1015663"/>
              </a:xfrm>
              <a:prstGeom prst="rect">
                <a:avLst/>
              </a:prstGeom>
              <a:noFill/>
            </p:spPr>
            <p:txBody>
              <a:bodyPr wrap="square" rtlCol="0">
                <a:spAutoFit/>
              </a:bodyPr>
              <a:lstStyle/>
              <a:p>
                <a:pPr algn="r"/>
                <a:r>
                  <a:rPr lang="en-US" sz="2000" dirty="0">
                    <a:solidFill>
                      <a:schemeClr val="accent5"/>
                    </a:solidFill>
                  </a:rPr>
                  <a:t>Say we choose </a:t>
                </a:r>
                <a14:m>
                  <m:oMath xmlns:m="http://schemas.openxmlformats.org/officeDocument/2006/math">
                    <m:sSub>
                      <m:sSubPr>
                        <m:ctrlPr>
                          <a:rPr lang="en-US" sz="2000" b="0" i="1" smtClean="0">
                            <a:solidFill>
                              <a:schemeClr val="accent5"/>
                            </a:solidFill>
                            <a:latin typeface="Cambria Math" panose="02040503050406030204" pitchFamily="18" charset="0"/>
                          </a:rPr>
                        </m:ctrlPr>
                      </m:sSubPr>
                      <m:e>
                        <m:r>
                          <a:rPr lang="en-US" sz="2000" b="0" i="1" smtClean="0">
                            <a:solidFill>
                              <a:schemeClr val="accent5"/>
                            </a:solidFill>
                            <a:latin typeface="Cambria Math" panose="02040503050406030204" pitchFamily="18" charset="0"/>
                          </a:rPr>
                          <m:t>𝑁</m:t>
                        </m:r>
                      </m:e>
                      <m:sub>
                        <m:r>
                          <a:rPr lang="en-US" sz="2000" b="0" i="1" smtClean="0">
                            <a:solidFill>
                              <a:schemeClr val="accent5"/>
                            </a:solidFill>
                            <a:latin typeface="Cambria Math" panose="02040503050406030204" pitchFamily="18" charset="0"/>
                          </a:rPr>
                          <m:t>0</m:t>
                        </m:r>
                      </m:sub>
                    </m:sSub>
                  </m:oMath>
                </a14:m>
                <a:r>
                  <a:rPr lang="en-US" sz="2000" dirty="0">
                    <a:solidFill>
                      <a:schemeClr val="accent5"/>
                    </a:solidFill>
                  </a:rPr>
                  <a:t> people at random for the control group, and </a:t>
                </a:r>
                <a14:m>
                  <m:oMath xmlns:m="http://schemas.openxmlformats.org/officeDocument/2006/math">
                    <m:sSub>
                      <m:sSubPr>
                        <m:ctrlPr>
                          <a:rPr lang="en-US" sz="2000" b="0" i="1" smtClean="0">
                            <a:solidFill>
                              <a:schemeClr val="accent5"/>
                            </a:solidFill>
                            <a:latin typeface="Cambria Math" panose="02040503050406030204" pitchFamily="18" charset="0"/>
                          </a:rPr>
                        </m:ctrlPr>
                      </m:sSubPr>
                      <m:e>
                        <m:r>
                          <a:rPr lang="en-US" sz="2000" b="0" i="1" smtClean="0">
                            <a:solidFill>
                              <a:schemeClr val="accent5"/>
                            </a:solidFill>
                            <a:latin typeface="Cambria Math" panose="02040503050406030204" pitchFamily="18" charset="0"/>
                          </a:rPr>
                          <m:t>𝑁</m:t>
                        </m:r>
                      </m:e>
                      <m:sub>
                        <m:r>
                          <a:rPr lang="en-US" sz="2000" b="0" i="1" smtClean="0">
                            <a:solidFill>
                              <a:schemeClr val="accent5"/>
                            </a:solidFill>
                            <a:latin typeface="Cambria Math" panose="02040503050406030204" pitchFamily="18" charset="0"/>
                          </a:rPr>
                          <m:t>1</m:t>
                        </m:r>
                      </m:sub>
                    </m:sSub>
                  </m:oMath>
                </a14:m>
                <a:r>
                  <a:rPr lang="en-US" sz="2000" dirty="0">
                    <a:solidFill>
                      <a:schemeClr val="accent5"/>
                    </a:solidFill>
                  </a:rPr>
                  <a:t> people at random for the treatment group.</a:t>
                </a:r>
              </a:p>
            </p:txBody>
          </p:sp>
        </mc:Choice>
        <mc:Fallback xmlns="">
          <p:sp>
            <p:nvSpPr>
              <p:cNvPr id="5" name="TextBox 4">
                <a:extLst>
                  <a:ext uri="{FF2B5EF4-FFF2-40B4-BE49-F238E27FC236}">
                    <a16:creationId xmlns:a16="http://schemas.microsoft.com/office/drawing/2014/main" id="{F6208274-7FE8-31D3-590A-B6E6DF311C71}"/>
                  </a:ext>
                </a:extLst>
              </p:cNvPr>
              <p:cNvSpPr txBox="1">
                <a:spLocks noRot="1" noChangeAspect="1" noMove="1" noResize="1" noEditPoints="1" noAdjustHandles="1" noChangeArrowheads="1" noChangeShapeType="1" noTextEdit="1"/>
              </p:cNvSpPr>
              <p:nvPr/>
            </p:nvSpPr>
            <p:spPr>
              <a:xfrm>
                <a:off x="7606747" y="119270"/>
                <a:ext cx="4359966" cy="1015663"/>
              </a:xfrm>
              <a:prstGeom prst="rect">
                <a:avLst/>
              </a:prstGeom>
              <a:blipFill>
                <a:blip r:embed="rId9"/>
                <a:stretch>
                  <a:fillRect l="-1453" t="-2469" r="-2616" b="-9877"/>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1A000D6D-4900-FAA8-8200-09AA58DE0929}"/>
              </a:ext>
            </a:extLst>
          </p:cNvPr>
          <p:cNvSpPr txBox="1"/>
          <p:nvPr/>
        </p:nvSpPr>
        <p:spPr>
          <a:xfrm>
            <a:off x="10711070" y="4481380"/>
            <a:ext cx="1643270" cy="646331"/>
          </a:xfrm>
          <a:prstGeom prst="rect">
            <a:avLst/>
          </a:prstGeom>
          <a:noFill/>
        </p:spPr>
        <p:txBody>
          <a:bodyPr wrap="square" rtlCol="0">
            <a:spAutoFit/>
          </a:bodyPr>
          <a:lstStyle/>
          <a:p>
            <a:r>
              <a:rPr lang="en-US" dirty="0">
                <a:solidFill>
                  <a:schemeClr val="accent5"/>
                </a:solidFill>
              </a:rPr>
              <a:t>Linearity of Expectation!</a:t>
            </a:r>
          </a:p>
        </p:txBody>
      </p:sp>
    </p:spTree>
    <p:extLst>
      <p:ext uri="{BB962C8B-B14F-4D97-AF65-F5344CB8AC3E}">
        <p14:creationId xmlns:p14="http://schemas.microsoft.com/office/powerpoint/2010/main" val="39205189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786C3BBC-3DAA-0925-FC14-7991DF65539C}"/>
                  </a:ext>
                </a:extLst>
              </p:cNvPr>
              <p:cNvSpPr>
                <a:spLocks noGrp="1"/>
              </p:cNvSpPr>
              <p:nvPr>
                <p:ph type="title"/>
              </p:nvPr>
            </p:nvSpPr>
            <p:spPr/>
            <p:txBody>
              <a:bodyPr/>
              <a:lstStyle/>
              <a:p>
                <a:r>
                  <a:rPr lang="en-US" dirty="0"/>
                  <a:t>Why does </a:t>
                </a:r>
                <a14:m>
                  <m:oMath xmlns:m="http://schemas.openxmlformats.org/officeDocument/2006/math">
                    <m:r>
                      <a:rPr lang="en-US" i="1" smtClean="0">
                        <a:latin typeface="Cambria Math" panose="02040503050406030204" pitchFamily="18" charset="0"/>
                        <a:ea typeface="Cambria Math" panose="02040503050406030204" pitchFamily="18" charset="0"/>
                      </a:rPr>
                      <m:t>𝔼</m:t>
                    </m:r>
                    <m:d>
                      <m:dPr>
                        <m:begChr m:val="["/>
                        <m:endChr m:val="]"/>
                        <m:ctrlPr>
                          <a:rPr lang="en-US" b="0" i="1" smtClean="0">
                            <a:latin typeface="Cambria Math" panose="02040503050406030204" pitchFamily="18" charset="0"/>
                            <a:ea typeface="Cambria Math" panose="02040503050406030204" pitchFamily="18" charset="0"/>
                          </a:rPr>
                        </m:ctrlPr>
                      </m:dPr>
                      <m:e>
                        <m:acc>
                          <m:accPr>
                            <m:chr m:val="̂"/>
                            <m:ctrlPr>
                              <a:rPr lang="en-US" b="0" i="1" smtClean="0">
                                <a:latin typeface="Cambria Math" panose="02040503050406030204" pitchFamily="18" charset="0"/>
                                <a:ea typeface="Cambria Math" panose="02040503050406030204" pitchFamily="18" charset="0"/>
                              </a:rPr>
                            </m:ctrlPr>
                          </m:accPr>
                          <m:e>
                            <m:r>
                              <a:rPr lang="en-US" b="0" i="1" smtClean="0">
                                <a:latin typeface="Cambria Math" panose="02040503050406030204" pitchFamily="18" charset="0"/>
                                <a:ea typeface="Cambria Math" panose="02040503050406030204" pitchFamily="18" charset="0"/>
                              </a:rPr>
                              <m:t>𝜏</m:t>
                            </m:r>
                          </m:e>
                        </m:acc>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𝜏</m:t>
                    </m:r>
                  </m:oMath>
                </a14:m>
                <a:r>
                  <a:rPr lang="en-US" dirty="0"/>
                  <a:t>?</a:t>
                </a:r>
              </a:p>
            </p:txBody>
          </p:sp>
        </mc:Choice>
        <mc:Fallback xmlns="">
          <p:sp>
            <p:nvSpPr>
              <p:cNvPr id="2" name="Title 1">
                <a:extLst>
                  <a:ext uri="{FF2B5EF4-FFF2-40B4-BE49-F238E27FC236}">
                    <a16:creationId xmlns:a16="http://schemas.microsoft.com/office/drawing/2014/main" id="{786C3BBC-3DAA-0925-FC14-7991DF65539C}"/>
                  </a:ext>
                </a:extLst>
              </p:cNvPr>
              <p:cNvSpPr>
                <a:spLocks noGrp="1" noRot="1" noChangeAspect="1" noMove="1" noResize="1" noEditPoints="1" noAdjustHandles="1" noChangeArrowheads="1" noChangeShapeType="1" noTextEdit="1"/>
              </p:cNvSpPr>
              <p:nvPr>
                <p:ph type="title"/>
              </p:nvPr>
            </p:nvSpPr>
            <p:spPr>
              <a:blipFill>
                <a:blip r:embed="rId3"/>
                <a:stretch>
                  <a:fillRect l="-241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85BCF22E-4076-2A34-819D-2FBAC5BB70B6}"/>
                  </a:ext>
                </a:extLst>
              </p:cNvPr>
              <p:cNvSpPr txBox="1"/>
              <p:nvPr/>
            </p:nvSpPr>
            <p:spPr>
              <a:xfrm>
                <a:off x="1509091" y="1654617"/>
                <a:ext cx="6097656" cy="1036630"/>
              </a:xfrm>
              <a:prstGeom prst="rect">
                <a:avLst/>
              </a:prstGeom>
              <a:noFill/>
            </p:spPr>
            <p:txBody>
              <a:bodyPr wrap="square">
                <a:spAutoFit/>
              </a:bodyPr>
              <a:lstStyle/>
              <a:p>
                <a:pPr marL="0" indent="0" algn="ctr">
                  <a:buNone/>
                </a:pPr>
                <a14:m>
                  <m:oMathPara xmlns:m="http://schemas.openxmlformats.org/officeDocument/2006/math">
                    <m:oMathParaPr>
                      <m:jc m:val="centerGroup"/>
                    </m:oMathParaPr>
                    <m:oMath xmlns:m="http://schemas.openxmlformats.org/officeDocument/2006/math">
                      <m:acc>
                        <m:accPr>
                          <m:chr m:val="̂"/>
                          <m:ctrlPr>
                            <a:rPr lang="en-US" sz="2400" b="0" i="1" smtClean="0">
                              <a:latin typeface="Cambria Math" panose="02040503050406030204" pitchFamily="18" charset="0"/>
                            </a:rPr>
                          </m:ctrlPr>
                        </m:accPr>
                        <m:e>
                          <m:r>
                            <a:rPr lang="en-US" sz="2400" b="0" i="1" smtClean="0">
                              <a:latin typeface="Cambria Math" panose="02040503050406030204" pitchFamily="18" charset="0"/>
                            </a:rPr>
                            <m:t>𝜏</m:t>
                          </m:r>
                        </m:e>
                      </m:acc>
                      <m:r>
                        <a:rPr lang="en-US" sz="2400" b="0" i="1" smtClean="0">
                          <a:latin typeface="Cambria Math" panose="02040503050406030204" pitchFamily="18" charset="0"/>
                        </a:rPr>
                        <m:t>  </m:t>
                      </m:r>
                      <m:r>
                        <a:rPr lang="en-US" sz="2400" b="0" i="1" dirty="0" smtClean="0">
                          <a:latin typeface="Cambria Math" panose="02040503050406030204" pitchFamily="18" charset="0"/>
                        </a:rPr>
                        <m:t>=          </m:t>
                      </m:r>
                      <m:f>
                        <m:fPr>
                          <m:ctrlPr>
                            <a:rPr lang="en-US" sz="2400" b="0" i="1" dirty="0" smtClean="0">
                              <a:latin typeface="Cambria Math" panose="02040503050406030204" pitchFamily="18" charset="0"/>
                            </a:rPr>
                          </m:ctrlPr>
                        </m:fPr>
                        <m:num>
                          <m:r>
                            <a:rPr lang="en-US" sz="2400" b="0" i="1" dirty="0" smtClean="0">
                              <a:latin typeface="Cambria Math" panose="02040503050406030204" pitchFamily="18" charset="0"/>
                            </a:rPr>
                            <m:t>1</m:t>
                          </m:r>
                        </m:num>
                        <m:den>
                          <m:sSub>
                            <m:sSubPr>
                              <m:ctrlPr>
                                <a:rPr lang="en-US" sz="2400" b="0" i="1" dirty="0" smtClean="0">
                                  <a:latin typeface="Cambria Math" panose="02040503050406030204" pitchFamily="18" charset="0"/>
                                </a:rPr>
                              </m:ctrlPr>
                            </m:sSubPr>
                            <m:e>
                              <m:r>
                                <a:rPr lang="en-US" sz="2400" b="0" i="1" dirty="0" smtClean="0">
                                  <a:latin typeface="Cambria Math" panose="02040503050406030204" pitchFamily="18" charset="0"/>
                                </a:rPr>
                                <m:t>𝑁</m:t>
                              </m:r>
                            </m:e>
                            <m:sub>
                              <m:r>
                                <a:rPr lang="en-US" sz="2400" b="0" i="1" dirty="0" smtClean="0">
                                  <a:latin typeface="Cambria Math" panose="02040503050406030204" pitchFamily="18" charset="0"/>
                                </a:rPr>
                                <m:t>1</m:t>
                              </m:r>
                            </m:sub>
                          </m:sSub>
                        </m:den>
                      </m:f>
                      <m:nary>
                        <m:naryPr>
                          <m:chr m:val="∑"/>
                          <m:supHide m:val="on"/>
                          <m:ctrlPr>
                            <a:rPr lang="en-US" sz="2400" b="0" i="1" dirty="0" smtClean="0">
                              <a:latin typeface="Cambria Math" panose="02040503050406030204" pitchFamily="18" charset="0"/>
                            </a:rPr>
                          </m:ctrlPr>
                        </m:naryPr>
                        <m:sub>
                          <m:r>
                            <m:rPr>
                              <m:brk m:alnAt="7"/>
                            </m:rPr>
                            <a:rPr lang="en-US" sz="2400" b="0" i="1" dirty="0" smtClean="0">
                              <a:latin typeface="Cambria Math" panose="02040503050406030204" pitchFamily="18" charset="0"/>
                            </a:rPr>
                            <m:t>𝑖</m:t>
                          </m:r>
                          <m:r>
                            <a:rPr lang="en-US" sz="2400" b="0" i="1" dirty="0" smtClean="0">
                              <a:latin typeface="Cambria Math" panose="02040503050406030204" pitchFamily="18" charset="0"/>
                            </a:rPr>
                            <m:t>:</m:t>
                          </m:r>
                          <m:sSub>
                            <m:sSubPr>
                              <m:ctrlPr>
                                <a:rPr lang="en-US" sz="2400" b="0" i="1" dirty="0" smtClean="0">
                                  <a:latin typeface="Cambria Math" panose="02040503050406030204" pitchFamily="18" charset="0"/>
                                </a:rPr>
                              </m:ctrlPr>
                            </m:sSubPr>
                            <m:e>
                              <m:r>
                                <m:rPr>
                                  <m:brk m:alnAt="7"/>
                                </m:rPr>
                                <a:rPr lang="en-US" sz="2400" b="0" i="1" dirty="0" smtClean="0">
                                  <a:latin typeface="Cambria Math" panose="02040503050406030204" pitchFamily="18" charset="0"/>
                                </a:rPr>
                                <m:t>𝑊</m:t>
                              </m:r>
                            </m:e>
                            <m:sub>
                              <m:r>
                                <m:rPr>
                                  <m:brk m:alnAt="7"/>
                                </m:rPr>
                                <a:rPr lang="en-US" sz="2400" b="0" i="1" dirty="0" smtClean="0">
                                  <a:latin typeface="Cambria Math" panose="02040503050406030204" pitchFamily="18" charset="0"/>
                                </a:rPr>
                                <m:t>𝑖</m:t>
                              </m:r>
                            </m:sub>
                          </m:sSub>
                          <m:r>
                            <m:rPr>
                              <m:brk m:alnAt="7"/>
                            </m:rPr>
                            <a:rPr lang="en-US" sz="2400" b="0" i="1" dirty="0" smtClean="0">
                              <a:latin typeface="Cambria Math" panose="02040503050406030204" pitchFamily="18" charset="0"/>
                            </a:rPr>
                            <m:t>=</m:t>
                          </m:r>
                          <m:r>
                            <a:rPr lang="en-US" sz="2400" b="0" i="1" dirty="0" smtClean="0">
                              <a:latin typeface="Cambria Math" panose="02040503050406030204" pitchFamily="18" charset="0"/>
                            </a:rPr>
                            <m:t>1</m:t>
                          </m:r>
                        </m:sub>
                        <m:sup/>
                        <m:e>
                          <m:sSub>
                            <m:sSubPr>
                              <m:ctrlPr>
                                <a:rPr lang="en-US" sz="2400" b="0" i="1" dirty="0" smtClean="0">
                                  <a:latin typeface="Cambria Math" panose="02040503050406030204" pitchFamily="18" charset="0"/>
                                </a:rPr>
                              </m:ctrlPr>
                            </m:sSubPr>
                            <m:e>
                              <m:r>
                                <a:rPr lang="en-US" sz="2400" b="0" i="1" dirty="0" smtClean="0">
                                  <a:latin typeface="Cambria Math" panose="02040503050406030204" pitchFamily="18" charset="0"/>
                                </a:rPr>
                                <m:t>𝑌</m:t>
                              </m:r>
                            </m:e>
                            <m:sub>
                              <m:r>
                                <a:rPr lang="en-US" sz="2400" b="0" i="1" dirty="0" smtClean="0">
                                  <a:latin typeface="Cambria Math" panose="02040503050406030204" pitchFamily="18" charset="0"/>
                                </a:rPr>
                                <m:t>𝑖</m:t>
                              </m:r>
                            </m:sub>
                          </m:sSub>
                        </m:e>
                      </m:nary>
                      <m:r>
                        <a:rPr lang="en-US" sz="2400" b="0" i="1" dirty="0" smtClean="0">
                          <a:latin typeface="Cambria Math" panose="02040503050406030204" pitchFamily="18" charset="0"/>
                        </a:rPr>
                        <m:t>−</m:t>
                      </m:r>
                      <m:f>
                        <m:fPr>
                          <m:ctrlPr>
                            <a:rPr lang="en-US" sz="2400" b="0" i="1" dirty="0" smtClean="0">
                              <a:latin typeface="Cambria Math" panose="02040503050406030204" pitchFamily="18" charset="0"/>
                            </a:rPr>
                          </m:ctrlPr>
                        </m:fPr>
                        <m:num>
                          <m:r>
                            <a:rPr lang="en-US" sz="2400" b="0" i="1" dirty="0" smtClean="0">
                              <a:latin typeface="Cambria Math" panose="02040503050406030204" pitchFamily="18" charset="0"/>
                            </a:rPr>
                            <m:t>1</m:t>
                          </m:r>
                        </m:num>
                        <m:den>
                          <m:sSub>
                            <m:sSubPr>
                              <m:ctrlPr>
                                <a:rPr lang="en-US" sz="2400" b="0" i="1" dirty="0" smtClean="0">
                                  <a:latin typeface="Cambria Math" panose="02040503050406030204" pitchFamily="18" charset="0"/>
                                </a:rPr>
                              </m:ctrlPr>
                            </m:sSubPr>
                            <m:e>
                              <m:r>
                                <a:rPr lang="en-US" sz="2400" b="0" i="1" dirty="0" smtClean="0">
                                  <a:latin typeface="Cambria Math" panose="02040503050406030204" pitchFamily="18" charset="0"/>
                                </a:rPr>
                                <m:t>𝑁</m:t>
                              </m:r>
                            </m:e>
                            <m:sub>
                              <m:r>
                                <a:rPr lang="en-US" sz="2400" b="0" i="1" dirty="0" smtClean="0">
                                  <a:latin typeface="Cambria Math" panose="02040503050406030204" pitchFamily="18" charset="0"/>
                                </a:rPr>
                                <m:t>0</m:t>
                              </m:r>
                            </m:sub>
                          </m:sSub>
                        </m:den>
                      </m:f>
                      <m:nary>
                        <m:naryPr>
                          <m:chr m:val="∑"/>
                          <m:supHide m:val="on"/>
                          <m:ctrlPr>
                            <a:rPr lang="en-US" sz="2400" b="0" i="1" dirty="0" smtClean="0">
                              <a:latin typeface="Cambria Math" panose="02040503050406030204" pitchFamily="18" charset="0"/>
                            </a:rPr>
                          </m:ctrlPr>
                        </m:naryPr>
                        <m:sub>
                          <m:r>
                            <m:rPr>
                              <m:brk m:alnAt="7"/>
                            </m:rPr>
                            <a:rPr lang="en-US" sz="2400" b="0" i="1" dirty="0" smtClean="0">
                              <a:latin typeface="Cambria Math" panose="02040503050406030204" pitchFamily="18" charset="0"/>
                            </a:rPr>
                            <m:t>𝑖</m:t>
                          </m:r>
                          <m:r>
                            <a:rPr lang="en-US" sz="2400" b="0" i="1" dirty="0" smtClean="0">
                              <a:latin typeface="Cambria Math" panose="02040503050406030204" pitchFamily="18" charset="0"/>
                            </a:rPr>
                            <m:t>:</m:t>
                          </m:r>
                          <m:sSub>
                            <m:sSubPr>
                              <m:ctrlPr>
                                <a:rPr lang="en-US" sz="2400" b="0" i="1" dirty="0" smtClean="0">
                                  <a:latin typeface="Cambria Math" panose="02040503050406030204" pitchFamily="18" charset="0"/>
                                </a:rPr>
                              </m:ctrlPr>
                            </m:sSubPr>
                            <m:e>
                              <m:r>
                                <m:rPr>
                                  <m:brk m:alnAt="7"/>
                                </m:rPr>
                                <a:rPr lang="en-US" sz="2400" b="0" i="1" dirty="0" smtClean="0">
                                  <a:latin typeface="Cambria Math" panose="02040503050406030204" pitchFamily="18" charset="0"/>
                                </a:rPr>
                                <m:t>𝑊</m:t>
                              </m:r>
                            </m:e>
                            <m:sub>
                              <m:r>
                                <m:rPr>
                                  <m:brk m:alnAt="7"/>
                                </m:rPr>
                                <a:rPr lang="en-US" sz="2400" b="0" i="1" dirty="0" smtClean="0">
                                  <a:latin typeface="Cambria Math" panose="02040503050406030204" pitchFamily="18" charset="0"/>
                                </a:rPr>
                                <m:t>𝑖</m:t>
                              </m:r>
                            </m:sub>
                          </m:sSub>
                          <m:r>
                            <m:rPr>
                              <m:brk m:alnAt="7"/>
                            </m:rPr>
                            <a:rPr lang="en-US" sz="2400" b="0" i="1" dirty="0" smtClean="0">
                              <a:latin typeface="Cambria Math" panose="02040503050406030204" pitchFamily="18" charset="0"/>
                            </a:rPr>
                            <m:t>=</m:t>
                          </m:r>
                          <m:r>
                            <a:rPr lang="en-US" sz="2400" b="0" i="1" dirty="0" smtClean="0">
                              <a:latin typeface="Cambria Math" panose="02040503050406030204" pitchFamily="18" charset="0"/>
                            </a:rPr>
                            <m:t>0</m:t>
                          </m:r>
                        </m:sub>
                        <m:sup/>
                        <m:e>
                          <m:sSub>
                            <m:sSubPr>
                              <m:ctrlPr>
                                <a:rPr lang="en-US" sz="2400" b="0" i="1" dirty="0" smtClean="0">
                                  <a:latin typeface="Cambria Math" panose="02040503050406030204" pitchFamily="18" charset="0"/>
                                </a:rPr>
                              </m:ctrlPr>
                            </m:sSubPr>
                            <m:e>
                              <m:r>
                                <a:rPr lang="en-US" sz="2400" b="0" i="1" dirty="0" smtClean="0">
                                  <a:latin typeface="Cambria Math" panose="02040503050406030204" pitchFamily="18" charset="0"/>
                                </a:rPr>
                                <m:t>𝑌</m:t>
                              </m:r>
                            </m:e>
                            <m:sub>
                              <m:r>
                                <a:rPr lang="en-US" sz="2400" b="0" i="1" dirty="0" smtClean="0">
                                  <a:latin typeface="Cambria Math" panose="02040503050406030204" pitchFamily="18" charset="0"/>
                                </a:rPr>
                                <m:t>𝑖</m:t>
                              </m:r>
                            </m:sub>
                          </m:sSub>
                        </m:e>
                      </m:nary>
                    </m:oMath>
                  </m:oMathPara>
                </a14:m>
                <a:endParaRPr lang="en-US" sz="2400" dirty="0"/>
              </a:p>
            </p:txBody>
          </p:sp>
        </mc:Choice>
        <mc:Fallback xmlns="">
          <p:sp>
            <p:nvSpPr>
              <p:cNvPr id="6" name="TextBox 5">
                <a:extLst>
                  <a:ext uri="{FF2B5EF4-FFF2-40B4-BE49-F238E27FC236}">
                    <a16:creationId xmlns:a16="http://schemas.microsoft.com/office/drawing/2014/main" id="{85BCF22E-4076-2A34-819D-2FBAC5BB70B6}"/>
                  </a:ext>
                </a:extLst>
              </p:cNvPr>
              <p:cNvSpPr txBox="1">
                <a:spLocks noRot="1" noChangeAspect="1" noMove="1" noResize="1" noEditPoints="1" noAdjustHandles="1" noChangeArrowheads="1" noChangeShapeType="1" noTextEdit="1"/>
              </p:cNvSpPr>
              <p:nvPr/>
            </p:nvSpPr>
            <p:spPr>
              <a:xfrm>
                <a:off x="1509091" y="1654617"/>
                <a:ext cx="6097656" cy="1036630"/>
              </a:xfrm>
              <a:prstGeom prst="rect">
                <a:avLst/>
              </a:prstGeom>
              <a:blipFill>
                <a:blip r:embed="rId4"/>
                <a:stretch>
                  <a:fillRect t="-125610" b="-16829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0CD1686E-3EDC-5EBE-A5A2-56EC23CA6EE2}"/>
                  </a:ext>
                </a:extLst>
              </p:cNvPr>
              <p:cNvSpPr txBox="1"/>
              <p:nvPr/>
            </p:nvSpPr>
            <p:spPr>
              <a:xfrm>
                <a:off x="1707874" y="1770254"/>
                <a:ext cx="1033670" cy="64633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3600" i="1" smtClean="0">
                          <a:solidFill>
                            <a:schemeClr val="tx1"/>
                          </a:solidFill>
                          <a:latin typeface="Cambria Math" panose="02040503050406030204" pitchFamily="18" charset="0"/>
                          <a:ea typeface="Cambria Math" panose="02040503050406030204" pitchFamily="18" charset="0"/>
                        </a:rPr>
                        <m:t>𝔼</m:t>
                      </m:r>
                      <m:r>
                        <a:rPr lang="en-US" sz="3600" b="0" i="1" smtClean="0">
                          <a:solidFill>
                            <a:schemeClr val="tx1"/>
                          </a:solidFill>
                          <a:latin typeface="Cambria Math" panose="02040503050406030204" pitchFamily="18" charset="0"/>
                          <a:ea typeface="Cambria Math" panose="02040503050406030204" pitchFamily="18" charset="0"/>
                        </a:rPr>
                        <m:t>[  ]</m:t>
                      </m:r>
                    </m:oMath>
                  </m:oMathPara>
                </a14:m>
                <a:endParaRPr lang="en-US" dirty="0">
                  <a:solidFill>
                    <a:schemeClr val="tx1"/>
                  </a:solidFill>
                </a:endParaRPr>
              </a:p>
            </p:txBody>
          </p:sp>
        </mc:Choice>
        <mc:Fallback xmlns="">
          <p:sp>
            <p:nvSpPr>
              <p:cNvPr id="8" name="TextBox 7">
                <a:extLst>
                  <a:ext uri="{FF2B5EF4-FFF2-40B4-BE49-F238E27FC236}">
                    <a16:creationId xmlns:a16="http://schemas.microsoft.com/office/drawing/2014/main" id="{0CD1686E-3EDC-5EBE-A5A2-56EC23CA6EE2}"/>
                  </a:ext>
                </a:extLst>
              </p:cNvPr>
              <p:cNvSpPr txBox="1">
                <a:spLocks noRot="1" noChangeAspect="1" noMove="1" noResize="1" noEditPoints="1" noAdjustHandles="1" noChangeArrowheads="1" noChangeShapeType="1" noTextEdit="1"/>
              </p:cNvSpPr>
              <p:nvPr/>
            </p:nvSpPr>
            <p:spPr>
              <a:xfrm>
                <a:off x="1707874" y="1770254"/>
                <a:ext cx="1033670" cy="646331"/>
              </a:xfrm>
              <a:prstGeom prst="rect">
                <a:avLst/>
              </a:prstGeom>
              <a:blipFill>
                <a:blip r:embed="rId5"/>
                <a:stretch>
                  <a:fillRect l="-3614" t="-1923" r="-8434" b="-2307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091A1BB7-10D1-70B1-AFFA-B15AD81052DD}"/>
                  </a:ext>
                </a:extLst>
              </p:cNvPr>
              <p:cNvSpPr txBox="1"/>
              <p:nvPr/>
            </p:nvSpPr>
            <p:spPr>
              <a:xfrm>
                <a:off x="2940327" y="1770209"/>
                <a:ext cx="1033670" cy="64633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3600" i="1" smtClean="0">
                          <a:solidFill>
                            <a:schemeClr val="tx1"/>
                          </a:solidFill>
                          <a:latin typeface="Cambria Math" panose="02040503050406030204" pitchFamily="18" charset="0"/>
                          <a:ea typeface="Cambria Math" panose="02040503050406030204" pitchFamily="18" charset="0"/>
                        </a:rPr>
                        <m:t>𝔼</m:t>
                      </m:r>
                      <m:r>
                        <a:rPr lang="en-US" sz="3600" b="0" i="1" smtClean="0">
                          <a:solidFill>
                            <a:schemeClr val="tx1"/>
                          </a:solidFill>
                          <a:latin typeface="Cambria Math" panose="02040503050406030204" pitchFamily="18" charset="0"/>
                          <a:ea typeface="Cambria Math" panose="02040503050406030204" pitchFamily="18" charset="0"/>
                        </a:rPr>
                        <m:t>[                                  ]</m:t>
                      </m:r>
                    </m:oMath>
                  </m:oMathPara>
                </a14:m>
                <a:endParaRPr lang="en-US" dirty="0">
                  <a:solidFill>
                    <a:schemeClr val="tx1"/>
                  </a:solidFill>
                </a:endParaRPr>
              </a:p>
            </p:txBody>
          </p:sp>
        </mc:Choice>
        <mc:Fallback xmlns="">
          <p:sp>
            <p:nvSpPr>
              <p:cNvPr id="9" name="TextBox 8">
                <a:extLst>
                  <a:ext uri="{FF2B5EF4-FFF2-40B4-BE49-F238E27FC236}">
                    <a16:creationId xmlns:a16="http://schemas.microsoft.com/office/drawing/2014/main" id="{091A1BB7-10D1-70B1-AFFA-B15AD81052DD}"/>
                  </a:ext>
                </a:extLst>
              </p:cNvPr>
              <p:cNvSpPr txBox="1">
                <a:spLocks noRot="1" noChangeAspect="1" noMove="1" noResize="1" noEditPoints="1" noAdjustHandles="1" noChangeArrowheads="1" noChangeShapeType="1" noTextEdit="1"/>
              </p:cNvSpPr>
              <p:nvPr/>
            </p:nvSpPr>
            <p:spPr>
              <a:xfrm>
                <a:off x="2940327" y="1770209"/>
                <a:ext cx="1033670" cy="646331"/>
              </a:xfrm>
              <a:prstGeom prst="rect">
                <a:avLst/>
              </a:prstGeom>
              <a:blipFill>
                <a:blip r:embed="rId6"/>
                <a:stretch>
                  <a:fillRect l="-6098" t="-1923" r="-315854" b="-2307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5C58F4CF-CB8E-13D0-7127-37111CF73504}"/>
                  </a:ext>
                </a:extLst>
              </p:cNvPr>
              <p:cNvSpPr txBox="1"/>
              <p:nvPr/>
            </p:nvSpPr>
            <p:spPr>
              <a:xfrm>
                <a:off x="1707874" y="2793402"/>
                <a:ext cx="9079396" cy="130388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ea typeface="Cambria Math" panose="02040503050406030204" pitchFamily="18" charset="0"/>
                        </a:rPr>
                        <m:t>=</m:t>
                      </m:r>
                      <m:r>
                        <a:rPr lang="en-US" sz="2800" b="0" i="1" smtClean="0">
                          <a:solidFill>
                            <a:schemeClr val="tx1"/>
                          </a:solidFill>
                          <a:latin typeface="Cambria Math" panose="02040503050406030204" pitchFamily="18" charset="0"/>
                          <a:ea typeface="Cambria Math" panose="02040503050406030204" pitchFamily="18" charset="0"/>
                        </a:rPr>
                        <m:t>𝔼</m:t>
                      </m:r>
                      <m:d>
                        <m:dPr>
                          <m:begChr m:val="["/>
                          <m:endChr m:val="]"/>
                          <m:ctrlPr>
                            <a:rPr lang="en-US" sz="2800" b="0" i="1" smtClean="0">
                              <a:solidFill>
                                <a:schemeClr val="tx1"/>
                              </a:solidFill>
                              <a:latin typeface="Cambria Math" panose="02040503050406030204" pitchFamily="18" charset="0"/>
                              <a:ea typeface="Cambria Math" panose="02040503050406030204" pitchFamily="18" charset="0"/>
                            </a:rPr>
                          </m:ctrlPr>
                        </m:dPr>
                        <m:e>
                          <m:f>
                            <m:fPr>
                              <m:ctrlPr>
                                <a:rPr lang="en-US" sz="2800" b="0" i="1" smtClean="0">
                                  <a:solidFill>
                                    <a:schemeClr val="tx1"/>
                                  </a:solidFill>
                                  <a:latin typeface="Cambria Math" panose="02040503050406030204" pitchFamily="18" charset="0"/>
                                  <a:ea typeface="Cambria Math" panose="02040503050406030204" pitchFamily="18" charset="0"/>
                                </a:rPr>
                              </m:ctrlPr>
                            </m:fPr>
                            <m:num>
                              <m:r>
                                <a:rPr lang="en-US" sz="2800" b="0" i="1" smtClean="0">
                                  <a:solidFill>
                                    <a:schemeClr val="tx1"/>
                                  </a:solidFill>
                                  <a:latin typeface="Cambria Math" panose="02040503050406030204" pitchFamily="18" charset="0"/>
                                  <a:ea typeface="Cambria Math" panose="02040503050406030204" pitchFamily="18" charset="0"/>
                                </a:rPr>
                                <m:t>1</m:t>
                              </m:r>
                            </m:num>
                            <m:den>
                              <m:sSub>
                                <m:sSubPr>
                                  <m:ctrlPr>
                                    <a:rPr lang="en-US" sz="2800" b="0" i="1" smtClean="0">
                                      <a:solidFill>
                                        <a:schemeClr val="tx1"/>
                                      </a:solidFill>
                                      <a:latin typeface="Cambria Math" panose="02040503050406030204" pitchFamily="18" charset="0"/>
                                      <a:ea typeface="Cambria Math" panose="02040503050406030204" pitchFamily="18" charset="0"/>
                                    </a:rPr>
                                  </m:ctrlPr>
                                </m:sSubPr>
                                <m:e>
                                  <m:r>
                                    <a:rPr lang="en-US" sz="2800" b="0" i="1" smtClean="0">
                                      <a:solidFill>
                                        <a:schemeClr val="tx1"/>
                                      </a:solidFill>
                                      <a:latin typeface="Cambria Math" panose="02040503050406030204" pitchFamily="18" charset="0"/>
                                      <a:ea typeface="Cambria Math" panose="02040503050406030204" pitchFamily="18" charset="0"/>
                                    </a:rPr>
                                    <m:t>𝑁</m:t>
                                  </m:r>
                                </m:e>
                                <m:sub>
                                  <m:r>
                                    <a:rPr lang="en-US" sz="2800" b="0" i="1" smtClean="0">
                                      <a:solidFill>
                                        <a:schemeClr val="tx1"/>
                                      </a:solidFill>
                                      <a:latin typeface="Cambria Math" panose="02040503050406030204" pitchFamily="18" charset="0"/>
                                      <a:ea typeface="Cambria Math" panose="02040503050406030204" pitchFamily="18" charset="0"/>
                                    </a:rPr>
                                    <m:t>1</m:t>
                                  </m:r>
                                </m:sub>
                              </m:sSub>
                            </m:den>
                          </m:f>
                          <m:nary>
                            <m:naryPr>
                              <m:chr m:val="∑"/>
                              <m:ctrlPr>
                                <a:rPr lang="en-US" sz="2800" b="0" i="1" smtClean="0">
                                  <a:solidFill>
                                    <a:schemeClr val="tx1"/>
                                  </a:solidFill>
                                  <a:latin typeface="Cambria Math" panose="02040503050406030204" pitchFamily="18" charset="0"/>
                                  <a:ea typeface="Cambria Math" panose="02040503050406030204" pitchFamily="18" charset="0"/>
                                </a:rPr>
                              </m:ctrlPr>
                            </m:naryPr>
                            <m:sub>
                              <m:r>
                                <m:rPr>
                                  <m:brk m:alnAt="23"/>
                                </m:rPr>
                                <a:rPr lang="en-US" sz="2800" b="0" i="1" smtClean="0">
                                  <a:solidFill>
                                    <a:schemeClr val="tx1"/>
                                  </a:solidFill>
                                  <a:latin typeface="Cambria Math" panose="02040503050406030204" pitchFamily="18" charset="0"/>
                                  <a:ea typeface="Cambria Math" panose="02040503050406030204" pitchFamily="18" charset="0"/>
                                </a:rPr>
                                <m:t>𝑖</m:t>
                              </m:r>
                              <m:r>
                                <a:rPr lang="en-US" sz="2800" b="0" i="1" smtClean="0">
                                  <a:solidFill>
                                    <a:schemeClr val="tx1"/>
                                  </a:solidFill>
                                  <a:latin typeface="Cambria Math" panose="02040503050406030204" pitchFamily="18" charset="0"/>
                                  <a:ea typeface="Cambria Math" panose="02040503050406030204" pitchFamily="18" charset="0"/>
                                </a:rPr>
                                <m:t>=1</m:t>
                              </m:r>
                            </m:sub>
                            <m:sup>
                              <m:r>
                                <a:rPr lang="en-US" sz="2800" b="0" i="1" smtClean="0">
                                  <a:solidFill>
                                    <a:schemeClr val="tx1"/>
                                  </a:solidFill>
                                  <a:latin typeface="Cambria Math" panose="02040503050406030204" pitchFamily="18" charset="0"/>
                                  <a:ea typeface="Cambria Math" panose="02040503050406030204" pitchFamily="18" charset="0"/>
                                </a:rPr>
                                <m:t>𝑁</m:t>
                              </m:r>
                            </m:sup>
                            <m:e>
                              <m:r>
                                <a:rPr lang="en-US" sz="2800" b="1" i="1" smtClean="0">
                                  <a:solidFill>
                                    <a:schemeClr val="tx1"/>
                                  </a:solidFill>
                                  <a:latin typeface="Cambria Math" panose="02040503050406030204" pitchFamily="18" charset="0"/>
                                  <a:ea typeface="Cambria Math" panose="02040503050406030204" pitchFamily="18" charset="0"/>
                                </a:rPr>
                                <m:t>𝟏</m:t>
                              </m:r>
                              <m:d>
                                <m:dPr>
                                  <m:begChr m:val="["/>
                                  <m:endChr m:val="]"/>
                                  <m:ctrlPr>
                                    <a:rPr lang="en-US" sz="2800" b="0" i="1" smtClean="0">
                                      <a:solidFill>
                                        <a:schemeClr val="tx1"/>
                                      </a:solidFill>
                                      <a:latin typeface="Cambria Math" panose="02040503050406030204" pitchFamily="18" charset="0"/>
                                      <a:ea typeface="Cambria Math" panose="02040503050406030204" pitchFamily="18" charset="0"/>
                                    </a:rPr>
                                  </m:ctrlPr>
                                </m:dPr>
                                <m:e>
                                  <m:sSub>
                                    <m:sSubPr>
                                      <m:ctrlPr>
                                        <a:rPr lang="en-US" sz="2800" b="0" i="1" smtClean="0">
                                          <a:solidFill>
                                            <a:schemeClr val="tx1"/>
                                          </a:solidFill>
                                          <a:latin typeface="Cambria Math" panose="02040503050406030204" pitchFamily="18" charset="0"/>
                                          <a:ea typeface="Cambria Math" panose="02040503050406030204" pitchFamily="18" charset="0"/>
                                        </a:rPr>
                                      </m:ctrlPr>
                                    </m:sSubPr>
                                    <m:e>
                                      <m:r>
                                        <a:rPr lang="en-US" sz="2800" b="0" i="1" smtClean="0">
                                          <a:solidFill>
                                            <a:schemeClr val="tx1"/>
                                          </a:solidFill>
                                          <a:latin typeface="Cambria Math" panose="02040503050406030204" pitchFamily="18" charset="0"/>
                                          <a:ea typeface="Cambria Math" panose="02040503050406030204" pitchFamily="18" charset="0"/>
                                        </a:rPr>
                                        <m:t>𝑊</m:t>
                                      </m:r>
                                    </m:e>
                                    <m:sub>
                                      <m:r>
                                        <a:rPr lang="en-US" sz="2800" b="0" i="1" smtClean="0">
                                          <a:solidFill>
                                            <a:schemeClr val="tx1"/>
                                          </a:solidFill>
                                          <a:latin typeface="Cambria Math" panose="02040503050406030204" pitchFamily="18" charset="0"/>
                                          <a:ea typeface="Cambria Math" panose="02040503050406030204" pitchFamily="18" charset="0"/>
                                        </a:rPr>
                                        <m:t>𝑖</m:t>
                                      </m:r>
                                    </m:sub>
                                  </m:sSub>
                                  <m:r>
                                    <a:rPr lang="en-US" sz="2800" b="0" i="1" smtClean="0">
                                      <a:solidFill>
                                        <a:schemeClr val="tx1"/>
                                      </a:solidFill>
                                      <a:latin typeface="Cambria Math" panose="02040503050406030204" pitchFamily="18" charset="0"/>
                                      <a:ea typeface="Cambria Math" panose="02040503050406030204" pitchFamily="18" charset="0"/>
                                    </a:rPr>
                                    <m:t>=1</m:t>
                                  </m:r>
                                </m:e>
                              </m:d>
                              <m:sSub>
                                <m:sSubPr>
                                  <m:ctrlPr>
                                    <a:rPr lang="en-US" sz="2800" b="0" i="1" smtClean="0">
                                      <a:solidFill>
                                        <a:schemeClr val="tx1"/>
                                      </a:solidFill>
                                      <a:latin typeface="Cambria Math" panose="02040503050406030204" pitchFamily="18" charset="0"/>
                                      <a:ea typeface="Cambria Math" panose="02040503050406030204" pitchFamily="18" charset="0"/>
                                    </a:rPr>
                                  </m:ctrlPr>
                                </m:sSubPr>
                                <m:e>
                                  <m:r>
                                    <a:rPr lang="en-US" sz="2800" b="0" i="1" smtClean="0">
                                      <a:solidFill>
                                        <a:schemeClr val="tx1"/>
                                      </a:solidFill>
                                      <a:latin typeface="Cambria Math" panose="02040503050406030204" pitchFamily="18" charset="0"/>
                                      <a:ea typeface="Cambria Math" panose="02040503050406030204" pitchFamily="18" charset="0"/>
                                    </a:rPr>
                                    <m:t>𝑌</m:t>
                                  </m:r>
                                </m:e>
                                <m:sub>
                                  <m:r>
                                    <a:rPr lang="en-US" sz="2800" b="0" i="1" smtClean="0">
                                      <a:solidFill>
                                        <a:schemeClr val="tx1"/>
                                      </a:solidFill>
                                      <a:latin typeface="Cambria Math" panose="02040503050406030204" pitchFamily="18" charset="0"/>
                                      <a:ea typeface="Cambria Math" panose="02040503050406030204" pitchFamily="18" charset="0"/>
                                    </a:rPr>
                                    <m:t>𝑖</m:t>
                                  </m:r>
                                </m:sub>
                              </m:sSub>
                              <m:r>
                                <a:rPr lang="en-US" sz="2800" b="0" i="1" smtClean="0">
                                  <a:solidFill>
                                    <a:schemeClr val="tx1"/>
                                  </a:solidFill>
                                  <a:latin typeface="Cambria Math" panose="02040503050406030204" pitchFamily="18" charset="0"/>
                                  <a:ea typeface="Cambria Math" panose="02040503050406030204" pitchFamily="18" charset="0"/>
                                </a:rPr>
                                <m:t>(1) −</m:t>
                              </m:r>
                              <m:f>
                                <m:fPr>
                                  <m:ctrlPr>
                                    <a:rPr lang="en-US" sz="2800" b="0" i="1" smtClean="0">
                                      <a:solidFill>
                                        <a:schemeClr val="tx1"/>
                                      </a:solidFill>
                                      <a:latin typeface="Cambria Math" panose="02040503050406030204" pitchFamily="18" charset="0"/>
                                      <a:ea typeface="Cambria Math" panose="02040503050406030204" pitchFamily="18" charset="0"/>
                                    </a:rPr>
                                  </m:ctrlPr>
                                </m:fPr>
                                <m:num>
                                  <m:r>
                                    <a:rPr lang="en-US" sz="2800" b="0" i="1" smtClean="0">
                                      <a:solidFill>
                                        <a:schemeClr val="tx1"/>
                                      </a:solidFill>
                                      <a:latin typeface="Cambria Math" panose="02040503050406030204" pitchFamily="18" charset="0"/>
                                      <a:ea typeface="Cambria Math" panose="02040503050406030204" pitchFamily="18" charset="0"/>
                                    </a:rPr>
                                    <m:t>1</m:t>
                                  </m:r>
                                </m:num>
                                <m:den>
                                  <m:sSub>
                                    <m:sSubPr>
                                      <m:ctrlPr>
                                        <a:rPr lang="en-US" sz="2800" b="0" i="1" smtClean="0">
                                          <a:solidFill>
                                            <a:schemeClr val="tx1"/>
                                          </a:solidFill>
                                          <a:latin typeface="Cambria Math" panose="02040503050406030204" pitchFamily="18" charset="0"/>
                                          <a:ea typeface="Cambria Math" panose="02040503050406030204" pitchFamily="18" charset="0"/>
                                        </a:rPr>
                                      </m:ctrlPr>
                                    </m:sSubPr>
                                    <m:e>
                                      <m:r>
                                        <a:rPr lang="en-US" sz="2800" b="0" i="1" smtClean="0">
                                          <a:solidFill>
                                            <a:schemeClr val="tx1"/>
                                          </a:solidFill>
                                          <a:latin typeface="Cambria Math" panose="02040503050406030204" pitchFamily="18" charset="0"/>
                                          <a:ea typeface="Cambria Math" panose="02040503050406030204" pitchFamily="18" charset="0"/>
                                        </a:rPr>
                                        <m:t>𝑁</m:t>
                                      </m:r>
                                    </m:e>
                                    <m:sub>
                                      <m:r>
                                        <a:rPr lang="en-US" sz="2800" b="0" i="1" smtClean="0">
                                          <a:solidFill>
                                            <a:schemeClr val="tx1"/>
                                          </a:solidFill>
                                          <a:latin typeface="Cambria Math" panose="02040503050406030204" pitchFamily="18" charset="0"/>
                                          <a:ea typeface="Cambria Math" panose="02040503050406030204" pitchFamily="18" charset="0"/>
                                        </a:rPr>
                                        <m:t>0</m:t>
                                      </m:r>
                                    </m:sub>
                                  </m:sSub>
                                </m:den>
                              </m:f>
                            </m:e>
                          </m:nary>
                          <m:nary>
                            <m:naryPr>
                              <m:chr m:val="∑"/>
                              <m:ctrlPr>
                                <a:rPr lang="en-US" sz="2800" i="1">
                                  <a:solidFill>
                                    <a:schemeClr val="tx1"/>
                                  </a:solidFill>
                                  <a:latin typeface="Cambria Math" panose="02040503050406030204" pitchFamily="18" charset="0"/>
                                  <a:ea typeface="Cambria Math" panose="02040503050406030204" pitchFamily="18" charset="0"/>
                                </a:rPr>
                              </m:ctrlPr>
                            </m:naryPr>
                            <m:sub>
                              <m:r>
                                <m:rPr>
                                  <m:brk m:alnAt="23"/>
                                </m:rPr>
                                <a:rPr lang="en-US" sz="2800" i="1">
                                  <a:solidFill>
                                    <a:schemeClr val="tx1"/>
                                  </a:solidFill>
                                  <a:latin typeface="Cambria Math" panose="02040503050406030204" pitchFamily="18" charset="0"/>
                                  <a:ea typeface="Cambria Math" panose="02040503050406030204" pitchFamily="18" charset="0"/>
                                </a:rPr>
                                <m:t>𝑖</m:t>
                              </m:r>
                              <m:r>
                                <a:rPr lang="en-US" sz="2800" i="1">
                                  <a:solidFill>
                                    <a:schemeClr val="tx1"/>
                                  </a:solidFill>
                                  <a:latin typeface="Cambria Math" panose="02040503050406030204" pitchFamily="18" charset="0"/>
                                  <a:ea typeface="Cambria Math" panose="02040503050406030204" pitchFamily="18" charset="0"/>
                                </a:rPr>
                                <m:t>=1</m:t>
                              </m:r>
                            </m:sub>
                            <m:sup>
                              <m:r>
                                <a:rPr lang="en-US" sz="2800" i="1">
                                  <a:solidFill>
                                    <a:schemeClr val="tx1"/>
                                  </a:solidFill>
                                  <a:latin typeface="Cambria Math" panose="02040503050406030204" pitchFamily="18" charset="0"/>
                                  <a:ea typeface="Cambria Math" panose="02040503050406030204" pitchFamily="18" charset="0"/>
                                </a:rPr>
                                <m:t>𝑁</m:t>
                              </m:r>
                            </m:sup>
                            <m:e>
                              <m:r>
                                <a:rPr lang="en-US" sz="2800" b="1" i="1" smtClean="0">
                                  <a:solidFill>
                                    <a:schemeClr val="tx1"/>
                                  </a:solidFill>
                                  <a:latin typeface="Cambria Math" panose="02040503050406030204" pitchFamily="18" charset="0"/>
                                  <a:ea typeface="Cambria Math" panose="02040503050406030204" pitchFamily="18" charset="0"/>
                                </a:rPr>
                                <m:t>𝟏</m:t>
                              </m:r>
                              <m:d>
                                <m:dPr>
                                  <m:begChr m:val="["/>
                                  <m:endChr m:val="]"/>
                                  <m:ctrlPr>
                                    <a:rPr lang="en-US" sz="2800" i="1">
                                      <a:solidFill>
                                        <a:schemeClr val="tx1"/>
                                      </a:solidFill>
                                      <a:latin typeface="Cambria Math" panose="02040503050406030204" pitchFamily="18" charset="0"/>
                                      <a:ea typeface="Cambria Math" panose="02040503050406030204" pitchFamily="18" charset="0"/>
                                    </a:rPr>
                                  </m:ctrlPr>
                                </m:dPr>
                                <m:e>
                                  <m:sSub>
                                    <m:sSubPr>
                                      <m:ctrlPr>
                                        <a:rPr lang="en-US" sz="2800" i="1">
                                          <a:solidFill>
                                            <a:schemeClr val="tx1"/>
                                          </a:solidFill>
                                          <a:latin typeface="Cambria Math" panose="02040503050406030204" pitchFamily="18" charset="0"/>
                                          <a:ea typeface="Cambria Math" panose="02040503050406030204" pitchFamily="18" charset="0"/>
                                        </a:rPr>
                                      </m:ctrlPr>
                                    </m:sSubPr>
                                    <m:e>
                                      <m:r>
                                        <a:rPr lang="en-US" sz="2800" i="1">
                                          <a:solidFill>
                                            <a:schemeClr val="tx1"/>
                                          </a:solidFill>
                                          <a:latin typeface="Cambria Math" panose="02040503050406030204" pitchFamily="18" charset="0"/>
                                          <a:ea typeface="Cambria Math" panose="02040503050406030204" pitchFamily="18" charset="0"/>
                                        </a:rPr>
                                        <m:t>𝑊</m:t>
                                      </m:r>
                                    </m:e>
                                    <m:sub>
                                      <m:r>
                                        <a:rPr lang="en-US" sz="2800" i="1">
                                          <a:solidFill>
                                            <a:schemeClr val="tx1"/>
                                          </a:solidFill>
                                          <a:latin typeface="Cambria Math" panose="02040503050406030204" pitchFamily="18" charset="0"/>
                                          <a:ea typeface="Cambria Math" panose="02040503050406030204" pitchFamily="18" charset="0"/>
                                        </a:rPr>
                                        <m:t>𝑖</m:t>
                                      </m:r>
                                    </m:sub>
                                  </m:sSub>
                                  <m:r>
                                    <a:rPr lang="en-US" sz="2800" i="1">
                                      <a:solidFill>
                                        <a:schemeClr val="tx1"/>
                                      </a:solidFill>
                                      <a:latin typeface="Cambria Math" panose="02040503050406030204" pitchFamily="18" charset="0"/>
                                      <a:ea typeface="Cambria Math" panose="02040503050406030204" pitchFamily="18" charset="0"/>
                                    </a:rPr>
                                    <m:t>=</m:t>
                                  </m:r>
                                  <m:r>
                                    <a:rPr lang="en-US" sz="2800" b="0" i="1" smtClean="0">
                                      <a:solidFill>
                                        <a:schemeClr val="tx1"/>
                                      </a:solidFill>
                                      <a:latin typeface="Cambria Math" panose="02040503050406030204" pitchFamily="18" charset="0"/>
                                      <a:ea typeface="Cambria Math" panose="02040503050406030204" pitchFamily="18" charset="0"/>
                                    </a:rPr>
                                    <m:t>0</m:t>
                                  </m:r>
                                </m:e>
                              </m:d>
                              <m:sSub>
                                <m:sSubPr>
                                  <m:ctrlPr>
                                    <a:rPr lang="en-US" sz="2800" i="1">
                                      <a:solidFill>
                                        <a:schemeClr val="tx1"/>
                                      </a:solidFill>
                                      <a:latin typeface="Cambria Math" panose="02040503050406030204" pitchFamily="18" charset="0"/>
                                      <a:ea typeface="Cambria Math" panose="02040503050406030204" pitchFamily="18" charset="0"/>
                                    </a:rPr>
                                  </m:ctrlPr>
                                </m:sSubPr>
                                <m:e>
                                  <m:r>
                                    <a:rPr lang="en-US" sz="2800" i="1">
                                      <a:solidFill>
                                        <a:schemeClr val="tx1"/>
                                      </a:solidFill>
                                      <a:latin typeface="Cambria Math" panose="02040503050406030204" pitchFamily="18" charset="0"/>
                                      <a:ea typeface="Cambria Math" panose="02040503050406030204" pitchFamily="18" charset="0"/>
                                    </a:rPr>
                                    <m:t>𝑌</m:t>
                                  </m:r>
                                </m:e>
                                <m:sub>
                                  <m:r>
                                    <a:rPr lang="en-US" sz="2800" i="1">
                                      <a:solidFill>
                                        <a:schemeClr val="tx1"/>
                                      </a:solidFill>
                                      <a:latin typeface="Cambria Math" panose="02040503050406030204" pitchFamily="18" charset="0"/>
                                      <a:ea typeface="Cambria Math" panose="02040503050406030204" pitchFamily="18" charset="0"/>
                                    </a:rPr>
                                    <m:t>𝑖</m:t>
                                  </m:r>
                                </m:sub>
                              </m:sSub>
                              <m:r>
                                <a:rPr lang="en-US" sz="2800" b="0" i="1" smtClean="0">
                                  <a:solidFill>
                                    <a:schemeClr val="tx1"/>
                                  </a:solidFill>
                                  <a:latin typeface="Cambria Math" panose="02040503050406030204" pitchFamily="18" charset="0"/>
                                  <a:ea typeface="Cambria Math" panose="02040503050406030204" pitchFamily="18" charset="0"/>
                                </a:rPr>
                                <m:t>(0)</m:t>
                              </m:r>
                              <m:r>
                                <a:rPr lang="en-US" sz="2800" i="1">
                                  <a:solidFill>
                                    <a:schemeClr val="tx1"/>
                                  </a:solidFill>
                                  <a:latin typeface="Cambria Math" panose="02040503050406030204" pitchFamily="18" charset="0"/>
                                  <a:ea typeface="Cambria Math" panose="02040503050406030204" pitchFamily="18" charset="0"/>
                                </a:rPr>
                                <m:t> </m:t>
                              </m:r>
                            </m:e>
                          </m:nary>
                        </m:e>
                      </m:d>
                    </m:oMath>
                  </m:oMathPara>
                </a14:m>
                <a:endParaRPr lang="en-US" sz="1400" dirty="0">
                  <a:solidFill>
                    <a:schemeClr val="tx1"/>
                  </a:solidFill>
                </a:endParaRPr>
              </a:p>
            </p:txBody>
          </p:sp>
        </mc:Choice>
        <mc:Fallback xmlns="">
          <p:sp>
            <p:nvSpPr>
              <p:cNvPr id="3" name="TextBox 2">
                <a:extLst>
                  <a:ext uri="{FF2B5EF4-FFF2-40B4-BE49-F238E27FC236}">
                    <a16:creationId xmlns:a16="http://schemas.microsoft.com/office/drawing/2014/main" id="{5C58F4CF-CB8E-13D0-7127-37111CF73504}"/>
                  </a:ext>
                </a:extLst>
              </p:cNvPr>
              <p:cNvSpPr txBox="1">
                <a:spLocks noRot="1" noChangeAspect="1" noMove="1" noResize="1" noEditPoints="1" noAdjustHandles="1" noChangeArrowheads="1" noChangeShapeType="1" noTextEdit="1"/>
              </p:cNvSpPr>
              <p:nvPr/>
            </p:nvSpPr>
            <p:spPr>
              <a:xfrm>
                <a:off x="1707874" y="2793402"/>
                <a:ext cx="9079396" cy="1303883"/>
              </a:xfrm>
              <a:prstGeom prst="rect">
                <a:avLst/>
              </a:prstGeom>
              <a:blipFill>
                <a:blip r:embed="rId7"/>
                <a:stretch>
                  <a:fillRect t="-100000" b="-1576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65B5805E-7D75-7215-A997-2F571F2C1F8C}"/>
                  </a:ext>
                </a:extLst>
              </p:cNvPr>
              <p:cNvSpPr txBox="1"/>
              <p:nvPr/>
            </p:nvSpPr>
            <p:spPr>
              <a:xfrm>
                <a:off x="1707874" y="4129906"/>
                <a:ext cx="9079396" cy="134928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ea typeface="Cambria Math" panose="02040503050406030204" pitchFamily="18" charset="0"/>
                        </a:rPr>
                        <m:t>=</m:t>
                      </m:r>
                      <m:f>
                        <m:fPr>
                          <m:ctrlPr>
                            <a:rPr lang="en-US" sz="2800" b="0" i="1" smtClean="0">
                              <a:solidFill>
                                <a:schemeClr val="tx1"/>
                              </a:solidFill>
                              <a:latin typeface="Cambria Math" panose="02040503050406030204" pitchFamily="18" charset="0"/>
                              <a:ea typeface="Cambria Math" panose="02040503050406030204" pitchFamily="18" charset="0"/>
                            </a:rPr>
                          </m:ctrlPr>
                        </m:fPr>
                        <m:num>
                          <m:r>
                            <a:rPr lang="en-US" sz="2800" b="0" i="1" smtClean="0">
                              <a:solidFill>
                                <a:schemeClr val="tx1"/>
                              </a:solidFill>
                              <a:latin typeface="Cambria Math" panose="02040503050406030204" pitchFamily="18" charset="0"/>
                              <a:ea typeface="Cambria Math" panose="02040503050406030204" pitchFamily="18" charset="0"/>
                            </a:rPr>
                            <m:t>1</m:t>
                          </m:r>
                        </m:num>
                        <m:den>
                          <m:sSub>
                            <m:sSubPr>
                              <m:ctrlPr>
                                <a:rPr lang="en-US" sz="2800" b="0" i="1" smtClean="0">
                                  <a:solidFill>
                                    <a:schemeClr val="tx1"/>
                                  </a:solidFill>
                                  <a:latin typeface="Cambria Math" panose="02040503050406030204" pitchFamily="18" charset="0"/>
                                  <a:ea typeface="Cambria Math" panose="02040503050406030204" pitchFamily="18" charset="0"/>
                                </a:rPr>
                              </m:ctrlPr>
                            </m:sSubPr>
                            <m:e>
                              <m:r>
                                <a:rPr lang="en-US" sz="2800" b="0" i="1" smtClean="0">
                                  <a:solidFill>
                                    <a:schemeClr val="tx1"/>
                                  </a:solidFill>
                                  <a:latin typeface="Cambria Math" panose="02040503050406030204" pitchFamily="18" charset="0"/>
                                  <a:ea typeface="Cambria Math" panose="02040503050406030204" pitchFamily="18" charset="0"/>
                                </a:rPr>
                                <m:t>𝑁</m:t>
                              </m:r>
                            </m:e>
                            <m:sub>
                              <m:r>
                                <a:rPr lang="en-US" sz="2800" b="0" i="1" smtClean="0">
                                  <a:solidFill>
                                    <a:schemeClr val="tx1"/>
                                  </a:solidFill>
                                  <a:latin typeface="Cambria Math" panose="02040503050406030204" pitchFamily="18" charset="0"/>
                                  <a:ea typeface="Cambria Math" panose="02040503050406030204" pitchFamily="18" charset="0"/>
                                </a:rPr>
                                <m:t>1</m:t>
                              </m:r>
                            </m:sub>
                          </m:sSub>
                        </m:den>
                      </m:f>
                      <m:nary>
                        <m:naryPr>
                          <m:chr m:val="∑"/>
                          <m:ctrlPr>
                            <a:rPr lang="en-US" sz="2800" b="0" i="1" smtClean="0">
                              <a:solidFill>
                                <a:schemeClr val="tx1"/>
                              </a:solidFill>
                              <a:latin typeface="Cambria Math" panose="02040503050406030204" pitchFamily="18" charset="0"/>
                              <a:ea typeface="Cambria Math" panose="02040503050406030204" pitchFamily="18" charset="0"/>
                            </a:rPr>
                          </m:ctrlPr>
                        </m:naryPr>
                        <m:sub>
                          <m:r>
                            <m:rPr>
                              <m:brk m:alnAt="23"/>
                            </m:rPr>
                            <a:rPr lang="en-US" sz="2800" b="0" i="1" smtClean="0">
                              <a:solidFill>
                                <a:schemeClr val="tx1"/>
                              </a:solidFill>
                              <a:latin typeface="Cambria Math" panose="02040503050406030204" pitchFamily="18" charset="0"/>
                              <a:ea typeface="Cambria Math" panose="02040503050406030204" pitchFamily="18" charset="0"/>
                            </a:rPr>
                            <m:t>𝑖</m:t>
                          </m:r>
                          <m:r>
                            <a:rPr lang="en-US" sz="2800" b="0" i="1" smtClean="0">
                              <a:solidFill>
                                <a:schemeClr val="tx1"/>
                              </a:solidFill>
                              <a:latin typeface="Cambria Math" panose="02040503050406030204" pitchFamily="18" charset="0"/>
                              <a:ea typeface="Cambria Math" panose="02040503050406030204" pitchFamily="18" charset="0"/>
                            </a:rPr>
                            <m:t>=1</m:t>
                          </m:r>
                        </m:sub>
                        <m:sup>
                          <m:r>
                            <a:rPr lang="en-US" sz="2800" b="0" i="1" smtClean="0">
                              <a:solidFill>
                                <a:schemeClr val="tx1"/>
                              </a:solidFill>
                              <a:latin typeface="Cambria Math" panose="02040503050406030204" pitchFamily="18" charset="0"/>
                              <a:ea typeface="Cambria Math" panose="02040503050406030204" pitchFamily="18" charset="0"/>
                            </a:rPr>
                            <m:t>𝑁</m:t>
                          </m:r>
                        </m:sup>
                        <m:e>
                          <m:func>
                            <m:funcPr>
                              <m:ctrlPr>
                                <a:rPr lang="en-US" sz="2800" b="0" i="1" smtClean="0">
                                  <a:solidFill>
                                    <a:schemeClr val="tx1"/>
                                  </a:solidFill>
                                  <a:latin typeface="Cambria Math" panose="02040503050406030204" pitchFamily="18" charset="0"/>
                                  <a:ea typeface="Cambria Math" panose="02040503050406030204" pitchFamily="18" charset="0"/>
                                </a:rPr>
                              </m:ctrlPr>
                            </m:funcPr>
                            <m:fName>
                              <m:r>
                                <m:rPr>
                                  <m:sty m:val="p"/>
                                </m:rPr>
                                <a:rPr lang="en-US" sz="2800" b="0" i="0" smtClean="0">
                                  <a:solidFill>
                                    <a:schemeClr val="tx1"/>
                                  </a:solidFill>
                                  <a:latin typeface="Cambria Math" panose="02040503050406030204" pitchFamily="18" charset="0"/>
                                  <a:ea typeface="Cambria Math" panose="02040503050406030204" pitchFamily="18" charset="0"/>
                                </a:rPr>
                                <m:t>Pr</m:t>
                              </m:r>
                            </m:fName>
                            <m:e>
                              <m:d>
                                <m:dPr>
                                  <m:begChr m:val="["/>
                                  <m:endChr m:val="]"/>
                                  <m:ctrlPr>
                                    <a:rPr lang="en-US" sz="2800" b="0" i="1" smtClean="0">
                                      <a:solidFill>
                                        <a:schemeClr val="tx1"/>
                                      </a:solidFill>
                                      <a:latin typeface="Cambria Math" panose="02040503050406030204" pitchFamily="18" charset="0"/>
                                      <a:ea typeface="Cambria Math" panose="02040503050406030204" pitchFamily="18" charset="0"/>
                                    </a:rPr>
                                  </m:ctrlPr>
                                </m:dPr>
                                <m:e>
                                  <m:sSub>
                                    <m:sSubPr>
                                      <m:ctrlPr>
                                        <a:rPr lang="en-US" sz="2800" b="0" i="1" smtClean="0">
                                          <a:solidFill>
                                            <a:schemeClr val="tx1"/>
                                          </a:solidFill>
                                          <a:latin typeface="Cambria Math" panose="02040503050406030204" pitchFamily="18" charset="0"/>
                                          <a:ea typeface="Cambria Math" panose="02040503050406030204" pitchFamily="18" charset="0"/>
                                        </a:rPr>
                                      </m:ctrlPr>
                                    </m:sSubPr>
                                    <m:e>
                                      <m:r>
                                        <a:rPr lang="en-US" sz="2800" b="0" i="1" smtClean="0">
                                          <a:solidFill>
                                            <a:schemeClr val="tx1"/>
                                          </a:solidFill>
                                          <a:latin typeface="Cambria Math" panose="02040503050406030204" pitchFamily="18" charset="0"/>
                                          <a:ea typeface="Cambria Math" panose="02040503050406030204" pitchFamily="18" charset="0"/>
                                        </a:rPr>
                                        <m:t>𝑊</m:t>
                                      </m:r>
                                    </m:e>
                                    <m:sub>
                                      <m:r>
                                        <a:rPr lang="en-US" sz="2800" b="0" i="1" smtClean="0">
                                          <a:solidFill>
                                            <a:schemeClr val="tx1"/>
                                          </a:solidFill>
                                          <a:latin typeface="Cambria Math" panose="02040503050406030204" pitchFamily="18" charset="0"/>
                                          <a:ea typeface="Cambria Math" panose="02040503050406030204" pitchFamily="18" charset="0"/>
                                        </a:rPr>
                                        <m:t>𝑖</m:t>
                                      </m:r>
                                    </m:sub>
                                  </m:sSub>
                                  <m:r>
                                    <a:rPr lang="en-US" sz="2800" b="0" i="1" smtClean="0">
                                      <a:solidFill>
                                        <a:schemeClr val="tx1"/>
                                      </a:solidFill>
                                      <a:latin typeface="Cambria Math" panose="02040503050406030204" pitchFamily="18" charset="0"/>
                                      <a:ea typeface="Cambria Math" panose="02040503050406030204" pitchFamily="18" charset="0"/>
                                    </a:rPr>
                                    <m:t>=1</m:t>
                                  </m:r>
                                </m:e>
                              </m:d>
                            </m:e>
                          </m:func>
                          <m:sSub>
                            <m:sSubPr>
                              <m:ctrlPr>
                                <a:rPr lang="en-US" sz="2800" b="0" i="1" smtClean="0">
                                  <a:solidFill>
                                    <a:schemeClr val="tx1"/>
                                  </a:solidFill>
                                  <a:latin typeface="Cambria Math" panose="02040503050406030204" pitchFamily="18" charset="0"/>
                                  <a:ea typeface="Cambria Math" panose="02040503050406030204" pitchFamily="18" charset="0"/>
                                </a:rPr>
                              </m:ctrlPr>
                            </m:sSubPr>
                            <m:e>
                              <m:r>
                                <a:rPr lang="en-US" sz="2800" b="0" i="1" smtClean="0">
                                  <a:solidFill>
                                    <a:schemeClr val="tx1"/>
                                  </a:solidFill>
                                  <a:latin typeface="Cambria Math" panose="02040503050406030204" pitchFamily="18" charset="0"/>
                                  <a:ea typeface="Cambria Math" panose="02040503050406030204" pitchFamily="18" charset="0"/>
                                </a:rPr>
                                <m:t>𝑌</m:t>
                              </m:r>
                            </m:e>
                            <m:sub>
                              <m:r>
                                <a:rPr lang="en-US" sz="2800" b="0" i="1" smtClean="0">
                                  <a:solidFill>
                                    <a:schemeClr val="tx1"/>
                                  </a:solidFill>
                                  <a:latin typeface="Cambria Math" panose="02040503050406030204" pitchFamily="18" charset="0"/>
                                  <a:ea typeface="Cambria Math" panose="02040503050406030204" pitchFamily="18" charset="0"/>
                                </a:rPr>
                                <m:t>𝑖</m:t>
                              </m:r>
                            </m:sub>
                          </m:sSub>
                          <m:r>
                            <a:rPr lang="en-US" sz="2800" b="0" i="1" smtClean="0">
                              <a:solidFill>
                                <a:schemeClr val="tx1"/>
                              </a:solidFill>
                              <a:latin typeface="Cambria Math" panose="02040503050406030204" pitchFamily="18" charset="0"/>
                              <a:ea typeface="Cambria Math" panose="02040503050406030204" pitchFamily="18" charset="0"/>
                            </a:rPr>
                            <m:t>(1)− </m:t>
                          </m:r>
                        </m:e>
                      </m:nary>
                      <m:f>
                        <m:fPr>
                          <m:ctrlPr>
                            <a:rPr lang="en-US" sz="2800" b="0" i="1" smtClean="0">
                              <a:solidFill>
                                <a:schemeClr val="tx1"/>
                              </a:solidFill>
                              <a:latin typeface="Cambria Math" panose="02040503050406030204" pitchFamily="18" charset="0"/>
                              <a:ea typeface="Cambria Math" panose="02040503050406030204" pitchFamily="18" charset="0"/>
                            </a:rPr>
                          </m:ctrlPr>
                        </m:fPr>
                        <m:num>
                          <m:r>
                            <a:rPr lang="en-US" sz="2800" b="0" i="1" smtClean="0">
                              <a:solidFill>
                                <a:schemeClr val="tx1"/>
                              </a:solidFill>
                              <a:latin typeface="Cambria Math" panose="02040503050406030204" pitchFamily="18" charset="0"/>
                              <a:ea typeface="Cambria Math" panose="02040503050406030204" pitchFamily="18" charset="0"/>
                            </a:rPr>
                            <m:t>1</m:t>
                          </m:r>
                        </m:num>
                        <m:den>
                          <m:sSub>
                            <m:sSubPr>
                              <m:ctrlPr>
                                <a:rPr lang="en-US" sz="2800" b="0" i="1" smtClean="0">
                                  <a:solidFill>
                                    <a:schemeClr val="tx1"/>
                                  </a:solidFill>
                                  <a:latin typeface="Cambria Math" panose="02040503050406030204" pitchFamily="18" charset="0"/>
                                  <a:ea typeface="Cambria Math" panose="02040503050406030204" pitchFamily="18" charset="0"/>
                                </a:rPr>
                              </m:ctrlPr>
                            </m:sSubPr>
                            <m:e>
                              <m:r>
                                <a:rPr lang="en-US" sz="2800" b="0" i="1" smtClean="0">
                                  <a:solidFill>
                                    <a:schemeClr val="tx1"/>
                                  </a:solidFill>
                                  <a:latin typeface="Cambria Math" panose="02040503050406030204" pitchFamily="18" charset="0"/>
                                  <a:ea typeface="Cambria Math" panose="02040503050406030204" pitchFamily="18" charset="0"/>
                                </a:rPr>
                                <m:t>𝑁</m:t>
                              </m:r>
                            </m:e>
                            <m:sub>
                              <m:r>
                                <a:rPr lang="en-US" sz="2800" b="0" i="1" smtClean="0">
                                  <a:solidFill>
                                    <a:schemeClr val="tx1"/>
                                  </a:solidFill>
                                  <a:latin typeface="Cambria Math" panose="02040503050406030204" pitchFamily="18" charset="0"/>
                                  <a:ea typeface="Cambria Math" panose="02040503050406030204" pitchFamily="18" charset="0"/>
                                </a:rPr>
                                <m:t>0</m:t>
                              </m:r>
                            </m:sub>
                          </m:sSub>
                        </m:den>
                      </m:f>
                      <m:nary>
                        <m:naryPr>
                          <m:chr m:val="∑"/>
                          <m:ctrlPr>
                            <a:rPr lang="en-US" sz="2800" b="0" i="1" smtClean="0">
                              <a:solidFill>
                                <a:schemeClr val="tx1"/>
                              </a:solidFill>
                              <a:latin typeface="Cambria Math" panose="02040503050406030204" pitchFamily="18" charset="0"/>
                              <a:ea typeface="Cambria Math" panose="02040503050406030204" pitchFamily="18" charset="0"/>
                            </a:rPr>
                          </m:ctrlPr>
                        </m:naryPr>
                        <m:sub>
                          <m:r>
                            <m:rPr>
                              <m:brk m:alnAt="23"/>
                            </m:rPr>
                            <a:rPr lang="en-US" sz="2800" b="0" i="1" smtClean="0">
                              <a:solidFill>
                                <a:schemeClr val="tx1"/>
                              </a:solidFill>
                              <a:latin typeface="Cambria Math" panose="02040503050406030204" pitchFamily="18" charset="0"/>
                              <a:ea typeface="Cambria Math" panose="02040503050406030204" pitchFamily="18" charset="0"/>
                            </a:rPr>
                            <m:t>𝑖</m:t>
                          </m:r>
                          <m:r>
                            <a:rPr lang="en-US" sz="2800" b="0" i="1" smtClean="0">
                              <a:solidFill>
                                <a:schemeClr val="tx1"/>
                              </a:solidFill>
                              <a:latin typeface="Cambria Math" panose="02040503050406030204" pitchFamily="18" charset="0"/>
                              <a:ea typeface="Cambria Math" panose="02040503050406030204" pitchFamily="18" charset="0"/>
                            </a:rPr>
                            <m:t>=1</m:t>
                          </m:r>
                        </m:sub>
                        <m:sup>
                          <m:r>
                            <a:rPr lang="en-US" sz="2800" b="0" i="1" smtClean="0">
                              <a:solidFill>
                                <a:schemeClr val="tx1"/>
                              </a:solidFill>
                              <a:latin typeface="Cambria Math" panose="02040503050406030204" pitchFamily="18" charset="0"/>
                              <a:ea typeface="Cambria Math" panose="02040503050406030204" pitchFamily="18" charset="0"/>
                            </a:rPr>
                            <m:t>𝑁</m:t>
                          </m:r>
                        </m:sup>
                        <m:e>
                          <m:func>
                            <m:funcPr>
                              <m:ctrlPr>
                                <a:rPr lang="en-US" sz="2800" b="0" i="1" smtClean="0">
                                  <a:solidFill>
                                    <a:schemeClr val="tx1"/>
                                  </a:solidFill>
                                  <a:latin typeface="Cambria Math" panose="02040503050406030204" pitchFamily="18" charset="0"/>
                                  <a:ea typeface="Cambria Math" panose="02040503050406030204" pitchFamily="18" charset="0"/>
                                </a:rPr>
                              </m:ctrlPr>
                            </m:funcPr>
                            <m:fName>
                              <m:r>
                                <m:rPr>
                                  <m:sty m:val="p"/>
                                </m:rPr>
                                <a:rPr lang="en-US" sz="2800" b="0" i="0" smtClean="0">
                                  <a:solidFill>
                                    <a:schemeClr val="tx1"/>
                                  </a:solidFill>
                                  <a:latin typeface="Cambria Math" panose="02040503050406030204" pitchFamily="18" charset="0"/>
                                  <a:ea typeface="Cambria Math" panose="02040503050406030204" pitchFamily="18" charset="0"/>
                                </a:rPr>
                                <m:t>Pr</m:t>
                              </m:r>
                            </m:fName>
                            <m:e>
                              <m:d>
                                <m:dPr>
                                  <m:begChr m:val="["/>
                                  <m:endChr m:val="]"/>
                                  <m:ctrlPr>
                                    <a:rPr lang="en-US" sz="2800" b="0" i="1" smtClean="0">
                                      <a:solidFill>
                                        <a:schemeClr val="tx1"/>
                                      </a:solidFill>
                                      <a:latin typeface="Cambria Math" panose="02040503050406030204" pitchFamily="18" charset="0"/>
                                      <a:ea typeface="Cambria Math" panose="02040503050406030204" pitchFamily="18" charset="0"/>
                                    </a:rPr>
                                  </m:ctrlPr>
                                </m:dPr>
                                <m:e>
                                  <m:sSub>
                                    <m:sSubPr>
                                      <m:ctrlPr>
                                        <a:rPr lang="en-US" sz="2800" b="0" i="1" smtClean="0">
                                          <a:solidFill>
                                            <a:schemeClr val="tx1"/>
                                          </a:solidFill>
                                          <a:latin typeface="Cambria Math" panose="02040503050406030204" pitchFamily="18" charset="0"/>
                                          <a:ea typeface="Cambria Math" panose="02040503050406030204" pitchFamily="18" charset="0"/>
                                        </a:rPr>
                                      </m:ctrlPr>
                                    </m:sSubPr>
                                    <m:e>
                                      <m:r>
                                        <a:rPr lang="en-US" sz="2800" b="0" i="1" smtClean="0">
                                          <a:solidFill>
                                            <a:schemeClr val="tx1"/>
                                          </a:solidFill>
                                          <a:latin typeface="Cambria Math" panose="02040503050406030204" pitchFamily="18" charset="0"/>
                                          <a:ea typeface="Cambria Math" panose="02040503050406030204" pitchFamily="18" charset="0"/>
                                        </a:rPr>
                                        <m:t>𝑊</m:t>
                                      </m:r>
                                    </m:e>
                                    <m:sub>
                                      <m:r>
                                        <a:rPr lang="en-US" sz="2800" b="0" i="1" smtClean="0">
                                          <a:solidFill>
                                            <a:schemeClr val="tx1"/>
                                          </a:solidFill>
                                          <a:latin typeface="Cambria Math" panose="02040503050406030204" pitchFamily="18" charset="0"/>
                                          <a:ea typeface="Cambria Math" panose="02040503050406030204" pitchFamily="18" charset="0"/>
                                        </a:rPr>
                                        <m:t>𝑖</m:t>
                                      </m:r>
                                    </m:sub>
                                  </m:sSub>
                                  <m:r>
                                    <a:rPr lang="en-US" sz="2800" b="0" i="1" smtClean="0">
                                      <a:solidFill>
                                        <a:schemeClr val="tx1"/>
                                      </a:solidFill>
                                      <a:latin typeface="Cambria Math" panose="02040503050406030204" pitchFamily="18" charset="0"/>
                                      <a:ea typeface="Cambria Math" panose="02040503050406030204" pitchFamily="18" charset="0"/>
                                    </a:rPr>
                                    <m:t>=0</m:t>
                                  </m:r>
                                </m:e>
                              </m:d>
                            </m:e>
                          </m:func>
                          <m:sSub>
                            <m:sSubPr>
                              <m:ctrlPr>
                                <a:rPr lang="en-US" sz="2800" b="0" i="1" smtClean="0">
                                  <a:solidFill>
                                    <a:schemeClr val="tx1"/>
                                  </a:solidFill>
                                  <a:latin typeface="Cambria Math" panose="02040503050406030204" pitchFamily="18" charset="0"/>
                                  <a:ea typeface="Cambria Math" panose="02040503050406030204" pitchFamily="18" charset="0"/>
                                </a:rPr>
                              </m:ctrlPr>
                            </m:sSubPr>
                            <m:e>
                              <m:r>
                                <a:rPr lang="en-US" sz="2800" b="0" i="1" smtClean="0">
                                  <a:solidFill>
                                    <a:schemeClr val="tx1"/>
                                  </a:solidFill>
                                  <a:latin typeface="Cambria Math" panose="02040503050406030204" pitchFamily="18" charset="0"/>
                                  <a:ea typeface="Cambria Math" panose="02040503050406030204" pitchFamily="18" charset="0"/>
                                </a:rPr>
                                <m:t>𝑌</m:t>
                              </m:r>
                            </m:e>
                            <m:sub>
                              <m:r>
                                <a:rPr lang="en-US" sz="2800" b="0" i="1" smtClean="0">
                                  <a:solidFill>
                                    <a:schemeClr val="tx1"/>
                                  </a:solidFill>
                                  <a:latin typeface="Cambria Math" panose="02040503050406030204" pitchFamily="18" charset="0"/>
                                  <a:ea typeface="Cambria Math" panose="02040503050406030204" pitchFamily="18" charset="0"/>
                                </a:rPr>
                                <m:t>𝑖</m:t>
                              </m:r>
                            </m:sub>
                          </m:sSub>
                          <m:r>
                            <a:rPr lang="en-US" sz="2800" b="0" i="1" smtClean="0">
                              <a:solidFill>
                                <a:schemeClr val="tx1"/>
                              </a:solidFill>
                              <a:latin typeface="Cambria Math" panose="02040503050406030204" pitchFamily="18" charset="0"/>
                              <a:ea typeface="Cambria Math" panose="02040503050406030204" pitchFamily="18" charset="0"/>
                            </a:rPr>
                            <m:t>(0)</m:t>
                          </m:r>
                        </m:e>
                      </m:nary>
                    </m:oMath>
                  </m:oMathPara>
                </a14:m>
                <a:endParaRPr lang="en-US" sz="1400" dirty="0">
                  <a:solidFill>
                    <a:schemeClr val="tx1"/>
                  </a:solidFill>
                </a:endParaRPr>
              </a:p>
            </p:txBody>
          </p:sp>
        </mc:Choice>
        <mc:Fallback xmlns="">
          <p:sp>
            <p:nvSpPr>
              <p:cNvPr id="4" name="TextBox 3">
                <a:extLst>
                  <a:ext uri="{FF2B5EF4-FFF2-40B4-BE49-F238E27FC236}">
                    <a16:creationId xmlns:a16="http://schemas.microsoft.com/office/drawing/2014/main" id="{65B5805E-7D75-7215-A997-2F571F2C1F8C}"/>
                  </a:ext>
                </a:extLst>
              </p:cNvPr>
              <p:cNvSpPr txBox="1">
                <a:spLocks noRot="1" noChangeAspect="1" noMove="1" noResize="1" noEditPoints="1" noAdjustHandles="1" noChangeArrowheads="1" noChangeShapeType="1" noTextEdit="1"/>
              </p:cNvSpPr>
              <p:nvPr/>
            </p:nvSpPr>
            <p:spPr>
              <a:xfrm>
                <a:off x="1707874" y="4129906"/>
                <a:ext cx="9079396" cy="1349280"/>
              </a:xfrm>
              <a:prstGeom prst="rect">
                <a:avLst/>
              </a:prstGeom>
              <a:blipFill>
                <a:blip r:embed="rId8"/>
                <a:stretch>
                  <a:fillRect t="-96296" b="-1481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F6208274-7FE8-31D3-590A-B6E6DF311C71}"/>
                  </a:ext>
                </a:extLst>
              </p:cNvPr>
              <p:cNvSpPr txBox="1"/>
              <p:nvPr/>
            </p:nvSpPr>
            <p:spPr>
              <a:xfrm>
                <a:off x="7606747" y="119270"/>
                <a:ext cx="4359966" cy="1015663"/>
              </a:xfrm>
              <a:prstGeom prst="rect">
                <a:avLst/>
              </a:prstGeom>
              <a:noFill/>
            </p:spPr>
            <p:txBody>
              <a:bodyPr wrap="square" rtlCol="0">
                <a:spAutoFit/>
              </a:bodyPr>
              <a:lstStyle/>
              <a:p>
                <a:pPr algn="r"/>
                <a:r>
                  <a:rPr lang="en-US" sz="2000" dirty="0">
                    <a:solidFill>
                      <a:schemeClr val="accent5"/>
                    </a:solidFill>
                  </a:rPr>
                  <a:t>Say we choose </a:t>
                </a:r>
                <a14:m>
                  <m:oMath xmlns:m="http://schemas.openxmlformats.org/officeDocument/2006/math">
                    <m:sSub>
                      <m:sSubPr>
                        <m:ctrlPr>
                          <a:rPr lang="en-US" sz="2000" b="0" i="1" smtClean="0">
                            <a:solidFill>
                              <a:schemeClr val="accent5"/>
                            </a:solidFill>
                            <a:latin typeface="Cambria Math" panose="02040503050406030204" pitchFamily="18" charset="0"/>
                          </a:rPr>
                        </m:ctrlPr>
                      </m:sSubPr>
                      <m:e>
                        <m:r>
                          <a:rPr lang="en-US" sz="2000" b="0" i="1" smtClean="0">
                            <a:solidFill>
                              <a:schemeClr val="accent5"/>
                            </a:solidFill>
                            <a:latin typeface="Cambria Math" panose="02040503050406030204" pitchFamily="18" charset="0"/>
                          </a:rPr>
                          <m:t>𝑁</m:t>
                        </m:r>
                      </m:e>
                      <m:sub>
                        <m:r>
                          <a:rPr lang="en-US" sz="2000" b="0" i="1" smtClean="0">
                            <a:solidFill>
                              <a:schemeClr val="accent5"/>
                            </a:solidFill>
                            <a:latin typeface="Cambria Math" panose="02040503050406030204" pitchFamily="18" charset="0"/>
                          </a:rPr>
                          <m:t>0</m:t>
                        </m:r>
                      </m:sub>
                    </m:sSub>
                  </m:oMath>
                </a14:m>
                <a:r>
                  <a:rPr lang="en-US" sz="2000" dirty="0">
                    <a:solidFill>
                      <a:schemeClr val="accent5"/>
                    </a:solidFill>
                  </a:rPr>
                  <a:t> people at random for the control group, and </a:t>
                </a:r>
                <a14:m>
                  <m:oMath xmlns:m="http://schemas.openxmlformats.org/officeDocument/2006/math">
                    <m:sSub>
                      <m:sSubPr>
                        <m:ctrlPr>
                          <a:rPr lang="en-US" sz="2000" b="0" i="1" smtClean="0">
                            <a:solidFill>
                              <a:schemeClr val="accent5"/>
                            </a:solidFill>
                            <a:latin typeface="Cambria Math" panose="02040503050406030204" pitchFamily="18" charset="0"/>
                          </a:rPr>
                        </m:ctrlPr>
                      </m:sSubPr>
                      <m:e>
                        <m:r>
                          <a:rPr lang="en-US" sz="2000" b="0" i="1" smtClean="0">
                            <a:solidFill>
                              <a:schemeClr val="accent5"/>
                            </a:solidFill>
                            <a:latin typeface="Cambria Math" panose="02040503050406030204" pitchFamily="18" charset="0"/>
                          </a:rPr>
                          <m:t>𝑁</m:t>
                        </m:r>
                      </m:e>
                      <m:sub>
                        <m:r>
                          <a:rPr lang="en-US" sz="2000" b="0" i="1" smtClean="0">
                            <a:solidFill>
                              <a:schemeClr val="accent5"/>
                            </a:solidFill>
                            <a:latin typeface="Cambria Math" panose="02040503050406030204" pitchFamily="18" charset="0"/>
                          </a:rPr>
                          <m:t>1</m:t>
                        </m:r>
                      </m:sub>
                    </m:sSub>
                  </m:oMath>
                </a14:m>
                <a:r>
                  <a:rPr lang="en-US" sz="2000" dirty="0">
                    <a:solidFill>
                      <a:schemeClr val="accent5"/>
                    </a:solidFill>
                  </a:rPr>
                  <a:t> people at random for the treatment group.</a:t>
                </a:r>
              </a:p>
            </p:txBody>
          </p:sp>
        </mc:Choice>
        <mc:Fallback xmlns="">
          <p:sp>
            <p:nvSpPr>
              <p:cNvPr id="5" name="TextBox 4">
                <a:extLst>
                  <a:ext uri="{FF2B5EF4-FFF2-40B4-BE49-F238E27FC236}">
                    <a16:creationId xmlns:a16="http://schemas.microsoft.com/office/drawing/2014/main" id="{F6208274-7FE8-31D3-590A-B6E6DF311C71}"/>
                  </a:ext>
                </a:extLst>
              </p:cNvPr>
              <p:cNvSpPr txBox="1">
                <a:spLocks noRot="1" noChangeAspect="1" noMove="1" noResize="1" noEditPoints="1" noAdjustHandles="1" noChangeArrowheads="1" noChangeShapeType="1" noTextEdit="1"/>
              </p:cNvSpPr>
              <p:nvPr/>
            </p:nvSpPr>
            <p:spPr>
              <a:xfrm>
                <a:off x="7606747" y="119270"/>
                <a:ext cx="4359966" cy="1015663"/>
              </a:xfrm>
              <a:prstGeom prst="rect">
                <a:avLst/>
              </a:prstGeom>
              <a:blipFill>
                <a:blip r:embed="rId9"/>
                <a:stretch>
                  <a:fillRect l="-1453" t="-2469" r="-2616" b="-9877"/>
                </a:stretch>
              </a:blipFill>
            </p:spPr>
            <p:txBody>
              <a:bodyPr/>
              <a:lstStyle/>
              <a:p>
                <a:r>
                  <a:rPr lang="en-US">
                    <a:noFill/>
                  </a:rPr>
                  <a:t> </a:t>
                </a:r>
              </a:p>
            </p:txBody>
          </p:sp>
        </mc:Fallback>
      </mc:AlternateContent>
      <p:sp>
        <p:nvSpPr>
          <p:cNvPr id="10" name="Left Brace 9">
            <a:extLst>
              <a:ext uri="{FF2B5EF4-FFF2-40B4-BE49-F238E27FC236}">
                <a16:creationId xmlns:a16="http://schemas.microsoft.com/office/drawing/2014/main" id="{88E00235-CC45-AE6C-B896-03D6D8674DCE}"/>
              </a:ext>
            </a:extLst>
          </p:cNvPr>
          <p:cNvSpPr/>
          <p:nvPr/>
        </p:nvSpPr>
        <p:spPr>
          <a:xfrm rot="16200000">
            <a:off x="4190774" y="4500635"/>
            <a:ext cx="734291" cy="1707718"/>
          </a:xfrm>
          <a:prstGeom prst="leftBrace">
            <a:avLst/>
          </a:prstGeom>
          <a:ln w="38100">
            <a:solidFill>
              <a:schemeClr val="accent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1" name="Left Brace 10">
            <a:extLst>
              <a:ext uri="{FF2B5EF4-FFF2-40B4-BE49-F238E27FC236}">
                <a16:creationId xmlns:a16="http://schemas.microsoft.com/office/drawing/2014/main" id="{C3F09D4B-8E7D-D09E-CF68-34D95E579F57}"/>
              </a:ext>
            </a:extLst>
          </p:cNvPr>
          <p:cNvSpPr/>
          <p:nvPr/>
        </p:nvSpPr>
        <p:spPr>
          <a:xfrm rot="16200000">
            <a:off x="8213945" y="4500636"/>
            <a:ext cx="734291" cy="1707718"/>
          </a:xfrm>
          <a:prstGeom prst="leftBrace">
            <a:avLst/>
          </a:prstGeom>
          <a:ln w="38100">
            <a:solidFill>
              <a:schemeClr val="accent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E23DB824-D3BD-5BC7-9745-105678D7A44D}"/>
                  </a:ext>
                </a:extLst>
              </p:cNvPr>
              <p:cNvSpPr txBox="1"/>
              <p:nvPr/>
            </p:nvSpPr>
            <p:spPr>
              <a:xfrm>
                <a:off x="3820418" y="5786760"/>
                <a:ext cx="1288703" cy="78136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b="0" i="1" smtClean="0">
                              <a:solidFill>
                                <a:schemeClr val="accent2"/>
                              </a:solidFill>
                              <a:latin typeface="Cambria Math" panose="02040503050406030204" pitchFamily="18" charset="0"/>
                            </a:rPr>
                          </m:ctrlPr>
                        </m:fPr>
                        <m:num>
                          <m:sSub>
                            <m:sSubPr>
                              <m:ctrlPr>
                                <a:rPr lang="en-US" sz="2400" b="0" i="1" smtClean="0">
                                  <a:solidFill>
                                    <a:schemeClr val="accent2"/>
                                  </a:solidFill>
                                  <a:latin typeface="Cambria Math" panose="02040503050406030204" pitchFamily="18" charset="0"/>
                                </a:rPr>
                              </m:ctrlPr>
                            </m:sSubPr>
                            <m:e>
                              <m:r>
                                <a:rPr lang="en-US" sz="2400" b="0" i="1" smtClean="0">
                                  <a:solidFill>
                                    <a:schemeClr val="accent2"/>
                                  </a:solidFill>
                                  <a:latin typeface="Cambria Math" panose="02040503050406030204" pitchFamily="18" charset="0"/>
                                </a:rPr>
                                <m:t>𝑁</m:t>
                              </m:r>
                            </m:e>
                            <m:sub>
                              <m:r>
                                <a:rPr lang="en-US" sz="2400" b="0" i="1" smtClean="0">
                                  <a:solidFill>
                                    <a:schemeClr val="accent2"/>
                                  </a:solidFill>
                                  <a:latin typeface="Cambria Math" panose="02040503050406030204" pitchFamily="18" charset="0"/>
                                </a:rPr>
                                <m:t>1</m:t>
                              </m:r>
                            </m:sub>
                          </m:sSub>
                        </m:num>
                        <m:den>
                          <m:r>
                            <a:rPr lang="en-US" sz="2400" b="0" i="1" smtClean="0">
                              <a:solidFill>
                                <a:schemeClr val="accent2"/>
                              </a:solidFill>
                              <a:latin typeface="Cambria Math" panose="02040503050406030204" pitchFamily="18" charset="0"/>
                            </a:rPr>
                            <m:t>𝑁</m:t>
                          </m:r>
                        </m:den>
                      </m:f>
                    </m:oMath>
                  </m:oMathPara>
                </a14:m>
                <a:endParaRPr lang="en-US" sz="2400" dirty="0">
                  <a:solidFill>
                    <a:schemeClr val="accent2"/>
                  </a:solidFill>
                </a:endParaRPr>
              </a:p>
            </p:txBody>
          </p:sp>
        </mc:Choice>
        <mc:Fallback xmlns="">
          <p:sp>
            <p:nvSpPr>
              <p:cNvPr id="12" name="TextBox 11">
                <a:extLst>
                  <a:ext uri="{FF2B5EF4-FFF2-40B4-BE49-F238E27FC236}">
                    <a16:creationId xmlns:a16="http://schemas.microsoft.com/office/drawing/2014/main" id="{E23DB824-D3BD-5BC7-9745-105678D7A44D}"/>
                  </a:ext>
                </a:extLst>
              </p:cNvPr>
              <p:cNvSpPr txBox="1">
                <a:spLocks noRot="1" noChangeAspect="1" noMove="1" noResize="1" noEditPoints="1" noAdjustHandles="1" noChangeArrowheads="1" noChangeShapeType="1" noTextEdit="1"/>
              </p:cNvSpPr>
              <p:nvPr/>
            </p:nvSpPr>
            <p:spPr>
              <a:xfrm>
                <a:off x="3820418" y="5786760"/>
                <a:ext cx="1288703" cy="781368"/>
              </a:xfrm>
              <a:prstGeom prst="rect">
                <a:avLst/>
              </a:prstGeom>
              <a:blipFill>
                <a:blip r:embed="rId10"/>
                <a:stretch>
                  <a:fillRect b="-806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74DC36A8-6E68-D722-528D-FB6808A524C5}"/>
                  </a:ext>
                </a:extLst>
              </p:cNvPr>
              <p:cNvSpPr txBox="1"/>
              <p:nvPr/>
            </p:nvSpPr>
            <p:spPr>
              <a:xfrm>
                <a:off x="7936738" y="5791667"/>
                <a:ext cx="1288703" cy="78136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b="0" i="1" smtClean="0">
                              <a:solidFill>
                                <a:schemeClr val="accent2"/>
                              </a:solidFill>
                              <a:latin typeface="Cambria Math" panose="02040503050406030204" pitchFamily="18" charset="0"/>
                            </a:rPr>
                          </m:ctrlPr>
                        </m:fPr>
                        <m:num>
                          <m:sSub>
                            <m:sSubPr>
                              <m:ctrlPr>
                                <a:rPr lang="en-US" sz="2400" b="0" i="1" smtClean="0">
                                  <a:solidFill>
                                    <a:schemeClr val="accent2"/>
                                  </a:solidFill>
                                  <a:latin typeface="Cambria Math" panose="02040503050406030204" pitchFamily="18" charset="0"/>
                                </a:rPr>
                              </m:ctrlPr>
                            </m:sSubPr>
                            <m:e>
                              <m:r>
                                <a:rPr lang="en-US" sz="2400" b="0" i="1" smtClean="0">
                                  <a:solidFill>
                                    <a:schemeClr val="accent2"/>
                                  </a:solidFill>
                                  <a:latin typeface="Cambria Math" panose="02040503050406030204" pitchFamily="18" charset="0"/>
                                </a:rPr>
                                <m:t>𝑁</m:t>
                              </m:r>
                            </m:e>
                            <m:sub>
                              <m:r>
                                <a:rPr lang="en-US" sz="2400" b="0" i="1" smtClean="0">
                                  <a:solidFill>
                                    <a:schemeClr val="accent2"/>
                                  </a:solidFill>
                                  <a:latin typeface="Cambria Math" panose="02040503050406030204" pitchFamily="18" charset="0"/>
                                </a:rPr>
                                <m:t>0</m:t>
                              </m:r>
                            </m:sub>
                          </m:sSub>
                        </m:num>
                        <m:den>
                          <m:r>
                            <a:rPr lang="en-US" sz="2400" b="0" i="1" smtClean="0">
                              <a:solidFill>
                                <a:schemeClr val="accent2"/>
                              </a:solidFill>
                              <a:latin typeface="Cambria Math" panose="02040503050406030204" pitchFamily="18" charset="0"/>
                            </a:rPr>
                            <m:t>𝑁</m:t>
                          </m:r>
                        </m:den>
                      </m:f>
                    </m:oMath>
                  </m:oMathPara>
                </a14:m>
                <a:endParaRPr lang="en-US" sz="2400" dirty="0">
                  <a:solidFill>
                    <a:schemeClr val="accent2"/>
                  </a:solidFill>
                </a:endParaRPr>
              </a:p>
            </p:txBody>
          </p:sp>
        </mc:Choice>
        <mc:Fallback xmlns="">
          <p:sp>
            <p:nvSpPr>
              <p:cNvPr id="13" name="TextBox 12">
                <a:extLst>
                  <a:ext uri="{FF2B5EF4-FFF2-40B4-BE49-F238E27FC236}">
                    <a16:creationId xmlns:a16="http://schemas.microsoft.com/office/drawing/2014/main" id="{74DC36A8-6E68-D722-528D-FB6808A524C5}"/>
                  </a:ext>
                </a:extLst>
              </p:cNvPr>
              <p:cNvSpPr txBox="1">
                <a:spLocks noRot="1" noChangeAspect="1" noMove="1" noResize="1" noEditPoints="1" noAdjustHandles="1" noChangeArrowheads="1" noChangeShapeType="1" noTextEdit="1"/>
              </p:cNvSpPr>
              <p:nvPr/>
            </p:nvSpPr>
            <p:spPr>
              <a:xfrm>
                <a:off x="7936738" y="5791667"/>
                <a:ext cx="1288703" cy="781368"/>
              </a:xfrm>
              <a:prstGeom prst="rect">
                <a:avLst/>
              </a:prstGeom>
              <a:blipFill>
                <a:blip r:embed="rId11"/>
                <a:stretch>
                  <a:fillRect b="-6452"/>
                </a:stretch>
              </a:blipFill>
            </p:spPr>
            <p:txBody>
              <a:bodyPr/>
              <a:lstStyle/>
              <a:p>
                <a:r>
                  <a:rPr lang="en-US">
                    <a:noFill/>
                  </a:rPr>
                  <a:t> </a:t>
                </a:r>
              </a:p>
            </p:txBody>
          </p:sp>
        </mc:Fallback>
      </mc:AlternateContent>
    </p:spTree>
    <p:extLst>
      <p:ext uri="{BB962C8B-B14F-4D97-AF65-F5344CB8AC3E}">
        <p14:creationId xmlns:p14="http://schemas.microsoft.com/office/powerpoint/2010/main" val="304793989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786C3BBC-3DAA-0925-FC14-7991DF65539C}"/>
                  </a:ext>
                </a:extLst>
              </p:cNvPr>
              <p:cNvSpPr>
                <a:spLocks noGrp="1"/>
              </p:cNvSpPr>
              <p:nvPr>
                <p:ph type="title"/>
              </p:nvPr>
            </p:nvSpPr>
            <p:spPr/>
            <p:txBody>
              <a:bodyPr/>
              <a:lstStyle/>
              <a:p>
                <a:r>
                  <a:rPr lang="en-US" dirty="0"/>
                  <a:t>Why does </a:t>
                </a:r>
                <a14:m>
                  <m:oMath xmlns:m="http://schemas.openxmlformats.org/officeDocument/2006/math">
                    <m:r>
                      <a:rPr lang="en-US" i="1" smtClean="0">
                        <a:latin typeface="Cambria Math" panose="02040503050406030204" pitchFamily="18" charset="0"/>
                        <a:ea typeface="Cambria Math" panose="02040503050406030204" pitchFamily="18" charset="0"/>
                      </a:rPr>
                      <m:t>𝔼</m:t>
                    </m:r>
                    <m:d>
                      <m:dPr>
                        <m:begChr m:val="["/>
                        <m:endChr m:val="]"/>
                        <m:ctrlPr>
                          <a:rPr lang="en-US" b="0" i="1" smtClean="0">
                            <a:latin typeface="Cambria Math" panose="02040503050406030204" pitchFamily="18" charset="0"/>
                            <a:ea typeface="Cambria Math" panose="02040503050406030204" pitchFamily="18" charset="0"/>
                          </a:rPr>
                        </m:ctrlPr>
                      </m:dPr>
                      <m:e>
                        <m:acc>
                          <m:accPr>
                            <m:chr m:val="̂"/>
                            <m:ctrlPr>
                              <a:rPr lang="en-US" b="0" i="1" smtClean="0">
                                <a:latin typeface="Cambria Math" panose="02040503050406030204" pitchFamily="18" charset="0"/>
                                <a:ea typeface="Cambria Math" panose="02040503050406030204" pitchFamily="18" charset="0"/>
                              </a:rPr>
                            </m:ctrlPr>
                          </m:accPr>
                          <m:e>
                            <m:r>
                              <a:rPr lang="en-US" b="0" i="1" smtClean="0">
                                <a:latin typeface="Cambria Math" panose="02040503050406030204" pitchFamily="18" charset="0"/>
                                <a:ea typeface="Cambria Math" panose="02040503050406030204" pitchFamily="18" charset="0"/>
                              </a:rPr>
                              <m:t>𝜏</m:t>
                            </m:r>
                          </m:e>
                        </m:acc>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𝜏</m:t>
                    </m:r>
                  </m:oMath>
                </a14:m>
                <a:r>
                  <a:rPr lang="en-US" dirty="0"/>
                  <a:t>?</a:t>
                </a:r>
              </a:p>
            </p:txBody>
          </p:sp>
        </mc:Choice>
        <mc:Fallback xmlns="">
          <p:sp>
            <p:nvSpPr>
              <p:cNvPr id="2" name="Title 1">
                <a:extLst>
                  <a:ext uri="{FF2B5EF4-FFF2-40B4-BE49-F238E27FC236}">
                    <a16:creationId xmlns:a16="http://schemas.microsoft.com/office/drawing/2014/main" id="{786C3BBC-3DAA-0925-FC14-7991DF65539C}"/>
                  </a:ext>
                </a:extLst>
              </p:cNvPr>
              <p:cNvSpPr>
                <a:spLocks noGrp="1" noRot="1" noChangeAspect="1" noMove="1" noResize="1" noEditPoints="1" noAdjustHandles="1" noChangeArrowheads="1" noChangeShapeType="1" noTextEdit="1"/>
              </p:cNvSpPr>
              <p:nvPr>
                <p:ph type="title"/>
              </p:nvPr>
            </p:nvSpPr>
            <p:spPr>
              <a:blipFill>
                <a:blip r:embed="rId3"/>
                <a:stretch>
                  <a:fillRect l="-241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85BCF22E-4076-2A34-819D-2FBAC5BB70B6}"/>
                  </a:ext>
                </a:extLst>
              </p:cNvPr>
              <p:cNvSpPr txBox="1"/>
              <p:nvPr/>
            </p:nvSpPr>
            <p:spPr>
              <a:xfrm>
                <a:off x="1509091" y="1654617"/>
                <a:ext cx="6097656" cy="1036630"/>
              </a:xfrm>
              <a:prstGeom prst="rect">
                <a:avLst/>
              </a:prstGeom>
              <a:noFill/>
            </p:spPr>
            <p:txBody>
              <a:bodyPr wrap="square">
                <a:spAutoFit/>
              </a:bodyPr>
              <a:lstStyle/>
              <a:p>
                <a:pPr marL="0" indent="0" algn="ctr">
                  <a:buNone/>
                </a:pPr>
                <a14:m>
                  <m:oMathPara xmlns:m="http://schemas.openxmlformats.org/officeDocument/2006/math">
                    <m:oMathParaPr>
                      <m:jc m:val="centerGroup"/>
                    </m:oMathParaPr>
                    <m:oMath xmlns:m="http://schemas.openxmlformats.org/officeDocument/2006/math">
                      <m:acc>
                        <m:accPr>
                          <m:chr m:val="̂"/>
                          <m:ctrlPr>
                            <a:rPr lang="en-US" sz="2400" b="0" i="1" smtClean="0">
                              <a:latin typeface="Cambria Math" panose="02040503050406030204" pitchFamily="18" charset="0"/>
                            </a:rPr>
                          </m:ctrlPr>
                        </m:accPr>
                        <m:e>
                          <m:r>
                            <a:rPr lang="en-US" sz="2400" b="0" i="1" smtClean="0">
                              <a:latin typeface="Cambria Math" panose="02040503050406030204" pitchFamily="18" charset="0"/>
                            </a:rPr>
                            <m:t>𝜏</m:t>
                          </m:r>
                        </m:e>
                      </m:acc>
                      <m:r>
                        <a:rPr lang="en-US" sz="2400" b="0" i="1" smtClean="0">
                          <a:latin typeface="Cambria Math" panose="02040503050406030204" pitchFamily="18" charset="0"/>
                        </a:rPr>
                        <m:t>  </m:t>
                      </m:r>
                      <m:r>
                        <a:rPr lang="en-US" sz="2400" b="0" i="1" dirty="0" smtClean="0">
                          <a:latin typeface="Cambria Math" panose="02040503050406030204" pitchFamily="18" charset="0"/>
                        </a:rPr>
                        <m:t>=          </m:t>
                      </m:r>
                      <m:f>
                        <m:fPr>
                          <m:ctrlPr>
                            <a:rPr lang="en-US" sz="2400" b="0" i="1" dirty="0" smtClean="0">
                              <a:latin typeface="Cambria Math" panose="02040503050406030204" pitchFamily="18" charset="0"/>
                            </a:rPr>
                          </m:ctrlPr>
                        </m:fPr>
                        <m:num>
                          <m:r>
                            <a:rPr lang="en-US" sz="2400" b="0" i="1" dirty="0" smtClean="0">
                              <a:latin typeface="Cambria Math" panose="02040503050406030204" pitchFamily="18" charset="0"/>
                            </a:rPr>
                            <m:t>1</m:t>
                          </m:r>
                        </m:num>
                        <m:den>
                          <m:sSub>
                            <m:sSubPr>
                              <m:ctrlPr>
                                <a:rPr lang="en-US" sz="2400" b="0" i="1" dirty="0" smtClean="0">
                                  <a:latin typeface="Cambria Math" panose="02040503050406030204" pitchFamily="18" charset="0"/>
                                </a:rPr>
                              </m:ctrlPr>
                            </m:sSubPr>
                            <m:e>
                              <m:r>
                                <a:rPr lang="en-US" sz="2400" b="0" i="1" dirty="0" smtClean="0">
                                  <a:latin typeface="Cambria Math" panose="02040503050406030204" pitchFamily="18" charset="0"/>
                                </a:rPr>
                                <m:t>𝑁</m:t>
                              </m:r>
                            </m:e>
                            <m:sub>
                              <m:r>
                                <a:rPr lang="en-US" sz="2400" b="0" i="1" dirty="0" smtClean="0">
                                  <a:latin typeface="Cambria Math" panose="02040503050406030204" pitchFamily="18" charset="0"/>
                                </a:rPr>
                                <m:t>1</m:t>
                              </m:r>
                            </m:sub>
                          </m:sSub>
                        </m:den>
                      </m:f>
                      <m:nary>
                        <m:naryPr>
                          <m:chr m:val="∑"/>
                          <m:supHide m:val="on"/>
                          <m:ctrlPr>
                            <a:rPr lang="en-US" sz="2400" b="0" i="1" dirty="0" smtClean="0">
                              <a:latin typeface="Cambria Math" panose="02040503050406030204" pitchFamily="18" charset="0"/>
                            </a:rPr>
                          </m:ctrlPr>
                        </m:naryPr>
                        <m:sub>
                          <m:r>
                            <m:rPr>
                              <m:brk m:alnAt="7"/>
                            </m:rPr>
                            <a:rPr lang="en-US" sz="2400" b="0" i="1" dirty="0" smtClean="0">
                              <a:latin typeface="Cambria Math" panose="02040503050406030204" pitchFamily="18" charset="0"/>
                            </a:rPr>
                            <m:t>𝑖</m:t>
                          </m:r>
                          <m:r>
                            <a:rPr lang="en-US" sz="2400" b="0" i="1" dirty="0" smtClean="0">
                              <a:latin typeface="Cambria Math" panose="02040503050406030204" pitchFamily="18" charset="0"/>
                            </a:rPr>
                            <m:t>:</m:t>
                          </m:r>
                          <m:sSub>
                            <m:sSubPr>
                              <m:ctrlPr>
                                <a:rPr lang="en-US" sz="2400" b="0" i="1" dirty="0" smtClean="0">
                                  <a:latin typeface="Cambria Math" panose="02040503050406030204" pitchFamily="18" charset="0"/>
                                </a:rPr>
                              </m:ctrlPr>
                            </m:sSubPr>
                            <m:e>
                              <m:r>
                                <m:rPr>
                                  <m:brk m:alnAt="7"/>
                                </m:rPr>
                                <a:rPr lang="en-US" sz="2400" b="0" i="1" dirty="0" smtClean="0">
                                  <a:latin typeface="Cambria Math" panose="02040503050406030204" pitchFamily="18" charset="0"/>
                                </a:rPr>
                                <m:t>𝑊</m:t>
                              </m:r>
                            </m:e>
                            <m:sub>
                              <m:r>
                                <m:rPr>
                                  <m:brk m:alnAt="7"/>
                                </m:rPr>
                                <a:rPr lang="en-US" sz="2400" b="0" i="1" dirty="0" smtClean="0">
                                  <a:latin typeface="Cambria Math" panose="02040503050406030204" pitchFamily="18" charset="0"/>
                                </a:rPr>
                                <m:t>𝑖</m:t>
                              </m:r>
                            </m:sub>
                          </m:sSub>
                          <m:r>
                            <m:rPr>
                              <m:brk m:alnAt="7"/>
                            </m:rPr>
                            <a:rPr lang="en-US" sz="2400" b="0" i="1" dirty="0" smtClean="0">
                              <a:latin typeface="Cambria Math" panose="02040503050406030204" pitchFamily="18" charset="0"/>
                            </a:rPr>
                            <m:t>=</m:t>
                          </m:r>
                          <m:r>
                            <a:rPr lang="en-US" sz="2400" b="0" i="1" dirty="0" smtClean="0">
                              <a:latin typeface="Cambria Math" panose="02040503050406030204" pitchFamily="18" charset="0"/>
                            </a:rPr>
                            <m:t>1</m:t>
                          </m:r>
                        </m:sub>
                        <m:sup/>
                        <m:e>
                          <m:sSub>
                            <m:sSubPr>
                              <m:ctrlPr>
                                <a:rPr lang="en-US" sz="2400" b="0" i="1" dirty="0" smtClean="0">
                                  <a:latin typeface="Cambria Math" panose="02040503050406030204" pitchFamily="18" charset="0"/>
                                </a:rPr>
                              </m:ctrlPr>
                            </m:sSubPr>
                            <m:e>
                              <m:r>
                                <a:rPr lang="en-US" sz="2400" b="0" i="1" dirty="0" smtClean="0">
                                  <a:latin typeface="Cambria Math" panose="02040503050406030204" pitchFamily="18" charset="0"/>
                                </a:rPr>
                                <m:t>𝑌</m:t>
                              </m:r>
                            </m:e>
                            <m:sub>
                              <m:r>
                                <a:rPr lang="en-US" sz="2400" b="0" i="1" dirty="0" smtClean="0">
                                  <a:latin typeface="Cambria Math" panose="02040503050406030204" pitchFamily="18" charset="0"/>
                                </a:rPr>
                                <m:t>𝑖</m:t>
                              </m:r>
                            </m:sub>
                          </m:sSub>
                        </m:e>
                      </m:nary>
                      <m:r>
                        <a:rPr lang="en-US" sz="2400" b="0" i="1" dirty="0" smtClean="0">
                          <a:latin typeface="Cambria Math" panose="02040503050406030204" pitchFamily="18" charset="0"/>
                        </a:rPr>
                        <m:t>−</m:t>
                      </m:r>
                      <m:f>
                        <m:fPr>
                          <m:ctrlPr>
                            <a:rPr lang="en-US" sz="2400" b="0" i="1" dirty="0" smtClean="0">
                              <a:latin typeface="Cambria Math" panose="02040503050406030204" pitchFamily="18" charset="0"/>
                            </a:rPr>
                          </m:ctrlPr>
                        </m:fPr>
                        <m:num>
                          <m:r>
                            <a:rPr lang="en-US" sz="2400" b="0" i="1" dirty="0" smtClean="0">
                              <a:latin typeface="Cambria Math" panose="02040503050406030204" pitchFamily="18" charset="0"/>
                            </a:rPr>
                            <m:t>1</m:t>
                          </m:r>
                        </m:num>
                        <m:den>
                          <m:sSub>
                            <m:sSubPr>
                              <m:ctrlPr>
                                <a:rPr lang="en-US" sz="2400" b="0" i="1" dirty="0" smtClean="0">
                                  <a:latin typeface="Cambria Math" panose="02040503050406030204" pitchFamily="18" charset="0"/>
                                </a:rPr>
                              </m:ctrlPr>
                            </m:sSubPr>
                            <m:e>
                              <m:r>
                                <a:rPr lang="en-US" sz="2400" b="0" i="1" dirty="0" smtClean="0">
                                  <a:latin typeface="Cambria Math" panose="02040503050406030204" pitchFamily="18" charset="0"/>
                                </a:rPr>
                                <m:t>𝑁</m:t>
                              </m:r>
                            </m:e>
                            <m:sub>
                              <m:r>
                                <a:rPr lang="en-US" sz="2400" b="0" i="1" dirty="0" smtClean="0">
                                  <a:latin typeface="Cambria Math" panose="02040503050406030204" pitchFamily="18" charset="0"/>
                                </a:rPr>
                                <m:t>0</m:t>
                              </m:r>
                            </m:sub>
                          </m:sSub>
                        </m:den>
                      </m:f>
                      <m:nary>
                        <m:naryPr>
                          <m:chr m:val="∑"/>
                          <m:supHide m:val="on"/>
                          <m:ctrlPr>
                            <a:rPr lang="en-US" sz="2400" b="0" i="1" dirty="0" smtClean="0">
                              <a:latin typeface="Cambria Math" panose="02040503050406030204" pitchFamily="18" charset="0"/>
                            </a:rPr>
                          </m:ctrlPr>
                        </m:naryPr>
                        <m:sub>
                          <m:r>
                            <m:rPr>
                              <m:brk m:alnAt="7"/>
                            </m:rPr>
                            <a:rPr lang="en-US" sz="2400" b="0" i="1" dirty="0" smtClean="0">
                              <a:latin typeface="Cambria Math" panose="02040503050406030204" pitchFamily="18" charset="0"/>
                            </a:rPr>
                            <m:t>𝑖</m:t>
                          </m:r>
                          <m:r>
                            <a:rPr lang="en-US" sz="2400" b="0" i="1" dirty="0" smtClean="0">
                              <a:latin typeface="Cambria Math" panose="02040503050406030204" pitchFamily="18" charset="0"/>
                            </a:rPr>
                            <m:t>:</m:t>
                          </m:r>
                          <m:sSub>
                            <m:sSubPr>
                              <m:ctrlPr>
                                <a:rPr lang="en-US" sz="2400" b="0" i="1" dirty="0" smtClean="0">
                                  <a:latin typeface="Cambria Math" panose="02040503050406030204" pitchFamily="18" charset="0"/>
                                </a:rPr>
                              </m:ctrlPr>
                            </m:sSubPr>
                            <m:e>
                              <m:r>
                                <m:rPr>
                                  <m:brk m:alnAt="7"/>
                                </m:rPr>
                                <a:rPr lang="en-US" sz="2400" b="0" i="1" dirty="0" smtClean="0">
                                  <a:latin typeface="Cambria Math" panose="02040503050406030204" pitchFamily="18" charset="0"/>
                                </a:rPr>
                                <m:t>𝑊</m:t>
                              </m:r>
                            </m:e>
                            <m:sub>
                              <m:r>
                                <m:rPr>
                                  <m:brk m:alnAt="7"/>
                                </m:rPr>
                                <a:rPr lang="en-US" sz="2400" b="0" i="1" dirty="0" smtClean="0">
                                  <a:latin typeface="Cambria Math" panose="02040503050406030204" pitchFamily="18" charset="0"/>
                                </a:rPr>
                                <m:t>𝑖</m:t>
                              </m:r>
                            </m:sub>
                          </m:sSub>
                          <m:r>
                            <m:rPr>
                              <m:brk m:alnAt="7"/>
                            </m:rPr>
                            <a:rPr lang="en-US" sz="2400" b="0" i="1" dirty="0" smtClean="0">
                              <a:latin typeface="Cambria Math" panose="02040503050406030204" pitchFamily="18" charset="0"/>
                            </a:rPr>
                            <m:t>=</m:t>
                          </m:r>
                          <m:r>
                            <a:rPr lang="en-US" sz="2400" b="0" i="1" dirty="0" smtClean="0">
                              <a:latin typeface="Cambria Math" panose="02040503050406030204" pitchFamily="18" charset="0"/>
                            </a:rPr>
                            <m:t>0</m:t>
                          </m:r>
                        </m:sub>
                        <m:sup/>
                        <m:e>
                          <m:sSub>
                            <m:sSubPr>
                              <m:ctrlPr>
                                <a:rPr lang="en-US" sz="2400" b="0" i="1" dirty="0" smtClean="0">
                                  <a:latin typeface="Cambria Math" panose="02040503050406030204" pitchFamily="18" charset="0"/>
                                </a:rPr>
                              </m:ctrlPr>
                            </m:sSubPr>
                            <m:e>
                              <m:r>
                                <a:rPr lang="en-US" sz="2400" b="0" i="1" dirty="0" smtClean="0">
                                  <a:latin typeface="Cambria Math" panose="02040503050406030204" pitchFamily="18" charset="0"/>
                                </a:rPr>
                                <m:t>𝑌</m:t>
                              </m:r>
                            </m:e>
                            <m:sub>
                              <m:r>
                                <a:rPr lang="en-US" sz="2400" b="0" i="1" dirty="0" smtClean="0">
                                  <a:latin typeface="Cambria Math" panose="02040503050406030204" pitchFamily="18" charset="0"/>
                                </a:rPr>
                                <m:t>𝑖</m:t>
                              </m:r>
                            </m:sub>
                          </m:sSub>
                        </m:e>
                      </m:nary>
                    </m:oMath>
                  </m:oMathPara>
                </a14:m>
                <a:endParaRPr lang="en-US" sz="2400" dirty="0"/>
              </a:p>
            </p:txBody>
          </p:sp>
        </mc:Choice>
        <mc:Fallback xmlns="">
          <p:sp>
            <p:nvSpPr>
              <p:cNvPr id="6" name="TextBox 5">
                <a:extLst>
                  <a:ext uri="{FF2B5EF4-FFF2-40B4-BE49-F238E27FC236}">
                    <a16:creationId xmlns:a16="http://schemas.microsoft.com/office/drawing/2014/main" id="{85BCF22E-4076-2A34-819D-2FBAC5BB70B6}"/>
                  </a:ext>
                </a:extLst>
              </p:cNvPr>
              <p:cNvSpPr txBox="1">
                <a:spLocks noRot="1" noChangeAspect="1" noMove="1" noResize="1" noEditPoints="1" noAdjustHandles="1" noChangeArrowheads="1" noChangeShapeType="1" noTextEdit="1"/>
              </p:cNvSpPr>
              <p:nvPr/>
            </p:nvSpPr>
            <p:spPr>
              <a:xfrm>
                <a:off x="1509091" y="1654617"/>
                <a:ext cx="6097656" cy="1036630"/>
              </a:xfrm>
              <a:prstGeom prst="rect">
                <a:avLst/>
              </a:prstGeom>
              <a:blipFill>
                <a:blip r:embed="rId4"/>
                <a:stretch>
                  <a:fillRect t="-125610" b="-16829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0CD1686E-3EDC-5EBE-A5A2-56EC23CA6EE2}"/>
                  </a:ext>
                </a:extLst>
              </p:cNvPr>
              <p:cNvSpPr txBox="1"/>
              <p:nvPr/>
            </p:nvSpPr>
            <p:spPr>
              <a:xfrm>
                <a:off x="1707874" y="1770254"/>
                <a:ext cx="1033670" cy="64633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3600" i="1" smtClean="0">
                          <a:solidFill>
                            <a:schemeClr val="tx1"/>
                          </a:solidFill>
                          <a:latin typeface="Cambria Math" panose="02040503050406030204" pitchFamily="18" charset="0"/>
                          <a:ea typeface="Cambria Math" panose="02040503050406030204" pitchFamily="18" charset="0"/>
                        </a:rPr>
                        <m:t>𝔼</m:t>
                      </m:r>
                      <m:r>
                        <a:rPr lang="en-US" sz="3600" b="0" i="1" smtClean="0">
                          <a:solidFill>
                            <a:schemeClr val="tx1"/>
                          </a:solidFill>
                          <a:latin typeface="Cambria Math" panose="02040503050406030204" pitchFamily="18" charset="0"/>
                          <a:ea typeface="Cambria Math" panose="02040503050406030204" pitchFamily="18" charset="0"/>
                        </a:rPr>
                        <m:t>[  ]</m:t>
                      </m:r>
                    </m:oMath>
                  </m:oMathPara>
                </a14:m>
                <a:endParaRPr lang="en-US" dirty="0">
                  <a:solidFill>
                    <a:schemeClr val="tx1"/>
                  </a:solidFill>
                </a:endParaRPr>
              </a:p>
            </p:txBody>
          </p:sp>
        </mc:Choice>
        <mc:Fallback xmlns="">
          <p:sp>
            <p:nvSpPr>
              <p:cNvPr id="8" name="TextBox 7">
                <a:extLst>
                  <a:ext uri="{FF2B5EF4-FFF2-40B4-BE49-F238E27FC236}">
                    <a16:creationId xmlns:a16="http://schemas.microsoft.com/office/drawing/2014/main" id="{0CD1686E-3EDC-5EBE-A5A2-56EC23CA6EE2}"/>
                  </a:ext>
                </a:extLst>
              </p:cNvPr>
              <p:cNvSpPr txBox="1">
                <a:spLocks noRot="1" noChangeAspect="1" noMove="1" noResize="1" noEditPoints="1" noAdjustHandles="1" noChangeArrowheads="1" noChangeShapeType="1" noTextEdit="1"/>
              </p:cNvSpPr>
              <p:nvPr/>
            </p:nvSpPr>
            <p:spPr>
              <a:xfrm>
                <a:off x="1707874" y="1770254"/>
                <a:ext cx="1033670" cy="646331"/>
              </a:xfrm>
              <a:prstGeom prst="rect">
                <a:avLst/>
              </a:prstGeom>
              <a:blipFill>
                <a:blip r:embed="rId5"/>
                <a:stretch>
                  <a:fillRect l="-3614" t="-1923" r="-8434" b="-2307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091A1BB7-10D1-70B1-AFFA-B15AD81052DD}"/>
                  </a:ext>
                </a:extLst>
              </p:cNvPr>
              <p:cNvSpPr txBox="1"/>
              <p:nvPr/>
            </p:nvSpPr>
            <p:spPr>
              <a:xfrm>
                <a:off x="2940327" y="1770209"/>
                <a:ext cx="1033670" cy="64633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3600" i="1" smtClean="0">
                          <a:solidFill>
                            <a:schemeClr val="tx1"/>
                          </a:solidFill>
                          <a:latin typeface="Cambria Math" panose="02040503050406030204" pitchFamily="18" charset="0"/>
                          <a:ea typeface="Cambria Math" panose="02040503050406030204" pitchFamily="18" charset="0"/>
                        </a:rPr>
                        <m:t>𝔼</m:t>
                      </m:r>
                      <m:r>
                        <a:rPr lang="en-US" sz="3600" b="0" i="1" smtClean="0">
                          <a:solidFill>
                            <a:schemeClr val="tx1"/>
                          </a:solidFill>
                          <a:latin typeface="Cambria Math" panose="02040503050406030204" pitchFamily="18" charset="0"/>
                          <a:ea typeface="Cambria Math" panose="02040503050406030204" pitchFamily="18" charset="0"/>
                        </a:rPr>
                        <m:t>[                                  ]</m:t>
                      </m:r>
                    </m:oMath>
                  </m:oMathPara>
                </a14:m>
                <a:endParaRPr lang="en-US" dirty="0">
                  <a:solidFill>
                    <a:schemeClr val="tx1"/>
                  </a:solidFill>
                </a:endParaRPr>
              </a:p>
            </p:txBody>
          </p:sp>
        </mc:Choice>
        <mc:Fallback xmlns="">
          <p:sp>
            <p:nvSpPr>
              <p:cNvPr id="9" name="TextBox 8">
                <a:extLst>
                  <a:ext uri="{FF2B5EF4-FFF2-40B4-BE49-F238E27FC236}">
                    <a16:creationId xmlns:a16="http://schemas.microsoft.com/office/drawing/2014/main" id="{091A1BB7-10D1-70B1-AFFA-B15AD81052DD}"/>
                  </a:ext>
                </a:extLst>
              </p:cNvPr>
              <p:cNvSpPr txBox="1">
                <a:spLocks noRot="1" noChangeAspect="1" noMove="1" noResize="1" noEditPoints="1" noAdjustHandles="1" noChangeArrowheads="1" noChangeShapeType="1" noTextEdit="1"/>
              </p:cNvSpPr>
              <p:nvPr/>
            </p:nvSpPr>
            <p:spPr>
              <a:xfrm>
                <a:off x="2940327" y="1770209"/>
                <a:ext cx="1033670" cy="646331"/>
              </a:xfrm>
              <a:prstGeom prst="rect">
                <a:avLst/>
              </a:prstGeom>
              <a:blipFill>
                <a:blip r:embed="rId6"/>
                <a:stretch>
                  <a:fillRect l="-6098" t="-1923" r="-315854" b="-2307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5C58F4CF-CB8E-13D0-7127-37111CF73504}"/>
                  </a:ext>
                </a:extLst>
              </p:cNvPr>
              <p:cNvSpPr txBox="1"/>
              <p:nvPr/>
            </p:nvSpPr>
            <p:spPr>
              <a:xfrm>
                <a:off x="1707874" y="2793402"/>
                <a:ext cx="9079396" cy="130388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ea typeface="Cambria Math" panose="02040503050406030204" pitchFamily="18" charset="0"/>
                        </a:rPr>
                        <m:t>=</m:t>
                      </m:r>
                      <m:r>
                        <a:rPr lang="en-US" sz="2800" b="0" i="1" smtClean="0">
                          <a:solidFill>
                            <a:schemeClr val="tx1"/>
                          </a:solidFill>
                          <a:latin typeface="Cambria Math" panose="02040503050406030204" pitchFamily="18" charset="0"/>
                          <a:ea typeface="Cambria Math" panose="02040503050406030204" pitchFamily="18" charset="0"/>
                        </a:rPr>
                        <m:t>𝔼</m:t>
                      </m:r>
                      <m:d>
                        <m:dPr>
                          <m:begChr m:val="["/>
                          <m:endChr m:val="]"/>
                          <m:ctrlPr>
                            <a:rPr lang="en-US" sz="2800" b="0" i="1" smtClean="0">
                              <a:solidFill>
                                <a:schemeClr val="tx1"/>
                              </a:solidFill>
                              <a:latin typeface="Cambria Math" panose="02040503050406030204" pitchFamily="18" charset="0"/>
                              <a:ea typeface="Cambria Math" panose="02040503050406030204" pitchFamily="18" charset="0"/>
                            </a:rPr>
                          </m:ctrlPr>
                        </m:dPr>
                        <m:e>
                          <m:f>
                            <m:fPr>
                              <m:ctrlPr>
                                <a:rPr lang="en-US" sz="2800" b="0" i="1" smtClean="0">
                                  <a:solidFill>
                                    <a:schemeClr val="tx1"/>
                                  </a:solidFill>
                                  <a:latin typeface="Cambria Math" panose="02040503050406030204" pitchFamily="18" charset="0"/>
                                  <a:ea typeface="Cambria Math" panose="02040503050406030204" pitchFamily="18" charset="0"/>
                                </a:rPr>
                              </m:ctrlPr>
                            </m:fPr>
                            <m:num>
                              <m:r>
                                <a:rPr lang="en-US" sz="2800" b="0" i="1" smtClean="0">
                                  <a:solidFill>
                                    <a:schemeClr val="tx1"/>
                                  </a:solidFill>
                                  <a:latin typeface="Cambria Math" panose="02040503050406030204" pitchFamily="18" charset="0"/>
                                  <a:ea typeface="Cambria Math" panose="02040503050406030204" pitchFamily="18" charset="0"/>
                                </a:rPr>
                                <m:t>1</m:t>
                              </m:r>
                            </m:num>
                            <m:den>
                              <m:sSub>
                                <m:sSubPr>
                                  <m:ctrlPr>
                                    <a:rPr lang="en-US" sz="2800" b="0" i="1" smtClean="0">
                                      <a:solidFill>
                                        <a:schemeClr val="tx1"/>
                                      </a:solidFill>
                                      <a:latin typeface="Cambria Math" panose="02040503050406030204" pitchFamily="18" charset="0"/>
                                      <a:ea typeface="Cambria Math" panose="02040503050406030204" pitchFamily="18" charset="0"/>
                                    </a:rPr>
                                  </m:ctrlPr>
                                </m:sSubPr>
                                <m:e>
                                  <m:r>
                                    <a:rPr lang="en-US" sz="2800" b="0" i="1" smtClean="0">
                                      <a:solidFill>
                                        <a:schemeClr val="tx1"/>
                                      </a:solidFill>
                                      <a:latin typeface="Cambria Math" panose="02040503050406030204" pitchFamily="18" charset="0"/>
                                      <a:ea typeface="Cambria Math" panose="02040503050406030204" pitchFamily="18" charset="0"/>
                                    </a:rPr>
                                    <m:t>𝑁</m:t>
                                  </m:r>
                                </m:e>
                                <m:sub>
                                  <m:r>
                                    <a:rPr lang="en-US" sz="2800" b="0" i="1" smtClean="0">
                                      <a:solidFill>
                                        <a:schemeClr val="tx1"/>
                                      </a:solidFill>
                                      <a:latin typeface="Cambria Math" panose="02040503050406030204" pitchFamily="18" charset="0"/>
                                      <a:ea typeface="Cambria Math" panose="02040503050406030204" pitchFamily="18" charset="0"/>
                                    </a:rPr>
                                    <m:t>1</m:t>
                                  </m:r>
                                </m:sub>
                              </m:sSub>
                            </m:den>
                          </m:f>
                          <m:nary>
                            <m:naryPr>
                              <m:chr m:val="∑"/>
                              <m:ctrlPr>
                                <a:rPr lang="en-US" sz="2800" b="0" i="1" smtClean="0">
                                  <a:solidFill>
                                    <a:schemeClr val="tx1"/>
                                  </a:solidFill>
                                  <a:latin typeface="Cambria Math" panose="02040503050406030204" pitchFamily="18" charset="0"/>
                                  <a:ea typeface="Cambria Math" panose="02040503050406030204" pitchFamily="18" charset="0"/>
                                </a:rPr>
                              </m:ctrlPr>
                            </m:naryPr>
                            <m:sub>
                              <m:r>
                                <m:rPr>
                                  <m:brk m:alnAt="23"/>
                                </m:rPr>
                                <a:rPr lang="en-US" sz="2800" b="0" i="1" smtClean="0">
                                  <a:solidFill>
                                    <a:schemeClr val="tx1"/>
                                  </a:solidFill>
                                  <a:latin typeface="Cambria Math" panose="02040503050406030204" pitchFamily="18" charset="0"/>
                                  <a:ea typeface="Cambria Math" panose="02040503050406030204" pitchFamily="18" charset="0"/>
                                </a:rPr>
                                <m:t>𝑖</m:t>
                              </m:r>
                              <m:r>
                                <a:rPr lang="en-US" sz="2800" b="0" i="1" smtClean="0">
                                  <a:solidFill>
                                    <a:schemeClr val="tx1"/>
                                  </a:solidFill>
                                  <a:latin typeface="Cambria Math" panose="02040503050406030204" pitchFamily="18" charset="0"/>
                                  <a:ea typeface="Cambria Math" panose="02040503050406030204" pitchFamily="18" charset="0"/>
                                </a:rPr>
                                <m:t>=1</m:t>
                              </m:r>
                            </m:sub>
                            <m:sup>
                              <m:r>
                                <a:rPr lang="en-US" sz="2800" b="0" i="1" smtClean="0">
                                  <a:solidFill>
                                    <a:schemeClr val="tx1"/>
                                  </a:solidFill>
                                  <a:latin typeface="Cambria Math" panose="02040503050406030204" pitchFamily="18" charset="0"/>
                                  <a:ea typeface="Cambria Math" panose="02040503050406030204" pitchFamily="18" charset="0"/>
                                </a:rPr>
                                <m:t>𝑁</m:t>
                              </m:r>
                            </m:sup>
                            <m:e>
                              <m:r>
                                <a:rPr lang="en-US" sz="2800" b="1" i="1" smtClean="0">
                                  <a:solidFill>
                                    <a:schemeClr val="tx1"/>
                                  </a:solidFill>
                                  <a:latin typeface="Cambria Math" panose="02040503050406030204" pitchFamily="18" charset="0"/>
                                  <a:ea typeface="Cambria Math" panose="02040503050406030204" pitchFamily="18" charset="0"/>
                                </a:rPr>
                                <m:t>𝟏</m:t>
                              </m:r>
                              <m:d>
                                <m:dPr>
                                  <m:begChr m:val="["/>
                                  <m:endChr m:val="]"/>
                                  <m:ctrlPr>
                                    <a:rPr lang="en-US" sz="2800" b="0" i="1" smtClean="0">
                                      <a:solidFill>
                                        <a:schemeClr val="tx1"/>
                                      </a:solidFill>
                                      <a:latin typeface="Cambria Math" panose="02040503050406030204" pitchFamily="18" charset="0"/>
                                      <a:ea typeface="Cambria Math" panose="02040503050406030204" pitchFamily="18" charset="0"/>
                                    </a:rPr>
                                  </m:ctrlPr>
                                </m:dPr>
                                <m:e>
                                  <m:sSub>
                                    <m:sSubPr>
                                      <m:ctrlPr>
                                        <a:rPr lang="en-US" sz="2800" b="0" i="1" smtClean="0">
                                          <a:solidFill>
                                            <a:schemeClr val="tx1"/>
                                          </a:solidFill>
                                          <a:latin typeface="Cambria Math" panose="02040503050406030204" pitchFamily="18" charset="0"/>
                                          <a:ea typeface="Cambria Math" panose="02040503050406030204" pitchFamily="18" charset="0"/>
                                        </a:rPr>
                                      </m:ctrlPr>
                                    </m:sSubPr>
                                    <m:e>
                                      <m:r>
                                        <a:rPr lang="en-US" sz="2800" b="0" i="1" smtClean="0">
                                          <a:solidFill>
                                            <a:schemeClr val="tx1"/>
                                          </a:solidFill>
                                          <a:latin typeface="Cambria Math" panose="02040503050406030204" pitchFamily="18" charset="0"/>
                                          <a:ea typeface="Cambria Math" panose="02040503050406030204" pitchFamily="18" charset="0"/>
                                        </a:rPr>
                                        <m:t>𝑊</m:t>
                                      </m:r>
                                    </m:e>
                                    <m:sub>
                                      <m:r>
                                        <a:rPr lang="en-US" sz="2800" b="0" i="1" smtClean="0">
                                          <a:solidFill>
                                            <a:schemeClr val="tx1"/>
                                          </a:solidFill>
                                          <a:latin typeface="Cambria Math" panose="02040503050406030204" pitchFamily="18" charset="0"/>
                                          <a:ea typeface="Cambria Math" panose="02040503050406030204" pitchFamily="18" charset="0"/>
                                        </a:rPr>
                                        <m:t>𝑖</m:t>
                                      </m:r>
                                    </m:sub>
                                  </m:sSub>
                                  <m:r>
                                    <a:rPr lang="en-US" sz="2800" b="0" i="1" smtClean="0">
                                      <a:solidFill>
                                        <a:schemeClr val="tx1"/>
                                      </a:solidFill>
                                      <a:latin typeface="Cambria Math" panose="02040503050406030204" pitchFamily="18" charset="0"/>
                                      <a:ea typeface="Cambria Math" panose="02040503050406030204" pitchFamily="18" charset="0"/>
                                    </a:rPr>
                                    <m:t>=1</m:t>
                                  </m:r>
                                </m:e>
                              </m:d>
                              <m:sSub>
                                <m:sSubPr>
                                  <m:ctrlPr>
                                    <a:rPr lang="en-US" sz="2800" b="0" i="1" smtClean="0">
                                      <a:solidFill>
                                        <a:schemeClr val="tx1"/>
                                      </a:solidFill>
                                      <a:latin typeface="Cambria Math" panose="02040503050406030204" pitchFamily="18" charset="0"/>
                                      <a:ea typeface="Cambria Math" panose="02040503050406030204" pitchFamily="18" charset="0"/>
                                    </a:rPr>
                                  </m:ctrlPr>
                                </m:sSubPr>
                                <m:e>
                                  <m:r>
                                    <a:rPr lang="en-US" sz="2800" b="0" i="1" smtClean="0">
                                      <a:solidFill>
                                        <a:schemeClr val="tx1"/>
                                      </a:solidFill>
                                      <a:latin typeface="Cambria Math" panose="02040503050406030204" pitchFamily="18" charset="0"/>
                                      <a:ea typeface="Cambria Math" panose="02040503050406030204" pitchFamily="18" charset="0"/>
                                    </a:rPr>
                                    <m:t>𝑌</m:t>
                                  </m:r>
                                </m:e>
                                <m:sub>
                                  <m:r>
                                    <a:rPr lang="en-US" sz="2800" b="0" i="1" smtClean="0">
                                      <a:solidFill>
                                        <a:schemeClr val="tx1"/>
                                      </a:solidFill>
                                      <a:latin typeface="Cambria Math" panose="02040503050406030204" pitchFamily="18" charset="0"/>
                                      <a:ea typeface="Cambria Math" panose="02040503050406030204" pitchFamily="18" charset="0"/>
                                    </a:rPr>
                                    <m:t>𝑖</m:t>
                                  </m:r>
                                </m:sub>
                              </m:sSub>
                              <m:r>
                                <a:rPr lang="en-US" sz="2800" b="0" i="1" smtClean="0">
                                  <a:solidFill>
                                    <a:schemeClr val="tx1"/>
                                  </a:solidFill>
                                  <a:latin typeface="Cambria Math" panose="02040503050406030204" pitchFamily="18" charset="0"/>
                                  <a:ea typeface="Cambria Math" panose="02040503050406030204" pitchFamily="18" charset="0"/>
                                </a:rPr>
                                <m:t>(1) −</m:t>
                              </m:r>
                              <m:f>
                                <m:fPr>
                                  <m:ctrlPr>
                                    <a:rPr lang="en-US" sz="2800" b="0" i="1" smtClean="0">
                                      <a:solidFill>
                                        <a:schemeClr val="tx1"/>
                                      </a:solidFill>
                                      <a:latin typeface="Cambria Math" panose="02040503050406030204" pitchFamily="18" charset="0"/>
                                      <a:ea typeface="Cambria Math" panose="02040503050406030204" pitchFamily="18" charset="0"/>
                                    </a:rPr>
                                  </m:ctrlPr>
                                </m:fPr>
                                <m:num>
                                  <m:r>
                                    <a:rPr lang="en-US" sz="2800" b="0" i="1" smtClean="0">
                                      <a:solidFill>
                                        <a:schemeClr val="tx1"/>
                                      </a:solidFill>
                                      <a:latin typeface="Cambria Math" panose="02040503050406030204" pitchFamily="18" charset="0"/>
                                      <a:ea typeface="Cambria Math" panose="02040503050406030204" pitchFamily="18" charset="0"/>
                                    </a:rPr>
                                    <m:t>1</m:t>
                                  </m:r>
                                </m:num>
                                <m:den>
                                  <m:sSub>
                                    <m:sSubPr>
                                      <m:ctrlPr>
                                        <a:rPr lang="en-US" sz="2800" b="0" i="1" smtClean="0">
                                          <a:solidFill>
                                            <a:schemeClr val="tx1"/>
                                          </a:solidFill>
                                          <a:latin typeface="Cambria Math" panose="02040503050406030204" pitchFamily="18" charset="0"/>
                                          <a:ea typeface="Cambria Math" panose="02040503050406030204" pitchFamily="18" charset="0"/>
                                        </a:rPr>
                                      </m:ctrlPr>
                                    </m:sSubPr>
                                    <m:e>
                                      <m:r>
                                        <a:rPr lang="en-US" sz="2800" b="0" i="1" smtClean="0">
                                          <a:solidFill>
                                            <a:schemeClr val="tx1"/>
                                          </a:solidFill>
                                          <a:latin typeface="Cambria Math" panose="02040503050406030204" pitchFamily="18" charset="0"/>
                                          <a:ea typeface="Cambria Math" panose="02040503050406030204" pitchFamily="18" charset="0"/>
                                        </a:rPr>
                                        <m:t>𝑁</m:t>
                                      </m:r>
                                    </m:e>
                                    <m:sub>
                                      <m:r>
                                        <a:rPr lang="en-US" sz="2800" b="0" i="1" smtClean="0">
                                          <a:solidFill>
                                            <a:schemeClr val="tx1"/>
                                          </a:solidFill>
                                          <a:latin typeface="Cambria Math" panose="02040503050406030204" pitchFamily="18" charset="0"/>
                                          <a:ea typeface="Cambria Math" panose="02040503050406030204" pitchFamily="18" charset="0"/>
                                        </a:rPr>
                                        <m:t>0</m:t>
                                      </m:r>
                                    </m:sub>
                                  </m:sSub>
                                </m:den>
                              </m:f>
                            </m:e>
                          </m:nary>
                          <m:nary>
                            <m:naryPr>
                              <m:chr m:val="∑"/>
                              <m:ctrlPr>
                                <a:rPr lang="en-US" sz="2800" i="1">
                                  <a:solidFill>
                                    <a:schemeClr val="tx1"/>
                                  </a:solidFill>
                                  <a:latin typeface="Cambria Math" panose="02040503050406030204" pitchFamily="18" charset="0"/>
                                  <a:ea typeface="Cambria Math" panose="02040503050406030204" pitchFamily="18" charset="0"/>
                                </a:rPr>
                              </m:ctrlPr>
                            </m:naryPr>
                            <m:sub>
                              <m:r>
                                <m:rPr>
                                  <m:brk m:alnAt="23"/>
                                </m:rPr>
                                <a:rPr lang="en-US" sz="2800" i="1">
                                  <a:solidFill>
                                    <a:schemeClr val="tx1"/>
                                  </a:solidFill>
                                  <a:latin typeface="Cambria Math" panose="02040503050406030204" pitchFamily="18" charset="0"/>
                                  <a:ea typeface="Cambria Math" panose="02040503050406030204" pitchFamily="18" charset="0"/>
                                </a:rPr>
                                <m:t>𝑖</m:t>
                              </m:r>
                              <m:r>
                                <a:rPr lang="en-US" sz="2800" i="1">
                                  <a:solidFill>
                                    <a:schemeClr val="tx1"/>
                                  </a:solidFill>
                                  <a:latin typeface="Cambria Math" panose="02040503050406030204" pitchFamily="18" charset="0"/>
                                  <a:ea typeface="Cambria Math" panose="02040503050406030204" pitchFamily="18" charset="0"/>
                                </a:rPr>
                                <m:t>=1</m:t>
                              </m:r>
                            </m:sub>
                            <m:sup>
                              <m:r>
                                <a:rPr lang="en-US" sz="2800" i="1">
                                  <a:solidFill>
                                    <a:schemeClr val="tx1"/>
                                  </a:solidFill>
                                  <a:latin typeface="Cambria Math" panose="02040503050406030204" pitchFamily="18" charset="0"/>
                                  <a:ea typeface="Cambria Math" panose="02040503050406030204" pitchFamily="18" charset="0"/>
                                </a:rPr>
                                <m:t>𝑁</m:t>
                              </m:r>
                            </m:sup>
                            <m:e>
                              <m:r>
                                <a:rPr lang="en-US" sz="2800" b="1" i="1" smtClean="0">
                                  <a:solidFill>
                                    <a:schemeClr val="tx1"/>
                                  </a:solidFill>
                                  <a:latin typeface="Cambria Math" panose="02040503050406030204" pitchFamily="18" charset="0"/>
                                  <a:ea typeface="Cambria Math" panose="02040503050406030204" pitchFamily="18" charset="0"/>
                                </a:rPr>
                                <m:t>𝟏</m:t>
                              </m:r>
                              <m:d>
                                <m:dPr>
                                  <m:begChr m:val="["/>
                                  <m:endChr m:val="]"/>
                                  <m:ctrlPr>
                                    <a:rPr lang="en-US" sz="2800" i="1">
                                      <a:solidFill>
                                        <a:schemeClr val="tx1"/>
                                      </a:solidFill>
                                      <a:latin typeface="Cambria Math" panose="02040503050406030204" pitchFamily="18" charset="0"/>
                                      <a:ea typeface="Cambria Math" panose="02040503050406030204" pitchFamily="18" charset="0"/>
                                    </a:rPr>
                                  </m:ctrlPr>
                                </m:dPr>
                                <m:e>
                                  <m:sSub>
                                    <m:sSubPr>
                                      <m:ctrlPr>
                                        <a:rPr lang="en-US" sz="2800" i="1">
                                          <a:solidFill>
                                            <a:schemeClr val="tx1"/>
                                          </a:solidFill>
                                          <a:latin typeface="Cambria Math" panose="02040503050406030204" pitchFamily="18" charset="0"/>
                                          <a:ea typeface="Cambria Math" panose="02040503050406030204" pitchFamily="18" charset="0"/>
                                        </a:rPr>
                                      </m:ctrlPr>
                                    </m:sSubPr>
                                    <m:e>
                                      <m:r>
                                        <a:rPr lang="en-US" sz="2800" i="1">
                                          <a:solidFill>
                                            <a:schemeClr val="tx1"/>
                                          </a:solidFill>
                                          <a:latin typeface="Cambria Math" panose="02040503050406030204" pitchFamily="18" charset="0"/>
                                          <a:ea typeface="Cambria Math" panose="02040503050406030204" pitchFamily="18" charset="0"/>
                                        </a:rPr>
                                        <m:t>𝑊</m:t>
                                      </m:r>
                                    </m:e>
                                    <m:sub>
                                      <m:r>
                                        <a:rPr lang="en-US" sz="2800" i="1">
                                          <a:solidFill>
                                            <a:schemeClr val="tx1"/>
                                          </a:solidFill>
                                          <a:latin typeface="Cambria Math" panose="02040503050406030204" pitchFamily="18" charset="0"/>
                                          <a:ea typeface="Cambria Math" panose="02040503050406030204" pitchFamily="18" charset="0"/>
                                        </a:rPr>
                                        <m:t>𝑖</m:t>
                                      </m:r>
                                    </m:sub>
                                  </m:sSub>
                                  <m:r>
                                    <a:rPr lang="en-US" sz="2800" i="1">
                                      <a:solidFill>
                                        <a:schemeClr val="tx1"/>
                                      </a:solidFill>
                                      <a:latin typeface="Cambria Math" panose="02040503050406030204" pitchFamily="18" charset="0"/>
                                      <a:ea typeface="Cambria Math" panose="02040503050406030204" pitchFamily="18" charset="0"/>
                                    </a:rPr>
                                    <m:t>=</m:t>
                                  </m:r>
                                  <m:r>
                                    <a:rPr lang="en-US" sz="2800" b="0" i="1" smtClean="0">
                                      <a:solidFill>
                                        <a:schemeClr val="tx1"/>
                                      </a:solidFill>
                                      <a:latin typeface="Cambria Math" panose="02040503050406030204" pitchFamily="18" charset="0"/>
                                      <a:ea typeface="Cambria Math" panose="02040503050406030204" pitchFamily="18" charset="0"/>
                                    </a:rPr>
                                    <m:t>0</m:t>
                                  </m:r>
                                </m:e>
                              </m:d>
                              <m:sSub>
                                <m:sSubPr>
                                  <m:ctrlPr>
                                    <a:rPr lang="en-US" sz="2800" i="1">
                                      <a:solidFill>
                                        <a:schemeClr val="tx1"/>
                                      </a:solidFill>
                                      <a:latin typeface="Cambria Math" panose="02040503050406030204" pitchFamily="18" charset="0"/>
                                      <a:ea typeface="Cambria Math" panose="02040503050406030204" pitchFamily="18" charset="0"/>
                                    </a:rPr>
                                  </m:ctrlPr>
                                </m:sSubPr>
                                <m:e>
                                  <m:r>
                                    <a:rPr lang="en-US" sz="2800" i="1">
                                      <a:solidFill>
                                        <a:schemeClr val="tx1"/>
                                      </a:solidFill>
                                      <a:latin typeface="Cambria Math" panose="02040503050406030204" pitchFamily="18" charset="0"/>
                                      <a:ea typeface="Cambria Math" panose="02040503050406030204" pitchFamily="18" charset="0"/>
                                    </a:rPr>
                                    <m:t>𝑌</m:t>
                                  </m:r>
                                </m:e>
                                <m:sub>
                                  <m:r>
                                    <a:rPr lang="en-US" sz="2800" i="1">
                                      <a:solidFill>
                                        <a:schemeClr val="tx1"/>
                                      </a:solidFill>
                                      <a:latin typeface="Cambria Math" panose="02040503050406030204" pitchFamily="18" charset="0"/>
                                      <a:ea typeface="Cambria Math" panose="02040503050406030204" pitchFamily="18" charset="0"/>
                                    </a:rPr>
                                    <m:t>𝑖</m:t>
                                  </m:r>
                                </m:sub>
                              </m:sSub>
                              <m:r>
                                <a:rPr lang="en-US" sz="2800" b="0" i="1" smtClean="0">
                                  <a:solidFill>
                                    <a:schemeClr val="tx1"/>
                                  </a:solidFill>
                                  <a:latin typeface="Cambria Math" panose="02040503050406030204" pitchFamily="18" charset="0"/>
                                  <a:ea typeface="Cambria Math" panose="02040503050406030204" pitchFamily="18" charset="0"/>
                                </a:rPr>
                                <m:t>(0)</m:t>
                              </m:r>
                              <m:r>
                                <a:rPr lang="en-US" sz="2800" i="1">
                                  <a:solidFill>
                                    <a:schemeClr val="tx1"/>
                                  </a:solidFill>
                                  <a:latin typeface="Cambria Math" panose="02040503050406030204" pitchFamily="18" charset="0"/>
                                  <a:ea typeface="Cambria Math" panose="02040503050406030204" pitchFamily="18" charset="0"/>
                                </a:rPr>
                                <m:t> </m:t>
                              </m:r>
                            </m:e>
                          </m:nary>
                        </m:e>
                      </m:d>
                    </m:oMath>
                  </m:oMathPara>
                </a14:m>
                <a:endParaRPr lang="en-US" sz="1400" dirty="0">
                  <a:solidFill>
                    <a:schemeClr val="tx1"/>
                  </a:solidFill>
                </a:endParaRPr>
              </a:p>
            </p:txBody>
          </p:sp>
        </mc:Choice>
        <mc:Fallback xmlns="">
          <p:sp>
            <p:nvSpPr>
              <p:cNvPr id="3" name="TextBox 2">
                <a:extLst>
                  <a:ext uri="{FF2B5EF4-FFF2-40B4-BE49-F238E27FC236}">
                    <a16:creationId xmlns:a16="http://schemas.microsoft.com/office/drawing/2014/main" id="{5C58F4CF-CB8E-13D0-7127-37111CF73504}"/>
                  </a:ext>
                </a:extLst>
              </p:cNvPr>
              <p:cNvSpPr txBox="1">
                <a:spLocks noRot="1" noChangeAspect="1" noMove="1" noResize="1" noEditPoints="1" noAdjustHandles="1" noChangeArrowheads="1" noChangeShapeType="1" noTextEdit="1"/>
              </p:cNvSpPr>
              <p:nvPr/>
            </p:nvSpPr>
            <p:spPr>
              <a:xfrm>
                <a:off x="1707874" y="2793402"/>
                <a:ext cx="9079396" cy="1303883"/>
              </a:xfrm>
              <a:prstGeom prst="rect">
                <a:avLst/>
              </a:prstGeom>
              <a:blipFill>
                <a:blip r:embed="rId7"/>
                <a:stretch>
                  <a:fillRect t="-100000" b="-1576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65B5805E-7D75-7215-A997-2F571F2C1F8C}"/>
                  </a:ext>
                </a:extLst>
              </p:cNvPr>
              <p:cNvSpPr txBox="1"/>
              <p:nvPr/>
            </p:nvSpPr>
            <p:spPr>
              <a:xfrm>
                <a:off x="1707874" y="4129906"/>
                <a:ext cx="9079396" cy="134928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ea typeface="Cambria Math" panose="02040503050406030204" pitchFamily="18" charset="0"/>
                        </a:rPr>
                        <m:t>=</m:t>
                      </m:r>
                      <m:f>
                        <m:fPr>
                          <m:ctrlPr>
                            <a:rPr lang="en-US" sz="2800" b="0" i="1" smtClean="0">
                              <a:solidFill>
                                <a:schemeClr val="tx1"/>
                              </a:solidFill>
                              <a:latin typeface="Cambria Math" panose="02040503050406030204" pitchFamily="18" charset="0"/>
                              <a:ea typeface="Cambria Math" panose="02040503050406030204" pitchFamily="18" charset="0"/>
                            </a:rPr>
                          </m:ctrlPr>
                        </m:fPr>
                        <m:num>
                          <m:r>
                            <a:rPr lang="en-US" sz="2800" b="0" i="1" smtClean="0">
                              <a:solidFill>
                                <a:schemeClr val="tx1"/>
                              </a:solidFill>
                              <a:latin typeface="Cambria Math" panose="02040503050406030204" pitchFamily="18" charset="0"/>
                              <a:ea typeface="Cambria Math" panose="02040503050406030204" pitchFamily="18" charset="0"/>
                            </a:rPr>
                            <m:t>1</m:t>
                          </m:r>
                        </m:num>
                        <m:den>
                          <m:sSub>
                            <m:sSubPr>
                              <m:ctrlPr>
                                <a:rPr lang="en-US" sz="2800" b="0" i="1" smtClean="0">
                                  <a:solidFill>
                                    <a:schemeClr val="tx1"/>
                                  </a:solidFill>
                                  <a:latin typeface="Cambria Math" panose="02040503050406030204" pitchFamily="18" charset="0"/>
                                  <a:ea typeface="Cambria Math" panose="02040503050406030204" pitchFamily="18" charset="0"/>
                                </a:rPr>
                              </m:ctrlPr>
                            </m:sSubPr>
                            <m:e>
                              <m:r>
                                <a:rPr lang="en-US" sz="2800" b="0" i="1" smtClean="0">
                                  <a:solidFill>
                                    <a:schemeClr val="tx1"/>
                                  </a:solidFill>
                                  <a:latin typeface="Cambria Math" panose="02040503050406030204" pitchFamily="18" charset="0"/>
                                  <a:ea typeface="Cambria Math" panose="02040503050406030204" pitchFamily="18" charset="0"/>
                                </a:rPr>
                                <m:t>𝑁</m:t>
                              </m:r>
                            </m:e>
                            <m:sub>
                              <m:r>
                                <a:rPr lang="en-US" sz="2800" b="0" i="1" smtClean="0">
                                  <a:solidFill>
                                    <a:schemeClr val="tx1"/>
                                  </a:solidFill>
                                  <a:latin typeface="Cambria Math" panose="02040503050406030204" pitchFamily="18" charset="0"/>
                                  <a:ea typeface="Cambria Math" panose="02040503050406030204" pitchFamily="18" charset="0"/>
                                </a:rPr>
                                <m:t>1</m:t>
                              </m:r>
                            </m:sub>
                          </m:sSub>
                        </m:den>
                      </m:f>
                      <m:nary>
                        <m:naryPr>
                          <m:chr m:val="∑"/>
                          <m:ctrlPr>
                            <a:rPr lang="en-US" sz="2800" b="0" i="1" smtClean="0">
                              <a:solidFill>
                                <a:schemeClr val="tx1"/>
                              </a:solidFill>
                              <a:latin typeface="Cambria Math" panose="02040503050406030204" pitchFamily="18" charset="0"/>
                              <a:ea typeface="Cambria Math" panose="02040503050406030204" pitchFamily="18" charset="0"/>
                            </a:rPr>
                          </m:ctrlPr>
                        </m:naryPr>
                        <m:sub>
                          <m:r>
                            <m:rPr>
                              <m:brk m:alnAt="23"/>
                            </m:rPr>
                            <a:rPr lang="en-US" sz="2800" b="0" i="1" smtClean="0">
                              <a:solidFill>
                                <a:schemeClr val="tx1"/>
                              </a:solidFill>
                              <a:latin typeface="Cambria Math" panose="02040503050406030204" pitchFamily="18" charset="0"/>
                              <a:ea typeface="Cambria Math" panose="02040503050406030204" pitchFamily="18" charset="0"/>
                            </a:rPr>
                            <m:t>𝑖</m:t>
                          </m:r>
                          <m:r>
                            <a:rPr lang="en-US" sz="2800" b="0" i="1" smtClean="0">
                              <a:solidFill>
                                <a:schemeClr val="tx1"/>
                              </a:solidFill>
                              <a:latin typeface="Cambria Math" panose="02040503050406030204" pitchFamily="18" charset="0"/>
                              <a:ea typeface="Cambria Math" panose="02040503050406030204" pitchFamily="18" charset="0"/>
                            </a:rPr>
                            <m:t>=1</m:t>
                          </m:r>
                        </m:sub>
                        <m:sup>
                          <m:r>
                            <a:rPr lang="en-US" sz="2800" b="0" i="1" smtClean="0">
                              <a:solidFill>
                                <a:schemeClr val="tx1"/>
                              </a:solidFill>
                              <a:latin typeface="Cambria Math" panose="02040503050406030204" pitchFamily="18" charset="0"/>
                              <a:ea typeface="Cambria Math" panose="02040503050406030204" pitchFamily="18" charset="0"/>
                            </a:rPr>
                            <m:t>𝑁</m:t>
                          </m:r>
                        </m:sup>
                        <m:e>
                          <m:func>
                            <m:funcPr>
                              <m:ctrlPr>
                                <a:rPr lang="en-US" sz="2800" b="0" i="1" smtClean="0">
                                  <a:solidFill>
                                    <a:schemeClr val="tx1"/>
                                  </a:solidFill>
                                  <a:latin typeface="Cambria Math" panose="02040503050406030204" pitchFamily="18" charset="0"/>
                                  <a:ea typeface="Cambria Math" panose="02040503050406030204" pitchFamily="18" charset="0"/>
                                </a:rPr>
                              </m:ctrlPr>
                            </m:funcPr>
                            <m:fName>
                              <m:r>
                                <m:rPr>
                                  <m:sty m:val="p"/>
                                </m:rPr>
                                <a:rPr lang="en-US" sz="2800" b="0" i="0" smtClean="0">
                                  <a:solidFill>
                                    <a:schemeClr val="tx1"/>
                                  </a:solidFill>
                                  <a:latin typeface="Cambria Math" panose="02040503050406030204" pitchFamily="18" charset="0"/>
                                  <a:ea typeface="Cambria Math" panose="02040503050406030204" pitchFamily="18" charset="0"/>
                                </a:rPr>
                                <m:t>Pr</m:t>
                              </m:r>
                            </m:fName>
                            <m:e>
                              <m:d>
                                <m:dPr>
                                  <m:begChr m:val="["/>
                                  <m:endChr m:val="]"/>
                                  <m:ctrlPr>
                                    <a:rPr lang="en-US" sz="2800" b="0" i="1" smtClean="0">
                                      <a:solidFill>
                                        <a:schemeClr val="tx1"/>
                                      </a:solidFill>
                                      <a:latin typeface="Cambria Math" panose="02040503050406030204" pitchFamily="18" charset="0"/>
                                      <a:ea typeface="Cambria Math" panose="02040503050406030204" pitchFamily="18" charset="0"/>
                                    </a:rPr>
                                  </m:ctrlPr>
                                </m:dPr>
                                <m:e>
                                  <m:sSub>
                                    <m:sSubPr>
                                      <m:ctrlPr>
                                        <a:rPr lang="en-US" sz="2800" b="0" i="1" smtClean="0">
                                          <a:solidFill>
                                            <a:schemeClr val="tx1"/>
                                          </a:solidFill>
                                          <a:latin typeface="Cambria Math" panose="02040503050406030204" pitchFamily="18" charset="0"/>
                                          <a:ea typeface="Cambria Math" panose="02040503050406030204" pitchFamily="18" charset="0"/>
                                        </a:rPr>
                                      </m:ctrlPr>
                                    </m:sSubPr>
                                    <m:e>
                                      <m:r>
                                        <a:rPr lang="en-US" sz="2800" b="0" i="1" smtClean="0">
                                          <a:solidFill>
                                            <a:schemeClr val="tx1"/>
                                          </a:solidFill>
                                          <a:latin typeface="Cambria Math" panose="02040503050406030204" pitchFamily="18" charset="0"/>
                                          <a:ea typeface="Cambria Math" panose="02040503050406030204" pitchFamily="18" charset="0"/>
                                        </a:rPr>
                                        <m:t>𝑊</m:t>
                                      </m:r>
                                    </m:e>
                                    <m:sub>
                                      <m:r>
                                        <a:rPr lang="en-US" sz="2800" b="0" i="1" smtClean="0">
                                          <a:solidFill>
                                            <a:schemeClr val="tx1"/>
                                          </a:solidFill>
                                          <a:latin typeface="Cambria Math" panose="02040503050406030204" pitchFamily="18" charset="0"/>
                                          <a:ea typeface="Cambria Math" panose="02040503050406030204" pitchFamily="18" charset="0"/>
                                        </a:rPr>
                                        <m:t>𝑖</m:t>
                                      </m:r>
                                    </m:sub>
                                  </m:sSub>
                                  <m:r>
                                    <a:rPr lang="en-US" sz="2800" b="0" i="1" smtClean="0">
                                      <a:solidFill>
                                        <a:schemeClr val="tx1"/>
                                      </a:solidFill>
                                      <a:latin typeface="Cambria Math" panose="02040503050406030204" pitchFamily="18" charset="0"/>
                                      <a:ea typeface="Cambria Math" panose="02040503050406030204" pitchFamily="18" charset="0"/>
                                    </a:rPr>
                                    <m:t>=1</m:t>
                                  </m:r>
                                </m:e>
                              </m:d>
                            </m:e>
                          </m:func>
                          <m:sSub>
                            <m:sSubPr>
                              <m:ctrlPr>
                                <a:rPr lang="en-US" sz="2800" b="0" i="1" smtClean="0">
                                  <a:solidFill>
                                    <a:schemeClr val="tx1"/>
                                  </a:solidFill>
                                  <a:latin typeface="Cambria Math" panose="02040503050406030204" pitchFamily="18" charset="0"/>
                                  <a:ea typeface="Cambria Math" panose="02040503050406030204" pitchFamily="18" charset="0"/>
                                </a:rPr>
                              </m:ctrlPr>
                            </m:sSubPr>
                            <m:e>
                              <m:r>
                                <a:rPr lang="en-US" sz="2800" b="0" i="1" smtClean="0">
                                  <a:solidFill>
                                    <a:schemeClr val="tx1"/>
                                  </a:solidFill>
                                  <a:latin typeface="Cambria Math" panose="02040503050406030204" pitchFamily="18" charset="0"/>
                                  <a:ea typeface="Cambria Math" panose="02040503050406030204" pitchFamily="18" charset="0"/>
                                </a:rPr>
                                <m:t>𝑌</m:t>
                              </m:r>
                            </m:e>
                            <m:sub>
                              <m:r>
                                <a:rPr lang="en-US" sz="2800" b="0" i="1" smtClean="0">
                                  <a:solidFill>
                                    <a:schemeClr val="tx1"/>
                                  </a:solidFill>
                                  <a:latin typeface="Cambria Math" panose="02040503050406030204" pitchFamily="18" charset="0"/>
                                  <a:ea typeface="Cambria Math" panose="02040503050406030204" pitchFamily="18" charset="0"/>
                                </a:rPr>
                                <m:t>𝑖</m:t>
                              </m:r>
                            </m:sub>
                          </m:sSub>
                          <m:d>
                            <m:dPr>
                              <m:ctrlPr>
                                <a:rPr lang="en-US" sz="2800" b="0" i="1" smtClean="0">
                                  <a:solidFill>
                                    <a:schemeClr val="tx1"/>
                                  </a:solidFill>
                                  <a:latin typeface="Cambria Math" panose="02040503050406030204" pitchFamily="18" charset="0"/>
                                  <a:ea typeface="Cambria Math" panose="02040503050406030204" pitchFamily="18" charset="0"/>
                                </a:rPr>
                              </m:ctrlPr>
                            </m:dPr>
                            <m:e>
                              <m:r>
                                <a:rPr lang="en-US" sz="2800" b="0" i="1" smtClean="0">
                                  <a:solidFill>
                                    <a:schemeClr val="tx1"/>
                                  </a:solidFill>
                                  <a:latin typeface="Cambria Math" panose="02040503050406030204" pitchFamily="18" charset="0"/>
                                  <a:ea typeface="Cambria Math" panose="02040503050406030204" pitchFamily="18" charset="0"/>
                                </a:rPr>
                                <m:t>1</m:t>
                              </m:r>
                            </m:e>
                          </m:d>
                          <m:r>
                            <a:rPr lang="en-US" sz="2800" b="0" i="1" smtClean="0">
                              <a:solidFill>
                                <a:schemeClr val="tx1"/>
                              </a:solidFill>
                              <a:latin typeface="Cambria Math" panose="02040503050406030204" pitchFamily="18" charset="0"/>
                              <a:ea typeface="Cambria Math" panose="02040503050406030204" pitchFamily="18" charset="0"/>
                            </a:rPr>
                            <m:t>− </m:t>
                          </m:r>
                        </m:e>
                      </m:nary>
                      <m:f>
                        <m:fPr>
                          <m:ctrlPr>
                            <a:rPr lang="en-US" sz="2800" b="0" i="1" smtClean="0">
                              <a:solidFill>
                                <a:schemeClr val="tx1"/>
                              </a:solidFill>
                              <a:latin typeface="Cambria Math" panose="02040503050406030204" pitchFamily="18" charset="0"/>
                              <a:ea typeface="Cambria Math" panose="02040503050406030204" pitchFamily="18" charset="0"/>
                            </a:rPr>
                          </m:ctrlPr>
                        </m:fPr>
                        <m:num>
                          <m:r>
                            <a:rPr lang="en-US" sz="2800" b="0" i="1" smtClean="0">
                              <a:solidFill>
                                <a:schemeClr val="tx1"/>
                              </a:solidFill>
                              <a:latin typeface="Cambria Math" panose="02040503050406030204" pitchFamily="18" charset="0"/>
                              <a:ea typeface="Cambria Math" panose="02040503050406030204" pitchFamily="18" charset="0"/>
                            </a:rPr>
                            <m:t>1</m:t>
                          </m:r>
                        </m:num>
                        <m:den>
                          <m:sSub>
                            <m:sSubPr>
                              <m:ctrlPr>
                                <a:rPr lang="en-US" sz="2800" b="0" i="1" smtClean="0">
                                  <a:solidFill>
                                    <a:schemeClr val="tx1"/>
                                  </a:solidFill>
                                  <a:latin typeface="Cambria Math" panose="02040503050406030204" pitchFamily="18" charset="0"/>
                                  <a:ea typeface="Cambria Math" panose="02040503050406030204" pitchFamily="18" charset="0"/>
                                </a:rPr>
                              </m:ctrlPr>
                            </m:sSubPr>
                            <m:e>
                              <m:r>
                                <a:rPr lang="en-US" sz="2800" b="0" i="1" smtClean="0">
                                  <a:solidFill>
                                    <a:schemeClr val="tx1"/>
                                  </a:solidFill>
                                  <a:latin typeface="Cambria Math" panose="02040503050406030204" pitchFamily="18" charset="0"/>
                                  <a:ea typeface="Cambria Math" panose="02040503050406030204" pitchFamily="18" charset="0"/>
                                </a:rPr>
                                <m:t>𝑁</m:t>
                              </m:r>
                            </m:e>
                            <m:sub>
                              <m:r>
                                <a:rPr lang="en-US" sz="2800" b="0" i="1" smtClean="0">
                                  <a:solidFill>
                                    <a:schemeClr val="tx1"/>
                                  </a:solidFill>
                                  <a:latin typeface="Cambria Math" panose="02040503050406030204" pitchFamily="18" charset="0"/>
                                  <a:ea typeface="Cambria Math" panose="02040503050406030204" pitchFamily="18" charset="0"/>
                                </a:rPr>
                                <m:t>0</m:t>
                              </m:r>
                            </m:sub>
                          </m:sSub>
                        </m:den>
                      </m:f>
                      <m:nary>
                        <m:naryPr>
                          <m:chr m:val="∑"/>
                          <m:ctrlPr>
                            <a:rPr lang="en-US" sz="2800" b="0" i="1" smtClean="0">
                              <a:solidFill>
                                <a:schemeClr val="tx1"/>
                              </a:solidFill>
                              <a:latin typeface="Cambria Math" panose="02040503050406030204" pitchFamily="18" charset="0"/>
                              <a:ea typeface="Cambria Math" panose="02040503050406030204" pitchFamily="18" charset="0"/>
                            </a:rPr>
                          </m:ctrlPr>
                        </m:naryPr>
                        <m:sub>
                          <m:r>
                            <m:rPr>
                              <m:brk m:alnAt="23"/>
                            </m:rPr>
                            <a:rPr lang="en-US" sz="2800" b="0" i="1" smtClean="0">
                              <a:solidFill>
                                <a:schemeClr val="tx1"/>
                              </a:solidFill>
                              <a:latin typeface="Cambria Math" panose="02040503050406030204" pitchFamily="18" charset="0"/>
                              <a:ea typeface="Cambria Math" panose="02040503050406030204" pitchFamily="18" charset="0"/>
                            </a:rPr>
                            <m:t>𝑖</m:t>
                          </m:r>
                          <m:r>
                            <a:rPr lang="en-US" sz="2800" b="0" i="1" smtClean="0">
                              <a:solidFill>
                                <a:schemeClr val="tx1"/>
                              </a:solidFill>
                              <a:latin typeface="Cambria Math" panose="02040503050406030204" pitchFamily="18" charset="0"/>
                              <a:ea typeface="Cambria Math" panose="02040503050406030204" pitchFamily="18" charset="0"/>
                            </a:rPr>
                            <m:t>=1</m:t>
                          </m:r>
                        </m:sub>
                        <m:sup>
                          <m:r>
                            <a:rPr lang="en-US" sz="2800" b="0" i="1" smtClean="0">
                              <a:solidFill>
                                <a:schemeClr val="tx1"/>
                              </a:solidFill>
                              <a:latin typeface="Cambria Math" panose="02040503050406030204" pitchFamily="18" charset="0"/>
                              <a:ea typeface="Cambria Math" panose="02040503050406030204" pitchFamily="18" charset="0"/>
                            </a:rPr>
                            <m:t>𝑁</m:t>
                          </m:r>
                        </m:sup>
                        <m:e>
                          <m:func>
                            <m:funcPr>
                              <m:ctrlPr>
                                <a:rPr lang="en-US" sz="2800" b="0" i="1" smtClean="0">
                                  <a:solidFill>
                                    <a:schemeClr val="tx1"/>
                                  </a:solidFill>
                                  <a:latin typeface="Cambria Math" panose="02040503050406030204" pitchFamily="18" charset="0"/>
                                  <a:ea typeface="Cambria Math" panose="02040503050406030204" pitchFamily="18" charset="0"/>
                                </a:rPr>
                              </m:ctrlPr>
                            </m:funcPr>
                            <m:fName>
                              <m:r>
                                <m:rPr>
                                  <m:sty m:val="p"/>
                                </m:rPr>
                                <a:rPr lang="en-US" sz="2800" b="0" i="0" smtClean="0">
                                  <a:solidFill>
                                    <a:schemeClr val="tx1"/>
                                  </a:solidFill>
                                  <a:latin typeface="Cambria Math" panose="02040503050406030204" pitchFamily="18" charset="0"/>
                                  <a:ea typeface="Cambria Math" panose="02040503050406030204" pitchFamily="18" charset="0"/>
                                </a:rPr>
                                <m:t>Pr</m:t>
                              </m:r>
                            </m:fName>
                            <m:e>
                              <m:d>
                                <m:dPr>
                                  <m:begChr m:val="["/>
                                  <m:endChr m:val="]"/>
                                  <m:ctrlPr>
                                    <a:rPr lang="en-US" sz="2800" b="0" i="1" smtClean="0">
                                      <a:solidFill>
                                        <a:schemeClr val="tx1"/>
                                      </a:solidFill>
                                      <a:latin typeface="Cambria Math" panose="02040503050406030204" pitchFamily="18" charset="0"/>
                                      <a:ea typeface="Cambria Math" panose="02040503050406030204" pitchFamily="18" charset="0"/>
                                    </a:rPr>
                                  </m:ctrlPr>
                                </m:dPr>
                                <m:e>
                                  <m:sSub>
                                    <m:sSubPr>
                                      <m:ctrlPr>
                                        <a:rPr lang="en-US" sz="2800" b="0" i="1" smtClean="0">
                                          <a:solidFill>
                                            <a:schemeClr val="tx1"/>
                                          </a:solidFill>
                                          <a:latin typeface="Cambria Math" panose="02040503050406030204" pitchFamily="18" charset="0"/>
                                          <a:ea typeface="Cambria Math" panose="02040503050406030204" pitchFamily="18" charset="0"/>
                                        </a:rPr>
                                      </m:ctrlPr>
                                    </m:sSubPr>
                                    <m:e>
                                      <m:r>
                                        <a:rPr lang="en-US" sz="2800" b="0" i="1" smtClean="0">
                                          <a:solidFill>
                                            <a:schemeClr val="tx1"/>
                                          </a:solidFill>
                                          <a:latin typeface="Cambria Math" panose="02040503050406030204" pitchFamily="18" charset="0"/>
                                          <a:ea typeface="Cambria Math" panose="02040503050406030204" pitchFamily="18" charset="0"/>
                                        </a:rPr>
                                        <m:t>𝑊</m:t>
                                      </m:r>
                                    </m:e>
                                    <m:sub>
                                      <m:r>
                                        <a:rPr lang="en-US" sz="2800" b="0" i="1" smtClean="0">
                                          <a:solidFill>
                                            <a:schemeClr val="tx1"/>
                                          </a:solidFill>
                                          <a:latin typeface="Cambria Math" panose="02040503050406030204" pitchFamily="18" charset="0"/>
                                          <a:ea typeface="Cambria Math" panose="02040503050406030204" pitchFamily="18" charset="0"/>
                                        </a:rPr>
                                        <m:t>𝑖</m:t>
                                      </m:r>
                                    </m:sub>
                                  </m:sSub>
                                  <m:r>
                                    <a:rPr lang="en-US" sz="2800" b="0" i="1" smtClean="0">
                                      <a:solidFill>
                                        <a:schemeClr val="tx1"/>
                                      </a:solidFill>
                                      <a:latin typeface="Cambria Math" panose="02040503050406030204" pitchFamily="18" charset="0"/>
                                      <a:ea typeface="Cambria Math" panose="02040503050406030204" pitchFamily="18" charset="0"/>
                                    </a:rPr>
                                    <m:t>=0</m:t>
                                  </m:r>
                                </m:e>
                              </m:d>
                            </m:e>
                          </m:func>
                          <m:sSub>
                            <m:sSubPr>
                              <m:ctrlPr>
                                <a:rPr lang="en-US" sz="2800" b="0" i="1" smtClean="0">
                                  <a:solidFill>
                                    <a:schemeClr val="tx1"/>
                                  </a:solidFill>
                                  <a:latin typeface="Cambria Math" panose="02040503050406030204" pitchFamily="18" charset="0"/>
                                  <a:ea typeface="Cambria Math" panose="02040503050406030204" pitchFamily="18" charset="0"/>
                                </a:rPr>
                              </m:ctrlPr>
                            </m:sSubPr>
                            <m:e>
                              <m:r>
                                <a:rPr lang="en-US" sz="2800" b="0" i="1" smtClean="0">
                                  <a:solidFill>
                                    <a:schemeClr val="tx1"/>
                                  </a:solidFill>
                                  <a:latin typeface="Cambria Math" panose="02040503050406030204" pitchFamily="18" charset="0"/>
                                  <a:ea typeface="Cambria Math" panose="02040503050406030204" pitchFamily="18" charset="0"/>
                                </a:rPr>
                                <m:t>𝑌</m:t>
                              </m:r>
                            </m:e>
                            <m:sub>
                              <m:r>
                                <a:rPr lang="en-US" sz="2800" b="0" i="1" smtClean="0">
                                  <a:solidFill>
                                    <a:schemeClr val="tx1"/>
                                  </a:solidFill>
                                  <a:latin typeface="Cambria Math" panose="02040503050406030204" pitchFamily="18" charset="0"/>
                                  <a:ea typeface="Cambria Math" panose="02040503050406030204" pitchFamily="18" charset="0"/>
                                </a:rPr>
                                <m:t>𝑖</m:t>
                              </m:r>
                            </m:sub>
                          </m:sSub>
                        </m:e>
                      </m:nary>
                      <m:r>
                        <a:rPr lang="en-US" sz="2800" b="0" i="1" smtClean="0">
                          <a:solidFill>
                            <a:schemeClr val="tx1"/>
                          </a:solidFill>
                          <a:latin typeface="Cambria Math" panose="02040503050406030204" pitchFamily="18" charset="0"/>
                          <a:ea typeface="Cambria Math" panose="02040503050406030204" pitchFamily="18" charset="0"/>
                        </a:rPr>
                        <m:t>(0)</m:t>
                      </m:r>
                    </m:oMath>
                  </m:oMathPara>
                </a14:m>
                <a:endParaRPr lang="en-US" sz="1400" dirty="0">
                  <a:solidFill>
                    <a:schemeClr val="tx1"/>
                  </a:solidFill>
                </a:endParaRPr>
              </a:p>
            </p:txBody>
          </p:sp>
        </mc:Choice>
        <mc:Fallback xmlns="">
          <p:sp>
            <p:nvSpPr>
              <p:cNvPr id="4" name="TextBox 3">
                <a:extLst>
                  <a:ext uri="{FF2B5EF4-FFF2-40B4-BE49-F238E27FC236}">
                    <a16:creationId xmlns:a16="http://schemas.microsoft.com/office/drawing/2014/main" id="{65B5805E-7D75-7215-A997-2F571F2C1F8C}"/>
                  </a:ext>
                </a:extLst>
              </p:cNvPr>
              <p:cNvSpPr txBox="1">
                <a:spLocks noRot="1" noChangeAspect="1" noMove="1" noResize="1" noEditPoints="1" noAdjustHandles="1" noChangeArrowheads="1" noChangeShapeType="1" noTextEdit="1"/>
              </p:cNvSpPr>
              <p:nvPr/>
            </p:nvSpPr>
            <p:spPr>
              <a:xfrm>
                <a:off x="1707874" y="4129906"/>
                <a:ext cx="9079396" cy="1349280"/>
              </a:xfrm>
              <a:prstGeom prst="rect">
                <a:avLst/>
              </a:prstGeom>
              <a:blipFill>
                <a:blip r:embed="rId8"/>
                <a:stretch>
                  <a:fillRect t="-96296" b="-1481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F6208274-7FE8-31D3-590A-B6E6DF311C71}"/>
                  </a:ext>
                </a:extLst>
              </p:cNvPr>
              <p:cNvSpPr txBox="1"/>
              <p:nvPr/>
            </p:nvSpPr>
            <p:spPr>
              <a:xfrm>
                <a:off x="7606747" y="119270"/>
                <a:ext cx="4359966" cy="1015663"/>
              </a:xfrm>
              <a:prstGeom prst="rect">
                <a:avLst/>
              </a:prstGeom>
              <a:noFill/>
            </p:spPr>
            <p:txBody>
              <a:bodyPr wrap="square" rtlCol="0">
                <a:spAutoFit/>
              </a:bodyPr>
              <a:lstStyle/>
              <a:p>
                <a:pPr algn="r"/>
                <a:r>
                  <a:rPr lang="en-US" sz="2000" dirty="0">
                    <a:solidFill>
                      <a:schemeClr val="accent5"/>
                    </a:solidFill>
                  </a:rPr>
                  <a:t>Say we choose </a:t>
                </a:r>
                <a14:m>
                  <m:oMath xmlns:m="http://schemas.openxmlformats.org/officeDocument/2006/math">
                    <m:sSub>
                      <m:sSubPr>
                        <m:ctrlPr>
                          <a:rPr lang="en-US" sz="2000" b="0" i="1" smtClean="0">
                            <a:solidFill>
                              <a:schemeClr val="accent5"/>
                            </a:solidFill>
                            <a:latin typeface="Cambria Math" panose="02040503050406030204" pitchFamily="18" charset="0"/>
                          </a:rPr>
                        </m:ctrlPr>
                      </m:sSubPr>
                      <m:e>
                        <m:r>
                          <a:rPr lang="en-US" sz="2000" b="0" i="1" smtClean="0">
                            <a:solidFill>
                              <a:schemeClr val="accent5"/>
                            </a:solidFill>
                            <a:latin typeface="Cambria Math" panose="02040503050406030204" pitchFamily="18" charset="0"/>
                          </a:rPr>
                          <m:t>𝑁</m:t>
                        </m:r>
                      </m:e>
                      <m:sub>
                        <m:r>
                          <a:rPr lang="en-US" sz="2000" b="0" i="1" smtClean="0">
                            <a:solidFill>
                              <a:schemeClr val="accent5"/>
                            </a:solidFill>
                            <a:latin typeface="Cambria Math" panose="02040503050406030204" pitchFamily="18" charset="0"/>
                          </a:rPr>
                          <m:t>0</m:t>
                        </m:r>
                      </m:sub>
                    </m:sSub>
                  </m:oMath>
                </a14:m>
                <a:r>
                  <a:rPr lang="en-US" sz="2000" dirty="0">
                    <a:solidFill>
                      <a:schemeClr val="accent5"/>
                    </a:solidFill>
                  </a:rPr>
                  <a:t> people at random for the control group, and </a:t>
                </a:r>
                <a14:m>
                  <m:oMath xmlns:m="http://schemas.openxmlformats.org/officeDocument/2006/math">
                    <m:sSub>
                      <m:sSubPr>
                        <m:ctrlPr>
                          <a:rPr lang="en-US" sz="2000" b="0" i="1" smtClean="0">
                            <a:solidFill>
                              <a:schemeClr val="accent5"/>
                            </a:solidFill>
                            <a:latin typeface="Cambria Math" panose="02040503050406030204" pitchFamily="18" charset="0"/>
                          </a:rPr>
                        </m:ctrlPr>
                      </m:sSubPr>
                      <m:e>
                        <m:r>
                          <a:rPr lang="en-US" sz="2000" b="0" i="1" smtClean="0">
                            <a:solidFill>
                              <a:schemeClr val="accent5"/>
                            </a:solidFill>
                            <a:latin typeface="Cambria Math" panose="02040503050406030204" pitchFamily="18" charset="0"/>
                          </a:rPr>
                          <m:t>𝑁</m:t>
                        </m:r>
                      </m:e>
                      <m:sub>
                        <m:r>
                          <a:rPr lang="en-US" sz="2000" b="0" i="1" smtClean="0">
                            <a:solidFill>
                              <a:schemeClr val="accent5"/>
                            </a:solidFill>
                            <a:latin typeface="Cambria Math" panose="02040503050406030204" pitchFamily="18" charset="0"/>
                          </a:rPr>
                          <m:t>1</m:t>
                        </m:r>
                      </m:sub>
                    </m:sSub>
                  </m:oMath>
                </a14:m>
                <a:r>
                  <a:rPr lang="en-US" sz="2000" dirty="0">
                    <a:solidFill>
                      <a:schemeClr val="accent5"/>
                    </a:solidFill>
                  </a:rPr>
                  <a:t> people at random for the treatment group.</a:t>
                </a:r>
              </a:p>
            </p:txBody>
          </p:sp>
        </mc:Choice>
        <mc:Fallback xmlns="">
          <p:sp>
            <p:nvSpPr>
              <p:cNvPr id="5" name="TextBox 4">
                <a:extLst>
                  <a:ext uri="{FF2B5EF4-FFF2-40B4-BE49-F238E27FC236}">
                    <a16:creationId xmlns:a16="http://schemas.microsoft.com/office/drawing/2014/main" id="{F6208274-7FE8-31D3-590A-B6E6DF311C71}"/>
                  </a:ext>
                </a:extLst>
              </p:cNvPr>
              <p:cNvSpPr txBox="1">
                <a:spLocks noRot="1" noChangeAspect="1" noMove="1" noResize="1" noEditPoints="1" noAdjustHandles="1" noChangeArrowheads="1" noChangeShapeType="1" noTextEdit="1"/>
              </p:cNvSpPr>
              <p:nvPr/>
            </p:nvSpPr>
            <p:spPr>
              <a:xfrm>
                <a:off x="7606747" y="119270"/>
                <a:ext cx="4359966" cy="1015663"/>
              </a:xfrm>
              <a:prstGeom prst="rect">
                <a:avLst/>
              </a:prstGeom>
              <a:blipFill>
                <a:blip r:embed="rId9"/>
                <a:stretch>
                  <a:fillRect l="-1453" t="-2469" r="-2616" b="-987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737045F8-7804-E950-FD79-0E95085D8E9A}"/>
                  </a:ext>
                </a:extLst>
              </p:cNvPr>
              <p:cNvSpPr txBox="1"/>
              <p:nvPr/>
            </p:nvSpPr>
            <p:spPr>
              <a:xfrm>
                <a:off x="1818710" y="5479186"/>
                <a:ext cx="6895799" cy="134928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ea typeface="Cambria Math" panose="02040503050406030204" pitchFamily="18" charset="0"/>
                        </a:rPr>
                        <m:t>=</m:t>
                      </m:r>
                      <m:f>
                        <m:fPr>
                          <m:ctrlPr>
                            <a:rPr lang="en-US" sz="2800" b="0" i="1" smtClean="0">
                              <a:solidFill>
                                <a:schemeClr val="tx1"/>
                              </a:solidFill>
                              <a:latin typeface="Cambria Math" panose="02040503050406030204" pitchFamily="18" charset="0"/>
                              <a:ea typeface="Cambria Math" panose="02040503050406030204" pitchFamily="18" charset="0"/>
                            </a:rPr>
                          </m:ctrlPr>
                        </m:fPr>
                        <m:num>
                          <m:r>
                            <a:rPr lang="en-US" sz="2800" b="0" i="1" smtClean="0">
                              <a:solidFill>
                                <a:schemeClr val="tx1"/>
                              </a:solidFill>
                              <a:latin typeface="Cambria Math" panose="02040503050406030204" pitchFamily="18" charset="0"/>
                              <a:ea typeface="Cambria Math" panose="02040503050406030204" pitchFamily="18" charset="0"/>
                            </a:rPr>
                            <m:t>1</m:t>
                          </m:r>
                        </m:num>
                        <m:den>
                          <m:sSub>
                            <m:sSubPr>
                              <m:ctrlPr>
                                <a:rPr lang="en-US" sz="2800" b="0" i="1" smtClean="0">
                                  <a:solidFill>
                                    <a:schemeClr val="tx1"/>
                                  </a:solidFill>
                                  <a:latin typeface="Cambria Math" panose="02040503050406030204" pitchFamily="18" charset="0"/>
                                  <a:ea typeface="Cambria Math" panose="02040503050406030204" pitchFamily="18" charset="0"/>
                                </a:rPr>
                              </m:ctrlPr>
                            </m:sSubPr>
                            <m:e>
                              <m:r>
                                <a:rPr lang="en-US" sz="2800" b="0" i="1" smtClean="0">
                                  <a:solidFill>
                                    <a:schemeClr val="tx1"/>
                                  </a:solidFill>
                                  <a:latin typeface="Cambria Math" panose="02040503050406030204" pitchFamily="18" charset="0"/>
                                  <a:ea typeface="Cambria Math" panose="02040503050406030204" pitchFamily="18" charset="0"/>
                                </a:rPr>
                                <m:t>𝑁</m:t>
                              </m:r>
                            </m:e>
                            <m:sub>
                              <m:r>
                                <a:rPr lang="en-US" sz="2800" b="0" i="1" smtClean="0">
                                  <a:solidFill>
                                    <a:schemeClr val="tx1"/>
                                  </a:solidFill>
                                  <a:latin typeface="Cambria Math" panose="02040503050406030204" pitchFamily="18" charset="0"/>
                                  <a:ea typeface="Cambria Math" panose="02040503050406030204" pitchFamily="18" charset="0"/>
                                </a:rPr>
                                <m:t>1</m:t>
                              </m:r>
                            </m:sub>
                          </m:sSub>
                        </m:den>
                      </m:f>
                      <m:nary>
                        <m:naryPr>
                          <m:chr m:val="∑"/>
                          <m:ctrlPr>
                            <a:rPr lang="en-US" sz="2800" b="0" i="1" smtClean="0">
                              <a:solidFill>
                                <a:schemeClr val="tx1"/>
                              </a:solidFill>
                              <a:latin typeface="Cambria Math" panose="02040503050406030204" pitchFamily="18" charset="0"/>
                              <a:ea typeface="Cambria Math" panose="02040503050406030204" pitchFamily="18" charset="0"/>
                            </a:rPr>
                          </m:ctrlPr>
                        </m:naryPr>
                        <m:sub>
                          <m:r>
                            <m:rPr>
                              <m:brk m:alnAt="23"/>
                            </m:rPr>
                            <a:rPr lang="en-US" sz="2800" b="0" i="1" smtClean="0">
                              <a:solidFill>
                                <a:schemeClr val="tx1"/>
                              </a:solidFill>
                              <a:latin typeface="Cambria Math" panose="02040503050406030204" pitchFamily="18" charset="0"/>
                              <a:ea typeface="Cambria Math" panose="02040503050406030204" pitchFamily="18" charset="0"/>
                            </a:rPr>
                            <m:t>𝑖</m:t>
                          </m:r>
                          <m:r>
                            <a:rPr lang="en-US" sz="2800" b="0" i="1" smtClean="0">
                              <a:solidFill>
                                <a:schemeClr val="tx1"/>
                              </a:solidFill>
                              <a:latin typeface="Cambria Math" panose="02040503050406030204" pitchFamily="18" charset="0"/>
                              <a:ea typeface="Cambria Math" panose="02040503050406030204" pitchFamily="18" charset="0"/>
                            </a:rPr>
                            <m:t>=1</m:t>
                          </m:r>
                        </m:sub>
                        <m:sup>
                          <m:r>
                            <a:rPr lang="en-US" sz="2800" b="0" i="1" smtClean="0">
                              <a:solidFill>
                                <a:schemeClr val="tx1"/>
                              </a:solidFill>
                              <a:latin typeface="Cambria Math" panose="02040503050406030204" pitchFamily="18" charset="0"/>
                              <a:ea typeface="Cambria Math" panose="02040503050406030204" pitchFamily="18" charset="0"/>
                            </a:rPr>
                            <m:t>𝑁</m:t>
                          </m:r>
                        </m:sup>
                        <m:e>
                          <m:f>
                            <m:fPr>
                              <m:ctrlPr>
                                <a:rPr lang="en-US" sz="2800" b="0" i="1" smtClean="0">
                                  <a:solidFill>
                                    <a:schemeClr val="accent5"/>
                                  </a:solidFill>
                                  <a:latin typeface="Cambria Math" panose="02040503050406030204" pitchFamily="18" charset="0"/>
                                  <a:ea typeface="Cambria Math" panose="02040503050406030204" pitchFamily="18" charset="0"/>
                                </a:rPr>
                              </m:ctrlPr>
                            </m:fPr>
                            <m:num>
                              <m:sSub>
                                <m:sSubPr>
                                  <m:ctrlPr>
                                    <a:rPr lang="en-US" sz="2800" b="0" i="1" smtClean="0">
                                      <a:solidFill>
                                        <a:schemeClr val="accent5"/>
                                      </a:solidFill>
                                      <a:latin typeface="Cambria Math" panose="02040503050406030204" pitchFamily="18" charset="0"/>
                                      <a:ea typeface="Cambria Math" panose="02040503050406030204" pitchFamily="18" charset="0"/>
                                    </a:rPr>
                                  </m:ctrlPr>
                                </m:sSubPr>
                                <m:e>
                                  <m:r>
                                    <a:rPr lang="en-US" sz="2800" b="0" i="1" smtClean="0">
                                      <a:solidFill>
                                        <a:schemeClr val="accent5"/>
                                      </a:solidFill>
                                      <a:latin typeface="Cambria Math" panose="02040503050406030204" pitchFamily="18" charset="0"/>
                                      <a:ea typeface="Cambria Math" panose="02040503050406030204" pitchFamily="18" charset="0"/>
                                    </a:rPr>
                                    <m:t>𝑁</m:t>
                                  </m:r>
                                </m:e>
                                <m:sub>
                                  <m:r>
                                    <a:rPr lang="en-US" sz="2800" b="0" i="1" smtClean="0">
                                      <a:solidFill>
                                        <a:schemeClr val="accent5"/>
                                      </a:solidFill>
                                      <a:latin typeface="Cambria Math" panose="02040503050406030204" pitchFamily="18" charset="0"/>
                                      <a:ea typeface="Cambria Math" panose="02040503050406030204" pitchFamily="18" charset="0"/>
                                    </a:rPr>
                                    <m:t>1</m:t>
                                  </m:r>
                                </m:sub>
                              </m:sSub>
                            </m:num>
                            <m:den>
                              <m:r>
                                <a:rPr lang="en-US" sz="2800" b="0" i="1" smtClean="0">
                                  <a:solidFill>
                                    <a:schemeClr val="accent5"/>
                                  </a:solidFill>
                                  <a:latin typeface="Cambria Math" panose="02040503050406030204" pitchFamily="18" charset="0"/>
                                  <a:ea typeface="Cambria Math" panose="02040503050406030204" pitchFamily="18" charset="0"/>
                                </a:rPr>
                                <m:t>𝑁</m:t>
                              </m:r>
                            </m:den>
                          </m:f>
                          <m:r>
                            <a:rPr lang="en-US" sz="2800" b="0" i="1" smtClean="0">
                              <a:solidFill>
                                <a:schemeClr val="tx1"/>
                              </a:solidFill>
                              <a:latin typeface="Cambria Math" panose="02040503050406030204" pitchFamily="18" charset="0"/>
                              <a:ea typeface="Cambria Math" panose="02040503050406030204" pitchFamily="18" charset="0"/>
                            </a:rPr>
                            <m:t>⋅</m:t>
                          </m:r>
                          <m:sSub>
                            <m:sSubPr>
                              <m:ctrlPr>
                                <a:rPr lang="en-US" sz="2800" b="0" i="1" smtClean="0">
                                  <a:solidFill>
                                    <a:schemeClr val="tx1"/>
                                  </a:solidFill>
                                  <a:latin typeface="Cambria Math" panose="02040503050406030204" pitchFamily="18" charset="0"/>
                                  <a:ea typeface="Cambria Math" panose="02040503050406030204" pitchFamily="18" charset="0"/>
                                </a:rPr>
                              </m:ctrlPr>
                            </m:sSubPr>
                            <m:e>
                              <m:r>
                                <a:rPr lang="en-US" sz="2800" b="0" i="1" smtClean="0">
                                  <a:solidFill>
                                    <a:schemeClr val="tx1"/>
                                  </a:solidFill>
                                  <a:latin typeface="Cambria Math" panose="02040503050406030204" pitchFamily="18" charset="0"/>
                                  <a:ea typeface="Cambria Math" panose="02040503050406030204" pitchFamily="18" charset="0"/>
                                </a:rPr>
                                <m:t>𝑌</m:t>
                              </m:r>
                            </m:e>
                            <m:sub>
                              <m:r>
                                <a:rPr lang="en-US" sz="2800" b="0" i="1" smtClean="0">
                                  <a:solidFill>
                                    <a:schemeClr val="tx1"/>
                                  </a:solidFill>
                                  <a:latin typeface="Cambria Math" panose="02040503050406030204" pitchFamily="18" charset="0"/>
                                  <a:ea typeface="Cambria Math" panose="02040503050406030204" pitchFamily="18" charset="0"/>
                                </a:rPr>
                                <m:t>𝑖</m:t>
                              </m:r>
                            </m:sub>
                          </m:sSub>
                          <m:r>
                            <a:rPr lang="en-US" sz="2800" b="0" i="1" smtClean="0">
                              <a:solidFill>
                                <a:schemeClr val="tx1"/>
                              </a:solidFill>
                              <a:latin typeface="Cambria Math" panose="02040503050406030204" pitchFamily="18" charset="0"/>
                              <a:ea typeface="Cambria Math" panose="02040503050406030204" pitchFamily="18" charset="0"/>
                            </a:rPr>
                            <m:t>(1) − </m:t>
                          </m:r>
                        </m:e>
                      </m:nary>
                      <m:f>
                        <m:fPr>
                          <m:ctrlPr>
                            <a:rPr lang="en-US" sz="2800" b="0" i="1" smtClean="0">
                              <a:solidFill>
                                <a:schemeClr val="tx1"/>
                              </a:solidFill>
                              <a:latin typeface="Cambria Math" panose="02040503050406030204" pitchFamily="18" charset="0"/>
                              <a:ea typeface="Cambria Math" panose="02040503050406030204" pitchFamily="18" charset="0"/>
                            </a:rPr>
                          </m:ctrlPr>
                        </m:fPr>
                        <m:num>
                          <m:r>
                            <a:rPr lang="en-US" sz="2800" b="0" i="1" smtClean="0">
                              <a:solidFill>
                                <a:schemeClr val="tx1"/>
                              </a:solidFill>
                              <a:latin typeface="Cambria Math" panose="02040503050406030204" pitchFamily="18" charset="0"/>
                              <a:ea typeface="Cambria Math" panose="02040503050406030204" pitchFamily="18" charset="0"/>
                            </a:rPr>
                            <m:t>1</m:t>
                          </m:r>
                        </m:num>
                        <m:den>
                          <m:sSub>
                            <m:sSubPr>
                              <m:ctrlPr>
                                <a:rPr lang="en-US" sz="2800" b="0" i="1" smtClean="0">
                                  <a:solidFill>
                                    <a:schemeClr val="tx1"/>
                                  </a:solidFill>
                                  <a:latin typeface="Cambria Math" panose="02040503050406030204" pitchFamily="18" charset="0"/>
                                  <a:ea typeface="Cambria Math" panose="02040503050406030204" pitchFamily="18" charset="0"/>
                                </a:rPr>
                              </m:ctrlPr>
                            </m:sSubPr>
                            <m:e>
                              <m:r>
                                <a:rPr lang="en-US" sz="2800" b="0" i="1" smtClean="0">
                                  <a:solidFill>
                                    <a:schemeClr val="tx1"/>
                                  </a:solidFill>
                                  <a:latin typeface="Cambria Math" panose="02040503050406030204" pitchFamily="18" charset="0"/>
                                  <a:ea typeface="Cambria Math" panose="02040503050406030204" pitchFamily="18" charset="0"/>
                                </a:rPr>
                                <m:t>𝑁</m:t>
                              </m:r>
                            </m:e>
                            <m:sub>
                              <m:r>
                                <a:rPr lang="en-US" sz="2800" b="0" i="1" smtClean="0">
                                  <a:solidFill>
                                    <a:schemeClr val="tx1"/>
                                  </a:solidFill>
                                  <a:latin typeface="Cambria Math" panose="02040503050406030204" pitchFamily="18" charset="0"/>
                                  <a:ea typeface="Cambria Math" panose="02040503050406030204" pitchFamily="18" charset="0"/>
                                </a:rPr>
                                <m:t>0</m:t>
                              </m:r>
                            </m:sub>
                          </m:sSub>
                        </m:den>
                      </m:f>
                      <m:nary>
                        <m:naryPr>
                          <m:chr m:val="∑"/>
                          <m:ctrlPr>
                            <a:rPr lang="en-US" sz="2800" b="0" i="1" smtClean="0">
                              <a:solidFill>
                                <a:schemeClr val="tx1"/>
                              </a:solidFill>
                              <a:latin typeface="Cambria Math" panose="02040503050406030204" pitchFamily="18" charset="0"/>
                              <a:ea typeface="Cambria Math" panose="02040503050406030204" pitchFamily="18" charset="0"/>
                            </a:rPr>
                          </m:ctrlPr>
                        </m:naryPr>
                        <m:sub>
                          <m:r>
                            <m:rPr>
                              <m:brk m:alnAt="23"/>
                            </m:rPr>
                            <a:rPr lang="en-US" sz="2800" b="0" i="1" smtClean="0">
                              <a:solidFill>
                                <a:schemeClr val="tx1"/>
                              </a:solidFill>
                              <a:latin typeface="Cambria Math" panose="02040503050406030204" pitchFamily="18" charset="0"/>
                              <a:ea typeface="Cambria Math" panose="02040503050406030204" pitchFamily="18" charset="0"/>
                            </a:rPr>
                            <m:t>𝑖</m:t>
                          </m:r>
                          <m:r>
                            <a:rPr lang="en-US" sz="2800" b="0" i="1" smtClean="0">
                              <a:solidFill>
                                <a:schemeClr val="tx1"/>
                              </a:solidFill>
                              <a:latin typeface="Cambria Math" panose="02040503050406030204" pitchFamily="18" charset="0"/>
                              <a:ea typeface="Cambria Math" panose="02040503050406030204" pitchFamily="18" charset="0"/>
                            </a:rPr>
                            <m:t>=1</m:t>
                          </m:r>
                        </m:sub>
                        <m:sup>
                          <m:r>
                            <a:rPr lang="en-US" sz="2800" b="0" i="1" smtClean="0">
                              <a:solidFill>
                                <a:schemeClr val="tx1"/>
                              </a:solidFill>
                              <a:latin typeface="Cambria Math" panose="02040503050406030204" pitchFamily="18" charset="0"/>
                              <a:ea typeface="Cambria Math" panose="02040503050406030204" pitchFamily="18" charset="0"/>
                            </a:rPr>
                            <m:t>𝑁</m:t>
                          </m:r>
                        </m:sup>
                        <m:e>
                          <m:f>
                            <m:fPr>
                              <m:ctrlPr>
                                <a:rPr lang="en-US" sz="2800" b="0" i="1" smtClean="0">
                                  <a:solidFill>
                                    <a:schemeClr val="accent5"/>
                                  </a:solidFill>
                                  <a:latin typeface="Cambria Math" panose="02040503050406030204" pitchFamily="18" charset="0"/>
                                  <a:ea typeface="Cambria Math" panose="02040503050406030204" pitchFamily="18" charset="0"/>
                                </a:rPr>
                              </m:ctrlPr>
                            </m:fPr>
                            <m:num>
                              <m:sSub>
                                <m:sSubPr>
                                  <m:ctrlPr>
                                    <a:rPr lang="en-US" sz="2800" b="0" i="1" smtClean="0">
                                      <a:solidFill>
                                        <a:schemeClr val="accent5"/>
                                      </a:solidFill>
                                      <a:latin typeface="Cambria Math" panose="02040503050406030204" pitchFamily="18" charset="0"/>
                                      <a:ea typeface="Cambria Math" panose="02040503050406030204" pitchFamily="18" charset="0"/>
                                    </a:rPr>
                                  </m:ctrlPr>
                                </m:sSubPr>
                                <m:e>
                                  <m:r>
                                    <a:rPr lang="en-US" sz="2800" b="0" i="1" smtClean="0">
                                      <a:solidFill>
                                        <a:schemeClr val="accent5"/>
                                      </a:solidFill>
                                      <a:latin typeface="Cambria Math" panose="02040503050406030204" pitchFamily="18" charset="0"/>
                                      <a:ea typeface="Cambria Math" panose="02040503050406030204" pitchFamily="18" charset="0"/>
                                    </a:rPr>
                                    <m:t>𝑁</m:t>
                                  </m:r>
                                </m:e>
                                <m:sub>
                                  <m:r>
                                    <a:rPr lang="en-US" sz="2800" b="0" i="1" smtClean="0">
                                      <a:solidFill>
                                        <a:schemeClr val="accent5"/>
                                      </a:solidFill>
                                      <a:latin typeface="Cambria Math" panose="02040503050406030204" pitchFamily="18" charset="0"/>
                                      <a:ea typeface="Cambria Math" panose="02040503050406030204" pitchFamily="18" charset="0"/>
                                    </a:rPr>
                                    <m:t>0</m:t>
                                  </m:r>
                                </m:sub>
                              </m:sSub>
                            </m:num>
                            <m:den>
                              <m:r>
                                <a:rPr lang="en-US" sz="2800" b="0" i="1" smtClean="0">
                                  <a:solidFill>
                                    <a:schemeClr val="accent5"/>
                                  </a:solidFill>
                                  <a:latin typeface="Cambria Math" panose="02040503050406030204" pitchFamily="18" charset="0"/>
                                  <a:ea typeface="Cambria Math" panose="02040503050406030204" pitchFamily="18" charset="0"/>
                                </a:rPr>
                                <m:t>𝑁</m:t>
                              </m:r>
                            </m:den>
                          </m:f>
                          <m:sSub>
                            <m:sSubPr>
                              <m:ctrlPr>
                                <a:rPr lang="en-US" sz="2800" b="0" i="1" smtClean="0">
                                  <a:solidFill>
                                    <a:schemeClr val="tx1"/>
                                  </a:solidFill>
                                  <a:latin typeface="Cambria Math" panose="02040503050406030204" pitchFamily="18" charset="0"/>
                                  <a:ea typeface="Cambria Math" panose="02040503050406030204" pitchFamily="18" charset="0"/>
                                </a:rPr>
                              </m:ctrlPr>
                            </m:sSubPr>
                            <m:e>
                              <m:r>
                                <a:rPr lang="en-US" sz="2800" b="0" i="1" smtClean="0">
                                  <a:solidFill>
                                    <a:schemeClr val="tx1"/>
                                  </a:solidFill>
                                  <a:latin typeface="Cambria Math" panose="02040503050406030204" pitchFamily="18" charset="0"/>
                                  <a:ea typeface="Cambria Math" panose="02040503050406030204" pitchFamily="18" charset="0"/>
                                </a:rPr>
                                <m:t>⋅</m:t>
                              </m:r>
                              <m:r>
                                <a:rPr lang="en-US" sz="2800" b="0" i="1" smtClean="0">
                                  <a:solidFill>
                                    <a:schemeClr val="tx1"/>
                                  </a:solidFill>
                                  <a:latin typeface="Cambria Math" panose="02040503050406030204" pitchFamily="18" charset="0"/>
                                  <a:ea typeface="Cambria Math" panose="02040503050406030204" pitchFamily="18" charset="0"/>
                                </a:rPr>
                                <m:t>𝑌</m:t>
                              </m:r>
                            </m:e>
                            <m:sub>
                              <m:r>
                                <a:rPr lang="en-US" sz="2800" b="0" i="1" smtClean="0">
                                  <a:solidFill>
                                    <a:schemeClr val="tx1"/>
                                  </a:solidFill>
                                  <a:latin typeface="Cambria Math" panose="02040503050406030204" pitchFamily="18" charset="0"/>
                                  <a:ea typeface="Cambria Math" panose="02040503050406030204" pitchFamily="18" charset="0"/>
                                </a:rPr>
                                <m:t>𝑖</m:t>
                              </m:r>
                            </m:sub>
                          </m:sSub>
                          <m:r>
                            <a:rPr lang="en-US" sz="2800" b="0" i="1" smtClean="0">
                              <a:solidFill>
                                <a:schemeClr val="tx1"/>
                              </a:solidFill>
                              <a:latin typeface="Cambria Math" panose="02040503050406030204" pitchFamily="18" charset="0"/>
                              <a:ea typeface="Cambria Math" panose="02040503050406030204" pitchFamily="18" charset="0"/>
                            </a:rPr>
                            <m:t>(0)</m:t>
                          </m:r>
                        </m:e>
                      </m:nary>
                    </m:oMath>
                  </m:oMathPara>
                </a14:m>
                <a:endParaRPr lang="en-US" sz="1400" dirty="0">
                  <a:solidFill>
                    <a:schemeClr val="tx1"/>
                  </a:solidFill>
                </a:endParaRPr>
              </a:p>
            </p:txBody>
          </p:sp>
        </mc:Choice>
        <mc:Fallback xmlns="">
          <p:sp>
            <p:nvSpPr>
              <p:cNvPr id="7" name="TextBox 6">
                <a:extLst>
                  <a:ext uri="{FF2B5EF4-FFF2-40B4-BE49-F238E27FC236}">
                    <a16:creationId xmlns:a16="http://schemas.microsoft.com/office/drawing/2014/main" id="{737045F8-7804-E950-FD79-0E95085D8E9A}"/>
                  </a:ext>
                </a:extLst>
              </p:cNvPr>
              <p:cNvSpPr txBox="1">
                <a:spLocks noRot="1" noChangeAspect="1" noMove="1" noResize="1" noEditPoints="1" noAdjustHandles="1" noChangeArrowheads="1" noChangeShapeType="1" noTextEdit="1"/>
              </p:cNvSpPr>
              <p:nvPr/>
            </p:nvSpPr>
            <p:spPr>
              <a:xfrm>
                <a:off x="1818710" y="5479186"/>
                <a:ext cx="6895799" cy="1349280"/>
              </a:xfrm>
              <a:prstGeom prst="rect">
                <a:avLst/>
              </a:prstGeom>
              <a:blipFill>
                <a:blip r:embed="rId10"/>
                <a:stretch>
                  <a:fillRect t="-98131" b="-150467"/>
                </a:stretch>
              </a:blipFill>
            </p:spPr>
            <p:txBody>
              <a:bodyPr/>
              <a:lstStyle/>
              <a:p>
                <a:r>
                  <a:rPr lang="en-US">
                    <a:noFill/>
                  </a:rPr>
                  <a:t> </a:t>
                </a:r>
              </a:p>
            </p:txBody>
          </p:sp>
        </mc:Fallback>
      </mc:AlternateContent>
    </p:spTree>
    <p:extLst>
      <p:ext uri="{BB962C8B-B14F-4D97-AF65-F5344CB8AC3E}">
        <p14:creationId xmlns:p14="http://schemas.microsoft.com/office/powerpoint/2010/main" val="413746046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786C3BBC-3DAA-0925-FC14-7991DF65539C}"/>
                  </a:ext>
                </a:extLst>
              </p:cNvPr>
              <p:cNvSpPr>
                <a:spLocks noGrp="1"/>
              </p:cNvSpPr>
              <p:nvPr>
                <p:ph type="title"/>
              </p:nvPr>
            </p:nvSpPr>
            <p:spPr/>
            <p:txBody>
              <a:bodyPr/>
              <a:lstStyle/>
              <a:p>
                <a:r>
                  <a:rPr lang="en-US" dirty="0"/>
                  <a:t>Why does </a:t>
                </a:r>
                <a14:m>
                  <m:oMath xmlns:m="http://schemas.openxmlformats.org/officeDocument/2006/math">
                    <m:r>
                      <a:rPr lang="en-US" i="1" smtClean="0">
                        <a:latin typeface="Cambria Math" panose="02040503050406030204" pitchFamily="18" charset="0"/>
                        <a:ea typeface="Cambria Math" panose="02040503050406030204" pitchFamily="18" charset="0"/>
                      </a:rPr>
                      <m:t>𝔼</m:t>
                    </m:r>
                    <m:d>
                      <m:dPr>
                        <m:begChr m:val="["/>
                        <m:endChr m:val="]"/>
                        <m:ctrlPr>
                          <a:rPr lang="en-US" b="0" i="1" smtClean="0">
                            <a:latin typeface="Cambria Math" panose="02040503050406030204" pitchFamily="18" charset="0"/>
                            <a:ea typeface="Cambria Math" panose="02040503050406030204" pitchFamily="18" charset="0"/>
                          </a:rPr>
                        </m:ctrlPr>
                      </m:dPr>
                      <m:e>
                        <m:acc>
                          <m:accPr>
                            <m:chr m:val="̂"/>
                            <m:ctrlPr>
                              <a:rPr lang="en-US" b="0" i="1" smtClean="0">
                                <a:latin typeface="Cambria Math" panose="02040503050406030204" pitchFamily="18" charset="0"/>
                                <a:ea typeface="Cambria Math" panose="02040503050406030204" pitchFamily="18" charset="0"/>
                              </a:rPr>
                            </m:ctrlPr>
                          </m:accPr>
                          <m:e>
                            <m:r>
                              <a:rPr lang="en-US" b="0" i="1" smtClean="0">
                                <a:latin typeface="Cambria Math" panose="02040503050406030204" pitchFamily="18" charset="0"/>
                                <a:ea typeface="Cambria Math" panose="02040503050406030204" pitchFamily="18" charset="0"/>
                              </a:rPr>
                              <m:t>𝜏</m:t>
                            </m:r>
                          </m:e>
                        </m:acc>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𝜏</m:t>
                    </m:r>
                  </m:oMath>
                </a14:m>
                <a:r>
                  <a:rPr lang="en-US" dirty="0"/>
                  <a:t>?</a:t>
                </a:r>
              </a:p>
            </p:txBody>
          </p:sp>
        </mc:Choice>
        <mc:Fallback xmlns="">
          <p:sp>
            <p:nvSpPr>
              <p:cNvPr id="2" name="Title 1">
                <a:extLst>
                  <a:ext uri="{FF2B5EF4-FFF2-40B4-BE49-F238E27FC236}">
                    <a16:creationId xmlns:a16="http://schemas.microsoft.com/office/drawing/2014/main" id="{786C3BBC-3DAA-0925-FC14-7991DF65539C}"/>
                  </a:ext>
                </a:extLst>
              </p:cNvPr>
              <p:cNvSpPr>
                <a:spLocks noGrp="1" noRot="1" noChangeAspect="1" noMove="1" noResize="1" noEditPoints="1" noAdjustHandles="1" noChangeArrowheads="1" noChangeShapeType="1" noTextEdit="1"/>
              </p:cNvSpPr>
              <p:nvPr>
                <p:ph type="title"/>
              </p:nvPr>
            </p:nvSpPr>
            <p:spPr>
              <a:blipFill>
                <a:blip r:embed="rId3"/>
                <a:stretch>
                  <a:fillRect l="-241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85BCF22E-4076-2A34-819D-2FBAC5BB70B6}"/>
                  </a:ext>
                </a:extLst>
              </p:cNvPr>
              <p:cNvSpPr txBox="1"/>
              <p:nvPr/>
            </p:nvSpPr>
            <p:spPr>
              <a:xfrm>
                <a:off x="1509091" y="1654617"/>
                <a:ext cx="6097656" cy="1036630"/>
              </a:xfrm>
              <a:prstGeom prst="rect">
                <a:avLst/>
              </a:prstGeom>
              <a:noFill/>
            </p:spPr>
            <p:txBody>
              <a:bodyPr wrap="square">
                <a:spAutoFit/>
              </a:bodyPr>
              <a:lstStyle/>
              <a:p>
                <a:pPr marL="0" indent="0" algn="ctr">
                  <a:buNone/>
                </a:pPr>
                <a14:m>
                  <m:oMathPara xmlns:m="http://schemas.openxmlformats.org/officeDocument/2006/math">
                    <m:oMathParaPr>
                      <m:jc m:val="centerGroup"/>
                    </m:oMathParaPr>
                    <m:oMath xmlns:m="http://schemas.openxmlformats.org/officeDocument/2006/math">
                      <m:acc>
                        <m:accPr>
                          <m:chr m:val="̂"/>
                          <m:ctrlPr>
                            <a:rPr lang="en-US" sz="2400" b="0" i="1" smtClean="0">
                              <a:latin typeface="Cambria Math" panose="02040503050406030204" pitchFamily="18" charset="0"/>
                            </a:rPr>
                          </m:ctrlPr>
                        </m:accPr>
                        <m:e>
                          <m:r>
                            <a:rPr lang="en-US" sz="2400" b="0" i="1" smtClean="0">
                              <a:latin typeface="Cambria Math" panose="02040503050406030204" pitchFamily="18" charset="0"/>
                            </a:rPr>
                            <m:t>𝜏</m:t>
                          </m:r>
                        </m:e>
                      </m:acc>
                      <m:r>
                        <a:rPr lang="en-US" sz="2400" b="0" i="1" smtClean="0">
                          <a:latin typeface="Cambria Math" panose="02040503050406030204" pitchFamily="18" charset="0"/>
                        </a:rPr>
                        <m:t>  </m:t>
                      </m:r>
                      <m:r>
                        <a:rPr lang="en-US" sz="2400" b="0" i="1" dirty="0" smtClean="0">
                          <a:latin typeface="Cambria Math" panose="02040503050406030204" pitchFamily="18" charset="0"/>
                        </a:rPr>
                        <m:t>=          </m:t>
                      </m:r>
                      <m:f>
                        <m:fPr>
                          <m:ctrlPr>
                            <a:rPr lang="en-US" sz="2400" b="0" i="1" dirty="0" smtClean="0">
                              <a:latin typeface="Cambria Math" panose="02040503050406030204" pitchFamily="18" charset="0"/>
                            </a:rPr>
                          </m:ctrlPr>
                        </m:fPr>
                        <m:num>
                          <m:r>
                            <a:rPr lang="en-US" sz="2400" b="0" i="1" dirty="0" smtClean="0">
                              <a:latin typeface="Cambria Math" panose="02040503050406030204" pitchFamily="18" charset="0"/>
                            </a:rPr>
                            <m:t>1</m:t>
                          </m:r>
                        </m:num>
                        <m:den>
                          <m:sSub>
                            <m:sSubPr>
                              <m:ctrlPr>
                                <a:rPr lang="en-US" sz="2400" b="0" i="1" dirty="0" smtClean="0">
                                  <a:latin typeface="Cambria Math" panose="02040503050406030204" pitchFamily="18" charset="0"/>
                                </a:rPr>
                              </m:ctrlPr>
                            </m:sSubPr>
                            <m:e>
                              <m:r>
                                <a:rPr lang="en-US" sz="2400" b="0" i="1" dirty="0" smtClean="0">
                                  <a:latin typeface="Cambria Math" panose="02040503050406030204" pitchFamily="18" charset="0"/>
                                </a:rPr>
                                <m:t>𝑁</m:t>
                              </m:r>
                            </m:e>
                            <m:sub>
                              <m:r>
                                <a:rPr lang="en-US" sz="2400" b="0" i="1" dirty="0" smtClean="0">
                                  <a:latin typeface="Cambria Math" panose="02040503050406030204" pitchFamily="18" charset="0"/>
                                </a:rPr>
                                <m:t>1</m:t>
                              </m:r>
                            </m:sub>
                          </m:sSub>
                        </m:den>
                      </m:f>
                      <m:nary>
                        <m:naryPr>
                          <m:chr m:val="∑"/>
                          <m:supHide m:val="on"/>
                          <m:ctrlPr>
                            <a:rPr lang="en-US" sz="2400" b="0" i="1" dirty="0" smtClean="0">
                              <a:latin typeface="Cambria Math" panose="02040503050406030204" pitchFamily="18" charset="0"/>
                            </a:rPr>
                          </m:ctrlPr>
                        </m:naryPr>
                        <m:sub>
                          <m:r>
                            <m:rPr>
                              <m:brk m:alnAt="7"/>
                            </m:rPr>
                            <a:rPr lang="en-US" sz="2400" b="0" i="1" dirty="0" smtClean="0">
                              <a:latin typeface="Cambria Math" panose="02040503050406030204" pitchFamily="18" charset="0"/>
                            </a:rPr>
                            <m:t>𝑖</m:t>
                          </m:r>
                          <m:r>
                            <a:rPr lang="en-US" sz="2400" b="0" i="1" dirty="0" smtClean="0">
                              <a:latin typeface="Cambria Math" panose="02040503050406030204" pitchFamily="18" charset="0"/>
                            </a:rPr>
                            <m:t>:</m:t>
                          </m:r>
                          <m:sSub>
                            <m:sSubPr>
                              <m:ctrlPr>
                                <a:rPr lang="en-US" sz="2400" b="0" i="1" dirty="0" smtClean="0">
                                  <a:latin typeface="Cambria Math" panose="02040503050406030204" pitchFamily="18" charset="0"/>
                                </a:rPr>
                              </m:ctrlPr>
                            </m:sSubPr>
                            <m:e>
                              <m:r>
                                <m:rPr>
                                  <m:brk m:alnAt="7"/>
                                </m:rPr>
                                <a:rPr lang="en-US" sz="2400" b="0" i="1" dirty="0" smtClean="0">
                                  <a:latin typeface="Cambria Math" panose="02040503050406030204" pitchFamily="18" charset="0"/>
                                </a:rPr>
                                <m:t>𝑊</m:t>
                              </m:r>
                            </m:e>
                            <m:sub>
                              <m:r>
                                <m:rPr>
                                  <m:brk m:alnAt="7"/>
                                </m:rPr>
                                <a:rPr lang="en-US" sz="2400" b="0" i="1" dirty="0" smtClean="0">
                                  <a:latin typeface="Cambria Math" panose="02040503050406030204" pitchFamily="18" charset="0"/>
                                </a:rPr>
                                <m:t>𝑖</m:t>
                              </m:r>
                            </m:sub>
                          </m:sSub>
                          <m:r>
                            <m:rPr>
                              <m:brk m:alnAt="7"/>
                            </m:rPr>
                            <a:rPr lang="en-US" sz="2400" b="0" i="1" dirty="0" smtClean="0">
                              <a:latin typeface="Cambria Math" panose="02040503050406030204" pitchFamily="18" charset="0"/>
                            </a:rPr>
                            <m:t>=</m:t>
                          </m:r>
                          <m:r>
                            <a:rPr lang="en-US" sz="2400" b="0" i="1" dirty="0" smtClean="0">
                              <a:latin typeface="Cambria Math" panose="02040503050406030204" pitchFamily="18" charset="0"/>
                            </a:rPr>
                            <m:t>1</m:t>
                          </m:r>
                        </m:sub>
                        <m:sup/>
                        <m:e>
                          <m:sSub>
                            <m:sSubPr>
                              <m:ctrlPr>
                                <a:rPr lang="en-US" sz="2400" b="0" i="1" dirty="0" smtClean="0">
                                  <a:latin typeface="Cambria Math" panose="02040503050406030204" pitchFamily="18" charset="0"/>
                                </a:rPr>
                              </m:ctrlPr>
                            </m:sSubPr>
                            <m:e>
                              <m:r>
                                <a:rPr lang="en-US" sz="2400" b="0" i="1" dirty="0" smtClean="0">
                                  <a:latin typeface="Cambria Math" panose="02040503050406030204" pitchFamily="18" charset="0"/>
                                </a:rPr>
                                <m:t>𝑌</m:t>
                              </m:r>
                            </m:e>
                            <m:sub>
                              <m:r>
                                <a:rPr lang="en-US" sz="2400" b="0" i="1" dirty="0" smtClean="0">
                                  <a:latin typeface="Cambria Math" panose="02040503050406030204" pitchFamily="18" charset="0"/>
                                </a:rPr>
                                <m:t>𝑖</m:t>
                              </m:r>
                            </m:sub>
                          </m:sSub>
                        </m:e>
                      </m:nary>
                      <m:r>
                        <a:rPr lang="en-US" sz="2400" b="0" i="1" dirty="0" smtClean="0">
                          <a:latin typeface="Cambria Math" panose="02040503050406030204" pitchFamily="18" charset="0"/>
                        </a:rPr>
                        <m:t>−</m:t>
                      </m:r>
                      <m:f>
                        <m:fPr>
                          <m:ctrlPr>
                            <a:rPr lang="en-US" sz="2400" b="0" i="1" dirty="0" smtClean="0">
                              <a:latin typeface="Cambria Math" panose="02040503050406030204" pitchFamily="18" charset="0"/>
                            </a:rPr>
                          </m:ctrlPr>
                        </m:fPr>
                        <m:num>
                          <m:r>
                            <a:rPr lang="en-US" sz="2400" b="0" i="1" dirty="0" smtClean="0">
                              <a:latin typeface="Cambria Math" panose="02040503050406030204" pitchFamily="18" charset="0"/>
                            </a:rPr>
                            <m:t>1</m:t>
                          </m:r>
                        </m:num>
                        <m:den>
                          <m:sSub>
                            <m:sSubPr>
                              <m:ctrlPr>
                                <a:rPr lang="en-US" sz="2400" b="0" i="1" dirty="0" smtClean="0">
                                  <a:latin typeface="Cambria Math" panose="02040503050406030204" pitchFamily="18" charset="0"/>
                                </a:rPr>
                              </m:ctrlPr>
                            </m:sSubPr>
                            <m:e>
                              <m:r>
                                <a:rPr lang="en-US" sz="2400" b="0" i="1" dirty="0" smtClean="0">
                                  <a:latin typeface="Cambria Math" panose="02040503050406030204" pitchFamily="18" charset="0"/>
                                </a:rPr>
                                <m:t>𝑁</m:t>
                              </m:r>
                            </m:e>
                            <m:sub>
                              <m:r>
                                <a:rPr lang="en-US" sz="2400" b="0" i="1" dirty="0" smtClean="0">
                                  <a:latin typeface="Cambria Math" panose="02040503050406030204" pitchFamily="18" charset="0"/>
                                </a:rPr>
                                <m:t>0</m:t>
                              </m:r>
                            </m:sub>
                          </m:sSub>
                        </m:den>
                      </m:f>
                      <m:nary>
                        <m:naryPr>
                          <m:chr m:val="∑"/>
                          <m:supHide m:val="on"/>
                          <m:ctrlPr>
                            <a:rPr lang="en-US" sz="2400" b="0" i="1" dirty="0" smtClean="0">
                              <a:latin typeface="Cambria Math" panose="02040503050406030204" pitchFamily="18" charset="0"/>
                            </a:rPr>
                          </m:ctrlPr>
                        </m:naryPr>
                        <m:sub>
                          <m:r>
                            <m:rPr>
                              <m:brk m:alnAt="7"/>
                            </m:rPr>
                            <a:rPr lang="en-US" sz="2400" b="0" i="1" dirty="0" smtClean="0">
                              <a:latin typeface="Cambria Math" panose="02040503050406030204" pitchFamily="18" charset="0"/>
                            </a:rPr>
                            <m:t>𝑖</m:t>
                          </m:r>
                          <m:r>
                            <a:rPr lang="en-US" sz="2400" b="0" i="1" dirty="0" smtClean="0">
                              <a:latin typeface="Cambria Math" panose="02040503050406030204" pitchFamily="18" charset="0"/>
                            </a:rPr>
                            <m:t>:</m:t>
                          </m:r>
                          <m:sSub>
                            <m:sSubPr>
                              <m:ctrlPr>
                                <a:rPr lang="en-US" sz="2400" b="0" i="1" dirty="0" smtClean="0">
                                  <a:latin typeface="Cambria Math" panose="02040503050406030204" pitchFamily="18" charset="0"/>
                                </a:rPr>
                              </m:ctrlPr>
                            </m:sSubPr>
                            <m:e>
                              <m:r>
                                <m:rPr>
                                  <m:brk m:alnAt="7"/>
                                </m:rPr>
                                <a:rPr lang="en-US" sz="2400" b="0" i="1" dirty="0" smtClean="0">
                                  <a:latin typeface="Cambria Math" panose="02040503050406030204" pitchFamily="18" charset="0"/>
                                </a:rPr>
                                <m:t>𝑊</m:t>
                              </m:r>
                            </m:e>
                            <m:sub>
                              <m:r>
                                <m:rPr>
                                  <m:brk m:alnAt="7"/>
                                </m:rPr>
                                <a:rPr lang="en-US" sz="2400" b="0" i="1" dirty="0" smtClean="0">
                                  <a:latin typeface="Cambria Math" panose="02040503050406030204" pitchFamily="18" charset="0"/>
                                </a:rPr>
                                <m:t>𝑖</m:t>
                              </m:r>
                            </m:sub>
                          </m:sSub>
                          <m:r>
                            <m:rPr>
                              <m:brk m:alnAt="7"/>
                            </m:rPr>
                            <a:rPr lang="en-US" sz="2400" b="0" i="1" dirty="0" smtClean="0">
                              <a:latin typeface="Cambria Math" panose="02040503050406030204" pitchFamily="18" charset="0"/>
                            </a:rPr>
                            <m:t>=</m:t>
                          </m:r>
                          <m:r>
                            <a:rPr lang="en-US" sz="2400" b="0" i="1" dirty="0" smtClean="0">
                              <a:latin typeface="Cambria Math" panose="02040503050406030204" pitchFamily="18" charset="0"/>
                            </a:rPr>
                            <m:t>0</m:t>
                          </m:r>
                        </m:sub>
                        <m:sup/>
                        <m:e>
                          <m:sSub>
                            <m:sSubPr>
                              <m:ctrlPr>
                                <a:rPr lang="en-US" sz="2400" b="0" i="1" dirty="0" smtClean="0">
                                  <a:latin typeface="Cambria Math" panose="02040503050406030204" pitchFamily="18" charset="0"/>
                                </a:rPr>
                              </m:ctrlPr>
                            </m:sSubPr>
                            <m:e>
                              <m:r>
                                <a:rPr lang="en-US" sz="2400" b="0" i="1" dirty="0" smtClean="0">
                                  <a:latin typeface="Cambria Math" panose="02040503050406030204" pitchFamily="18" charset="0"/>
                                </a:rPr>
                                <m:t>𝑌</m:t>
                              </m:r>
                            </m:e>
                            <m:sub>
                              <m:r>
                                <a:rPr lang="en-US" sz="2400" b="0" i="1" dirty="0" smtClean="0">
                                  <a:latin typeface="Cambria Math" panose="02040503050406030204" pitchFamily="18" charset="0"/>
                                </a:rPr>
                                <m:t>𝑖</m:t>
                              </m:r>
                            </m:sub>
                          </m:sSub>
                        </m:e>
                      </m:nary>
                    </m:oMath>
                  </m:oMathPara>
                </a14:m>
                <a:endParaRPr lang="en-US" sz="2400" dirty="0"/>
              </a:p>
            </p:txBody>
          </p:sp>
        </mc:Choice>
        <mc:Fallback xmlns="">
          <p:sp>
            <p:nvSpPr>
              <p:cNvPr id="6" name="TextBox 5">
                <a:extLst>
                  <a:ext uri="{FF2B5EF4-FFF2-40B4-BE49-F238E27FC236}">
                    <a16:creationId xmlns:a16="http://schemas.microsoft.com/office/drawing/2014/main" id="{85BCF22E-4076-2A34-819D-2FBAC5BB70B6}"/>
                  </a:ext>
                </a:extLst>
              </p:cNvPr>
              <p:cNvSpPr txBox="1">
                <a:spLocks noRot="1" noChangeAspect="1" noMove="1" noResize="1" noEditPoints="1" noAdjustHandles="1" noChangeArrowheads="1" noChangeShapeType="1" noTextEdit="1"/>
              </p:cNvSpPr>
              <p:nvPr/>
            </p:nvSpPr>
            <p:spPr>
              <a:xfrm>
                <a:off x="1509091" y="1654617"/>
                <a:ext cx="6097656" cy="1036630"/>
              </a:xfrm>
              <a:prstGeom prst="rect">
                <a:avLst/>
              </a:prstGeom>
              <a:blipFill>
                <a:blip r:embed="rId4"/>
                <a:stretch>
                  <a:fillRect t="-125610" b="-16829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0CD1686E-3EDC-5EBE-A5A2-56EC23CA6EE2}"/>
                  </a:ext>
                </a:extLst>
              </p:cNvPr>
              <p:cNvSpPr txBox="1"/>
              <p:nvPr/>
            </p:nvSpPr>
            <p:spPr>
              <a:xfrm>
                <a:off x="1707874" y="1770254"/>
                <a:ext cx="1033670" cy="64633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3600" i="1" smtClean="0">
                          <a:solidFill>
                            <a:schemeClr val="tx1"/>
                          </a:solidFill>
                          <a:latin typeface="Cambria Math" panose="02040503050406030204" pitchFamily="18" charset="0"/>
                          <a:ea typeface="Cambria Math" panose="02040503050406030204" pitchFamily="18" charset="0"/>
                        </a:rPr>
                        <m:t>𝔼</m:t>
                      </m:r>
                      <m:r>
                        <a:rPr lang="en-US" sz="3600" b="0" i="1" smtClean="0">
                          <a:solidFill>
                            <a:schemeClr val="tx1"/>
                          </a:solidFill>
                          <a:latin typeface="Cambria Math" panose="02040503050406030204" pitchFamily="18" charset="0"/>
                          <a:ea typeface="Cambria Math" panose="02040503050406030204" pitchFamily="18" charset="0"/>
                        </a:rPr>
                        <m:t>[  ]</m:t>
                      </m:r>
                    </m:oMath>
                  </m:oMathPara>
                </a14:m>
                <a:endParaRPr lang="en-US" dirty="0">
                  <a:solidFill>
                    <a:schemeClr val="tx1"/>
                  </a:solidFill>
                </a:endParaRPr>
              </a:p>
            </p:txBody>
          </p:sp>
        </mc:Choice>
        <mc:Fallback xmlns="">
          <p:sp>
            <p:nvSpPr>
              <p:cNvPr id="8" name="TextBox 7">
                <a:extLst>
                  <a:ext uri="{FF2B5EF4-FFF2-40B4-BE49-F238E27FC236}">
                    <a16:creationId xmlns:a16="http://schemas.microsoft.com/office/drawing/2014/main" id="{0CD1686E-3EDC-5EBE-A5A2-56EC23CA6EE2}"/>
                  </a:ext>
                </a:extLst>
              </p:cNvPr>
              <p:cNvSpPr txBox="1">
                <a:spLocks noRot="1" noChangeAspect="1" noMove="1" noResize="1" noEditPoints="1" noAdjustHandles="1" noChangeArrowheads="1" noChangeShapeType="1" noTextEdit="1"/>
              </p:cNvSpPr>
              <p:nvPr/>
            </p:nvSpPr>
            <p:spPr>
              <a:xfrm>
                <a:off x="1707874" y="1770254"/>
                <a:ext cx="1033670" cy="646331"/>
              </a:xfrm>
              <a:prstGeom prst="rect">
                <a:avLst/>
              </a:prstGeom>
              <a:blipFill>
                <a:blip r:embed="rId5"/>
                <a:stretch>
                  <a:fillRect l="-3614" t="-1923" r="-8434" b="-2307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091A1BB7-10D1-70B1-AFFA-B15AD81052DD}"/>
                  </a:ext>
                </a:extLst>
              </p:cNvPr>
              <p:cNvSpPr txBox="1"/>
              <p:nvPr/>
            </p:nvSpPr>
            <p:spPr>
              <a:xfrm>
                <a:off x="2940327" y="1770209"/>
                <a:ext cx="1033670" cy="64633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3600" i="1" smtClean="0">
                          <a:solidFill>
                            <a:schemeClr val="tx1"/>
                          </a:solidFill>
                          <a:latin typeface="Cambria Math" panose="02040503050406030204" pitchFamily="18" charset="0"/>
                          <a:ea typeface="Cambria Math" panose="02040503050406030204" pitchFamily="18" charset="0"/>
                        </a:rPr>
                        <m:t>𝔼</m:t>
                      </m:r>
                      <m:r>
                        <a:rPr lang="en-US" sz="3600" b="0" i="1" smtClean="0">
                          <a:solidFill>
                            <a:schemeClr val="tx1"/>
                          </a:solidFill>
                          <a:latin typeface="Cambria Math" panose="02040503050406030204" pitchFamily="18" charset="0"/>
                          <a:ea typeface="Cambria Math" panose="02040503050406030204" pitchFamily="18" charset="0"/>
                        </a:rPr>
                        <m:t>[                                  ]</m:t>
                      </m:r>
                    </m:oMath>
                  </m:oMathPara>
                </a14:m>
                <a:endParaRPr lang="en-US" dirty="0">
                  <a:solidFill>
                    <a:schemeClr val="tx1"/>
                  </a:solidFill>
                </a:endParaRPr>
              </a:p>
            </p:txBody>
          </p:sp>
        </mc:Choice>
        <mc:Fallback xmlns="">
          <p:sp>
            <p:nvSpPr>
              <p:cNvPr id="9" name="TextBox 8">
                <a:extLst>
                  <a:ext uri="{FF2B5EF4-FFF2-40B4-BE49-F238E27FC236}">
                    <a16:creationId xmlns:a16="http://schemas.microsoft.com/office/drawing/2014/main" id="{091A1BB7-10D1-70B1-AFFA-B15AD81052DD}"/>
                  </a:ext>
                </a:extLst>
              </p:cNvPr>
              <p:cNvSpPr txBox="1">
                <a:spLocks noRot="1" noChangeAspect="1" noMove="1" noResize="1" noEditPoints="1" noAdjustHandles="1" noChangeArrowheads="1" noChangeShapeType="1" noTextEdit="1"/>
              </p:cNvSpPr>
              <p:nvPr/>
            </p:nvSpPr>
            <p:spPr>
              <a:xfrm>
                <a:off x="2940327" y="1770209"/>
                <a:ext cx="1033670" cy="646331"/>
              </a:xfrm>
              <a:prstGeom prst="rect">
                <a:avLst/>
              </a:prstGeom>
              <a:blipFill>
                <a:blip r:embed="rId6"/>
                <a:stretch>
                  <a:fillRect l="-6098" t="-1923" r="-315854" b="-2307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5C58F4CF-CB8E-13D0-7127-37111CF73504}"/>
                  </a:ext>
                </a:extLst>
              </p:cNvPr>
              <p:cNvSpPr txBox="1"/>
              <p:nvPr/>
            </p:nvSpPr>
            <p:spPr>
              <a:xfrm>
                <a:off x="1707874" y="2793402"/>
                <a:ext cx="9079396" cy="130388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ea typeface="Cambria Math" panose="02040503050406030204" pitchFamily="18" charset="0"/>
                        </a:rPr>
                        <m:t>=</m:t>
                      </m:r>
                      <m:r>
                        <a:rPr lang="en-US" sz="2800" b="0" i="1" smtClean="0">
                          <a:solidFill>
                            <a:schemeClr val="tx1"/>
                          </a:solidFill>
                          <a:latin typeface="Cambria Math" panose="02040503050406030204" pitchFamily="18" charset="0"/>
                          <a:ea typeface="Cambria Math" panose="02040503050406030204" pitchFamily="18" charset="0"/>
                        </a:rPr>
                        <m:t>𝔼</m:t>
                      </m:r>
                      <m:d>
                        <m:dPr>
                          <m:begChr m:val="["/>
                          <m:endChr m:val="]"/>
                          <m:ctrlPr>
                            <a:rPr lang="en-US" sz="2800" b="0" i="1" smtClean="0">
                              <a:solidFill>
                                <a:schemeClr val="tx1"/>
                              </a:solidFill>
                              <a:latin typeface="Cambria Math" panose="02040503050406030204" pitchFamily="18" charset="0"/>
                              <a:ea typeface="Cambria Math" panose="02040503050406030204" pitchFamily="18" charset="0"/>
                            </a:rPr>
                          </m:ctrlPr>
                        </m:dPr>
                        <m:e>
                          <m:f>
                            <m:fPr>
                              <m:ctrlPr>
                                <a:rPr lang="en-US" sz="2800" b="0" i="1" smtClean="0">
                                  <a:solidFill>
                                    <a:schemeClr val="tx1"/>
                                  </a:solidFill>
                                  <a:latin typeface="Cambria Math" panose="02040503050406030204" pitchFamily="18" charset="0"/>
                                  <a:ea typeface="Cambria Math" panose="02040503050406030204" pitchFamily="18" charset="0"/>
                                </a:rPr>
                              </m:ctrlPr>
                            </m:fPr>
                            <m:num>
                              <m:r>
                                <a:rPr lang="en-US" sz="2800" b="0" i="1" smtClean="0">
                                  <a:solidFill>
                                    <a:schemeClr val="tx1"/>
                                  </a:solidFill>
                                  <a:latin typeface="Cambria Math" panose="02040503050406030204" pitchFamily="18" charset="0"/>
                                  <a:ea typeface="Cambria Math" panose="02040503050406030204" pitchFamily="18" charset="0"/>
                                </a:rPr>
                                <m:t>1</m:t>
                              </m:r>
                            </m:num>
                            <m:den>
                              <m:sSub>
                                <m:sSubPr>
                                  <m:ctrlPr>
                                    <a:rPr lang="en-US" sz="2800" b="0" i="1" smtClean="0">
                                      <a:solidFill>
                                        <a:schemeClr val="tx1"/>
                                      </a:solidFill>
                                      <a:latin typeface="Cambria Math" panose="02040503050406030204" pitchFamily="18" charset="0"/>
                                      <a:ea typeface="Cambria Math" panose="02040503050406030204" pitchFamily="18" charset="0"/>
                                    </a:rPr>
                                  </m:ctrlPr>
                                </m:sSubPr>
                                <m:e>
                                  <m:r>
                                    <a:rPr lang="en-US" sz="2800" b="0" i="1" smtClean="0">
                                      <a:solidFill>
                                        <a:schemeClr val="tx1"/>
                                      </a:solidFill>
                                      <a:latin typeface="Cambria Math" panose="02040503050406030204" pitchFamily="18" charset="0"/>
                                      <a:ea typeface="Cambria Math" panose="02040503050406030204" pitchFamily="18" charset="0"/>
                                    </a:rPr>
                                    <m:t>𝑁</m:t>
                                  </m:r>
                                </m:e>
                                <m:sub>
                                  <m:r>
                                    <a:rPr lang="en-US" sz="2800" b="0" i="1" smtClean="0">
                                      <a:solidFill>
                                        <a:schemeClr val="tx1"/>
                                      </a:solidFill>
                                      <a:latin typeface="Cambria Math" panose="02040503050406030204" pitchFamily="18" charset="0"/>
                                      <a:ea typeface="Cambria Math" panose="02040503050406030204" pitchFamily="18" charset="0"/>
                                    </a:rPr>
                                    <m:t>1</m:t>
                                  </m:r>
                                </m:sub>
                              </m:sSub>
                            </m:den>
                          </m:f>
                          <m:nary>
                            <m:naryPr>
                              <m:chr m:val="∑"/>
                              <m:ctrlPr>
                                <a:rPr lang="en-US" sz="2800" b="0" i="1" smtClean="0">
                                  <a:solidFill>
                                    <a:schemeClr val="tx1"/>
                                  </a:solidFill>
                                  <a:latin typeface="Cambria Math" panose="02040503050406030204" pitchFamily="18" charset="0"/>
                                  <a:ea typeface="Cambria Math" panose="02040503050406030204" pitchFamily="18" charset="0"/>
                                </a:rPr>
                              </m:ctrlPr>
                            </m:naryPr>
                            <m:sub>
                              <m:r>
                                <m:rPr>
                                  <m:brk m:alnAt="23"/>
                                </m:rPr>
                                <a:rPr lang="en-US" sz="2800" b="0" i="1" smtClean="0">
                                  <a:solidFill>
                                    <a:schemeClr val="tx1"/>
                                  </a:solidFill>
                                  <a:latin typeface="Cambria Math" panose="02040503050406030204" pitchFamily="18" charset="0"/>
                                  <a:ea typeface="Cambria Math" panose="02040503050406030204" pitchFamily="18" charset="0"/>
                                </a:rPr>
                                <m:t>𝑖</m:t>
                              </m:r>
                              <m:r>
                                <a:rPr lang="en-US" sz="2800" b="0" i="1" smtClean="0">
                                  <a:solidFill>
                                    <a:schemeClr val="tx1"/>
                                  </a:solidFill>
                                  <a:latin typeface="Cambria Math" panose="02040503050406030204" pitchFamily="18" charset="0"/>
                                  <a:ea typeface="Cambria Math" panose="02040503050406030204" pitchFamily="18" charset="0"/>
                                </a:rPr>
                                <m:t>=1</m:t>
                              </m:r>
                            </m:sub>
                            <m:sup>
                              <m:r>
                                <a:rPr lang="en-US" sz="2800" b="0" i="1" smtClean="0">
                                  <a:solidFill>
                                    <a:schemeClr val="tx1"/>
                                  </a:solidFill>
                                  <a:latin typeface="Cambria Math" panose="02040503050406030204" pitchFamily="18" charset="0"/>
                                  <a:ea typeface="Cambria Math" panose="02040503050406030204" pitchFamily="18" charset="0"/>
                                </a:rPr>
                                <m:t>𝑁</m:t>
                              </m:r>
                            </m:sup>
                            <m:e>
                              <m:r>
                                <a:rPr lang="en-US" sz="2800" b="1" i="1" smtClean="0">
                                  <a:solidFill>
                                    <a:schemeClr val="tx1"/>
                                  </a:solidFill>
                                  <a:latin typeface="Cambria Math" panose="02040503050406030204" pitchFamily="18" charset="0"/>
                                  <a:ea typeface="Cambria Math" panose="02040503050406030204" pitchFamily="18" charset="0"/>
                                </a:rPr>
                                <m:t>𝟏</m:t>
                              </m:r>
                              <m:d>
                                <m:dPr>
                                  <m:begChr m:val="["/>
                                  <m:endChr m:val="]"/>
                                  <m:ctrlPr>
                                    <a:rPr lang="en-US" sz="2800" b="0" i="1" smtClean="0">
                                      <a:solidFill>
                                        <a:schemeClr val="tx1"/>
                                      </a:solidFill>
                                      <a:latin typeface="Cambria Math" panose="02040503050406030204" pitchFamily="18" charset="0"/>
                                      <a:ea typeface="Cambria Math" panose="02040503050406030204" pitchFamily="18" charset="0"/>
                                    </a:rPr>
                                  </m:ctrlPr>
                                </m:dPr>
                                <m:e>
                                  <m:sSub>
                                    <m:sSubPr>
                                      <m:ctrlPr>
                                        <a:rPr lang="en-US" sz="2800" b="0" i="1" smtClean="0">
                                          <a:solidFill>
                                            <a:schemeClr val="tx1"/>
                                          </a:solidFill>
                                          <a:latin typeface="Cambria Math" panose="02040503050406030204" pitchFamily="18" charset="0"/>
                                          <a:ea typeface="Cambria Math" panose="02040503050406030204" pitchFamily="18" charset="0"/>
                                        </a:rPr>
                                      </m:ctrlPr>
                                    </m:sSubPr>
                                    <m:e>
                                      <m:r>
                                        <a:rPr lang="en-US" sz="2800" b="0" i="1" smtClean="0">
                                          <a:solidFill>
                                            <a:schemeClr val="tx1"/>
                                          </a:solidFill>
                                          <a:latin typeface="Cambria Math" panose="02040503050406030204" pitchFamily="18" charset="0"/>
                                          <a:ea typeface="Cambria Math" panose="02040503050406030204" pitchFamily="18" charset="0"/>
                                        </a:rPr>
                                        <m:t>𝑊</m:t>
                                      </m:r>
                                    </m:e>
                                    <m:sub>
                                      <m:r>
                                        <a:rPr lang="en-US" sz="2800" b="0" i="1" smtClean="0">
                                          <a:solidFill>
                                            <a:schemeClr val="tx1"/>
                                          </a:solidFill>
                                          <a:latin typeface="Cambria Math" panose="02040503050406030204" pitchFamily="18" charset="0"/>
                                          <a:ea typeface="Cambria Math" panose="02040503050406030204" pitchFamily="18" charset="0"/>
                                        </a:rPr>
                                        <m:t>𝑖</m:t>
                                      </m:r>
                                    </m:sub>
                                  </m:sSub>
                                  <m:r>
                                    <a:rPr lang="en-US" sz="2800" b="0" i="1" smtClean="0">
                                      <a:solidFill>
                                        <a:schemeClr val="tx1"/>
                                      </a:solidFill>
                                      <a:latin typeface="Cambria Math" panose="02040503050406030204" pitchFamily="18" charset="0"/>
                                      <a:ea typeface="Cambria Math" panose="02040503050406030204" pitchFamily="18" charset="0"/>
                                    </a:rPr>
                                    <m:t>=1</m:t>
                                  </m:r>
                                </m:e>
                              </m:d>
                              <m:sSub>
                                <m:sSubPr>
                                  <m:ctrlPr>
                                    <a:rPr lang="en-US" sz="2800" b="0" i="1" smtClean="0">
                                      <a:solidFill>
                                        <a:schemeClr val="tx1"/>
                                      </a:solidFill>
                                      <a:latin typeface="Cambria Math" panose="02040503050406030204" pitchFamily="18" charset="0"/>
                                      <a:ea typeface="Cambria Math" panose="02040503050406030204" pitchFamily="18" charset="0"/>
                                    </a:rPr>
                                  </m:ctrlPr>
                                </m:sSubPr>
                                <m:e>
                                  <m:r>
                                    <a:rPr lang="en-US" sz="2800" b="0" i="1" smtClean="0">
                                      <a:solidFill>
                                        <a:schemeClr val="tx1"/>
                                      </a:solidFill>
                                      <a:latin typeface="Cambria Math" panose="02040503050406030204" pitchFamily="18" charset="0"/>
                                      <a:ea typeface="Cambria Math" panose="02040503050406030204" pitchFamily="18" charset="0"/>
                                    </a:rPr>
                                    <m:t>𝑌</m:t>
                                  </m:r>
                                </m:e>
                                <m:sub>
                                  <m:r>
                                    <a:rPr lang="en-US" sz="2800" b="0" i="1" smtClean="0">
                                      <a:solidFill>
                                        <a:schemeClr val="tx1"/>
                                      </a:solidFill>
                                      <a:latin typeface="Cambria Math" panose="02040503050406030204" pitchFamily="18" charset="0"/>
                                      <a:ea typeface="Cambria Math" panose="02040503050406030204" pitchFamily="18" charset="0"/>
                                    </a:rPr>
                                    <m:t>𝑖</m:t>
                                  </m:r>
                                </m:sub>
                              </m:sSub>
                              <m:r>
                                <a:rPr lang="en-US" sz="2800" b="0" i="1" smtClean="0">
                                  <a:solidFill>
                                    <a:schemeClr val="tx1"/>
                                  </a:solidFill>
                                  <a:latin typeface="Cambria Math" panose="02040503050406030204" pitchFamily="18" charset="0"/>
                                  <a:ea typeface="Cambria Math" panose="02040503050406030204" pitchFamily="18" charset="0"/>
                                </a:rPr>
                                <m:t>(1) −</m:t>
                              </m:r>
                              <m:f>
                                <m:fPr>
                                  <m:ctrlPr>
                                    <a:rPr lang="en-US" sz="2800" b="0" i="1" smtClean="0">
                                      <a:solidFill>
                                        <a:schemeClr val="tx1"/>
                                      </a:solidFill>
                                      <a:latin typeface="Cambria Math" panose="02040503050406030204" pitchFamily="18" charset="0"/>
                                      <a:ea typeface="Cambria Math" panose="02040503050406030204" pitchFamily="18" charset="0"/>
                                    </a:rPr>
                                  </m:ctrlPr>
                                </m:fPr>
                                <m:num>
                                  <m:r>
                                    <a:rPr lang="en-US" sz="2800" b="0" i="1" smtClean="0">
                                      <a:solidFill>
                                        <a:schemeClr val="tx1"/>
                                      </a:solidFill>
                                      <a:latin typeface="Cambria Math" panose="02040503050406030204" pitchFamily="18" charset="0"/>
                                      <a:ea typeface="Cambria Math" panose="02040503050406030204" pitchFamily="18" charset="0"/>
                                    </a:rPr>
                                    <m:t>1</m:t>
                                  </m:r>
                                </m:num>
                                <m:den>
                                  <m:sSub>
                                    <m:sSubPr>
                                      <m:ctrlPr>
                                        <a:rPr lang="en-US" sz="2800" b="0" i="1" smtClean="0">
                                          <a:solidFill>
                                            <a:schemeClr val="tx1"/>
                                          </a:solidFill>
                                          <a:latin typeface="Cambria Math" panose="02040503050406030204" pitchFamily="18" charset="0"/>
                                          <a:ea typeface="Cambria Math" panose="02040503050406030204" pitchFamily="18" charset="0"/>
                                        </a:rPr>
                                      </m:ctrlPr>
                                    </m:sSubPr>
                                    <m:e>
                                      <m:r>
                                        <a:rPr lang="en-US" sz="2800" b="0" i="1" smtClean="0">
                                          <a:solidFill>
                                            <a:schemeClr val="tx1"/>
                                          </a:solidFill>
                                          <a:latin typeface="Cambria Math" panose="02040503050406030204" pitchFamily="18" charset="0"/>
                                          <a:ea typeface="Cambria Math" panose="02040503050406030204" pitchFamily="18" charset="0"/>
                                        </a:rPr>
                                        <m:t>𝑁</m:t>
                                      </m:r>
                                    </m:e>
                                    <m:sub>
                                      <m:r>
                                        <a:rPr lang="en-US" sz="2800" b="0" i="1" smtClean="0">
                                          <a:solidFill>
                                            <a:schemeClr val="tx1"/>
                                          </a:solidFill>
                                          <a:latin typeface="Cambria Math" panose="02040503050406030204" pitchFamily="18" charset="0"/>
                                          <a:ea typeface="Cambria Math" panose="02040503050406030204" pitchFamily="18" charset="0"/>
                                        </a:rPr>
                                        <m:t>0</m:t>
                                      </m:r>
                                    </m:sub>
                                  </m:sSub>
                                </m:den>
                              </m:f>
                            </m:e>
                          </m:nary>
                          <m:nary>
                            <m:naryPr>
                              <m:chr m:val="∑"/>
                              <m:ctrlPr>
                                <a:rPr lang="en-US" sz="2800" i="1">
                                  <a:solidFill>
                                    <a:schemeClr val="tx1"/>
                                  </a:solidFill>
                                  <a:latin typeface="Cambria Math" panose="02040503050406030204" pitchFamily="18" charset="0"/>
                                  <a:ea typeface="Cambria Math" panose="02040503050406030204" pitchFamily="18" charset="0"/>
                                </a:rPr>
                              </m:ctrlPr>
                            </m:naryPr>
                            <m:sub>
                              <m:r>
                                <m:rPr>
                                  <m:brk m:alnAt="23"/>
                                </m:rPr>
                                <a:rPr lang="en-US" sz="2800" i="1">
                                  <a:solidFill>
                                    <a:schemeClr val="tx1"/>
                                  </a:solidFill>
                                  <a:latin typeface="Cambria Math" panose="02040503050406030204" pitchFamily="18" charset="0"/>
                                  <a:ea typeface="Cambria Math" panose="02040503050406030204" pitchFamily="18" charset="0"/>
                                </a:rPr>
                                <m:t>𝑖</m:t>
                              </m:r>
                              <m:r>
                                <a:rPr lang="en-US" sz="2800" i="1">
                                  <a:solidFill>
                                    <a:schemeClr val="tx1"/>
                                  </a:solidFill>
                                  <a:latin typeface="Cambria Math" panose="02040503050406030204" pitchFamily="18" charset="0"/>
                                  <a:ea typeface="Cambria Math" panose="02040503050406030204" pitchFamily="18" charset="0"/>
                                </a:rPr>
                                <m:t>=1</m:t>
                              </m:r>
                            </m:sub>
                            <m:sup>
                              <m:r>
                                <a:rPr lang="en-US" sz="2800" i="1">
                                  <a:solidFill>
                                    <a:schemeClr val="tx1"/>
                                  </a:solidFill>
                                  <a:latin typeface="Cambria Math" panose="02040503050406030204" pitchFamily="18" charset="0"/>
                                  <a:ea typeface="Cambria Math" panose="02040503050406030204" pitchFamily="18" charset="0"/>
                                </a:rPr>
                                <m:t>𝑁</m:t>
                              </m:r>
                            </m:sup>
                            <m:e>
                              <m:r>
                                <a:rPr lang="en-US" sz="2800" b="1" i="1" smtClean="0">
                                  <a:solidFill>
                                    <a:schemeClr val="tx1"/>
                                  </a:solidFill>
                                  <a:latin typeface="Cambria Math" panose="02040503050406030204" pitchFamily="18" charset="0"/>
                                  <a:ea typeface="Cambria Math" panose="02040503050406030204" pitchFamily="18" charset="0"/>
                                </a:rPr>
                                <m:t>𝟏</m:t>
                              </m:r>
                              <m:d>
                                <m:dPr>
                                  <m:begChr m:val="["/>
                                  <m:endChr m:val="]"/>
                                  <m:ctrlPr>
                                    <a:rPr lang="en-US" sz="2800" i="1">
                                      <a:solidFill>
                                        <a:schemeClr val="tx1"/>
                                      </a:solidFill>
                                      <a:latin typeface="Cambria Math" panose="02040503050406030204" pitchFamily="18" charset="0"/>
                                      <a:ea typeface="Cambria Math" panose="02040503050406030204" pitchFamily="18" charset="0"/>
                                    </a:rPr>
                                  </m:ctrlPr>
                                </m:dPr>
                                <m:e>
                                  <m:sSub>
                                    <m:sSubPr>
                                      <m:ctrlPr>
                                        <a:rPr lang="en-US" sz="2800" i="1">
                                          <a:solidFill>
                                            <a:schemeClr val="tx1"/>
                                          </a:solidFill>
                                          <a:latin typeface="Cambria Math" panose="02040503050406030204" pitchFamily="18" charset="0"/>
                                          <a:ea typeface="Cambria Math" panose="02040503050406030204" pitchFamily="18" charset="0"/>
                                        </a:rPr>
                                      </m:ctrlPr>
                                    </m:sSubPr>
                                    <m:e>
                                      <m:r>
                                        <a:rPr lang="en-US" sz="2800" i="1">
                                          <a:solidFill>
                                            <a:schemeClr val="tx1"/>
                                          </a:solidFill>
                                          <a:latin typeface="Cambria Math" panose="02040503050406030204" pitchFamily="18" charset="0"/>
                                          <a:ea typeface="Cambria Math" panose="02040503050406030204" pitchFamily="18" charset="0"/>
                                        </a:rPr>
                                        <m:t>𝑊</m:t>
                                      </m:r>
                                    </m:e>
                                    <m:sub>
                                      <m:r>
                                        <a:rPr lang="en-US" sz="2800" i="1">
                                          <a:solidFill>
                                            <a:schemeClr val="tx1"/>
                                          </a:solidFill>
                                          <a:latin typeface="Cambria Math" panose="02040503050406030204" pitchFamily="18" charset="0"/>
                                          <a:ea typeface="Cambria Math" panose="02040503050406030204" pitchFamily="18" charset="0"/>
                                        </a:rPr>
                                        <m:t>𝑖</m:t>
                                      </m:r>
                                    </m:sub>
                                  </m:sSub>
                                  <m:r>
                                    <a:rPr lang="en-US" sz="2800" i="1">
                                      <a:solidFill>
                                        <a:schemeClr val="tx1"/>
                                      </a:solidFill>
                                      <a:latin typeface="Cambria Math" panose="02040503050406030204" pitchFamily="18" charset="0"/>
                                      <a:ea typeface="Cambria Math" panose="02040503050406030204" pitchFamily="18" charset="0"/>
                                    </a:rPr>
                                    <m:t>=</m:t>
                                  </m:r>
                                  <m:r>
                                    <a:rPr lang="en-US" sz="2800" b="0" i="1" smtClean="0">
                                      <a:solidFill>
                                        <a:schemeClr val="tx1"/>
                                      </a:solidFill>
                                      <a:latin typeface="Cambria Math" panose="02040503050406030204" pitchFamily="18" charset="0"/>
                                      <a:ea typeface="Cambria Math" panose="02040503050406030204" pitchFamily="18" charset="0"/>
                                    </a:rPr>
                                    <m:t>0</m:t>
                                  </m:r>
                                </m:e>
                              </m:d>
                              <m:sSub>
                                <m:sSubPr>
                                  <m:ctrlPr>
                                    <a:rPr lang="en-US" sz="2800" i="1">
                                      <a:solidFill>
                                        <a:schemeClr val="tx1"/>
                                      </a:solidFill>
                                      <a:latin typeface="Cambria Math" panose="02040503050406030204" pitchFamily="18" charset="0"/>
                                      <a:ea typeface="Cambria Math" panose="02040503050406030204" pitchFamily="18" charset="0"/>
                                    </a:rPr>
                                  </m:ctrlPr>
                                </m:sSubPr>
                                <m:e>
                                  <m:r>
                                    <a:rPr lang="en-US" sz="2800" i="1">
                                      <a:solidFill>
                                        <a:schemeClr val="tx1"/>
                                      </a:solidFill>
                                      <a:latin typeface="Cambria Math" panose="02040503050406030204" pitchFamily="18" charset="0"/>
                                      <a:ea typeface="Cambria Math" panose="02040503050406030204" pitchFamily="18" charset="0"/>
                                    </a:rPr>
                                    <m:t>𝑌</m:t>
                                  </m:r>
                                </m:e>
                                <m:sub>
                                  <m:r>
                                    <a:rPr lang="en-US" sz="2800" i="1">
                                      <a:solidFill>
                                        <a:schemeClr val="tx1"/>
                                      </a:solidFill>
                                      <a:latin typeface="Cambria Math" panose="02040503050406030204" pitchFamily="18" charset="0"/>
                                      <a:ea typeface="Cambria Math" panose="02040503050406030204" pitchFamily="18" charset="0"/>
                                    </a:rPr>
                                    <m:t>𝑖</m:t>
                                  </m:r>
                                </m:sub>
                              </m:sSub>
                              <m:r>
                                <a:rPr lang="en-US" sz="2800" b="0" i="1" smtClean="0">
                                  <a:solidFill>
                                    <a:schemeClr val="tx1"/>
                                  </a:solidFill>
                                  <a:latin typeface="Cambria Math" panose="02040503050406030204" pitchFamily="18" charset="0"/>
                                  <a:ea typeface="Cambria Math" panose="02040503050406030204" pitchFamily="18" charset="0"/>
                                </a:rPr>
                                <m:t>(0)</m:t>
                              </m:r>
                              <m:r>
                                <a:rPr lang="en-US" sz="2800" i="1">
                                  <a:solidFill>
                                    <a:schemeClr val="tx1"/>
                                  </a:solidFill>
                                  <a:latin typeface="Cambria Math" panose="02040503050406030204" pitchFamily="18" charset="0"/>
                                  <a:ea typeface="Cambria Math" panose="02040503050406030204" pitchFamily="18" charset="0"/>
                                </a:rPr>
                                <m:t> </m:t>
                              </m:r>
                            </m:e>
                          </m:nary>
                        </m:e>
                      </m:d>
                    </m:oMath>
                  </m:oMathPara>
                </a14:m>
                <a:endParaRPr lang="en-US" sz="1400" dirty="0">
                  <a:solidFill>
                    <a:schemeClr val="tx1"/>
                  </a:solidFill>
                </a:endParaRPr>
              </a:p>
            </p:txBody>
          </p:sp>
        </mc:Choice>
        <mc:Fallback xmlns="">
          <p:sp>
            <p:nvSpPr>
              <p:cNvPr id="3" name="TextBox 2">
                <a:extLst>
                  <a:ext uri="{FF2B5EF4-FFF2-40B4-BE49-F238E27FC236}">
                    <a16:creationId xmlns:a16="http://schemas.microsoft.com/office/drawing/2014/main" id="{5C58F4CF-CB8E-13D0-7127-37111CF73504}"/>
                  </a:ext>
                </a:extLst>
              </p:cNvPr>
              <p:cNvSpPr txBox="1">
                <a:spLocks noRot="1" noChangeAspect="1" noMove="1" noResize="1" noEditPoints="1" noAdjustHandles="1" noChangeArrowheads="1" noChangeShapeType="1" noTextEdit="1"/>
              </p:cNvSpPr>
              <p:nvPr/>
            </p:nvSpPr>
            <p:spPr>
              <a:xfrm>
                <a:off x="1707874" y="2793402"/>
                <a:ext cx="9079396" cy="1303883"/>
              </a:xfrm>
              <a:prstGeom prst="rect">
                <a:avLst/>
              </a:prstGeom>
              <a:blipFill>
                <a:blip r:embed="rId7"/>
                <a:stretch>
                  <a:fillRect t="-100000" b="-1576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65B5805E-7D75-7215-A997-2F571F2C1F8C}"/>
                  </a:ext>
                </a:extLst>
              </p:cNvPr>
              <p:cNvSpPr txBox="1"/>
              <p:nvPr/>
            </p:nvSpPr>
            <p:spPr>
              <a:xfrm>
                <a:off x="1707874" y="4129906"/>
                <a:ext cx="9079396" cy="134928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ea typeface="Cambria Math" panose="02040503050406030204" pitchFamily="18" charset="0"/>
                        </a:rPr>
                        <m:t>=</m:t>
                      </m:r>
                      <m:f>
                        <m:fPr>
                          <m:ctrlPr>
                            <a:rPr lang="en-US" sz="2800" b="0" i="1" smtClean="0">
                              <a:solidFill>
                                <a:schemeClr val="tx1"/>
                              </a:solidFill>
                              <a:latin typeface="Cambria Math" panose="02040503050406030204" pitchFamily="18" charset="0"/>
                              <a:ea typeface="Cambria Math" panose="02040503050406030204" pitchFamily="18" charset="0"/>
                            </a:rPr>
                          </m:ctrlPr>
                        </m:fPr>
                        <m:num>
                          <m:r>
                            <a:rPr lang="en-US" sz="2800" b="0" i="1" smtClean="0">
                              <a:solidFill>
                                <a:schemeClr val="tx1"/>
                              </a:solidFill>
                              <a:latin typeface="Cambria Math" panose="02040503050406030204" pitchFamily="18" charset="0"/>
                              <a:ea typeface="Cambria Math" panose="02040503050406030204" pitchFamily="18" charset="0"/>
                            </a:rPr>
                            <m:t>1</m:t>
                          </m:r>
                        </m:num>
                        <m:den>
                          <m:sSub>
                            <m:sSubPr>
                              <m:ctrlPr>
                                <a:rPr lang="en-US" sz="2800" b="0" i="1" smtClean="0">
                                  <a:solidFill>
                                    <a:schemeClr val="tx1"/>
                                  </a:solidFill>
                                  <a:latin typeface="Cambria Math" panose="02040503050406030204" pitchFamily="18" charset="0"/>
                                  <a:ea typeface="Cambria Math" panose="02040503050406030204" pitchFamily="18" charset="0"/>
                                </a:rPr>
                              </m:ctrlPr>
                            </m:sSubPr>
                            <m:e>
                              <m:r>
                                <a:rPr lang="en-US" sz="2800" b="0" i="1" smtClean="0">
                                  <a:solidFill>
                                    <a:schemeClr val="tx1"/>
                                  </a:solidFill>
                                  <a:latin typeface="Cambria Math" panose="02040503050406030204" pitchFamily="18" charset="0"/>
                                  <a:ea typeface="Cambria Math" panose="02040503050406030204" pitchFamily="18" charset="0"/>
                                </a:rPr>
                                <m:t>𝑁</m:t>
                              </m:r>
                            </m:e>
                            <m:sub>
                              <m:r>
                                <a:rPr lang="en-US" sz="2800" b="0" i="1" smtClean="0">
                                  <a:solidFill>
                                    <a:schemeClr val="tx1"/>
                                  </a:solidFill>
                                  <a:latin typeface="Cambria Math" panose="02040503050406030204" pitchFamily="18" charset="0"/>
                                  <a:ea typeface="Cambria Math" panose="02040503050406030204" pitchFamily="18" charset="0"/>
                                </a:rPr>
                                <m:t>1</m:t>
                              </m:r>
                            </m:sub>
                          </m:sSub>
                        </m:den>
                      </m:f>
                      <m:nary>
                        <m:naryPr>
                          <m:chr m:val="∑"/>
                          <m:ctrlPr>
                            <a:rPr lang="en-US" sz="2800" b="0" i="1" smtClean="0">
                              <a:solidFill>
                                <a:schemeClr val="tx1"/>
                              </a:solidFill>
                              <a:latin typeface="Cambria Math" panose="02040503050406030204" pitchFamily="18" charset="0"/>
                              <a:ea typeface="Cambria Math" panose="02040503050406030204" pitchFamily="18" charset="0"/>
                            </a:rPr>
                          </m:ctrlPr>
                        </m:naryPr>
                        <m:sub>
                          <m:r>
                            <m:rPr>
                              <m:brk m:alnAt="23"/>
                            </m:rPr>
                            <a:rPr lang="en-US" sz="2800" b="0" i="1" smtClean="0">
                              <a:solidFill>
                                <a:schemeClr val="tx1"/>
                              </a:solidFill>
                              <a:latin typeface="Cambria Math" panose="02040503050406030204" pitchFamily="18" charset="0"/>
                              <a:ea typeface="Cambria Math" panose="02040503050406030204" pitchFamily="18" charset="0"/>
                            </a:rPr>
                            <m:t>𝑖</m:t>
                          </m:r>
                          <m:r>
                            <a:rPr lang="en-US" sz="2800" b="0" i="1" smtClean="0">
                              <a:solidFill>
                                <a:schemeClr val="tx1"/>
                              </a:solidFill>
                              <a:latin typeface="Cambria Math" panose="02040503050406030204" pitchFamily="18" charset="0"/>
                              <a:ea typeface="Cambria Math" panose="02040503050406030204" pitchFamily="18" charset="0"/>
                            </a:rPr>
                            <m:t>=1</m:t>
                          </m:r>
                        </m:sub>
                        <m:sup>
                          <m:r>
                            <a:rPr lang="en-US" sz="2800" b="0" i="1" smtClean="0">
                              <a:solidFill>
                                <a:schemeClr val="tx1"/>
                              </a:solidFill>
                              <a:latin typeface="Cambria Math" panose="02040503050406030204" pitchFamily="18" charset="0"/>
                              <a:ea typeface="Cambria Math" panose="02040503050406030204" pitchFamily="18" charset="0"/>
                            </a:rPr>
                            <m:t>𝑁</m:t>
                          </m:r>
                        </m:sup>
                        <m:e>
                          <m:func>
                            <m:funcPr>
                              <m:ctrlPr>
                                <a:rPr lang="en-US" sz="2800" b="0" i="1" smtClean="0">
                                  <a:solidFill>
                                    <a:schemeClr val="tx1"/>
                                  </a:solidFill>
                                  <a:latin typeface="Cambria Math" panose="02040503050406030204" pitchFamily="18" charset="0"/>
                                  <a:ea typeface="Cambria Math" panose="02040503050406030204" pitchFamily="18" charset="0"/>
                                </a:rPr>
                              </m:ctrlPr>
                            </m:funcPr>
                            <m:fName>
                              <m:r>
                                <m:rPr>
                                  <m:sty m:val="p"/>
                                </m:rPr>
                                <a:rPr lang="en-US" sz="2800" b="0" i="0" smtClean="0">
                                  <a:solidFill>
                                    <a:schemeClr val="tx1"/>
                                  </a:solidFill>
                                  <a:latin typeface="Cambria Math" panose="02040503050406030204" pitchFamily="18" charset="0"/>
                                  <a:ea typeface="Cambria Math" panose="02040503050406030204" pitchFamily="18" charset="0"/>
                                </a:rPr>
                                <m:t>Pr</m:t>
                              </m:r>
                            </m:fName>
                            <m:e>
                              <m:d>
                                <m:dPr>
                                  <m:begChr m:val="["/>
                                  <m:endChr m:val="]"/>
                                  <m:ctrlPr>
                                    <a:rPr lang="en-US" sz="2800" b="0" i="1" smtClean="0">
                                      <a:solidFill>
                                        <a:schemeClr val="tx1"/>
                                      </a:solidFill>
                                      <a:latin typeface="Cambria Math" panose="02040503050406030204" pitchFamily="18" charset="0"/>
                                      <a:ea typeface="Cambria Math" panose="02040503050406030204" pitchFamily="18" charset="0"/>
                                    </a:rPr>
                                  </m:ctrlPr>
                                </m:dPr>
                                <m:e>
                                  <m:sSub>
                                    <m:sSubPr>
                                      <m:ctrlPr>
                                        <a:rPr lang="en-US" sz="2800" b="0" i="1" smtClean="0">
                                          <a:solidFill>
                                            <a:schemeClr val="tx1"/>
                                          </a:solidFill>
                                          <a:latin typeface="Cambria Math" panose="02040503050406030204" pitchFamily="18" charset="0"/>
                                          <a:ea typeface="Cambria Math" panose="02040503050406030204" pitchFamily="18" charset="0"/>
                                        </a:rPr>
                                      </m:ctrlPr>
                                    </m:sSubPr>
                                    <m:e>
                                      <m:r>
                                        <a:rPr lang="en-US" sz="2800" b="0" i="1" smtClean="0">
                                          <a:solidFill>
                                            <a:schemeClr val="tx1"/>
                                          </a:solidFill>
                                          <a:latin typeface="Cambria Math" panose="02040503050406030204" pitchFamily="18" charset="0"/>
                                          <a:ea typeface="Cambria Math" panose="02040503050406030204" pitchFamily="18" charset="0"/>
                                        </a:rPr>
                                        <m:t>𝑊</m:t>
                                      </m:r>
                                    </m:e>
                                    <m:sub>
                                      <m:r>
                                        <a:rPr lang="en-US" sz="2800" b="0" i="1" smtClean="0">
                                          <a:solidFill>
                                            <a:schemeClr val="tx1"/>
                                          </a:solidFill>
                                          <a:latin typeface="Cambria Math" panose="02040503050406030204" pitchFamily="18" charset="0"/>
                                          <a:ea typeface="Cambria Math" panose="02040503050406030204" pitchFamily="18" charset="0"/>
                                        </a:rPr>
                                        <m:t>𝑖</m:t>
                                      </m:r>
                                    </m:sub>
                                  </m:sSub>
                                  <m:r>
                                    <a:rPr lang="en-US" sz="2800" b="0" i="1" smtClean="0">
                                      <a:solidFill>
                                        <a:schemeClr val="tx1"/>
                                      </a:solidFill>
                                      <a:latin typeface="Cambria Math" panose="02040503050406030204" pitchFamily="18" charset="0"/>
                                      <a:ea typeface="Cambria Math" panose="02040503050406030204" pitchFamily="18" charset="0"/>
                                    </a:rPr>
                                    <m:t>=1</m:t>
                                  </m:r>
                                </m:e>
                              </m:d>
                            </m:e>
                          </m:func>
                          <m:sSub>
                            <m:sSubPr>
                              <m:ctrlPr>
                                <a:rPr lang="en-US" sz="2800" b="0" i="1" smtClean="0">
                                  <a:solidFill>
                                    <a:schemeClr val="tx1"/>
                                  </a:solidFill>
                                  <a:latin typeface="Cambria Math" panose="02040503050406030204" pitchFamily="18" charset="0"/>
                                  <a:ea typeface="Cambria Math" panose="02040503050406030204" pitchFamily="18" charset="0"/>
                                </a:rPr>
                              </m:ctrlPr>
                            </m:sSubPr>
                            <m:e>
                              <m:r>
                                <a:rPr lang="en-US" sz="2800" b="0" i="1" smtClean="0">
                                  <a:solidFill>
                                    <a:schemeClr val="tx1"/>
                                  </a:solidFill>
                                  <a:latin typeface="Cambria Math" panose="02040503050406030204" pitchFamily="18" charset="0"/>
                                  <a:ea typeface="Cambria Math" panose="02040503050406030204" pitchFamily="18" charset="0"/>
                                </a:rPr>
                                <m:t>𝑌</m:t>
                              </m:r>
                            </m:e>
                            <m:sub>
                              <m:r>
                                <a:rPr lang="en-US" sz="2800" b="0" i="1" smtClean="0">
                                  <a:solidFill>
                                    <a:schemeClr val="tx1"/>
                                  </a:solidFill>
                                  <a:latin typeface="Cambria Math" panose="02040503050406030204" pitchFamily="18" charset="0"/>
                                  <a:ea typeface="Cambria Math" panose="02040503050406030204" pitchFamily="18" charset="0"/>
                                </a:rPr>
                                <m:t>𝑖</m:t>
                              </m:r>
                            </m:sub>
                          </m:sSub>
                          <m:d>
                            <m:dPr>
                              <m:ctrlPr>
                                <a:rPr lang="en-US" sz="2800" b="0" i="1" smtClean="0">
                                  <a:solidFill>
                                    <a:schemeClr val="tx1"/>
                                  </a:solidFill>
                                  <a:latin typeface="Cambria Math" panose="02040503050406030204" pitchFamily="18" charset="0"/>
                                  <a:ea typeface="Cambria Math" panose="02040503050406030204" pitchFamily="18" charset="0"/>
                                </a:rPr>
                              </m:ctrlPr>
                            </m:dPr>
                            <m:e>
                              <m:r>
                                <a:rPr lang="en-US" sz="2800" b="0" i="1" smtClean="0">
                                  <a:solidFill>
                                    <a:schemeClr val="tx1"/>
                                  </a:solidFill>
                                  <a:latin typeface="Cambria Math" panose="02040503050406030204" pitchFamily="18" charset="0"/>
                                  <a:ea typeface="Cambria Math" panose="02040503050406030204" pitchFamily="18" charset="0"/>
                                </a:rPr>
                                <m:t>1</m:t>
                              </m:r>
                            </m:e>
                          </m:d>
                          <m:r>
                            <a:rPr lang="en-US" sz="2800" b="0" i="1" smtClean="0">
                              <a:solidFill>
                                <a:schemeClr val="tx1"/>
                              </a:solidFill>
                              <a:latin typeface="Cambria Math" panose="02040503050406030204" pitchFamily="18" charset="0"/>
                              <a:ea typeface="Cambria Math" panose="02040503050406030204" pitchFamily="18" charset="0"/>
                            </a:rPr>
                            <m:t>− </m:t>
                          </m:r>
                        </m:e>
                      </m:nary>
                      <m:f>
                        <m:fPr>
                          <m:ctrlPr>
                            <a:rPr lang="en-US" sz="2800" b="0" i="1" smtClean="0">
                              <a:solidFill>
                                <a:schemeClr val="tx1"/>
                              </a:solidFill>
                              <a:latin typeface="Cambria Math" panose="02040503050406030204" pitchFamily="18" charset="0"/>
                              <a:ea typeface="Cambria Math" panose="02040503050406030204" pitchFamily="18" charset="0"/>
                            </a:rPr>
                          </m:ctrlPr>
                        </m:fPr>
                        <m:num>
                          <m:r>
                            <a:rPr lang="en-US" sz="2800" b="0" i="1" smtClean="0">
                              <a:solidFill>
                                <a:schemeClr val="tx1"/>
                              </a:solidFill>
                              <a:latin typeface="Cambria Math" panose="02040503050406030204" pitchFamily="18" charset="0"/>
                              <a:ea typeface="Cambria Math" panose="02040503050406030204" pitchFamily="18" charset="0"/>
                            </a:rPr>
                            <m:t>1</m:t>
                          </m:r>
                        </m:num>
                        <m:den>
                          <m:sSub>
                            <m:sSubPr>
                              <m:ctrlPr>
                                <a:rPr lang="en-US" sz="2800" b="0" i="1" smtClean="0">
                                  <a:solidFill>
                                    <a:schemeClr val="tx1"/>
                                  </a:solidFill>
                                  <a:latin typeface="Cambria Math" panose="02040503050406030204" pitchFamily="18" charset="0"/>
                                  <a:ea typeface="Cambria Math" panose="02040503050406030204" pitchFamily="18" charset="0"/>
                                </a:rPr>
                              </m:ctrlPr>
                            </m:sSubPr>
                            <m:e>
                              <m:r>
                                <a:rPr lang="en-US" sz="2800" b="0" i="1" smtClean="0">
                                  <a:solidFill>
                                    <a:schemeClr val="tx1"/>
                                  </a:solidFill>
                                  <a:latin typeface="Cambria Math" panose="02040503050406030204" pitchFamily="18" charset="0"/>
                                  <a:ea typeface="Cambria Math" panose="02040503050406030204" pitchFamily="18" charset="0"/>
                                </a:rPr>
                                <m:t>𝑁</m:t>
                              </m:r>
                            </m:e>
                            <m:sub>
                              <m:r>
                                <a:rPr lang="en-US" sz="2800" b="0" i="1" smtClean="0">
                                  <a:solidFill>
                                    <a:schemeClr val="tx1"/>
                                  </a:solidFill>
                                  <a:latin typeface="Cambria Math" panose="02040503050406030204" pitchFamily="18" charset="0"/>
                                  <a:ea typeface="Cambria Math" panose="02040503050406030204" pitchFamily="18" charset="0"/>
                                </a:rPr>
                                <m:t>0</m:t>
                              </m:r>
                            </m:sub>
                          </m:sSub>
                        </m:den>
                      </m:f>
                      <m:nary>
                        <m:naryPr>
                          <m:chr m:val="∑"/>
                          <m:ctrlPr>
                            <a:rPr lang="en-US" sz="2800" b="0" i="1" smtClean="0">
                              <a:solidFill>
                                <a:schemeClr val="tx1"/>
                              </a:solidFill>
                              <a:latin typeface="Cambria Math" panose="02040503050406030204" pitchFamily="18" charset="0"/>
                              <a:ea typeface="Cambria Math" panose="02040503050406030204" pitchFamily="18" charset="0"/>
                            </a:rPr>
                          </m:ctrlPr>
                        </m:naryPr>
                        <m:sub>
                          <m:r>
                            <m:rPr>
                              <m:brk m:alnAt="23"/>
                            </m:rPr>
                            <a:rPr lang="en-US" sz="2800" b="0" i="1" smtClean="0">
                              <a:solidFill>
                                <a:schemeClr val="tx1"/>
                              </a:solidFill>
                              <a:latin typeface="Cambria Math" panose="02040503050406030204" pitchFamily="18" charset="0"/>
                              <a:ea typeface="Cambria Math" panose="02040503050406030204" pitchFamily="18" charset="0"/>
                            </a:rPr>
                            <m:t>𝑖</m:t>
                          </m:r>
                          <m:r>
                            <a:rPr lang="en-US" sz="2800" b="0" i="1" smtClean="0">
                              <a:solidFill>
                                <a:schemeClr val="tx1"/>
                              </a:solidFill>
                              <a:latin typeface="Cambria Math" panose="02040503050406030204" pitchFamily="18" charset="0"/>
                              <a:ea typeface="Cambria Math" panose="02040503050406030204" pitchFamily="18" charset="0"/>
                            </a:rPr>
                            <m:t>=1</m:t>
                          </m:r>
                        </m:sub>
                        <m:sup>
                          <m:r>
                            <a:rPr lang="en-US" sz="2800" b="0" i="1" smtClean="0">
                              <a:solidFill>
                                <a:schemeClr val="tx1"/>
                              </a:solidFill>
                              <a:latin typeface="Cambria Math" panose="02040503050406030204" pitchFamily="18" charset="0"/>
                              <a:ea typeface="Cambria Math" panose="02040503050406030204" pitchFamily="18" charset="0"/>
                            </a:rPr>
                            <m:t>𝑁</m:t>
                          </m:r>
                        </m:sup>
                        <m:e>
                          <m:func>
                            <m:funcPr>
                              <m:ctrlPr>
                                <a:rPr lang="en-US" sz="2800" b="0" i="1" smtClean="0">
                                  <a:solidFill>
                                    <a:schemeClr val="tx1"/>
                                  </a:solidFill>
                                  <a:latin typeface="Cambria Math" panose="02040503050406030204" pitchFamily="18" charset="0"/>
                                  <a:ea typeface="Cambria Math" panose="02040503050406030204" pitchFamily="18" charset="0"/>
                                </a:rPr>
                              </m:ctrlPr>
                            </m:funcPr>
                            <m:fName>
                              <m:r>
                                <m:rPr>
                                  <m:sty m:val="p"/>
                                </m:rPr>
                                <a:rPr lang="en-US" sz="2800" b="0" i="0" smtClean="0">
                                  <a:solidFill>
                                    <a:schemeClr val="tx1"/>
                                  </a:solidFill>
                                  <a:latin typeface="Cambria Math" panose="02040503050406030204" pitchFamily="18" charset="0"/>
                                  <a:ea typeface="Cambria Math" panose="02040503050406030204" pitchFamily="18" charset="0"/>
                                </a:rPr>
                                <m:t>Pr</m:t>
                              </m:r>
                            </m:fName>
                            <m:e>
                              <m:d>
                                <m:dPr>
                                  <m:begChr m:val="["/>
                                  <m:endChr m:val="]"/>
                                  <m:ctrlPr>
                                    <a:rPr lang="en-US" sz="2800" b="0" i="1" smtClean="0">
                                      <a:solidFill>
                                        <a:schemeClr val="tx1"/>
                                      </a:solidFill>
                                      <a:latin typeface="Cambria Math" panose="02040503050406030204" pitchFamily="18" charset="0"/>
                                      <a:ea typeface="Cambria Math" panose="02040503050406030204" pitchFamily="18" charset="0"/>
                                    </a:rPr>
                                  </m:ctrlPr>
                                </m:dPr>
                                <m:e>
                                  <m:sSub>
                                    <m:sSubPr>
                                      <m:ctrlPr>
                                        <a:rPr lang="en-US" sz="2800" b="0" i="1" smtClean="0">
                                          <a:solidFill>
                                            <a:schemeClr val="tx1"/>
                                          </a:solidFill>
                                          <a:latin typeface="Cambria Math" panose="02040503050406030204" pitchFamily="18" charset="0"/>
                                          <a:ea typeface="Cambria Math" panose="02040503050406030204" pitchFamily="18" charset="0"/>
                                        </a:rPr>
                                      </m:ctrlPr>
                                    </m:sSubPr>
                                    <m:e>
                                      <m:r>
                                        <a:rPr lang="en-US" sz="2800" b="0" i="1" smtClean="0">
                                          <a:solidFill>
                                            <a:schemeClr val="tx1"/>
                                          </a:solidFill>
                                          <a:latin typeface="Cambria Math" panose="02040503050406030204" pitchFamily="18" charset="0"/>
                                          <a:ea typeface="Cambria Math" panose="02040503050406030204" pitchFamily="18" charset="0"/>
                                        </a:rPr>
                                        <m:t>𝑊</m:t>
                                      </m:r>
                                    </m:e>
                                    <m:sub>
                                      <m:r>
                                        <a:rPr lang="en-US" sz="2800" b="0" i="1" smtClean="0">
                                          <a:solidFill>
                                            <a:schemeClr val="tx1"/>
                                          </a:solidFill>
                                          <a:latin typeface="Cambria Math" panose="02040503050406030204" pitchFamily="18" charset="0"/>
                                          <a:ea typeface="Cambria Math" panose="02040503050406030204" pitchFamily="18" charset="0"/>
                                        </a:rPr>
                                        <m:t>𝑖</m:t>
                                      </m:r>
                                    </m:sub>
                                  </m:sSub>
                                  <m:r>
                                    <a:rPr lang="en-US" sz="2800" b="0" i="1" smtClean="0">
                                      <a:solidFill>
                                        <a:schemeClr val="tx1"/>
                                      </a:solidFill>
                                      <a:latin typeface="Cambria Math" panose="02040503050406030204" pitchFamily="18" charset="0"/>
                                      <a:ea typeface="Cambria Math" panose="02040503050406030204" pitchFamily="18" charset="0"/>
                                    </a:rPr>
                                    <m:t>=0</m:t>
                                  </m:r>
                                </m:e>
                              </m:d>
                            </m:e>
                          </m:func>
                          <m:sSub>
                            <m:sSubPr>
                              <m:ctrlPr>
                                <a:rPr lang="en-US" sz="2800" b="0" i="1" smtClean="0">
                                  <a:solidFill>
                                    <a:schemeClr val="tx1"/>
                                  </a:solidFill>
                                  <a:latin typeface="Cambria Math" panose="02040503050406030204" pitchFamily="18" charset="0"/>
                                  <a:ea typeface="Cambria Math" panose="02040503050406030204" pitchFamily="18" charset="0"/>
                                </a:rPr>
                              </m:ctrlPr>
                            </m:sSubPr>
                            <m:e>
                              <m:r>
                                <a:rPr lang="en-US" sz="2800" b="0" i="1" smtClean="0">
                                  <a:solidFill>
                                    <a:schemeClr val="tx1"/>
                                  </a:solidFill>
                                  <a:latin typeface="Cambria Math" panose="02040503050406030204" pitchFamily="18" charset="0"/>
                                  <a:ea typeface="Cambria Math" panose="02040503050406030204" pitchFamily="18" charset="0"/>
                                </a:rPr>
                                <m:t>𝑌</m:t>
                              </m:r>
                            </m:e>
                            <m:sub>
                              <m:r>
                                <a:rPr lang="en-US" sz="2800" b="0" i="1" smtClean="0">
                                  <a:solidFill>
                                    <a:schemeClr val="tx1"/>
                                  </a:solidFill>
                                  <a:latin typeface="Cambria Math" panose="02040503050406030204" pitchFamily="18" charset="0"/>
                                  <a:ea typeface="Cambria Math" panose="02040503050406030204" pitchFamily="18" charset="0"/>
                                </a:rPr>
                                <m:t>𝑖</m:t>
                              </m:r>
                            </m:sub>
                          </m:sSub>
                        </m:e>
                      </m:nary>
                      <m:r>
                        <a:rPr lang="en-US" sz="2800" b="0" i="1" smtClean="0">
                          <a:solidFill>
                            <a:schemeClr val="tx1"/>
                          </a:solidFill>
                          <a:latin typeface="Cambria Math" panose="02040503050406030204" pitchFamily="18" charset="0"/>
                          <a:ea typeface="Cambria Math" panose="02040503050406030204" pitchFamily="18" charset="0"/>
                        </a:rPr>
                        <m:t>(0)</m:t>
                      </m:r>
                    </m:oMath>
                  </m:oMathPara>
                </a14:m>
                <a:endParaRPr lang="en-US" sz="1400" dirty="0">
                  <a:solidFill>
                    <a:schemeClr val="tx1"/>
                  </a:solidFill>
                </a:endParaRPr>
              </a:p>
            </p:txBody>
          </p:sp>
        </mc:Choice>
        <mc:Fallback xmlns="">
          <p:sp>
            <p:nvSpPr>
              <p:cNvPr id="4" name="TextBox 3">
                <a:extLst>
                  <a:ext uri="{FF2B5EF4-FFF2-40B4-BE49-F238E27FC236}">
                    <a16:creationId xmlns:a16="http://schemas.microsoft.com/office/drawing/2014/main" id="{65B5805E-7D75-7215-A997-2F571F2C1F8C}"/>
                  </a:ext>
                </a:extLst>
              </p:cNvPr>
              <p:cNvSpPr txBox="1">
                <a:spLocks noRot="1" noChangeAspect="1" noMove="1" noResize="1" noEditPoints="1" noAdjustHandles="1" noChangeArrowheads="1" noChangeShapeType="1" noTextEdit="1"/>
              </p:cNvSpPr>
              <p:nvPr/>
            </p:nvSpPr>
            <p:spPr>
              <a:xfrm>
                <a:off x="1707874" y="4129906"/>
                <a:ext cx="9079396" cy="1349280"/>
              </a:xfrm>
              <a:prstGeom prst="rect">
                <a:avLst/>
              </a:prstGeom>
              <a:blipFill>
                <a:blip r:embed="rId8"/>
                <a:stretch>
                  <a:fillRect t="-96296" b="-1481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F6208274-7FE8-31D3-590A-B6E6DF311C71}"/>
                  </a:ext>
                </a:extLst>
              </p:cNvPr>
              <p:cNvSpPr txBox="1"/>
              <p:nvPr/>
            </p:nvSpPr>
            <p:spPr>
              <a:xfrm>
                <a:off x="7606747" y="119270"/>
                <a:ext cx="4359966" cy="1015663"/>
              </a:xfrm>
              <a:prstGeom prst="rect">
                <a:avLst/>
              </a:prstGeom>
              <a:noFill/>
            </p:spPr>
            <p:txBody>
              <a:bodyPr wrap="square" rtlCol="0">
                <a:spAutoFit/>
              </a:bodyPr>
              <a:lstStyle/>
              <a:p>
                <a:pPr algn="r"/>
                <a:r>
                  <a:rPr lang="en-US" sz="2000" dirty="0">
                    <a:solidFill>
                      <a:schemeClr val="accent5"/>
                    </a:solidFill>
                  </a:rPr>
                  <a:t>Say we choose </a:t>
                </a:r>
                <a14:m>
                  <m:oMath xmlns:m="http://schemas.openxmlformats.org/officeDocument/2006/math">
                    <m:sSub>
                      <m:sSubPr>
                        <m:ctrlPr>
                          <a:rPr lang="en-US" sz="2000" b="0" i="1" smtClean="0">
                            <a:solidFill>
                              <a:schemeClr val="accent5"/>
                            </a:solidFill>
                            <a:latin typeface="Cambria Math" panose="02040503050406030204" pitchFamily="18" charset="0"/>
                          </a:rPr>
                        </m:ctrlPr>
                      </m:sSubPr>
                      <m:e>
                        <m:r>
                          <a:rPr lang="en-US" sz="2000" b="0" i="1" smtClean="0">
                            <a:solidFill>
                              <a:schemeClr val="accent5"/>
                            </a:solidFill>
                            <a:latin typeface="Cambria Math" panose="02040503050406030204" pitchFamily="18" charset="0"/>
                          </a:rPr>
                          <m:t>𝑁</m:t>
                        </m:r>
                      </m:e>
                      <m:sub>
                        <m:r>
                          <a:rPr lang="en-US" sz="2000" b="0" i="1" smtClean="0">
                            <a:solidFill>
                              <a:schemeClr val="accent5"/>
                            </a:solidFill>
                            <a:latin typeface="Cambria Math" panose="02040503050406030204" pitchFamily="18" charset="0"/>
                          </a:rPr>
                          <m:t>0</m:t>
                        </m:r>
                      </m:sub>
                    </m:sSub>
                  </m:oMath>
                </a14:m>
                <a:r>
                  <a:rPr lang="en-US" sz="2000" dirty="0">
                    <a:solidFill>
                      <a:schemeClr val="accent5"/>
                    </a:solidFill>
                  </a:rPr>
                  <a:t> people at random for the control group, and </a:t>
                </a:r>
                <a14:m>
                  <m:oMath xmlns:m="http://schemas.openxmlformats.org/officeDocument/2006/math">
                    <m:sSub>
                      <m:sSubPr>
                        <m:ctrlPr>
                          <a:rPr lang="en-US" sz="2000" b="0" i="1" smtClean="0">
                            <a:solidFill>
                              <a:schemeClr val="accent5"/>
                            </a:solidFill>
                            <a:latin typeface="Cambria Math" panose="02040503050406030204" pitchFamily="18" charset="0"/>
                          </a:rPr>
                        </m:ctrlPr>
                      </m:sSubPr>
                      <m:e>
                        <m:r>
                          <a:rPr lang="en-US" sz="2000" b="0" i="1" smtClean="0">
                            <a:solidFill>
                              <a:schemeClr val="accent5"/>
                            </a:solidFill>
                            <a:latin typeface="Cambria Math" panose="02040503050406030204" pitchFamily="18" charset="0"/>
                          </a:rPr>
                          <m:t>𝑁</m:t>
                        </m:r>
                      </m:e>
                      <m:sub>
                        <m:r>
                          <a:rPr lang="en-US" sz="2000" b="0" i="1" smtClean="0">
                            <a:solidFill>
                              <a:schemeClr val="accent5"/>
                            </a:solidFill>
                            <a:latin typeface="Cambria Math" panose="02040503050406030204" pitchFamily="18" charset="0"/>
                          </a:rPr>
                          <m:t>1</m:t>
                        </m:r>
                      </m:sub>
                    </m:sSub>
                  </m:oMath>
                </a14:m>
                <a:r>
                  <a:rPr lang="en-US" sz="2000" dirty="0">
                    <a:solidFill>
                      <a:schemeClr val="accent5"/>
                    </a:solidFill>
                  </a:rPr>
                  <a:t> people at random for the treatment group.</a:t>
                </a:r>
              </a:p>
            </p:txBody>
          </p:sp>
        </mc:Choice>
        <mc:Fallback xmlns="">
          <p:sp>
            <p:nvSpPr>
              <p:cNvPr id="5" name="TextBox 4">
                <a:extLst>
                  <a:ext uri="{FF2B5EF4-FFF2-40B4-BE49-F238E27FC236}">
                    <a16:creationId xmlns:a16="http://schemas.microsoft.com/office/drawing/2014/main" id="{F6208274-7FE8-31D3-590A-B6E6DF311C71}"/>
                  </a:ext>
                </a:extLst>
              </p:cNvPr>
              <p:cNvSpPr txBox="1">
                <a:spLocks noRot="1" noChangeAspect="1" noMove="1" noResize="1" noEditPoints="1" noAdjustHandles="1" noChangeArrowheads="1" noChangeShapeType="1" noTextEdit="1"/>
              </p:cNvSpPr>
              <p:nvPr/>
            </p:nvSpPr>
            <p:spPr>
              <a:xfrm>
                <a:off x="7606747" y="119270"/>
                <a:ext cx="4359966" cy="1015663"/>
              </a:xfrm>
              <a:prstGeom prst="rect">
                <a:avLst/>
              </a:prstGeom>
              <a:blipFill>
                <a:blip r:embed="rId9"/>
                <a:stretch>
                  <a:fillRect l="-1453" t="-2469" r="-2616" b="-987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737045F8-7804-E950-FD79-0E95085D8E9A}"/>
                  </a:ext>
                </a:extLst>
              </p:cNvPr>
              <p:cNvSpPr txBox="1"/>
              <p:nvPr/>
            </p:nvSpPr>
            <p:spPr>
              <a:xfrm>
                <a:off x="1818710" y="5479186"/>
                <a:ext cx="6895799" cy="134928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ea typeface="Cambria Math" panose="02040503050406030204" pitchFamily="18" charset="0"/>
                        </a:rPr>
                        <m:t>=</m:t>
                      </m:r>
                      <m:f>
                        <m:fPr>
                          <m:ctrlPr>
                            <a:rPr lang="en-US" sz="2800" b="0" i="1" smtClean="0">
                              <a:solidFill>
                                <a:schemeClr val="tx1"/>
                              </a:solidFill>
                              <a:latin typeface="Cambria Math" panose="02040503050406030204" pitchFamily="18" charset="0"/>
                              <a:ea typeface="Cambria Math" panose="02040503050406030204" pitchFamily="18" charset="0"/>
                            </a:rPr>
                          </m:ctrlPr>
                        </m:fPr>
                        <m:num>
                          <m:r>
                            <a:rPr lang="en-US" sz="2800" b="0" i="1" smtClean="0">
                              <a:solidFill>
                                <a:schemeClr val="tx1"/>
                              </a:solidFill>
                              <a:latin typeface="Cambria Math" panose="02040503050406030204" pitchFamily="18" charset="0"/>
                              <a:ea typeface="Cambria Math" panose="02040503050406030204" pitchFamily="18" charset="0"/>
                            </a:rPr>
                            <m:t>1</m:t>
                          </m:r>
                        </m:num>
                        <m:den>
                          <m:sSub>
                            <m:sSubPr>
                              <m:ctrlPr>
                                <a:rPr lang="en-US" sz="2800" b="0" i="1" smtClean="0">
                                  <a:solidFill>
                                    <a:schemeClr val="tx1"/>
                                  </a:solidFill>
                                  <a:latin typeface="Cambria Math" panose="02040503050406030204" pitchFamily="18" charset="0"/>
                                  <a:ea typeface="Cambria Math" panose="02040503050406030204" pitchFamily="18" charset="0"/>
                                </a:rPr>
                              </m:ctrlPr>
                            </m:sSubPr>
                            <m:e>
                              <m:r>
                                <a:rPr lang="en-US" sz="2800" b="0" i="1" smtClean="0">
                                  <a:solidFill>
                                    <a:schemeClr val="tx1"/>
                                  </a:solidFill>
                                  <a:latin typeface="Cambria Math" panose="02040503050406030204" pitchFamily="18" charset="0"/>
                                  <a:ea typeface="Cambria Math" panose="02040503050406030204" pitchFamily="18" charset="0"/>
                                </a:rPr>
                                <m:t>𝑁</m:t>
                              </m:r>
                            </m:e>
                            <m:sub>
                              <m:r>
                                <a:rPr lang="en-US" sz="2800" b="0" i="1" smtClean="0">
                                  <a:solidFill>
                                    <a:schemeClr val="tx1"/>
                                  </a:solidFill>
                                  <a:latin typeface="Cambria Math" panose="02040503050406030204" pitchFamily="18" charset="0"/>
                                  <a:ea typeface="Cambria Math" panose="02040503050406030204" pitchFamily="18" charset="0"/>
                                </a:rPr>
                                <m:t>1</m:t>
                              </m:r>
                            </m:sub>
                          </m:sSub>
                        </m:den>
                      </m:f>
                      <m:nary>
                        <m:naryPr>
                          <m:chr m:val="∑"/>
                          <m:ctrlPr>
                            <a:rPr lang="en-US" sz="2800" b="0" i="1" smtClean="0">
                              <a:solidFill>
                                <a:schemeClr val="tx1"/>
                              </a:solidFill>
                              <a:latin typeface="Cambria Math" panose="02040503050406030204" pitchFamily="18" charset="0"/>
                              <a:ea typeface="Cambria Math" panose="02040503050406030204" pitchFamily="18" charset="0"/>
                            </a:rPr>
                          </m:ctrlPr>
                        </m:naryPr>
                        <m:sub>
                          <m:r>
                            <m:rPr>
                              <m:brk m:alnAt="23"/>
                            </m:rPr>
                            <a:rPr lang="en-US" sz="2800" b="0" i="1" smtClean="0">
                              <a:solidFill>
                                <a:schemeClr val="tx1"/>
                              </a:solidFill>
                              <a:latin typeface="Cambria Math" panose="02040503050406030204" pitchFamily="18" charset="0"/>
                              <a:ea typeface="Cambria Math" panose="02040503050406030204" pitchFamily="18" charset="0"/>
                            </a:rPr>
                            <m:t>𝑖</m:t>
                          </m:r>
                          <m:r>
                            <a:rPr lang="en-US" sz="2800" b="0" i="1" smtClean="0">
                              <a:solidFill>
                                <a:schemeClr val="tx1"/>
                              </a:solidFill>
                              <a:latin typeface="Cambria Math" panose="02040503050406030204" pitchFamily="18" charset="0"/>
                              <a:ea typeface="Cambria Math" panose="02040503050406030204" pitchFamily="18" charset="0"/>
                            </a:rPr>
                            <m:t>=1</m:t>
                          </m:r>
                        </m:sub>
                        <m:sup>
                          <m:r>
                            <a:rPr lang="en-US" sz="2800" b="0" i="1" smtClean="0">
                              <a:solidFill>
                                <a:schemeClr val="tx1"/>
                              </a:solidFill>
                              <a:latin typeface="Cambria Math" panose="02040503050406030204" pitchFamily="18" charset="0"/>
                              <a:ea typeface="Cambria Math" panose="02040503050406030204" pitchFamily="18" charset="0"/>
                            </a:rPr>
                            <m:t>𝑁</m:t>
                          </m:r>
                        </m:sup>
                        <m:e>
                          <m:f>
                            <m:fPr>
                              <m:ctrlPr>
                                <a:rPr lang="en-US" sz="2800" b="0" i="1" smtClean="0">
                                  <a:solidFill>
                                    <a:schemeClr val="tx1"/>
                                  </a:solidFill>
                                  <a:latin typeface="Cambria Math" panose="02040503050406030204" pitchFamily="18" charset="0"/>
                                  <a:ea typeface="Cambria Math" panose="02040503050406030204" pitchFamily="18" charset="0"/>
                                </a:rPr>
                              </m:ctrlPr>
                            </m:fPr>
                            <m:num>
                              <m:sSub>
                                <m:sSubPr>
                                  <m:ctrlPr>
                                    <a:rPr lang="en-US" sz="2800" b="0" i="1" smtClean="0">
                                      <a:solidFill>
                                        <a:schemeClr val="tx1"/>
                                      </a:solidFill>
                                      <a:latin typeface="Cambria Math" panose="02040503050406030204" pitchFamily="18" charset="0"/>
                                      <a:ea typeface="Cambria Math" panose="02040503050406030204" pitchFamily="18" charset="0"/>
                                    </a:rPr>
                                  </m:ctrlPr>
                                </m:sSubPr>
                                <m:e>
                                  <m:r>
                                    <a:rPr lang="en-US" sz="2800" b="0" i="1" smtClean="0">
                                      <a:solidFill>
                                        <a:schemeClr val="tx1"/>
                                      </a:solidFill>
                                      <a:latin typeface="Cambria Math" panose="02040503050406030204" pitchFamily="18" charset="0"/>
                                      <a:ea typeface="Cambria Math" panose="02040503050406030204" pitchFamily="18" charset="0"/>
                                    </a:rPr>
                                    <m:t>𝑁</m:t>
                                  </m:r>
                                </m:e>
                                <m:sub>
                                  <m:r>
                                    <a:rPr lang="en-US" sz="2800" b="0" i="1" smtClean="0">
                                      <a:solidFill>
                                        <a:schemeClr val="tx1"/>
                                      </a:solidFill>
                                      <a:latin typeface="Cambria Math" panose="02040503050406030204" pitchFamily="18" charset="0"/>
                                      <a:ea typeface="Cambria Math" panose="02040503050406030204" pitchFamily="18" charset="0"/>
                                    </a:rPr>
                                    <m:t>1</m:t>
                                  </m:r>
                                </m:sub>
                              </m:sSub>
                            </m:num>
                            <m:den>
                              <m:r>
                                <a:rPr lang="en-US" sz="2800" b="0" i="1" smtClean="0">
                                  <a:solidFill>
                                    <a:schemeClr val="tx1"/>
                                  </a:solidFill>
                                  <a:latin typeface="Cambria Math" panose="02040503050406030204" pitchFamily="18" charset="0"/>
                                  <a:ea typeface="Cambria Math" panose="02040503050406030204" pitchFamily="18" charset="0"/>
                                </a:rPr>
                                <m:t>𝑁</m:t>
                              </m:r>
                            </m:den>
                          </m:f>
                          <m:r>
                            <a:rPr lang="en-US" sz="2800" b="0" i="1" smtClean="0">
                              <a:solidFill>
                                <a:schemeClr val="tx1"/>
                              </a:solidFill>
                              <a:latin typeface="Cambria Math" panose="02040503050406030204" pitchFamily="18" charset="0"/>
                              <a:ea typeface="Cambria Math" panose="02040503050406030204" pitchFamily="18" charset="0"/>
                            </a:rPr>
                            <m:t>⋅</m:t>
                          </m:r>
                          <m:sSub>
                            <m:sSubPr>
                              <m:ctrlPr>
                                <a:rPr lang="en-US" sz="2800" b="0" i="1" smtClean="0">
                                  <a:solidFill>
                                    <a:schemeClr val="tx1"/>
                                  </a:solidFill>
                                  <a:latin typeface="Cambria Math" panose="02040503050406030204" pitchFamily="18" charset="0"/>
                                  <a:ea typeface="Cambria Math" panose="02040503050406030204" pitchFamily="18" charset="0"/>
                                </a:rPr>
                              </m:ctrlPr>
                            </m:sSubPr>
                            <m:e>
                              <m:r>
                                <a:rPr lang="en-US" sz="2800" b="0" i="1" smtClean="0">
                                  <a:solidFill>
                                    <a:schemeClr val="tx1"/>
                                  </a:solidFill>
                                  <a:latin typeface="Cambria Math" panose="02040503050406030204" pitchFamily="18" charset="0"/>
                                  <a:ea typeface="Cambria Math" panose="02040503050406030204" pitchFamily="18" charset="0"/>
                                </a:rPr>
                                <m:t>𝑌</m:t>
                              </m:r>
                            </m:e>
                            <m:sub>
                              <m:r>
                                <a:rPr lang="en-US" sz="2800" b="0" i="1" smtClean="0">
                                  <a:solidFill>
                                    <a:schemeClr val="tx1"/>
                                  </a:solidFill>
                                  <a:latin typeface="Cambria Math" panose="02040503050406030204" pitchFamily="18" charset="0"/>
                                  <a:ea typeface="Cambria Math" panose="02040503050406030204" pitchFamily="18" charset="0"/>
                                </a:rPr>
                                <m:t>𝑖</m:t>
                              </m:r>
                            </m:sub>
                          </m:sSub>
                          <m:r>
                            <a:rPr lang="en-US" sz="2800" b="0" i="1" smtClean="0">
                              <a:solidFill>
                                <a:schemeClr val="tx1"/>
                              </a:solidFill>
                              <a:latin typeface="Cambria Math" panose="02040503050406030204" pitchFamily="18" charset="0"/>
                              <a:ea typeface="Cambria Math" panose="02040503050406030204" pitchFamily="18" charset="0"/>
                            </a:rPr>
                            <m:t>(1) − </m:t>
                          </m:r>
                        </m:e>
                      </m:nary>
                      <m:f>
                        <m:fPr>
                          <m:ctrlPr>
                            <a:rPr lang="en-US" sz="2800" b="0" i="1" smtClean="0">
                              <a:solidFill>
                                <a:schemeClr val="tx1"/>
                              </a:solidFill>
                              <a:latin typeface="Cambria Math" panose="02040503050406030204" pitchFamily="18" charset="0"/>
                              <a:ea typeface="Cambria Math" panose="02040503050406030204" pitchFamily="18" charset="0"/>
                            </a:rPr>
                          </m:ctrlPr>
                        </m:fPr>
                        <m:num>
                          <m:r>
                            <a:rPr lang="en-US" sz="2800" b="0" i="1" smtClean="0">
                              <a:solidFill>
                                <a:schemeClr val="tx1"/>
                              </a:solidFill>
                              <a:latin typeface="Cambria Math" panose="02040503050406030204" pitchFamily="18" charset="0"/>
                              <a:ea typeface="Cambria Math" panose="02040503050406030204" pitchFamily="18" charset="0"/>
                            </a:rPr>
                            <m:t>1</m:t>
                          </m:r>
                        </m:num>
                        <m:den>
                          <m:sSub>
                            <m:sSubPr>
                              <m:ctrlPr>
                                <a:rPr lang="en-US" sz="2800" b="0" i="1" smtClean="0">
                                  <a:solidFill>
                                    <a:schemeClr val="tx1"/>
                                  </a:solidFill>
                                  <a:latin typeface="Cambria Math" panose="02040503050406030204" pitchFamily="18" charset="0"/>
                                  <a:ea typeface="Cambria Math" panose="02040503050406030204" pitchFamily="18" charset="0"/>
                                </a:rPr>
                              </m:ctrlPr>
                            </m:sSubPr>
                            <m:e>
                              <m:r>
                                <a:rPr lang="en-US" sz="2800" b="0" i="1" smtClean="0">
                                  <a:solidFill>
                                    <a:schemeClr val="tx1"/>
                                  </a:solidFill>
                                  <a:latin typeface="Cambria Math" panose="02040503050406030204" pitchFamily="18" charset="0"/>
                                  <a:ea typeface="Cambria Math" panose="02040503050406030204" pitchFamily="18" charset="0"/>
                                </a:rPr>
                                <m:t>𝑁</m:t>
                              </m:r>
                            </m:e>
                            <m:sub>
                              <m:r>
                                <a:rPr lang="en-US" sz="2800" b="0" i="1" smtClean="0">
                                  <a:solidFill>
                                    <a:schemeClr val="tx1"/>
                                  </a:solidFill>
                                  <a:latin typeface="Cambria Math" panose="02040503050406030204" pitchFamily="18" charset="0"/>
                                  <a:ea typeface="Cambria Math" panose="02040503050406030204" pitchFamily="18" charset="0"/>
                                </a:rPr>
                                <m:t>0</m:t>
                              </m:r>
                            </m:sub>
                          </m:sSub>
                        </m:den>
                      </m:f>
                      <m:nary>
                        <m:naryPr>
                          <m:chr m:val="∑"/>
                          <m:ctrlPr>
                            <a:rPr lang="en-US" sz="2800" b="0" i="1" smtClean="0">
                              <a:solidFill>
                                <a:schemeClr val="tx1"/>
                              </a:solidFill>
                              <a:latin typeface="Cambria Math" panose="02040503050406030204" pitchFamily="18" charset="0"/>
                              <a:ea typeface="Cambria Math" panose="02040503050406030204" pitchFamily="18" charset="0"/>
                            </a:rPr>
                          </m:ctrlPr>
                        </m:naryPr>
                        <m:sub>
                          <m:r>
                            <m:rPr>
                              <m:brk m:alnAt="23"/>
                            </m:rPr>
                            <a:rPr lang="en-US" sz="2800" b="0" i="1" smtClean="0">
                              <a:solidFill>
                                <a:schemeClr val="tx1"/>
                              </a:solidFill>
                              <a:latin typeface="Cambria Math" panose="02040503050406030204" pitchFamily="18" charset="0"/>
                              <a:ea typeface="Cambria Math" panose="02040503050406030204" pitchFamily="18" charset="0"/>
                            </a:rPr>
                            <m:t>𝑖</m:t>
                          </m:r>
                          <m:r>
                            <a:rPr lang="en-US" sz="2800" b="0" i="1" smtClean="0">
                              <a:solidFill>
                                <a:schemeClr val="tx1"/>
                              </a:solidFill>
                              <a:latin typeface="Cambria Math" panose="02040503050406030204" pitchFamily="18" charset="0"/>
                              <a:ea typeface="Cambria Math" panose="02040503050406030204" pitchFamily="18" charset="0"/>
                            </a:rPr>
                            <m:t>=1</m:t>
                          </m:r>
                        </m:sub>
                        <m:sup>
                          <m:r>
                            <a:rPr lang="en-US" sz="2800" b="0" i="1" smtClean="0">
                              <a:solidFill>
                                <a:schemeClr val="tx1"/>
                              </a:solidFill>
                              <a:latin typeface="Cambria Math" panose="02040503050406030204" pitchFamily="18" charset="0"/>
                              <a:ea typeface="Cambria Math" panose="02040503050406030204" pitchFamily="18" charset="0"/>
                            </a:rPr>
                            <m:t>𝑁</m:t>
                          </m:r>
                        </m:sup>
                        <m:e>
                          <m:f>
                            <m:fPr>
                              <m:ctrlPr>
                                <a:rPr lang="en-US" sz="2800" b="0" i="1" smtClean="0">
                                  <a:solidFill>
                                    <a:schemeClr val="tx1"/>
                                  </a:solidFill>
                                  <a:latin typeface="Cambria Math" panose="02040503050406030204" pitchFamily="18" charset="0"/>
                                  <a:ea typeface="Cambria Math" panose="02040503050406030204" pitchFamily="18" charset="0"/>
                                </a:rPr>
                              </m:ctrlPr>
                            </m:fPr>
                            <m:num>
                              <m:sSub>
                                <m:sSubPr>
                                  <m:ctrlPr>
                                    <a:rPr lang="en-US" sz="2800" b="0" i="1" smtClean="0">
                                      <a:solidFill>
                                        <a:schemeClr val="tx1"/>
                                      </a:solidFill>
                                      <a:latin typeface="Cambria Math" panose="02040503050406030204" pitchFamily="18" charset="0"/>
                                      <a:ea typeface="Cambria Math" panose="02040503050406030204" pitchFamily="18" charset="0"/>
                                    </a:rPr>
                                  </m:ctrlPr>
                                </m:sSubPr>
                                <m:e>
                                  <m:r>
                                    <a:rPr lang="en-US" sz="2800" b="0" i="1" smtClean="0">
                                      <a:solidFill>
                                        <a:schemeClr val="tx1"/>
                                      </a:solidFill>
                                      <a:latin typeface="Cambria Math" panose="02040503050406030204" pitchFamily="18" charset="0"/>
                                      <a:ea typeface="Cambria Math" panose="02040503050406030204" pitchFamily="18" charset="0"/>
                                    </a:rPr>
                                    <m:t>𝑁</m:t>
                                  </m:r>
                                </m:e>
                                <m:sub>
                                  <m:r>
                                    <a:rPr lang="en-US" sz="2800" b="0" i="1" smtClean="0">
                                      <a:solidFill>
                                        <a:schemeClr val="tx1"/>
                                      </a:solidFill>
                                      <a:latin typeface="Cambria Math" panose="02040503050406030204" pitchFamily="18" charset="0"/>
                                      <a:ea typeface="Cambria Math" panose="02040503050406030204" pitchFamily="18" charset="0"/>
                                    </a:rPr>
                                    <m:t>0</m:t>
                                  </m:r>
                                </m:sub>
                              </m:sSub>
                            </m:num>
                            <m:den>
                              <m:r>
                                <a:rPr lang="en-US" sz="2800" b="0" i="1" smtClean="0">
                                  <a:solidFill>
                                    <a:schemeClr val="tx1"/>
                                  </a:solidFill>
                                  <a:latin typeface="Cambria Math" panose="02040503050406030204" pitchFamily="18" charset="0"/>
                                  <a:ea typeface="Cambria Math" panose="02040503050406030204" pitchFamily="18" charset="0"/>
                                </a:rPr>
                                <m:t>𝑁</m:t>
                              </m:r>
                            </m:den>
                          </m:f>
                          <m:sSub>
                            <m:sSubPr>
                              <m:ctrlPr>
                                <a:rPr lang="en-US" sz="2800" b="0" i="1" smtClean="0">
                                  <a:solidFill>
                                    <a:schemeClr val="tx1"/>
                                  </a:solidFill>
                                  <a:latin typeface="Cambria Math" panose="02040503050406030204" pitchFamily="18" charset="0"/>
                                  <a:ea typeface="Cambria Math" panose="02040503050406030204" pitchFamily="18" charset="0"/>
                                </a:rPr>
                              </m:ctrlPr>
                            </m:sSubPr>
                            <m:e>
                              <m:r>
                                <a:rPr lang="en-US" sz="2800" b="0" i="1" smtClean="0">
                                  <a:solidFill>
                                    <a:schemeClr val="tx1"/>
                                  </a:solidFill>
                                  <a:latin typeface="Cambria Math" panose="02040503050406030204" pitchFamily="18" charset="0"/>
                                  <a:ea typeface="Cambria Math" panose="02040503050406030204" pitchFamily="18" charset="0"/>
                                </a:rPr>
                                <m:t>⋅</m:t>
                              </m:r>
                              <m:r>
                                <a:rPr lang="en-US" sz="2800" b="0" i="1" smtClean="0">
                                  <a:solidFill>
                                    <a:schemeClr val="tx1"/>
                                  </a:solidFill>
                                  <a:latin typeface="Cambria Math" panose="02040503050406030204" pitchFamily="18" charset="0"/>
                                  <a:ea typeface="Cambria Math" panose="02040503050406030204" pitchFamily="18" charset="0"/>
                                </a:rPr>
                                <m:t>𝑌</m:t>
                              </m:r>
                            </m:e>
                            <m:sub>
                              <m:r>
                                <a:rPr lang="en-US" sz="2800" b="0" i="1" smtClean="0">
                                  <a:solidFill>
                                    <a:schemeClr val="tx1"/>
                                  </a:solidFill>
                                  <a:latin typeface="Cambria Math" panose="02040503050406030204" pitchFamily="18" charset="0"/>
                                  <a:ea typeface="Cambria Math" panose="02040503050406030204" pitchFamily="18" charset="0"/>
                                </a:rPr>
                                <m:t>𝑖</m:t>
                              </m:r>
                            </m:sub>
                          </m:sSub>
                          <m:r>
                            <a:rPr lang="en-US" sz="2800" b="0" i="1" smtClean="0">
                              <a:solidFill>
                                <a:schemeClr val="tx1"/>
                              </a:solidFill>
                              <a:latin typeface="Cambria Math" panose="02040503050406030204" pitchFamily="18" charset="0"/>
                              <a:ea typeface="Cambria Math" panose="02040503050406030204" pitchFamily="18" charset="0"/>
                            </a:rPr>
                            <m:t>(0)</m:t>
                          </m:r>
                        </m:e>
                      </m:nary>
                    </m:oMath>
                  </m:oMathPara>
                </a14:m>
                <a:endParaRPr lang="en-US" sz="1400" dirty="0">
                  <a:solidFill>
                    <a:schemeClr val="tx1"/>
                  </a:solidFill>
                </a:endParaRPr>
              </a:p>
            </p:txBody>
          </p:sp>
        </mc:Choice>
        <mc:Fallback xmlns="">
          <p:sp>
            <p:nvSpPr>
              <p:cNvPr id="7" name="TextBox 6">
                <a:extLst>
                  <a:ext uri="{FF2B5EF4-FFF2-40B4-BE49-F238E27FC236}">
                    <a16:creationId xmlns:a16="http://schemas.microsoft.com/office/drawing/2014/main" id="{737045F8-7804-E950-FD79-0E95085D8E9A}"/>
                  </a:ext>
                </a:extLst>
              </p:cNvPr>
              <p:cNvSpPr txBox="1">
                <a:spLocks noRot="1" noChangeAspect="1" noMove="1" noResize="1" noEditPoints="1" noAdjustHandles="1" noChangeArrowheads="1" noChangeShapeType="1" noTextEdit="1"/>
              </p:cNvSpPr>
              <p:nvPr/>
            </p:nvSpPr>
            <p:spPr>
              <a:xfrm>
                <a:off x="1818710" y="5479186"/>
                <a:ext cx="6895799" cy="1349280"/>
              </a:xfrm>
              <a:prstGeom prst="rect">
                <a:avLst/>
              </a:prstGeom>
              <a:blipFill>
                <a:blip r:embed="rId10"/>
                <a:stretch>
                  <a:fillRect t="-98131" b="-1504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D78C54B-131C-313E-3AA4-938F170339AA}"/>
                  </a:ext>
                </a:extLst>
              </p:cNvPr>
              <p:cNvSpPr txBox="1"/>
              <p:nvPr/>
            </p:nvSpPr>
            <p:spPr>
              <a:xfrm>
                <a:off x="8326582" y="5607908"/>
                <a:ext cx="3865418" cy="1130822"/>
              </a:xfrm>
              <a:prstGeom prst="rect">
                <a:avLst/>
              </a:prstGeom>
              <a:solidFill>
                <a:schemeClr val="bg1"/>
              </a:solidFill>
            </p:spPr>
            <p:txBody>
              <a:bodyPr wrap="square">
                <a:spAutoFit/>
              </a:bodyPr>
              <a:lstStyle/>
              <a:p>
                <a:pPr/>
                <a14:m>
                  <m:oMathPara xmlns:m="http://schemas.openxmlformats.org/officeDocument/2006/math">
                    <m:oMathParaPr>
                      <m:jc m:val="left"/>
                    </m:oMathParaPr>
                    <m:oMath xmlns:m="http://schemas.openxmlformats.org/officeDocument/2006/math">
                      <m:r>
                        <a:rPr lang="en-US" sz="2400" b="0" i="1" smtClean="0">
                          <a:solidFill>
                            <a:schemeClr val="accent5"/>
                          </a:solidFill>
                          <a:latin typeface="Cambria Math" panose="02040503050406030204" pitchFamily="18" charset="0"/>
                          <a:ea typeface="Cambria Math" panose="02040503050406030204" pitchFamily="18" charset="0"/>
                        </a:rPr>
                        <m:t>=</m:t>
                      </m:r>
                      <m:f>
                        <m:fPr>
                          <m:ctrlPr>
                            <a:rPr lang="en-US" sz="2400" b="0" i="1" smtClean="0">
                              <a:solidFill>
                                <a:schemeClr val="accent5"/>
                              </a:solidFill>
                              <a:latin typeface="Cambria Math" panose="02040503050406030204" pitchFamily="18" charset="0"/>
                              <a:ea typeface="Cambria Math" panose="02040503050406030204" pitchFamily="18" charset="0"/>
                            </a:rPr>
                          </m:ctrlPr>
                        </m:fPr>
                        <m:num>
                          <m:r>
                            <a:rPr lang="en-US" sz="2400" b="0" i="1" smtClean="0">
                              <a:solidFill>
                                <a:schemeClr val="accent5"/>
                              </a:solidFill>
                              <a:latin typeface="Cambria Math" panose="02040503050406030204" pitchFamily="18" charset="0"/>
                              <a:ea typeface="Cambria Math" panose="02040503050406030204" pitchFamily="18" charset="0"/>
                            </a:rPr>
                            <m:t>1</m:t>
                          </m:r>
                        </m:num>
                        <m:den>
                          <m:r>
                            <a:rPr lang="en-US" sz="2400" b="0" i="1" smtClean="0">
                              <a:solidFill>
                                <a:schemeClr val="accent5"/>
                              </a:solidFill>
                              <a:latin typeface="Cambria Math" panose="02040503050406030204" pitchFamily="18" charset="0"/>
                              <a:ea typeface="Cambria Math" panose="02040503050406030204" pitchFamily="18" charset="0"/>
                            </a:rPr>
                            <m:t>𝑁</m:t>
                          </m:r>
                        </m:den>
                      </m:f>
                      <m:nary>
                        <m:naryPr>
                          <m:chr m:val="∑"/>
                          <m:ctrlPr>
                            <a:rPr lang="en-US" sz="2400" b="0" i="1" smtClean="0">
                              <a:solidFill>
                                <a:schemeClr val="accent5"/>
                              </a:solidFill>
                              <a:latin typeface="Cambria Math" panose="02040503050406030204" pitchFamily="18" charset="0"/>
                              <a:ea typeface="Cambria Math" panose="02040503050406030204" pitchFamily="18" charset="0"/>
                            </a:rPr>
                          </m:ctrlPr>
                        </m:naryPr>
                        <m:sub>
                          <m:r>
                            <m:rPr>
                              <m:brk m:alnAt="23"/>
                            </m:rPr>
                            <a:rPr lang="en-US" sz="2400" b="0" i="1" smtClean="0">
                              <a:solidFill>
                                <a:schemeClr val="accent5"/>
                              </a:solidFill>
                              <a:latin typeface="Cambria Math" panose="02040503050406030204" pitchFamily="18" charset="0"/>
                              <a:ea typeface="Cambria Math" panose="02040503050406030204" pitchFamily="18" charset="0"/>
                            </a:rPr>
                            <m:t>𝑖</m:t>
                          </m:r>
                          <m:r>
                            <a:rPr lang="en-US" sz="2400" b="0" i="1" smtClean="0">
                              <a:solidFill>
                                <a:schemeClr val="accent5"/>
                              </a:solidFill>
                              <a:latin typeface="Cambria Math" panose="02040503050406030204" pitchFamily="18" charset="0"/>
                              <a:ea typeface="Cambria Math" panose="02040503050406030204" pitchFamily="18" charset="0"/>
                            </a:rPr>
                            <m:t>=1</m:t>
                          </m:r>
                        </m:sub>
                        <m:sup>
                          <m:r>
                            <a:rPr lang="en-US" sz="2400" b="0" i="1" smtClean="0">
                              <a:solidFill>
                                <a:schemeClr val="accent5"/>
                              </a:solidFill>
                              <a:latin typeface="Cambria Math" panose="02040503050406030204" pitchFamily="18" charset="0"/>
                              <a:ea typeface="Cambria Math" panose="02040503050406030204" pitchFamily="18" charset="0"/>
                            </a:rPr>
                            <m:t>𝑁</m:t>
                          </m:r>
                        </m:sup>
                        <m:e>
                          <m:d>
                            <m:dPr>
                              <m:ctrlPr>
                                <a:rPr lang="en-US" sz="2400" b="0" i="1" smtClean="0">
                                  <a:solidFill>
                                    <a:schemeClr val="accent5"/>
                                  </a:solidFill>
                                  <a:latin typeface="Cambria Math" panose="02040503050406030204" pitchFamily="18" charset="0"/>
                                  <a:ea typeface="Cambria Math" panose="02040503050406030204" pitchFamily="18" charset="0"/>
                                </a:rPr>
                              </m:ctrlPr>
                            </m:dPr>
                            <m:e>
                              <m:sSub>
                                <m:sSubPr>
                                  <m:ctrlPr>
                                    <a:rPr lang="en-US" sz="2400" b="0" i="1" smtClean="0">
                                      <a:solidFill>
                                        <a:schemeClr val="accent5"/>
                                      </a:solidFill>
                                      <a:latin typeface="Cambria Math" panose="02040503050406030204" pitchFamily="18" charset="0"/>
                                      <a:ea typeface="Cambria Math" panose="02040503050406030204" pitchFamily="18" charset="0"/>
                                    </a:rPr>
                                  </m:ctrlPr>
                                </m:sSubPr>
                                <m:e>
                                  <m:r>
                                    <a:rPr lang="en-US" sz="2400" b="0" i="1" smtClean="0">
                                      <a:solidFill>
                                        <a:schemeClr val="accent5"/>
                                      </a:solidFill>
                                      <a:latin typeface="Cambria Math" panose="02040503050406030204" pitchFamily="18" charset="0"/>
                                      <a:ea typeface="Cambria Math" panose="02040503050406030204" pitchFamily="18" charset="0"/>
                                    </a:rPr>
                                    <m:t>𝑌</m:t>
                                  </m:r>
                                </m:e>
                                <m:sub>
                                  <m:r>
                                    <a:rPr lang="en-US" sz="2400" b="0" i="1" smtClean="0">
                                      <a:solidFill>
                                        <a:schemeClr val="accent5"/>
                                      </a:solidFill>
                                      <a:latin typeface="Cambria Math" panose="02040503050406030204" pitchFamily="18" charset="0"/>
                                      <a:ea typeface="Cambria Math" panose="02040503050406030204" pitchFamily="18" charset="0"/>
                                    </a:rPr>
                                    <m:t>𝑖</m:t>
                                  </m:r>
                                </m:sub>
                              </m:sSub>
                              <m:d>
                                <m:dPr>
                                  <m:ctrlPr>
                                    <a:rPr lang="en-US" sz="2400" b="0" i="1" smtClean="0">
                                      <a:solidFill>
                                        <a:schemeClr val="accent5"/>
                                      </a:solidFill>
                                      <a:latin typeface="Cambria Math" panose="02040503050406030204" pitchFamily="18" charset="0"/>
                                      <a:ea typeface="Cambria Math" panose="02040503050406030204" pitchFamily="18" charset="0"/>
                                    </a:rPr>
                                  </m:ctrlPr>
                                </m:dPr>
                                <m:e>
                                  <m:r>
                                    <a:rPr lang="en-US" sz="2400" b="0" i="1" smtClean="0">
                                      <a:solidFill>
                                        <a:schemeClr val="accent5"/>
                                      </a:solidFill>
                                      <a:latin typeface="Cambria Math" panose="02040503050406030204" pitchFamily="18" charset="0"/>
                                      <a:ea typeface="Cambria Math" panose="02040503050406030204" pitchFamily="18" charset="0"/>
                                    </a:rPr>
                                    <m:t>1</m:t>
                                  </m:r>
                                </m:e>
                              </m:d>
                              <m:r>
                                <a:rPr lang="en-US" sz="2400" b="0" i="1" smtClean="0">
                                  <a:solidFill>
                                    <a:schemeClr val="accent5"/>
                                  </a:solidFill>
                                  <a:latin typeface="Cambria Math" panose="02040503050406030204" pitchFamily="18" charset="0"/>
                                  <a:ea typeface="Cambria Math" panose="02040503050406030204" pitchFamily="18" charset="0"/>
                                </a:rPr>
                                <m:t>−</m:t>
                              </m:r>
                              <m:sSub>
                                <m:sSubPr>
                                  <m:ctrlPr>
                                    <a:rPr lang="en-US" sz="2400" b="0" i="1" smtClean="0">
                                      <a:solidFill>
                                        <a:schemeClr val="accent5"/>
                                      </a:solidFill>
                                      <a:latin typeface="Cambria Math" panose="02040503050406030204" pitchFamily="18" charset="0"/>
                                      <a:ea typeface="Cambria Math" panose="02040503050406030204" pitchFamily="18" charset="0"/>
                                    </a:rPr>
                                  </m:ctrlPr>
                                </m:sSubPr>
                                <m:e>
                                  <m:r>
                                    <a:rPr lang="en-US" sz="2400" b="0" i="1" smtClean="0">
                                      <a:solidFill>
                                        <a:schemeClr val="accent5"/>
                                      </a:solidFill>
                                      <a:latin typeface="Cambria Math" panose="02040503050406030204" pitchFamily="18" charset="0"/>
                                      <a:ea typeface="Cambria Math" panose="02040503050406030204" pitchFamily="18" charset="0"/>
                                    </a:rPr>
                                    <m:t>𝑌</m:t>
                                  </m:r>
                                </m:e>
                                <m:sub>
                                  <m:r>
                                    <a:rPr lang="en-US" sz="2400" b="0" i="1" smtClean="0">
                                      <a:solidFill>
                                        <a:schemeClr val="accent5"/>
                                      </a:solidFill>
                                      <a:latin typeface="Cambria Math" panose="02040503050406030204" pitchFamily="18" charset="0"/>
                                      <a:ea typeface="Cambria Math" panose="02040503050406030204" pitchFamily="18" charset="0"/>
                                    </a:rPr>
                                    <m:t>𝑖</m:t>
                                  </m:r>
                                </m:sub>
                              </m:sSub>
                              <m:d>
                                <m:dPr>
                                  <m:ctrlPr>
                                    <a:rPr lang="en-US" sz="2400" b="0" i="1" smtClean="0">
                                      <a:solidFill>
                                        <a:schemeClr val="accent5"/>
                                      </a:solidFill>
                                      <a:latin typeface="Cambria Math" panose="02040503050406030204" pitchFamily="18" charset="0"/>
                                      <a:ea typeface="Cambria Math" panose="02040503050406030204" pitchFamily="18" charset="0"/>
                                    </a:rPr>
                                  </m:ctrlPr>
                                </m:dPr>
                                <m:e>
                                  <m:r>
                                    <a:rPr lang="en-US" sz="2400" b="0" i="1" smtClean="0">
                                      <a:solidFill>
                                        <a:schemeClr val="accent5"/>
                                      </a:solidFill>
                                      <a:latin typeface="Cambria Math" panose="02040503050406030204" pitchFamily="18" charset="0"/>
                                      <a:ea typeface="Cambria Math" panose="02040503050406030204" pitchFamily="18" charset="0"/>
                                    </a:rPr>
                                    <m:t>0</m:t>
                                  </m:r>
                                </m:e>
                              </m:d>
                            </m:e>
                          </m:d>
                          <m:r>
                            <a:rPr lang="en-US" sz="2400" b="0" i="1" smtClean="0">
                              <a:solidFill>
                                <a:schemeClr val="accent5"/>
                              </a:solidFill>
                              <a:latin typeface="Cambria Math" panose="02040503050406030204" pitchFamily="18" charset="0"/>
                              <a:ea typeface="Cambria Math" panose="02040503050406030204" pitchFamily="18" charset="0"/>
                            </a:rPr>
                            <m:t>=</m:t>
                          </m:r>
                          <m:r>
                            <a:rPr lang="en-US" sz="2400" b="0" i="1" smtClean="0">
                              <a:solidFill>
                                <a:schemeClr val="accent5"/>
                              </a:solidFill>
                              <a:latin typeface="Cambria Math" panose="02040503050406030204" pitchFamily="18" charset="0"/>
                              <a:ea typeface="Cambria Math" panose="02040503050406030204" pitchFamily="18" charset="0"/>
                            </a:rPr>
                            <m:t>𝜏</m:t>
                          </m:r>
                        </m:e>
                      </m:nary>
                    </m:oMath>
                  </m:oMathPara>
                </a14:m>
                <a:endParaRPr lang="en-US" sz="1200" dirty="0">
                  <a:solidFill>
                    <a:schemeClr val="accent5"/>
                  </a:solidFill>
                </a:endParaRPr>
              </a:p>
            </p:txBody>
          </p:sp>
        </mc:Choice>
        <mc:Fallback xmlns="">
          <p:sp>
            <p:nvSpPr>
              <p:cNvPr id="10" name="TextBox 9">
                <a:extLst>
                  <a:ext uri="{FF2B5EF4-FFF2-40B4-BE49-F238E27FC236}">
                    <a16:creationId xmlns:a16="http://schemas.microsoft.com/office/drawing/2014/main" id="{ED78C54B-131C-313E-3AA4-938F170339AA}"/>
                  </a:ext>
                </a:extLst>
              </p:cNvPr>
              <p:cNvSpPr txBox="1">
                <a:spLocks noRot="1" noChangeAspect="1" noMove="1" noResize="1" noEditPoints="1" noAdjustHandles="1" noChangeArrowheads="1" noChangeShapeType="1" noTextEdit="1"/>
              </p:cNvSpPr>
              <p:nvPr/>
            </p:nvSpPr>
            <p:spPr>
              <a:xfrm>
                <a:off x="8326582" y="5607908"/>
                <a:ext cx="3865418" cy="1130822"/>
              </a:xfrm>
              <a:prstGeom prst="rect">
                <a:avLst/>
              </a:prstGeom>
              <a:blipFill>
                <a:blip r:embed="rId11"/>
                <a:stretch>
                  <a:fillRect l="-12418" t="-102222" b="-157778"/>
                </a:stretch>
              </a:blipFill>
            </p:spPr>
            <p:txBody>
              <a:bodyPr/>
              <a:lstStyle/>
              <a:p>
                <a:r>
                  <a:rPr lang="en-US">
                    <a:noFill/>
                  </a:rPr>
                  <a:t> </a:t>
                </a:r>
              </a:p>
            </p:txBody>
          </p:sp>
        </mc:Fallback>
      </mc:AlternateContent>
    </p:spTree>
    <p:extLst>
      <p:ext uri="{BB962C8B-B14F-4D97-AF65-F5344CB8AC3E}">
        <p14:creationId xmlns:p14="http://schemas.microsoft.com/office/powerpoint/2010/main" val="159133417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F82A9E35-BD1C-73C0-77A5-E214BE6A08BF}"/>
                  </a:ext>
                </a:extLst>
              </p:cNvPr>
              <p:cNvSpPr>
                <a:spLocks noGrp="1"/>
              </p:cNvSpPr>
              <p:nvPr>
                <p:ph type="title"/>
              </p:nvPr>
            </p:nvSpPr>
            <p:spPr/>
            <p:txBody>
              <a:bodyPr/>
              <a:lstStyle/>
              <a:p>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𝜏</m:t>
                        </m:r>
                      </m:e>
                    </m:acc>
                  </m:oMath>
                </a14:m>
                <a:r>
                  <a:rPr lang="en-US" dirty="0"/>
                  <a:t> is an unbiased estimator for </a:t>
                </a:r>
                <a14:m>
                  <m:oMath xmlns:m="http://schemas.openxmlformats.org/officeDocument/2006/math">
                    <m:r>
                      <a:rPr lang="en-US" b="0" i="1" smtClean="0">
                        <a:latin typeface="Cambria Math" panose="02040503050406030204" pitchFamily="18" charset="0"/>
                      </a:rPr>
                      <m:t>𝜏</m:t>
                    </m:r>
                  </m:oMath>
                </a14:m>
                <a:br>
                  <a:rPr lang="en-US" dirty="0"/>
                </a:br>
                <a:r>
                  <a:rPr lang="en-US" sz="2800" dirty="0"/>
                  <a:t>(Always, not just in the aspirin example)</a:t>
                </a:r>
                <a:endParaRPr lang="en-US" dirty="0"/>
              </a:p>
            </p:txBody>
          </p:sp>
        </mc:Choice>
        <mc:Fallback xmlns="">
          <p:sp>
            <p:nvSpPr>
              <p:cNvPr id="2" name="Title 1">
                <a:extLst>
                  <a:ext uri="{FF2B5EF4-FFF2-40B4-BE49-F238E27FC236}">
                    <a16:creationId xmlns:a16="http://schemas.microsoft.com/office/drawing/2014/main" id="{F82A9E35-BD1C-73C0-77A5-E214BE6A08BF}"/>
                  </a:ext>
                </a:extLst>
              </p:cNvPr>
              <p:cNvSpPr>
                <a:spLocks noGrp="1" noRot="1" noChangeAspect="1" noMove="1" noResize="1" noEditPoints="1" noAdjustHandles="1" noChangeArrowheads="1" noChangeShapeType="1" noTextEdit="1"/>
              </p:cNvSpPr>
              <p:nvPr>
                <p:ph type="title"/>
              </p:nvPr>
            </p:nvSpPr>
            <p:spPr>
              <a:blipFill>
                <a:blip r:embed="rId3"/>
                <a:stretch>
                  <a:fillRect l="-1206" t="-4762" b="-381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9F62BFA-5E34-6719-96E2-EC4410559730}"/>
                  </a:ext>
                </a:extLst>
              </p:cNvPr>
              <p:cNvSpPr>
                <a:spLocks noGrp="1"/>
              </p:cNvSpPr>
              <p:nvPr>
                <p:ph idx="1"/>
              </p:nvPr>
            </p:nvSpPr>
            <p:spPr/>
            <p:txBody>
              <a:bodyPr>
                <a:normAutofit/>
              </a:bodyPr>
              <a:lstStyle/>
              <a:p>
                <a:r>
                  <a:rPr lang="en-US" dirty="0"/>
                  <a:t>Great!  So if we do an RCT, we can compute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𝜏</m:t>
                        </m:r>
                      </m:e>
                    </m:acc>
                  </m:oMath>
                </a14:m>
                <a:r>
                  <a:rPr lang="en-US" dirty="0"/>
                  <a:t>, and </a:t>
                </a:r>
                <a:r>
                  <a:rPr lang="en-US" i="1" dirty="0"/>
                  <a:t>in expectation </a:t>
                </a:r>
                <a:r>
                  <a:rPr lang="en-US" dirty="0"/>
                  <a:t>we should get </a:t>
                </a:r>
                <a14:m>
                  <m:oMath xmlns:m="http://schemas.openxmlformats.org/officeDocument/2006/math">
                    <m:r>
                      <a:rPr lang="en-US" b="0" i="1" smtClean="0">
                        <a:latin typeface="Cambria Math" panose="02040503050406030204" pitchFamily="18" charset="0"/>
                      </a:rPr>
                      <m:t>𝜏</m:t>
                    </m:r>
                  </m:oMath>
                </a14:m>
                <a:r>
                  <a:rPr lang="en-US" dirty="0"/>
                  <a:t> (ATE)!</a:t>
                </a:r>
              </a:p>
              <a:p>
                <a:r>
                  <a:rPr lang="en-US" dirty="0"/>
                  <a:t>But… in any specific case we may be off, maybe far off!</a:t>
                </a:r>
              </a:p>
              <a:p>
                <a:endParaRPr lang="en-US" dirty="0"/>
              </a:p>
              <a:p>
                <a:r>
                  <a:rPr lang="en-US" dirty="0"/>
                  <a:t>We should be more careful!</a:t>
                </a:r>
              </a:p>
              <a:p>
                <a:pPr lvl="1"/>
                <a:r>
                  <a:rPr lang="en-US" dirty="0">
                    <a:solidFill>
                      <a:schemeClr val="accent1"/>
                    </a:solidFill>
                  </a:rPr>
                  <a:t>What is the variance of </a:t>
                </a:r>
                <a14:m>
                  <m:oMath xmlns:m="http://schemas.openxmlformats.org/officeDocument/2006/math">
                    <m:acc>
                      <m:accPr>
                        <m:chr m:val="̂"/>
                        <m:ctrlPr>
                          <a:rPr lang="en-US" b="0" i="1" smtClean="0">
                            <a:solidFill>
                              <a:schemeClr val="accent1"/>
                            </a:solidFill>
                            <a:latin typeface="Cambria Math" panose="02040503050406030204" pitchFamily="18" charset="0"/>
                          </a:rPr>
                        </m:ctrlPr>
                      </m:accPr>
                      <m:e>
                        <m:r>
                          <a:rPr lang="en-US" b="0" i="1" smtClean="0">
                            <a:solidFill>
                              <a:schemeClr val="accent1"/>
                            </a:solidFill>
                            <a:latin typeface="Cambria Math" panose="02040503050406030204" pitchFamily="18" charset="0"/>
                          </a:rPr>
                          <m:t>𝜏</m:t>
                        </m:r>
                      </m:e>
                    </m:acc>
                  </m:oMath>
                </a14:m>
                <a:r>
                  <a:rPr lang="en-US" dirty="0">
                    <a:solidFill>
                      <a:schemeClr val="accent1"/>
                    </a:solidFill>
                  </a:rPr>
                  <a:t>?  (And what are standard errors?)</a:t>
                </a:r>
              </a:p>
              <a:p>
                <a:pPr lvl="1"/>
                <a:r>
                  <a:rPr lang="en-US" dirty="0">
                    <a:solidFill>
                      <a:schemeClr val="accent1"/>
                    </a:solidFill>
                  </a:rPr>
                  <a:t>Is it likely that </a:t>
                </a:r>
                <a14:m>
                  <m:oMath xmlns:m="http://schemas.openxmlformats.org/officeDocument/2006/math">
                    <m:acc>
                      <m:accPr>
                        <m:chr m:val="̂"/>
                        <m:ctrlPr>
                          <a:rPr lang="en-US" b="0" i="1" smtClean="0">
                            <a:solidFill>
                              <a:schemeClr val="accent1"/>
                            </a:solidFill>
                            <a:latin typeface="Cambria Math" panose="02040503050406030204" pitchFamily="18" charset="0"/>
                          </a:rPr>
                        </m:ctrlPr>
                      </m:accPr>
                      <m:e>
                        <m:r>
                          <a:rPr lang="en-US" b="0" i="1" smtClean="0">
                            <a:solidFill>
                              <a:schemeClr val="accent1"/>
                            </a:solidFill>
                            <a:latin typeface="Cambria Math" panose="02040503050406030204" pitchFamily="18" charset="0"/>
                          </a:rPr>
                          <m:t>𝜏</m:t>
                        </m:r>
                      </m:e>
                    </m:acc>
                  </m:oMath>
                </a14:m>
                <a:r>
                  <a:rPr lang="en-US" dirty="0">
                    <a:solidFill>
                      <a:schemeClr val="accent1"/>
                    </a:solidFill>
                  </a:rPr>
                  <a:t> is close to </a:t>
                </a:r>
                <a14:m>
                  <m:oMath xmlns:m="http://schemas.openxmlformats.org/officeDocument/2006/math">
                    <m:r>
                      <a:rPr lang="en-US" b="0" i="1" smtClean="0">
                        <a:solidFill>
                          <a:schemeClr val="accent1"/>
                        </a:solidFill>
                        <a:latin typeface="Cambria Math" panose="02040503050406030204" pitchFamily="18" charset="0"/>
                      </a:rPr>
                      <m:t>𝜏</m:t>
                    </m:r>
                  </m:oMath>
                </a14:m>
                <a:r>
                  <a:rPr lang="en-US" dirty="0">
                    <a:solidFill>
                      <a:schemeClr val="accent1"/>
                    </a:solidFill>
                  </a:rPr>
                  <a:t>?  (And what are the confidence intervals?)</a:t>
                </a:r>
              </a:p>
              <a:p>
                <a:pPr lvl="1"/>
                <a:r>
                  <a:rPr lang="en-US" b="1" dirty="0">
                    <a:solidFill>
                      <a:schemeClr val="accent1"/>
                    </a:solidFill>
                  </a:rPr>
                  <a:t>And how do these things depend on the size of our treatment/control groups?</a:t>
                </a:r>
              </a:p>
              <a:p>
                <a:pPr marL="457200" lvl="1" indent="0">
                  <a:buNone/>
                </a:pPr>
                <a:endParaRPr lang="en-US" dirty="0">
                  <a:solidFill>
                    <a:schemeClr val="accent1"/>
                  </a:solidFill>
                </a:endParaRPr>
              </a:p>
            </p:txBody>
          </p:sp>
        </mc:Choice>
        <mc:Fallback xmlns="">
          <p:sp>
            <p:nvSpPr>
              <p:cNvPr id="3" name="Content Placeholder 2">
                <a:extLst>
                  <a:ext uri="{FF2B5EF4-FFF2-40B4-BE49-F238E27FC236}">
                    <a16:creationId xmlns:a16="http://schemas.microsoft.com/office/drawing/2014/main" id="{79F62BFA-5E34-6719-96E2-EC4410559730}"/>
                  </a:ext>
                </a:extLst>
              </p:cNvPr>
              <p:cNvSpPr>
                <a:spLocks noGrp="1" noRot="1" noChangeAspect="1" noMove="1" noResize="1" noEditPoints="1" noAdjustHandles="1" noChangeArrowheads="1" noChangeShapeType="1" noTextEdit="1"/>
              </p:cNvSpPr>
              <p:nvPr>
                <p:ph idx="1"/>
              </p:nvPr>
            </p:nvSpPr>
            <p:spPr>
              <a:blipFill>
                <a:blip r:embed="rId4"/>
                <a:stretch>
                  <a:fillRect l="-1086" t="-2326"/>
                </a:stretch>
              </a:blipFill>
            </p:spPr>
            <p:txBody>
              <a:bodyPr/>
              <a:lstStyle/>
              <a:p>
                <a:r>
                  <a:rPr lang="en-US">
                    <a:noFill/>
                  </a:rPr>
                  <a:t> </a:t>
                </a:r>
              </a:p>
            </p:txBody>
          </p:sp>
        </mc:Fallback>
      </mc:AlternateContent>
    </p:spTree>
    <p:extLst>
      <p:ext uri="{BB962C8B-B14F-4D97-AF65-F5344CB8AC3E}">
        <p14:creationId xmlns:p14="http://schemas.microsoft.com/office/powerpoint/2010/main" val="226010131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BFFAE0-B7E6-00B6-776D-91DD99DFCD15}"/>
              </a:ext>
            </a:extLst>
          </p:cNvPr>
          <p:cNvSpPr>
            <a:spLocks noGrp="1"/>
          </p:cNvSpPr>
          <p:nvPr>
            <p:ph type="title"/>
          </p:nvPr>
        </p:nvSpPr>
        <p:spPr/>
        <p:txBody>
          <a:bodyPr/>
          <a:lstStyle/>
          <a:p>
            <a:r>
              <a:rPr lang="en-US" dirty="0"/>
              <a:t>Our toy aspirin example is too small…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4021F8E-43CA-3570-0A97-BFD01C1B2B2A}"/>
                  </a:ext>
                </a:extLst>
              </p:cNvPr>
              <p:cNvSpPr>
                <a:spLocks noGrp="1"/>
              </p:cNvSpPr>
              <p:nvPr>
                <p:ph idx="1"/>
              </p:nvPr>
            </p:nvSpPr>
            <p:spPr>
              <a:xfrm>
                <a:off x="873516" y="2326026"/>
                <a:ext cx="5599176" cy="4351338"/>
              </a:xfrm>
            </p:spPr>
            <p:txBody>
              <a:bodyPr/>
              <a:lstStyle/>
              <a:p>
                <a:r>
                  <a:rPr lang="en-US" dirty="0"/>
                  <a:t>Let’s look at a bigger version of this example for the rest of this discussion.</a:t>
                </a:r>
              </a:p>
              <a:p>
                <a:r>
                  <a:rPr lang="en-US" dirty="0"/>
                  <a:t>Now, there are 6000 units.</a:t>
                </a:r>
              </a:p>
              <a:p>
                <a:pPr lvl="1"/>
                <a:r>
                  <a:rPr lang="en-US" dirty="0"/>
                  <a:t>Notice that ATE is still ½.</a:t>
                </a:r>
              </a:p>
              <a:p>
                <a:r>
                  <a:rPr lang="en-US" dirty="0"/>
                  <a:t>Draw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1</m:t>
                        </m:r>
                      </m:sub>
                    </m:sSub>
                  </m:oMath>
                </a14:m>
                <a:r>
                  <a:rPr lang="en-US" dirty="0"/>
                  <a:t> at random for the treatment group,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0</m:t>
                        </m:r>
                      </m:sub>
                    </m:sSub>
                  </m:oMath>
                </a14:m>
                <a:r>
                  <a:rPr lang="en-US" dirty="0"/>
                  <a:t> at random for the control group.</a:t>
                </a:r>
              </a:p>
              <a:p>
                <a:endParaRPr lang="en-US" dirty="0"/>
              </a:p>
            </p:txBody>
          </p:sp>
        </mc:Choice>
        <mc:Fallback xmlns="">
          <p:sp>
            <p:nvSpPr>
              <p:cNvPr id="3" name="Content Placeholder 2">
                <a:extLst>
                  <a:ext uri="{FF2B5EF4-FFF2-40B4-BE49-F238E27FC236}">
                    <a16:creationId xmlns:a16="http://schemas.microsoft.com/office/drawing/2014/main" id="{24021F8E-43CA-3570-0A97-BFD01C1B2B2A}"/>
                  </a:ext>
                </a:extLst>
              </p:cNvPr>
              <p:cNvSpPr>
                <a:spLocks noGrp="1" noRot="1" noChangeAspect="1" noMove="1" noResize="1" noEditPoints="1" noAdjustHandles="1" noChangeArrowheads="1" noChangeShapeType="1" noTextEdit="1"/>
              </p:cNvSpPr>
              <p:nvPr>
                <p:ph idx="1"/>
              </p:nvPr>
            </p:nvSpPr>
            <p:spPr>
              <a:xfrm>
                <a:off x="873516" y="2326026"/>
                <a:ext cx="5599176" cy="4351338"/>
              </a:xfrm>
              <a:blipFill>
                <a:blip r:embed="rId3"/>
                <a:stretch>
                  <a:fillRect l="-1810" t="-2332"/>
                </a:stretch>
              </a:blipFill>
            </p:spPr>
            <p:txBody>
              <a:bodyPr/>
              <a:lstStyle/>
              <a:p>
                <a:r>
                  <a:rPr lang="en-US">
                    <a:noFill/>
                  </a:rPr>
                  <a:t> </a:t>
                </a:r>
              </a:p>
            </p:txBody>
          </p:sp>
        </mc:Fallback>
      </mc:AlternateContent>
      <p:grpSp>
        <p:nvGrpSpPr>
          <p:cNvPr id="4" name="Group 3">
            <a:extLst>
              <a:ext uri="{FF2B5EF4-FFF2-40B4-BE49-F238E27FC236}">
                <a16:creationId xmlns:a16="http://schemas.microsoft.com/office/drawing/2014/main" id="{083CE03D-0DBF-1C50-8697-6AF8ED529FF3}"/>
              </a:ext>
            </a:extLst>
          </p:cNvPr>
          <p:cNvGrpSpPr/>
          <p:nvPr/>
        </p:nvGrpSpPr>
        <p:grpSpPr>
          <a:xfrm>
            <a:off x="7097528" y="2628769"/>
            <a:ext cx="5124916" cy="4302460"/>
            <a:chOff x="7097528" y="2628769"/>
            <a:chExt cx="5124916" cy="4302460"/>
          </a:xfrm>
        </p:grpSpPr>
        <p:grpSp>
          <p:nvGrpSpPr>
            <p:cNvPr id="7" name="Group 6">
              <a:extLst>
                <a:ext uri="{FF2B5EF4-FFF2-40B4-BE49-F238E27FC236}">
                  <a16:creationId xmlns:a16="http://schemas.microsoft.com/office/drawing/2014/main" id="{074C226C-D353-1208-2888-2E08D3D579B5}"/>
                </a:ext>
              </a:extLst>
            </p:cNvPr>
            <p:cNvGrpSpPr/>
            <p:nvPr/>
          </p:nvGrpSpPr>
          <p:grpSpPr>
            <a:xfrm>
              <a:off x="7097528" y="2628769"/>
              <a:ext cx="5124916" cy="4302460"/>
              <a:chOff x="5013146" y="3460616"/>
              <a:chExt cx="4046826" cy="3397383"/>
            </a:xfrm>
          </p:grpSpPr>
          <p:grpSp>
            <p:nvGrpSpPr>
              <p:cNvPr id="8" name="Group 7">
                <a:extLst>
                  <a:ext uri="{FF2B5EF4-FFF2-40B4-BE49-F238E27FC236}">
                    <a16:creationId xmlns:a16="http://schemas.microsoft.com/office/drawing/2014/main" id="{85E2EB7A-9AD1-8E96-34F8-86442FC8FA60}"/>
                  </a:ext>
                </a:extLst>
              </p:cNvPr>
              <p:cNvGrpSpPr/>
              <p:nvPr/>
            </p:nvGrpSpPr>
            <p:grpSpPr>
              <a:xfrm>
                <a:off x="5013146" y="3460616"/>
                <a:ext cx="4046826" cy="3397383"/>
                <a:chOff x="5906366" y="3909080"/>
                <a:chExt cx="3658778" cy="3094859"/>
              </a:xfrm>
            </p:grpSpPr>
            <p:sp>
              <p:nvSpPr>
                <p:cNvPr id="11" name="Rectangle 10">
                  <a:extLst>
                    <a:ext uri="{FF2B5EF4-FFF2-40B4-BE49-F238E27FC236}">
                      <a16:creationId xmlns:a16="http://schemas.microsoft.com/office/drawing/2014/main" id="{9D3DDFA7-8E84-2785-20D1-B523177D86B2}"/>
                    </a:ext>
                  </a:extLst>
                </p:cNvPr>
                <p:cNvSpPr/>
                <p:nvPr/>
              </p:nvSpPr>
              <p:spPr>
                <a:xfrm>
                  <a:off x="5906367" y="4505989"/>
                  <a:ext cx="3636411" cy="2460011"/>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grpSp>
              <p:nvGrpSpPr>
                <p:cNvPr id="12" name="Group 11">
                  <a:extLst>
                    <a:ext uri="{FF2B5EF4-FFF2-40B4-BE49-F238E27FC236}">
                      <a16:creationId xmlns:a16="http://schemas.microsoft.com/office/drawing/2014/main" id="{DE50B1EF-0FB2-3C8C-CD4B-3572DE0147FE}"/>
                    </a:ext>
                  </a:extLst>
                </p:cNvPr>
                <p:cNvGrpSpPr/>
                <p:nvPr/>
              </p:nvGrpSpPr>
              <p:grpSpPr>
                <a:xfrm>
                  <a:off x="5906366" y="3909080"/>
                  <a:ext cx="3658778" cy="3094859"/>
                  <a:chOff x="122688" y="1079365"/>
                  <a:chExt cx="6902492" cy="5838625"/>
                </a:xfrm>
              </p:grpSpPr>
              <p:pic>
                <p:nvPicPr>
                  <p:cNvPr id="13" name="Picture 12">
                    <a:extLst>
                      <a:ext uri="{FF2B5EF4-FFF2-40B4-BE49-F238E27FC236}">
                        <a16:creationId xmlns:a16="http://schemas.microsoft.com/office/drawing/2014/main" id="{56205A5D-4A9F-1319-63AB-9722862D072F}"/>
                      </a:ext>
                    </a:extLst>
                  </p:cNvPr>
                  <p:cNvPicPr>
                    <a:picLocks noChangeAspect="1"/>
                  </p:cNvPicPr>
                  <p:nvPr/>
                </p:nvPicPr>
                <p:blipFill>
                  <a:blip r:embed="rId4"/>
                  <a:stretch>
                    <a:fillRect/>
                  </a:stretch>
                </p:blipFill>
                <p:spPr>
                  <a:xfrm>
                    <a:off x="2145207" y="2605430"/>
                    <a:ext cx="729848" cy="1107433"/>
                  </a:xfrm>
                  <a:prstGeom prst="rect">
                    <a:avLst/>
                  </a:prstGeom>
                </p:spPr>
              </p:pic>
              <p:pic>
                <p:nvPicPr>
                  <p:cNvPr id="14" name="Picture 2" descr="ASPIRIN® Extra Strength 500mg | ASPIRIN® Canada">
                    <a:extLst>
                      <a:ext uri="{FF2B5EF4-FFF2-40B4-BE49-F238E27FC236}">
                        <a16:creationId xmlns:a16="http://schemas.microsoft.com/office/drawing/2014/main" id="{FF6991FD-68BC-B561-279E-7BF29D15156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6385" y="3832624"/>
                    <a:ext cx="827664" cy="827664"/>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4">
                    <a:extLst>
                      <a:ext uri="{FF2B5EF4-FFF2-40B4-BE49-F238E27FC236}">
                        <a16:creationId xmlns:a16="http://schemas.microsoft.com/office/drawing/2014/main" id="{CCAAD86D-B6F0-8F9C-30DA-D4F84CF05A59}"/>
                      </a:ext>
                    </a:extLst>
                  </p:cNvPr>
                  <p:cNvPicPr>
                    <a:picLocks noChangeAspect="1"/>
                  </p:cNvPicPr>
                  <p:nvPr/>
                </p:nvPicPr>
                <p:blipFill>
                  <a:blip r:embed="rId6"/>
                  <a:stretch>
                    <a:fillRect/>
                  </a:stretch>
                </p:blipFill>
                <p:spPr>
                  <a:xfrm>
                    <a:off x="592477" y="5415856"/>
                    <a:ext cx="724786" cy="476115"/>
                  </a:xfrm>
                  <a:prstGeom prst="rect">
                    <a:avLst/>
                  </a:prstGeom>
                </p:spPr>
              </p:pic>
              <p:cxnSp>
                <p:nvCxnSpPr>
                  <p:cNvPr id="16" name="Straight Connector 15">
                    <a:extLst>
                      <a:ext uri="{FF2B5EF4-FFF2-40B4-BE49-F238E27FC236}">
                        <a16:creationId xmlns:a16="http://schemas.microsoft.com/office/drawing/2014/main" id="{68F767B9-03DA-F2F8-0214-B0646FE282E3}"/>
                      </a:ext>
                    </a:extLst>
                  </p:cNvPr>
                  <p:cNvCxnSpPr>
                    <a:cxnSpLocks/>
                  </p:cNvCxnSpPr>
                  <p:nvPr/>
                </p:nvCxnSpPr>
                <p:spPr>
                  <a:xfrm flipH="1">
                    <a:off x="122688" y="3743649"/>
                    <a:ext cx="6860294" cy="42946"/>
                  </a:xfrm>
                  <a:prstGeom prst="line">
                    <a:avLst/>
                  </a:prstGeom>
                </p:spPr>
                <p:style>
                  <a:lnRef idx="2">
                    <a:schemeClr val="accent1"/>
                  </a:lnRef>
                  <a:fillRef idx="0">
                    <a:schemeClr val="accent1"/>
                  </a:fillRef>
                  <a:effectRef idx="1">
                    <a:schemeClr val="accent1"/>
                  </a:effectRef>
                  <a:fontRef idx="minor">
                    <a:schemeClr val="tx1"/>
                  </a:fontRef>
                </p:style>
              </p:cxnSp>
              <p:pic>
                <p:nvPicPr>
                  <p:cNvPr id="17" name="Picture 10" descr="Download Smile, Emoji, Happy. Royalty-Free Vector Graphic - Pixabay">
                    <a:extLst>
                      <a:ext uri="{FF2B5EF4-FFF2-40B4-BE49-F238E27FC236}">
                        <a16:creationId xmlns:a16="http://schemas.microsoft.com/office/drawing/2014/main" id="{976241B0-8165-EB11-2E47-08EFDAB2BBF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824744" y="5448582"/>
                    <a:ext cx="569070" cy="569069"/>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0" descr="Download Smile, Emoji, Happy. Royalty-Free Vector Graphic - Pixabay">
                    <a:extLst>
                      <a:ext uri="{FF2B5EF4-FFF2-40B4-BE49-F238E27FC236}">
                        <a16:creationId xmlns:a16="http://schemas.microsoft.com/office/drawing/2014/main" id="{513A197D-34D7-4B88-A9D0-D90A59829E6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13552" y="3938458"/>
                    <a:ext cx="569070" cy="569069"/>
                  </a:xfrm>
                  <a:prstGeom prst="rect">
                    <a:avLst/>
                  </a:prstGeom>
                  <a:noFill/>
                  <a:extLst>
                    <a:ext uri="{909E8E84-426E-40DD-AFC4-6F175D3DCCD1}">
                      <a14:hiddenFill xmlns:a14="http://schemas.microsoft.com/office/drawing/2010/main">
                        <a:solidFill>
                          <a:srgbClr val="FFFFFF"/>
                        </a:solidFill>
                      </a14:hiddenFill>
                    </a:ext>
                  </a:extLst>
                </p:spPr>
              </p:pic>
              <p:cxnSp>
                <p:nvCxnSpPr>
                  <p:cNvPr id="19" name="Straight Connector 18">
                    <a:extLst>
                      <a:ext uri="{FF2B5EF4-FFF2-40B4-BE49-F238E27FC236}">
                        <a16:creationId xmlns:a16="http://schemas.microsoft.com/office/drawing/2014/main" id="{EBA5E5A3-64AA-6D28-F9B1-6EB683E884BF}"/>
                      </a:ext>
                    </a:extLst>
                  </p:cNvPr>
                  <p:cNvCxnSpPr>
                    <a:cxnSpLocks/>
                  </p:cNvCxnSpPr>
                  <p:nvPr/>
                </p:nvCxnSpPr>
                <p:spPr>
                  <a:xfrm flipV="1">
                    <a:off x="1675989" y="2205467"/>
                    <a:ext cx="0" cy="4640949"/>
                  </a:xfrm>
                  <a:prstGeom prst="line">
                    <a:avLst/>
                  </a:prstGeom>
                </p:spPr>
                <p:style>
                  <a:lnRef idx="2">
                    <a:schemeClr val="accent1"/>
                  </a:lnRef>
                  <a:fillRef idx="0">
                    <a:schemeClr val="accent1"/>
                  </a:fillRef>
                  <a:effectRef idx="1">
                    <a:schemeClr val="accent1"/>
                  </a:effectRef>
                  <a:fontRef idx="minor">
                    <a:schemeClr val="tx1"/>
                  </a:fontRef>
                </p:style>
              </p:cxnSp>
              <p:pic>
                <p:nvPicPr>
                  <p:cNvPr id="20" name="Picture 19">
                    <a:extLst>
                      <a:ext uri="{FF2B5EF4-FFF2-40B4-BE49-F238E27FC236}">
                        <a16:creationId xmlns:a16="http://schemas.microsoft.com/office/drawing/2014/main" id="{C3E0350E-9D45-2A6C-A86D-7F4113FE5440}"/>
                      </a:ext>
                    </a:extLst>
                  </p:cNvPr>
                  <p:cNvPicPr>
                    <a:picLocks noChangeAspect="1"/>
                  </p:cNvPicPr>
                  <p:nvPr/>
                </p:nvPicPr>
                <p:blipFill>
                  <a:blip r:embed="rId8"/>
                  <a:stretch>
                    <a:fillRect/>
                  </a:stretch>
                </p:blipFill>
                <p:spPr>
                  <a:xfrm>
                    <a:off x="2098757" y="4995365"/>
                    <a:ext cx="980721" cy="1457828"/>
                  </a:xfrm>
                  <a:prstGeom prst="rect">
                    <a:avLst/>
                  </a:prstGeom>
                </p:spPr>
              </p:pic>
              <p:pic>
                <p:nvPicPr>
                  <p:cNvPr id="21" name="Picture 20">
                    <a:extLst>
                      <a:ext uri="{FF2B5EF4-FFF2-40B4-BE49-F238E27FC236}">
                        <a16:creationId xmlns:a16="http://schemas.microsoft.com/office/drawing/2014/main" id="{C644B427-AC06-509A-D357-A4DC8B37059E}"/>
                      </a:ext>
                    </a:extLst>
                  </p:cNvPr>
                  <p:cNvPicPr>
                    <a:picLocks noChangeAspect="1"/>
                  </p:cNvPicPr>
                  <p:nvPr/>
                </p:nvPicPr>
                <p:blipFill>
                  <a:blip r:embed="rId8"/>
                  <a:stretch>
                    <a:fillRect/>
                  </a:stretch>
                </p:blipFill>
                <p:spPr>
                  <a:xfrm>
                    <a:off x="3800928" y="5044849"/>
                    <a:ext cx="980721" cy="1457828"/>
                  </a:xfrm>
                  <a:prstGeom prst="rect">
                    <a:avLst/>
                  </a:prstGeom>
                </p:spPr>
              </p:pic>
              <p:pic>
                <p:nvPicPr>
                  <p:cNvPr id="22" name="Picture 21">
                    <a:extLst>
                      <a:ext uri="{FF2B5EF4-FFF2-40B4-BE49-F238E27FC236}">
                        <a16:creationId xmlns:a16="http://schemas.microsoft.com/office/drawing/2014/main" id="{286CE5E6-B336-3EEC-E852-567B279EF7EC}"/>
                      </a:ext>
                    </a:extLst>
                  </p:cNvPr>
                  <p:cNvPicPr>
                    <a:picLocks noChangeAspect="1"/>
                  </p:cNvPicPr>
                  <p:nvPr/>
                </p:nvPicPr>
                <p:blipFill>
                  <a:blip r:embed="rId8"/>
                  <a:stretch>
                    <a:fillRect/>
                  </a:stretch>
                </p:blipFill>
                <p:spPr>
                  <a:xfrm>
                    <a:off x="5572451" y="3503834"/>
                    <a:ext cx="980721" cy="1457828"/>
                  </a:xfrm>
                  <a:prstGeom prst="rect">
                    <a:avLst/>
                  </a:prstGeom>
                </p:spPr>
              </p:pic>
              <p:cxnSp>
                <p:nvCxnSpPr>
                  <p:cNvPr id="23" name="Straight Connector 22">
                    <a:extLst>
                      <a:ext uri="{FF2B5EF4-FFF2-40B4-BE49-F238E27FC236}">
                        <a16:creationId xmlns:a16="http://schemas.microsoft.com/office/drawing/2014/main" id="{A4237FF7-D5F2-5C4F-63D5-394A576FCE37}"/>
                      </a:ext>
                    </a:extLst>
                  </p:cNvPr>
                  <p:cNvCxnSpPr>
                    <a:cxnSpLocks/>
                  </p:cNvCxnSpPr>
                  <p:nvPr/>
                </p:nvCxnSpPr>
                <p:spPr>
                  <a:xfrm flipH="1">
                    <a:off x="122688" y="5240930"/>
                    <a:ext cx="6860294" cy="3249"/>
                  </a:xfrm>
                  <a:prstGeom prst="line">
                    <a:avLst/>
                  </a:prstGeom>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652C1640-ECC9-A858-2732-819369A00F90}"/>
                          </a:ext>
                        </a:extLst>
                      </p:cNvPr>
                      <p:cNvSpPr txBox="1"/>
                      <p:nvPr/>
                    </p:nvSpPr>
                    <p:spPr>
                      <a:xfrm>
                        <a:off x="2269140" y="4512871"/>
                        <a:ext cx="618340" cy="68958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smtClean="0">
                                  <a:solidFill>
                                    <a:schemeClr val="accent5"/>
                                  </a:solidFill>
                                  <a:latin typeface="Cambria Math" panose="02040503050406030204" pitchFamily="18" charset="0"/>
                                </a:rPr>
                                <m:t>1</m:t>
                              </m:r>
                            </m:oMath>
                          </m:oMathPara>
                        </a14:m>
                        <a:endParaRPr lang="en-US" sz="2400" dirty="0">
                          <a:solidFill>
                            <a:schemeClr val="accent5"/>
                          </a:solidFill>
                        </a:endParaRPr>
                      </a:p>
                    </p:txBody>
                  </p:sp>
                </mc:Choice>
                <mc:Fallback xmlns="">
                  <p:sp>
                    <p:nvSpPr>
                      <p:cNvPr id="34" name="TextBox 33">
                        <a:extLst>
                          <a:ext uri="{FF2B5EF4-FFF2-40B4-BE49-F238E27FC236}">
                            <a16:creationId xmlns:a16="http://schemas.microsoft.com/office/drawing/2014/main" id="{692C0D94-B048-DC87-BB6C-B725E4CE8BC8}"/>
                          </a:ext>
                        </a:extLst>
                      </p:cNvPr>
                      <p:cNvSpPr txBox="1">
                        <a:spLocks noRot="1" noChangeAspect="1" noMove="1" noResize="1" noEditPoints="1" noAdjustHandles="1" noChangeArrowheads="1" noChangeShapeType="1" noTextEdit="1"/>
                      </p:cNvSpPr>
                      <p:nvPr/>
                    </p:nvSpPr>
                    <p:spPr>
                      <a:xfrm>
                        <a:off x="2269140" y="4512871"/>
                        <a:ext cx="618340" cy="689585"/>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791AF82D-589A-14C7-49B6-3F79D6597E59}"/>
                          </a:ext>
                        </a:extLst>
                      </p:cNvPr>
                      <p:cNvSpPr txBox="1"/>
                      <p:nvPr/>
                    </p:nvSpPr>
                    <p:spPr>
                      <a:xfrm>
                        <a:off x="3866483" y="4521639"/>
                        <a:ext cx="561772" cy="6264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smtClean="0">
                                  <a:solidFill>
                                    <a:schemeClr val="accent5"/>
                                  </a:solidFill>
                                  <a:latin typeface="Cambria Math" panose="02040503050406030204" pitchFamily="18" charset="0"/>
                                </a:rPr>
                                <m:t>0</m:t>
                              </m:r>
                            </m:oMath>
                          </m:oMathPara>
                        </a14:m>
                        <a:endParaRPr lang="en-US" sz="2400" dirty="0">
                          <a:solidFill>
                            <a:schemeClr val="accent5"/>
                          </a:solidFill>
                        </a:endParaRPr>
                      </a:p>
                    </p:txBody>
                  </p:sp>
                </mc:Choice>
                <mc:Fallback xmlns="">
                  <p:sp>
                    <p:nvSpPr>
                      <p:cNvPr id="35" name="TextBox 34">
                        <a:extLst>
                          <a:ext uri="{FF2B5EF4-FFF2-40B4-BE49-F238E27FC236}">
                            <a16:creationId xmlns:a16="http://schemas.microsoft.com/office/drawing/2014/main" id="{0DCE732B-813A-4091-4457-B5FDCC8B7FA6}"/>
                          </a:ext>
                        </a:extLst>
                      </p:cNvPr>
                      <p:cNvSpPr txBox="1">
                        <a:spLocks noRot="1" noChangeAspect="1" noMove="1" noResize="1" noEditPoints="1" noAdjustHandles="1" noChangeArrowheads="1" noChangeShapeType="1" noTextEdit="1"/>
                      </p:cNvSpPr>
                      <p:nvPr/>
                    </p:nvSpPr>
                    <p:spPr>
                      <a:xfrm>
                        <a:off x="3866483" y="4521639"/>
                        <a:ext cx="561772" cy="626499"/>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0368DFB9-1273-A8FB-5E6A-C9F7CADC4C53}"/>
                          </a:ext>
                        </a:extLst>
                      </p:cNvPr>
                      <p:cNvSpPr txBox="1"/>
                      <p:nvPr/>
                    </p:nvSpPr>
                    <p:spPr>
                      <a:xfrm>
                        <a:off x="5331148" y="4491659"/>
                        <a:ext cx="1514685" cy="6264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smtClean="0">
                                  <a:solidFill>
                                    <a:schemeClr val="accent5"/>
                                  </a:solidFill>
                                  <a:latin typeface="Cambria Math" panose="02040503050406030204" pitchFamily="18" charset="0"/>
                                </a:rPr>
                                <m:t>0</m:t>
                              </m:r>
                            </m:oMath>
                          </m:oMathPara>
                        </a14:m>
                        <a:endParaRPr lang="en-US" sz="2400" dirty="0">
                          <a:solidFill>
                            <a:schemeClr val="accent5"/>
                          </a:solidFill>
                        </a:endParaRPr>
                      </a:p>
                    </p:txBody>
                  </p:sp>
                </mc:Choice>
                <mc:Fallback xmlns="">
                  <p:sp>
                    <p:nvSpPr>
                      <p:cNvPr id="36" name="TextBox 35">
                        <a:extLst>
                          <a:ext uri="{FF2B5EF4-FFF2-40B4-BE49-F238E27FC236}">
                            <a16:creationId xmlns:a16="http://schemas.microsoft.com/office/drawing/2014/main" id="{8728787F-A767-8DFC-60FB-34C3040258D5}"/>
                          </a:ext>
                        </a:extLst>
                      </p:cNvPr>
                      <p:cNvSpPr txBox="1">
                        <a:spLocks noRot="1" noChangeAspect="1" noMove="1" noResize="1" noEditPoints="1" noAdjustHandles="1" noChangeArrowheads="1" noChangeShapeType="1" noTextEdit="1"/>
                      </p:cNvSpPr>
                      <p:nvPr/>
                    </p:nvSpPr>
                    <p:spPr>
                      <a:xfrm>
                        <a:off x="5331148" y="4491659"/>
                        <a:ext cx="1514685" cy="626499"/>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C22B79E0-9FD4-A731-52AE-3514676E9B8D}"/>
                          </a:ext>
                        </a:extLst>
                      </p:cNvPr>
                      <p:cNvSpPr txBox="1"/>
                      <p:nvPr/>
                    </p:nvSpPr>
                    <p:spPr>
                      <a:xfrm>
                        <a:off x="1981859" y="6082622"/>
                        <a:ext cx="1020877" cy="68958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smtClean="0">
                                  <a:solidFill>
                                    <a:schemeClr val="accent5"/>
                                  </a:solidFill>
                                  <a:latin typeface="Cambria Math" panose="02040503050406030204" pitchFamily="18" charset="0"/>
                                </a:rPr>
                                <m:t>0</m:t>
                              </m:r>
                            </m:oMath>
                          </m:oMathPara>
                        </a14:m>
                        <a:endParaRPr lang="en-US" sz="2400" dirty="0">
                          <a:solidFill>
                            <a:schemeClr val="accent5"/>
                          </a:solidFill>
                        </a:endParaRPr>
                      </a:p>
                    </p:txBody>
                  </p:sp>
                </mc:Choice>
                <mc:Fallback xmlns="">
                  <p:sp>
                    <p:nvSpPr>
                      <p:cNvPr id="40" name="TextBox 39">
                        <a:extLst>
                          <a:ext uri="{FF2B5EF4-FFF2-40B4-BE49-F238E27FC236}">
                            <a16:creationId xmlns:a16="http://schemas.microsoft.com/office/drawing/2014/main" id="{3AE4E3BC-6C1E-CC66-B453-5A62C5854BB9}"/>
                          </a:ext>
                        </a:extLst>
                      </p:cNvPr>
                      <p:cNvSpPr txBox="1">
                        <a:spLocks noRot="1" noChangeAspect="1" noMove="1" noResize="1" noEditPoints="1" noAdjustHandles="1" noChangeArrowheads="1" noChangeShapeType="1" noTextEdit="1"/>
                      </p:cNvSpPr>
                      <p:nvPr/>
                    </p:nvSpPr>
                    <p:spPr>
                      <a:xfrm>
                        <a:off x="1981859" y="6082622"/>
                        <a:ext cx="1020877" cy="689585"/>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C6CC35B1-D8AB-FADF-855A-003F02E4D2BB}"/>
                          </a:ext>
                        </a:extLst>
                      </p:cNvPr>
                      <p:cNvSpPr txBox="1"/>
                      <p:nvPr/>
                    </p:nvSpPr>
                    <p:spPr>
                      <a:xfrm>
                        <a:off x="3681383" y="6082622"/>
                        <a:ext cx="1379168" cy="68958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smtClean="0">
                                  <a:solidFill>
                                    <a:schemeClr val="accent5"/>
                                  </a:solidFill>
                                  <a:latin typeface="Cambria Math" panose="02040503050406030204" pitchFamily="18" charset="0"/>
                                </a:rPr>
                                <m:t>0</m:t>
                              </m:r>
                            </m:oMath>
                          </m:oMathPara>
                        </a14:m>
                        <a:endParaRPr lang="en-US" sz="2400" dirty="0">
                          <a:solidFill>
                            <a:schemeClr val="accent5"/>
                          </a:solidFill>
                        </a:endParaRPr>
                      </a:p>
                    </p:txBody>
                  </p:sp>
                </mc:Choice>
                <mc:Fallback xmlns="">
                  <p:sp>
                    <p:nvSpPr>
                      <p:cNvPr id="41" name="TextBox 40">
                        <a:extLst>
                          <a:ext uri="{FF2B5EF4-FFF2-40B4-BE49-F238E27FC236}">
                            <a16:creationId xmlns:a16="http://schemas.microsoft.com/office/drawing/2014/main" id="{FAE15EBF-3A7F-45AD-2AE0-A272F5BB29BC}"/>
                          </a:ext>
                        </a:extLst>
                      </p:cNvPr>
                      <p:cNvSpPr txBox="1">
                        <a:spLocks noRot="1" noChangeAspect="1" noMove="1" noResize="1" noEditPoints="1" noAdjustHandles="1" noChangeArrowheads="1" noChangeShapeType="1" noTextEdit="1"/>
                      </p:cNvSpPr>
                      <p:nvPr/>
                    </p:nvSpPr>
                    <p:spPr>
                      <a:xfrm>
                        <a:off x="3681383" y="6082622"/>
                        <a:ext cx="1379168" cy="689585"/>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563C7704-53B6-F1ED-8169-D836E0756BD3}"/>
                          </a:ext>
                        </a:extLst>
                      </p:cNvPr>
                      <p:cNvSpPr txBox="1"/>
                      <p:nvPr/>
                    </p:nvSpPr>
                    <p:spPr>
                      <a:xfrm>
                        <a:off x="5610123" y="6103529"/>
                        <a:ext cx="1009844" cy="6264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smtClean="0">
                                  <a:solidFill>
                                    <a:schemeClr val="accent5"/>
                                  </a:solidFill>
                                  <a:latin typeface="Cambria Math" panose="02040503050406030204" pitchFamily="18" charset="0"/>
                                </a:rPr>
                                <m:t>1</m:t>
                              </m:r>
                            </m:oMath>
                          </m:oMathPara>
                        </a14:m>
                        <a:endParaRPr lang="en-US" sz="2400" dirty="0">
                          <a:solidFill>
                            <a:schemeClr val="accent5"/>
                          </a:solidFill>
                        </a:endParaRPr>
                      </a:p>
                    </p:txBody>
                  </p:sp>
                </mc:Choice>
                <mc:Fallback xmlns="">
                  <p:sp>
                    <p:nvSpPr>
                      <p:cNvPr id="42" name="TextBox 41">
                        <a:extLst>
                          <a:ext uri="{FF2B5EF4-FFF2-40B4-BE49-F238E27FC236}">
                            <a16:creationId xmlns:a16="http://schemas.microsoft.com/office/drawing/2014/main" id="{E265DFAA-0704-0360-62BE-A097E5B9ED50}"/>
                          </a:ext>
                        </a:extLst>
                      </p:cNvPr>
                      <p:cNvSpPr txBox="1">
                        <a:spLocks noRot="1" noChangeAspect="1" noMove="1" noResize="1" noEditPoints="1" noAdjustHandles="1" noChangeArrowheads="1" noChangeShapeType="1" noTextEdit="1"/>
                      </p:cNvSpPr>
                      <p:nvPr/>
                    </p:nvSpPr>
                    <p:spPr>
                      <a:xfrm>
                        <a:off x="5610123" y="6103529"/>
                        <a:ext cx="1009844" cy="626499"/>
                      </a:xfrm>
                      <a:prstGeom prst="rect">
                        <a:avLst/>
                      </a:prstGeom>
                      <a:blipFill>
                        <a:blip r:embed="rId14"/>
                        <a:stretch>
                          <a:fillRect/>
                        </a:stretch>
                      </a:blipFill>
                    </p:spPr>
                    <p:txBody>
                      <a:bodyPr/>
                      <a:lstStyle/>
                      <a:p>
                        <a:r>
                          <a:rPr lang="en-US">
                            <a:noFill/>
                          </a:rPr>
                          <a:t> </a:t>
                        </a:r>
                      </a:p>
                    </p:txBody>
                  </p:sp>
                </mc:Fallback>
              </mc:AlternateContent>
              <p:cxnSp>
                <p:nvCxnSpPr>
                  <p:cNvPr id="30" name="Straight Connector 29">
                    <a:extLst>
                      <a:ext uri="{FF2B5EF4-FFF2-40B4-BE49-F238E27FC236}">
                        <a16:creationId xmlns:a16="http://schemas.microsoft.com/office/drawing/2014/main" id="{4BF6426C-05FE-1E74-DA0B-69BDAA8ECC7D}"/>
                      </a:ext>
                    </a:extLst>
                  </p:cNvPr>
                  <p:cNvCxnSpPr>
                    <a:cxnSpLocks/>
                  </p:cNvCxnSpPr>
                  <p:nvPr/>
                </p:nvCxnSpPr>
                <p:spPr>
                  <a:xfrm flipV="1">
                    <a:off x="3336099" y="2205467"/>
                    <a:ext cx="0" cy="4712523"/>
                  </a:xfrm>
                  <a:prstGeom prst="line">
                    <a:avLst/>
                  </a:prstGeom>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CE7BD1EB-3704-9CEE-2E25-A7B9EC054796}"/>
                      </a:ext>
                    </a:extLst>
                  </p:cNvPr>
                  <p:cNvCxnSpPr>
                    <a:cxnSpLocks/>
                  </p:cNvCxnSpPr>
                  <p:nvPr/>
                </p:nvCxnSpPr>
                <p:spPr>
                  <a:xfrm flipV="1">
                    <a:off x="5117275" y="2205467"/>
                    <a:ext cx="0" cy="4648995"/>
                  </a:xfrm>
                  <a:prstGeom prst="line">
                    <a:avLst/>
                  </a:prstGeom>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1F7C0DC6-B56C-ECA8-65A0-BDB9878E4A45}"/>
                      </a:ext>
                    </a:extLst>
                  </p:cNvPr>
                  <p:cNvCxnSpPr>
                    <a:cxnSpLocks/>
                  </p:cNvCxnSpPr>
                  <p:nvPr/>
                </p:nvCxnSpPr>
                <p:spPr>
                  <a:xfrm flipV="1">
                    <a:off x="6984175" y="2205467"/>
                    <a:ext cx="0" cy="4640949"/>
                  </a:xfrm>
                  <a:prstGeom prst="line">
                    <a:avLst/>
                  </a:prstGeom>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0FC01207-4E32-3454-D6DA-B9DEE5160163}"/>
                          </a:ext>
                        </a:extLst>
                      </p:cNvPr>
                      <p:cNvSpPr txBox="1"/>
                      <p:nvPr/>
                    </p:nvSpPr>
                    <p:spPr>
                      <a:xfrm>
                        <a:off x="1582387" y="1084795"/>
                        <a:ext cx="1753711" cy="1127699"/>
                      </a:xfrm>
                      <a:prstGeom prst="rect">
                        <a:avLst/>
                      </a:prstGeom>
                      <a:noFill/>
                    </p:spPr>
                    <p:txBody>
                      <a:bodyPr wrap="square" rtlCol="0">
                        <a:spAutoFit/>
                      </a:bodyPr>
                      <a:lstStyle/>
                      <a:p>
                        <a:pPr algn="ctr"/>
                        <a14:m>
                          <m:oMath xmlns:m="http://schemas.openxmlformats.org/officeDocument/2006/math">
                            <m:r>
                              <a:rPr lang="en-US" sz="2400" b="0" i="1" dirty="0" smtClean="0">
                                <a:solidFill>
                                  <a:schemeClr val="accent5"/>
                                </a:solidFill>
                                <a:latin typeface="Cambria Math" panose="02040503050406030204" pitchFamily="18" charset="0"/>
                              </a:rPr>
                              <m:t>4000</m:t>
                            </m:r>
                          </m:oMath>
                        </a14:m>
                        <a:r>
                          <a:rPr lang="en-US" sz="2400" dirty="0">
                            <a:solidFill>
                              <a:schemeClr val="accent5"/>
                            </a:solidFill>
                          </a:rPr>
                          <a:t> of these</a:t>
                        </a:r>
                      </a:p>
                    </p:txBody>
                  </p:sp>
                </mc:Choice>
                <mc:Fallback xmlns="">
                  <p:sp>
                    <p:nvSpPr>
                      <p:cNvPr id="51" name="TextBox 50">
                        <a:extLst>
                          <a:ext uri="{FF2B5EF4-FFF2-40B4-BE49-F238E27FC236}">
                            <a16:creationId xmlns:a16="http://schemas.microsoft.com/office/drawing/2014/main" id="{B3570C67-4C00-CC7A-FBC5-35AEC304470F}"/>
                          </a:ext>
                        </a:extLst>
                      </p:cNvPr>
                      <p:cNvSpPr txBox="1">
                        <a:spLocks noRot="1" noChangeAspect="1" noMove="1" noResize="1" noEditPoints="1" noAdjustHandles="1" noChangeArrowheads="1" noChangeShapeType="1" noTextEdit="1"/>
                      </p:cNvSpPr>
                      <p:nvPr/>
                    </p:nvSpPr>
                    <p:spPr>
                      <a:xfrm>
                        <a:off x="1582387" y="1084795"/>
                        <a:ext cx="1753711" cy="1127699"/>
                      </a:xfrm>
                      <a:prstGeom prst="rect">
                        <a:avLst/>
                      </a:prstGeom>
                      <a:blipFill>
                        <a:blip r:embed="rId15"/>
                        <a:stretch>
                          <a:fillRect t="-6061" r="-7767" b="-1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35C06D03-DD60-8CBC-F7F8-BC98763737E8}"/>
                          </a:ext>
                        </a:extLst>
                      </p:cNvPr>
                      <p:cNvSpPr txBox="1"/>
                      <p:nvPr/>
                    </p:nvSpPr>
                    <p:spPr>
                      <a:xfrm>
                        <a:off x="3408371" y="1127666"/>
                        <a:ext cx="1680541" cy="1127699"/>
                      </a:xfrm>
                      <a:prstGeom prst="rect">
                        <a:avLst/>
                      </a:prstGeom>
                      <a:noFill/>
                    </p:spPr>
                    <p:txBody>
                      <a:bodyPr wrap="square" rtlCol="0">
                        <a:spAutoFit/>
                      </a:bodyPr>
                      <a:lstStyle/>
                      <a:p>
                        <a:pPr algn="ctr"/>
                        <a14:m>
                          <m:oMath xmlns:m="http://schemas.openxmlformats.org/officeDocument/2006/math">
                            <m:r>
                              <a:rPr lang="en-US" sz="2400" b="0" i="1" dirty="0" smtClean="0">
                                <a:solidFill>
                                  <a:schemeClr val="accent5"/>
                                </a:solidFill>
                                <a:latin typeface="Cambria Math" panose="02040503050406030204" pitchFamily="18" charset="0"/>
                              </a:rPr>
                              <m:t>1000</m:t>
                            </m:r>
                          </m:oMath>
                        </a14:m>
                        <a:r>
                          <a:rPr lang="en-US" sz="2400" dirty="0">
                            <a:solidFill>
                              <a:schemeClr val="accent5"/>
                            </a:solidFill>
                          </a:rPr>
                          <a:t> of these</a:t>
                        </a:r>
                      </a:p>
                    </p:txBody>
                  </p:sp>
                </mc:Choice>
                <mc:Fallback xmlns="">
                  <p:sp>
                    <p:nvSpPr>
                      <p:cNvPr id="52" name="TextBox 51">
                        <a:extLst>
                          <a:ext uri="{FF2B5EF4-FFF2-40B4-BE49-F238E27FC236}">
                            <a16:creationId xmlns:a16="http://schemas.microsoft.com/office/drawing/2014/main" id="{DF31641C-8342-0D1F-77D0-9BCCAEC4CF6B}"/>
                          </a:ext>
                        </a:extLst>
                      </p:cNvPr>
                      <p:cNvSpPr txBox="1">
                        <a:spLocks noRot="1" noChangeAspect="1" noMove="1" noResize="1" noEditPoints="1" noAdjustHandles="1" noChangeArrowheads="1" noChangeShapeType="1" noTextEdit="1"/>
                      </p:cNvSpPr>
                      <p:nvPr/>
                    </p:nvSpPr>
                    <p:spPr>
                      <a:xfrm>
                        <a:off x="3408371" y="1127666"/>
                        <a:ext cx="1680541" cy="1127699"/>
                      </a:xfrm>
                      <a:prstGeom prst="rect">
                        <a:avLst/>
                      </a:prstGeom>
                      <a:blipFill>
                        <a:blip r:embed="rId16"/>
                        <a:stretch>
                          <a:fillRect t="-5970" r="-9000" b="-1641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88A45A7-5B74-3E89-F455-7F7CF4506727}"/>
                          </a:ext>
                        </a:extLst>
                      </p:cNvPr>
                      <p:cNvSpPr txBox="1"/>
                      <p:nvPr/>
                    </p:nvSpPr>
                    <p:spPr>
                      <a:xfrm>
                        <a:off x="467726" y="2765282"/>
                        <a:ext cx="1020878" cy="59764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𝑖</m:t>
                              </m:r>
                            </m:oMath>
                          </m:oMathPara>
                        </a14:m>
                        <a:endParaRPr lang="en-US" sz="2000" dirty="0"/>
                      </a:p>
                    </p:txBody>
                  </p:sp>
                </mc:Choice>
                <mc:Fallback xmlns="">
                  <p:sp>
                    <p:nvSpPr>
                      <p:cNvPr id="53" name="TextBox 52">
                        <a:extLst>
                          <a:ext uri="{FF2B5EF4-FFF2-40B4-BE49-F238E27FC236}">
                            <a16:creationId xmlns:a16="http://schemas.microsoft.com/office/drawing/2014/main" id="{5B162A4C-5415-8722-E058-BCCDA85B9868}"/>
                          </a:ext>
                        </a:extLst>
                      </p:cNvPr>
                      <p:cNvSpPr txBox="1">
                        <a:spLocks noRot="1" noChangeAspect="1" noMove="1" noResize="1" noEditPoints="1" noAdjustHandles="1" noChangeArrowheads="1" noChangeShapeType="1" noTextEdit="1"/>
                      </p:cNvSpPr>
                      <p:nvPr/>
                    </p:nvSpPr>
                    <p:spPr>
                      <a:xfrm>
                        <a:off x="467726" y="2765282"/>
                        <a:ext cx="1020878" cy="597641"/>
                      </a:xfrm>
                      <a:prstGeom prst="rect">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5A9A19E3-E3E2-F681-2CE0-4272C3373E5E}"/>
                          </a:ext>
                        </a:extLst>
                      </p:cNvPr>
                      <p:cNvSpPr txBox="1"/>
                      <p:nvPr/>
                    </p:nvSpPr>
                    <p:spPr>
                      <a:xfrm>
                        <a:off x="5217682" y="1079365"/>
                        <a:ext cx="1807498" cy="1127699"/>
                      </a:xfrm>
                      <a:prstGeom prst="rect">
                        <a:avLst/>
                      </a:prstGeom>
                      <a:noFill/>
                    </p:spPr>
                    <p:txBody>
                      <a:bodyPr wrap="square" rtlCol="0">
                        <a:spAutoFit/>
                      </a:bodyPr>
                      <a:lstStyle/>
                      <a:p>
                        <a:pPr algn="ctr"/>
                        <a14:m>
                          <m:oMath xmlns:m="http://schemas.openxmlformats.org/officeDocument/2006/math">
                            <m:r>
                              <a:rPr lang="en-US" sz="2400" b="0" i="1" dirty="0" smtClean="0">
                                <a:solidFill>
                                  <a:schemeClr val="accent5"/>
                                </a:solidFill>
                                <a:latin typeface="Cambria Math" panose="02040503050406030204" pitchFamily="18" charset="0"/>
                              </a:rPr>
                              <m:t>1000</m:t>
                            </m:r>
                          </m:oMath>
                        </a14:m>
                        <a:r>
                          <a:rPr lang="en-US" sz="2400" dirty="0">
                            <a:solidFill>
                              <a:schemeClr val="accent5"/>
                            </a:solidFill>
                          </a:rPr>
                          <a:t> of these</a:t>
                        </a:r>
                      </a:p>
                    </p:txBody>
                  </p:sp>
                </mc:Choice>
                <mc:Fallback xmlns="">
                  <p:sp>
                    <p:nvSpPr>
                      <p:cNvPr id="54" name="TextBox 53">
                        <a:extLst>
                          <a:ext uri="{FF2B5EF4-FFF2-40B4-BE49-F238E27FC236}">
                            <a16:creationId xmlns:a16="http://schemas.microsoft.com/office/drawing/2014/main" id="{272BBDBE-A180-6DCE-0B05-FD09DE0F2741}"/>
                          </a:ext>
                        </a:extLst>
                      </p:cNvPr>
                      <p:cNvSpPr txBox="1">
                        <a:spLocks noRot="1" noChangeAspect="1" noMove="1" noResize="1" noEditPoints="1" noAdjustHandles="1" noChangeArrowheads="1" noChangeShapeType="1" noTextEdit="1"/>
                      </p:cNvSpPr>
                      <p:nvPr/>
                    </p:nvSpPr>
                    <p:spPr>
                      <a:xfrm>
                        <a:off x="5217682" y="1079365"/>
                        <a:ext cx="1807498" cy="1127699"/>
                      </a:xfrm>
                      <a:prstGeom prst="rect">
                        <a:avLst/>
                      </a:prstGeom>
                      <a:blipFill>
                        <a:blip r:embed="rId18"/>
                        <a:stretch>
                          <a:fillRect t="-4478" r="-5607" b="-16418"/>
                        </a:stretch>
                      </a:blipFill>
                    </p:spPr>
                    <p:txBody>
                      <a:bodyPr/>
                      <a:lstStyle/>
                      <a:p>
                        <a:r>
                          <a:rPr lang="en-US">
                            <a:noFill/>
                          </a:rPr>
                          <a:t> </a:t>
                        </a:r>
                      </a:p>
                    </p:txBody>
                  </p:sp>
                </mc:Fallback>
              </mc:AlternateContent>
            </p:grpSp>
          </p:gr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BA83E4A1-3532-B1E0-FE49-E87C53D5BF1D}"/>
                      </a:ext>
                    </a:extLst>
                  </p:cNvPr>
                  <p:cNvSpPr txBox="1"/>
                  <p:nvPr/>
                </p:nvSpPr>
                <p:spPr>
                  <a:xfrm>
                    <a:off x="5156466" y="5453170"/>
                    <a:ext cx="598526" cy="34775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𝑌</m:t>
                              </m:r>
                            </m:e>
                            <m:sub>
                              <m:r>
                                <a:rPr lang="en-US" sz="2000" b="0" i="1" smtClean="0">
                                  <a:latin typeface="Cambria Math" panose="02040503050406030204" pitchFamily="18" charset="0"/>
                                </a:rPr>
                                <m:t>𝑖</m:t>
                              </m:r>
                            </m:sub>
                          </m:sSub>
                          <m:r>
                            <a:rPr lang="en-US" sz="2000" b="0" i="1" smtClean="0">
                              <a:latin typeface="Cambria Math" panose="02040503050406030204" pitchFamily="18" charset="0"/>
                            </a:rPr>
                            <m:t>(1)</m:t>
                          </m:r>
                        </m:oMath>
                      </m:oMathPara>
                    </a14:m>
                    <a:endParaRPr lang="en-US" sz="2000" dirty="0"/>
                  </a:p>
                </p:txBody>
              </p:sp>
            </mc:Choice>
            <mc:Fallback xmlns="">
              <p:sp>
                <p:nvSpPr>
                  <p:cNvPr id="7" name="TextBox 6">
                    <a:extLst>
                      <a:ext uri="{FF2B5EF4-FFF2-40B4-BE49-F238E27FC236}">
                        <a16:creationId xmlns:a16="http://schemas.microsoft.com/office/drawing/2014/main" id="{6931D1E8-6438-E584-6B92-239270845FAF}"/>
                      </a:ext>
                    </a:extLst>
                  </p:cNvPr>
                  <p:cNvSpPr txBox="1">
                    <a:spLocks noRot="1" noChangeAspect="1" noMove="1" noResize="1" noEditPoints="1" noAdjustHandles="1" noChangeArrowheads="1" noChangeShapeType="1" noTextEdit="1"/>
                  </p:cNvSpPr>
                  <p:nvPr/>
                </p:nvSpPr>
                <p:spPr>
                  <a:xfrm>
                    <a:off x="5156466" y="5453170"/>
                    <a:ext cx="598526" cy="347756"/>
                  </a:xfrm>
                  <a:prstGeom prst="rect">
                    <a:avLst/>
                  </a:prstGeom>
                  <a:blipFill>
                    <a:blip r:embed="rId19"/>
                    <a:stretch>
                      <a:fillRect r="-1667" b="-27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874B4B3A-6193-FB0F-21A6-B1A60400B78D}"/>
                      </a:ext>
                    </a:extLst>
                  </p:cNvPr>
                  <p:cNvSpPr txBox="1"/>
                  <p:nvPr/>
                </p:nvSpPr>
                <p:spPr>
                  <a:xfrm>
                    <a:off x="5170527" y="6318043"/>
                    <a:ext cx="598526" cy="34775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𝑌</m:t>
                              </m:r>
                            </m:e>
                            <m:sub>
                              <m:r>
                                <a:rPr lang="en-US" sz="2000" b="0" i="1" smtClean="0">
                                  <a:latin typeface="Cambria Math" panose="02040503050406030204" pitchFamily="18" charset="0"/>
                                </a:rPr>
                                <m:t>𝑖</m:t>
                              </m:r>
                            </m:sub>
                          </m:sSub>
                          <m:r>
                            <a:rPr lang="en-US" sz="2000" b="0" i="1" smtClean="0">
                              <a:latin typeface="Cambria Math" panose="02040503050406030204" pitchFamily="18" charset="0"/>
                            </a:rPr>
                            <m:t>(0)</m:t>
                          </m:r>
                        </m:oMath>
                      </m:oMathPara>
                    </a14:m>
                    <a:endParaRPr lang="en-US" sz="2000" dirty="0"/>
                  </a:p>
                </p:txBody>
              </p:sp>
            </mc:Choice>
            <mc:Fallback xmlns="">
              <p:sp>
                <p:nvSpPr>
                  <p:cNvPr id="8" name="TextBox 7">
                    <a:extLst>
                      <a:ext uri="{FF2B5EF4-FFF2-40B4-BE49-F238E27FC236}">
                        <a16:creationId xmlns:a16="http://schemas.microsoft.com/office/drawing/2014/main" id="{B3261718-1EFB-59F6-B295-7C3FF334EC70}"/>
                      </a:ext>
                    </a:extLst>
                  </p:cNvPr>
                  <p:cNvSpPr txBox="1">
                    <a:spLocks noRot="1" noChangeAspect="1" noMove="1" noResize="1" noEditPoints="1" noAdjustHandles="1" noChangeArrowheads="1" noChangeShapeType="1" noTextEdit="1"/>
                  </p:cNvSpPr>
                  <p:nvPr/>
                </p:nvSpPr>
                <p:spPr>
                  <a:xfrm>
                    <a:off x="5170527" y="6318043"/>
                    <a:ext cx="598526" cy="347756"/>
                  </a:xfrm>
                  <a:prstGeom prst="rect">
                    <a:avLst/>
                  </a:prstGeom>
                  <a:blipFill>
                    <a:blip r:embed="rId20"/>
                    <a:stretch>
                      <a:fillRect r="-1639" b="-2857"/>
                    </a:stretch>
                  </a:blipFill>
                </p:spPr>
                <p:txBody>
                  <a:bodyPr/>
                  <a:lstStyle/>
                  <a:p>
                    <a:r>
                      <a:rPr lang="en-US">
                        <a:noFill/>
                      </a:rPr>
                      <a:t> </a:t>
                    </a:r>
                  </a:p>
                </p:txBody>
              </p:sp>
            </mc:Fallback>
          </mc:AlternateContent>
        </p:grpSp>
        <p:pic>
          <p:nvPicPr>
            <p:cNvPr id="37" name="Picture 36">
              <a:extLst>
                <a:ext uri="{FF2B5EF4-FFF2-40B4-BE49-F238E27FC236}">
                  <a16:creationId xmlns:a16="http://schemas.microsoft.com/office/drawing/2014/main" id="{E9D55A52-CCC6-6342-DAA9-432E011A841C}"/>
                </a:ext>
              </a:extLst>
            </p:cNvPr>
            <p:cNvPicPr>
              <a:picLocks noChangeAspect="1"/>
            </p:cNvPicPr>
            <p:nvPr/>
          </p:nvPicPr>
          <p:blipFill>
            <a:blip r:embed="rId21"/>
            <a:stretch>
              <a:fillRect/>
            </a:stretch>
          </p:blipFill>
          <p:spPr>
            <a:xfrm>
              <a:off x="9924110" y="3830791"/>
              <a:ext cx="481163" cy="670904"/>
            </a:xfrm>
            <a:prstGeom prst="rect">
              <a:avLst/>
            </a:prstGeom>
          </p:spPr>
        </p:pic>
        <p:pic>
          <p:nvPicPr>
            <p:cNvPr id="38" name="Picture 37">
              <a:extLst>
                <a:ext uri="{FF2B5EF4-FFF2-40B4-BE49-F238E27FC236}">
                  <a16:creationId xmlns:a16="http://schemas.microsoft.com/office/drawing/2014/main" id="{3753CFE5-0999-136A-ED59-398CB873E065}"/>
                </a:ext>
              </a:extLst>
            </p:cNvPr>
            <p:cNvPicPr>
              <a:picLocks noChangeAspect="1"/>
            </p:cNvPicPr>
            <p:nvPr/>
          </p:nvPicPr>
          <p:blipFill>
            <a:blip r:embed="rId22"/>
            <a:stretch>
              <a:fillRect/>
            </a:stretch>
          </p:blipFill>
          <p:spPr>
            <a:xfrm>
              <a:off x="11268526" y="3872676"/>
              <a:ext cx="517862" cy="650331"/>
            </a:xfrm>
            <a:prstGeom prst="rect">
              <a:avLst/>
            </a:prstGeom>
          </p:spPr>
        </p:pic>
        <p:pic>
          <p:nvPicPr>
            <p:cNvPr id="39" name="Picture 38">
              <a:extLst>
                <a:ext uri="{FF2B5EF4-FFF2-40B4-BE49-F238E27FC236}">
                  <a16:creationId xmlns:a16="http://schemas.microsoft.com/office/drawing/2014/main" id="{B3B3549D-3570-EB13-CE78-C593D0D0106F}"/>
                </a:ext>
              </a:extLst>
            </p:cNvPr>
            <p:cNvPicPr>
              <a:picLocks noChangeAspect="1"/>
            </p:cNvPicPr>
            <p:nvPr/>
          </p:nvPicPr>
          <p:blipFill>
            <a:blip r:embed="rId8"/>
            <a:stretch>
              <a:fillRect/>
            </a:stretch>
          </p:blipFill>
          <p:spPr>
            <a:xfrm>
              <a:off x="9732419" y="4386277"/>
              <a:ext cx="728159" cy="1074268"/>
            </a:xfrm>
            <a:prstGeom prst="rect">
              <a:avLst/>
            </a:prstGeom>
          </p:spPr>
        </p:pic>
      </p:grpSp>
      <p:grpSp>
        <p:nvGrpSpPr>
          <p:cNvPr id="40" name="Group 39">
            <a:extLst>
              <a:ext uri="{FF2B5EF4-FFF2-40B4-BE49-F238E27FC236}">
                <a16:creationId xmlns:a16="http://schemas.microsoft.com/office/drawing/2014/main" id="{BC168990-1E95-451A-F6E5-D8D2D702BB4C}"/>
              </a:ext>
            </a:extLst>
          </p:cNvPr>
          <p:cNvGrpSpPr/>
          <p:nvPr/>
        </p:nvGrpSpPr>
        <p:grpSpPr>
          <a:xfrm>
            <a:off x="6306632" y="44553"/>
            <a:ext cx="5700226" cy="1512522"/>
            <a:chOff x="4780636" y="4633208"/>
            <a:chExt cx="5700226" cy="1512522"/>
          </a:xfrm>
        </p:grpSpPr>
        <p:pic>
          <p:nvPicPr>
            <p:cNvPr id="41" name="Picture 40">
              <a:extLst>
                <a:ext uri="{FF2B5EF4-FFF2-40B4-BE49-F238E27FC236}">
                  <a16:creationId xmlns:a16="http://schemas.microsoft.com/office/drawing/2014/main" id="{BED40CCD-8F6F-CB52-5929-EC2E881E027C}"/>
                </a:ext>
              </a:extLst>
            </p:cNvPr>
            <p:cNvPicPr>
              <a:picLocks noChangeAspect="1"/>
            </p:cNvPicPr>
            <p:nvPr/>
          </p:nvPicPr>
          <p:blipFill>
            <a:blip r:embed="rId23"/>
            <a:stretch>
              <a:fillRect/>
            </a:stretch>
          </p:blipFill>
          <p:spPr>
            <a:xfrm>
              <a:off x="9827804" y="4633208"/>
              <a:ext cx="653058" cy="1512522"/>
            </a:xfrm>
            <a:prstGeom prst="rect">
              <a:avLst/>
            </a:prstGeom>
          </p:spPr>
        </p:pic>
        <p:sp>
          <p:nvSpPr>
            <p:cNvPr id="42" name="TextBox 41">
              <a:extLst>
                <a:ext uri="{FF2B5EF4-FFF2-40B4-BE49-F238E27FC236}">
                  <a16:creationId xmlns:a16="http://schemas.microsoft.com/office/drawing/2014/main" id="{999D828F-E224-4575-4043-DFD993C6EE01}"/>
                </a:ext>
              </a:extLst>
            </p:cNvPr>
            <p:cNvSpPr txBox="1"/>
            <p:nvPr/>
          </p:nvSpPr>
          <p:spPr>
            <a:xfrm>
              <a:off x="4780636" y="4634589"/>
              <a:ext cx="5088250" cy="461665"/>
            </a:xfrm>
            <a:prstGeom prst="rect">
              <a:avLst/>
            </a:prstGeom>
            <a:noFill/>
          </p:spPr>
          <p:txBody>
            <a:bodyPr wrap="square" rtlCol="0">
              <a:spAutoFit/>
            </a:bodyPr>
            <a:lstStyle/>
            <a:p>
              <a:pPr algn="r"/>
              <a:r>
                <a:rPr lang="en-US" sz="2400" dirty="0">
                  <a:solidFill>
                    <a:srgbClr val="0070C0"/>
                  </a:solidFill>
                </a:rPr>
                <a:t>Be wary of small sample sizes!</a:t>
              </a:r>
            </a:p>
          </p:txBody>
        </p:sp>
      </p:grpSp>
    </p:spTree>
    <p:extLst>
      <p:ext uri="{BB962C8B-B14F-4D97-AF65-F5344CB8AC3E}">
        <p14:creationId xmlns:p14="http://schemas.microsoft.com/office/powerpoint/2010/main" val="35351903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30CE87-B590-8802-A94B-88917C7B107E}"/>
              </a:ext>
            </a:extLst>
          </p:cNvPr>
          <p:cNvSpPr>
            <a:spLocks noGrp="1"/>
          </p:cNvSpPr>
          <p:nvPr>
            <p:ph type="title"/>
          </p:nvPr>
        </p:nvSpPr>
        <p:spPr>
          <a:xfrm>
            <a:off x="838200" y="94168"/>
            <a:ext cx="10515600" cy="1325563"/>
          </a:xfrm>
        </p:spPr>
        <p:txBody>
          <a:bodyPr>
            <a:normAutofit/>
          </a:bodyPr>
          <a:lstStyle/>
          <a:p>
            <a:r>
              <a:rPr lang="en-US" sz="3200" dirty="0"/>
              <a:t>What happens when the control/treatment groups grow?</a:t>
            </a:r>
          </a:p>
        </p:txBody>
      </p:sp>
      <p:sp>
        <p:nvSpPr>
          <p:cNvPr id="3" name="Content Placeholder 2">
            <a:extLst>
              <a:ext uri="{FF2B5EF4-FFF2-40B4-BE49-F238E27FC236}">
                <a16:creationId xmlns:a16="http://schemas.microsoft.com/office/drawing/2014/main" id="{4956789E-02A6-EBD1-26E7-5541AF60FB3E}"/>
              </a:ext>
            </a:extLst>
          </p:cNvPr>
          <p:cNvSpPr>
            <a:spLocks noGrp="1"/>
          </p:cNvSpPr>
          <p:nvPr>
            <p:ph idx="1"/>
          </p:nvPr>
        </p:nvSpPr>
        <p:spPr>
          <a:xfrm>
            <a:off x="838200" y="2141537"/>
            <a:ext cx="2956259" cy="4351338"/>
          </a:xfrm>
        </p:spPr>
        <p:txBody>
          <a:bodyPr>
            <a:normAutofit fontScale="92500" lnSpcReduction="10000"/>
          </a:bodyPr>
          <a:lstStyle/>
          <a:p>
            <a:r>
              <a:rPr lang="en-US" dirty="0"/>
              <a:t>6000 people, choose 3 for each group.</a:t>
            </a:r>
          </a:p>
          <a:p>
            <a:endParaRPr lang="en-US" dirty="0"/>
          </a:p>
          <a:p>
            <a:r>
              <a:rPr lang="en-US" dirty="0"/>
              <a:t>6000 people, choose 30 for each group.</a:t>
            </a:r>
          </a:p>
          <a:p>
            <a:endParaRPr lang="en-US" dirty="0"/>
          </a:p>
          <a:p>
            <a:r>
              <a:rPr lang="en-US" dirty="0"/>
              <a:t>6000 people, choose 300 for each group.</a:t>
            </a:r>
          </a:p>
        </p:txBody>
      </p:sp>
      <p:sp>
        <p:nvSpPr>
          <p:cNvPr id="8" name="TextBox 7">
            <a:extLst>
              <a:ext uri="{FF2B5EF4-FFF2-40B4-BE49-F238E27FC236}">
                <a16:creationId xmlns:a16="http://schemas.microsoft.com/office/drawing/2014/main" id="{4748723A-34A2-A664-2678-2C260FDA961E}"/>
              </a:ext>
            </a:extLst>
          </p:cNvPr>
          <p:cNvSpPr txBox="1"/>
          <p:nvPr/>
        </p:nvSpPr>
        <p:spPr>
          <a:xfrm>
            <a:off x="375976" y="6601414"/>
            <a:ext cx="3837910" cy="261610"/>
          </a:xfrm>
          <a:prstGeom prst="rect">
            <a:avLst/>
          </a:prstGeom>
          <a:noFill/>
        </p:spPr>
        <p:txBody>
          <a:bodyPr wrap="none" rtlCol="0">
            <a:spAutoFit/>
          </a:bodyPr>
          <a:lstStyle/>
          <a:p>
            <a:r>
              <a:rPr lang="en-US" sz="1100" dirty="0"/>
              <a:t>We did each experiment 10,000 times to generate this data.</a:t>
            </a:r>
          </a:p>
        </p:txBody>
      </p:sp>
      <mc:AlternateContent xmlns:mc="http://schemas.openxmlformats.org/markup-compatibility/2006" xmlns:a14="http://schemas.microsoft.com/office/drawing/2010/main">
        <mc:Choice Requires="a14">
          <p:sp>
            <p:nvSpPr>
              <p:cNvPr id="13" name="Content Placeholder 2">
                <a:extLst>
                  <a:ext uri="{FF2B5EF4-FFF2-40B4-BE49-F238E27FC236}">
                    <a16:creationId xmlns:a16="http://schemas.microsoft.com/office/drawing/2014/main" id="{B4576DC1-1CF6-090D-80B3-8EC832E3AD74}"/>
                  </a:ext>
                </a:extLst>
              </p:cNvPr>
              <p:cNvSpPr txBox="1">
                <a:spLocks/>
              </p:cNvSpPr>
              <p:nvPr/>
            </p:nvSpPr>
            <p:spPr>
              <a:xfrm>
                <a:off x="4213886" y="1419733"/>
                <a:ext cx="1906115" cy="6112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dirty="0"/>
                  <a:t>Mean of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𝜏</m:t>
                        </m:r>
                      </m:e>
                    </m:acc>
                  </m:oMath>
                </a14:m>
                <a:endParaRPr lang="en-US" dirty="0"/>
              </a:p>
            </p:txBody>
          </p:sp>
        </mc:Choice>
        <mc:Fallback xmlns="">
          <p:sp>
            <p:nvSpPr>
              <p:cNvPr id="13" name="Content Placeholder 2">
                <a:extLst>
                  <a:ext uri="{FF2B5EF4-FFF2-40B4-BE49-F238E27FC236}">
                    <a16:creationId xmlns:a16="http://schemas.microsoft.com/office/drawing/2014/main" id="{B4576DC1-1CF6-090D-80B3-8EC832E3AD74}"/>
                  </a:ext>
                </a:extLst>
              </p:cNvPr>
              <p:cNvSpPr txBox="1">
                <a:spLocks noRot="1" noChangeAspect="1" noMove="1" noResize="1" noEditPoints="1" noAdjustHandles="1" noChangeArrowheads="1" noChangeShapeType="1" noTextEdit="1"/>
              </p:cNvSpPr>
              <p:nvPr/>
            </p:nvSpPr>
            <p:spPr>
              <a:xfrm>
                <a:off x="4213886" y="1419733"/>
                <a:ext cx="1906115" cy="611275"/>
              </a:xfrm>
              <a:prstGeom prst="rect">
                <a:avLst/>
              </a:prstGeom>
              <a:blipFill>
                <a:blip r:embed="rId3"/>
                <a:stretch>
                  <a:fillRect l="-1987" t="-16327" b="-612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Content Placeholder 2">
                <a:extLst>
                  <a:ext uri="{FF2B5EF4-FFF2-40B4-BE49-F238E27FC236}">
                    <a16:creationId xmlns:a16="http://schemas.microsoft.com/office/drawing/2014/main" id="{13428DA8-C80C-7B92-5BFC-DBFDAD4DA859}"/>
                  </a:ext>
                </a:extLst>
              </p:cNvPr>
              <p:cNvSpPr txBox="1">
                <a:spLocks/>
              </p:cNvSpPr>
              <p:nvPr/>
            </p:nvSpPr>
            <p:spPr>
              <a:xfrm>
                <a:off x="6406381" y="1419730"/>
                <a:ext cx="2603085" cy="6112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dirty="0"/>
                  <a:t>Std. Dev. of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𝜏</m:t>
                        </m:r>
                      </m:e>
                    </m:acc>
                  </m:oMath>
                </a14:m>
                <a:endParaRPr lang="en-US" dirty="0"/>
              </a:p>
            </p:txBody>
          </p:sp>
        </mc:Choice>
        <mc:Fallback xmlns="">
          <p:sp>
            <p:nvSpPr>
              <p:cNvPr id="14" name="Content Placeholder 2">
                <a:extLst>
                  <a:ext uri="{FF2B5EF4-FFF2-40B4-BE49-F238E27FC236}">
                    <a16:creationId xmlns:a16="http://schemas.microsoft.com/office/drawing/2014/main" id="{13428DA8-C80C-7B92-5BFC-DBFDAD4DA859}"/>
                  </a:ext>
                </a:extLst>
              </p:cNvPr>
              <p:cNvSpPr txBox="1">
                <a:spLocks noRot="1" noChangeAspect="1" noMove="1" noResize="1" noEditPoints="1" noAdjustHandles="1" noChangeArrowheads="1" noChangeShapeType="1" noTextEdit="1"/>
              </p:cNvSpPr>
              <p:nvPr/>
            </p:nvSpPr>
            <p:spPr>
              <a:xfrm>
                <a:off x="6406381" y="1419730"/>
                <a:ext cx="2603085" cy="611275"/>
              </a:xfrm>
              <a:prstGeom prst="rect">
                <a:avLst/>
              </a:prstGeom>
              <a:blipFill>
                <a:blip r:embed="rId4"/>
                <a:stretch>
                  <a:fillRect t="-16327" b="-612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Content Placeholder 2">
                <a:extLst>
                  <a:ext uri="{FF2B5EF4-FFF2-40B4-BE49-F238E27FC236}">
                    <a16:creationId xmlns:a16="http://schemas.microsoft.com/office/drawing/2014/main" id="{A9A134F3-F06A-086E-6C06-035AD90A3502}"/>
                  </a:ext>
                </a:extLst>
              </p:cNvPr>
              <p:cNvSpPr txBox="1">
                <a:spLocks/>
              </p:cNvSpPr>
              <p:nvPr/>
            </p:nvSpPr>
            <p:spPr>
              <a:xfrm>
                <a:off x="9295845" y="1419731"/>
                <a:ext cx="2603085" cy="611275"/>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dirty="0"/>
                  <a:t>Distribution of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𝜏</m:t>
                        </m:r>
                      </m:e>
                    </m:acc>
                  </m:oMath>
                </a14:m>
                <a:endParaRPr lang="en-US" dirty="0"/>
              </a:p>
            </p:txBody>
          </p:sp>
        </mc:Choice>
        <mc:Fallback xmlns="">
          <p:sp>
            <p:nvSpPr>
              <p:cNvPr id="15" name="Content Placeholder 2">
                <a:extLst>
                  <a:ext uri="{FF2B5EF4-FFF2-40B4-BE49-F238E27FC236}">
                    <a16:creationId xmlns:a16="http://schemas.microsoft.com/office/drawing/2014/main" id="{A9A134F3-F06A-086E-6C06-035AD90A3502}"/>
                  </a:ext>
                </a:extLst>
              </p:cNvPr>
              <p:cNvSpPr txBox="1">
                <a:spLocks noRot="1" noChangeAspect="1" noMove="1" noResize="1" noEditPoints="1" noAdjustHandles="1" noChangeArrowheads="1" noChangeShapeType="1" noTextEdit="1"/>
              </p:cNvSpPr>
              <p:nvPr/>
            </p:nvSpPr>
            <p:spPr>
              <a:xfrm>
                <a:off x="9295845" y="1419731"/>
                <a:ext cx="2603085" cy="611275"/>
              </a:xfrm>
              <a:prstGeom prst="rect">
                <a:avLst/>
              </a:prstGeom>
              <a:blipFill>
                <a:blip r:embed="rId5"/>
                <a:stretch>
                  <a:fillRect l="-1463" t="-14286"/>
                </a:stretch>
              </a:blipFill>
            </p:spPr>
            <p:txBody>
              <a:bodyPr/>
              <a:lstStyle/>
              <a:p>
                <a:r>
                  <a:rPr lang="en-US">
                    <a:noFill/>
                  </a:rPr>
                  <a:t> </a:t>
                </a:r>
              </a:p>
            </p:txBody>
          </p:sp>
        </mc:Fallback>
      </mc:AlternateContent>
      <p:sp>
        <p:nvSpPr>
          <p:cNvPr id="4" name="Rounded Rectangle 3">
            <a:extLst>
              <a:ext uri="{FF2B5EF4-FFF2-40B4-BE49-F238E27FC236}">
                <a16:creationId xmlns:a16="http://schemas.microsoft.com/office/drawing/2014/main" id="{7A6871F8-2CED-6B37-9084-3D7166B3E97A}"/>
              </a:ext>
            </a:extLst>
          </p:cNvPr>
          <p:cNvSpPr/>
          <p:nvPr/>
        </p:nvSpPr>
        <p:spPr>
          <a:xfrm>
            <a:off x="4433780" y="2552012"/>
            <a:ext cx="6920020" cy="352839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t>Discuss:  </a:t>
            </a:r>
          </a:p>
          <a:p>
            <a:pPr algn="ctr"/>
            <a:endParaRPr lang="en-US" sz="2800" b="1" dirty="0"/>
          </a:p>
          <a:p>
            <a:pPr algn="ctr"/>
            <a:r>
              <a:rPr lang="en-US" sz="2800" dirty="0"/>
              <a:t>Qualitatively, how do you think these things will change as the number of people in the control/treatment group increases?</a:t>
            </a:r>
          </a:p>
          <a:p>
            <a:pPr algn="ctr"/>
            <a:r>
              <a:rPr lang="en-US" sz="2000" dirty="0"/>
              <a:t>(While the larger population stays the same, 6000 people)</a:t>
            </a:r>
          </a:p>
        </p:txBody>
      </p:sp>
    </p:spTree>
    <p:extLst>
      <p:ext uri="{BB962C8B-B14F-4D97-AF65-F5344CB8AC3E}">
        <p14:creationId xmlns:p14="http://schemas.microsoft.com/office/powerpoint/2010/main" val="1262706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956789E-02A6-EBD1-26E7-5541AF60FB3E}"/>
              </a:ext>
            </a:extLst>
          </p:cNvPr>
          <p:cNvSpPr>
            <a:spLocks noGrp="1"/>
          </p:cNvSpPr>
          <p:nvPr>
            <p:ph idx="1"/>
          </p:nvPr>
        </p:nvSpPr>
        <p:spPr>
          <a:xfrm>
            <a:off x="838200" y="2141537"/>
            <a:ext cx="2956259" cy="4351338"/>
          </a:xfrm>
        </p:spPr>
        <p:txBody>
          <a:bodyPr>
            <a:normAutofit fontScale="92500" lnSpcReduction="10000"/>
          </a:bodyPr>
          <a:lstStyle/>
          <a:p>
            <a:r>
              <a:rPr lang="en-US" dirty="0"/>
              <a:t>6000 people, choose 3 for each group.</a:t>
            </a:r>
          </a:p>
          <a:p>
            <a:endParaRPr lang="en-US" dirty="0"/>
          </a:p>
          <a:p>
            <a:r>
              <a:rPr lang="en-US" dirty="0"/>
              <a:t>6000 people, choose 30 for each group.</a:t>
            </a:r>
          </a:p>
          <a:p>
            <a:endParaRPr lang="en-US" dirty="0"/>
          </a:p>
          <a:p>
            <a:r>
              <a:rPr lang="en-US" dirty="0"/>
              <a:t>6000 people, choose 300 for each group.</a:t>
            </a:r>
          </a:p>
        </p:txBody>
      </p:sp>
      <p:sp>
        <p:nvSpPr>
          <p:cNvPr id="8" name="TextBox 7">
            <a:extLst>
              <a:ext uri="{FF2B5EF4-FFF2-40B4-BE49-F238E27FC236}">
                <a16:creationId xmlns:a16="http://schemas.microsoft.com/office/drawing/2014/main" id="{4748723A-34A2-A664-2678-2C260FDA961E}"/>
              </a:ext>
            </a:extLst>
          </p:cNvPr>
          <p:cNvSpPr txBox="1"/>
          <p:nvPr/>
        </p:nvSpPr>
        <p:spPr>
          <a:xfrm>
            <a:off x="375976" y="6601414"/>
            <a:ext cx="3837910" cy="261610"/>
          </a:xfrm>
          <a:prstGeom prst="rect">
            <a:avLst/>
          </a:prstGeom>
          <a:noFill/>
        </p:spPr>
        <p:txBody>
          <a:bodyPr wrap="none" rtlCol="0">
            <a:spAutoFit/>
          </a:bodyPr>
          <a:lstStyle/>
          <a:p>
            <a:r>
              <a:rPr lang="en-US" sz="1100" dirty="0"/>
              <a:t>We did each experiment 10,000 times to generate this data.</a:t>
            </a:r>
          </a:p>
        </p:txBody>
      </p:sp>
      <p:grpSp>
        <p:nvGrpSpPr>
          <p:cNvPr id="30" name="Group 29">
            <a:extLst>
              <a:ext uri="{FF2B5EF4-FFF2-40B4-BE49-F238E27FC236}">
                <a16:creationId xmlns:a16="http://schemas.microsoft.com/office/drawing/2014/main" id="{61433433-4F55-2EFD-06B4-C2613C82B726}"/>
              </a:ext>
            </a:extLst>
          </p:cNvPr>
          <p:cNvGrpSpPr/>
          <p:nvPr/>
        </p:nvGrpSpPr>
        <p:grpSpPr>
          <a:xfrm>
            <a:off x="4189883" y="2452280"/>
            <a:ext cx="1906117" cy="3597262"/>
            <a:chOff x="4189883" y="2452280"/>
            <a:chExt cx="1906117" cy="3597262"/>
          </a:xfrm>
        </p:grpSpPr>
        <p:sp>
          <p:nvSpPr>
            <p:cNvPr id="18" name="Content Placeholder 2">
              <a:extLst>
                <a:ext uri="{FF2B5EF4-FFF2-40B4-BE49-F238E27FC236}">
                  <a16:creationId xmlns:a16="http://schemas.microsoft.com/office/drawing/2014/main" id="{278B09BC-9530-BE94-447A-2C1D8F45E9B5}"/>
                </a:ext>
              </a:extLst>
            </p:cNvPr>
            <p:cNvSpPr txBox="1">
              <a:spLocks/>
            </p:cNvSpPr>
            <p:nvPr/>
          </p:nvSpPr>
          <p:spPr>
            <a:xfrm>
              <a:off x="4189885" y="2452280"/>
              <a:ext cx="1906115" cy="6112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dirty="0">
                  <a:solidFill>
                    <a:schemeClr val="accent5"/>
                  </a:solidFill>
                </a:rPr>
                <a:t>1/2</a:t>
              </a:r>
            </a:p>
          </p:txBody>
        </p:sp>
        <p:sp>
          <p:nvSpPr>
            <p:cNvPr id="19" name="Content Placeholder 2">
              <a:extLst>
                <a:ext uri="{FF2B5EF4-FFF2-40B4-BE49-F238E27FC236}">
                  <a16:creationId xmlns:a16="http://schemas.microsoft.com/office/drawing/2014/main" id="{090E9FD5-158B-7F52-73B5-7521DC944347}"/>
                </a:ext>
              </a:extLst>
            </p:cNvPr>
            <p:cNvSpPr txBox="1">
              <a:spLocks/>
            </p:cNvSpPr>
            <p:nvPr/>
          </p:nvSpPr>
          <p:spPr>
            <a:xfrm>
              <a:off x="4189884" y="4011568"/>
              <a:ext cx="1906115" cy="6112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dirty="0">
                  <a:solidFill>
                    <a:schemeClr val="accent5"/>
                  </a:solidFill>
                </a:rPr>
                <a:t>1/2</a:t>
              </a:r>
            </a:p>
          </p:txBody>
        </p:sp>
        <p:sp>
          <p:nvSpPr>
            <p:cNvPr id="20" name="Content Placeholder 2">
              <a:extLst>
                <a:ext uri="{FF2B5EF4-FFF2-40B4-BE49-F238E27FC236}">
                  <a16:creationId xmlns:a16="http://schemas.microsoft.com/office/drawing/2014/main" id="{ADC06AB1-8A3C-2199-315E-BDC4DAAB2924}"/>
                </a:ext>
              </a:extLst>
            </p:cNvPr>
            <p:cNvSpPr txBox="1">
              <a:spLocks/>
            </p:cNvSpPr>
            <p:nvPr/>
          </p:nvSpPr>
          <p:spPr>
            <a:xfrm>
              <a:off x="4189883" y="5438267"/>
              <a:ext cx="1906115" cy="6112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dirty="0">
                  <a:solidFill>
                    <a:schemeClr val="accent5"/>
                  </a:solidFill>
                </a:rPr>
                <a:t>1/2</a:t>
              </a:r>
            </a:p>
          </p:txBody>
        </p:sp>
      </p:grpSp>
      <p:grpSp>
        <p:nvGrpSpPr>
          <p:cNvPr id="31" name="Group 30">
            <a:extLst>
              <a:ext uri="{FF2B5EF4-FFF2-40B4-BE49-F238E27FC236}">
                <a16:creationId xmlns:a16="http://schemas.microsoft.com/office/drawing/2014/main" id="{EBF7899F-1B97-5E4F-A4AA-066854580B18}"/>
              </a:ext>
            </a:extLst>
          </p:cNvPr>
          <p:cNvGrpSpPr/>
          <p:nvPr/>
        </p:nvGrpSpPr>
        <p:grpSpPr>
          <a:xfrm>
            <a:off x="6612008" y="2031006"/>
            <a:ext cx="4291567" cy="1201945"/>
            <a:chOff x="6612008" y="2031006"/>
            <a:chExt cx="4291567" cy="1201945"/>
          </a:xfrm>
        </p:grpSpPr>
        <p:sp>
          <p:nvSpPr>
            <p:cNvPr id="17" name="Content Placeholder 2">
              <a:extLst>
                <a:ext uri="{FF2B5EF4-FFF2-40B4-BE49-F238E27FC236}">
                  <a16:creationId xmlns:a16="http://schemas.microsoft.com/office/drawing/2014/main" id="{EE79F173-9D41-B28B-7E21-80B0D0504661}"/>
                </a:ext>
              </a:extLst>
            </p:cNvPr>
            <p:cNvSpPr txBox="1">
              <a:spLocks/>
            </p:cNvSpPr>
            <p:nvPr/>
          </p:nvSpPr>
          <p:spPr>
            <a:xfrm>
              <a:off x="6612008" y="2452280"/>
              <a:ext cx="1906115" cy="6112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dirty="0">
                  <a:solidFill>
                    <a:schemeClr val="accent5"/>
                  </a:solidFill>
                </a:rPr>
                <a:t>0.345</a:t>
              </a:r>
            </a:p>
          </p:txBody>
        </p:sp>
        <p:pic>
          <p:nvPicPr>
            <p:cNvPr id="24" name="Picture 23">
              <a:extLst>
                <a:ext uri="{FF2B5EF4-FFF2-40B4-BE49-F238E27FC236}">
                  <a16:creationId xmlns:a16="http://schemas.microsoft.com/office/drawing/2014/main" id="{8154C6E4-6C08-77FD-8F0A-8D0B3D2F5126}"/>
                </a:ext>
              </a:extLst>
            </p:cNvPr>
            <p:cNvPicPr>
              <a:picLocks noChangeAspect="1"/>
            </p:cNvPicPr>
            <p:nvPr/>
          </p:nvPicPr>
          <p:blipFill>
            <a:blip r:embed="rId3"/>
            <a:stretch>
              <a:fillRect/>
            </a:stretch>
          </p:blipFill>
          <p:spPr>
            <a:xfrm>
              <a:off x="9295846" y="2031006"/>
              <a:ext cx="1607729" cy="1201945"/>
            </a:xfrm>
            <a:prstGeom prst="rect">
              <a:avLst/>
            </a:prstGeom>
          </p:spPr>
        </p:pic>
      </p:grpSp>
      <p:grpSp>
        <p:nvGrpSpPr>
          <p:cNvPr id="32" name="Group 31">
            <a:extLst>
              <a:ext uri="{FF2B5EF4-FFF2-40B4-BE49-F238E27FC236}">
                <a16:creationId xmlns:a16="http://schemas.microsoft.com/office/drawing/2014/main" id="{A31C7D84-FE59-B11A-19DE-71C3B96C4728}"/>
              </a:ext>
            </a:extLst>
          </p:cNvPr>
          <p:cNvGrpSpPr/>
          <p:nvPr/>
        </p:nvGrpSpPr>
        <p:grpSpPr>
          <a:xfrm>
            <a:off x="6612007" y="3232951"/>
            <a:ext cx="4440760" cy="1474428"/>
            <a:chOff x="6612007" y="3232951"/>
            <a:chExt cx="4440760" cy="1474428"/>
          </a:xfrm>
        </p:grpSpPr>
        <p:sp>
          <p:nvSpPr>
            <p:cNvPr id="22" name="Content Placeholder 2">
              <a:extLst>
                <a:ext uri="{FF2B5EF4-FFF2-40B4-BE49-F238E27FC236}">
                  <a16:creationId xmlns:a16="http://schemas.microsoft.com/office/drawing/2014/main" id="{5421498B-2C88-A18A-54C3-044400D76A3D}"/>
                </a:ext>
              </a:extLst>
            </p:cNvPr>
            <p:cNvSpPr txBox="1">
              <a:spLocks/>
            </p:cNvSpPr>
            <p:nvPr/>
          </p:nvSpPr>
          <p:spPr>
            <a:xfrm>
              <a:off x="6612007" y="4096104"/>
              <a:ext cx="1906115" cy="6112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dirty="0">
                  <a:solidFill>
                    <a:schemeClr val="accent5"/>
                  </a:solidFill>
                </a:rPr>
                <a:t>0.11</a:t>
              </a:r>
            </a:p>
          </p:txBody>
        </p:sp>
        <p:pic>
          <p:nvPicPr>
            <p:cNvPr id="26" name="Picture 25">
              <a:extLst>
                <a:ext uri="{FF2B5EF4-FFF2-40B4-BE49-F238E27FC236}">
                  <a16:creationId xmlns:a16="http://schemas.microsoft.com/office/drawing/2014/main" id="{2BBC5706-6301-CE91-023E-FAB854DD80DC}"/>
                </a:ext>
              </a:extLst>
            </p:cNvPr>
            <p:cNvPicPr>
              <a:picLocks noChangeAspect="1"/>
            </p:cNvPicPr>
            <p:nvPr/>
          </p:nvPicPr>
          <p:blipFill>
            <a:blip r:embed="rId4"/>
            <a:stretch>
              <a:fillRect/>
            </a:stretch>
          </p:blipFill>
          <p:spPr>
            <a:xfrm>
              <a:off x="9146652" y="3232951"/>
              <a:ext cx="1906115" cy="1425019"/>
            </a:xfrm>
            <a:prstGeom prst="rect">
              <a:avLst/>
            </a:prstGeom>
          </p:spPr>
        </p:pic>
      </p:grpSp>
      <p:grpSp>
        <p:nvGrpSpPr>
          <p:cNvPr id="33" name="Group 32">
            <a:extLst>
              <a:ext uri="{FF2B5EF4-FFF2-40B4-BE49-F238E27FC236}">
                <a16:creationId xmlns:a16="http://schemas.microsoft.com/office/drawing/2014/main" id="{BC7E3A80-AA3E-991E-F6D1-2F6CE2B79941}"/>
              </a:ext>
            </a:extLst>
          </p:cNvPr>
          <p:cNvGrpSpPr/>
          <p:nvPr/>
        </p:nvGrpSpPr>
        <p:grpSpPr>
          <a:xfrm>
            <a:off x="6612007" y="4657970"/>
            <a:ext cx="4545524" cy="1587462"/>
            <a:chOff x="6612007" y="4657970"/>
            <a:chExt cx="4545524" cy="1587462"/>
          </a:xfrm>
        </p:grpSpPr>
        <p:sp>
          <p:nvSpPr>
            <p:cNvPr id="28" name="Content Placeholder 2">
              <a:extLst>
                <a:ext uri="{FF2B5EF4-FFF2-40B4-BE49-F238E27FC236}">
                  <a16:creationId xmlns:a16="http://schemas.microsoft.com/office/drawing/2014/main" id="{4DC0D836-C94D-BB20-FC76-E0383E14C3D2}"/>
                </a:ext>
              </a:extLst>
            </p:cNvPr>
            <p:cNvSpPr txBox="1">
              <a:spLocks/>
            </p:cNvSpPr>
            <p:nvPr/>
          </p:nvSpPr>
          <p:spPr>
            <a:xfrm>
              <a:off x="6612007" y="5438267"/>
              <a:ext cx="1906115" cy="6112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dirty="0">
                  <a:solidFill>
                    <a:schemeClr val="accent5"/>
                  </a:solidFill>
                </a:rPr>
                <a:t>0.03</a:t>
              </a:r>
            </a:p>
          </p:txBody>
        </p:sp>
        <p:pic>
          <p:nvPicPr>
            <p:cNvPr id="29" name="Picture 28">
              <a:extLst>
                <a:ext uri="{FF2B5EF4-FFF2-40B4-BE49-F238E27FC236}">
                  <a16:creationId xmlns:a16="http://schemas.microsoft.com/office/drawing/2014/main" id="{FBAAB474-4D8A-F229-269D-63708FFF9B7C}"/>
                </a:ext>
              </a:extLst>
            </p:cNvPr>
            <p:cNvPicPr>
              <a:picLocks noChangeAspect="1"/>
            </p:cNvPicPr>
            <p:nvPr/>
          </p:nvPicPr>
          <p:blipFill>
            <a:blip r:embed="rId5"/>
            <a:stretch>
              <a:fillRect/>
            </a:stretch>
          </p:blipFill>
          <p:spPr>
            <a:xfrm>
              <a:off x="9034130" y="4657970"/>
              <a:ext cx="2123401" cy="1587462"/>
            </a:xfrm>
            <a:prstGeom prst="rect">
              <a:avLst/>
            </a:prstGeom>
          </p:spPr>
        </p:pic>
      </p:grpSp>
      <p:sp>
        <p:nvSpPr>
          <p:cNvPr id="6" name="Title 1">
            <a:extLst>
              <a:ext uri="{FF2B5EF4-FFF2-40B4-BE49-F238E27FC236}">
                <a16:creationId xmlns:a16="http://schemas.microsoft.com/office/drawing/2014/main" id="{517B67DF-2E4E-C08B-18FA-88BF835FE44B}"/>
              </a:ext>
            </a:extLst>
          </p:cNvPr>
          <p:cNvSpPr txBox="1">
            <a:spLocks/>
          </p:cNvSpPr>
          <p:nvPr/>
        </p:nvSpPr>
        <p:spPr>
          <a:xfrm>
            <a:off x="838200" y="94168"/>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rgbClr val="8C1515"/>
                </a:solidFill>
                <a:latin typeface="Arial" panose="020B0604020202020204" pitchFamily="34" charset="0"/>
                <a:ea typeface="+mj-ea"/>
                <a:cs typeface="Arial" panose="020B0604020202020204" pitchFamily="34" charset="0"/>
              </a:defRPr>
            </a:lvl1pPr>
          </a:lstStyle>
          <a:p>
            <a:r>
              <a:rPr lang="en-US" sz="3200"/>
              <a:t>What happens when the control/treatment groups grow?</a:t>
            </a:r>
            <a:endParaRPr lang="en-US" sz="3200" dirty="0"/>
          </a:p>
        </p:txBody>
      </p:sp>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05FAFC59-4D63-267D-4D14-9A8160A26013}"/>
                  </a:ext>
                </a:extLst>
              </p:cNvPr>
              <p:cNvSpPr txBox="1">
                <a:spLocks/>
              </p:cNvSpPr>
              <p:nvPr/>
            </p:nvSpPr>
            <p:spPr>
              <a:xfrm>
                <a:off x="4213886" y="1419733"/>
                <a:ext cx="1906115" cy="6112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dirty="0"/>
                  <a:t>Mean of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𝜏</m:t>
                        </m:r>
                      </m:e>
                    </m:acc>
                  </m:oMath>
                </a14:m>
                <a:endParaRPr lang="en-US" dirty="0"/>
              </a:p>
            </p:txBody>
          </p:sp>
        </mc:Choice>
        <mc:Fallback xmlns="">
          <p:sp>
            <p:nvSpPr>
              <p:cNvPr id="7" name="Content Placeholder 2">
                <a:extLst>
                  <a:ext uri="{FF2B5EF4-FFF2-40B4-BE49-F238E27FC236}">
                    <a16:creationId xmlns:a16="http://schemas.microsoft.com/office/drawing/2014/main" id="{05FAFC59-4D63-267D-4D14-9A8160A26013}"/>
                  </a:ext>
                </a:extLst>
              </p:cNvPr>
              <p:cNvSpPr txBox="1">
                <a:spLocks noRot="1" noChangeAspect="1" noMove="1" noResize="1" noEditPoints="1" noAdjustHandles="1" noChangeArrowheads="1" noChangeShapeType="1" noTextEdit="1"/>
              </p:cNvSpPr>
              <p:nvPr/>
            </p:nvSpPr>
            <p:spPr>
              <a:xfrm>
                <a:off x="4213886" y="1419733"/>
                <a:ext cx="1906115" cy="611275"/>
              </a:xfrm>
              <a:prstGeom prst="rect">
                <a:avLst/>
              </a:prstGeom>
              <a:blipFill>
                <a:blip r:embed="rId6"/>
                <a:stretch>
                  <a:fillRect l="-1987" t="-16327" b="-612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Content Placeholder 2">
                <a:extLst>
                  <a:ext uri="{FF2B5EF4-FFF2-40B4-BE49-F238E27FC236}">
                    <a16:creationId xmlns:a16="http://schemas.microsoft.com/office/drawing/2014/main" id="{CE9F46E0-BE23-E596-77AE-E22DD90E545B}"/>
                  </a:ext>
                </a:extLst>
              </p:cNvPr>
              <p:cNvSpPr txBox="1">
                <a:spLocks/>
              </p:cNvSpPr>
              <p:nvPr/>
            </p:nvSpPr>
            <p:spPr>
              <a:xfrm>
                <a:off x="6406381" y="1419730"/>
                <a:ext cx="2603085" cy="6112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dirty="0"/>
                  <a:t>Std. Dev. of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𝜏</m:t>
                        </m:r>
                      </m:e>
                    </m:acc>
                  </m:oMath>
                </a14:m>
                <a:endParaRPr lang="en-US" dirty="0"/>
              </a:p>
            </p:txBody>
          </p:sp>
        </mc:Choice>
        <mc:Fallback xmlns="">
          <p:sp>
            <p:nvSpPr>
              <p:cNvPr id="9" name="Content Placeholder 2">
                <a:extLst>
                  <a:ext uri="{FF2B5EF4-FFF2-40B4-BE49-F238E27FC236}">
                    <a16:creationId xmlns:a16="http://schemas.microsoft.com/office/drawing/2014/main" id="{CE9F46E0-BE23-E596-77AE-E22DD90E545B}"/>
                  </a:ext>
                </a:extLst>
              </p:cNvPr>
              <p:cNvSpPr txBox="1">
                <a:spLocks noRot="1" noChangeAspect="1" noMove="1" noResize="1" noEditPoints="1" noAdjustHandles="1" noChangeArrowheads="1" noChangeShapeType="1" noTextEdit="1"/>
              </p:cNvSpPr>
              <p:nvPr/>
            </p:nvSpPr>
            <p:spPr>
              <a:xfrm>
                <a:off x="6406381" y="1419730"/>
                <a:ext cx="2603085" cy="611275"/>
              </a:xfrm>
              <a:prstGeom prst="rect">
                <a:avLst/>
              </a:prstGeom>
              <a:blipFill>
                <a:blip r:embed="rId7"/>
                <a:stretch>
                  <a:fillRect t="-16327" b="-612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Content Placeholder 2">
                <a:extLst>
                  <a:ext uri="{FF2B5EF4-FFF2-40B4-BE49-F238E27FC236}">
                    <a16:creationId xmlns:a16="http://schemas.microsoft.com/office/drawing/2014/main" id="{2EE83BC8-73E3-A935-74FD-8A77541E4630}"/>
                  </a:ext>
                </a:extLst>
              </p:cNvPr>
              <p:cNvSpPr txBox="1">
                <a:spLocks/>
              </p:cNvSpPr>
              <p:nvPr/>
            </p:nvSpPr>
            <p:spPr>
              <a:xfrm>
                <a:off x="9295845" y="1419731"/>
                <a:ext cx="2603085" cy="611275"/>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dirty="0"/>
                  <a:t>Distribution of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𝜏</m:t>
                        </m:r>
                      </m:e>
                    </m:acc>
                  </m:oMath>
                </a14:m>
                <a:endParaRPr lang="en-US" dirty="0"/>
              </a:p>
            </p:txBody>
          </p:sp>
        </mc:Choice>
        <mc:Fallback xmlns="">
          <p:sp>
            <p:nvSpPr>
              <p:cNvPr id="10" name="Content Placeholder 2">
                <a:extLst>
                  <a:ext uri="{FF2B5EF4-FFF2-40B4-BE49-F238E27FC236}">
                    <a16:creationId xmlns:a16="http://schemas.microsoft.com/office/drawing/2014/main" id="{2EE83BC8-73E3-A935-74FD-8A77541E4630}"/>
                  </a:ext>
                </a:extLst>
              </p:cNvPr>
              <p:cNvSpPr txBox="1">
                <a:spLocks noRot="1" noChangeAspect="1" noMove="1" noResize="1" noEditPoints="1" noAdjustHandles="1" noChangeArrowheads="1" noChangeShapeType="1" noTextEdit="1"/>
              </p:cNvSpPr>
              <p:nvPr/>
            </p:nvSpPr>
            <p:spPr>
              <a:xfrm>
                <a:off x="9295845" y="1419731"/>
                <a:ext cx="2603085" cy="611275"/>
              </a:xfrm>
              <a:prstGeom prst="rect">
                <a:avLst/>
              </a:prstGeom>
              <a:blipFill>
                <a:blip r:embed="rId8"/>
                <a:stretch>
                  <a:fillRect l="-1463" t="-14286"/>
                </a:stretch>
              </a:blipFill>
            </p:spPr>
            <p:txBody>
              <a:bodyPr/>
              <a:lstStyle/>
              <a:p>
                <a:r>
                  <a:rPr lang="en-US">
                    <a:noFill/>
                  </a:rPr>
                  <a:t> </a:t>
                </a:r>
              </a:p>
            </p:txBody>
          </p:sp>
        </mc:Fallback>
      </mc:AlternateContent>
    </p:spTree>
    <p:extLst>
      <p:ext uri="{BB962C8B-B14F-4D97-AF65-F5344CB8AC3E}">
        <p14:creationId xmlns:p14="http://schemas.microsoft.com/office/powerpoint/2010/main" val="27336443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A0A15A-A009-5A0A-9223-494A5392C033}"/>
              </a:ext>
            </a:extLst>
          </p:cNvPr>
          <p:cNvSpPr>
            <a:spLocks noGrp="1"/>
          </p:cNvSpPr>
          <p:nvPr>
            <p:ph type="title"/>
          </p:nvPr>
        </p:nvSpPr>
        <p:spPr/>
        <p:txBody>
          <a:bodyPr>
            <a:normAutofit/>
          </a:bodyPr>
          <a:lstStyle/>
          <a:p>
            <a:r>
              <a:rPr lang="en-US" sz="4000" dirty="0"/>
              <a:t>Bigger treatment/control groups are better</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B2D960D-DB9B-E72D-A53C-4953FD8D862C}"/>
                  </a:ext>
                </a:extLst>
              </p:cNvPr>
              <p:cNvSpPr>
                <a:spLocks noGrp="1"/>
              </p:cNvSpPr>
              <p:nvPr>
                <p:ph idx="1"/>
              </p:nvPr>
            </p:nvSpPr>
            <p:spPr/>
            <p:txBody>
              <a:bodyPr/>
              <a:lstStyle/>
              <a:p>
                <a:r>
                  <a:rPr lang="en-US" dirty="0"/>
                  <a:t>But how can we measure how good they are?</a:t>
                </a:r>
              </a:p>
              <a:p>
                <a:pPr lvl="1"/>
                <a:r>
                  <a:rPr lang="en-US" dirty="0">
                    <a:solidFill>
                      <a:schemeClr val="accent1"/>
                    </a:solidFill>
                  </a:rPr>
                  <a:t>In the previous slide, we cheated by running 10,000 experiments for each </a:t>
                </a:r>
                <a14:m>
                  <m:oMath xmlns:m="http://schemas.openxmlformats.org/officeDocument/2006/math">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𝑁</m:t>
                        </m:r>
                      </m:e>
                      <m:sub>
                        <m:r>
                          <a:rPr lang="en-US" b="0" i="1" smtClean="0">
                            <a:solidFill>
                              <a:schemeClr val="accent1"/>
                            </a:solidFill>
                            <a:latin typeface="Cambria Math" panose="02040503050406030204" pitchFamily="18" charset="0"/>
                          </a:rPr>
                          <m:t>0</m:t>
                        </m:r>
                      </m:sub>
                    </m:sSub>
                  </m:oMath>
                </a14:m>
                <a:r>
                  <a:rPr lang="en-US" b="0" i="1" dirty="0">
                    <a:solidFill>
                      <a:schemeClr val="accent1"/>
                    </a:solidFill>
                    <a:latin typeface="Cambria Math" panose="02040503050406030204" pitchFamily="18" charset="0"/>
                  </a:rPr>
                  <a:t>, </a:t>
                </a:r>
                <a14:m>
                  <m:oMath xmlns:m="http://schemas.openxmlformats.org/officeDocument/2006/math">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𝑁</m:t>
                        </m:r>
                      </m:e>
                      <m:sub>
                        <m:r>
                          <a:rPr lang="en-US" b="0" i="1" smtClean="0">
                            <a:solidFill>
                              <a:schemeClr val="accent1"/>
                            </a:solidFill>
                            <a:latin typeface="Cambria Math" panose="02040503050406030204" pitchFamily="18" charset="0"/>
                          </a:rPr>
                          <m:t>1</m:t>
                        </m:r>
                      </m:sub>
                    </m:sSub>
                  </m:oMath>
                </a14:m>
                <a:r>
                  <a:rPr lang="en-US" b="0" i="1" dirty="0">
                    <a:solidFill>
                      <a:schemeClr val="accent1"/>
                    </a:solidFill>
                    <a:latin typeface="Cambria Math" panose="02040503050406030204" pitchFamily="18" charset="0"/>
                  </a:rPr>
                  <a:t> </a:t>
                </a:r>
                <a:r>
                  <a:rPr lang="en-US" i="1" dirty="0">
                    <a:solidFill>
                      <a:schemeClr val="accent1"/>
                    </a:solidFill>
                  </a:rPr>
                  <a:t>-- </a:t>
                </a:r>
                <a:r>
                  <a:rPr lang="en-US" dirty="0">
                    <a:solidFill>
                      <a:schemeClr val="accent1"/>
                    </a:solidFill>
                  </a:rPr>
                  <a:t>in real life, we typically only get </a:t>
                </a:r>
                <a:r>
                  <a:rPr lang="en-US" b="1" dirty="0">
                    <a:solidFill>
                      <a:schemeClr val="accent1"/>
                    </a:solidFill>
                  </a:rPr>
                  <a:t>one</a:t>
                </a:r>
                <a:r>
                  <a:rPr lang="en-US" dirty="0">
                    <a:solidFill>
                      <a:schemeClr val="accent1"/>
                    </a:solidFill>
                  </a:rPr>
                  <a:t> experiment.</a:t>
                </a:r>
                <a:endParaRPr lang="en-US" b="0" i="1" dirty="0">
                  <a:solidFill>
                    <a:schemeClr val="accent1"/>
                  </a:solidFill>
                </a:endParaRPr>
              </a:p>
              <a:p>
                <a:pPr lvl="1"/>
                <a:endParaRPr lang="en-US" dirty="0"/>
              </a:p>
              <a:p>
                <a:r>
                  <a:rPr lang="en-US" dirty="0"/>
                  <a:t>Last week, we saw two methods for computing standard errors and constructing confidence intervals:</a:t>
                </a:r>
              </a:p>
              <a:p>
                <a:pPr marL="914400" lvl="1" indent="-457200">
                  <a:buFont typeface="+mj-lt"/>
                  <a:buAutoNum type="arabicPeriod"/>
                </a:pPr>
                <a:r>
                  <a:rPr lang="en-US" dirty="0">
                    <a:solidFill>
                      <a:schemeClr val="accent1"/>
                    </a:solidFill>
                  </a:rPr>
                  <a:t>Resampling (aka bootstrapping)</a:t>
                </a:r>
              </a:p>
              <a:p>
                <a:pPr marL="914400" lvl="1" indent="-457200">
                  <a:buFont typeface="+mj-lt"/>
                  <a:buAutoNum type="arabicPeriod"/>
                </a:pPr>
                <a:r>
                  <a:rPr lang="en-US" dirty="0">
                    <a:solidFill>
                      <a:schemeClr val="accent1"/>
                    </a:solidFill>
                  </a:rPr>
                  <a:t>Analytical methods</a:t>
                </a:r>
              </a:p>
              <a:p>
                <a:pPr marL="914400" lvl="1" indent="-457200">
                  <a:buFont typeface="+mj-lt"/>
                  <a:buAutoNum type="arabicPeriod"/>
                </a:pPr>
                <a:endParaRPr lang="en-US" dirty="0">
                  <a:solidFill>
                    <a:schemeClr val="accent1"/>
                  </a:solidFill>
                </a:endParaRPr>
              </a:p>
              <a:p>
                <a:r>
                  <a:rPr lang="en-US" dirty="0"/>
                  <a:t>Both work here!</a:t>
                </a:r>
              </a:p>
            </p:txBody>
          </p:sp>
        </mc:Choice>
        <mc:Fallback xmlns="">
          <p:sp>
            <p:nvSpPr>
              <p:cNvPr id="3" name="Content Placeholder 2">
                <a:extLst>
                  <a:ext uri="{FF2B5EF4-FFF2-40B4-BE49-F238E27FC236}">
                    <a16:creationId xmlns:a16="http://schemas.microsoft.com/office/drawing/2014/main" id="{0B2D960D-DB9B-E72D-A53C-4953FD8D862C}"/>
                  </a:ext>
                </a:extLst>
              </p:cNvPr>
              <p:cNvSpPr>
                <a:spLocks noGrp="1" noRot="1" noChangeAspect="1" noMove="1" noResize="1" noEditPoints="1" noAdjustHandles="1" noChangeArrowheads="1" noChangeShapeType="1" noTextEdit="1"/>
              </p:cNvSpPr>
              <p:nvPr>
                <p:ph idx="1"/>
              </p:nvPr>
            </p:nvSpPr>
            <p:spPr>
              <a:blipFill>
                <a:blip r:embed="rId3"/>
                <a:stretch>
                  <a:fillRect l="-1043" t="-2381"/>
                </a:stretch>
              </a:blipFill>
            </p:spPr>
            <p:txBody>
              <a:bodyPr/>
              <a:lstStyle/>
              <a:p>
                <a:r>
                  <a:rPr lang="en-US">
                    <a:noFill/>
                  </a:rPr>
                  <a:t> </a:t>
                </a:r>
              </a:p>
            </p:txBody>
          </p:sp>
        </mc:Fallback>
      </mc:AlternateContent>
    </p:spTree>
    <p:extLst>
      <p:ext uri="{BB962C8B-B14F-4D97-AF65-F5344CB8AC3E}">
        <p14:creationId xmlns:p14="http://schemas.microsoft.com/office/powerpoint/2010/main" val="23990299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EF621-2F69-5FF9-04AE-41792AF85E3A}"/>
              </a:ext>
            </a:extLst>
          </p:cNvPr>
          <p:cNvSpPr>
            <a:spLocks noGrp="1"/>
          </p:cNvSpPr>
          <p:nvPr>
            <p:ph type="title"/>
          </p:nvPr>
        </p:nvSpPr>
        <p:spPr/>
        <p:txBody>
          <a:bodyPr/>
          <a:lstStyle/>
          <a:p>
            <a:r>
              <a:rPr lang="en-US" dirty="0"/>
              <a:t>Resampling (aka bootstrapping)</a:t>
            </a:r>
          </a:p>
        </p:txBody>
      </p:sp>
      <p:sp>
        <p:nvSpPr>
          <p:cNvPr id="3" name="Content Placeholder 2">
            <a:extLst>
              <a:ext uri="{FF2B5EF4-FFF2-40B4-BE49-F238E27FC236}">
                <a16:creationId xmlns:a16="http://schemas.microsoft.com/office/drawing/2014/main" id="{9B4EAE4F-00C4-D177-432B-C12285B03F08}"/>
              </a:ext>
            </a:extLst>
          </p:cNvPr>
          <p:cNvSpPr>
            <a:spLocks noGrp="1"/>
          </p:cNvSpPr>
          <p:nvPr>
            <p:ph idx="1"/>
          </p:nvPr>
        </p:nvSpPr>
        <p:spPr>
          <a:xfrm>
            <a:off x="838200" y="1825625"/>
            <a:ext cx="9309847" cy="4351338"/>
          </a:xfrm>
        </p:spPr>
        <p:txBody>
          <a:bodyPr/>
          <a:lstStyle/>
          <a:p>
            <a:r>
              <a:rPr lang="en-US" dirty="0"/>
              <a:t>Basic idea:</a:t>
            </a:r>
          </a:p>
          <a:p>
            <a:pPr lvl="1"/>
            <a:r>
              <a:rPr lang="en-US" dirty="0">
                <a:solidFill>
                  <a:schemeClr val="accent1"/>
                </a:solidFill>
              </a:rPr>
              <a:t>Use the data you have to construct a bunch of “fake” (bootstrap) datasets at random, by resampling with replacement.</a:t>
            </a:r>
          </a:p>
          <a:p>
            <a:pPr lvl="1"/>
            <a:r>
              <a:rPr lang="en-US" dirty="0">
                <a:solidFill>
                  <a:schemeClr val="accent1"/>
                </a:solidFill>
              </a:rPr>
              <a:t>Look at the distribution of those.</a:t>
            </a:r>
          </a:p>
          <a:p>
            <a:pPr lvl="2"/>
            <a:endParaRPr lang="en-US" dirty="0">
              <a:solidFill>
                <a:schemeClr val="accent1"/>
              </a:solidFill>
            </a:endParaRPr>
          </a:p>
          <a:p>
            <a:pPr marL="0" indent="0">
              <a:buNone/>
            </a:pPr>
            <a:endParaRPr lang="en-US" dirty="0"/>
          </a:p>
        </p:txBody>
      </p:sp>
      <p:pic>
        <p:nvPicPr>
          <p:cNvPr id="1026" name="Picture 2" descr="Embrace the bootstrap...and start pulling!">
            <a:extLst>
              <a:ext uri="{FF2B5EF4-FFF2-40B4-BE49-F238E27FC236}">
                <a16:creationId xmlns:a16="http://schemas.microsoft.com/office/drawing/2014/main" id="{C6310944-88E4-4367-D75A-35C8B161C0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93771" y="3570514"/>
            <a:ext cx="4160029" cy="23839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504615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0570BB-260E-B8D3-5975-51F256A05986}"/>
              </a:ext>
            </a:extLst>
          </p:cNvPr>
          <p:cNvSpPr>
            <a:spLocks noGrp="1"/>
          </p:cNvSpPr>
          <p:nvPr>
            <p:ph type="title"/>
          </p:nvPr>
        </p:nvSpPr>
        <p:spPr>
          <a:xfrm>
            <a:off x="640080" y="-133430"/>
            <a:ext cx="10515600" cy="1325563"/>
          </a:xfrm>
        </p:spPr>
        <p:txBody>
          <a:bodyPr/>
          <a:lstStyle/>
          <a:p>
            <a:r>
              <a:rPr lang="en-US" dirty="0"/>
              <a:t>Resampling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C7ADC26-159D-5746-44F9-1B1FE9C55D6E}"/>
                  </a:ext>
                </a:extLst>
              </p:cNvPr>
              <p:cNvSpPr>
                <a:spLocks noGrp="1"/>
              </p:cNvSpPr>
              <p:nvPr>
                <p:ph idx="1"/>
              </p:nvPr>
            </p:nvSpPr>
            <p:spPr>
              <a:xfrm>
                <a:off x="838201" y="1051560"/>
                <a:ext cx="10515600" cy="4351338"/>
              </a:xfrm>
            </p:spPr>
            <p:txBody>
              <a:bodyPr>
                <a:normAutofit/>
              </a:bodyPr>
              <a:lstStyle/>
              <a:p>
                <a:r>
                  <a:rPr lang="en-US" sz="2400" dirty="0"/>
                  <a:t>Suppose we have a random treatment group </a:t>
                </a:r>
                <a14:m>
                  <m:oMath xmlns:m="http://schemas.openxmlformats.org/officeDocument/2006/math">
                    <m:r>
                      <a:rPr lang="en-US" sz="2400" b="0" i="1" smtClean="0">
                        <a:latin typeface="Cambria Math" panose="02040503050406030204" pitchFamily="18" charset="0"/>
                      </a:rPr>
                      <m:t>𝑇</m:t>
                    </m:r>
                  </m:oMath>
                </a14:m>
                <a:r>
                  <a:rPr lang="en-US" sz="2400" dirty="0"/>
                  <a:t> and a control group </a:t>
                </a:r>
                <a14:m>
                  <m:oMath xmlns:m="http://schemas.openxmlformats.org/officeDocument/2006/math">
                    <m:r>
                      <a:rPr lang="en-US" sz="2400" b="0" i="1" smtClean="0">
                        <a:latin typeface="Cambria Math" panose="02040503050406030204" pitchFamily="18" charset="0"/>
                      </a:rPr>
                      <m:t>𝐶</m:t>
                    </m:r>
                  </m:oMath>
                </a14:m>
                <a:endParaRPr lang="en-US" sz="2400" dirty="0"/>
              </a:p>
              <a:p>
                <a:pPr lvl="1"/>
                <a:r>
                  <a:rPr lang="en-US" sz="2000" dirty="0">
                    <a:solidFill>
                      <a:schemeClr val="accent1"/>
                    </a:solidFill>
                  </a:rPr>
                  <a:t>Choose </a:t>
                </a:r>
                <a14:m>
                  <m:oMath xmlns:m="http://schemas.openxmlformats.org/officeDocument/2006/math">
                    <m:sSub>
                      <m:sSubPr>
                        <m:ctrlPr>
                          <a:rPr lang="en-US" sz="2000" b="0" i="1" smtClean="0">
                            <a:solidFill>
                              <a:schemeClr val="accent1"/>
                            </a:solidFill>
                            <a:latin typeface="Cambria Math" panose="02040503050406030204" pitchFamily="18" charset="0"/>
                          </a:rPr>
                        </m:ctrlPr>
                      </m:sSubPr>
                      <m:e>
                        <m:r>
                          <a:rPr lang="en-US" sz="2000" b="0" i="1" smtClean="0">
                            <a:solidFill>
                              <a:schemeClr val="accent1"/>
                            </a:solidFill>
                            <a:latin typeface="Cambria Math" panose="02040503050406030204" pitchFamily="18" charset="0"/>
                          </a:rPr>
                          <m:t>𝑁</m:t>
                        </m:r>
                      </m:e>
                      <m:sub>
                        <m:r>
                          <a:rPr lang="en-US" sz="2000" b="0" i="1" smtClean="0">
                            <a:solidFill>
                              <a:schemeClr val="accent1"/>
                            </a:solidFill>
                            <a:latin typeface="Cambria Math" panose="02040503050406030204" pitchFamily="18" charset="0"/>
                          </a:rPr>
                          <m:t>0</m:t>
                        </m:r>
                      </m:sub>
                    </m:sSub>
                  </m:oMath>
                </a14:m>
                <a:r>
                  <a:rPr lang="en-US" sz="2000" dirty="0">
                    <a:solidFill>
                      <a:schemeClr val="accent1"/>
                    </a:solidFill>
                  </a:rPr>
                  <a:t> people with repetition in </a:t>
                </a:r>
                <a14:m>
                  <m:oMath xmlns:m="http://schemas.openxmlformats.org/officeDocument/2006/math">
                    <m:r>
                      <a:rPr lang="en-US" sz="2000" i="1" dirty="0" smtClean="0">
                        <a:solidFill>
                          <a:schemeClr val="accent1"/>
                        </a:solidFill>
                        <a:latin typeface="Cambria Math" panose="02040503050406030204" pitchFamily="18" charset="0"/>
                      </a:rPr>
                      <m:t>𝐶</m:t>
                    </m:r>
                  </m:oMath>
                </a14:m>
                <a:r>
                  <a:rPr lang="en-US" sz="2000" dirty="0">
                    <a:solidFill>
                      <a:schemeClr val="accent1"/>
                    </a:solidFill>
                  </a:rPr>
                  <a:t> at random.</a:t>
                </a:r>
              </a:p>
              <a:p>
                <a:pPr lvl="1"/>
                <a:r>
                  <a:rPr lang="en-US" sz="2000" dirty="0">
                    <a:solidFill>
                      <a:schemeClr val="accent1"/>
                    </a:solidFill>
                  </a:rPr>
                  <a:t>Choose </a:t>
                </a:r>
                <a14:m>
                  <m:oMath xmlns:m="http://schemas.openxmlformats.org/officeDocument/2006/math">
                    <m:sSub>
                      <m:sSubPr>
                        <m:ctrlPr>
                          <a:rPr lang="en-US" sz="2000" b="0" i="1" smtClean="0">
                            <a:solidFill>
                              <a:schemeClr val="accent1"/>
                            </a:solidFill>
                            <a:latin typeface="Cambria Math" panose="02040503050406030204" pitchFamily="18" charset="0"/>
                          </a:rPr>
                        </m:ctrlPr>
                      </m:sSubPr>
                      <m:e>
                        <m:r>
                          <a:rPr lang="en-US" sz="2000" b="0" i="1" smtClean="0">
                            <a:solidFill>
                              <a:schemeClr val="accent1"/>
                            </a:solidFill>
                            <a:latin typeface="Cambria Math" panose="02040503050406030204" pitchFamily="18" charset="0"/>
                          </a:rPr>
                          <m:t>𝑁</m:t>
                        </m:r>
                      </m:e>
                      <m:sub>
                        <m:r>
                          <a:rPr lang="en-US" sz="2000" b="0" i="1" smtClean="0">
                            <a:solidFill>
                              <a:schemeClr val="accent1"/>
                            </a:solidFill>
                            <a:latin typeface="Cambria Math" panose="02040503050406030204" pitchFamily="18" charset="0"/>
                          </a:rPr>
                          <m:t>1</m:t>
                        </m:r>
                      </m:sub>
                    </m:sSub>
                  </m:oMath>
                </a14:m>
                <a:r>
                  <a:rPr lang="en-US" sz="2000" dirty="0">
                    <a:solidFill>
                      <a:schemeClr val="accent1"/>
                    </a:solidFill>
                  </a:rPr>
                  <a:t> people with repetition in </a:t>
                </a:r>
                <a14:m>
                  <m:oMath xmlns:m="http://schemas.openxmlformats.org/officeDocument/2006/math">
                    <m:r>
                      <a:rPr lang="en-US" sz="2000" i="1" dirty="0" smtClean="0">
                        <a:solidFill>
                          <a:schemeClr val="accent1"/>
                        </a:solidFill>
                        <a:latin typeface="Cambria Math" panose="02040503050406030204" pitchFamily="18" charset="0"/>
                      </a:rPr>
                      <m:t>𝑇</m:t>
                    </m:r>
                  </m:oMath>
                </a14:m>
                <a:r>
                  <a:rPr lang="en-US" sz="2000" dirty="0">
                    <a:solidFill>
                      <a:schemeClr val="accent1"/>
                    </a:solidFill>
                  </a:rPr>
                  <a:t> at random. </a:t>
                </a:r>
              </a:p>
              <a:p>
                <a:r>
                  <a:rPr lang="en-US" sz="2400" dirty="0"/>
                  <a:t>Create “new” treatment and control groups from these samples.</a:t>
                </a:r>
              </a:p>
            </p:txBody>
          </p:sp>
        </mc:Choice>
        <mc:Fallback xmlns="">
          <p:sp>
            <p:nvSpPr>
              <p:cNvPr id="3" name="Content Placeholder 2">
                <a:extLst>
                  <a:ext uri="{FF2B5EF4-FFF2-40B4-BE49-F238E27FC236}">
                    <a16:creationId xmlns:a16="http://schemas.microsoft.com/office/drawing/2014/main" id="{1C7ADC26-159D-5746-44F9-1B1FE9C55D6E}"/>
                  </a:ext>
                </a:extLst>
              </p:cNvPr>
              <p:cNvSpPr>
                <a:spLocks noGrp="1" noRot="1" noChangeAspect="1" noMove="1" noResize="1" noEditPoints="1" noAdjustHandles="1" noChangeArrowheads="1" noChangeShapeType="1" noTextEdit="1"/>
              </p:cNvSpPr>
              <p:nvPr>
                <p:ph idx="1"/>
              </p:nvPr>
            </p:nvSpPr>
            <p:spPr>
              <a:xfrm>
                <a:off x="838201" y="1051560"/>
                <a:ext cx="10515600" cy="4351338"/>
              </a:xfrm>
              <a:blipFill>
                <a:blip r:embed="rId3"/>
                <a:stretch>
                  <a:fillRect l="-844" t="-2332"/>
                </a:stretch>
              </a:blipFill>
            </p:spPr>
            <p:txBody>
              <a:bodyPr/>
              <a:lstStyle/>
              <a:p>
                <a:r>
                  <a:rPr lang="en-US">
                    <a:noFill/>
                  </a:rPr>
                  <a:t> </a:t>
                </a:r>
              </a:p>
            </p:txBody>
          </p:sp>
        </mc:Fallback>
      </mc:AlternateContent>
      <p:grpSp>
        <p:nvGrpSpPr>
          <p:cNvPr id="37" name="Group 36">
            <a:extLst>
              <a:ext uri="{FF2B5EF4-FFF2-40B4-BE49-F238E27FC236}">
                <a16:creationId xmlns:a16="http://schemas.microsoft.com/office/drawing/2014/main" id="{271E8F69-64BF-7BEE-B343-254FD4CF36EF}"/>
              </a:ext>
            </a:extLst>
          </p:cNvPr>
          <p:cNvGrpSpPr/>
          <p:nvPr/>
        </p:nvGrpSpPr>
        <p:grpSpPr>
          <a:xfrm>
            <a:off x="701040" y="3660236"/>
            <a:ext cx="11125200" cy="2668412"/>
            <a:chOff x="701040" y="3660236"/>
            <a:chExt cx="11125200" cy="2668412"/>
          </a:xfrm>
        </p:grpSpPr>
        <p:sp>
          <p:nvSpPr>
            <p:cNvPr id="6" name="Rounded Rectangle 5">
              <a:extLst>
                <a:ext uri="{FF2B5EF4-FFF2-40B4-BE49-F238E27FC236}">
                  <a16:creationId xmlns:a16="http://schemas.microsoft.com/office/drawing/2014/main" id="{29993700-152A-7256-CD79-01E75575EBED}"/>
                </a:ext>
              </a:extLst>
            </p:cNvPr>
            <p:cNvSpPr/>
            <p:nvPr/>
          </p:nvSpPr>
          <p:spPr>
            <a:xfrm>
              <a:off x="6294122" y="3929306"/>
              <a:ext cx="5532118" cy="1877133"/>
            </a:xfrm>
            <a:prstGeom prst="round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E9C728E1-3AF9-B557-8DE3-110416D681DF}"/>
                    </a:ext>
                  </a:extLst>
                </p:cNvPr>
                <p:cNvSpPr txBox="1"/>
                <p:nvPr/>
              </p:nvSpPr>
              <p:spPr>
                <a:xfrm>
                  <a:off x="2366095" y="5942568"/>
                  <a:ext cx="2747034" cy="369332"/>
                </a:xfrm>
                <a:prstGeom prst="rect">
                  <a:avLst/>
                </a:prstGeom>
                <a:noFill/>
              </p:spPr>
              <p:txBody>
                <a:bodyPr wrap="none" rtlCol="0">
                  <a:spAutoFit/>
                </a:bodyPr>
                <a:lstStyle/>
                <a:p>
                  <a:r>
                    <a:rPr lang="en-US" dirty="0"/>
                    <a:t>Actual Treatment Group </a:t>
                  </a:r>
                  <a14:m>
                    <m:oMath xmlns:m="http://schemas.openxmlformats.org/officeDocument/2006/math">
                      <m:r>
                        <a:rPr lang="en-US" i="1" dirty="0" smtClean="0">
                          <a:latin typeface="Cambria Math" panose="02040503050406030204" pitchFamily="18" charset="0"/>
                        </a:rPr>
                        <m:t>𝑇</m:t>
                      </m:r>
                    </m:oMath>
                  </a14:m>
                  <a:endParaRPr lang="en-US" dirty="0"/>
                </a:p>
              </p:txBody>
            </p:sp>
          </mc:Choice>
          <mc:Fallback xmlns="">
            <p:sp>
              <p:nvSpPr>
                <p:cNvPr id="7" name="TextBox 6">
                  <a:extLst>
                    <a:ext uri="{FF2B5EF4-FFF2-40B4-BE49-F238E27FC236}">
                      <a16:creationId xmlns:a16="http://schemas.microsoft.com/office/drawing/2014/main" id="{E9C728E1-3AF9-B557-8DE3-110416D681DF}"/>
                    </a:ext>
                  </a:extLst>
                </p:cNvPr>
                <p:cNvSpPr txBox="1">
                  <a:spLocks noRot="1" noChangeAspect="1" noMove="1" noResize="1" noEditPoints="1" noAdjustHandles="1" noChangeArrowheads="1" noChangeShapeType="1" noTextEdit="1"/>
                </p:cNvSpPr>
                <p:nvPr/>
              </p:nvSpPr>
              <p:spPr>
                <a:xfrm>
                  <a:off x="2366095" y="5942568"/>
                  <a:ext cx="2747034" cy="369332"/>
                </a:xfrm>
                <a:prstGeom prst="rect">
                  <a:avLst/>
                </a:prstGeom>
                <a:blipFill>
                  <a:blip r:embed="rId4"/>
                  <a:stretch>
                    <a:fillRect l="-1774" t="-8333" b="-28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30861467-8FDB-F7A0-CBAF-E8FEF4763B0C}"/>
                    </a:ext>
                  </a:extLst>
                </p:cNvPr>
                <p:cNvSpPr txBox="1"/>
                <p:nvPr/>
              </p:nvSpPr>
              <p:spPr>
                <a:xfrm>
                  <a:off x="8126816" y="5959316"/>
                  <a:ext cx="2487219" cy="369332"/>
                </a:xfrm>
                <a:prstGeom prst="rect">
                  <a:avLst/>
                </a:prstGeom>
                <a:noFill/>
              </p:spPr>
              <p:txBody>
                <a:bodyPr wrap="none" rtlCol="0">
                  <a:spAutoFit/>
                </a:bodyPr>
                <a:lstStyle/>
                <a:p>
                  <a:r>
                    <a:rPr lang="en-US" dirty="0"/>
                    <a:t>Actual Control Group </a:t>
                  </a:r>
                  <a14:m>
                    <m:oMath xmlns:m="http://schemas.openxmlformats.org/officeDocument/2006/math">
                      <m:r>
                        <a:rPr lang="en-US" i="1" dirty="0" smtClean="0">
                          <a:latin typeface="Cambria Math" panose="02040503050406030204" pitchFamily="18" charset="0"/>
                        </a:rPr>
                        <m:t>𝐶</m:t>
                      </m:r>
                    </m:oMath>
                  </a14:m>
                  <a:endParaRPr lang="en-US" dirty="0"/>
                </a:p>
              </p:txBody>
            </p:sp>
          </mc:Choice>
          <mc:Fallback xmlns="">
            <p:sp>
              <p:nvSpPr>
                <p:cNvPr id="8" name="TextBox 7">
                  <a:extLst>
                    <a:ext uri="{FF2B5EF4-FFF2-40B4-BE49-F238E27FC236}">
                      <a16:creationId xmlns:a16="http://schemas.microsoft.com/office/drawing/2014/main" id="{30861467-8FDB-F7A0-CBAF-E8FEF4763B0C}"/>
                    </a:ext>
                  </a:extLst>
                </p:cNvPr>
                <p:cNvSpPr txBox="1">
                  <a:spLocks noRot="1" noChangeAspect="1" noMove="1" noResize="1" noEditPoints="1" noAdjustHandles="1" noChangeArrowheads="1" noChangeShapeType="1" noTextEdit="1"/>
                </p:cNvSpPr>
                <p:nvPr/>
              </p:nvSpPr>
              <p:spPr>
                <a:xfrm>
                  <a:off x="8126816" y="5959316"/>
                  <a:ext cx="2487219" cy="369332"/>
                </a:xfrm>
                <a:prstGeom prst="rect">
                  <a:avLst/>
                </a:prstGeom>
                <a:blipFill>
                  <a:blip r:embed="rId5"/>
                  <a:stretch>
                    <a:fillRect l="-1961" t="-8333" b="-28333"/>
                  </a:stretch>
                </a:blipFill>
              </p:spPr>
              <p:txBody>
                <a:bodyPr/>
                <a:lstStyle/>
                <a:p>
                  <a:r>
                    <a:rPr lang="en-US">
                      <a:noFill/>
                    </a:rPr>
                    <a:t> </a:t>
                  </a:r>
                </a:p>
              </p:txBody>
            </p:sp>
          </mc:Fallback>
        </mc:AlternateContent>
        <p:pic>
          <p:nvPicPr>
            <p:cNvPr id="17" name="Picture 16">
              <a:extLst>
                <a:ext uri="{FF2B5EF4-FFF2-40B4-BE49-F238E27FC236}">
                  <a16:creationId xmlns:a16="http://schemas.microsoft.com/office/drawing/2014/main" id="{F33E62FC-B92E-4B94-1177-CC4C61C85F03}"/>
                </a:ext>
              </a:extLst>
            </p:cNvPr>
            <p:cNvPicPr>
              <a:picLocks noChangeAspect="1"/>
            </p:cNvPicPr>
            <p:nvPr/>
          </p:nvPicPr>
          <p:blipFill>
            <a:blip r:embed="rId6"/>
            <a:stretch>
              <a:fillRect/>
            </a:stretch>
          </p:blipFill>
          <p:spPr>
            <a:xfrm>
              <a:off x="6688630" y="4295400"/>
              <a:ext cx="1359688" cy="1205460"/>
            </a:xfrm>
            <a:prstGeom prst="rect">
              <a:avLst/>
            </a:prstGeom>
          </p:spPr>
        </p:pic>
        <p:pic>
          <p:nvPicPr>
            <p:cNvPr id="22" name="Picture 21">
              <a:extLst>
                <a:ext uri="{FF2B5EF4-FFF2-40B4-BE49-F238E27FC236}">
                  <a16:creationId xmlns:a16="http://schemas.microsoft.com/office/drawing/2014/main" id="{86538CB8-8DF2-44FC-E392-DBD4599E88A7}"/>
                </a:ext>
              </a:extLst>
            </p:cNvPr>
            <p:cNvPicPr>
              <a:picLocks noChangeAspect="1"/>
            </p:cNvPicPr>
            <p:nvPr/>
          </p:nvPicPr>
          <p:blipFill>
            <a:blip r:embed="rId7"/>
            <a:stretch>
              <a:fillRect/>
            </a:stretch>
          </p:blipFill>
          <p:spPr>
            <a:xfrm>
              <a:off x="10417771" y="4195718"/>
              <a:ext cx="936028" cy="1305141"/>
            </a:xfrm>
            <a:prstGeom prst="rect">
              <a:avLst/>
            </a:prstGeom>
          </p:spPr>
        </p:pic>
        <p:pic>
          <p:nvPicPr>
            <p:cNvPr id="23" name="Picture 22">
              <a:extLst>
                <a:ext uri="{FF2B5EF4-FFF2-40B4-BE49-F238E27FC236}">
                  <a16:creationId xmlns:a16="http://schemas.microsoft.com/office/drawing/2014/main" id="{259015A4-7918-D979-6CBB-38FFCCF5855F}"/>
                </a:ext>
              </a:extLst>
            </p:cNvPr>
            <p:cNvPicPr>
              <a:picLocks noChangeAspect="1"/>
            </p:cNvPicPr>
            <p:nvPr/>
          </p:nvPicPr>
          <p:blipFill>
            <a:blip r:embed="rId8"/>
            <a:stretch>
              <a:fillRect/>
            </a:stretch>
          </p:blipFill>
          <p:spPr>
            <a:xfrm>
              <a:off x="8635617" y="4256426"/>
              <a:ext cx="936027" cy="1183721"/>
            </a:xfrm>
            <a:prstGeom prst="rect">
              <a:avLst/>
            </a:prstGeom>
          </p:spPr>
        </p:pic>
        <p:grpSp>
          <p:nvGrpSpPr>
            <p:cNvPr id="36" name="Group 35">
              <a:extLst>
                <a:ext uri="{FF2B5EF4-FFF2-40B4-BE49-F238E27FC236}">
                  <a16:creationId xmlns:a16="http://schemas.microsoft.com/office/drawing/2014/main" id="{EF766D88-14EF-6FB9-9406-46F67AE05115}"/>
                </a:ext>
              </a:extLst>
            </p:cNvPr>
            <p:cNvGrpSpPr/>
            <p:nvPr/>
          </p:nvGrpSpPr>
          <p:grpSpPr>
            <a:xfrm>
              <a:off x="701040" y="3660236"/>
              <a:ext cx="5196840" cy="2165259"/>
              <a:chOff x="701040" y="3660236"/>
              <a:chExt cx="5196840" cy="2165259"/>
            </a:xfrm>
          </p:grpSpPr>
          <p:sp>
            <p:nvSpPr>
              <p:cNvPr id="5" name="Rounded Rectangle 4">
                <a:extLst>
                  <a:ext uri="{FF2B5EF4-FFF2-40B4-BE49-F238E27FC236}">
                    <a16:creationId xmlns:a16="http://schemas.microsoft.com/office/drawing/2014/main" id="{DDEAFB04-A79D-E10F-249D-5398E18D008B}"/>
                  </a:ext>
                </a:extLst>
              </p:cNvPr>
              <p:cNvSpPr/>
              <p:nvPr/>
            </p:nvSpPr>
            <p:spPr>
              <a:xfrm>
                <a:off x="701040" y="3660236"/>
                <a:ext cx="5196840" cy="2146203"/>
              </a:xfrm>
              <a:prstGeom prst="round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21F1B138-C330-CA43-E4E0-9917ECA255C9}"/>
                  </a:ext>
                </a:extLst>
              </p:cNvPr>
              <p:cNvPicPr>
                <a:picLocks noChangeAspect="1"/>
              </p:cNvPicPr>
              <p:nvPr/>
            </p:nvPicPr>
            <p:blipFill>
              <a:blip r:embed="rId9"/>
              <a:stretch>
                <a:fillRect/>
              </a:stretch>
            </p:blipFill>
            <p:spPr>
              <a:xfrm>
                <a:off x="1283257" y="3993340"/>
                <a:ext cx="1094791" cy="1648698"/>
              </a:xfrm>
              <a:prstGeom prst="rect">
                <a:avLst/>
              </a:prstGeom>
            </p:spPr>
          </p:pic>
          <p:pic>
            <p:nvPicPr>
              <p:cNvPr id="19" name="Picture 7" descr="Adoptable Rabbits | morabbit">
                <a:extLst>
                  <a:ext uri="{FF2B5EF4-FFF2-40B4-BE49-F238E27FC236}">
                    <a16:creationId xmlns:a16="http://schemas.microsoft.com/office/drawing/2014/main" id="{05EE9CDE-043A-0DC7-A7D5-020B3F639C84}"/>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flipH="1">
                <a:off x="4294855" y="4027727"/>
                <a:ext cx="1094791" cy="1797768"/>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23">
                <a:extLst>
                  <a:ext uri="{FF2B5EF4-FFF2-40B4-BE49-F238E27FC236}">
                    <a16:creationId xmlns:a16="http://schemas.microsoft.com/office/drawing/2014/main" id="{BA3F3C1C-E9C3-378A-D922-535A4C7A44D6}"/>
                  </a:ext>
                </a:extLst>
              </p:cNvPr>
              <p:cNvPicPr>
                <a:picLocks noChangeAspect="1"/>
              </p:cNvPicPr>
              <p:nvPr/>
            </p:nvPicPr>
            <p:blipFill>
              <a:blip r:embed="rId11"/>
              <a:stretch>
                <a:fillRect/>
              </a:stretch>
            </p:blipFill>
            <p:spPr>
              <a:xfrm>
                <a:off x="2876418" y="4093706"/>
                <a:ext cx="1232944" cy="1548332"/>
              </a:xfrm>
              <a:prstGeom prst="rect">
                <a:avLst/>
              </a:prstGeom>
            </p:spPr>
          </p:pic>
        </p:grpSp>
      </p:grpSp>
      <p:sp>
        <p:nvSpPr>
          <p:cNvPr id="30" name="Oval 29">
            <a:extLst>
              <a:ext uri="{FF2B5EF4-FFF2-40B4-BE49-F238E27FC236}">
                <a16:creationId xmlns:a16="http://schemas.microsoft.com/office/drawing/2014/main" id="{D495A527-86AF-7F9F-F4E6-16E03F8AD446}"/>
              </a:ext>
            </a:extLst>
          </p:cNvPr>
          <p:cNvSpPr/>
          <p:nvPr/>
        </p:nvSpPr>
        <p:spPr>
          <a:xfrm>
            <a:off x="4109362" y="3929307"/>
            <a:ext cx="1733141" cy="1712732"/>
          </a:xfrm>
          <a:custGeom>
            <a:avLst/>
            <a:gdLst>
              <a:gd name="csX0" fmla="*/ 0 w 1733141"/>
              <a:gd name="csY0" fmla="*/ 856366 h 1712732"/>
              <a:gd name="csX1" fmla="*/ 866571 w 1733141"/>
              <a:gd name="csY1" fmla="*/ 0 h 1712732"/>
              <a:gd name="csX2" fmla="*/ 1733142 w 1733141"/>
              <a:gd name="csY2" fmla="*/ 856366 h 1712732"/>
              <a:gd name="csX3" fmla="*/ 866571 w 1733141"/>
              <a:gd name="csY3" fmla="*/ 1712732 h 1712732"/>
              <a:gd name="csX4" fmla="*/ 0 w 1733141"/>
              <a:gd name="csY4" fmla="*/ 856366 h 1712732"/>
            </a:gdLst>
            <a:ahLst/>
            <a:cxnLst>
              <a:cxn ang="0">
                <a:pos x="csX0" y="csY0"/>
              </a:cxn>
              <a:cxn ang="0">
                <a:pos x="csX1" y="csY1"/>
              </a:cxn>
              <a:cxn ang="0">
                <a:pos x="csX2" y="csY2"/>
              </a:cxn>
              <a:cxn ang="0">
                <a:pos x="csX3" y="csY3"/>
              </a:cxn>
              <a:cxn ang="0">
                <a:pos x="csX4" y="csY4"/>
              </a:cxn>
            </a:cxnLst>
            <a:rect l="l" t="t" r="r" b="b"/>
            <a:pathLst>
              <a:path w="1733141" h="1712732" extrusionOk="0">
                <a:moveTo>
                  <a:pt x="0" y="856366"/>
                </a:moveTo>
                <a:cubicBezTo>
                  <a:pt x="100502" y="359451"/>
                  <a:pt x="366631" y="130863"/>
                  <a:pt x="866571" y="0"/>
                </a:cubicBezTo>
                <a:cubicBezTo>
                  <a:pt x="1446632" y="-12990"/>
                  <a:pt x="1655962" y="338398"/>
                  <a:pt x="1733142" y="856366"/>
                </a:cubicBezTo>
                <a:cubicBezTo>
                  <a:pt x="1625825" y="1319851"/>
                  <a:pt x="1245760" y="1620534"/>
                  <a:pt x="866571" y="1712732"/>
                </a:cubicBezTo>
                <a:cubicBezTo>
                  <a:pt x="357751" y="1615629"/>
                  <a:pt x="-40863" y="1276479"/>
                  <a:pt x="0" y="856366"/>
                </a:cubicBezTo>
                <a:close/>
              </a:path>
            </a:pathLst>
          </a:custGeom>
          <a:noFill/>
          <a:ln w="57150">
            <a:solidFill>
              <a:schemeClr val="accent5"/>
            </a:solidFill>
            <a:extLst>
              <a:ext uri="{C807C97D-BFC1-408E-A445-0C87EB9F89A2}">
                <ask:lineSketchStyleProps xmlns:ask="http://schemas.microsoft.com/office/drawing/2018/sketchyshapes" sd="649162889">
                  <a:prstGeom prst="ellipse">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5B428798-EEB8-306D-554F-C0B8B294DB81}"/>
              </a:ext>
            </a:extLst>
          </p:cNvPr>
          <p:cNvSpPr/>
          <p:nvPr/>
        </p:nvSpPr>
        <p:spPr>
          <a:xfrm>
            <a:off x="3924670" y="3748584"/>
            <a:ext cx="2070234" cy="2045855"/>
          </a:xfrm>
          <a:custGeom>
            <a:avLst/>
            <a:gdLst>
              <a:gd name="csX0" fmla="*/ 0 w 2070234"/>
              <a:gd name="csY0" fmla="*/ 1022928 h 2045855"/>
              <a:gd name="csX1" fmla="*/ 1035117 w 2070234"/>
              <a:gd name="csY1" fmla="*/ 0 h 2045855"/>
              <a:gd name="csX2" fmla="*/ 2070234 w 2070234"/>
              <a:gd name="csY2" fmla="*/ 1022928 h 2045855"/>
              <a:gd name="csX3" fmla="*/ 1035117 w 2070234"/>
              <a:gd name="csY3" fmla="*/ 2045856 h 2045855"/>
              <a:gd name="csX4" fmla="*/ 0 w 2070234"/>
              <a:gd name="csY4" fmla="*/ 1022928 h 2045855"/>
            </a:gdLst>
            <a:ahLst/>
            <a:cxnLst>
              <a:cxn ang="0">
                <a:pos x="csX0" y="csY0"/>
              </a:cxn>
              <a:cxn ang="0">
                <a:pos x="csX1" y="csY1"/>
              </a:cxn>
              <a:cxn ang="0">
                <a:pos x="csX2" y="csY2"/>
              </a:cxn>
              <a:cxn ang="0">
                <a:pos x="csX3" y="csY3"/>
              </a:cxn>
              <a:cxn ang="0">
                <a:pos x="csX4" y="csY4"/>
              </a:cxn>
            </a:cxnLst>
            <a:rect l="l" t="t" r="r" b="b"/>
            <a:pathLst>
              <a:path w="2070234" h="2045855" extrusionOk="0">
                <a:moveTo>
                  <a:pt x="0" y="1022928"/>
                </a:moveTo>
                <a:cubicBezTo>
                  <a:pt x="23734" y="452322"/>
                  <a:pt x="441391" y="135159"/>
                  <a:pt x="1035117" y="0"/>
                </a:cubicBezTo>
                <a:cubicBezTo>
                  <a:pt x="1639893" y="-4237"/>
                  <a:pt x="1973490" y="401561"/>
                  <a:pt x="2070234" y="1022928"/>
                </a:cubicBezTo>
                <a:cubicBezTo>
                  <a:pt x="2000329" y="1581705"/>
                  <a:pt x="1570987" y="2012643"/>
                  <a:pt x="1035117" y="2045856"/>
                </a:cubicBezTo>
                <a:cubicBezTo>
                  <a:pt x="430228" y="1939169"/>
                  <a:pt x="-19662" y="1562449"/>
                  <a:pt x="0" y="1022928"/>
                </a:cubicBezTo>
                <a:close/>
              </a:path>
            </a:pathLst>
          </a:custGeom>
          <a:noFill/>
          <a:ln w="57150">
            <a:solidFill>
              <a:schemeClr val="accent5"/>
            </a:solidFill>
            <a:extLst>
              <a:ext uri="{C807C97D-BFC1-408E-A445-0C87EB9F89A2}">
                <ask:lineSketchStyleProps xmlns:ask="http://schemas.microsoft.com/office/drawing/2018/sketchyshapes" sd="649162889">
                  <a:prstGeom prst="ellipse">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Oval 31">
            <a:extLst>
              <a:ext uri="{FF2B5EF4-FFF2-40B4-BE49-F238E27FC236}">
                <a16:creationId xmlns:a16="http://schemas.microsoft.com/office/drawing/2014/main" id="{48CE0967-D76B-A6A2-FA4C-1E6086DC23FB}"/>
              </a:ext>
            </a:extLst>
          </p:cNvPr>
          <p:cNvSpPr/>
          <p:nvPr/>
        </p:nvSpPr>
        <p:spPr>
          <a:xfrm>
            <a:off x="2327225" y="3794761"/>
            <a:ext cx="2070234" cy="2045855"/>
          </a:xfrm>
          <a:custGeom>
            <a:avLst/>
            <a:gdLst>
              <a:gd name="csX0" fmla="*/ 0 w 2070234"/>
              <a:gd name="csY0" fmla="*/ 1022928 h 2045855"/>
              <a:gd name="csX1" fmla="*/ 1035117 w 2070234"/>
              <a:gd name="csY1" fmla="*/ 0 h 2045855"/>
              <a:gd name="csX2" fmla="*/ 2070234 w 2070234"/>
              <a:gd name="csY2" fmla="*/ 1022928 h 2045855"/>
              <a:gd name="csX3" fmla="*/ 1035117 w 2070234"/>
              <a:gd name="csY3" fmla="*/ 2045856 h 2045855"/>
              <a:gd name="csX4" fmla="*/ 0 w 2070234"/>
              <a:gd name="csY4" fmla="*/ 1022928 h 2045855"/>
            </a:gdLst>
            <a:ahLst/>
            <a:cxnLst>
              <a:cxn ang="0">
                <a:pos x="csX0" y="csY0"/>
              </a:cxn>
              <a:cxn ang="0">
                <a:pos x="csX1" y="csY1"/>
              </a:cxn>
              <a:cxn ang="0">
                <a:pos x="csX2" y="csY2"/>
              </a:cxn>
              <a:cxn ang="0">
                <a:pos x="csX3" y="csY3"/>
              </a:cxn>
              <a:cxn ang="0">
                <a:pos x="csX4" y="csY4"/>
              </a:cxn>
            </a:cxnLst>
            <a:rect l="l" t="t" r="r" b="b"/>
            <a:pathLst>
              <a:path w="2070234" h="2045855" extrusionOk="0">
                <a:moveTo>
                  <a:pt x="0" y="1022928"/>
                </a:moveTo>
                <a:cubicBezTo>
                  <a:pt x="23734" y="452322"/>
                  <a:pt x="441391" y="135159"/>
                  <a:pt x="1035117" y="0"/>
                </a:cubicBezTo>
                <a:cubicBezTo>
                  <a:pt x="1639893" y="-4237"/>
                  <a:pt x="1973490" y="401561"/>
                  <a:pt x="2070234" y="1022928"/>
                </a:cubicBezTo>
                <a:cubicBezTo>
                  <a:pt x="2000329" y="1581705"/>
                  <a:pt x="1570987" y="2012643"/>
                  <a:pt x="1035117" y="2045856"/>
                </a:cubicBezTo>
                <a:cubicBezTo>
                  <a:pt x="430228" y="1939169"/>
                  <a:pt x="-19662" y="1562449"/>
                  <a:pt x="0" y="1022928"/>
                </a:cubicBezTo>
                <a:close/>
              </a:path>
            </a:pathLst>
          </a:custGeom>
          <a:noFill/>
          <a:ln w="57150">
            <a:solidFill>
              <a:schemeClr val="accent5"/>
            </a:solidFill>
            <a:extLst>
              <a:ext uri="{C807C97D-BFC1-408E-A445-0C87EB9F89A2}">
                <ask:lineSketchStyleProps xmlns:ask="http://schemas.microsoft.com/office/drawing/2018/sketchyshapes" sd="649162889">
                  <a:prstGeom prst="ellipse">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Oval 32">
            <a:extLst>
              <a:ext uri="{FF2B5EF4-FFF2-40B4-BE49-F238E27FC236}">
                <a16:creationId xmlns:a16="http://schemas.microsoft.com/office/drawing/2014/main" id="{2CB270B0-1735-0CCD-146B-58B3365796D7}"/>
              </a:ext>
            </a:extLst>
          </p:cNvPr>
          <p:cNvSpPr/>
          <p:nvPr/>
        </p:nvSpPr>
        <p:spPr>
          <a:xfrm>
            <a:off x="6521745" y="4128911"/>
            <a:ext cx="1513723" cy="1595399"/>
          </a:xfrm>
          <a:custGeom>
            <a:avLst/>
            <a:gdLst>
              <a:gd name="csX0" fmla="*/ 0 w 1513723"/>
              <a:gd name="csY0" fmla="*/ 797700 h 1595399"/>
              <a:gd name="csX1" fmla="*/ 756862 w 1513723"/>
              <a:gd name="csY1" fmla="*/ 0 h 1595399"/>
              <a:gd name="csX2" fmla="*/ 1513724 w 1513723"/>
              <a:gd name="csY2" fmla="*/ 797700 h 1595399"/>
              <a:gd name="csX3" fmla="*/ 756862 w 1513723"/>
              <a:gd name="csY3" fmla="*/ 1595400 h 1595399"/>
              <a:gd name="csX4" fmla="*/ 0 w 1513723"/>
              <a:gd name="csY4" fmla="*/ 797700 h 1595399"/>
            </a:gdLst>
            <a:ahLst/>
            <a:cxnLst>
              <a:cxn ang="0">
                <a:pos x="csX0" y="csY0"/>
              </a:cxn>
              <a:cxn ang="0">
                <a:pos x="csX1" y="csY1"/>
              </a:cxn>
              <a:cxn ang="0">
                <a:pos x="csX2" y="csY2"/>
              </a:cxn>
              <a:cxn ang="0">
                <a:pos x="csX3" y="csY3"/>
              </a:cxn>
              <a:cxn ang="0">
                <a:pos x="csX4" y="csY4"/>
              </a:cxn>
            </a:cxnLst>
            <a:rect l="l" t="t" r="r" b="b"/>
            <a:pathLst>
              <a:path w="1513723" h="1595399" extrusionOk="0">
                <a:moveTo>
                  <a:pt x="0" y="797700"/>
                </a:moveTo>
                <a:cubicBezTo>
                  <a:pt x="43231" y="346837"/>
                  <a:pt x="322036" y="103130"/>
                  <a:pt x="756862" y="0"/>
                </a:cubicBezTo>
                <a:cubicBezTo>
                  <a:pt x="1195495" y="-2641"/>
                  <a:pt x="1454654" y="322693"/>
                  <a:pt x="1513724" y="797700"/>
                </a:cubicBezTo>
                <a:cubicBezTo>
                  <a:pt x="1432687" y="1231105"/>
                  <a:pt x="1165599" y="1586805"/>
                  <a:pt x="756862" y="1595400"/>
                </a:cubicBezTo>
                <a:cubicBezTo>
                  <a:pt x="306112" y="1490200"/>
                  <a:pt x="-44485" y="1180730"/>
                  <a:pt x="0" y="797700"/>
                </a:cubicBezTo>
                <a:close/>
              </a:path>
            </a:pathLst>
          </a:custGeom>
          <a:noFill/>
          <a:ln w="57150">
            <a:solidFill>
              <a:schemeClr val="accent5"/>
            </a:solidFill>
            <a:extLst>
              <a:ext uri="{C807C97D-BFC1-408E-A445-0C87EB9F89A2}">
                <ask:lineSketchStyleProps xmlns:ask="http://schemas.microsoft.com/office/drawing/2018/sketchyshapes" sd="649162889">
                  <a:prstGeom prst="ellipse">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Oval 33">
            <a:extLst>
              <a:ext uri="{FF2B5EF4-FFF2-40B4-BE49-F238E27FC236}">
                <a16:creationId xmlns:a16="http://schemas.microsoft.com/office/drawing/2014/main" id="{A6BB7143-B64E-7E88-5729-43E3407B2595}"/>
              </a:ext>
            </a:extLst>
          </p:cNvPr>
          <p:cNvSpPr/>
          <p:nvPr/>
        </p:nvSpPr>
        <p:spPr>
          <a:xfrm>
            <a:off x="6814230" y="4108165"/>
            <a:ext cx="1513723" cy="1595399"/>
          </a:xfrm>
          <a:custGeom>
            <a:avLst/>
            <a:gdLst>
              <a:gd name="csX0" fmla="*/ 0 w 1513723"/>
              <a:gd name="csY0" fmla="*/ 797700 h 1595399"/>
              <a:gd name="csX1" fmla="*/ 756862 w 1513723"/>
              <a:gd name="csY1" fmla="*/ 0 h 1595399"/>
              <a:gd name="csX2" fmla="*/ 1513724 w 1513723"/>
              <a:gd name="csY2" fmla="*/ 797700 h 1595399"/>
              <a:gd name="csX3" fmla="*/ 756862 w 1513723"/>
              <a:gd name="csY3" fmla="*/ 1595400 h 1595399"/>
              <a:gd name="csX4" fmla="*/ 0 w 1513723"/>
              <a:gd name="csY4" fmla="*/ 797700 h 1595399"/>
            </a:gdLst>
            <a:ahLst/>
            <a:cxnLst>
              <a:cxn ang="0">
                <a:pos x="csX0" y="csY0"/>
              </a:cxn>
              <a:cxn ang="0">
                <a:pos x="csX1" y="csY1"/>
              </a:cxn>
              <a:cxn ang="0">
                <a:pos x="csX2" y="csY2"/>
              </a:cxn>
              <a:cxn ang="0">
                <a:pos x="csX3" y="csY3"/>
              </a:cxn>
              <a:cxn ang="0">
                <a:pos x="csX4" y="csY4"/>
              </a:cxn>
            </a:cxnLst>
            <a:rect l="l" t="t" r="r" b="b"/>
            <a:pathLst>
              <a:path w="1513723" h="1595399" extrusionOk="0">
                <a:moveTo>
                  <a:pt x="0" y="797700"/>
                </a:moveTo>
                <a:cubicBezTo>
                  <a:pt x="43231" y="346837"/>
                  <a:pt x="322036" y="103130"/>
                  <a:pt x="756862" y="0"/>
                </a:cubicBezTo>
                <a:cubicBezTo>
                  <a:pt x="1195495" y="-2641"/>
                  <a:pt x="1454654" y="322693"/>
                  <a:pt x="1513724" y="797700"/>
                </a:cubicBezTo>
                <a:cubicBezTo>
                  <a:pt x="1432687" y="1231105"/>
                  <a:pt x="1165599" y="1586805"/>
                  <a:pt x="756862" y="1595400"/>
                </a:cubicBezTo>
                <a:cubicBezTo>
                  <a:pt x="306112" y="1490200"/>
                  <a:pt x="-44485" y="1180730"/>
                  <a:pt x="0" y="797700"/>
                </a:cubicBezTo>
                <a:close/>
              </a:path>
            </a:pathLst>
          </a:custGeom>
          <a:noFill/>
          <a:ln w="57150">
            <a:solidFill>
              <a:schemeClr val="accent5"/>
            </a:solidFill>
            <a:extLst>
              <a:ext uri="{C807C97D-BFC1-408E-A445-0C87EB9F89A2}">
                <ask:lineSketchStyleProps xmlns:ask="http://schemas.microsoft.com/office/drawing/2018/sketchyshapes" sd="649162889">
                  <a:prstGeom prst="ellipse">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Oval 34">
            <a:extLst>
              <a:ext uri="{FF2B5EF4-FFF2-40B4-BE49-F238E27FC236}">
                <a16:creationId xmlns:a16="http://schemas.microsoft.com/office/drawing/2014/main" id="{51E8FDFC-7E56-B360-078E-4CCF202A0C6D}"/>
              </a:ext>
            </a:extLst>
          </p:cNvPr>
          <p:cNvSpPr/>
          <p:nvPr/>
        </p:nvSpPr>
        <p:spPr>
          <a:xfrm>
            <a:off x="10151881" y="3968205"/>
            <a:ext cx="1513723" cy="1595399"/>
          </a:xfrm>
          <a:custGeom>
            <a:avLst/>
            <a:gdLst>
              <a:gd name="csX0" fmla="*/ 0 w 1513723"/>
              <a:gd name="csY0" fmla="*/ 797700 h 1595399"/>
              <a:gd name="csX1" fmla="*/ 756862 w 1513723"/>
              <a:gd name="csY1" fmla="*/ 0 h 1595399"/>
              <a:gd name="csX2" fmla="*/ 1513724 w 1513723"/>
              <a:gd name="csY2" fmla="*/ 797700 h 1595399"/>
              <a:gd name="csX3" fmla="*/ 756862 w 1513723"/>
              <a:gd name="csY3" fmla="*/ 1595400 h 1595399"/>
              <a:gd name="csX4" fmla="*/ 0 w 1513723"/>
              <a:gd name="csY4" fmla="*/ 797700 h 1595399"/>
            </a:gdLst>
            <a:ahLst/>
            <a:cxnLst>
              <a:cxn ang="0">
                <a:pos x="csX0" y="csY0"/>
              </a:cxn>
              <a:cxn ang="0">
                <a:pos x="csX1" y="csY1"/>
              </a:cxn>
              <a:cxn ang="0">
                <a:pos x="csX2" y="csY2"/>
              </a:cxn>
              <a:cxn ang="0">
                <a:pos x="csX3" y="csY3"/>
              </a:cxn>
              <a:cxn ang="0">
                <a:pos x="csX4" y="csY4"/>
              </a:cxn>
            </a:cxnLst>
            <a:rect l="l" t="t" r="r" b="b"/>
            <a:pathLst>
              <a:path w="1513723" h="1595399" extrusionOk="0">
                <a:moveTo>
                  <a:pt x="0" y="797700"/>
                </a:moveTo>
                <a:cubicBezTo>
                  <a:pt x="43231" y="346837"/>
                  <a:pt x="322036" y="103130"/>
                  <a:pt x="756862" y="0"/>
                </a:cubicBezTo>
                <a:cubicBezTo>
                  <a:pt x="1195495" y="-2641"/>
                  <a:pt x="1454654" y="322693"/>
                  <a:pt x="1513724" y="797700"/>
                </a:cubicBezTo>
                <a:cubicBezTo>
                  <a:pt x="1432687" y="1231105"/>
                  <a:pt x="1165599" y="1586805"/>
                  <a:pt x="756862" y="1595400"/>
                </a:cubicBezTo>
                <a:cubicBezTo>
                  <a:pt x="306112" y="1490200"/>
                  <a:pt x="-44485" y="1180730"/>
                  <a:pt x="0" y="797700"/>
                </a:cubicBezTo>
                <a:close/>
              </a:path>
            </a:pathLst>
          </a:custGeom>
          <a:noFill/>
          <a:ln w="57150">
            <a:solidFill>
              <a:schemeClr val="accent5"/>
            </a:solidFill>
            <a:extLst>
              <a:ext uri="{C807C97D-BFC1-408E-A445-0C87EB9F89A2}">
                <ask:lineSketchStyleProps xmlns:ask="http://schemas.microsoft.com/office/drawing/2018/sketchyshapes" sd="649162889">
                  <a:prstGeom prst="ellipse">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550130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4"/>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30" grpId="0" animBg="1"/>
      <p:bldP spid="31" grpId="0" animBg="1"/>
      <p:bldP spid="32" grpId="0" animBg="1"/>
      <p:bldP spid="33" grpId="0" animBg="1"/>
      <p:bldP spid="34" grpId="0" animBg="1"/>
      <p:bldP spid="35"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0570BB-260E-B8D3-5975-51F256A05986}"/>
              </a:ext>
            </a:extLst>
          </p:cNvPr>
          <p:cNvSpPr>
            <a:spLocks noGrp="1"/>
          </p:cNvSpPr>
          <p:nvPr>
            <p:ph type="title"/>
          </p:nvPr>
        </p:nvSpPr>
        <p:spPr>
          <a:xfrm>
            <a:off x="640080" y="-133430"/>
            <a:ext cx="10515600" cy="1325563"/>
          </a:xfrm>
        </p:spPr>
        <p:txBody>
          <a:bodyPr/>
          <a:lstStyle/>
          <a:p>
            <a:r>
              <a:rPr lang="en-US" dirty="0"/>
              <a:t>Resampling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C7ADC26-159D-5746-44F9-1B1FE9C55D6E}"/>
                  </a:ext>
                </a:extLst>
              </p:cNvPr>
              <p:cNvSpPr>
                <a:spLocks noGrp="1"/>
              </p:cNvSpPr>
              <p:nvPr>
                <p:ph idx="1"/>
              </p:nvPr>
            </p:nvSpPr>
            <p:spPr>
              <a:xfrm>
                <a:off x="838201" y="1051560"/>
                <a:ext cx="10515600" cy="4351338"/>
              </a:xfrm>
            </p:spPr>
            <p:txBody>
              <a:bodyPr>
                <a:normAutofit/>
              </a:bodyPr>
              <a:lstStyle/>
              <a:p>
                <a:r>
                  <a:rPr lang="en-US" sz="2400" dirty="0"/>
                  <a:t>Suppose we have a random treatment group </a:t>
                </a:r>
                <a14:m>
                  <m:oMath xmlns:m="http://schemas.openxmlformats.org/officeDocument/2006/math">
                    <m:r>
                      <a:rPr lang="en-US" sz="2400" b="0" i="1" smtClean="0">
                        <a:latin typeface="Cambria Math" panose="02040503050406030204" pitchFamily="18" charset="0"/>
                      </a:rPr>
                      <m:t>𝑇</m:t>
                    </m:r>
                  </m:oMath>
                </a14:m>
                <a:r>
                  <a:rPr lang="en-US" sz="2400" dirty="0"/>
                  <a:t> and a control group </a:t>
                </a:r>
                <a14:m>
                  <m:oMath xmlns:m="http://schemas.openxmlformats.org/officeDocument/2006/math">
                    <m:r>
                      <a:rPr lang="en-US" sz="2400" b="0" i="1" smtClean="0">
                        <a:latin typeface="Cambria Math" panose="02040503050406030204" pitchFamily="18" charset="0"/>
                      </a:rPr>
                      <m:t>𝐶</m:t>
                    </m:r>
                  </m:oMath>
                </a14:m>
                <a:endParaRPr lang="en-US" sz="2400" dirty="0"/>
              </a:p>
              <a:p>
                <a:pPr lvl="1"/>
                <a:r>
                  <a:rPr lang="en-US" sz="2000" dirty="0">
                    <a:solidFill>
                      <a:schemeClr val="accent1"/>
                    </a:solidFill>
                  </a:rPr>
                  <a:t>Choose </a:t>
                </a:r>
                <a14:m>
                  <m:oMath xmlns:m="http://schemas.openxmlformats.org/officeDocument/2006/math">
                    <m:sSub>
                      <m:sSubPr>
                        <m:ctrlPr>
                          <a:rPr lang="en-US" sz="2000" b="0" i="1" smtClean="0">
                            <a:solidFill>
                              <a:schemeClr val="accent1"/>
                            </a:solidFill>
                            <a:latin typeface="Cambria Math" panose="02040503050406030204" pitchFamily="18" charset="0"/>
                          </a:rPr>
                        </m:ctrlPr>
                      </m:sSubPr>
                      <m:e>
                        <m:r>
                          <a:rPr lang="en-US" sz="2000" b="0" i="1" smtClean="0">
                            <a:solidFill>
                              <a:schemeClr val="accent1"/>
                            </a:solidFill>
                            <a:latin typeface="Cambria Math" panose="02040503050406030204" pitchFamily="18" charset="0"/>
                          </a:rPr>
                          <m:t>𝑁</m:t>
                        </m:r>
                      </m:e>
                      <m:sub>
                        <m:r>
                          <a:rPr lang="en-US" sz="2000" b="0" i="1" smtClean="0">
                            <a:solidFill>
                              <a:schemeClr val="accent1"/>
                            </a:solidFill>
                            <a:latin typeface="Cambria Math" panose="02040503050406030204" pitchFamily="18" charset="0"/>
                          </a:rPr>
                          <m:t>0</m:t>
                        </m:r>
                      </m:sub>
                    </m:sSub>
                  </m:oMath>
                </a14:m>
                <a:r>
                  <a:rPr lang="en-US" sz="2000" dirty="0">
                    <a:solidFill>
                      <a:schemeClr val="accent1"/>
                    </a:solidFill>
                  </a:rPr>
                  <a:t> people with repetition in </a:t>
                </a:r>
                <a14:m>
                  <m:oMath xmlns:m="http://schemas.openxmlformats.org/officeDocument/2006/math">
                    <m:r>
                      <a:rPr lang="en-US" sz="2000" i="1" dirty="0" smtClean="0">
                        <a:solidFill>
                          <a:schemeClr val="accent1"/>
                        </a:solidFill>
                        <a:latin typeface="Cambria Math" panose="02040503050406030204" pitchFamily="18" charset="0"/>
                      </a:rPr>
                      <m:t>𝐶</m:t>
                    </m:r>
                  </m:oMath>
                </a14:m>
                <a:r>
                  <a:rPr lang="en-US" sz="2000" dirty="0">
                    <a:solidFill>
                      <a:schemeClr val="accent1"/>
                    </a:solidFill>
                  </a:rPr>
                  <a:t> at random.</a:t>
                </a:r>
              </a:p>
              <a:p>
                <a:pPr lvl="1"/>
                <a:r>
                  <a:rPr lang="en-US" sz="2000" dirty="0">
                    <a:solidFill>
                      <a:schemeClr val="accent1"/>
                    </a:solidFill>
                  </a:rPr>
                  <a:t>Choose </a:t>
                </a:r>
                <a14:m>
                  <m:oMath xmlns:m="http://schemas.openxmlformats.org/officeDocument/2006/math">
                    <m:sSub>
                      <m:sSubPr>
                        <m:ctrlPr>
                          <a:rPr lang="en-US" sz="2000" b="0" i="1" smtClean="0">
                            <a:solidFill>
                              <a:schemeClr val="accent1"/>
                            </a:solidFill>
                            <a:latin typeface="Cambria Math" panose="02040503050406030204" pitchFamily="18" charset="0"/>
                          </a:rPr>
                        </m:ctrlPr>
                      </m:sSubPr>
                      <m:e>
                        <m:r>
                          <a:rPr lang="en-US" sz="2000" b="0" i="1" smtClean="0">
                            <a:solidFill>
                              <a:schemeClr val="accent1"/>
                            </a:solidFill>
                            <a:latin typeface="Cambria Math" panose="02040503050406030204" pitchFamily="18" charset="0"/>
                          </a:rPr>
                          <m:t>𝑁</m:t>
                        </m:r>
                      </m:e>
                      <m:sub>
                        <m:r>
                          <a:rPr lang="en-US" sz="2000" b="0" i="1" smtClean="0">
                            <a:solidFill>
                              <a:schemeClr val="accent1"/>
                            </a:solidFill>
                            <a:latin typeface="Cambria Math" panose="02040503050406030204" pitchFamily="18" charset="0"/>
                          </a:rPr>
                          <m:t>1</m:t>
                        </m:r>
                      </m:sub>
                    </m:sSub>
                  </m:oMath>
                </a14:m>
                <a:r>
                  <a:rPr lang="en-US" sz="2000" dirty="0">
                    <a:solidFill>
                      <a:schemeClr val="accent1"/>
                    </a:solidFill>
                  </a:rPr>
                  <a:t> people with repetition in </a:t>
                </a:r>
                <a14:m>
                  <m:oMath xmlns:m="http://schemas.openxmlformats.org/officeDocument/2006/math">
                    <m:r>
                      <a:rPr lang="en-US" sz="2000" i="1" dirty="0" smtClean="0">
                        <a:solidFill>
                          <a:schemeClr val="accent1"/>
                        </a:solidFill>
                        <a:latin typeface="Cambria Math" panose="02040503050406030204" pitchFamily="18" charset="0"/>
                      </a:rPr>
                      <m:t>𝑇</m:t>
                    </m:r>
                  </m:oMath>
                </a14:m>
                <a:r>
                  <a:rPr lang="en-US" sz="2000" dirty="0">
                    <a:solidFill>
                      <a:schemeClr val="accent1"/>
                    </a:solidFill>
                  </a:rPr>
                  <a:t> at random. </a:t>
                </a:r>
              </a:p>
              <a:p>
                <a:r>
                  <a:rPr lang="en-US" sz="2400" dirty="0"/>
                  <a:t>Create “new” treatment and control groups from these samples.</a:t>
                </a:r>
              </a:p>
              <a:p>
                <a:r>
                  <a:rPr lang="en-US" sz="2400" dirty="0"/>
                  <a:t>Compute </a:t>
                </a:r>
                <a14:m>
                  <m:oMath xmlns:m="http://schemas.openxmlformats.org/officeDocument/2006/math">
                    <m:acc>
                      <m:accPr>
                        <m:chr m:val="̂"/>
                        <m:ctrlPr>
                          <a:rPr lang="en-US" sz="2400" b="0" i="1" smtClean="0">
                            <a:latin typeface="Cambria Math" panose="02040503050406030204" pitchFamily="18" charset="0"/>
                          </a:rPr>
                        </m:ctrlPr>
                      </m:accPr>
                      <m:e>
                        <m:r>
                          <a:rPr lang="en-US" sz="2400" b="0" i="1" smtClean="0">
                            <a:latin typeface="Cambria Math" panose="02040503050406030204" pitchFamily="18" charset="0"/>
                          </a:rPr>
                          <m:t>𝜏</m:t>
                        </m:r>
                      </m:e>
                    </m:acc>
                  </m:oMath>
                </a14:m>
                <a:r>
                  <a:rPr lang="en-US" sz="2400" dirty="0"/>
                  <a:t> with these treatment/control groups.</a:t>
                </a:r>
              </a:p>
              <a:p>
                <a:r>
                  <a:rPr lang="en-US" sz="2400" dirty="0"/>
                  <a:t>Repeat a bunch of times and look at the distribution of what you get.</a:t>
                </a:r>
              </a:p>
            </p:txBody>
          </p:sp>
        </mc:Choice>
        <mc:Fallback xmlns="">
          <p:sp>
            <p:nvSpPr>
              <p:cNvPr id="3" name="Content Placeholder 2">
                <a:extLst>
                  <a:ext uri="{FF2B5EF4-FFF2-40B4-BE49-F238E27FC236}">
                    <a16:creationId xmlns:a16="http://schemas.microsoft.com/office/drawing/2014/main" id="{1C7ADC26-159D-5746-44F9-1B1FE9C55D6E}"/>
                  </a:ext>
                </a:extLst>
              </p:cNvPr>
              <p:cNvSpPr>
                <a:spLocks noGrp="1" noRot="1" noChangeAspect="1" noMove="1" noResize="1" noEditPoints="1" noAdjustHandles="1" noChangeArrowheads="1" noChangeShapeType="1" noTextEdit="1"/>
              </p:cNvSpPr>
              <p:nvPr>
                <p:ph idx="1"/>
              </p:nvPr>
            </p:nvSpPr>
            <p:spPr>
              <a:xfrm>
                <a:off x="838201" y="1051560"/>
                <a:ext cx="10515600" cy="4351338"/>
              </a:xfrm>
              <a:blipFill>
                <a:blip r:embed="rId3"/>
                <a:stretch>
                  <a:fillRect l="-844" t="-2332"/>
                </a:stretch>
              </a:blipFill>
            </p:spPr>
            <p:txBody>
              <a:bodyPr/>
              <a:lstStyle/>
              <a:p>
                <a:r>
                  <a:rPr lang="en-US">
                    <a:noFill/>
                  </a:rPr>
                  <a:t> </a:t>
                </a:r>
              </a:p>
            </p:txBody>
          </p:sp>
        </mc:Fallback>
      </mc:AlternateContent>
      <p:sp>
        <p:nvSpPr>
          <p:cNvPr id="5" name="Rounded Rectangle 4">
            <a:extLst>
              <a:ext uri="{FF2B5EF4-FFF2-40B4-BE49-F238E27FC236}">
                <a16:creationId xmlns:a16="http://schemas.microsoft.com/office/drawing/2014/main" id="{DDEAFB04-A79D-E10F-249D-5398E18D008B}"/>
              </a:ext>
            </a:extLst>
          </p:cNvPr>
          <p:cNvSpPr/>
          <p:nvPr/>
        </p:nvSpPr>
        <p:spPr>
          <a:xfrm>
            <a:off x="701040" y="3660236"/>
            <a:ext cx="5196840" cy="2146203"/>
          </a:xfrm>
          <a:prstGeom prst="round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a:extLst>
              <a:ext uri="{FF2B5EF4-FFF2-40B4-BE49-F238E27FC236}">
                <a16:creationId xmlns:a16="http://schemas.microsoft.com/office/drawing/2014/main" id="{29993700-152A-7256-CD79-01E75575EBED}"/>
              </a:ext>
            </a:extLst>
          </p:cNvPr>
          <p:cNvSpPr/>
          <p:nvPr/>
        </p:nvSpPr>
        <p:spPr>
          <a:xfrm>
            <a:off x="6294122" y="3929306"/>
            <a:ext cx="5532118" cy="1877133"/>
          </a:xfrm>
          <a:prstGeom prst="round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E9C728E1-3AF9-B557-8DE3-110416D681DF}"/>
                  </a:ext>
                </a:extLst>
              </p:cNvPr>
              <p:cNvSpPr txBox="1"/>
              <p:nvPr/>
            </p:nvSpPr>
            <p:spPr>
              <a:xfrm>
                <a:off x="1353779" y="5921173"/>
                <a:ext cx="4278222" cy="369332"/>
              </a:xfrm>
              <a:prstGeom prst="rect">
                <a:avLst/>
              </a:prstGeom>
              <a:noFill/>
            </p:spPr>
            <p:txBody>
              <a:bodyPr wrap="none" rtlCol="0">
                <a:spAutoFit/>
              </a:bodyPr>
              <a:lstStyle/>
              <a:p>
                <a:r>
                  <a:rPr lang="en-US" dirty="0"/>
                  <a:t>“New/bootstrapped” Treatment Group </a:t>
                </a:r>
                <a14:m>
                  <m:oMath xmlns:m="http://schemas.openxmlformats.org/officeDocument/2006/math">
                    <m:sSup>
                      <m:sSupPr>
                        <m:ctrlPr>
                          <a:rPr lang="en-US" b="0" i="1" dirty="0" smtClean="0">
                            <a:latin typeface="Cambria Math" panose="02040503050406030204" pitchFamily="18" charset="0"/>
                          </a:rPr>
                        </m:ctrlPr>
                      </m:sSupPr>
                      <m:e>
                        <m:r>
                          <a:rPr lang="en-US" i="1" dirty="0" smtClean="0">
                            <a:latin typeface="Cambria Math" panose="02040503050406030204" pitchFamily="18" charset="0"/>
                          </a:rPr>
                          <m:t>𝑇</m:t>
                        </m:r>
                      </m:e>
                      <m:sup>
                        <m:r>
                          <a:rPr lang="en-US" b="0" i="1" dirty="0" smtClean="0">
                            <a:latin typeface="Cambria Math" panose="02040503050406030204" pitchFamily="18" charset="0"/>
                          </a:rPr>
                          <m:t>∗</m:t>
                        </m:r>
                      </m:sup>
                    </m:sSup>
                  </m:oMath>
                </a14:m>
                <a:endParaRPr lang="en-US" dirty="0"/>
              </a:p>
            </p:txBody>
          </p:sp>
        </mc:Choice>
        <mc:Fallback xmlns="">
          <p:sp>
            <p:nvSpPr>
              <p:cNvPr id="7" name="TextBox 6">
                <a:extLst>
                  <a:ext uri="{FF2B5EF4-FFF2-40B4-BE49-F238E27FC236}">
                    <a16:creationId xmlns:a16="http://schemas.microsoft.com/office/drawing/2014/main" id="{E9C728E1-3AF9-B557-8DE3-110416D681DF}"/>
                  </a:ext>
                </a:extLst>
              </p:cNvPr>
              <p:cNvSpPr txBox="1">
                <a:spLocks noRot="1" noChangeAspect="1" noMove="1" noResize="1" noEditPoints="1" noAdjustHandles="1" noChangeArrowheads="1" noChangeShapeType="1" noTextEdit="1"/>
              </p:cNvSpPr>
              <p:nvPr/>
            </p:nvSpPr>
            <p:spPr>
              <a:xfrm>
                <a:off x="1353779" y="5921173"/>
                <a:ext cx="4278222" cy="369332"/>
              </a:xfrm>
              <a:prstGeom prst="rect">
                <a:avLst/>
              </a:prstGeom>
              <a:blipFill>
                <a:blip r:embed="rId4"/>
                <a:stretch>
                  <a:fillRect l="-1140" t="-6557" b="-262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30861467-8FDB-F7A0-CBAF-E8FEF4763B0C}"/>
                  </a:ext>
                </a:extLst>
              </p:cNvPr>
              <p:cNvSpPr txBox="1"/>
              <p:nvPr/>
            </p:nvSpPr>
            <p:spPr>
              <a:xfrm>
                <a:off x="7368474" y="5987867"/>
                <a:ext cx="4014497" cy="369332"/>
              </a:xfrm>
              <a:prstGeom prst="rect">
                <a:avLst/>
              </a:prstGeom>
              <a:noFill/>
            </p:spPr>
            <p:txBody>
              <a:bodyPr wrap="none" rtlCol="0">
                <a:spAutoFit/>
              </a:bodyPr>
              <a:lstStyle/>
              <a:p>
                <a:r>
                  <a:rPr lang="en-US" dirty="0"/>
                  <a:t>“New/bootstrapped” Control Group </a:t>
                </a:r>
                <a14:m>
                  <m:oMath xmlns:m="http://schemas.openxmlformats.org/officeDocument/2006/math">
                    <m:sSup>
                      <m:sSupPr>
                        <m:ctrlPr>
                          <a:rPr lang="en-US" b="0" i="1" dirty="0" smtClean="0">
                            <a:latin typeface="Cambria Math" panose="02040503050406030204" pitchFamily="18" charset="0"/>
                          </a:rPr>
                        </m:ctrlPr>
                      </m:sSupPr>
                      <m:e>
                        <m:r>
                          <a:rPr lang="en-US" i="1" dirty="0" smtClean="0">
                            <a:latin typeface="Cambria Math" panose="02040503050406030204" pitchFamily="18" charset="0"/>
                          </a:rPr>
                          <m:t>𝐶</m:t>
                        </m:r>
                      </m:e>
                      <m:sup>
                        <m:r>
                          <a:rPr lang="en-US" b="0" i="1" dirty="0" smtClean="0">
                            <a:latin typeface="Cambria Math" panose="02040503050406030204" pitchFamily="18" charset="0"/>
                          </a:rPr>
                          <m:t>∗</m:t>
                        </m:r>
                      </m:sup>
                    </m:sSup>
                  </m:oMath>
                </a14:m>
                <a:endParaRPr lang="en-US" dirty="0"/>
              </a:p>
            </p:txBody>
          </p:sp>
        </mc:Choice>
        <mc:Fallback xmlns="">
          <p:sp>
            <p:nvSpPr>
              <p:cNvPr id="8" name="TextBox 7">
                <a:extLst>
                  <a:ext uri="{FF2B5EF4-FFF2-40B4-BE49-F238E27FC236}">
                    <a16:creationId xmlns:a16="http://schemas.microsoft.com/office/drawing/2014/main" id="{30861467-8FDB-F7A0-CBAF-E8FEF4763B0C}"/>
                  </a:ext>
                </a:extLst>
              </p:cNvPr>
              <p:cNvSpPr txBox="1">
                <a:spLocks noRot="1" noChangeAspect="1" noMove="1" noResize="1" noEditPoints="1" noAdjustHandles="1" noChangeArrowheads="1" noChangeShapeType="1" noTextEdit="1"/>
              </p:cNvSpPr>
              <p:nvPr/>
            </p:nvSpPr>
            <p:spPr>
              <a:xfrm>
                <a:off x="7368474" y="5987867"/>
                <a:ext cx="4014497" cy="369332"/>
              </a:xfrm>
              <a:prstGeom prst="rect">
                <a:avLst/>
              </a:prstGeom>
              <a:blipFill>
                <a:blip r:embed="rId5"/>
                <a:stretch>
                  <a:fillRect l="-1368" t="-6557" b="-26230"/>
                </a:stretch>
              </a:blipFill>
            </p:spPr>
            <p:txBody>
              <a:bodyPr/>
              <a:lstStyle/>
              <a:p>
                <a:r>
                  <a:rPr lang="en-US">
                    <a:noFill/>
                  </a:rPr>
                  <a:t> </a:t>
                </a:r>
              </a:p>
            </p:txBody>
          </p:sp>
        </mc:Fallback>
      </mc:AlternateContent>
      <p:pic>
        <p:nvPicPr>
          <p:cNvPr id="17" name="Picture 16">
            <a:extLst>
              <a:ext uri="{FF2B5EF4-FFF2-40B4-BE49-F238E27FC236}">
                <a16:creationId xmlns:a16="http://schemas.microsoft.com/office/drawing/2014/main" id="{F33E62FC-B92E-4B94-1177-CC4C61C85F03}"/>
              </a:ext>
            </a:extLst>
          </p:cNvPr>
          <p:cNvPicPr>
            <a:picLocks noChangeAspect="1"/>
          </p:cNvPicPr>
          <p:nvPr/>
        </p:nvPicPr>
        <p:blipFill>
          <a:blip r:embed="rId6"/>
          <a:stretch>
            <a:fillRect/>
          </a:stretch>
        </p:blipFill>
        <p:spPr>
          <a:xfrm>
            <a:off x="6688630" y="4295400"/>
            <a:ext cx="1359688" cy="1205460"/>
          </a:xfrm>
          <a:prstGeom prst="rect">
            <a:avLst/>
          </a:prstGeom>
        </p:spPr>
      </p:pic>
      <p:pic>
        <p:nvPicPr>
          <p:cNvPr id="19" name="Picture 7" descr="Adoptable Rabbits | morabbit">
            <a:extLst>
              <a:ext uri="{FF2B5EF4-FFF2-40B4-BE49-F238E27FC236}">
                <a16:creationId xmlns:a16="http://schemas.microsoft.com/office/drawing/2014/main" id="{05EE9CDE-043A-0DC7-A7D5-020B3F639C8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flipH="1">
            <a:off x="4294855" y="4027727"/>
            <a:ext cx="1094791" cy="1797768"/>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1">
            <a:extLst>
              <a:ext uri="{FF2B5EF4-FFF2-40B4-BE49-F238E27FC236}">
                <a16:creationId xmlns:a16="http://schemas.microsoft.com/office/drawing/2014/main" id="{86538CB8-8DF2-44FC-E392-DBD4599E88A7}"/>
              </a:ext>
            </a:extLst>
          </p:cNvPr>
          <p:cNvPicPr>
            <a:picLocks noChangeAspect="1"/>
          </p:cNvPicPr>
          <p:nvPr/>
        </p:nvPicPr>
        <p:blipFill>
          <a:blip r:embed="rId8"/>
          <a:stretch>
            <a:fillRect/>
          </a:stretch>
        </p:blipFill>
        <p:spPr>
          <a:xfrm>
            <a:off x="10417771" y="4195718"/>
            <a:ext cx="936028" cy="1305141"/>
          </a:xfrm>
          <a:prstGeom prst="rect">
            <a:avLst/>
          </a:prstGeom>
        </p:spPr>
      </p:pic>
      <p:pic>
        <p:nvPicPr>
          <p:cNvPr id="24" name="Picture 23">
            <a:extLst>
              <a:ext uri="{FF2B5EF4-FFF2-40B4-BE49-F238E27FC236}">
                <a16:creationId xmlns:a16="http://schemas.microsoft.com/office/drawing/2014/main" id="{BA3F3C1C-E9C3-378A-D922-535A4C7A44D6}"/>
              </a:ext>
            </a:extLst>
          </p:cNvPr>
          <p:cNvPicPr>
            <a:picLocks noChangeAspect="1"/>
          </p:cNvPicPr>
          <p:nvPr/>
        </p:nvPicPr>
        <p:blipFill>
          <a:blip r:embed="rId9"/>
          <a:stretch>
            <a:fillRect/>
          </a:stretch>
        </p:blipFill>
        <p:spPr>
          <a:xfrm>
            <a:off x="2876418" y="4093706"/>
            <a:ext cx="1232944" cy="1548332"/>
          </a:xfrm>
          <a:prstGeom prst="rect">
            <a:avLst/>
          </a:prstGeom>
        </p:spPr>
      </p:pic>
      <p:pic>
        <p:nvPicPr>
          <p:cNvPr id="4" name="Picture 3">
            <a:extLst>
              <a:ext uri="{FF2B5EF4-FFF2-40B4-BE49-F238E27FC236}">
                <a16:creationId xmlns:a16="http://schemas.microsoft.com/office/drawing/2014/main" id="{2B54E9B2-A51A-E7EB-833B-F72491A38689}"/>
              </a:ext>
            </a:extLst>
          </p:cNvPr>
          <p:cNvPicPr>
            <a:picLocks noChangeAspect="1"/>
          </p:cNvPicPr>
          <p:nvPr/>
        </p:nvPicPr>
        <p:blipFill>
          <a:blip r:embed="rId6"/>
          <a:stretch>
            <a:fillRect/>
          </a:stretch>
        </p:blipFill>
        <p:spPr>
          <a:xfrm>
            <a:off x="8475893" y="4245558"/>
            <a:ext cx="1359688" cy="1205460"/>
          </a:xfrm>
          <a:prstGeom prst="rect">
            <a:avLst/>
          </a:prstGeom>
        </p:spPr>
      </p:pic>
      <p:pic>
        <p:nvPicPr>
          <p:cNvPr id="10" name="Picture 7" descr="Adoptable Rabbits | morabbit">
            <a:extLst>
              <a:ext uri="{FF2B5EF4-FFF2-40B4-BE49-F238E27FC236}">
                <a16:creationId xmlns:a16="http://schemas.microsoft.com/office/drawing/2014/main" id="{D10C9130-5780-99DB-D8E1-BF0ED5C3E2F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flipH="1">
            <a:off x="1101265" y="3918804"/>
            <a:ext cx="1094791" cy="17977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821329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0570BB-260E-B8D3-5975-51F256A05986}"/>
              </a:ext>
            </a:extLst>
          </p:cNvPr>
          <p:cNvSpPr>
            <a:spLocks noGrp="1"/>
          </p:cNvSpPr>
          <p:nvPr>
            <p:ph type="title"/>
          </p:nvPr>
        </p:nvSpPr>
        <p:spPr>
          <a:xfrm>
            <a:off x="640080" y="-133430"/>
            <a:ext cx="10515600" cy="1325563"/>
          </a:xfrm>
        </p:spPr>
        <p:txBody>
          <a:bodyPr/>
          <a:lstStyle/>
          <a:p>
            <a:r>
              <a:rPr lang="en-US" dirty="0"/>
              <a:t>Resampling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C7ADC26-159D-5746-44F9-1B1FE9C55D6E}"/>
                  </a:ext>
                </a:extLst>
              </p:cNvPr>
              <p:cNvSpPr>
                <a:spLocks noGrp="1"/>
              </p:cNvSpPr>
              <p:nvPr>
                <p:ph idx="1"/>
              </p:nvPr>
            </p:nvSpPr>
            <p:spPr>
              <a:xfrm>
                <a:off x="838201" y="1051559"/>
                <a:ext cx="10515600" cy="5671969"/>
              </a:xfrm>
            </p:spPr>
            <p:txBody>
              <a:bodyPr>
                <a:normAutofit/>
              </a:bodyPr>
              <a:lstStyle/>
              <a:p>
                <a:r>
                  <a:rPr lang="en-US" sz="2400" dirty="0"/>
                  <a:t>Suppose we have a random treatment group </a:t>
                </a:r>
                <a14:m>
                  <m:oMath xmlns:m="http://schemas.openxmlformats.org/officeDocument/2006/math">
                    <m:r>
                      <a:rPr lang="en-US" sz="2400" b="0" i="1" smtClean="0">
                        <a:latin typeface="Cambria Math" panose="02040503050406030204" pitchFamily="18" charset="0"/>
                      </a:rPr>
                      <m:t>𝑇</m:t>
                    </m:r>
                  </m:oMath>
                </a14:m>
                <a:r>
                  <a:rPr lang="en-US" sz="2400" dirty="0"/>
                  <a:t> and a control group </a:t>
                </a:r>
                <a14:m>
                  <m:oMath xmlns:m="http://schemas.openxmlformats.org/officeDocument/2006/math">
                    <m:r>
                      <a:rPr lang="en-US" sz="2400" b="0" i="1" smtClean="0">
                        <a:latin typeface="Cambria Math" panose="02040503050406030204" pitchFamily="18" charset="0"/>
                      </a:rPr>
                      <m:t>𝐶</m:t>
                    </m:r>
                  </m:oMath>
                </a14:m>
                <a:endParaRPr lang="en-US" sz="2400" dirty="0"/>
              </a:p>
              <a:p>
                <a:pPr lvl="1"/>
                <a:r>
                  <a:rPr lang="en-US" sz="2000" dirty="0">
                    <a:solidFill>
                      <a:schemeClr val="accent1"/>
                    </a:solidFill>
                  </a:rPr>
                  <a:t>Choose </a:t>
                </a:r>
                <a14:m>
                  <m:oMath xmlns:m="http://schemas.openxmlformats.org/officeDocument/2006/math">
                    <m:sSub>
                      <m:sSubPr>
                        <m:ctrlPr>
                          <a:rPr lang="en-US" sz="2000" b="0" i="1" smtClean="0">
                            <a:solidFill>
                              <a:schemeClr val="accent1"/>
                            </a:solidFill>
                            <a:latin typeface="Cambria Math" panose="02040503050406030204" pitchFamily="18" charset="0"/>
                          </a:rPr>
                        </m:ctrlPr>
                      </m:sSubPr>
                      <m:e>
                        <m:r>
                          <a:rPr lang="en-US" sz="2000" b="0" i="1" smtClean="0">
                            <a:solidFill>
                              <a:schemeClr val="accent1"/>
                            </a:solidFill>
                            <a:latin typeface="Cambria Math" panose="02040503050406030204" pitchFamily="18" charset="0"/>
                          </a:rPr>
                          <m:t>𝑁</m:t>
                        </m:r>
                      </m:e>
                      <m:sub>
                        <m:r>
                          <a:rPr lang="en-US" sz="2000" b="0" i="1" smtClean="0">
                            <a:solidFill>
                              <a:schemeClr val="accent1"/>
                            </a:solidFill>
                            <a:latin typeface="Cambria Math" panose="02040503050406030204" pitchFamily="18" charset="0"/>
                          </a:rPr>
                          <m:t>0</m:t>
                        </m:r>
                      </m:sub>
                    </m:sSub>
                  </m:oMath>
                </a14:m>
                <a:r>
                  <a:rPr lang="en-US" sz="2000" dirty="0">
                    <a:solidFill>
                      <a:schemeClr val="accent1"/>
                    </a:solidFill>
                  </a:rPr>
                  <a:t> people with repetition in </a:t>
                </a:r>
                <a14:m>
                  <m:oMath xmlns:m="http://schemas.openxmlformats.org/officeDocument/2006/math">
                    <m:r>
                      <a:rPr lang="en-US" sz="2000" i="1" dirty="0" smtClean="0">
                        <a:solidFill>
                          <a:schemeClr val="accent1"/>
                        </a:solidFill>
                        <a:latin typeface="Cambria Math" panose="02040503050406030204" pitchFamily="18" charset="0"/>
                      </a:rPr>
                      <m:t>𝐶</m:t>
                    </m:r>
                  </m:oMath>
                </a14:m>
                <a:r>
                  <a:rPr lang="en-US" sz="2000" dirty="0">
                    <a:solidFill>
                      <a:schemeClr val="accent1"/>
                    </a:solidFill>
                  </a:rPr>
                  <a:t> at random.</a:t>
                </a:r>
              </a:p>
              <a:p>
                <a:pPr lvl="1"/>
                <a:r>
                  <a:rPr lang="en-US" sz="2000" dirty="0">
                    <a:solidFill>
                      <a:schemeClr val="accent1"/>
                    </a:solidFill>
                  </a:rPr>
                  <a:t>Choose </a:t>
                </a:r>
                <a14:m>
                  <m:oMath xmlns:m="http://schemas.openxmlformats.org/officeDocument/2006/math">
                    <m:sSub>
                      <m:sSubPr>
                        <m:ctrlPr>
                          <a:rPr lang="en-US" sz="2000" b="0" i="1" smtClean="0">
                            <a:solidFill>
                              <a:schemeClr val="accent1"/>
                            </a:solidFill>
                            <a:latin typeface="Cambria Math" panose="02040503050406030204" pitchFamily="18" charset="0"/>
                          </a:rPr>
                        </m:ctrlPr>
                      </m:sSubPr>
                      <m:e>
                        <m:r>
                          <a:rPr lang="en-US" sz="2000" b="0" i="1" smtClean="0">
                            <a:solidFill>
                              <a:schemeClr val="accent1"/>
                            </a:solidFill>
                            <a:latin typeface="Cambria Math" panose="02040503050406030204" pitchFamily="18" charset="0"/>
                          </a:rPr>
                          <m:t>𝑁</m:t>
                        </m:r>
                      </m:e>
                      <m:sub>
                        <m:r>
                          <a:rPr lang="en-US" sz="2000" b="0" i="1" smtClean="0">
                            <a:solidFill>
                              <a:schemeClr val="accent1"/>
                            </a:solidFill>
                            <a:latin typeface="Cambria Math" panose="02040503050406030204" pitchFamily="18" charset="0"/>
                          </a:rPr>
                          <m:t>1</m:t>
                        </m:r>
                      </m:sub>
                    </m:sSub>
                  </m:oMath>
                </a14:m>
                <a:r>
                  <a:rPr lang="en-US" sz="2000" dirty="0">
                    <a:solidFill>
                      <a:schemeClr val="accent1"/>
                    </a:solidFill>
                  </a:rPr>
                  <a:t> people with repetition in </a:t>
                </a:r>
                <a14:m>
                  <m:oMath xmlns:m="http://schemas.openxmlformats.org/officeDocument/2006/math">
                    <m:r>
                      <a:rPr lang="en-US" sz="2000" i="1" dirty="0" smtClean="0">
                        <a:solidFill>
                          <a:schemeClr val="accent1"/>
                        </a:solidFill>
                        <a:latin typeface="Cambria Math" panose="02040503050406030204" pitchFamily="18" charset="0"/>
                      </a:rPr>
                      <m:t>𝑇</m:t>
                    </m:r>
                  </m:oMath>
                </a14:m>
                <a:r>
                  <a:rPr lang="en-US" sz="2000" dirty="0">
                    <a:solidFill>
                      <a:schemeClr val="accent1"/>
                    </a:solidFill>
                  </a:rPr>
                  <a:t> at random. </a:t>
                </a:r>
              </a:p>
              <a:p>
                <a:r>
                  <a:rPr lang="en-US" sz="2400" dirty="0"/>
                  <a:t>Create “new” treatment and control groups from these samples.</a:t>
                </a:r>
              </a:p>
              <a:p>
                <a:r>
                  <a:rPr lang="en-US" sz="2400" dirty="0"/>
                  <a:t>Compute </a:t>
                </a:r>
                <a14:m>
                  <m:oMath xmlns:m="http://schemas.openxmlformats.org/officeDocument/2006/math">
                    <m:acc>
                      <m:accPr>
                        <m:chr m:val="̂"/>
                        <m:ctrlPr>
                          <a:rPr lang="en-US" sz="2400" b="0" i="1" smtClean="0">
                            <a:latin typeface="Cambria Math" panose="02040503050406030204" pitchFamily="18" charset="0"/>
                          </a:rPr>
                        </m:ctrlPr>
                      </m:accPr>
                      <m:e>
                        <m:r>
                          <a:rPr lang="en-US" sz="2400" b="0" i="1" smtClean="0">
                            <a:latin typeface="Cambria Math" panose="02040503050406030204" pitchFamily="18" charset="0"/>
                          </a:rPr>
                          <m:t>𝜏</m:t>
                        </m:r>
                      </m:e>
                    </m:acc>
                  </m:oMath>
                </a14:m>
                <a:r>
                  <a:rPr lang="en-US" sz="2400" dirty="0"/>
                  <a:t> with these treatment/control groups.</a:t>
                </a:r>
              </a:p>
              <a:p>
                <a:r>
                  <a:rPr lang="en-US" sz="2400" dirty="0"/>
                  <a:t>Repeat a bunch of times and look at the distribution of what you get.</a:t>
                </a:r>
              </a:p>
              <a:p>
                <a:endParaRPr lang="en-US" sz="2400" dirty="0"/>
              </a:p>
              <a:p>
                <a:r>
                  <a:rPr lang="en-US" sz="2400" dirty="0"/>
                  <a:t>For standard errors:</a:t>
                </a:r>
              </a:p>
              <a:p>
                <a:pPr lvl="1"/>
                <a:r>
                  <a:rPr lang="en-US" sz="2000" dirty="0">
                    <a:solidFill>
                      <a:schemeClr val="accent1"/>
                    </a:solidFill>
                  </a:rPr>
                  <a:t>Take the square root of the sample variance (as discussed in Week 1)</a:t>
                </a:r>
              </a:p>
              <a:p>
                <a:r>
                  <a:rPr lang="en-US" sz="2400" dirty="0"/>
                  <a:t>For confidence intervals:</a:t>
                </a:r>
              </a:p>
              <a:p>
                <a:pPr lvl="1"/>
                <a:r>
                  <a:rPr lang="en-US" sz="2000" dirty="0">
                    <a:solidFill>
                      <a:schemeClr val="accent1"/>
                    </a:solidFill>
                  </a:rPr>
                  <a:t>Use the method from HW0</a:t>
                </a:r>
              </a:p>
              <a:p>
                <a:endParaRPr lang="en-US" sz="2400" dirty="0"/>
              </a:p>
              <a:p>
                <a:endParaRPr lang="en-US" sz="2400" dirty="0"/>
              </a:p>
            </p:txBody>
          </p:sp>
        </mc:Choice>
        <mc:Fallback xmlns="">
          <p:sp>
            <p:nvSpPr>
              <p:cNvPr id="3" name="Content Placeholder 2">
                <a:extLst>
                  <a:ext uri="{FF2B5EF4-FFF2-40B4-BE49-F238E27FC236}">
                    <a16:creationId xmlns:a16="http://schemas.microsoft.com/office/drawing/2014/main" id="{1C7ADC26-159D-5746-44F9-1B1FE9C55D6E}"/>
                  </a:ext>
                </a:extLst>
              </p:cNvPr>
              <p:cNvSpPr>
                <a:spLocks noGrp="1" noRot="1" noChangeAspect="1" noMove="1" noResize="1" noEditPoints="1" noAdjustHandles="1" noChangeArrowheads="1" noChangeShapeType="1" noTextEdit="1"/>
              </p:cNvSpPr>
              <p:nvPr>
                <p:ph idx="1"/>
              </p:nvPr>
            </p:nvSpPr>
            <p:spPr>
              <a:xfrm>
                <a:off x="838201" y="1051559"/>
                <a:ext cx="10515600" cy="5671969"/>
              </a:xfrm>
              <a:blipFill>
                <a:blip r:embed="rId3"/>
                <a:stretch>
                  <a:fillRect l="-844" t="-1563"/>
                </a:stretch>
              </a:blipFill>
            </p:spPr>
            <p:txBody>
              <a:bodyPr/>
              <a:lstStyle/>
              <a:p>
                <a:r>
                  <a:rPr lang="en-US">
                    <a:noFill/>
                  </a:rPr>
                  <a:t> </a:t>
                </a:r>
              </a:p>
            </p:txBody>
          </p:sp>
        </mc:Fallback>
      </mc:AlternateContent>
    </p:spTree>
    <p:extLst>
      <p:ext uri="{BB962C8B-B14F-4D97-AF65-F5344CB8AC3E}">
        <p14:creationId xmlns:p14="http://schemas.microsoft.com/office/powerpoint/2010/main" val="170168966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A11D87-EC74-54A5-9A93-F3B64CA2B032}"/>
              </a:ext>
            </a:extLst>
          </p:cNvPr>
          <p:cNvSpPr>
            <a:spLocks noGrp="1"/>
          </p:cNvSpPr>
          <p:nvPr>
            <p:ph type="title"/>
          </p:nvPr>
        </p:nvSpPr>
        <p:spPr/>
        <p:txBody>
          <a:bodyPr/>
          <a:lstStyle/>
          <a:p>
            <a:r>
              <a:rPr lang="en-US" dirty="0"/>
              <a:t>Analytical methods</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C30E85A8-488F-A1F3-E0C1-1196762CA4F6}"/>
                  </a:ext>
                </a:extLst>
              </p:cNvPr>
              <p:cNvSpPr>
                <a:spLocks noGrp="1"/>
              </p:cNvSpPr>
              <p:nvPr>
                <p:ph idx="1"/>
              </p:nvPr>
            </p:nvSpPr>
            <p:spPr/>
            <p:txBody>
              <a:bodyPr/>
              <a:lstStyle/>
              <a:p>
                <a:r>
                  <a:rPr lang="en-US" dirty="0"/>
                  <a:t>Basic idea: </a:t>
                </a:r>
              </a:p>
              <a:p>
                <a:pPr lvl="1"/>
                <a:r>
                  <a:rPr lang="en-US" dirty="0">
                    <a:solidFill>
                      <a:schemeClr val="accent1"/>
                    </a:solidFill>
                  </a:rPr>
                  <a:t>Do some math to figure out what the distribution of </a:t>
                </a:r>
                <a14:m>
                  <m:oMath xmlns:m="http://schemas.openxmlformats.org/officeDocument/2006/math">
                    <m:acc>
                      <m:accPr>
                        <m:chr m:val="̂"/>
                        <m:ctrlPr>
                          <a:rPr lang="en-US" b="0" i="1" smtClean="0">
                            <a:solidFill>
                              <a:schemeClr val="accent1"/>
                            </a:solidFill>
                            <a:latin typeface="Cambria Math" panose="02040503050406030204" pitchFamily="18" charset="0"/>
                          </a:rPr>
                        </m:ctrlPr>
                      </m:accPr>
                      <m:e>
                        <m:r>
                          <a:rPr lang="en-US" b="0" i="1" smtClean="0">
                            <a:solidFill>
                              <a:schemeClr val="accent1"/>
                            </a:solidFill>
                            <a:latin typeface="Cambria Math" panose="02040503050406030204" pitchFamily="18" charset="0"/>
                          </a:rPr>
                          <m:t>𝜏</m:t>
                        </m:r>
                      </m:e>
                    </m:acc>
                  </m:oMath>
                </a14:m>
                <a:r>
                  <a:rPr lang="en-US" dirty="0">
                    <a:solidFill>
                      <a:schemeClr val="accent1"/>
                    </a:solidFill>
                  </a:rPr>
                  <a:t> </a:t>
                </a:r>
                <a:r>
                  <a:rPr lang="en-US" b="1" dirty="0">
                    <a:solidFill>
                      <a:schemeClr val="accent1"/>
                    </a:solidFill>
                  </a:rPr>
                  <a:t>should</a:t>
                </a:r>
                <a:r>
                  <a:rPr lang="en-US" dirty="0">
                    <a:solidFill>
                      <a:schemeClr val="accent1"/>
                    </a:solidFill>
                  </a:rPr>
                  <a:t> be </a:t>
                </a:r>
              </a:p>
              <a:p>
                <a:pPr lvl="1"/>
                <a:r>
                  <a:rPr lang="en-US" dirty="0">
                    <a:solidFill>
                      <a:schemeClr val="accent1"/>
                    </a:solidFill>
                  </a:rPr>
                  <a:t>Maybe we have to plug in some estimates</a:t>
                </a:r>
              </a:p>
            </p:txBody>
          </p:sp>
        </mc:Choice>
        <mc:Fallback xmlns="">
          <p:sp>
            <p:nvSpPr>
              <p:cNvPr id="5" name="Content Placeholder 4">
                <a:extLst>
                  <a:ext uri="{FF2B5EF4-FFF2-40B4-BE49-F238E27FC236}">
                    <a16:creationId xmlns:a16="http://schemas.microsoft.com/office/drawing/2014/main" id="{C30E85A8-488F-A1F3-E0C1-1196762CA4F6}"/>
                  </a:ext>
                </a:extLst>
              </p:cNvPr>
              <p:cNvSpPr>
                <a:spLocks noGrp="1" noRot="1" noChangeAspect="1" noMove="1" noResize="1" noEditPoints="1" noAdjustHandles="1" noChangeArrowheads="1" noChangeShapeType="1" noTextEdit="1"/>
              </p:cNvSpPr>
              <p:nvPr>
                <p:ph idx="1"/>
              </p:nvPr>
            </p:nvSpPr>
            <p:spPr>
              <a:blipFill>
                <a:blip r:embed="rId3"/>
                <a:stretch>
                  <a:fillRect l="-1086" t="-2326"/>
                </a:stretch>
              </a:blipFill>
            </p:spPr>
            <p:txBody>
              <a:bodyPr/>
              <a:lstStyle/>
              <a:p>
                <a:r>
                  <a:rPr lang="en-US">
                    <a:noFill/>
                  </a:rPr>
                  <a:t> </a:t>
                </a:r>
              </a:p>
            </p:txBody>
          </p:sp>
        </mc:Fallback>
      </mc:AlternateContent>
    </p:spTree>
    <p:extLst>
      <p:ext uri="{BB962C8B-B14F-4D97-AF65-F5344CB8AC3E}">
        <p14:creationId xmlns:p14="http://schemas.microsoft.com/office/powerpoint/2010/main" val="158399165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08826A-B1E0-C6B5-CE06-E92091E51B11}"/>
              </a:ext>
            </a:extLst>
          </p:cNvPr>
          <p:cNvSpPr>
            <a:spLocks noGrp="1"/>
          </p:cNvSpPr>
          <p:nvPr>
            <p:ph type="title"/>
          </p:nvPr>
        </p:nvSpPr>
        <p:spPr/>
        <p:txBody>
          <a:bodyPr/>
          <a:lstStyle/>
          <a:p>
            <a:r>
              <a:rPr lang="en-US" dirty="0"/>
              <a:t>Analytic Variance Estimator</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46B8BE0-2A32-D293-2C73-E4C1976384B5}"/>
                  </a:ext>
                </a:extLst>
              </p:cNvPr>
              <p:cNvSpPr>
                <a:spLocks noGrp="1"/>
              </p:cNvSpPr>
              <p:nvPr>
                <p:ph idx="1"/>
              </p:nvPr>
            </p:nvSpPr>
            <p:spPr>
              <a:xfrm>
                <a:off x="838200" y="1825625"/>
                <a:ext cx="7543800" cy="4351338"/>
              </a:xfrm>
            </p:spPr>
            <p:txBody>
              <a:bodyPr>
                <a:normAutofit/>
              </a:bodyPr>
              <a:lstStyle/>
              <a:p>
                <a:r>
                  <a:rPr lang="en-US" dirty="0"/>
                  <a:t>Essentially,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𝜏</m:t>
                        </m:r>
                      </m:e>
                    </m:acc>
                  </m:oMath>
                </a14:m>
                <a:r>
                  <a:rPr lang="en-US" dirty="0"/>
                  <a:t> is a sum of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1</m:t>
                        </m:r>
                      </m:sub>
                    </m:sSub>
                  </m:oMath>
                </a14:m>
                <a:r>
                  <a:rPr lang="en-US" dirty="0"/>
                  <a:t> independent* things:</a:t>
                </a:r>
              </a:p>
              <a:p>
                <a:endParaRPr lang="en-US" sz="1100" b="0" i="1" dirty="0">
                  <a:solidFill>
                    <a:schemeClr val="accent1"/>
                  </a:solidFill>
                  <a:latin typeface="Cambria Math" panose="02040503050406030204" pitchFamily="18" charset="0"/>
                </a:endParaRPr>
              </a:p>
              <a:p>
                <a:pPr marL="0" indent="0">
                  <a:buNone/>
                </a:pPr>
                <a14:m>
                  <m:oMathPara xmlns:m="http://schemas.openxmlformats.org/officeDocument/2006/math">
                    <m:oMathParaPr>
                      <m:jc m:val="center"/>
                    </m:oMathParaPr>
                    <m:oMath xmlns:m="http://schemas.openxmlformats.org/officeDocument/2006/math">
                      <m:acc>
                        <m:accPr>
                          <m:chr m:val="̂"/>
                          <m:ctrlPr>
                            <a:rPr lang="en-US" sz="2400" b="0" i="1" dirty="0" smtClean="0">
                              <a:solidFill>
                                <a:schemeClr val="accent1"/>
                              </a:solidFill>
                              <a:latin typeface="Cambria Math" panose="02040503050406030204" pitchFamily="18" charset="0"/>
                            </a:rPr>
                          </m:ctrlPr>
                        </m:accPr>
                        <m:e>
                          <m:r>
                            <a:rPr lang="en-US" sz="2400" b="0" i="1" dirty="0" smtClean="0">
                              <a:solidFill>
                                <a:schemeClr val="accent1"/>
                              </a:solidFill>
                              <a:latin typeface="Cambria Math" panose="02040503050406030204" pitchFamily="18" charset="0"/>
                            </a:rPr>
                            <m:t>𝜏</m:t>
                          </m:r>
                        </m:e>
                      </m:acc>
                      <m:r>
                        <a:rPr lang="en-US" sz="2400" b="0" i="1" dirty="0" smtClean="0">
                          <a:solidFill>
                            <a:schemeClr val="accent1"/>
                          </a:solidFill>
                          <a:latin typeface="Cambria Math" panose="02040503050406030204" pitchFamily="18" charset="0"/>
                        </a:rPr>
                        <m:t>=</m:t>
                      </m:r>
                      <m:f>
                        <m:fPr>
                          <m:ctrlPr>
                            <a:rPr lang="en-US" sz="2400" i="1" dirty="0" smtClean="0">
                              <a:solidFill>
                                <a:schemeClr val="accent1"/>
                              </a:solidFill>
                              <a:latin typeface="Cambria Math" panose="02040503050406030204" pitchFamily="18" charset="0"/>
                            </a:rPr>
                          </m:ctrlPr>
                        </m:fPr>
                        <m:num>
                          <m:r>
                            <a:rPr lang="en-US" sz="2400" i="1" dirty="0">
                              <a:solidFill>
                                <a:schemeClr val="accent1"/>
                              </a:solidFill>
                              <a:latin typeface="Cambria Math" panose="02040503050406030204" pitchFamily="18" charset="0"/>
                            </a:rPr>
                            <m:t>1</m:t>
                          </m:r>
                        </m:num>
                        <m:den>
                          <m:sSub>
                            <m:sSubPr>
                              <m:ctrlPr>
                                <a:rPr lang="en-US" sz="2400" i="1" dirty="0">
                                  <a:solidFill>
                                    <a:schemeClr val="accent1"/>
                                  </a:solidFill>
                                  <a:latin typeface="Cambria Math" panose="02040503050406030204" pitchFamily="18" charset="0"/>
                                </a:rPr>
                              </m:ctrlPr>
                            </m:sSubPr>
                            <m:e>
                              <m:r>
                                <a:rPr lang="en-US" sz="2400" i="1" dirty="0">
                                  <a:solidFill>
                                    <a:schemeClr val="accent1"/>
                                  </a:solidFill>
                                  <a:latin typeface="Cambria Math" panose="02040503050406030204" pitchFamily="18" charset="0"/>
                                </a:rPr>
                                <m:t>𝑁</m:t>
                              </m:r>
                            </m:e>
                            <m:sub>
                              <m:r>
                                <a:rPr lang="en-US" sz="2400" i="1" dirty="0">
                                  <a:solidFill>
                                    <a:schemeClr val="accent1"/>
                                  </a:solidFill>
                                  <a:latin typeface="Cambria Math" panose="02040503050406030204" pitchFamily="18" charset="0"/>
                                </a:rPr>
                                <m:t>1</m:t>
                              </m:r>
                            </m:sub>
                          </m:sSub>
                        </m:den>
                      </m:f>
                      <m:nary>
                        <m:naryPr>
                          <m:chr m:val="∑"/>
                          <m:supHide m:val="on"/>
                          <m:ctrlPr>
                            <a:rPr lang="en-US" sz="2400" i="1" dirty="0">
                              <a:solidFill>
                                <a:schemeClr val="accent1"/>
                              </a:solidFill>
                              <a:latin typeface="Cambria Math" panose="02040503050406030204" pitchFamily="18" charset="0"/>
                            </a:rPr>
                          </m:ctrlPr>
                        </m:naryPr>
                        <m:sub>
                          <m:r>
                            <m:rPr>
                              <m:brk m:alnAt="7"/>
                            </m:rPr>
                            <a:rPr lang="en-US" sz="2400" i="1" dirty="0">
                              <a:solidFill>
                                <a:schemeClr val="accent1"/>
                              </a:solidFill>
                              <a:latin typeface="Cambria Math" panose="02040503050406030204" pitchFamily="18" charset="0"/>
                            </a:rPr>
                            <m:t>𝑖</m:t>
                          </m:r>
                          <m:r>
                            <a:rPr lang="en-US" sz="2400" i="1" dirty="0">
                              <a:solidFill>
                                <a:schemeClr val="accent1"/>
                              </a:solidFill>
                              <a:latin typeface="Cambria Math" panose="02040503050406030204" pitchFamily="18" charset="0"/>
                            </a:rPr>
                            <m:t>:</m:t>
                          </m:r>
                          <m:sSub>
                            <m:sSubPr>
                              <m:ctrlPr>
                                <a:rPr lang="en-US" sz="2400" i="1" dirty="0">
                                  <a:solidFill>
                                    <a:schemeClr val="accent1"/>
                                  </a:solidFill>
                                  <a:latin typeface="Cambria Math" panose="02040503050406030204" pitchFamily="18" charset="0"/>
                                </a:rPr>
                              </m:ctrlPr>
                            </m:sSubPr>
                            <m:e>
                              <m:r>
                                <m:rPr>
                                  <m:brk m:alnAt="7"/>
                                </m:rPr>
                                <a:rPr lang="en-US" sz="2400" i="1" dirty="0">
                                  <a:solidFill>
                                    <a:schemeClr val="accent1"/>
                                  </a:solidFill>
                                  <a:latin typeface="Cambria Math" panose="02040503050406030204" pitchFamily="18" charset="0"/>
                                </a:rPr>
                                <m:t>𝑊</m:t>
                              </m:r>
                            </m:e>
                            <m:sub>
                              <m:r>
                                <m:rPr>
                                  <m:brk m:alnAt="7"/>
                                </m:rPr>
                                <a:rPr lang="en-US" sz="2400" i="1" dirty="0">
                                  <a:solidFill>
                                    <a:schemeClr val="accent1"/>
                                  </a:solidFill>
                                  <a:latin typeface="Cambria Math" panose="02040503050406030204" pitchFamily="18" charset="0"/>
                                </a:rPr>
                                <m:t>𝑖</m:t>
                              </m:r>
                            </m:sub>
                          </m:sSub>
                          <m:r>
                            <m:rPr>
                              <m:brk m:alnAt="7"/>
                            </m:rPr>
                            <a:rPr lang="en-US" sz="2400" i="1" dirty="0">
                              <a:solidFill>
                                <a:schemeClr val="accent1"/>
                              </a:solidFill>
                              <a:latin typeface="Cambria Math" panose="02040503050406030204" pitchFamily="18" charset="0"/>
                            </a:rPr>
                            <m:t>=</m:t>
                          </m:r>
                          <m:r>
                            <a:rPr lang="en-US" sz="2400" i="1" dirty="0">
                              <a:solidFill>
                                <a:schemeClr val="accent1"/>
                              </a:solidFill>
                              <a:latin typeface="Cambria Math" panose="02040503050406030204" pitchFamily="18" charset="0"/>
                            </a:rPr>
                            <m:t>1</m:t>
                          </m:r>
                        </m:sub>
                        <m:sup/>
                        <m:e>
                          <m:sSub>
                            <m:sSubPr>
                              <m:ctrlPr>
                                <a:rPr lang="en-US" sz="2400" i="1" dirty="0">
                                  <a:solidFill>
                                    <a:schemeClr val="accent1"/>
                                  </a:solidFill>
                                  <a:latin typeface="Cambria Math" panose="02040503050406030204" pitchFamily="18" charset="0"/>
                                </a:rPr>
                              </m:ctrlPr>
                            </m:sSubPr>
                            <m:e>
                              <m:r>
                                <a:rPr lang="en-US" sz="2400" i="1" dirty="0">
                                  <a:solidFill>
                                    <a:schemeClr val="accent1"/>
                                  </a:solidFill>
                                  <a:latin typeface="Cambria Math" panose="02040503050406030204" pitchFamily="18" charset="0"/>
                                </a:rPr>
                                <m:t>𝑌</m:t>
                              </m:r>
                            </m:e>
                            <m:sub>
                              <m:r>
                                <a:rPr lang="en-US" sz="2400" i="1" dirty="0">
                                  <a:solidFill>
                                    <a:schemeClr val="accent1"/>
                                  </a:solidFill>
                                  <a:latin typeface="Cambria Math" panose="02040503050406030204" pitchFamily="18" charset="0"/>
                                </a:rPr>
                                <m:t>𝑖</m:t>
                              </m:r>
                            </m:sub>
                          </m:sSub>
                        </m:e>
                      </m:nary>
                      <m:r>
                        <a:rPr lang="en-US" sz="2400" i="1" dirty="0">
                          <a:solidFill>
                            <a:schemeClr val="accent1"/>
                          </a:solidFill>
                          <a:latin typeface="Cambria Math" panose="02040503050406030204" pitchFamily="18" charset="0"/>
                        </a:rPr>
                        <m:t>−</m:t>
                      </m:r>
                      <m:f>
                        <m:fPr>
                          <m:ctrlPr>
                            <a:rPr lang="en-US" sz="2400" i="1" dirty="0">
                              <a:solidFill>
                                <a:schemeClr val="accent1"/>
                              </a:solidFill>
                              <a:latin typeface="Cambria Math" panose="02040503050406030204" pitchFamily="18" charset="0"/>
                            </a:rPr>
                          </m:ctrlPr>
                        </m:fPr>
                        <m:num>
                          <m:r>
                            <a:rPr lang="en-US" sz="2400" i="1" dirty="0">
                              <a:solidFill>
                                <a:schemeClr val="accent1"/>
                              </a:solidFill>
                              <a:latin typeface="Cambria Math" panose="02040503050406030204" pitchFamily="18" charset="0"/>
                            </a:rPr>
                            <m:t>1</m:t>
                          </m:r>
                        </m:num>
                        <m:den>
                          <m:sSub>
                            <m:sSubPr>
                              <m:ctrlPr>
                                <a:rPr lang="en-US" sz="2400" i="1" dirty="0">
                                  <a:solidFill>
                                    <a:schemeClr val="accent1"/>
                                  </a:solidFill>
                                  <a:latin typeface="Cambria Math" panose="02040503050406030204" pitchFamily="18" charset="0"/>
                                </a:rPr>
                              </m:ctrlPr>
                            </m:sSubPr>
                            <m:e>
                              <m:r>
                                <a:rPr lang="en-US" sz="2400" i="1" dirty="0">
                                  <a:solidFill>
                                    <a:schemeClr val="accent1"/>
                                  </a:solidFill>
                                  <a:latin typeface="Cambria Math" panose="02040503050406030204" pitchFamily="18" charset="0"/>
                                </a:rPr>
                                <m:t>𝑁</m:t>
                              </m:r>
                            </m:e>
                            <m:sub>
                              <m:r>
                                <a:rPr lang="en-US" sz="2400" i="1" dirty="0">
                                  <a:solidFill>
                                    <a:schemeClr val="accent1"/>
                                  </a:solidFill>
                                  <a:latin typeface="Cambria Math" panose="02040503050406030204" pitchFamily="18" charset="0"/>
                                </a:rPr>
                                <m:t>0</m:t>
                              </m:r>
                            </m:sub>
                          </m:sSub>
                        </m:den>
                      </m:f>
                      <m:nary>
                        <m:naryPr>
                          <m:chr m:val="∑"/>
                          <m:supHide m:val="on"/>
                          <m:ctrlPr>
                            <a:rPr lang="en-US" sz="2400" i="1" dirty="0">
                              <a:solidFill>
                                <a:schemeClr val="accent1"/>
                              </a:solidFill>
                              <a:latin typeface="Cambria Math" panose="02040503050406030204" pitchFamily="18" charset="0"/>
                            </a:rPr>
                          </m:ctrlPr>
                        </m:naryPr>
                        <m:sub>
                          <m:r>
                            <m:rPr>
                              <m:brk m:alnAt="7"/>
                            </m:rPr>
                            <a:rPr lang="en-US" sz="2400" i="1" dirty="0">
                              <a:solidFill>
                                <a:schemeClr val="accent1"/>
                              </a:solidFill>
                              <a:latin typeface="Cambria Math" panose="02040503050406030204" pitchFamily="18" charset="0"/>
                            </a:rPr>
                            <m:t>𝑖</m:t>
                          </m:r>
                          <m:r>
                            <a:rPr lang="en-US" sz="2400" i="1" dirty="0">
                              <a:solidFill>
                                <a:schemeClr val="accent1"/>
                              </a:solidFill>
                              <a:latin typeface="Cambria Math" panose="02040503050406030204" pitchFamily="18" charset="0"/>
                            </a:rPr>
                            <m:t>:</m:t>
                          </m:r>
                          <m:sSub>
                            <m:sSubPr>
                              <m:ctrlPr>
                                <a:rPr lang="en-US" sz="2400" i="1" dirty="0">
                                  <a:solidFill>
                                    <a:schemeClr val="accent1"/>
                                  </a:solidFill>
                                  <a:latin typeface="Cambria Math" panose="02040503050406030204" pitchFamily="18" charset="0"/>
                                </a:rPr>
                              </m:ctrlPr>
                            </m:sSubPr>
                            <m:e>
                              <m:r>
                                <m:rPr>
                                  <m:brk m:alnAt="7"/>
                                </m:rPr>
                                <a:rPr lang="en-US" sz="2400" i="1" dirty="0">
                                  <a:solidFill>
                                    <a:schemeClr val="accent1"/>
                                  </a:solidFill>
                                  <a:latin typeface="Cambria Math" panose="02040503050406030204" pitchFamily="18" charset="0"/>
                                </a:rPr>
                                <m:t>𝑊</m:t>
                              </m:r>
                            </m:e>
                            <m:sub>
                              <m:r>
                                <m:rPr>
                                  <m:brk m:alnAt="7"/>
                                </m:rPr>
                                <a:rPr lang="en-US" sz="2400" i="1" dirty="0">
                                  <a:solidFill>
                                    <a:schemeClr val="accent1"/>
                                  </a:solidFill>
                                  <a:latin typeface="Cambria Math" panose="02040503050406030204" pitchFamily="18" charset="0"/>
                                </a:rPr>
                                <m:t>𝑖</m:t>
                              </m:r>
                            </m:sub>
                          </m:sSub>
                          <m:r>
                            <m:rPr>
                              <m:brk m:alnAt="7"/>
                            </m:rPr>
                            <a:rPr lang="en-US" sz="2400" i="1" dirty="0">
                              <a:solidFill>
                                <a:schemeClr val="accent1"/>
                              </a:solidFill>
                              <a:latin typeface="Cambria Math" panose="02040503050406030204" pitchFamily="18" charset="0"/>
                            </a:rPr>
                            <m:t>=</m:t>
                          </m:r>
                          <m:r>
                            <a:rPr lang="en-US" sz="2400" i="1" dirty="0">
                              <a:solidFill>
                                <a:schemeClr val="accent1"/>
                              </a:solidFill>
                              <a:latin typeface="Cambria Math" panose="02040503050406030204" pitchFamily="18" charset="0"/>
                            </a:rPr>
                            <m:t>0</m:t>
                          </m:r>
                        </m:sub>
                        <m:sup/>
                        <m:e>
                          <m:sSub>
                            <m:sSubPr>
                              <m:ctrlPr>
                                <a:rPr lang="en-US" sz="2400" i="1" dirty="0">
                                  <a:solidFill>
                                    <a:schemeClr val="accent1"/>
                                  </a:solidFill>
                                  <a:latin typeface="Cambria Math" panose="02040503050406030204" pitchFamily="18" charset="0"/>
                                </a:rPr>
                              </m:ctrlPr>
                            </m:sSubPr>
                            <m:e>
                              <m:r>
                                <a:rPr lang="en-US" sz="2400" i="1" dirty="0">
                                  <a:solidFill>
                                    <a:schemeClr val="accent1"/>
                                  </a:solidFill>
                                  <a:latin typeface="Cambria Math" panose="02040503050406030204" pitchFamily="18" charset="0"/>
                                </a:rPr>
                                <m:t>𝑌</m:t>
                              </m:r>
                            </m:e>
                            <m:sub>
                              <m:r>
                                <a:rPr lang="en-US" sz="2400" i="1" dirty="0">
                                  <a:solidFill>
                                    <a:schemeClr val="accent1"/>
                                  </a:solidFill>
                                  <a:latin typeface="Cambria Math" panose="02040503050406030204" pitchFamily="18" charset="0"/>
                                </a:rPr>
                                <m:t>𝑖</m:t>
                              </m:r>
                            </m:sub>
                          </m:sSub>
                        </m:e>
                      </m:nary>
                    </m:oMath>
                  </m:oMathPara>
                </a14:m>
                <a:endParaRPr lang="en-US" dirty="0"/>
              </a:p>
              <a:p>
                <a:r>
                  <a:rPr lang="en-US" dirty="0"/>
                  <a:t>We saw in Week 1 that </a:t>
                </a:r>
                <a14:m>
                  <m:oMath xmlns:m="http://schemas.openxmlformats.org/officeDocument/2006/math">
                    <m:r>
                      <m:rPr>
                        <m:sty m:val="p"/>
                      </m:rPr>
                      <a:rPr lang="en-US" b="0" i="0" smtClean="0">
                        <a:latin typeface="Cambria Math" panose="02040503050406030204" pitchFamily="18" charset="0"/>
                      </a:rPr>
                      <m:t>Var</m:t>
                    </m:r>
                    <m:d>
                      <m:dPr>
                        <m:ctrlPr>
                          <a:rPr lang="en-US" b="0" i="1" smtClean="0">
                            <a:latin typeface="Cambria Math" panose="02040503050406030204" pitchFamily="18" charset="0"/>
                          </a:rPr>
                        </m:ctrlPr>
                      </m:dPr>
                      <m:e>
                        <m:f>
                          <m:fPr>
                            <m:ctrlPr>
                              <a:rPr lang="en-US" i="1" dirty="0">
                                <a:solidFill>
                                  <a:schemeClr val="accent1"/>
                                </a:solidFill>
                                <a:latin typeface="Cambria Math" panose="02040503050406030204" pitchFamily="18" charset="0"/>
                              </a:rPr>
                            </m:ctrlPr>
                          </m:fPr>
                          <m:num>
                            <m:r>
                              <a:rPr lang="en-US" i="1" dirty="0">
                                <a:solidFill>
                                  <a:schemeClr val="accent1"/>
                                </a:solidFill>
                                <a:latin typeface="Cambria Math" panose="02040503050406030204" pitchFamily="18" charset="0"/>
                              </a:rPr>
                              <m:t>1</m:t>
                            </m:r>
                          </m:num>
                          <m:den>
                            <m:sSub>
                              <m:sSubPr>
                                <m:ctrlPr>
                                  <a:rPr lang="en-US" i="1" dirty="0">
                                    <a:solidFill>
                                      <a:schemeClr val="accent1"/>
                                    </a:solidFill>
                                    <a:latin typeface="Cambria Math" panose="02040503050406030204" pitchFamily="18" charset="0"/>
                                  </a:rPr>
                                </m:ctrlPr>
                              </m:sSubPr>
                              <m:e>
                                <m:r>
                                  <a:rPr lang="en-US" i="1" dirty="0">
                                    <a:solidFill>
                                      <a:schemeClr val="accent1"/>
                                    </a:solidFill>
                                    <a:latin typeface="Cambria Math" panose="02040503050406030204" pitchFamily="18" charset="0"/>
                                  </a:rPr>
                                  <m:t>𝑁</m:t>
                                </m:r>
                              </m:e>
                              <m:sub>
                                <m:r>
                                  <a:rPr lang="en-US" i="1" dirty="0">
                                    <a:solidFill>
                                      <a:schemeClr val="accent1"/>
                                    </a:solidFill>
                                    <a:latin typeface="Cambria Math" panose="02040503050406030204" pitchFamily="18" charset="0"/>
                                  </a:rPr>
                                  <m:t>1</m:t>
                                </m:r>
                              </m:sub>
                            </m:sSub>
                          </m:den>
                        </m:f>
                        <m:nary>
                          <m:naryPr>
                            <m:chr m:val="∑"/>
                            <m:supHide m:val="on"/>
                            <m:ctrlPr>
                              <a:rPr lang="en-US" i="1" dirty="0">
                                <a:solidFill>
                                  <a:schemeClr val="accent1"/>
                                </a:solidFill>
                                <a:latin typeface="Cambria Math" panose="02040503050406030204" pitchFamily="18" charset="0"/>
                              </a:rPr>
                            </m:ctrlPr>
                          </m:naryPr>
                          <m:sub>
                            <m:r>
                              <m:rPr>
                                <m:brk m:alnAt="7"/>
                              </m:rPr>
                              <a:rPr lang="en-US" i="1" dirty="0">
                                <a:solidFill>
                                  <a:schemeClr val="accent1"/>
                                </a:solidFill>
                                <a:latin typeface="Cambria Math" panose="02040503050406030204" pitchFamily="18" charset="0"/>
                              </a:rPr>
                              <m:t>𝑖</m:t>
                            </m:r>
                            <m:r>
                              <a:rPr lang="en-US" i="1" dirty="0">
                                <a:solidFill>
                                  <a:schemeClr val="accent1"/>
                                </a:solidFill>
                                <a:latin typeface="Cambria Math" panose="02040503050406030204" pitchFamily="18" charset="0"/>
                              </a:rPr>
                              <m:t>:</m:t>
                            </m:r>
                            <m:sSub>
                              <m:sSubPr>
                                <m:ctrlPr>
                                  <a:rPr lang="en-US" i="1" dirty="0">
                                    <a:solidFill>
                                      <a:schemeClr val="accent1"/>
                                    </a:solidFill>
                                    <a:latin typeface="Cambria Math" panose="02040503050406030204" pitchFamily="18" charset="0"/>
                                  </a:rPr>
                                </m:ctrlPr>
                              </m:sSubPr>
                              <m:e>
                                <m:r>
                                  <m:rPr>
                                    <m:brk m:alnAt="7"/>
                                  </m:rPr>
                                  <a:rPr lang="en-US" i="1" dirty="0">
                                    <a:solidFill>
                                      <a:schemeClr val="accent1"/>
                                    </a:solidFill>
                                    <a:latin typeface="Cambria Math" panose="02040503050406030204" pitchFamily="18" charset="0"/>
                                  </a:rPr>
                                  <m:t>𝑊</m:t>
                                </m:r>
                              </m:e>
                              <m:sub>
                                <m:r>
                                  <m:rPr>
                                    <m:brk m:alnAt="7"/>
                                  </m:rPr>
                                  <a:rPr lang="en-US" i="1" dirty="0">
                                    <a:solidFill>
                                      <a:schemeClr val="accent1"/>
                                    </a:solidFill>
                                    <a:latin typeface="Cambria Math" panose="02040503050406030204" pitchFamily="18" charset="0"/>
                                  </a:rPr>
                                  <m:t>𝑖</m:t>
                                </m:r>
                              </m:sub>
                            </m:sSub>
                            <m:r>
                              <m:rPr>
                                <m:brk m:alnAt="7"/>
                              </m:rPr>
                              <a:rPr lang="en-US" i="1" dirty="0">
                                <a:solidFill>
                                  <a:schemeClr val="accent1"/>
                                </a:solidFill>
                                <a:latin typeface="Cambria Math" panose="02040503050406030204" pitchFamily="18" charset="0"/>
                              </a:rPr>
                              <m:t>=</m:t>
                            </m:r>
                            <m:r>
                              <a:rPr lang="en-US" i="1" dirty="0">
                                <a:solidFill>
                                  <a:schemeClr val="accent1"/>
                                </a:solidFill>
                                <a:latin typeface="Cambria Math" panose="02040503050406030204" pitchFamily="18" charset="0"/>
                              </a:rPr>
                              <m:t>1</m:t>
                            </m:r>
                          </m:sub>
                          <m:sup/>
                          <m:e>
                            <m:sSub>
                              <m:sSubPr>
                                <m:ctrlPr>
                                  <a:rPr lang="en-US" i="1" dirty="0">
                                    <a:solidFill>
                                      <a:schemeClr val="accent1"/>
                                    </a:solidFill>
                                    <a:latin typeface="Cambria Math" panose="02040503050406030204" pitchFamily="18" charset="0"/>
                                  </a:rPr>
                                </m:ctrlPr>
                              </m:sSubPr>
                              <m:e>
                                <m:r>
                                  <a:rPr lang="en-US" i="1" dirty="0">
                                    <a:solidFill>
                                      <a:schemeClr val="accent1"/>
                                    </a:solidFill>
                                    <a:latin typeface="Cambria Math" panose="02040503050406030204" pitchFamily="18" charset="0"/>
                                  </a:rPr>
                                  <m:t>𝑌</m:t>
                                </m:r>
                              </m:e>
                              <m:sub>
                                <m:r>
                                  <a:rPr lang="en-US" i="1" dirty="0">
                                    <a:solidFill>
                                      <a:schemeClr val="accent1"/>
                                    </a:solidFill>
                                    <a:latin typeface="Cambria Math" panose="02040503050406030204" pitchFamily="18" charset="0"/>
                                  </a:rPr>
                                  <m:t>𝑖</m:t>
                                </m:r>
                              </m:sub>
                            </m:sSub>
                          </m:e>
                        </m:nary>
                      </m:e>
                    </m:d>
                  </m:oMath>
                </a14:m>
                <a:r>
                  <a:rPr lang="en-US" dirty="0"/>
                  <a:t> should be something like </a:t>
                </a:r>
                <a14:m>
                  <m:oMath xmlns:m="http://schemas.openxmlformats.org/officeDocument/2006/math">
                    <m:sSubSup>
                      <m:sSubSupPr>
                        <m:ctrlPr>
                          <a:rPr lang="en-US" b="0" i="1" smtClean="0">
                            <a:solidFill>
                              <a:schemeClr val="accent5"/>
                            </a:solidFill>
                            <a:latin typeface="Cambria Math" panose="02040503050406030204" pitchFamily="18" charset="0"/>
                          </a:rPr>
                        </m:ctrlPr>
                      </m:sSubSupPr>
                      <m:e>
                        <m:r>
                          <a:rPr lang="en-US" b="0" i="1" smtClean="0">
                            <a:solidFill>
                              <a:schemeClr val="accent5"/>
                            </a:solidFill>
                            <a:latin typeface="Cambria Math" panose="02040503050406030204" pitchFamily="18" charset="0"/>
                          </a:rPr>
                          <m:t>𝑠</m:t>
                        </m:r>
                      </m:e>
                      <m:sub>
                        <m:r>
                          <a:rPr lang="en-US" b="0" i="1" smtClean="0">
                            <a:solidFill>
                              <a:schemeClr val="accent5"/>
                            </a:solidFill>
                            <a:latin typeface="Cambria Math" panose="02040503050406030204" pitchFamily="18" charset="0"/>
                          </a:rPr>
                          <m:t>1</m:t>
                        </m:r>
                      </m:sub>
                      <m:sup>
                        <m:r>
                          <a:rPr lang="en-US" b="0" i="1" smtClean="0">
                            <a:solidFill>
                              <a:schemeClr val="accent5"/>
                            </a:solidFill>
                            <a:latin typeface="Cambria Math" panose="02040503050406030204" pitchFamily="18" charset="0"/>
                          </a:rPr>
                          <m:t>2</m:t>
                        </m:r>
                      </m:sup>
                    </m:sSub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1</m:t>
                        </m:r>
                      </m:sub>
                    </m:sSub>
                  </m:oMath>
                </a14:m>
                <a:r>
                  <a:rPr lang="en-US" dirty="0"/>
                  <a:t>, and similarly for the second term.</a:t>
                </a:r>
              </a:p>
              <a:p>
                <a:r>
                  <a:rPr lang="en-US" dirty="0"/>
                  <a:t>Together, we get </a:t>
                </a:r>
                <a14:m>
                  <m:oMath xmlns:m="http://schemas.openxmlformats.org/officeDocument/2006/math">
                    <m:r>
                      <m:rPr>
                        <m:sty m:val="p"/>
                      </m:rPr>
                      <a:rPr lang="en-US">
                        <a:latin typeface="Cambria Math" panose="02040503050406030204" pitchFamily="18" charset="0"/>
                      </a:rPr>
                      <m:t>Var</m:t>
                    </m:r>
                    <m:d>
                      <m:dPr>
                        <m:ctrlPr>
                          <a:rPr lang="en-US" i="1">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𝜏</m:t>
                            </m:r>
                          </m:e>
                        </m:acc>
                      </m:e>
                    </m:d>
                    <m:r>
                      <a:rPr lang="en-US" b="0" i="1" smtClean="0">
                        <a:latin typeface="Cambria Math" panose="02040503050406030204" pitchFamily="18" charset="0"/>
                      </a:rPr>
                      <m:t>≈</m:t>
                    </m:r>
                    <m:f>
                      <m:fPr>
                        <m:ctrlPr>
                          <a:rPr lang="en-US" i="1">
                            <a:latin typeface="Cambria Math" panose="02040503050406030204" pitchFamily="18" charset="0"/>
                          </a:rPr>
                        </m:ctrlPr>
                      </m:fPr>
                      <m:num>
                        <m:sSubSup>
                          <m:sSubSupPr>
                            <m:ctrlPr>
                              <a:rPr lang="en-US" i="1">
                                <a:solidFill>
                                  <a:schemeClr val="accent5"/>
                                </a:solidFill>
                                <a:latin typeface="Cambria Math" panose="02040503050406030204" pitchFamily="18" charset="0"/>
                              </a:rPr>
                            </m:ctrlPr>
                          </m:sSubSupPr>
                          <m:e>
                            <m:r>
                              <a:rPr lang="en-US" i="1">
                                <a:solidFill>
                                  <a:schemeClr val="accent5"/>
                                </a:solidFill>
                                <a:latin typeface="Cambria Math" panose="02040503050406030204" pitchFamily="18" charset="0"/>
                              </a:rPr>
                              <m:t>𝑠</m:t>
                            </m:r>
                          </m:e>
                          <m:sub>
                            <m:r>
                              <a:rPr lang="en-US" i="1">
                                <a:solidFill>
                                  <a:schemeClr val="accent5"/>
                                </a:solidFill>
                                <a:latin typeface="Cambria Math" panose="02040503050406030204" pitchFamily="18" charset="0"/>
                              </a:rPr>
                              <m:t>1</m:t>
                            </m:r>
                          </m:sub>
                          <m:sup>
                            <m:r>
                              <a:rPr lang="en-US" i="1">
                                <a:solidFill>
                                  <a:schemeClr val="accent5"/>
                                </a:solidFill>
                                <a:latin typeface="Cambria Math" panose="02040503050406030204" pitchFamily="18" charset="0"/>
                              </a:rPr>
                              <m:t>2</m:t>
                            </m:r>
                          </m:sup>
                        </m:sSubSup>
                      </m:num>
                      <m:den>
                        <m:sSub>
                          <m:sSubPr>
                            <m:ctrlPr>
                              <a:rPr lang="en-US" i="1">
                                <a:latin typeface="Cambria Math" panose="02040503050406030204" pitchFamily="18" charset="0"/>
                              </a:rPr>
                            </m:ctrlPr>
                          </m:sSubPr>
                          <m:e>
                            <m:r>
                              <a:rPr lang="en-US" i="1">
                                <a:latin typeface="Cambria Math" panose="02040503050406030204" pitchFamily="18" charset="0"/>
                              </a:rPr>
                              <m:t>𝑁</m:t>
                            </m:r>
                          </m:e>
                          <m:sub>
                            <m:r>
                              <a:rPr lang="en-US" i="1">
                                <a:latin typeface="Cambria Math" panose="02040503050406030204" pitchFamily="18" charset="0"/>
                              </a:rPr>
                              <m:t>1</m:t>
                            </m:r>
                          </m:sub>
                        </m:sSub>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sSubSup>
                          <m:sSubSupPr>
                            <m:ctrlPr>
                              <a:rPr lang="en-US" b="0" i="1" smtClean="0">
                                <a:solidFill>
                                  <a:schemeClr val="accent2"/>
                                </a:solidFill>
                                <a:latin typeface="Cambria Math" panose="02040503050406030204" pitchFamily="18" charset="0"/>
                              </a:rPr>
                            </m:ctrlPr>
                          </m:sSubSupPr>
                          <m:e>
                            <m:r>
                              <a:rPr lang="en-US" b="0" i="1" smtClean="0">
                                <a:solidFill>
                                  <a:schemeClr val="accent2"/>
                                </a:solidFill>
                                <a:latin typeface="Cambria Math" panose="02040503050406030204" pitchFamily="18" charset="0"/>
                              </a:rPr>
                              <m:t>𝑠</m:t>
                            </m:r>
                          </m:e>
                          <m:sub>
                            <m:r>
                              <a:rPr lang="en-US" b="0" i="1" smtClean="0">
                                <a:solidFill>
                                  <a:schemeClr val="accent2"/>
                                </a:solidFill>
                                <a:latin typeface="Cambria Math" panose="02040503050406030204" pitchFamily="18" charset="0"/>
                              </a:rPr>
                              <m:t>0</m:t>
                            </m:r>
                          </m:sub>
                          <m:sup>
                            <m:r>
                              <a:rPr lang="en-US" b="0" i="1" smtClean="0">
                                <a:solidFill>
                                  <a:schemeClr val="accent2"/>
                                </a:solidFill>
                                <a:latin typeface="Cambria Math" panose="02040503050406030204" pitchFamily="18" charset="0"/>
                              </a:rPr>
                              <m:t>2</m:t>
                            </m:r>
                          </m:sup>
                        </m:sSubSup>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0</m:t>
                            </m:r>
                          </m:sub>
                        </m:sSub>
                      </m:den>
                    </m:f>
                  </m:oMath>
                </a14:m>
                <a:endParaRPr lang="en-US" dirty="0"/>
              </a:p>
              <a:p>
                <a:endParaRPr lang="en-US" dirty="0"/>
              </a:p>
            </p:txBody>
          </p:sp>
        </mc:Choice>
        <mc:Fallback xmlns="">
          <p:sp>
            <p:nvSpPr>
              <p:cNvPr id="3" name="Content Placeholder 2">
                <a:extLst>
                  <a:ext uri="{FF2B5EF4-FFF2-40B4-BE49-F238E27FC236}">
                    <a16:creationId xmlns:a16="http://schemas.microsoft.com/office/drawing/2014/main" id="{F46B8BE0-2A32-D293-2C73-E4C1976384B5}"/>
                  </a:ext>
                </a:extLst>
              </p:cNvPr>
              <p:cNvSpPr>
                <a:spLocks noGrp="1" noRot="1" noChangeAspect="1" noMove="1" noResize="1" noEditPoints="1" noAdjustHandles="1" noChangeArrowheads="1" noChangeShapeType="1" noTextEdit="1"/>
              </p:cNvSpPr>
              <p:nvPr>
                <p:ph idx="1"/>
              </p:nvPr>
            </p:nvSpPr>
            <p:spPr>
              <a:xfrm>
                <a:off x="838200" y="1825625"/>
                <a:ext cx="7543800" cy="4351338"/>
              </a:xfrm>
              <a:blipFill>
                <a:blip r:embed="rId3"/>
                <a:stretch>
                  <a:fillRect l="-1515" t="-7267" r="-2694"/>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C2395B97-EB41-CF4B-5B8F-E7842D6F603A}"/>
              </a:ext>
            </a:extLst>
          </p:cNvPr>
          <p:cNvSpPr txBox="1"/>
          <p:nvPr/>
        </p:nvSpPr>
        <p:spPr>
          <a:xfrm>
            <a:off x="457200" y="6169709"/>
            <a:ext cx="8813800" cy="646331"/>
          </a:xfrm>
          <a:prstGeom prst="rect">
            <a:avLst/>
          </a:prstGeom>
          <a:noFill/>
        </p:spPr>
        <p:txBody>
          <a:bodyPr wrap="square" rtlCol="0">
            <a:spAutoFit/>
          </a:bodyPr>
          <a:lstStyle/>
          <a:p>
            <a:r>
              <a:rPr lang="en-US" dirty="0">
                <a:solidFill>
                  <a:schemeClr val="accent1"/>
                </a:solidFill>
              </a:rPr>
              <a:t>*Not actually independent!  This is because, e.g., someone can’t be in both the control group and the treatment group at the same time.  But pretty close when N is big.</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45B056AD-9C59-55A0-E937-F054695E93ED}"/>
                  </a:ext>
                </a:extLst>
              </p:cNvPr>
              <p:cNvSpPr txBox="1"/>
              <p:nvPr/>
            </p:nvSpPr>
            <p:spPr>
              <a:xfrm>
                <a:off x="8788400" y="4743863"/>
                <a:ext cx="2997200" cy="1207638"/>
              </a:xfrm>
              <a:prstGeom prst="rect">
                <a:avLst/>
              </a:prstGeom>
              <a:noFill/>
            </p:spPr>
            <p:txBody>
              <a:bodyPr wrap="square">
                <a:spAutoFit/>
              </a:bodyPr>
              <a:lstStyle/>
              <a:p>
                <a14:m>
                  <m:oMath xmlns:m="http://schemas.openxmlformats.org/officeDocument/2006/math">
                    <m:sSubSup>
                      <m:sSubSupPr>
                        <m:ctrlPr>
                          <a:rPr lang="en-US" sz="2400" b="0" i="1" smtClean="0">
                            <a:solidFill>
                              <a:schemeClr val="accent2"/>
                            </a:solidFill>
                            <a:latin typeface="Cambria Math" panose="02040503050406030204" pitchFamily="18" charset="0"/>
                          </a:rPr>
                        </m:ctrlPr>
                      </m:sSubSupPr>
                      <m:e>
                        <m:r>
                          <a:rPr lang="en-US" sz="2400" b="0" i="1" smtClean="0">
                            <a:solidFill>
                              <a:schemeClr val="accent2"/>
                            </a:solidFill>
                            <a:latin typeface="Cambria Math" panose="02040503050406030204" pitchFamily="18" charset="0"/>
                          </a:rPr>
                          <m:t>𝑠</m:t>
                        </m:r>
                      </m:e>
                      <m:sub>
                        <m:r>
                          <a:rPr lang="en-US" sz="2400" b="0" i="1" smtClean="0">
                            <a:solidFill>
                              <a:schemeClr val="accent2"/>
                            </a:solidFill>
                            <a:latin typeface="Cambria Math" panose="02040503050406030204" pitchFamily="18" charset="0"/>
                          </a:rPr>
                          <m:t>0</m:t>
                        </m:r>
                      </m:sub>
                      <m:sup>
                        <m:r>
                          <a:rPr lang="en-US" sz="2400" b="0" i="1" smtClean="0">
                            <a:solidFill>
                              <a:schemeClr val="accent2"/>
                            </a:solidFill>
                            <a:latin typeface="Cambria Math" panose="02040503050406030204" pitchFamily="18" charset="0"/>
                          </a:rPr>
                          <m:t>2</m:t>
                        </m:r>
                      </m:sup>
                    </m:sSubSup>
                    <m:r>
                      <a:rPr lang="en-US" sz="2400" b="0" i="1" smtClean="0">
                        <a:solidFill>
                          <a:schemeClr val="accent2"/>
                        </a:solidFill>
                        <a:latin typeface="Cambria Math" panose="02040503050406030204" pitchFamily="18" charset="0"/>
                      </a:rPr>
                      <m:t>=</m:t>
                    </m:r>
                  </m:oMath>
                </a14:m>
                <a:r>
                  <a:rPr lang="en-US" sz="2400" dirty="0">
                    <a:solidFill>
                      <a:schemeClr val="accent2"/>
                    </a:solidFill>
                  </a:rPr>
                  <a:t> Sample variance of </a:t>
                </a:r>
                <a14:m>
                  <m:oMath xmlns:m="http://schemas.openxmlformats.org/officeDocument/2006/math">
                    <m:sSub>
                      <m:sSubPr>
                        <m:ctrlPr>
                          <a:rPr lang="en-US" sz="2400" b="0" i="1" smtClean="0">
                            <a:solidFill>
                              <a:schemeClr val="accent2"/>
                            </a:solidFill>
                            <a:latin typeface="Cambria Math" panose="02040503050406030204" pitchFamily="18" charset="0"/>
                          </a:rPr>
                        </m:ctrlPr>
                      </m:sSubPr>
                      <m:e>
                        <m:r>
                          <a:rPr lang="en-US" sz="2400" b="0" i="1" smtClean="0">
                            <a:solidFill>
                              <a:schemeClr val="accent2"/>
                            </a:solidFill>
                            <a:latin typeface="Cambria Math" panose="02040503050406030204" pitchFamily="18" charset="0"/>
                          </a:rPr>
                          <m:t>𝑌</m:t>
                        </m:r>
                      </m:e>
                      <m:sub>
                        <m:r>
                          <a:rPr lang="en-US" sz="2400" b="0" i="1" smtClean="0">
                            <a:solidFill>
                              <a:schemeClr val="accent2"/>
                            </a:solidFill>
                            <a:latin typeface="Cambria Math" panose="02040503050406030204" pitchFamily="18" charset="0"/>
                          </a:rPr>
                          <m:t>𝑖</m:t>
                        </m:r>
                      </m:sub>
                    </m:sSub>
                  </m:oMath>
                </a14:m>
                <a:r>
                  <a:rPr lang="en-US" sz="2400" dirty="0">
                    <a:solidFill>
                      <a:schemeClr val="accent2"/>
                    </a:solidFill>
                  </a:rPr>
                  <a:t> among the control group</a:t>
                </a:r>
                <a:endParaRPr lang="en-US" sz="2400" dirty="0">
                  <a:solidFill>
                    <a:schemeClr val="accent1"/>
                  </a:solidFill>
                </a:endParaRPr>
              </a:p>
            </p:txBody>
          </p:sp>
        </mc:Choice>
        <mc:Fallback xmlns="">
          <p:sp>
            <p:nvSpPr>
              <p:cNvPr id="10" name="TextBox 9">
                <a:extLst>
                  <a:ext uri="{FF2B5EF4-FFF2-40B4-BE49-F238E27FC236}">
                    <a16:creationId xmlns:a16="http://schemas.microsoft.com/office/drawing/2014/main" id="{45B056AD-9C59-55A0-E937-F054695E93ED}"/>
                  </a:ext>
                </a:extLst>
              </p:cNvPr>
              <p:cNvSpPr txBox="1">
                <a:spLocks noRot="1" noChangeAspect="1" noMove="1" noResize="1" noEditPoints="1" noAdjustHandles="1" noChangeArrowheads="1" noChangeShapeType="1" noTextEdit="1"/>
              </p:cNvSpPr>
              <p:nvPr/>
            </p:nvSpPr>
            <p:spPr>
              <a:xfrm>
                <a:off x="8788400" y="4743863"/>
                <a:ext cx="2997200" cy="1207638"/>
              </a:xfrm>
              <a:prstGeom prst="rect">
                <a:avLst/>
              </a:prstGeom>
              <a:blipFill>
                <a:blip r:embed="rId4"/>
                <a:stretch>
                  <a:fillRect l="-3390" t="-3125" r="-2119" b="-1145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5C2D9554-E36A-0548-F4CE-154F15B3C55B}"/>
                  </a:ext>
                </a:extLst>
              </p:cNvPr>
              <p:cNvSpPr txBox="1"/>
              <p:nvPr/>
            </p:nvSpPr>
            <p:spPr>
              <a:xfrm>
                <a:off x="8712200" y="3259118"/>
                <a:ext cx="3149600" cy="1204625"/>
              </a:xfrm>
              <a:prstGeom prst="rect">
                <a:avLst/>
              </a:prstGeom>
              <a:noFill/>
            </p:spPr>
            <p:txBody>
              <a:bodyPr wrap="square">
                <a:spAutoFit/>
              </a:bodyPr>
              <a:lstStyle/>
              <a:p>
                <a14:m>
                  <m:oMath xmlns:m="http://schemas.openxmlformats.org/officeDocument/2006/math">
                    <m:sSubSup>
                      <m:sSubSupPr>
                        <m:ctrlPr>
                          <a:rPr lang="en-US" sz="2400" b="0" i="1" smtClean="0">
                            <a:solidFill>
                              <a:schemeClr val="accent5"/>
                            </a:solidFill>
                            <a:latin typeface="Cambria Math" panose="02040503050406030204" pitchFamily="18" charset="0"/>
                          </a:rPr>
                        </m:ctrlPr>
                      </m:sSubSupPr>
                      <m:e>
                        <m:r>
                          <a:rPr lang="en-US" sz="2400" b="0" i="1" smtClean="0">
                            <a:solidFill>
                              <a:schemeClr val="accent5"/>
                            </a:solidFill>
                            <a:latin typeface="Cambria Math" panose="02040503050406030204" pitchFamily="18" charset="0"/>
                          </a:rPr>
                          <m:t>𝑠</m:t>
                        </m:r>
                      </m:e>
                      <m:sub>
                        <m:r>
                          <a:rPr lang="en-US" sz="2400" b="0" i="1" smtClean="0">
                            <a:solidFill>
                              <a:schemeClr val="accent5"/>
                            </a:solidFill>
                            <a:latin typeface="Cambria Math" panose="02040503050406030204" pitchFamily="18" charset="0"/>
                          </a:rPr>
                          <m:t>1</m:t>
                        </m:r>
                      </m:sub>
                      <m:sup>
                        <m:r>
                          <a:rPr lang="en-US" sz="2400" b="0" i="1" smtClean="0">
                            <a:solidFill>
                              <a:schemeClr val="accent5"/>
                            </a:solidFill>
                            <a:latin typeface="Cambria Math" panose="02040503050406030204" pitchFamily="18" charset="0"/>
                          </a:rPr>
                          <m:t>2</m:t>
                        </m:r>
                      </m:sup>
                    </m:sSubSup>
                    <m:r>
                      <a:rPr lang="en-US" sz="2400" b="0" i="1" smtClean="0">
                        <a:solidFill>
                          <a:schemeClr val="accent5"/>
                        </a:solidFill>
                        <a:latin typeface="Cambria Math" panose="02040503050406030204" pitchFamily="18" charset="0"/>
                      </a:rPr>
                      <m:t>=</m:t>
                    </m:r>
                  </m:oMath>
                </a14:m>
                <a:r>
                  <a:rPr lang="en-US" sz="2400" dirty="0">
                    <a:solidFill>
                      <a:schemeClr val="accent5"/>
                    </a:solidFill>
                  </a:rPr>
                  <a:t> Sample variance of </a:t>
                </a:r>
                <a14:m>
                  <m:oMath xmlns:m="http://schemas.openxmlformats.org/officeDocument/2006/math">
                    <m:sSub>
                      <m:sSubPr>
                        <m:ctrlPr>
                          <a:rPr lang="en-US" sz="2400" b="0" i="1" smtClean="0">
                            <a:solidFill>
                              <a:schemeClr val="accent5"/>
                            </a:solidFill>
                            <a:latin typeface="Cambria Math" panose="02040503050406030204" pitchFamily="18" charset="0"/>
                          </a:rPr>
                        </m:ctrlPr>
                      </m:sSubPr>
                      <m:e>
                        <m:r>
                          <a:rPr lang="en-US" sz="2400" b="0" i="1" smtClean="0">
                            <a:solidFill>
                              <a:schemeClr val="accent5"/>
                            </a:solidFill>
                            <a:latin typeface="Cambria Math" panose="02040503050406030204" pitchFamily="18" charset="0"/>
                          </a:rPr>
                          <m:t>𝑌</m:t>
                        </m:r>
                      </m:e>
                      <m:sub>
                        <m:r>
                          <a:rPr lang="en-US" sz="2400" b="0" i="1" smtClean="0">
                            <a:solidFill>
                              <a:schemeClr val="accent5"/>
                            </a:solidFill>
                            <a:latin typeface="Cambria Math" panose="02040503050406030204" pitchFamily="18" charset="0"/>
                          </a:rPr>
                          <m:t>𝑖</m:t>
                        </m:r>
                      </m:sub>
                    </m:sSub>
                  </m:oMath>
                </a14:m>
                <a:r>
                  <a:rPr lang="en-US" sz="2400" dirty="0">
                    <a:solidFill>
                      <a:schemeClr val="accent5"/>
                    </a:solidFill>
                  </a:rPr>
                  <a:t> among the treatment group</a:t>
                </a:r>
                <a:endParaRPr lang="en-US" sz="2400" dirty="0">
                  <a:solidFill>
                    <a:schemeClr val="accent1"/>
                  </a:solidFill>
                </a:endParaRPr>
              </a:p>
            </p:txBody>
          </p:sp>
        </mc:Choice>
        <mc:Fallback xmlns="">
          <p:sp>
            <p:nvSpPr>
              <p:cNvPr id="11" name="TextBox 10">
                <a:extLst>
                  <a:ext uri="{FF2B5EF4-FFF2-40B4-BE49-F238E27FC236}">
                    <a16:creationId xmlns:a16="http://schemas.microsoft.com/office/drawing/2014/main" id="{5C2D9554-E36A-0548-F4CE-154F15B3C55B}"/>
                  </a:ext>
                </a:extLst>
              </p:cNvPr>
              <p:cNvSpPr txBox="1">
                <a:spLocks noRot="1" noChangeAspect="1" noMove="1" noResize="1" noEditPoints="1" noAdjustHandles="1" noChangeArrowheads="1" noChangeShapeType="1" noTextEdit="1"/>
              </p:cNvSpPr>
              <p:nvPr/>
            </p:nvSpPr>
            <p:spPr>
              <a:xfrm>
                <a:off x="8712200" y="3259118"/>
                <a:ext cx="3149600" cy="1204625"/>
              </a:xfrm>
              <a:prstGeom prst="rect">
                <a:avLst/>
              </a:prstGeom>
              <a:blipFill>
                <a:blip r:embed="rId5"/>
                <a:stretch>
                  <a:fillRect l="-2800" t="-3125" r="-1600" b="-10417"/>
                </a:stretch>
              </a:blipFill>
            </p:spPr>
            <p:txBody>
              <a:bodyPr/>
              <a:lstStyle/>
              <a:p>
                <a:r>
                  <a:rPr lang="en-US">
                    <a:noFill/>
                  </a:rPr>
                  <a:t> </a:t>
                </a:r>
              </a:p>
            </p:txBody>
          </p:sp>
        </mc:Fallback>
      </mc:AlternateContent>
    </p:spTree>
    <p:extLst>
      <p:ext uri="{BB962C8B-B14F-4D97-AF65-F5344CB8AC3E}">
        <p14:creationId xmlns:p14="http://schemas.microsoft.com/office/powerpoint/2010/main" val="7182423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p:bldP spid="10" grpId="0"/>
      <p:bldP spid="11"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5FEB389A-380C-D811-C909-5FA1263997C6}"/>
                  </a:ext>
                </a:extLst>
              </p:cNvPr>
              <p:cNvSpPr>
                <a:spLocks noGrp="1"/>
              </p:cNvSpPr>
              <p:nvPr>
                <p:ph type="title"/>
              </p:nvPr>
            </p:nvSpPr>
            <p:spPr/>
            <p:txBody>
              <a:bodyPr/>
              <a:lstStyle/>
              <a:p>
                <a:r>
                  <a:rPr lang="en-US" dirty="0"/>
                  <a:t>With our estimate of </a:t>
                </a:r>
                <a14:m>
                  <m:oMath xmlns:m="http://schemas.openxmlformats.org/officeDocument/2006/math">
                    <m:r>
                      <m:rPr>
                        <m:sty m:val="p"/>
                      </m:rPr>
                      <a:rPr lang="en-US" b="0" i="0" smtClean="0">
                        <a:latin typeface="Cambria Math" panose="02040503050406030204" pitchFamily="18" charset="0"/>
                      </a:rPr>
                      <m:t>Var</m:t>
                    </m:r>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𝜏</m:t>
                        </m:r>
                      </m:e>
                    </m:acc>
                    <m:r>
                      <a:rPr lang="en-US" b="0" i="1" smtClean="0">
                        <a:latin typeface="Cambria Math" panose="02040503050406030204" pitchFamily="18" charset="0"/>
                      </a:rPr>
                      <m:t>)</m:t>
                    </m:r>
                  </m:oMath>
                </a14:m>
                <a:r>
                  <a:rPr lang="en-US" dirty="0"/>
                  <a:t>…</a:t>
                </a:r>
              </a:p>
            </p:txBody>
          </p:sp>
        </mc:Choice>
        <mc:Fallback xmlns="">
          <p:sp>
            <p:nvSpPr>
              <p:cNvPr id="2" name="Title 1">
                <a:extLst>
                  <a:ext uri="{FF2B5EF4-FFF2-40B4-BE49-F238E27FC236}">
                    <a16:creationId xmlns:a16="http://schemas.microsoft.com/office/drawing/2014/main" id="{5FEB389A-380C-D811-C909-5FA1263997C6}"/>
                  </a:ext>
                </a:extLst>
              </p:cNvPr>
              <p:cNvSpPr>
                <a:spLocks noGrp="1" noRot="1" noChangeAspect="1" noMove="1" noResize="1" noEditPoints="1" noAdjustHandles="1" noChangeArrowheads="1" noChangeShapeType="1" noTextEdit="1"/>
              </p:cNvSpPr>
              <p:nvPr>
                <p:ph type="title"/>
              </p:nvPr>
            </p:nvSpPr>
            <p:spPr>
              <a:blipFill>
                <a:blip r:embed="rId3"/>
                <a:stretch>
                  <a:fillRect l="-241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897309B-0B48-4C95-7ACA-6031AA6C1CF0}"/>
                  </a:ext>
                </a:extLst>
              </p:cNvPr>
              <p:cNvSpPr>
                <a:spLocks noGrp="1"/>
              </p:cNvSpPr>
              <p:nvPr>
                <p:ph idx="1"/>
              </p:nvPr>
            </p:nvSpPr>
            <p:spPr/>
            <p:txBody>
              <a:bodyPr/>
              <a:lstStyle/>
              <a:p>
                <a:r>
                  <a:rPr lang="en-US" dirty="0"/>
                  <a:t>We can construct standard errors </a:t>
                </a:r>
              </a:p>
              <a:p>
                <a:pPr lvl="1"/>
                <a:r>
                  <a:rPr lang="en-US" dirty="0"/>
                  <a:t>Take the square root of our estimate: </a:t>
                </a:r>
                <a14:m>
                  <m:oMath xmlns:m="http://schemas.openxmlformats.org/officeDocument/2006/math">
                    <m:rad>
                      <m:radPr>
                        <m:degHide m:val="on"/>
                        <m:ctrlPr>
                          <a:rPr lang="en-US" b="0" i="1" smtClean="0">
                            <a:latin typeface="Cambria Math" panose="02040503050406030204" pitchFamily="18" charset="0"/>
                          </a:rPr>
                        </m:ctrlPr>
                      </m:radPr>
                      <m:deg/>
                      <m:e>
                        <m:f>
                          <m:fPr>
                            <m:ctrlPr>
                              <a:rPr lang="en-US" i="1">
                                <a:latin typeface="Cambria Math" panose="02040503050406030204" pitchFamily="18" charset="0"/>
                              </a:rPr>
                            </m:ctrlPr>
                          </m:fPr>
                          <m:num>
                            <m:sSubSup>
                              <m:sSubSupPr>
                                <m:ctrlPr>
                                  <a:rPr lang="en-US" i="1">
                                    <a:solidFill>
                                      <a:schemeClr val="accent5"/>
                                    </a:solidFill>
                                    <a:latin typeface="Cambria Math" panose="02040503050406030204" pitchFamily="18" charset="0"/>
                                  </a:rPr>
                                </m:ctrlPr>
                              </m:sSubSupPr>
                              <m:e>
                                <m:r>
                                  <a:rPr lang="en-US" i="1">
                                    <a:solidFill>
                                      <a:schemeClr val="accent5"/>
                                    </a:solidFill>
                                    <a:latin typeface="Cambria Math" panose="02040503050406030204" pitchFamily="18" charset="0"/>
                                  </a:rPr>
                                  <m:t>𝑠</m:t>
                                </m:r>
                              </m:e>
                              <m:sub>
                                <m:r>
                                  <a:rPr lang="en-US" i="1">
                                    <a:solidFill>
                                      <a:schemeClr val="accent5"/>
                                    </a:solidFill>
                                    <a:latin typeface="Cambria Math" panose="02040503050406030204" pitchFamily="18" charset="0"/>
                                  </a:rPr>
                                  <m:t>1</m:t>
                                </m:r>
                              </m:sub>
                              <m:sup>
                                <m:r>
                                  <a:rPr lang="en-US" i="1">
                                    <a:solidFill>
                                      <a:schemeClr val="accent5"/>
                                    </a:solidFill>
                                    <a:latin typeface="Cambria Math" panose="02040503050406030204" pitchFamily="18" charset="0"/>
                                  </a:rPr>
                                  <m:t>2</m:t>
                                </m:r>
                              </m:sup>
                            </m:sSubSup>
                          </m:num>
                          <m:den>
                            <m:sSub>
                              <m:sSubPr>
                                <m:ctrlPr>
                                  <a:rPr lang="en-US" i="1">
                                    <a:latin typeface="Cambria Math" panose="02040503050406030204" pitchFamily="18" charset="0"/>
                                  </a:rPr>
                                </m:ctrlPr>
                              </m:sSubPr>
                              <m:e>
                                <m:r>
                                  <a:rPr lang="en-US" i="1">
                                    <a:latin typeface="Cambria Math" panose="02040503050406030204" pitchFamily="18" charset="0"/>
                                  </a:rPr>
                                  <m:t>𝑁</m:t>
                                </m:r>
                              </m:e>
                              <m:sub>
                                <m:r>
                                  <a:rPr lang="en-US" i="1">
                                    <a:latin typeface="Cambria Math" panose="02040503050406030204" pitchFamily="18" charset="0"/>
                                  </a:rPr>
                                  <m:t>1</m:t>
                                </m:r>
                              </m:sub>
                            </m:sSub>
                          </m:den>
                        </m:f>
                        <m:r>
                          <a:rPr lang="en-US" i="1">
                            <a:latin typeface="Cambria Math" panose="02040503050406030204" pitchFamily="18" charset="0"/>
                          </a:rPr>
                          <m:t>+</m:t>
                        </m:r>
                        <m:f>
                          <m:fPr>
                            <m:ctrlPr>
                              <a:rPr lang="en-US" i="1">
                                <a:latin typeface="Cambria Math" panose="02040503050406030204" pitchFamily="18" charset="0"/>
                              </a:rPr>
                            </m:ctrlPr>
                          </m:fPr>
                          <m:num>
                            <m:sSubSup>
                              <m:sSubSupPr>
                                <m:ctrlPr>
                                  <a:rPr lang="en-US" i="1">
                                    <a:solidFill>
                                      <a:schemeClr val="accent2"/>
                                    </a:solidFill>
                                    <a:latin typeface="Cambria Math" panose="02040503050406030204" pitchFamily="18" charset="0"/>
                                  </a:rPr>
                                </m:ctrlPr>
                              </m:sSubSupPr>
                              <m:e>
                                <m:r>
                                  <a:rPr lang="en-US" i="1">
                                    <a:solidFill>
                                      <a:schemeClr val="accent2"/>
                                    </a:solidFill>
                                    <a:latin typeface="Cambria Math" panose="02040503050406030204" pitchFamily="18" charset="0"/>
                                  </a:rPr>
                                  <m:t>𝑠</m:t>
                                </m:r>
                              </m:e>
                              <m:sub>
                                <m:r>
                                  <a:rPr lang="en-US" i="1">
                                    <a:solidFill>
                                      <a:schemeClr val="accent2"/>
                                    </a:solidFill>
                                    <a:latin typeface="Cambria Math" panose="02040503050406030204" pitchFamily="18" charset="0"/>
                                  </a:rPr>
                                  <m:t>0</m:t>
                                </m:r>
                              </m:sub>
                              <m:sup>
                                <m:r>
                                  <a:rPr lang="en-US" i="1">
                                    <a:solidFill>
                                      <a:schemeClr val="accent2"/>
                                    </a:solidFill>
                                    <a:latin typeface="Cambria Math" panose="02040503050406030204" pitchFamily="18" charset="0"/>
                                  </a:rPr>
                                  <m:t>2</m:t>
                                </m:r>
                              </m:sup>
                            </m:sSubSup>
                          </m:num>
                          <m:den>
                            <m:sSub>
                              <m:sSubPr>
                                <m:ctrlPr>
                                  <a:rPr lang="en-US" i="1">
                                    <a:latin typeface="Cambria Math" panose="02040503050406030204" pitchFamily="18" charset="0"/>
                                  </a:rPr>
                                </m:ctrlPr>
                              </m:sSubPr>
                              <m:e>
                                <m:r>
                                  <a:rPr lang="en-US" i="1">
                                    <a:latin typeface="Cambria Math" panose="02040503050406030204" pitchFamily="18" charset="0"/>
                                  </a:rPr>
                                  <m:t>𝑁</m:t>
                                </m:r>
                              </m:e>
                              <m:sub>
                                <m:r>
                                  <a:rPr lang="en-US" i="1">
                                    <a:latin typeface="Cambria Math" panose="02040503050406030204" pitchFamily="18" charset="0"/>
                                  </a:rPr>
                                  <m:t>0</m:t>
                                </m:r>
                              </m:sub>
                            </m:sSub>
                          </m:den>
                        </m:f>
                      </m:e>
                    </m:rad>
                  </m:oMath>
                </a14:m>
                <a:endParaRPr lang="en-US" dirty="0"/>
              </a:p>
              <a:p>
                <a:pPr lvl="1"/>
                <a:endParaRPr lang="en-US" dirty="0"/>
              </a:p>
              <a:p>
                <a:r>
                  <a:rPr lang="en-US" dirty="0"/>
                  <a:t>We can construct confidence intervals</a:t>
                </a:r>
              </a:p>
              <a:p>
                <a:pPr lvl="1"/>
                <a:r>
                  <a:rPr lang="en-US" dirty="0"/>
                  <a:t>By the CLT,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𝜏</m:t>
                        </m:r>
                      </m:e>
                    </m:acc>
                    <m:r>
                      <a:rPr lang="en-US" b="0" i="1" dirty="0" smtClean="0">
                        <a:latin typeface="Cambria Math" panose="02040503050406030204" pitchFamily="18" charset="0"/>
                      </a:rPr>
                      <m:t>≈</m:t>
                    </m:r>
                    <m:r>
                      <a:rPr lang="en-US" b="0" i="1" dirty="0" smtClean="0">
                        <a:latin typeface="Cambria Math" panose="02040503050406030204" pitchFamily="18" charset="0"/>
                      </a:rPr>
                      <m:t>𝑁</m:t>
                    </m:r>
                    <m:r>
                      <a:rPr lang="en-US" b="0" i="1" dirty="0" smtClean="0">
                        <a:latin typeface="Cambria Math" panose="02040503050406030204" pitchFamily="18" charset="0"/>
                      </a:rPr>
                      <m:t>(</m:t>
                    </m:r>
                    <m:r>
                      <a:rPr lang="en-US" b="0" i="1" dirty="0" smtClean="0">
                        <a:latin typeface="Cambria Math" panose="02040503050406030204" pitchFamily="18" charset="0"/>
                      </a:rPr>
                      <m:t>𝜏</m:t>
                    </m:r>
                    <m:r>
                      <a:rPr lang="en-US" b="0" i="1" dirty="0" smtClean="0">
                        <a:latin typeface="Cambria Math" panose="02040503050406030204" pitchFamily="18" charset="0"/>
                      </a:rPr>
                      <m:t>, </m:t>
                    </m:r>
                    <m:r>
                      <m:rPr>
                        <m:sty m:val="p"/>
                      </m:rPr>
                      <a:rPr lang="en-US" b="0" i="0" dirty="0" smtClean="0">
                        <a:latin typeface="Cambria Math" panose="02040503050406030204" pitchFamily="18" charset="0"/>
                      </a:rPr>
                      <m:t>Var</m:t>
                    </m:r>
                    <m:d>
                      <m:dPr>
                        <m:ctrlPr>
                          <a:rPr lang="en-US" b="0" i="1" dirty="0" smtClean="0">
                            <a:latin typeface="Cambria Math" panose="02040503050406030204" pitchFamily="18" charset="0"/>
                          </a:rPr>
                        </m:ctrlPr>
                      </m:dPr>
                      <m:e>
                        <m:acc>
                          <m:accPr>
                            <m:chr m:val="̂"/>
                            <m:ctrlPr>
                              <a:rPr lang="en-US" b="0" i="1" dirty="0" smtClean="0">
                                <a:latin typeface="Cambria Math" panose="02040503050406030204" pitchFamily="18" charset="0"/>
                              </a:rPr>
                            </m:ctrlPr>
                          </m:accPr>
                          <m:e>
                            <m:r>
                              <a:rPr lang="en-US" b="0" i="1" dirty="0" smtClean="0">
                                <a:latin typeface="Cambria Math" panose="02040503050406030204" pitchFamily="18" charset="0"/>
                              </a:rPr>
                              <m:t>𝜏</m:t>
                            </m:r>
                          </m:e>
                        </m:acc>
                      </m:e>
                    </m:d>
                    <m:r>
                      <a:rPr lang="en-US" b="0" i="1" dirty="0" smtClean="0">
                        <a:latin typeface="Cambria Math" panose="02040503050406030204" pitchFamily="18" charset="0"/>
                      </a:rPr>
                      <m:t>)</m:t>
                    </m:r>
                  </m:oMath>
                </a14:m>
                <a:endParaRPr lang="en-US" dirty="0"/>
              </a:p>
              <a:p>
                <a:pPr lvl="1"/>
                <a:r>
                  <a:rPr lang="en-US" dirty="0"/>
                  <a:t>Plug in </a:t>
                </a:r>
                <a14:m>
                  <m:oMath xmlns:m="http://schemas.openxmlformats.org/officeDocument/2006/math">
                    <m:r>
                      <m:rPr>
                        <m:sty m:val="p"/>
                      </m:rPr>
                      <a:rPr lang="en-US" b="0" i="0" dirty="0" smtClean="0">
                        <a:latin typeface="Cambria Math" panose="02040503050406030204" pitchFamily="18" charset="0"/>
                      </a:rPr>
                      <m:t>Var</m:t>
                    </m:r>
                    <m:d>
                      <m:dPr>
                        <m:ctrlPr>
                          <a:rPr lang="en-US" b="0" i="1" dirty="0" smtClean="0">
                            <a:latin typeface="Cambria Math" panose="02040503050406030204" pitchFamily="18" charset="0"/>
                          </a:rPr>
                        </m:ctrlPr>
                      </m:dPr>
                      <m:e>
                        <m:acc>
                          <m:accPr>
                            <m:chr m:val="̂"/>
                            <m:ctrlPr>
                              <a:rPr lang="en-US" b="0" i="1" dirty="0" smtClean="0">
                                <a:latin typeface="Cambria Math" panose="02040503050406030204" pitchFamily="18" charset="0"/>
                              </a:rPr>
                            </m:ctrlPr>
                          </m:accPr>
                          <m:e>
                            <m:r>
                              <a:rPr lang="en-US" b="0" i="1" dirty="0" smtClean="0">
                                <a:latin typeface="Cambria Math" panose="02040503050406030204" pitchFamily="18" charset="0"/>
                              </a:rPr>
                              <m:t>𝜏</m:t>
                            </m:r>
                          </m:e>
                        </m:acc>
                      </m:e>
                    </m:d>
                    <m:r>
                      <a:rPr lang="en-US" b="0" i="1" dirty="0" smtClean="0">
                        <a:latin typeface="Cambria Math" panose="02040503050406030204" pitchFamily="18" charset="0"/>
                      </a:rPr>
                      <m:t>≈</m:t>
                    </m:r>
                    <m:f>
                      <m:fPr>
                        <m:ctrlPr>
                          <a:rPr lang="en-US" i="1">
                            <a:latin typeface="Cambria Math" panose="02040503050406030204" pitchFamily="18" charset="0"/>
                          </a:rPr>
                        </m:ctrlPr>
                      </m:fPr>
                      <m:num>
                        <m:sSubSup>
                          <m:sSubSupPr>
                            <m:ctrlPr>
                              <a:rPr lang="en-US" i="1">
                                <a:solidFill>
                                  <a:schemeClr val="accent5"/>
                                </a:solidFill>
                                <a:latin typeface="Cambria Math" panose="02040503050406030204" pitchFamily="18" charset="0"/>
                              </a:rPr>
                            </m:ctrlPr>
                          </m:sSubSupPr>
                          <m:e>
                            <m:r>
                              <a:rPr lang="en-US" i="1">
                                <a:solidFill>
                                  <a:schemeClr val="accent5"/>
                                </a:solidFill>
                                <a:latin typeface="Cambria Math" panose="02040503050406030204" pitchFamily="18" charset="0"/>
                              </a:rPr>
                              <m:t>𝑠</m:t>
                            </m:r>
                          </m:e>
                          <m:sub>
                            <m:r>
                              <a:rPr lang="en-US" i="1">
                                <a:solidFill>
                                  <a:schemeClr val="accent5"/>
                                </a:solidFill>
                                <a:latin typeface="Cambria Math" panose="02040503050406030204" pitchFamily="18" charset="0"/>
                              </a:rPr>
                              <m:t>1</m:t>
                            </m:r>
                          </m:sub>
                          <m:sup>
                            <m:r>
                              <a:rPr lang="en-US" i="1">
                                <a:solidFill>
                                  <a:schemeClr val="accent5"/>
                                </a:solidFill>
                                <a:latin typeface="Cambria Math" panose="02040503050406030204" pitchFamily="18" charset="0"/>
                              </a:rPr>
                              <m:t>2</m:t>
                            </m:r>
                          </m:sup>
                        </m:sSubSup>
                      </m:num>
                      <m:den>
                        <m:sSub>
                          <m:sSubPr>
                            <m:ctrlPr>
                              <a:rPr lang="en-US" i="1">
                                <a:latin typeface="Cambria Math" panose="02040503050406030204" pitchFamily="18" charset="0"/>
                              </a:rPr>
                            </m:ctrlPr>
                          </m:sSubPr>
                          <m:e>
                            <m:r>
                              <a:rPr lang="en-US" i="1">
                                <a:latin typeface="Cambria Math" panose="02040503050406030204" pitchFamily="18" charset="0"/>
                              </a:rPr>
                              <m:t>𝑁</m:t>
                            </m:r>
                          </m:e>
                          <m:sub>
                            <m:r>
                              <a:rPr lang="en-US" i="1">
                                <a:latin typeface="Cambria Math" panose="02040503050406030204" pitchFamily="18" charset="0"/>
                              </a:rPr>
                              <m:t>1</m:t>
                            </m:r>
                          </m:sub>
                        </m:sSub>
                      </m:den>
                    </m:f>
                    <m:r>
                      <a:rPr lang="en-US" i="1">
                        <a:latin typeface="Cambria Math" panose="02040503050406030204" pitchFamily="18" charset="0"/>
                      </a:rPr>
                      <m:t>+</m:t>
                    </m:r>
                    <m:f>
                      <m:fPr>
                        <m:ctrlPr>
                          <a:rPr lang="en-US" i="1">
                            <a:latin typeface="Cambria Math" panose="02040503050406030204" pitchFamily="18" charset="0"/>
                          </a:rPr>
                        </m:ctrlPr>
                      </m:fPr>
                      <m:num>
                        <m:sSubSup>
                          <m:sSubSupPr>
                            <m:ctrlPr>
                              <a:rPr lang="en-US" i="1">
                                <a:solidFill>
                                  <a:schemeClr val="accent2"/>
                                </a:solidFill>
                                <a:latin typeface="Cambria Math" panose="02040503050406030204" pitchFamily="18" charset="0"/>
                              </a:rPr>
                            </m:ctrlPr>
                          </m:sSubSupPr>
                          <m:e>
                            <m:r>
                              <a:rPr lang="en-US" i="1">
                                <a:solidFill>
                                  <a:schemeClr val="accent2"/>
                                </a:solidFill>
                                <a:latin typeface="Cambria Math" panose="02040503050406030204" pitchFamily="18" charset="0"/>
                              </a:rPr>
                              <m:t>𝑠</m:t>
                            </m:r>
                          </m:e>
                          <m:sub>
                            <m:r>
                              <a:rPr lang="en-US" i="1">
                                <a:solidFill>
                                  <a:schemeClr val="accent2"/>
                                </a:solidFill>
                                <a:latin typeface="Cambria Math" panose="02040503050406030204" pitchFamily="18" charset="0"/>
                              </a:rPr>
                              <m:t>0</m:t>
                            </m:r>
                          </m:sub>
                          <m:sup>
                            <m:r>
                              <a:rPr lang="en-US" i="1">
                                <a:solidFill>
                                  <a:schemeClr val="accent2"/>
                                </a:solidFill>
                                <a:latin typeface="Cambria Math" panose="02040503050406030204" pitchFamily="18" charset="0"/>
                              </a:rPr>
                              <m:t>2</m:t>
                            </m:r>
                          </m:sup>
                        </m:sSubSup>
                      </m:num>
                      <m:den>
                        <m:sSub>
                          <m:sSubPr>
                            <m:ctrlPr>
                              <a:rPr lang="en-US" i="1">
                                <a:latin typeface="Cambria Math" panose="02040503050406030204" pitchFamily="18" charset="0"/>
                              </a:rPr>
                            </m:ctrlPr>
                          </m:sSubPr>
                          <m:e>
                            <m:r>
                              <a:rPr lang="en-US" i="1">
                                <a:latin typeface="Cambria Math" panose="02040503050406030204" pitchFamily="18" charset="0"/>
                              </a:rPr>
                              <m:t>𝑁</m:t>
                            </m:r>
                          </m:e>
                          <m:sub>
                            <m:r>
                              <a:rPr lang="en-US" i="1">
                                <a:latin typeface="Cambria Math" panose="02040503050406030204" pitchFamily="18" charset="0"/>
                              </a:rPr>
                              <m:t>0</m:t>
                            </m:r>
                          </m:sub>
                        </m:sSub>
                      </m:den>
                    </m:f>
                  </m:oMath>
                </a14:m>
                <a:endParaRPr lang="en-US" dirty="0"/>
              </a:p>
              <a:p>
                <a:pPr lvl="1"/>
                <a:r>
                  <a:rPr lang="en-US" dirty="0"/>
                  <a:t>Look at the 95% (or whatever) confidence interval for the corresponding Gaussian</a:t>
                </a:r>
              </a:p>
            </p:txBody>
          </p:sp>
        </mc:Choice>
        <mc:Fallback xmlns="">
          <p:sp>
            <p:nvSpPr>
              <p:cNvPr id="3" name="Content Placeholder 2">
                <a:extLst>
                  <a:ext uri="{FF2B5EF4-FFF2-40B4-BE49-F238E27FC236}">
                    <a16:creationId xmlns:a16="http://schemas.microsoft.com/office/drawing/2014/main" id="{9897309B-0B48-4C95-7ACA-6031AA6C1CF0}"/>
                  </a:ext>
                </a:extLst>
              </p:cNvPr>
              <p:cNvSpPr>
                <a:spLocks noGrp="1" noRot="1" noChangeAspect="1" noMove="1" noResize="1" noEditPoints="1" noAdjustHandles="1" noChangeArrowheads="1" noChangeShapeType="1" noTextEdit="1"/>
              </p:cNvSpPr>
              <p:nvPr>
                <p:ph idx="1"/>
              </p:nvPr>
            </p:nvSpPr>
            <p:spPr>
              <a:blipFill>
                <a:blip r:embed="rId4"/>
                <a:stretch>
                  <a:fillRect l="-1086" t="-2326"/>
                </a:stretch>
              </a:blipFill>
            </p:spPr>
            <p:txBody>
              <a:bodyPr/>
              <a:lstStyle/>
              <a:p>
                <a:r>
                  <a:rPr lang="en-US">
                    <a:noFill/>
                  </a:rPr>
                  <a:t> </a:t>
                </a:r>
              </a:p>
            </p:txBody>
          </p:sp>
        </mc:Fallback>
      </mc:AlternateContent>
    </p:spTree>
    <p:extLst>
      <p:ext uri="{BB962C8B-B14F-4D97-AF65-F5344CB8AC3E}">
        <p14:creationId xmlns:p14="http://schemas.microsoft.com/office/powerpoint/2010/main" val="33488388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E39E1-BDB9-21EC-B5A0-5FDC11557BFD}"/>
              </a:ext>
            </a:extLst>
          </p:cNvPr>
          <p:cNvSpPr>
            <a:spLocks noGrp="1"/>
          </p:cNvSpPr>
          <p:nvPr>
            <p:ph type="title"/>
          </p:nvPr>
        </p:nvSpPr>
        <p:spPr>
          <a:xfrm>
            <a:off x="639611" y="161776"/>
            <a:ext cx="10515600" cy="1325563"/>
          </a:xfrm>
        </p:spPr>
        <p:txBody>
          <a:bodyPr/>
          <a:lstStyle/>
          <a:p>
            <a:r>
              <a:rPr lang="en-US" dirty="0"/>
              <a:t>This allows us to do hypothesis testing!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A842F57-32D1-E13E-BDC9-D2A9A813722E}"/>
                  </a:ext>
                </a:extLst>
              </p:cNvPr>
              <p:cNvSpPr>
                <a:spLocks noGrp="1"/>
              </p:cNvSpPr>
              <p:nvPr>
                <p:ph idx="1"/>
              </p:nvPr>
            </p:nvSpPr>
            <p:spPr>
              <a:xfrm>
                <a:off x="963706" y="1580819"/>
                <a:ext cx="9847729" cy="4351338"/>
              </a:xfrm>
            </p:spPr>
            <p:txBody>
              <a:bodyPr/>
              <a:lstStyle/>
              <a:p>
                <a:pPr marL="514350" indent="-514350">
                  <a:buFont typeface="+mj-lt"/>
                  <a:buAutoNum type="arabicPeriod"/>
                </a:pPr>
                <a:r>
                  <a:rPr lang="en-US" dirty="0"/>
                  <a:t>Figure out a 95% (or whatever) confidence interval based on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𝜏</m:t>
                        </m:r>
                      </m:e>
                    </m:acc>
                  </m:oMath>
                </a14:m>
                <a:endParaRPr lang="en-US" b="0" dirty="0"/>
              </a:p>
              <a:p>
                <a:pPr lvl="1"/>
                <a:r>
                  <a:rPr lang="en-US" dirty="0">
                    <a:solidFill>
                      <a:schemeClr val="accent1"/>
                    </a:solidFill>
                  </a:rPr>
                  <a:t>Either analytically or with resampling</a:t>
                </a:r>
              </a:p>
              <a:p>
                <a:pPr marL="514350" indent="-514350">
                  <a:buFont typeface="+mj-lt"/>
                  <a:buAutoNum type="arabicPeriod"/>
                </a:pPr>
                <a:r>
                  <a:rPr lang="en-US" dirty="0"/>
                  <a:t>Null hypothesis: </a:t>
                </a:r>
                <a14:m>
                  <m:oMath xmlns:m="http://schemas.openxmlformats.org/officeDocument/2006/math">
                    <m:r>
                      <a:rPr lang="en-US" b="0" i="1" dirty="0" smtClean="0">
                        <a:latin typeface="Cambria Math" panose="02040503050406030204" pitchFamily="18" charset="0"/>
                      </a:rPr>
                      <m:t>𝜏</m:t>
                    </m:r>
                    <m:r>
                      <a:rPr lang="en-US" b="0" i="1" dirty="0" smtClean="0">
                        <a:latin typeface="Cambria Math" panose="02040503050406030204" pitchFamily="18" charset="0"/>
                      </a:rPr>
                      <m:t>=0</m:t>
                    </m:r>
                  </m:oMath>
                </a14:m>
                <a:r>
                  <a:rPr lang="en-US" dirty="0"/>
                  <a:t> (there is no effect)</a:t>
                </a:r>
              </a:p>
              <a:p>
                <a:pPr marL="514350" indent="-514350">
                  <a:buFont typeface="+mj-lt"/>
                  <a:buAutoNum type="arabicPeriod"/>
                </a:pPr>
                <a:r>
                  <a:rPr lang="en-US" dirty="0"/>
                  <a:t>If </a:t>
                </a:r>
                <a14:m>
                  <m:oMath xmlns:m="http://schemas.openxmlformats.org/officeDocument/2006/math">
                    <m:r>
                      <a:rPr lang="en-US" b="0" i="1" smtClean="0">
                        <a:latin typeface="Cambria Math" panose="02040503050406030204" pitchFamily="18" charset="0"/>
                      </a:rPr>
                      <m:t>0</m:t>
                    </m:r>
                  </m:oMath>
                </a14:m>
                <a:r>
                  <a:rPr lang="en-US" dirty="0"/>
                  <a:t> lies outside the confidence interval, reject the null with p-value 0.05 (or whatever).</a:t>
                </a:r>
              </a:p>
              <a:p>
                <a:pPr lvl="1"/>
                <a:r>
                  <a:rPr lang="en-US" dirty="0">
                    <a:solidFill>
                      <a:schemeClr val="accent1"/>
                    </a:solidFill>
                  </a:rPr>
                  <a:t>In this case we’d say: “There is a statistically significant effect of aspirin on headaches (p-value 0.05)”</a:t>
                </a:r>
              </a:p>
            </p:txBody>
          </p:sp>
        </mc:Choice>
        <mc:Fallback xmlns="">
          <p:sp>
            <p:nvSpPr>
              <p:cNvPr id="3" name="Content Placeholder 2">
                <a:extLst>
                  <a:ext uri="{FF2B5EF4-FFF2-40B4-BE49-F238E27FC236}">
                    <a16:creationId xmlns:a16="http://schemas.microsoft.com/office/drawing/2014/main" id="{7A842F57-32D1-E13E-BDC9-D2A9A813722E}"/>
                  </a:ext>
                </a:extLst>
              </p:cNvPr>
              <p:cNvSpPr>
                <a:spLocks noGrp="1" noRot="1" noChangeAspect="1" noMove="1" noResize="1" noEditPoints="1" noAdjustHandles="1" noChangeArrowheads="1" noChangeShapeType="1" noTextEdit="1"/>
              </p:cNvSpPr>
              <p:nvPr>
                <p:ph idx="1"/>
              </p:nvPr>
            </p:nvSpPr>
            <p:spPr>
              <a:xfrm>
                <a:off x="963706" y="1580819"/>
                <a:ext cx="9847729" cy="4351338"/>
              </a:xfrm>
              <a:blipFill>
                <a:blip r:embed="rId3"/>
                <a:stretch>
                  <a:fillRect l="-1030" t="-2326" r="-1673"/>
                </a:stretch>
              </a:blipFill>
            </p:spPr>
            <p:txBody>
              <a:bodyPr/>
              <a:lstStyle/>
              <a:p>
                <a:r>
                  <a:rPr lang="en-US">
                    <a:noFill/>
                  </a:rPr>
                  <a:t> </a:t>
                </a:r>
              </a:p>
            </p:txBody>
          </p:sp>
        </mc:Fallback>
      </mc:AlternateContent>
      <p:grpSp>
        <p:nvGrpSpPr>
          <p:cNvPr id="7" name="Group 6">
            <a:extLst>
              <a:ext uri="{FF2B5EF4-FFF2-40B4-BE49-F238E27FC236}">
                <a16:creationId xmlns:a16="http://schemas.microsoft.com/office/drawing/2014/main" id="{CC5F8BB5-D122-D626-4A5C-73563AE4A754}"/>
              </a:ext>
            </a:extLst>
          </p:cNvPr>
          <p:cNvGrpSpPr/>
          <p:nvPr/>
        </p:nvGrpSpPr>
        <p:grpSpPr>
          <a:xfrm>
            <a:off x="639611" y="5175896"/>
            <a:ext cx="7356907" cy="1512522"/>
            <a:chOff x="639611" y="5175896"/>
            <a:chExt cx="7356907" cy="1512522"/>
          </a:xfrm>
        </p:grpSpPr>
        <p:pic>
          <p:nvPicPr>
            <p:cNvPr id="4" name="Picture 3">
              <a:extLst>
                <a:ext uri="{FF2B5EF4-FFF2-40B4-BE49-F238E27FC236}">
                  <a16:creationId xmlns:a16="http://schemas.microsoft.com/office/drawing/2014/main" id="{9ED54563-32AB-C7DE-5294-531313B5FCCB}"/>
                </a:ext>
              </a:extLst>
            </p:cNvPr>
            <p:cNvPicPr>
              <a:picLocks noChangeAspect="1"/>
            </p:cNvPicPr>
            <p:nvPr/>
          </p:nvPicPr>
          <p:blipFill>
            <a:blip r:embed="rId4"/>
            <a:stretch>
              <a:fillRect/>
            </a:stretch>
          </p:blipFill>
          <p:spPr>
            <a:xfrm flipH="1">
              <a:off x="639611" y="5175896"/>
              <a:ext cx="740954" cy="1512522"/>
            </a:xfrm>
            <a:prstGeom prst="rect">
              <a:avLst/>
            </a:prstGeom>
          </p:spPr>
        </p:pic>
        <p:sp>
          <p:nvSpPr>
            <p:cNvPr id="6" name="TextBox 5">
              <a:extLst>
                <a:ext uri="{FF2B5EF4-FFF2-40B4-BE49-F238E27FC236}">
                  <a16:creationId xmlns:a16="http://schemas.microsoft.com/office/drawing/2014/main" id="{12461521-4FAC-20EF-B845-1AF2FFA8A941}"/>
                </a:ext>
              </a:extLst>
            </p:cNvPr>
            <p:cNvSpPr txBox="1"/>
            <p:nvPr/>
          </p:nvSpPr>
          <p:spPr>
            <a:xfrm>
              <a:off x="1380565" y="5289923"/>
              <a:ext cx="6615953" cy="1323439"/>
            </a:xfrm>
            <a:prstGeom prst="rect">
              <a:avLst/>
            </a:prstGeom>
            <a:noFill/>
          </p:spPr>
          <p:txBody>
            <a:bodyPr wrap="square" rtlCol="0">
              <a:spAutoFit/>
            </a:bodyPr>
            <a:lstStyle/>
            <a:p>
              <a:r>
                <a:rPr lang="en-US" sz="2000" dirty="0">
                  <a:solidFill>
                    <a:srgbClr val="0070C0"/>
                  </a:solidFill>
                </a:rPr>
                <a:t>Typically we’d do this the other way around ... Instead of first picking “95%” and seeing if we can reject the null hypothesis with p-value 0.05, we’d start with the null and see what p-value would allow us to reject it.</a:t>
              </a:r>
            </a:p>
          </p:txBody>
        </p:sp>
      </p:grpSp>
    </p:spTree>
    <p:extLst>
      <p:ext uri="{BB962C8B-B14F-4D97-AF65-F5344CB8AC3E}">
        <p14:creationId xmlns:p14="http://schemas.microsoft.com/office/powerpoint/2010/main" val="4039338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A5E57-A1CB-4B4C-E2AB-B68FAC617B55}"/>
              </a:ext>
            </a:extLst>
          </p:cNvPr>
          <p:cNvSpPr>
            <a:spLocks noGrp="1"/>
          </p:cNvSpPr>
          <p:nvPr>
            <p:ph type="title"/>
          </p:nvPr>
        </p:nvSpPr>
        <p:spPr/>
        <p:txBody>
          <a:bodyPr/>
          <a:lstStyle/>
          <a:p>
            <a:r>
              <a:rPr lang="en-US" dirty="0"/>
              <a:t>Putting in all together</a:t>
            </a:r>
            <a:br>
              <a:rPr lang="en-US" dirty="0"/>
            </a:br>
            <a:r>
              <a:rPr lang="en-US" dirty="0"/>
              <a:t>and interpreting results</a:t>
            </a:r>
          </a:p>
        </p:txBody>
      </p:sp>
      <p:sp>
        <p:nvSpPr>
          <p:cNvPr id="3" name="Text Placeholder 2">
            <a:extLst>
              <a:ext uri="{FF2B5EF4-FFF2-40B4-BE49-F238E27FC236}">
                <a16:creationId xmlns:a16="http://schemas.microsoft.com/office/drawing/2014/main" id="{E9739EF9-1BE3-B0D7-3FD2-76EA81B5FDA0}"/>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74714128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B6CC38-F121-1718-B5BC-9313CFAA5899}"/>
              </a:ext>
            </a:extLst>
          </p:cNvPr>
          <p:cNvSpPr>
            <a:spLocks noGrp="1"/>
          </p:cNvSpPr>
          <p:nvPr>
            <p:ph type="title"/>
          </p:nvPr>
        </p:nvSpPr>
        <p:spPr>
          <a:xfrm>
            <a:off x="838200" y="70966"/>
            <a:ext cx="10515600" cy="1325563"/>
          </a:xfrm>
        </p:spPr>
        <p:txBody>
          <a:bodyPr/>
          <a:lstStyle/>
          <a:p>
            <a:r>
              <a:rPr lang="en-US" dirty="0"/>
              <a:t>Putting it all together</a:t>
            </a:r>
            <a:br>
              <a:rPr lang="en-US" dirty="0"/>
            </a:br>
            <a:r>
              <a:rPr lang="en-US" sz="2800" dirty="0"/>
              <a:t>Analyzing an RCT</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2886606-1466-32D3-7CAC-92545304F102}"/>
                  </a:ext>
                </a:extLst>
              </p:cNvPr>
              <p:cNvSpPr>
                <a:spLocks noGrp="1"/>
              </p:cNvSpPr>
              <p:nvPr>
                <p:ph idx="1"/>
              </p:nvPr>
            </p:nvSpPr>
            <p:spPr>
              <a:xfrm>
                <a:off x="838200" y="1504349"/>
                <a:ext cx="10515600" cy="5020019"/>
              </a:xfrm>
            </p:spPr>
            <p:txBody>
              <a:bodyPr>
                <a:normAutofit fontScale="85000" lnSpcReduction="10000"/>
              </a:bodyPr>
              <a:lstStyle/>
              <a:p>
                <a:pPr marL="514350" indent="-514350">
                  <a:buFont typeface="+mj-lt"/>
                  <a:buAutoNum type="arabicPeriod"/>
                </a:pPr>
                <a:r>
                  <a:rPr lang="en-US" dirty="0"/>
                  <a:t>Design and run your RCT </a:t>
                </a:r>
                <a:r>
                  <a:rPr lang="en-US" sz="2000" dirty="0"/>
                  <a:t>(we didn’t really talk about this today)</a:t>
                </a:r>
              </a:p>
              <a:p>
                <a:pPr marL="514350" indent="-514350">
                  <a:buFont typeface="+mj-lt"/>
                  <a:buAutoNum type="arabicPeriod"/>
                </a:pPr>
                <a:r>
                  <a:rPr lang="en-US" dirty="0"/>
                  <a:t>Check that your control and treatment groups “balance” observables.</a:t>
                </a:r>
              </a:p>
              <a:p>
                <a:pPr marL="514350" indent="-514350">
                  <a:buFont typeface="+mj-lt"/>
                  <a:buAutoNum type="arabicPeriod"/>
                </a:pPr>
                <a:r>
                  <a:rPr lang="en-US" dirty="0"/>
                  <a:t>Compute: </a:t>
                </a:r>
              </a:p>
              <a:p>
                <a:pPr marL="0" indent="0">
                  <a:buNone/>
                </a:pPr>
                <a14:m>
                  <m:oMathPara xmlns:m="http://schemas.openxmlformats.org/officeDocument/2006/math">
                    <m:oMathParaPr>
                      <m:jc m:val="center"/>
                    </m:oMathParaPr>
                    <m:oMath xmlns:m="http://schemas.openxmlformats.org/officeDocument/2006/math">
                      <m:acc>
                        <m:accPr>
                          <m:chr m:val="̂"/>
                          <m:ctrlPr>
                            <a:rPr lang="en-US" b="0" i="1" smtClean="0">
                              <a:solidFill>
                                <a:schemeClr val="accent1"/>
                              </a:solidFill>
                              <a:latin typeface="Cambria Math" panose="02040503050406030204" pitchFamily="18" charset="0"/>
                            </a:rPr>
                          </m:ctrlPr>
                        </m:accPr>
                        <m:e>
                          <m:r>
                            <a:rPr lang="en-US" b="0" i="1" smtClean="0">
                              <a:solidFill>
                                <a:schemeClr val="accent1"/>
                              </a:solidFill>
                              <a:latin typeface="Cambria Math" panose="02040503050406030204" pitchFamily="18" charset="0"/>
                            </a:rPr>
                            <m:t>𝜏</m:t>
                          </m:r>
                        </m:e>
                      </m:acc>
                      <m:r>
                        <a:rPr lang="en-US" b="0" i="0" dirty="0" smtClean="0">
                          <a:solidFill>
                            <a:schemeClr val="accent1"/>
                          </a:solidFill>
                          <a:latin typeface="Cambria Math" panose="02040503050406030204" pitchFamily="18" charset="0"/>
                        </a:rPr>
                        <m:t>=</m:t>
                      </m:r>
                      <m:d>
                        <m:dPr>
                          <m:ctrlPr>
                            <a:rPr lang="en-US" b="0" i="1" dirty="0" smtClean="0">
                              <a:solidFill>
                                <a:schemeClr val="accent1"/>
                              </a:solidFill>
                              <a:latin typeface="Cambria Math" panose="02040503050406030204" pitchFamily="18" charset="0"/>
                            </a:rPr>
                          </m:ctrlPr>
                        </m:dPr>
                        <m:e>
                          <m:r>
                            <m:rPr>
                              <m:sty m:val="p"/>
                            </m:rPr>
                            <a:rPr lang="en-US" b="0" i="0" dirty="0" smtClean="0">
                              <a:solidFill>
                                <a:schemeClr val="accent1"/>
                              </a:solidFill>
                              <a:latin typeface="Cambria Math" panose="02040503050406030204" pitchFamily="18" charset="0"/>
                            </a:rPr>
                            <m:t>average</m:t>
                          </m:r>
                          <m:r>
                            <a:rPr lang="en-US" b="0" i="0" dirty="0" smtClean="0">
                              <a:solidFill>
                                <a:schemeClr val="accent1"/>
                              </a:solidFill>
                              <a:latin typeface="Cambria Math" panose="02040503050406030204" pitchFamily="18" charset="0"/>
                            </a:rPr>
                            <m:t> </m:t>
                          </m:r>
                          <m:r>
                            <m:rPr>
                              <m:sty m:val="p"/>
                            </m:rPr>
                            <a:rPr lang="en-US" b="0" i="0" dirty="0" smtClean="0">
                              <a:solidFill>
                                <a:schemeClr val="accent1"/>
                              </a:solidFill>
                              <a:latin typeface="Cambria Math" panose="02040503050406030204" pitchFamily="18" charset="0"/>
                            </a:rPr>
                            <m:t>in</m:t>
                          </m:r>
                          <m:r>
                            <a:rPr lang="en-US" b="0" i="0" dirty="0" smtClean="0">
                              <a:solidFill>
                                <a:schemeClr val="accent1"/>
                              </a:solidFill>
                              <a:latin typeface="Cambria Math" panose="02040503050406030204" pitchFamily="18" charset="0"/>
                            </a:rPr>
                            <m:t> </m:t>
                          </m:r>
                          <m:r>
                            <m:rPr>
                              <m:sty m:val="p"/>
                            </m:rPr>
                            <a:rPr lang="en-US" b="0" i="0" dirty="0" smtClean="0">
                              <a:solidFill>
                                <a:schemeClr val="accent1"/>
                              </a:solidFill>
                              <a:latin typeface="Cambria Math" panose="02040503050406030204" pitchFamily="18" charset="0"/>
                            </a:rPr>
                            <m:t>treatment</m:t>
                          </m:r>
                          <m:r>
                            <a:rPr lang="en-US" b="0" i="0" dirty="0" smtClean="0">
                              <a:solidFill>
                                <a:schemeClr val="accent1"/>
                              </a:solidFill>
                              <a:latin typeface="Cambria Math" panose="02040503050406030204" pitchFamily="18" charset="0"/>
                            </a:rPr>
                            <m:t> </m:t>
                          </m:r>
                          <m:r>
                            <m:rPr>
                              <m:sty m:val="p"/>
                            </m:rPr>
                            <a:rPr lang="en-US" b="0" i="0" dirty="0" smtClean="0">
                              <a:solidFill>
                                <a:schemeClr val="accent1"/>
                              </a:solidFill>
                              <a:latin typeface="Cambria Math" panose="02040503050406030204" pitchFamily="18" charset="0"/>
                            </a:rPr>
                            <m:t>group</m:t>
                          </m:r>
                        </m:e>
                      </m:d>
                      <m:r>
                        <a:rPr lang="en-US" b="0" i="0" dirty="0" smtClean="0">
                          <a:solidFill>
                            <a:schemeClr val="accent1"/>
                          </a:solidFill>
                          <a:latin typeface="Cambria Math" panose="02040503050406030204" pitchFamily="18" charset="0"/>
                        </a:rPr>
                        <m:t> −(</m:t>
                      </m:r>
                      <m:r>
                        <m:rPr>
                          <m:sty m:val="p"/>
                        </m:rPr>
                        <a:rPr lang="en-US" b="0" i="0" dirty="0" smtClean="0">
                          <a:solidFill>
                            <a:schemeClr val="accent1"/>
                          </a:solidFill>
                          <a:latin typeface="Cambria Math" panose="02040503050406030204" pitchFamily="18" charset="0"/>
                        </a:rPr>
                        <m:t>average</m:t>
                      </m:r>
                      <m:r>
                        <a:rPr lang="en-US" b="0" i="0" dirty="0" smtClean="0">
                          <a:solidFill>
                            <a:schemeClr val="accent1"/>
                          </a:solidFill>
                          <a:latin typeface="Cambria Math" panose="02040503050406030204" pitchFamily="18" charset="0"/>
                        </a:rPr>
                        <m:t> </m:t>
                      </m:r>
                      <m:r>
                        <m:rPr>
                          <m:sty m:val="p"/>
                        </m:rPr>
                        <a:rPr lang="en-US" b="0" i="0" dirty="0" smtClean="0">
                          <a:solidFill>
                            <a:schemeClr val="accent1"/>
                          </a:solidFill>
                          <a:latin typeface="Cambria Math" panose="02040503050406030204" pitchFamily="18" charset="0"/>
                        </a:rPr>
                        <m:t>in</m:t>
                      </m:r>
                      <m:r>
                        <a:rPr lang="en-US" b="0" i="0" dirty="0" smtClean="0">
                          <a:solidFill>
                            <a:schemeClr val="accent1"/>
                          </a:solidFill>
                          <a:latin typeface="Cambria Math" panose="02040503050406030204" pitchFamily="18" charset="0"/>
                        </a:rPr>
                        <m:t> </m:t>
                      </m:r>
                      <m:r>
                        <m:rPr>
                          <m:sty m:val="p"/>
                        </m:rPr>
                        <a:rPr lang="en-US" b="0" i="0" dirty="0" smtClean="0">
                          <a:solidFill>
                            <a:schemeClr val="accent1"/>
                          </a:solidFill>
                          <a:latin typeface="Cambria Math" panose="02040503050406030204" pitchFamily="18" charset="0"/>
                        </a:rPr>
                        <m:t>control</m:t>
                      </m:r>
                      <m:r>
                        <a:rPr lang="en-US" b="0" i="0" dirty="0" smtClean="0">
                          <a:solidFill>
                            <a:schemeClr val="accent1"/>
                          </a:solidFill>
                          <a:latin typeface="Cambria Math" panose="02040503050406030204" pitchFamily="18" charset="0"/>
                        </a:rPr>
                        <m:t> </m:t>
                      </m:r>
                      <m:r>
                        <m:rPr>
                          <m:sty m:val="p"/>
                        </m:rPr>
                        <a:rPr lang="en-US" b="0" i="0" dirty="0" smtClean="0">
                          <a:solidFill>
                            <a:schemeClr val="accent1"/>
                          </a:solidFill>
                          <a:latin typeface="Cambria Math" panose="02040503050406030204" pitchFamily="18" charset="0"/>
                        </a:rPr>
                        <m:t>group</m:t>
                      </m:r>
                      <m:r>
                        <a:rPr lang="en-US" b="0" i="0" dirty="0" smtClean="0">
                          <a:solidFill>
                            <a:schemeClr val="accent1"/>
                          </a:solidFill>
                          <a:latin typeface="Cambria Math" panose="02040503050406030204" pitchFamily="18" charset="0"/>
                        </a:rPr>
                        <m:t>)</m:t>
                      </m:r>
                    </m:oMath>
                  </m:oMathPara>
                </a14:m>
                <a:endParaRPr lang="en-US" dirty="0"/>
              </a:p>
              <a:p>
                <a:pPr marL="514350" indent="-514350">
                  <a:buFont typeface="+mj-lt"/>
                  <a:buAutoNum type="arabicPeriod" startAt="4"/>
                </a:pPr>
                <a:r>
                  <a:rPr lang="en-US" dirty="0"/>
                  <a:t>Are we confident that there is an effect?</a:t>
                </a:r>
              </a:p>
              <a:p>
                <a:pPr lvl="1"/>
                <a:r>
                  <a:rPr lang="en-US" dirty="0">
                    <a:solidFill>
                      <a:schemeClr val="accent1"/>
                    </a:solidFill>
                  </a:rPr>
                  <a:t>Construct a confidence interval (say, 95%) for </a:t>
                </a:r>
                <a14:m>
                  <m:oMath xmlns:m="http://schemas.openxmlformats.org/officeDocument/2006/math">
                    <m:r>
                      <a:rPr lang="en-US" b="0" i="1" smtClean="0">
                        <a:solidFill>
                          <a:schemeClr val="accent1"/>
                        </a:solidFill>
                        <a:latin typeface="Cambria Math" panose="02040503050406030204" pitchFamily="18" charset="0"/>
                      </a:rPr>
                      <m:t>𝜏</m:t>
                    </m:r>
                  </m:oMath>
                </a14:m>
                <a:r>
                  <a:rPr lang="en-US" dirty="0">
                    <a:solidFill>
                      <a:schemeClr val="accent1"/>
                    </a:solidFill>
                  </a:rPr>
                  <a:t> </a:t>
                </a:r>
              </a:p>
              <a:p>
                <a:pPr lvl="2"/>
                <a:r>
                  <a:rPr lang="en-US" dirty="0">
                    <a:solidFill>
                      <a:schemeClr val="accent1"/>
                    </a:solidFill>
                  </a:rPr>
                  <a:t>Either analytically, or via resampling</a:t>
                </a:r>
              </a:p>
              <a:p>
                <a:pPr lvl="1"/>
                <a:r>
                  <a:rPr lang="en-US" dirty="0">
                    <a:solidFill>
                      <a:schemeClr val="accent1"/>
                    </a:solidFill>
                  </a:rPr>
                  <a:t>If 0 doesn’t lie in the confidence interval, we are confident there is an effect! </a:t>
                </a:r>
              </a:p>
              <a:p>
                <a:pPr lvl="2"/>
                <a:r>
                  <a:rPr lang="en-US" dirty="0">
                    <a:solidFill>
                      <a:schemeClr val="accent1"/>
                    </a:solidFill>
                  </a:rPr>
                  <a:t>With p-value 0.05 for a 95% confidence interval, etc.</a:t>
                </a:r>
              </a:p>
              <a:p>
                <a:pPr marL="514350" indent="-514350">
                  <a:buFont typeface="+mj-lt"/>
                  <a:buAutoNum type="arabicPeriod" startAt="5"/>
                </a:pPr>
                <a:r>
                  <a:rPr lang="en-US" dirty="0"/>
                  <a:t>How big is the effect?</a:t>
                </a:r>
              </a:p>
              <a:p>
                <a:pPr lvl="1"/>
                <a:r>
                  <a:rPr lang="en-US" dirty="0">
                    <a:solidFill>
                      <a:schemeClr val="accent1"/>
                    </a:solidFill>
                  </a:rPr>
                  <a:t>First, decide if you think that your estimate of </a:t>
                </a:r>
                <a14:m>
                  <m:oMath xmlns:m="http://schemas.openxmlformats.org/officeDocument/2006/math">
                    <m:acc>
                      <m:accPr>
                        <m:chr m:val="̂"/>
                        <m:ctrlPr>
                          <a:rPr lang="en-US" b="0" i="1" smtClean="0">
                            <a:solidFill>
                              <a:schemeClr val="accent1"/>
                            </a:solidFill>
                            <a:latin typeface="Cambria Math" panose="02040503050406030204" pitchFamily="18" charset="0"/>
                          </a:rPr>
                        </m:ctrlPr>
                      </m:accPr>
                      <m:e>
                        <m:r>
                          <a:rPr lang="en-US" b="0" i="1" smtClean="0">
                            <a:solidFill>
                              <a:schemeClr val="accent1"/>
                            </a:solidFill>
                            <a:latin typeface="Cambria Math" panose="02040503050406030204" pitchFamily="18" charset="0"/>
                          </a:rPr>
                          <m:t>𝜏</m:t>
                        </m:r>
                      </m:e>
                    </m:acc>
                  </m:oMath>
                </a14:m>
                <a:r>
                  <a:rPr lang="en-US" dirty="0">
                    <a:solidFill>
                      <a:schemeClr val="accent1"/>
                    </a:solidFill>
                  </a:rPr>
                  <a:t> is about the same as the true </a:t>
                </a:r>
                <a14:m>
                  <m:oMath xmlns:m="http://schemas.openxmlformats.org/officeDocument/2006/math">
                    <m:r>
                      <a:rPr lang="en-US" b="0" i="1" smtClean="0">
                        <a:solidFill>
                          <a:schemeClr val="accent1"/>
                        </a:solidFill>
                        <a:latin typeface="Cambria Math" panose="02040503050406030204" pitchFamily="18" charset="0"/>
                      </a:rPr>
                      <m:t>𝜏</m:t>
                    </m:r>
                    <m:r>
                      <a:rPr lang="en-US" b="0" i="1" smtClean="0">
                        <a:solidFill>
                          <a:schemeClr val="accent1"/>
                        </a:solidFill>
                        <a:latin typeface="Cambria Math" panose="02040503050406030204" pitchFamily="18" charset="0"/>
                      </a:rPr>
                      <m:t> </m:t>
                    </m:r>
                  </m:oMath>
                </a14:m>
                <a:endParaRPr lang="en-US" dirty="0">
                  <a:solidFill>
                    <a:schemeClr val="accent1"/>
                  </a:solidFill>
                </a:endParaRPr>
              </a:p>
              <a:p>
                <a:pPr lvl="2"/>
                <a:r>
                  <a:rPr lang="en-US" dirty="0">
                    <a:solidFill>
                      <a:schemeClr val="accent1"/>
                    </a:solidFill>
                  </a:rPr>
                  <a:t>Either with confidence intervals, or by comparing to standard errors</a:t>
                </a:r>
              </a:p>
              <a:p>
                <a:pPr lvl="1"/>
                <a:r>
                  <a:rPr lang="en-US" dirty="0">
                    <a:solidFill>
                      <a:schemeClr val="accent1"/>
                    </a:solidFill>
                  </a:rPr>
                  <a:t>Then, decide if you think that effect is “big,” aka “important”…</a:t>
                </a:r>
              </a:p>
              <a:p>
                <a:pPr lvl="2"/>
                <a:r>
                  <a:rPr lang="en-US" dirty="0">
                    <a:solidFill>
                      <a:schemeClr val="accent1"/>
                    </a:solidFill>
                  </a:rPr>
                  <a:t>2.5 points on a 100 point exam?  How important this is is subjective!</a:t>
                </a:r>
              </a:p>
            </p:txBody>
          </p:sp>
        </mc:Choice>
        <mc:Fallback xmlns="">
          <p:sp>
            <p:nvSpPr>
              <p:cNvPr id="3" name="Content Placeholder 2">
                <a:extLst>
                  <a:ext uri="{FF2B5EF4-FFF2-40B4-BE49-F238E27FC236}">
                    <a16:creationId xmlns:a16="http://schemas.microsoft.com/office/drawing/2014/main" id="{22886606-1466-32D3-7CAC-92545304F102}"/>
                  </a:ext>
                </a:extLst>
              </p:cNvPr>
              <p:cNvSpPr>
                <a:spLocks noGrp="1" noRot="1" noChangeAspect="1" noMove="1" noResize="1" noEditPoints="1" noAdjustHandles="1" noChangeArrowheads="1" noChangeShapeType="1" noTextEdit="1"/>
              </p:cNvSpPr>
              <p:nvPr>
                <p:ph idx="1"/>
              </p:nvPr>
            </p:nvSpPr>
            <p:spPr>
              <a:xfrm>
                <a:off x="838200" y="1504349"/>
                <a:ext cx="10515600" cy="5020019"/>
              </a:xfrm>
              <a:blipFill>
                <a:blip r:embed="rId3"/>
                <a:stretch>
                  <a:fillRect l="-812" t="-2309"/>
                </a:stretch>
              </a:blipFill>
            </p:spPr>
            <p:txBody>
              <a:bodyPr/>
              <a:lstStyle/>
              <a:p>
                <a:r>
                  <a:rPr lang="en-US">
                    <a:noFill/>
                  </a:rPr>
                  <a:t> </a:t>
                </a:r>
              </a:p>
            </p:txBody>
          </p:sp>
        </mc:Fallback>
      </mc:AlternateContent>
      <p:grpSp>
        <p:nvGrpSpPr>
          <p:cNvPr id="6" name="Group 5">
            <a:extLst>
              <a:ext uri="{FF2B5EF4-FFF2-40B4-BE49-F238E27FC236}">
                <a16:creationId xmlns:a16="http://schemas.microsoft.com/office/drawing/2014/main" id="{5403B0E5-52F3-BCA9-F72A-EA9A08537C05}"/>
              </a:ext>
            </a:extLst>
          </p:cNvPr>
          <p:cNvGrpSpPr/>
          <p:nvPr/>
        </p:nvGrpSpPr>
        <p:grpSpPr>
          <a:xfrm>
            <a:off x="9493135" y="3064260"/>
            <a:ext cx="2527781" cy="2950281"/>
            <a:chOff x="9493135" y="3064260"/>
            <a:chExt cx="2527781" cy="2950281"/>
          </a:xfrm>
        </p:grpSpPr>
        <p:pic>
          <p:nvPicPr>
            <p:cNvPr id="4" name="Picture 3">
              <a:extLst>
                <a:ext uri="{FF2B5EF4-FFF2-40B4-BE49-F238E27FC236}">
                  <a16:creationId xmlns:a16="http://schemas.microsoft.com/office/drawing/2014/main" id="{305D3AED-7DF5-F2D9-4FE6-0E94C2672780}"/>
                </a:ext>
              </a:extLst>
            </p:cNvPr>
            <p:cNvPicPr>
              <a:picLocks noChangeAspect="1"/>
            </p:cNvPicPr>
            <p:nvPr/>
          </p:nvPicPr>
          <p:blipFill>
            <a:blip r:embed="rId4"/>
            <a:stretch>
              <a:fillRect/>
            </a:stretch>
          </p:blipFill>
          <p:spPr>
            <a:xfrm>
              <a:off x="11353800" y="4692760"/>
              <a:ext cx="667116" cy="1321781"/>
            </a:xfrm>
            <a:prstGeom prst="rect">
              <a:avLst/>
            </a:prstGeom>
          </p:spPr>
        </p:pic>
        <p:sp>
          <p:nvSpPr>
            <p:cNvPr id="5" name="TextBox 4">
              <a:extLst>
                <a:ext uri="{FF2B5EF4-FFF2-40B4-BE49-F238E27FC236}">
                  <a16:creationId xmlns:a16="http://schemas.microsoft.com/office/drawing/2014/main" id="{9E3B15FE-578D-5E81-A7A7-404A117B972F}"/>
                </a:ext>
              </a:extLst>
            </p:cNvPr>
            <p:cNvSpPr txBox="1"/>
            <p:nvPr/>
          </p:nvSpPr>
          <p:spPr>
            <a:xfrm>
              <a:off x="9493135" y="3064260"/>
              <a:ext cx="2527781" cy="1077218"/>
            </a:xfrm>
            <a:prstGeom prst="rect">
              <a:avLst/>
            </a:prstGeom>
            <a:noFill/>
          </p:spPr>
          <p:txBody>
            <a:bodyPr wrap="square" rtlCol="0">
              <a:spAutoFit/>
            </a:bodyPr>
            <a:lstStyle/>
            <a:p>
              <a:pPr algn="r"/>
              <a:r>
                <a:rPr lang="en-US" sz="1600" dirty="0">
                  <a:solidFill>
                    <a:srgbClr val="0070C0"/>
                  </a:solidFill>
                </a:rPr>
                <a:t>A result can be very statistically significant without being very big (aka important)!</a:t>
              </a:r>
            </a:p>
          </p:txBody>
        </p:sp>
      </p:grpSp>
    </p:spTree>
    <p:extLst>
      <p:ext uri="{BB962C8B-B14F-4D97-AF65-F5344CB8AC3E}">
        <p14:creationId xmlns:p14="http://schemas.microsoft.com/office/powerpoint/2010/main" val="34176290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
                                            <p:txEl>
                                              <p:pRg st="10" end="10"/>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
                                            <p:txEl>
                                              <p:pRg st="11" end="11"/>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
                                            <p:txEl>
                                              <p:pRg st="12" end="12"/>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42216-F236-9AC2-BD85-C1D493A25BFE}"/>
              </a:ext>
            </a:extLst>
          </p:cNvPr>
          <p:cNvSpPr>
            <a:spLocks noGrp="1"/>
          </p:cNvSpPr>
          <p:nvPr>
            <p:ph type="title"/>
          </p:nvPr>
        </p:nvSpPr>
        <p:spPr/>
        <p:txBody>
          <a:bodyPr/>
          <a:lstStyle/>
          <a:p>
            <a:r>
              <a:rPr lang="en-US" dirty="0"/>
              <a:t>Looking at RCTs in papers </a:t>
            </a:r>
            <a:r>
              <a:rPr lang="en-US" dirty="0" err="1"/>
              <a:t>etc</a:t>
            </a:r>
            <a:endParaRPr lang="en-US" dirty="0"/>
          </a:p>
        </p:txBody>
      </p:sp>
      <p:sp>
        <p:nvSpPr>
          <p:cNvPr id="3" name="Content Placeholder 2">
            <a:extLst>
              <a:ext uri="{FF2B5EF4-FFF2-40B4-BE49-F238E27FC236}">
                <a16:creationId xmlns:a16="http://schemas.microsoft.com/office/drawing/2014/main" id="{93CCD482-40A6-F105-0D6C-933E99F51E3E}"/>
              </a:ext>
            </a:extLst>
          </p:cNvPr>
          <p:cNvSpPr>
            <a:spLocks noGrp="1"/>
          </p:cNvSpPr>
          <p:nvPr>
            <p:ph idx="1"/>
          </p:nvPr>
        </p:nvSpPr>
        <p:spPr/>
        <p:txBody>
          <a:bodyPr/>
          <a:lstStyle/>
          <a:p>
            <a:r>
              <a:rPr lang="en-US" dirty="0"/>
              <a:t>Let’s look at a few tables and try to interpret them! </a:t>
            </a:r>
          </a:p>
        </p:txBody>
      </p:sp>
    </p:spTree>
    <p:extLst>
      <p:ext uri="{BB962C8B-B14F-4D97-AF65-F5344CB8AC3E}">
        <p14:creationId xmlns:p14="http://schemas.microsoft.com/office/powerpoint/2010/main" val="402629437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D4632-780A-9EAF-F22A-AA5325ABBD88}"/>
              </a:ext>
            </a:extLst>
          </p:cNvPr>
          <p:cNvSpPr>
            <a:spLocks noGrp="1"/>
          </p:cNvSpPr>
          <p:nvPr>
            <p:ph type="title"/>
          </p:nvPr>
        </p:nvSpPr>
        <p:spPr/>
        <p:txBody>
          <a:bodyPr/>
          <a:lstStyle/>
          <a:p>
            <a:r>
              <a:rPr lang="en-US" dirty="0"/>
              <a:t>Made-up Study</a:t>
            </a:r>
          </a:p>
        </p:txBody>
      </p:sp>
      <p:sp>
        <p:nvSpPr>
          <p:cNvPr id="3" name="Content Placeholder 2">
            <a:extLst>
              <a:ext uri="{FF2B5EF4-FFF2-40B4-BE49-F238E27FC236}">
                <a16:creationId xmlns:a16="http://schemas.microsoft.com/office/drawing/2014/main" id="{000D0768-CC47-C108-EB4D-45979E85A280}"/>
              </a:ext>
            </a:extLst>
          </p:cNvPr>
          <p:cNvSpPr>
            <a:spLocks noGrp="1"/>
          </p:cNvSpPr>
          <p:nvPr>
            <p:ph idx="1"/>
          </p:nvPr>
        </p:nvSpPr>
        <p:spPr/>
        <p:txBody>
          <a:bodyPr/>
          <a:lstStyle/>
          <a:p>
            <a:r>
              <a:rPr lang="en-US" dirty="0"/>
              <a:t>We did* a study of the effect of chocolate on test scores.</a:t>
            </a:r>
          </a:p>
          <a:p>
            <a:r>
              <a:rPr lang="en-US" dirty="0"/>
              <a:t>About half of a large undergraduate class at Stanford was randomly given chocolate half an hour prior to the (timed, in-person) exam.**</a:t>
            </a:r>
          </a:p>
        </p:txBody>
      </p:sp>
      <p:sp>
        <p:nvSpPr>
          <p:cNvPr id="6" name="TextBox 5">
            <a:extLst>
              <a:ext uri="{FF2B5EF4-FFF2-40B4-BE49-F238E27FC236}">
                <a16:creationId xmlns:a16="http://schemas.microsoft.com/office/drawing/2014/main" id="{71934951-2DDA-E43A-4AAC-E88100B1C9B6}"/>
              </a:ext>
            </a:extLst>
          </p:cNvPr>
          <p:cNvSpPr txBox="1"/>
          <p:nvPr/>
        </p:nvSpPr>
        <p:spPr>
          <a:xfrm>
            <a:off x="509016" y="5850235"/>
            <a:ext cx="3563732" cy="461665"/>
          </a:xfrm>
          <a:prstGeom prst="rect">
            <a:avLst/>
          </a:prstGeom>
          <a:noFill/>
        </p:spPr>
        <p:txBody>
          <a:bodyPr wrap="none" rtlCol="0">
            <a:spAutoFit/>
          </a:bodyPr>
          <a:lstStyle/>
          <a:p>
            <a:r>
              <a:rPr lang="en-US" sz="2400" dirty="0"/>
              <a:t>*We did not do this study.</a:t>
            </a:r>
          </a:p>
        </p:txBody>
      </p:sp>
      <p:sp>
        <p:nvSpPr>
          <p:cNvPr id="7" name="TextBox 6">
            <a:extLst>
              <a:ext uri="{FF2B5EF4-FFF2-40B4-BE49-F238E27FC236}">
                <a16:creationId xmlns:a16="http://schemas.microsoft.com/office/drawing/2014/main" id="{B0BE8E98-B248-DF2E-0E33-1F0341CDCC8B}"/>
              </a:ext>
            </a:extLst>
          </p:cNvPr>
          <p:cNvSpPr txBox="1"/>
          <p:nvPr/>
        </p:nvSpPr>
        <p:spPr>
          <a:xfrm>
            <a:off x="509016" y="6311900"/>
            <a:ext cx="3157211" cy="461665"/>
          </a:xfrm>
          <a:prstGeom prst="rect">
            <a:avLst/>
          </a:prstGeom>
          <a:noFill/>
        </p:spPr>
        <p:txBody>
          <a:bodyPr wrap="none" rtlCol="0">
            <a:spAutoFit/>
          </a:bodyPr>
          <a:lstStyle/>
          <a:p>
            <a:r>
              <a:rPr lang="en-US" sz="2400" dirty="0"/>
              <a:t>**This did not happen.</a:t>
            </a:r>
          </a:p>
        </p:txBody>
      </p:sp>
    </p:spTree>
    <p:extLst>
      <p:ext uri="{BB962C8B-B14F-4D97-AF65-F5344CB8AC3E}">
        <p14:creationId xmlns:p14="http://schemas.microsoft.com/office/powerpoint/2010/main" val="34557690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5CA23-9396-3D17-037C-09C9F0959778}"/>
              </a:ext>
            </a:extLst>
          </p:cNvPr>
          <p:cNvSpPr>
            <a:spLocks noGrp="1"/>
          </p:cNvSpPr>
          <p:nvPr>
            <p:ph type="title"/>
          </p:nvPr>
        </p:nvSpPr>
        <p:spPr/>
        <p:txBody>
          <a:bodyPr/>
          <a:lstStyle/>
          <a:p>
            <a:r>
              <a:rPr lang="en-US" dirty="0"/>
              <a:t>Suppose we saw this</a:t>
            </a:r>
          </a:p>
        </p:txBody>
      </p:sp>
      <p:pic>
        <p:nvPicPr>
          <p:cNvPr id="5" name="Picture 4">
            <a:extLst>
              <a:ext uri="{FF2B5EF4-FFF2-40B4-BE49-F238E27FC236}">
                <a16:creationId xmlns:a16="http://schemas.microsoft.com/office/drawing/2014/main" id="{F681616B-921C-CB15-32CC-F749C5221AA0}"/>
              </a:ext>
            </a:extLst>
          </p:cNvPr>
          <p:cNvPicPr>
            <a:picLocks noChangeAspect="1"/>
          </p:cNvPicPr>
          <p:nvPr/>
        </p:nvPicPr>
        <p:blipFill>
          <a:blip r:embed="rId3"/>
          <a:stretch>
            <a:fillRect/>
          </a:stretch>
        </p:blipFill>
        <p:spPr>
          <a:xfrm>
            <a:off x="9437266" y="3429000"/>
            <a:ext cx="2083705" cy="1868950"/>
          </a:xfrm>
          <a:prstGeom prst="rect">
            <a:avLst/>
          </a:prstGeom>
        </p:spPr>
      </p:pic>
      <p:sp>
        <p:nvSpPr>
          <p:cNvPr id="6" name="TextBox 5">
            <a:extLst>
              <a:ext uri="{FF2B5EF4-FFF2-40B4-BE49-F238E27FC236}">
                <a16:creationId xmlns:a16="http://schemas.microsoft.com/office/drawing/2014/main" id="{BC685553-0535-7CA8-98CE-0FB2AA20FA80}"/>
              </a:ext>
            </a:extLst>
          </p:cNvPr>
          <p:cNvSpPr txBox="1"/>
          <p:nvPr/>
        </p:nvSpPr>
        <p:spPr>
          <a:xfrm>
            <a:off x="9148666" y="1719931"/>
            <a:ext cx="2660904" cy="1815882"/>
          </a:xfrm>
          <a:prstGeom prst="rect">
            <a:avLst/>
          </a:prstGeom>
          <a:noFill/>
        </p:spPr>
        <p:txBody>
          <a:bodyPr wrap="square" rtlCol="0">
            <a:spAutoFit/>
          </a:bodyPr>
          <a:lstStyle/>
          <a:p>
            <a:pPr algn="ctr"/>
            <a:r>
              <a:rPr lang="en-US" sz="2800" b="1" dirty="0">
                <a:solidFill>
                  <a:schemeClr val="accent1"/>
                </a:solidFill>
              </a:rPr>
              <a:t>Discuss:</a:t>
            </a:r>
          </a:p>
          <a:p>
            <a:pPr algn="ctr"/>
            <a:r>
              <a:rPr lang="en-US" sz="2800" dirty="0">
                <a:solidFill>
                  <a:schemeClr val="accent1"/>
                </a:solidFill>
              </a:rPr>
              <a:t>What do you take away from this?</a:t>
            </a:r>
          </a:p>
        </p:txBody>
      </p:sp>
      <p:sp>
        <p:nvSpPr>
          <p:cNvPr id="7" name="TextBox 6">
            <a:extLst>
              <a:ext uri="{FF2B5EF4-FFF2-40B4-BE49-F238E27FC236}">
                <a16:creationId xmlns:a16="http://schemas.microsoft.com/office/drawing/2014/main" id="{784EF223-8015-A3DD-6DA0-0AEE288D16E8}"/>
              </a:ext>
            </a:extLst>
          </p:cNvPr>
          <p:cNvSpPr txBox="1"/>
          <p:nvPr/>
        </p:nvSpPr>
        <p:spPr>
          <a:xfrm>
            <a:off x="7162995" y="41959"/>
            <a:ext cx="5029005" cy="646331"/>
          </a:xfrm>
          <a:prstGeom prst="rect">
            <a:avLst/>
          </a:prstGeom>
          <a:noFill/>
        </p:spPr>
        <p:txBody>
          <a:bodyPr wrap="none" rtlCol="0">
            <a:spAutoFit/>
          </a:bodyPr>
          <a:lstStyle/>
          <a:p>
            <a:pPr algn="r"/>
            <a:r>
              <a:rPr lang="en-US" dirty="0">
                <a:solidFill>
                  <a:schemeClr val="accent1"/>
                </a:solidFill>
              </a:rPr>
              <a:t>Square brackets are sample standard deviations.</a:t>
            </a:r>
          </a:p>
          <a:p>
            <a:pPr algn="r"/>
            <a:r>
              <a:rPr lang="en-US" dirty="0">
                <a:solidFill>
                  <a:schemeClr val="accent1"/>
                </a:solidFill>
              </a:rPr>
              <a:t>Round brackets are standard errors.</a:t>
            </a:r>
          </a:p>
        </p:txBody>
      </p:sp>
      <p:pic>
        <p:nvPicPr>
          <p:cNvPr id="8" name="Picture 7">
            <a:extLst>
              <a:ext uri="{FF2B5EF4-FFF2-40B4-BE49-F238E27FC236}">
                <a16:creationId xmlns:a16="http://schemas.microsoft.com/office/drawing/2014/main" id="{98A4627A-619B-C7AB-143B-599EFC51EEBB}"/>
              </a:ext>
            </a:extLst>
          </p:cNvPr>
          <p:cNvPicPr>
            <a:picLocks noChangeAspect="1"/>
          </p:cNvPicPr>
          <p:nvPr/>
        </p:nvPicPr>
        <p:blipFill>
          <a:blip r:embed="rId4"/>
          <a:stretch>
            <a:fillRect/>
          </a:stretch>
        </p:blipFill>
        <p:spPr>
          <a:xfrm>
            <a:off x="1087667" y="1518962"/>
            <a:ext cx="7772400" cy="4973913"/>
          </a:xfrm>
          <a:prstGeom prst="rect">
            <a:avLst/>
          </a:prstGeom>
        </p:spPr>
      </p:pic>
    </p:spTree>
    <p:extLst>
      <p:ext uri="{BB962C8B-B14F-4D97-AF65-F5344CB8AC3E}">
        <p14:creationId xmlns:p14="http://schemas.microsoft.com/office/powerpoint/2010/main" val="80485613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5CA23-9396-3D17-037C-09C9F0959778}"/>
              </a:ext>
            </a:extLst>
          </p:cNvPr>
          <p:cNvSpPr>
            <a:spLocks noGrp="1"/>
          </p:cNvSpPr>
          <p:nvPr>
            <p:ph type="title"/>
          </p:nvPr>
        </p:nvSpPr>
        <p:spPr/>
        <p:txBody>
          <a:bodyPr/>
          <a:lstStyle/>
          <a:p>
            <a:r>
              <a:rPr lang="en-US" dirty="0"/>
              <a:t>How about now?</a:t>
            </a:r>
          </a:p>
        </p:txBody>
      </p:sp>
      <p:pic>
        <p:nvPicPr>
          <p:cNvPr id="5" name="Picture 4">
            <a:extLst>
              <a:ext uri="{FF2B5EF4-FFF2-40B4-BE49-F238E27FC236}">
                <a16:creationId xmlns:a16="http://schemas.microsoft.com/office/drawing/2014/main" id="{F681616B-921C-CB15-32CC-F749C5221AA0}"/>
              </a:ext>
            </a:extLst>
          </p:cNvPr>
          <p:cNvPicPr>
            <a:picLocks noChangeAspect="1"/>
          </p:cNvPicPr>
          <p:nvPr/>
        </p:nvPicPr>
        <p:blipFill>
          <a:blip r:embed="rId3"/>
          <a:stretch>
            <a:fillRect/>
          </a:stretch>
        </p:blipFill>
        <p:spPr>
          <a:xfrm>
            <a:off x="9437266" y="3429000"/>
            <a:ext cx="2083705" cy="1868950"/>
          </a:xfrm>
          <a:prstGeom prst="rect">
            <a:avLst/>
          </a:prstGeom>
        </p:spPr>
      </p:pic>
      <p:sp>
        <p:nvSpPr>
          <p:cNvPr id="6" name="TextBox 5">
            <a:extLst>
              <a:ext uri="{FF2B5EF4-FFF2-40B4-BE49-F238E27FC236}">
                <a16:creationId xmlns:a16="http://schemas.microsoft.com/office/drawing/2014/main" id="{BC685553-0535-7CA8-98CE-0FB2AA20FA80}"/>
              </a:ext>
            </a:extLst>
          </p:cNvPr>
          <p:cNvSpPr txBox="1"/>
          <p:nvPr/>
        </p:nvSpPr>
        <p:spPr>
          <a:xfrm>
            <a:off x="9148666" y="1719931"/>
            <a:ext cx="2660904" cy="1815882"/>
          </a:xfrm>
          <a:prstGeom prst="rect">
            <a:avLst/>
          </a:prstGeom>
          <a:noFill/>
        </p:spPr>
        <p:txBody>
          <a:bodyPr wrap="square" rtlCol="0">
            <a:spAutoFit/>
          </a:bodyPr>
          <a:lstStyle/>
          <a:p>
            <a:pPr algn="ctr"/>
            <a:r>
              <a:rPr lang="en-US" sz="2800" b="1" dirty="0">
                <a:solidFill>
                  <a:schemeClr val="accent1"/>
                </a:solidFill>
              </a:rPr>
              <a:t>Discuss:</a:t>
            </a:r>
          </a:p>
          <a:p>
            <a:pPr algn="ctr"/>
            <a:r>
              <a:rPr lang="en-US" sz="2800" dirty="0">
                <a:solidFill>
                  <a:schemeClr val="accent1"/>
                </a:solidFill>
              </a:rPr>
              <a:t>What do you take away from this?</a:t>
            </a:r>
          </a:p>
        </p:txBody>
      </p:sp>
      <p:sp>
        <p:nvSpPr>
          <p:cNvPr id="7" name="TextBox 6">
            <a:extLst>
              <a:ext uri="{FF2B5EF4-FFF2-40B4-BE49-F238E27FC236}">
                <a16:creationId xmlns:a16="http://schemas.microsoft.com/office/drawing/2014/main" id="{784EF223-8015-A3DD-6DA0-0AEE288D16E8}"/>
              </a:ext>
            </a:extLst>
          </p:cNvPr>
          <p:cNvSpPr txBox="1"/>
          <p:nvPr/>
        </p:nvSpPr>
        <p:spPr>
          <a:xfrm>
            <a:off x="7162995" y="41959"/>
            <a:ext cx="5029005" cy="646331"/>
          </a:xfrm>
          <a:prstGeom prst="rect">
            <a:avLst/>
          </a:prstGeom>
          <a:noFill/>
        </p:spPr>
        <p:txBody>
          <a:bodyPr wrap="none" rtlCol="0">
            <a:spAutoFit/>
          </a:bodyPr>
          <a:lstStyle/>
          <a:p>
            <a:pPr algn="r"/>
            <a:r>
              <a:rPr lang="en-US" dirty="0">
                <a:solidFill>
                  <a:schemeClr val="accent1"/>
                </a:solidFill>
              </a:rPr>
              <a:t>Square brackets are sample standard deviations.</a:t>
            </a:r>
          </a:p>
          <a:p>
            <a:pPr algn="r"/>
            <a:r>
              <a:rPr lang="en-US" dirty="0">
                <a:solidFill>
                  <a:schemeClr val="accent1"/>
                </a:solidFill>
              </a:rPr>
              <a:t>Round brackets are standard errors.</a:t>
            </a:r>
          </a:p>
        </p:txBody>
      </p:sp>
      <p:pic>
        <p:nvPicPr>
          <p:cNvPr id="9" name="Picture 8">
            <a:extLst>
              <a:ext uri="{FF2B5EF4-FFF2-40B4-BE49-F238E27FC236}">
                <a16:creationId xmlns:a16="http://schemas.microsoft.com/office/drawing/2014/main" id="{9CE3404E-1BDE-EC24-2746-7F654DF83499}"/>
              </a:ext>
            </a:extLst>
          </p:cNvPr>
          <p:cNvPicPr>
            <a:picLocks noChangeAspect="1"/>
          </p:cNvPicPr>
          <p:nvPr/>
        </p:nvPicPr>
        <p:blipFill>
          <a:blip r:embed="rId4"/>
          <a:stretch>
            <a:fillRect/>
          </a:stretch>
        </p:blipFill>
        <p:spPr>
          <a:xfrm>
            <a:off x="1087667" y="1400613"/>
            <a:ext cx="7772400" cy="5092262"/>
          </a:xfrm>
          <a:prstGeom prst="rect">
            <a:avLst/>
          </a:prstGeom>
        </p:spPr>
      </p:pic>
    </p:spTree>
    <p:extLst>
      <p:ext uri="{BB962C8B-B14F-4D97-AF65-F5344CB8AC3E}">
        <p14:creationId xmlns:p14="http://schemas.microsoft.com/office/powerpoint/2010/main" val="426163989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5CA23-9396-3D17-037C-09C9F0959778}"/>
              </a:ext>
            </a:extLst>
          </p:cNvPr>
          <p:cNvSpPr>
            <a:spLocks noGrp="1"/>
          </p:cNvSpPr>
          <p:nvPr>
            <p:ph type="title"/>
          </p:nvPr>
        </p:nvSpPr>
        <p:spPr/>
        <p:txBody>
          <a:bodyPr/>
          <a:lstStyle/>
          <a:p>
            <a:r>
              <a:rPr lang="en-US" dirty="0"/>
              <a:t>And now?</a:t>
            </a:r>
          </a:p>
        </p:txBody>
      </p:sp>
      <p:pic>
        <p:nvPicPr>
          <p:cNvPr id="5" name="Picture 4">
            <a:extLst>
              <a:ext uri="{FF2B5EF4-FFF2-40B4-BE49-F238E27FC236}">
                <a16:creationId xmlns:a16="http://schemas.microsoft.com/office/drawing/2014/main" id="{F681616B-921C-CB15-32CC-F749C5221AA0}"/>
              </a:ext>
            </a:extLst>
          </p:cNvPr>
          <p:cNvPicPr>
            <a:picLocks noChangeAspect="1"/>
          </p:cNvPicPr>
          <p:nvPr/>
        </p:nvPicPr>
        <p:blipFill>
          <a:blip r:embed="rId3"/>
          <a:stretch>
            <a:fillRect/>
          </a:stretch>
        </p:blipFill>
        <p:spPr>
          <a:xfrm>
            <a:off x="9437266" y="3429000"/>
            <a:ext cx="2083705" cy="1868950"/>
          </a:xfrm>
          <a:prstGeom prst="rect">
            <a:avLst/>
          </a:prstGeom>
        </p:spPr>
      </p:pic>
      <p:sp>
        <p:nvSpPr>
          <p:cNvPr id="6" name="TextBox 5">
            <a:extLst>
              <a:ext uri="{FF2B5EF4-FFF2-40B4-BE49-F238E27FC236}">
                <a16:creationId xmlns:a16="http://schemas.microsoft.com/office/drawing/2014/main" id="{BC685553-0535-7CA8-98CE-0FB2AA20FA80}"/>
              </a:ext>
            </a:extLst>
          </p:cNvPr>
          <p:cNvSpPr txBox="1"/>
          <p:nvPr/>
        </p:nvSpPr>
        <p:spPr>
          <a:xfrm>
            <a:off x="9148666" y="1719931"/>
            <a:ext cx="2660904" cy="1815882"/>
          </a:xfrm>
          <a:prstGeom prst="rect">
            <a:avLst/>
          </a:prstGeom>
          <a:noFill/>
        </p:spPr>
        <p:txBody>
          <a:bodyPr wrap="square" rtlCol="0">
            <a:spAutoFit/>
          </a:bodyPr>
          <a:lstStyle/>
          <a:p>
            <a:pPr algn="ctr"/>
            <a:r>
              <a:rPr lang="en-US" sz="2800" b="1" dirty="0">
                <a:solidFill>
                  <a:schemeClr val="accent1"/>
                </a:solidFill>
              </a:rPr>
              <a:t>Discuss:</a:t>
            </a:r>
          </a:p>
          <a:p>
            <a:pPr algn="ctr"/>
            <a:r>
              <a:rPr lang="en-US" sz="2800" dirty="0">
                <a:solidFill>
                  <a:schemeClr val="accent1"/>
                </a:solidFill>
              </a:rPr>
              <a:t>What do you take away from this?</a:t>
            </a:r>
          </a:p>
        </p:txBody>
      </p:sp>
      <p:sp>
        <p:nvSpPr>
          <p:cNvPr id="7" name="TextBox 6">
            <a:extLst>
              <a:ext uri="{FF2B5EF4-FFF2-40B4-BE49-F238E27FC236}">
                <a16:creationId xmlns:a16="http://schemas.microsoft.com/office/drawing/2014/main" id="{784EF223-8015-A3DD-6DA0-0AEE288D16E8}"/>
              </a:ext>
            </a:extLst>
          </p:cNvPr>
          <p:cNvSpPr txBox="1"/>
          <p:nvPr/>
        </p:nvSpPr>
        <p:spPr>
          <a:xfrm>
            <a:off x="7162995" y="41959"/>
            <a:ext cx="5029005" cy="646331"/>
          </a:xfrm>
          <a:prstGeom prst="rect">
            <a:avLst/>
          </a:prstGeom>
          <a:noFill/>
        </p:spPr>
        <p:txBody>
          <a:bodyPr wrap="none" rtlCol="0">
            <a:spAutoFit/>
          </a:bodyPr>
          <a:lstStyle/>
          <a:p>
            <a:pPr algn="r"/>
            <a:r>
              <a:rPr lang="en-US" dirty="0">
                <a:solidFill>
                  <a:schemeClr val="accent1"/>
                </a:solidFill>
              </a:rPr>
              <a:t>Square brackets are sample standard deviations.</a:t>
            </a:r>
          </a:p>
          <a:p>
            <a:pPr algn="r"/>
            <a:r>
              <a:rPr lang="en-US" dirty="0">
                <a:solidFill>
                  <a:schemeClr val="accent1"/>
                </a:solidFill>
              </a:rPr>
              <a:t>Round brackets are standard errors.</a:t>
            </a:r>
          </a:p>
        </p:txBody>
      </p:sp>
      <p:pic>
        <p:nvPicPr>
          <p:cNvPr id="8" name="Picture 7">
            <a:extLst>
              <a:ext uri="{FF2B5EF4-FFF2-40B4-BE49-F238E27FC236}">
                <a16:creationId xmlns:a16="http://schemas.microsoft.com/office/drawing/2014/main" id="{5CA8EA22-4C03-F40E-4C2A-BB803A99B2B7}"/>
              </a:ext>
            </a:extLst>
          </p:cNvPr>
          <p:cNvPicPr>
            <a:picLocks noChangeAspect="1"/>
          </p:cNvPicPr>
          <p:nvPr/>
        </p:nvPicPr>
        <p:blipFill>
          <a:blip r:embed="rId4"/>
          <a:stretch>
            <a:fillRect/>
          </a:stretch>
        </p:blipFill>
        <p:spPr>
          <a:xfrm>
            <a:off x="1087667" y="1249955"/>
            <a:ext cx="7772400" cy="5242920"/>
          </a:xfrm>
          <a:prstGeom prst="rect">
            <a:avLst/>
          </a:prstGeom>
        </p:spPr>
      </p:pic>
    </p:spTree>
    <p:extLst>
      <p:ext uri="{BB962C8B-B14F-4D97-AF65-F5344CB8AC3E}">
        <p14:creationId xmlns:p14="http://schemas.microsoft.com/office/powerpoint/2010/main" val="156117818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BBC0BE-127F-6EDA-7720-39C2AF7CCBEC}"/>
              </a:ext>
            </a:extLst>
          </p:cNvPr>
          <p:cNvSpPr>
            <a:spLocks noGrp="1"/>
          </p:cNvSpPr>
          <p:nvPr>
            <p:ph type="title"/>
          </p:nvPr>
        </p:nvSpPr>
        <p:spPr/>
        <p:txBody>
          <a:bodyPr/>
          <a:lstStyle/>
          <a:p>
            <a:r>
              <a:rPr lang="en-US" dirty="0"/>
              <a:t>Recap and Looking ahead</a:t>
            </a:r>
          </a:p>
        </p:txBody>
      </p:sp>
      <p:sp>
        <p:nvSpPr>
          <p:cNvPr id="3" name="Text Placeholder 2">
            <a:extLst>
              <a:ext uri="{FF2B5EF4-FFF2-40B4-BE49-F238E27FC236}">
                <a16:creationId xmlns:a16="http://schemas.microsoft.com/office/drawing/2014/main" id="{B03EA7C8-50CD-FEE8-AE97-07128B884F5C}"/>
              </a:ext>
            </a:extLst>
          </p:cNvPr>
          <p:cNvSpPr>
            <a:spLocks noGrp="1"/>
          </p:cNvSpPr>
          <p:nvPr>
            <p:ph type="body" idx="1"/>
          </p:nvPr>
        </p:nvSpPr>
        <p:spPr/>
        <p:txBody>
          <a:bodyPr/>
          <a:lstStyle/>
          <a:p>
            <a:endParaRPr lang="en-US"/>
          </a:p>
        </p:txBody>
      </p:sp>
      <p:sp>
        <p:nvSpPr>
          <p:cNvPr id="4" name="TextBox 3">
            <a:extLst>
              <a:ext uri="{FF2B5EF4-FFF2-40B4-BE49-F238E27FC236}">
                <a16:creationId xmlns:a16="http://schemas.microsoft.com/office/drawing/2014/main" id="{4A8E3057-C4F4-E6AC-FB99-C4D565C9ABB0}"/>
              </a:ext>
            </a:extLst>
          </p:cNvPr>
          <p:cNvSpPr txBox="1"/>
          <p:nvPr/>
        </p:nvSpPr>
        <p:spPr>
          <a:xfrm>
            <a:off x="7216345" y="475541"/>
            <a:ext cx="4547287" cy="1323439"/>
          </a:xfrm>
          <a:prstGeom prst="rect">
            <a:avLst/>
          </a:prstGeom>
          <a:noFill/>
        </p:spPr>
        <p:txBody>
          <a:bodyPr wrap="square" rtlCol="0">
            <a:spAutoFit/>
          </a:bodyPr>
          <a:lstStyle/>
          <a:p>
            <a:pPr algn="r"/>
            <a:r>
              <a:rPr lang="en-US" sz="4000" dirty="0"/>
              <a:t>Don’t forget to wait for the exit ticket!</a:t>
            </a:r>
          </a:p>
        </p:txBody>
      </p:sp>
    </p:spTree>
    <p:extLst>
      <p:ext uri="{BB962C8B-B14F-4D97-AF65-F5344CB8AC3E}">
        <p14:creationId xmlns:p14="http://schemas.microsoft.com/office/powerpoint/2010/main" val="140732553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30639A-FD40-0EB0-2757-29597C997679}"/>
              </a:ext>
            </a:extLst>
          </p:cNvPr>
          <p:cNvSpPr>
            <a:spLocks noGrp="1"/>
          </p:cNvSpPr>
          <p:nvPr>
            <p:ph type="title"/>
          </p:nvPr>
        </p:nvSpPr>
        <p:spPr/>
        <p:txBody>
          <a:bodyPr/>
          <a:lstStyle/>
          <a:p>
            <a:r>
              <a:rPr lang="en-US" dirty="0"/>
              <a:t>Recap</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FAEC8C6-9E67-D0D1-DF56-74AD5BE9563E}"/>
                  </a:ext>
                </a:extLst>
              </p:cNvPr>
              <p:cNvSpPr>
                <a:spLocks noGrp="1"/>
              </p:cNvSpPr>
              <p:nvPr>
                <p:ph idx="1"/>
              </p:nvPr>
            </p:nvSpPr>
            <p:spPr>
              <a:xfrm>
                <a:off x="838200" y="1690688"/>
                <a:ext cx="10515600" cy="4910455"/>
              </a:xfrm>
            </p:spPr>
            <p:txBody>
              <a:bodyPr>
                <a:normAutofit/>
              </a:bodyPr>
              <a:lstStyle/>
              <a:p>
                <a:r>
                  <a:rPr lang="en-US" dirty="0"/>
                  <a:t>RCTs are </a:t>
                </a:r>
                <a:r>
                  <a:rPr lang="en-US" b="1" dirty="0"/>
                  <a:t>magical</a:t>
                </a:r>
                <a:r>
                  <a:rPr lang="en-US" dirty="0"/>
                  <a:t>! </a:t>
                </a:r>
              </a:p>
              <a:p>
                <a:pPr lvl="1"/>
                <a:r>
                  <a:rPr lang="en-US" dirty="0">
                    <a:solidFill>
                      <a:schemeClr val="accent1"/>
                    </a:solidFill>
                  </a:rPr>
                  <a:t>Use randomness to get around selection effects/confounding variables!</a:t>
                </a:r>
              </a:p>
              <a:p>
                <a:pPr lvl="1"/>
                <a:r>
                  <a:rPr lang="en-US" dirty="0">
                    <a:solidFill>
                      <a:schemeClr val="accent1"/>
                    </a:solidFill>
                  </a:rPr>
                  <a:t>They can provide compelling evidence with big policy impact.</a:t>
                </a:r>
              </a:p>
              <a:p>
                <a:r>
                  <a:rPr lang="en-US" dirty="0"/>
                  <a:t>We can analyze them!</a:t>
                </a:r>
              </a:p>
              <a:p>
                <a:pPr lvl="1"/>
                <a:r>
                  <a:rPr lang="en-US" dirty="0">
                    <a:solidFill>
                      <a:schemeClr val="accent1"/>
                    </a:solidFill>
                  </a:rPr>
                  <a:t>The key is estimating the variance of the estimator </a:t>
                </a:r>
                <a14:m>
                  <m:oMath xmlns:m="http://schemas.openxmlformats.org/officeDocument/2006/math">
                    <m:acc>
                      <m:accPr>
                        <m:chr m:val="̂"/>
                        <m:ctrlPr>
                          <a:rPr lang="en-US" b="0" i="1" smtClean="0">
                            <a:solidFill>
                              <a:schemeClr val="accent1"/>
                            </a:solidFill>
                            <a:latin typeface="Cambria Math" panose="02040503050406030204" pitchFamily="18" charset="0"/>
                          </a:rPr>
                        </m:ctrlPr>
                      </m:accPr>
                      <m:e>
                        <m:r>
                          <a:rPr lang="en-US" b="0" i="1" smtClean="0">
                            <a:solidFill>
                              <a:schemeClr val="accent1"/>
                            </a:solidFill>
                            <a:latin typeface="Cambria Math" panose="02040503050406030204" pitchFamily="18" charset="0"/>
                          </a:rPr>
                          <m:t>𝜏</m:t>
                        </m:r>
                      </m:e>
                    </m:acc>
                  </m:oMath>
                </a14:m>
                <a:r>
                  <a:rPr lang="en-US" dirty="0">
                    <a:solidFill>
                      <a:schemeClr val="accent1"/>
                    </a:solidFill>
                  </a:rPr>
                  <a:t> (observational comparison)</a:t>
                </a:r>
              </a:p>
              <a:p>
                <a:pPr lvl="2"/>
                <a:r>
                  <a:rPr lang="en-US" dirty="0">
                    <a:solidFill>
                      <a:schemeClr val="accent1"/>
                    </a:solidFill>
                  </a:rPr>
                  <a:t>Two ways: analytically or by re-sampling.</a:t>
                </a:r>
              </a:p>
              <a:p>
                <a:pPr lvl="1"/>
                <a:r>
                  <a:rPr lang="en-US" dirty="0">
                    <a:solidFill>
                      <a:schemeClr val="accent1"/>
                    </a:solidFill>
                  </a:rPr>
                  <a:t>Once we have that, we can construct confidence intervals, quantify statistical significance.</a:t>
                </a:r>
              </a:p>
            </p:txBody>
          </p:sp>
        </mc:Choice>
        <mc:Fallback xmlns="">
          <p:sp>
            <p:nvSpPr>
              <p:cNvPr id="3" name="Content Placeholder 2">
                <a:extLst>
                  <a:ext uri="{FF2B5EF4-FFF2-40B4-BE49-F238E27FC236}">
                    <a16:creationId xmlns:a16="http://schemas.microsoft.com/office/drawing/2014/main" id="{9FAEC8C6-9E67-D0D1-DF56-74AD5BE9563E}"/>
                  </a:ext>
                </a:extLst>
              </p:cNvPr>
              <p:cNvSpPr>
                <a:spLocks noGrp="1" noRot="1" noChangeAspect="1" noMove="1" noResize="1" noEditPoints="1" noAdjustHandles="1" noChangeArrowheads="1" noChangeShapeType="1" noTextEdit="1"/>
              </p:cNvSpPr>
              <p:nvPr>
                <p:ph idx="1"/>
              </p:nvPr>
            </p:nvSpPr>
            <p:spPr>
              <a:xfrm>
                <a:off x="838200" y="1690688"/>
                <a:ext cx="10515600" cy="4910455"/>
              </a:xfrm>
              <a:blipFill>
                <a:blip r:embed="rId3"/>
                <a:stretch>
                  <a:fillRect l="-1043" t="-2109" r="-522"/>
                </a:stretch>
              </a:blipFill>
            </p:spPr>
            <p:txBody>
              <a:bodyPr/>
              <a:lstStyle/>
              <a:p>
                <a:r>
                  <a:rPr lang="en-US">
                    <a:noFill/>
                  </a:rPr>
                  <a:t> </a:t>
                </a:r>
              </a:p>
            </p:txBody>
          </p:sp>
        </mc:Fallback>
      </mc:AlternateContent>
    </p:spTree>
    <p:extLst>
      <p:ext uri="{BB962C8B-B14F-4D97-AF65-F5344CB8AC3E}">
        <p14:creationId xmlns:p14="http://schemas.microsoft.com/office/powerpoint/2010/main" val="2596691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D6B5C2-F4F5-B813-CE40-258CA0332B47}"/>
              </a:ext>
            </a:extLst>
          </p:cNvPr>
          <p:cNvSpPr>
            <a:spLocks noGrp="1"/>
          </p:cNvSpPr>
          <p:nvPr>
            <p:ph type="title"/>
          </p:nvPr>
        </p:nvSpPr>
        <p:spPr/>
        <p:txBody>
          <a:bodyPr/>
          <a:lstStyle/>
          <a:p>
            <a:r>
              <a:rPr lang="en-US" dirty="0"/>
              <a:t>Looking ahead</a:t>
            </a:r>
          </a:p>
        </p:txBody>
      </p:sp>
      <p:sp>
        <p:nvSpPr>
          <p:cNvPr id="3" name="Content Placeholder 2">
            <a:extLst>
              <a:ext uri="{FF2B5EF4-FFF2-40B4-BE49-F238E27FC236}">
                <a16:creationId xmlns:a16="http://schemas.microsoft.com/office/drawing/2014/main" id="{521B5121-BE40-6304-7094-51A6962FDB8E}"/>
              </a:ext>
            </a:extLst>
          </p:cNvPr>
          <p:cNvSpPr>
            <a:spLocks noGrp="1"/>
          </p:cNvSpPr>
          <p:nvPr>
            <p:ph idx="1"/>
          </p:nvPr>
        </p:nvSpPr>
        <p:spPr/>
        <p:txBody>
          <a:bodyPr/>
          <a:lstStyle/>
          <a:p>
            <a:r>
              <a:rPr lang="en-US" dirty="0"/>
              <a:t>RCTs aren’t perfect.</a:t>
            </a:r>
          </a:p>
          <a:p>
            <a:r>
              <a:rPr lang="en-US" dirty="0"/>
              <a:t>We’ll discuss some (more) of the issues next time.</a:t>
            </a:r>
          </a:p>
          <a:p>
            <a:endParaRPr lang="en-US" dirty="0"/>
          </a:p>
        </p:txBody>
      </p:sp>
    </p:spTree>
    <p:extLst>
      <p:ext uri="{BB962C8B-B14F-4D97-AF65-F5344CB8AC3E}">
        <p14:creationId xmlns:p14="http://schemas.microsoft.com/office/powerpoint/2010/main" val="125342685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23AD45-8669-B692-EB71-2E4F2048399C}"/>
              </a:ext>
            </a:extLst>
          </p:cNvPr>
          <p:cNvSpPr>
            <a:spLocks noGrp="1"/>
          </p:cNvSpPr>
          <p:nvPr>
            <p:ph type="title"/>
          </p:nvPr>
        </p:nvSpPr>
        <p:spPr/>
        <p:txBody>
          <a:bodyPr/>
          <a:lstStyle/>
          <a:p>
            <a:r>
              <a:rPr lang="en-US" dirty="0"/>
              <a:t>Before next time</a:t>
            </a:r>
          </a:p>
        </p:txBody>
      </p:sp>
      <p:sp>
        <p:nvSpPr>
          <p:cNvPr id="3" name="Content Placeholder 2">
            <a:extLst>
              <a:ext uri="{FF2B5EF4-FFF2-40B4-BE49-F238E27FC236}">
                <a16:creationId xmlns:a16="http://schemas.microsoft.com/office/drawing/2014/main" id="{E7FAE48F-F398-2D0A-60DA-021B921F85AF}"/>
              </a:ext>
            </a:extLst>
          </p:cNvPr>
          <p:cNvSpPr>
            <a:spLocks noGrp="1"/>
          </p:cNvSpPr>
          <p:nvPr>
            <p:ph idx="1"/>
          </p:nvPr>
        </p:nvSpPr>
        <p:spPr/>
        <p:txBody>
          <a:bodyPr/>
          <a:lstStyle/>
          <a:p>
            <a:r>
              <a:rPr lang="en-US" dirty="0"/>
              <a:t>HW1, part 1 due on Monday!</a:t>
            </a:r>
          </a:p>
          <a:p>
            <a:r>
              <a:rPr lang="en-US" dirty="0"/>
              <a:t>Reading response before next class (Due Monday 11:59pm)</a:t>
            </a:r>
          </a:p>
        </p:txBody>
      </p:sp>
    </p:spTree>
    <p:extLst>
      <p:ext uri="{BB962C8B-B14F-4D97-AF65-F5344CB8AC3E}">
        <p14:creationId xmlns:p14="http://schemas.microsoft.com/office/powerpoint/2010/main" val="373184598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9F0EB9-8855-6AA6-B0C9-E83FD33E117B}"/>
              </a:ext>
            </a:extLst>
          </p:cNvPr>
          <p:cNvSpPr>
            <a:spLocks noGrp="1"/>
          </p:cNvSpPr>
          <p:nvPr>
            <p:ph type="title"/>
          </p:nvPr>
        </p:nvSpPr>
        <p:spPr/>
        <p:txBody>
          <a:bodyPr/>
          <a:lstStyle/>
          <a:p>
            <a:r>
              <a:rPr lang="en-US" dirty="0"/>
              <a:t>Exit ticket</a:t>
            </a:r>
          </a:p>
        </p:txBody>
      </p:sp>
      <p:pic>
        <p:nvPicPr>
          <p:cNvPr id="4" name="Picture 3">
            <a:extLst>
              <a:ext uri="{FF2B5EF4-FFF2-40B4-BE49-F238E27FC236}">
                <a16:creationId xmlns:a16="http://schemas.microsoft.com/office/drawing/2014/main" id="{30D56821-B36F-05BE-8C22-119BD426E006}"/>
              </a:ext>
            </a:extLst>
          </p:cNvPr>
          <p:cNvPicPr>
            <a:picLocks noChangeAspect="1"/>
          </p:cNvPicPr>
          <p:nvPr/>
        </p:nvPicPr>
        <p:blipFill>
          <a:blip r:embed="rId3"/>
          <a:stretch>
            <a:fillRect/>
          </a:stretch>
        </p:blipFill>
        <p:spPr>
          <a:xfrm>
            <a:off x="10010775" y="146050"/>
            <a:ext cx="2028825" cy="1440602"/>
          </a:xfrm>
          <a:prstGeom prst="rect">
            <a:avLst/>
          </a:prstGeom>
        </p:spPr>
      </p:pic>
      <p:sp>
        <p:nvSpPr>
          <p:cNvPr id="8" name="TextBox 7">
            <a:extLst>
              <a:ext uri="{FF2B5EF4-FFF2-40B4-BE49-F238E27FC236}">
                <a16:creationId xmlns:a16="http://schemas.microsoft.com/office/drawing/2014/main" id="{65F0044E-68BA-46FB-DFE2-EB19710BB196}"/>
              </a:ext>
            </a:extLst>
          </p:cNvPr>
          <p:cNvSpPr txBox="1"/>
          <p:nvPr/>
        </p:nvSpPr>
        <p:spPr>
          <a:xfrm>
            <a:off x="1505712" y="1984243"/>
            <a:ext cx="9848088" cy="523220"/>
          </a:xfrm>
          <a:prstGeom prst="rect">
            <a:avLst/>
          </a:prstGeom>
          <a:noFill/>
        </p:spPr>
        <p:txBody>
          <a:bodyPr wrap="square">
            <a:spAutoFit/>
          </a:bodyPr>
          <a:lstStyle/>
          <a:p>
            <a:r>
              <a:rPr lang="en-US" sz="2800" dirty="0">
                <a:latin typeface="Arial" panose="020B0604020202020204" pitchFamily="34" charset="0"/>
                <a:cs typeface="Arial" panose="020B0604020202020204" pitchFamily="34" charset="0"/>
              </a:rPr>
              <a:t>Don’t forget to fill out the exit ticket before you leave class!</a:t>
            </a:r>
          </a:p>
        </p:txBody>
      </p:sp>
      <p:sp>
        <p:nvSpPr>
          <p:cNvPr id="10" name="Arrow: Bent 9">
            <a:extLst>
              <a:ext uri="{FF2B5EF4-FFF2-40B4-BE49-F238E27FC236}">
                <a16:creationId xmlns:a16="http://schemas.microsoft.com/office/drawing/2014/main" id="{01F52CB0-CE46-989E-A338-6C694D0A271D}"/>
              </a:ext>
            </a:extLst>
          </p:cNvPr>
          <p:cNvSpPr/>
          <p:nvPr/>
        </p:nvSpPr>
        <p:spPr>
          <a:xfrm rot="10800000">
            <a:off x="8403336" y="2902064"/>
            <a:ext cx="2002536" cy="1551063"/>
          </a:xfrm>
          <a:prstGeom prst="bentArrow">
            <a:avLst/>
          </a:prstGeom>
          <a:solidFill>
            <a:srgbClr val="8C151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3" name="Picture 2">
            <a:extLst>
              <a:ext uri="{FF2B5EF4-FFF2-40B4-BE49-F238E27FC236}">
                <a16:creationId xmlns:a16="http://schemas.microsoft.com/office/drawing/2014/main" id="{52C845E2-C7D0-704B-A9C1-5961FCC04F23}"/>
              </a:ext>
            </a:extLst>
          </p:cNvPr>
          <p:cNvPicPr>
            <a:picLocks noChangeAspect="1"/>
          </p:cNvPicPr>
          <p:nvPr/>
        </p:nvPicPr>
        <p:blipFill>
          <a:blip r:embed="rId4"/>
          <a:stretch>
            <a:fillRect/>
          </a:stretch>
        </p:blipFill>
        <p:spPr>
          <a:xfrm>
            <a:off x="4341934" y="2507463"/>
            <a:ext cx="3508131" cy="3508131"/>
          </a:xfrm>
          <a:prstGeom prst="rect">
            <a:avLst/>
          </a:prstGeom>
        </p:spPr>
      </p:pic>
    </p:spTree>
    <p:extLst>
      <p:ext uri="{BB962C8B-B14F-4D97-AF65-F5344CB8AC3E}">
        <p14:creationId xmlns:p14="http://schemas.microsoft.com/office/powerpoint/2010/main" val="51911427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__PE_POLL_EMBED_ID" val="c8a1c21e-729b-4405-a977-080128f34f2c"/>
</p:tagLst>
</file>

<file path=ppt/tags/tag2.xml><?xml version="1.0" encoding="utf-8"?>
<p:tagLst xmlns:a="http://schemas.openxmlformats.org/drawingml/2006/main" xmlns:r="http://schemas.openxmlformats.org/officeDocument/2006/relationships" xmlns:p="http://schemas.openxmlformats.org/presentationml/2006/main">
  <p:tag name="__PE_POLL_EMBED_ID" val="181f616b-f66a-4987-832e-b8183f13e3f7"/>
</p:tagLst>
</file>

<file path=ppt/tags/tag3.xml><?xml version="1.0" encoding="utf-8"?>
<p:tagLst xmlns:a="http://schemas.openxmlformats.org/drawingml/2006/main" xmlns:r="http://schemas.openxmlformats.org/officeDocument/2006/relationships" xmlns:p="http://schemas.openxmlformats.org/presentationml/2006/main">
  <p:tag name="__PE_POLL_EMBED_ID" val="ab6113ee-70b3-4ac8-83b4-772f48aec22b"/>
</p:tagLst>
</file>

<file path=ppt/tags/tag4.xml><?xml version="1.0" encoding="utf-8"?>
<p:tagLst xmlns:a="http://schemas.openxmlformats.org/drawingml/2006/main" xmlns:r="http://schemas.openxmlformats.org/officeDocument/2006/relationships" xmlns:p="http://schemas.openxmlformats.org/presentationml/2006/main">
  <p:tag name="__PE_POLL_EMBED_ID" val="3e3c6479-047e-43d1-a095-1f0bb6de8ae8"/>
</p:tagLst>
</file>

<file path=ppt/theme/theme1.xml><?xml version="1.0" encoding="utf-8"?>
<a:theme xmlns:a="http://schemas.openxmlformats.org/drawingml/2006/main" name="stanford_theme_1">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stanford_theme_1" id="{A142E0A3-F9A9-4D8A-A335-47DDAA9BD0A9}" vid="{02C1A18B-3E97-49A8-9281-C5CEFF48935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stanford_theme_1</Template>
  <TotalTime>25924</TotalTime>
  <Words>4198</Words>
  <Application>Microsoft Macintosh PowerPoint</Application>
  <PresentationFormat>Widescreen</PresentationFormat>
  <Paragraphs>601</Paragraphs>
  <Slides>70</Slides>
  <Notes>66</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70</vt:i4>
      </vt:variant>
    </vt:vector>
  </HeadingPairs>
  <TitlesOfParts>
    <vt:vector size="75" baseType="lpstr">
      <vt:lpstr>Aptos</vt:lpstr>
      <vt:lpstr>Arial</vt:lpstr>
      <vt:lpstr>Cambria Math</vt:lpstr>
      <vt:lpstr>Wingdings</vt:lpstr>
      <vt:lpstr>stanford_theme_1</vt:lpstr>
      <vt:lpstr>The Magic of Randomized Control Trials</vt:lpstr>
      <vt:lpstr>Announcements</vt:lpstr>
      <vt:lpstr>Agenda</vt:lpstr>
      <vt:lpstr>Quick Recap!</vt:lpstr>
      <vt:lpstr>Recap from last time</vt:lpstr>
      <vt:lpstr>Recap from last time</vt:lpstr>
      <vt:lpstr>(The Magic of) Randomized Control Trials (RCTs)</vt:lpstr>
      <vt:lpstr>Pre-Class Reading: To Randomize or not to Randomize?</vt:lpstr>
      <vt:lpstr>Pre-Class Reading: To Randomize or not to Randomize?</vt:lpstr>
      <vt:lpstr>What do you think?</vt:lpstr>
      <vt:lpstr>PowerPoint Presentation</vt:lpstr>
      <vt:lpstr>Our approach in this class</vt:lpstr>
      <vt:lpstr>Randomized Control Trials</vt:lpstr>
      <vt:lpstr>From a “confounding variables” point of view</vt:lpstr>
      <vt:lpstr>From a “selection effects” point of view</vt:lpstr>
      <vt:lpstr>From a “selection effects” point of view</vt:lpstr>
      <vt:lpstr>Another way to say it</vt:lpstr>
      <vt:lpstr>RCTs are powerful</vt:lpstr>
      <vt:lpstr>Example: Use of Laptops in Classrooms</vt:lpstr>
      <vt:lpstr>Should laptops be allowed in class?</vt:lpstr>
      <vt:lpstr>Should laptops be allowed in class?</vt:lpstr>
      <vt:lpstr>Should laptops be allowed in class?</vt:lpstr>
      <vt:lpstr>What is the effect on student learning of having laptops in class?</vt:lpstr>
      <vt:lpstr>PowerPoint Presentation</vt:lpstr>
      <vt:lpstr>Here’s one study that did this already! You’ll read and think more about it before next class!</vt:lpstr>
      <vt:lpstr>RCT on Laptops in Class</vt:lpstr>
      <vt:lpstr>Are the observables “balanced”?</vt:lpstr>
      <vt:lpstr>What do you think the results were?</vt:lpstr>
      <vt:lpstr>PowerPoint Presentation</vt:lpstr>
      <vt:lpstr>Outcomes*</vt:lpstr>
      <vt:lpstr>Outcomes*</vt:lpstr>
      <vt:lpstr>PowerPoint Presentation</vt:lpstr>
      <vt:lpstr>Heterogeneous effects of laptop use</vt:lpstr>
      <vt:lpstr>We had to make a decision! Are we right to act on the basis of this study?</vt:lpstr>
      <vt:lpstr>The Statistical Analysis of RCTs</vt:lpstr>
      <vt:lpstr>In the RCT context, our “Observational Comparison” from last class is an estimator</vt:lpstr>
      <vt:lpstr>Aspirin example  from last time</vt:lpstr>
      <vt:lpstr>PowerPoint Presentation</vt:lpstr>
      <vt:lpstr>Aspirin example  from last time</vt:lpstr>
      <vt:lpstr>Why does E[τ ̂ ]=τ?</vt:lpstr>
      <vt:lpstr>Why does E[τ ̂ ]=τ?</vt:lpstr>
      <vt:lpstr>Why does E[τ ̂ ]=τ?</vt:lpstr>
      <vt:lpstr>Why does E[τ ̂ ]=τ?</vt:lpstr>
      <vt:lpstr>Why does E[τ ̂ ]=τ?</vt:lpstr>
      <vt:lpstr>Why does E[τ ̂ ]=τ?</vt:lpstr>
      <vt:lpstr>τ ̂ is an unbiased estimator for τ (Always, not just in the aspirin example)</vt:lpstr>
      <vt:lpstr>Our toy aspirin example is too small…</vt:lpstr>
      <vt:lpstr>What happens when the control/treatment groups grow?</vt:lpstr>
      <vt:lpstr>PowerPoint Presentation</vt:lpstr>
      <vt:lpstr>Bigger treatment/control groups are better</vt:lpstr>
      <vt:lpstr>Resampling (aka bootstrapping)</vt:lpstr>
      <vt:lpstr>Resampling</vt:lpstr>
      <vt:lpstr>Resampling</vt:lpstr>
      <vt:lpstr>Resampling</vt:lpstr>
      <vt:lpstr>Analytical methods</vt:lpstr>
      <vt:lpstr>Analytic Variance Estimator</vt:lpstr>
      <vt:lpstr>With our estimate of Var(τ ̂)…</vt:lpstr>
      <vt:lpstr>This allows us to do hypothesis testing!</vt:lpstr>
      <vt:lpstr>Putting in all together and interpreting results</vt:lpstr>
      <vt:lpstr>Putting it all together Analyzing an RCT</vt:lpstr>
      <vt:lpstr>Looking at RCTs in papers etc</vt:lpstr>
      <vt:lpstr>Made-up Study</vt:lpstr>
      <vt:lpstr>Suppose we saw this</vt:lpstr>
      <vt:lpstr>How about now?</vt:lpstr>
      <vt:lpstr>And now?</vt:lpstr>
      <vt:lpstr>Recap and Looking ahead</vt:lpstr>
      <vt:lpstr>Recap</vt:lpstr>
      <vt:lpstr>Looking ahead</vt:lpstr>
      <vt:lpstr>Before next time</vt:lpstr>
      <vt:lpstr>Exit ticket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Magic of Randomized Control Trials</dc:title>
  <dc:creator>Mary Katherine Wootters</dc:creator>
  <cp:lastModifiedBy>Mary Katherine Wootters</cp:lastModifiedBy>
  <cp:revision>64</cp:revision>
  <cp:lastPrinted>2024-10-01T22:14:15Z</cp:lastPrinted>
  <dcterms:created xsi:type="dcterms:W3CDTF">2024-08-22T20:03:30Z</dcterms:created>
  <dcterms:modified xsi:type="dcterms:W3CDTF">2025-11-24T21:53:29Z</dcterms:modified>
</cp:coreProperties>
</file>