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1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256" r:id="rId2"/>
    <p:sldId id="257" r:id="rId3"/>
    <p:sldId id="258" r:id="rId4"/>
    <p:sldId id="260" r:id="rId5"/>
    <p:sldId id="261" r:id="rId6"/>
    <p:sldId id="267" r:id="rId7"/>
    <p:sldId id="269" r:id="rId8"/>
    <p:sldId id="259" r:id="rId9"/>
    <p:sldId id="262" r:id="rId10"/>
    <p:sldId id="336" r:id="rId11"/>
    <p:sldId id="284" r:id="rId12"/>
    <p:sldId id="263" r:id="rId13"/>
    <p:sldId id="286" r:id="rId14"/>
    <p:sldId id="280" r:id="rId15"/>
    <p:sldId id="281" r:id="rId16"/>
    <p:sldId id="282" r:id="rId17"/>
    <p:sldId id="283" r:id="rId18"/>
    <p:sldId id="287" r:id="rId19"/>
    <p:sldId id="271" r:id="rId20"/>
    <p:sldId id="265" r:id="rId21"/>
    <p:sldId id="337" r:id="rId22"/>
    <p:sldId id="264" r:id="rId23"/>
    <p:sldId id="288" r:id="rId24"/>
    <p:sldId id="289" r:id="rId25"/>
    <p:sldId id="268" r:id="rId26"/>
    <p:sldId id="338" r:id="rId27"/>
    <p:sldId id="270" r:id="rId28"/>
    <p:sldId id="290" r:id="rId29"/>
    <p:sldId id="272" r:id="rId30"/>
    <p:sldId id="273" r:id="rId31"/>
    <p:sldId id="274" r:id="rId32"/>
    <p:sldId id="275" r:id="rId33"/>
    <p:sldId id="276" r:id="rId34"/>
    <p:sldId id="277" r:id="rId35"/>
    <p:sldId id="279" r:id="rId36"/>
    <p:sldId id="299" r:id="rId37"/>
    <p:sldId id="375" r:id="rId38"/>
    <p:sldId id="300" r:id="rId39"/>
    <p:sldId id="301" r:id="rId40"/>
    <p:sldId id="292" r:id="rId41"/>
    <p:sldId id="297" r:id="rId42"/>
    <p:sldId id="302" r:id="rId43"/>
    <p:sldId id="296" r:id="rId44"/>
    <p:sldId id="294" r:id="rId45"/>
    <p:sldId id="298" r:id="rId46"/>
    <p:sldId id="374" r:id="rId47"/>
    <p:sldId id="303" r:id="rId48"/>
    <p:sldId id="304" r:id="rId49"/>
    <p:sldId id="339" r:id="rId50"/>
    <p:sldId id="354" r:id="rId51"/>
    <p:sldId id="355" r:id="rId52"/>
    <p:sldId id="340" r:id="rId53"/>
    <p:sldId id="341" r:id="rId54"/>
    <p:sldId id="342" r:id="rId55"/>
    <p:sldId id="343" r:id="rId56"/>
    <p:sldId id="344" r:id="rId57"/>
    <p:sldId id="345" r:id="rId58"/>
    <p:sldId id="347" r:id="rId59"/>
    <p:sldId id="348" r:id="rId60"/>
    <p:sldId id="349" r:id="rId61"/>
    <p:sldId id="350" r:id="rId62"/>
    <p:sldId id="351" r:id="rId63"/>
    <p:sldId id="373" r:id="rId64"/>
    <p:sldId id="352" r:id="rId65"/>
    <p:sldId id="353" r:id="rId66"/>
    <p:sldId id="356" r:id="rId67"/>
    <p:sldId id="305" r:id="rId68"/>
    <p:sldId id="357" r:id="rId69"/>
    <p:sldId id="358" r:id="rId70"/>
    <p:sldId id="359" r:id="rId71"/>
    <p:sldId id="309" r:id="rId72"/>
    <p:sldId id="360" r:id="rId73"/>
    <p:sldId id="361" r:id="rId74"/>
    <p:sldId id="310" r:id="rId75"/>
    <p:sldId id="311" r:id="rId76"/>
    <p:sldId id="306" r:id="rId77"/>
    <p:sldId id="312" r:id="rId78"/>
    <p:sldId id="335" r:id="rId79"/>
  </p:sldIdLst>
  <p:sldSz cx="12192000" cy="6858000"/>
  <p:notesSz cx="9236075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FBE5"/>
    <a:srgbClr val="FFFFFA"/>
    <a:srgbClr val="F9FFFB"/>
    <a:srgbClr val="F2FFF4"/>
    <a:srgbClr val="FEFF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67619"/>
  </p:normalViewPr>
  <p:slideViewPr>
    <p:cSldViewPr snapToGrid="0">
      <p:cViewPr varScale="1">
        <p:scale>
          <a:sx n="84" d="100"/>
          <a:sy n="84" d="100"/>
        </p:scale>
        <p:origin x="1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31639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EBB46F87-DF65-6A48-AF53-5FAF4FC238A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6188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3608" y="3373754"/>
            <a:ext cx="7388860" cy="2760346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31639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EE5E9236-A8F9-6B45-AF6F-226EB11BA8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12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409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27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075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763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571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142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879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17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9336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5691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9841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650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64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3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8324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5675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197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093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433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0856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670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5645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6038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4385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3973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95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72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522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619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876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170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625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63712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9002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1023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A7B65-E2A3-9749-A9C6-93E58AAE1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DF8A2-41C7-1FBC-2F5F-7F2CD5E18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596D01-7395-1D16-C3E0-79FC68362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6DA4-FF12-6FFA-D320-8395C5618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9665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3D571-FC61-6BC1-3D80-56E7DD956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282C3D-7B6B-0954-BF19-DB7D0B0E5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38464E-DF53-3803-0AD6-33F7EA377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D27F3-DD51-5D87-D310-5411724F9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157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Can we interpret this ratio as a LATE?</a:t>
            </a:r>
          </a:p>
          <a:p>
            <a:r>
              <a:rPr lang="en-US"/>
              <a:t>https://www.polleverywhere.com/multiple_choice_polls/anRy0DC5Fq0VlBNAkuodt?state=opened&amp;flow=Default&amp;onscreen=persist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246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24796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62811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58171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158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878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5B497-0841-BA91-A54E-C3F8F555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E1A76-9FB4-BDBC-A2A3-D215EEBB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50ACD2-920B-0AFD-2ECA-05B5F646A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74D06-D48B-1270-64DF-2594A9154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146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8F81-D162-E1A5-94CE-3002375A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2DAF34-5631-4D36-E23F-FAA76BC3CD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5C9A7-4BD6-3AF5-1B4B-66529EBB8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BF8D5-B903-1934-B0F5-1CE162C7C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2128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E4DDE-46A5-3869-028C-992DAF0F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C3FFA-1E89-2535-25EA-C9AC183A1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82E66-E292-31B7-FC9F-B589392C3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back to what we wrote on the board, maybe add some more things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95D1B-75D5-1379-0529-90CA54E15B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944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4034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494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046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9848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5092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4423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50061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21990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8637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941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first stage and second stage above, the thing we care about (lambda) is parameter in our model.  NNs are essentially non-parametric... So how do we do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215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0820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7792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F0C54-F75D-D5A5-3646-0F85EE457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ABC89-9548-C5CE-69C5-502BA0540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DAB38-5055-88C9-20AD-963C09186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9DA52-FA17-3C86-52AD-69B9F4D4B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30846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5585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A2989-6ED1-48E5-F034-0555889D8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7EE651-A581-4092-1D1F-55C5711DF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71844-DCB4-DD70-6AB0-E29D67010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32DA5-AEE1-E1FD-04B7-09FD6C95A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8962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2C7F2-D024-8D96-90EA-5FFAC2FD5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C9E114-3C6C-BD22-6D7A-0B0B545862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40A38-4EB3-17FE-C69E-706660476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83448-F1EE-6C0F-C89B-3671CBD62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07337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14605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6717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593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0503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5489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15332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57916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3DC2-F91D-C7EE-2F4F-4EACB5C98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41F3F-E25B-FFC2-3C78-C11972EA1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64C6B-EE08-B1CA-1D6D-11DEC08D2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EE37A-8CC1-2C4A-0BDD-21E6A0CD0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8976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60335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79377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90635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E9236-A8F9-6B45-AF6F-226EB11BA89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8097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9.png"/><Relationship Id="rId5" Type="http://schemas.openxmlformats.org/officeDocument/2006/relationships/image" Target="../media/image89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70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80.png"/><Relationship Id="rId5" Type="http://schemas.openxmlformats.org/officeDocument/2006/relationships/image" Target="../media/image9.png"/><Relationship Id="rId10" Type="http://schemas.openxmlformats.org/officeDocument/2006/relationships/image" Target="../media/image170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2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2.png"/><Relationship Id="rId4" Type="http://schemas.openxmlformats.org/officeDocument/2006/relationships/image" Target="../media/image2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3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300.png"/><Relationship Id="rId4" Type="http://schemas.openxmlformats.org/officeDocument/2006/relationships/image" Target="../media/image29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40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38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5.png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38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5.png"/><Relationship Id="rId4" Type="http://schemas.openxmlformats.org/officeDocument/2006/relationships/image" Target="../media/image35.png"/><Relationship Id="rId9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38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5.png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42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5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5.png"/><Relationship Id="rId9" Type="http://schemas.openxmlformats.org/officeDocument/2006/relationships/image" Target="../media/image4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4.png"/><Relationship Id="rId7" Type="http://schemas.openxmlformats.org/officeDocument/2006/relationships/image" Target="../media/image3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49.png"/><Relationship Id="rId5" Type="http://schemas.openxmlformats.org/officeDocument/2006/relationships/image" Target="../media/image89.png"/><Relationship Id="rId10" Type="http://schemas.openxmlformats.org/officeDocument/2006/relationships/image" Target="../media/image57.png"/><Relationship Id="rId4" Type="http://schemas.openxmlformats.org/officeDocument/2006/relationships/image" Target="../media/image5.png"/><Relationship Id="rId9" Type="http://schemas.openxmlformats.org/officeDocument/2006/relationships/image" Target="../media/image56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3.png"/><Relationship Id="rId12" Type="http://schemas.openxmlformats.org/officeDocument/2006/relationships/image" Target="../media/image6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4.png"/><Relationship Id="rId5" Type="http://schemas.openxmlformats.org/officeDocument/2006/relationships/image" Target="../media/image89.png"/><Relationship Id="rId10" Type="http://schemas.openxmlformats.org/officeDocument/2006/relationships/image" Target="../media/image57.png"/><Relationship Id="rId4" Type="http://schemas.openxmlformats.org/officeDocument/2006/relationships/image" Target="../media/image5.png"/><Relationship Id="rId9" Type="http://schemas.openxmlformats.org/officeDocument/2006/relationships/image" Target="../media/image63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9.png"/><Relationship Id="rId3" Type="http://schemas.openxmlformats.org/officeDocument/2006/relationships/image" Target="../media/image61.png"/><Relationship Id="rId7" Type="http://schemas.openxmlformats.org/officeDocument/2006/relationships/image" Target="../media/image3.png"/><Relationship Id="rId12" Type="http://schemas.openxmlformats.org/officeDocument/2006/relationships/image" Target="../media/image6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6.png"/><Relationship Id="rId5" Type="http://schemas.openxmlformats.org/officeDocument/2006/relationships/image" Target="../media/image89.png"/><Relationship Id="rId10" Type="http://schemas.openxmlformats.org/officeDocument/2006/relationships/image" Target="../media/image67.png"/><Relationship Id="rId4" Type="http://schemas.openxmlformats.org/officeDocument/2006/relationships/image" Target="../media/image5.png"/><Relationship Id="rId9" Type="http://schemas.openxmlformats.org/officeDocument/2006/relationships/image" Target="../media/image63.png"/><Relationship Id="rId1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59.png"/><Relationship Id="rId3" Type="http://schemas.openxmlformats.org/officeDocument/2006/relationships/image" Target="../media/image61.png"/><Relationship Id="rId7" Type="http://schemas.openxmlformats.org/officeDocument/2006/relationships/image" Target="../media/image3.png"/><Relationship Id="rId12" Type="http://schemas.openxmlformats.org/officeDocument/2006/relationships/image" Target="../media/image68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63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6.png"/><Relationship Id="rId5" Type="http://schemas.openxmlformats.org/officeDocument/2006/relationships/image" Target="../media/image89.png"/><Relationship Id="rId15" Type="http://schemas.openxmlformats.org/officeDocument/2006/relationships/image" Target="../media/image75.png"/><Relationship Id="rId10" Type="http://schemas.openxmlformats.org/officeDocument/2006/relationships/image" Target="../media/image67.png"/><Relationship Id="rId4" Type="http://schemas.openxmlformats.org/officeDocument/2006/relationships/image" Target="../media/image5.png"/><Relationship Id="rId9" Type="http://schemas.openxmlformats.org/officeDocument/2006/relationships/image" Target="../media/image63.png"/><Relationship Id="rId14" Type="http://schemas.openxmlformats.org/officeDocument/2006/relationships/image" Target="../media/image6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8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05AEC-7659-9A87-E703-F440135C6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11162"/>
            <a:ext cx="9144000" cy="2387600"/>
          </a:xfrm>
        </p:spPr>
        <p:txBody>
          <a:bodyPr/>
          <a:lstStyle/>
          <a:p>
            <a:r>
              <a:rPr lang="en-US" dirty="0"/>
              <a:t>Instrumental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07B86E-E936-546C-24A9-042EBAD3D4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90837"/>
            <a:ext cx="9144000" cy="1655762"/>
          </a:xfrm>
        </p:spPr>
        <p:txBody>
          <a:bodyPr/>
          <a:lstStyle/>
          <a:p>
            <a:r>
              <a:rPr lang="en-US" dirty="0"/>
              <a:t>Causality, Decision Making, and Data Science, Class 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E5E572-E7A9-054D-F01D-BF47D8442316}"/>
              </a:ext>
            </a:extLst>
          </p:cNvPr>
          <p:cNvSpPr txBox="1"/>
          <p:nvPr/>
        </p:nvSpPr>
        <p:spPr>
          <a:xfrm rot="21256155">
            <a:off x="1194388" y="1220242"/>
            <a:ext cx="245554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latin typeface="Juice ITC" panose="020F0502020204030204" pitchFamily="34" charset="0"/>
                <a:cs typeface="Juice ITC" panose="020F0502020204030204" pitchFamily="34" charset="0"/>
              </a:rPr>
              <a:t>The return of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5810468-8EEE-CBC8-684C-BD23A6DC7D3C}"/>
              </a:ext>
            </a:extLst>
          </p:cNvPr>
          <p:cNvGrpSpPr/>
          <p:nvPr/>
        </p:nvGrpSpPr>
        <p:grpSpPr>
          <a:xfrm>
            <a:off x="4890205" y="3239037"/>
            <a:ext cx="3701781" cy="3212562"/>
            <a:chOff x="5048250" y="2731038"/>
            <a:chExt cx="3701781" cy="3212562"/>
          </a:xfrm>
        </p:grpSpPr>
        <p:pic>
          <p:nvPicPr>
            <p:cNvPr id="5" name="Picture 2" descr="JACK O' LANTERN LANE | Saras Farm Adventure">
              <a:extLst>
                <a:ext uri="{FF2B5EF4-FFF2-40B4-BE49-F238E27FC236}">
                  <a16:creationId xmlns:a16="http://schemas.microsoft.com/office/drawing/2014/main" id="{3394C4A4-7115-38FD-0EEA-E026E1EBD4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48250" y="2933700"/>
              <a:ext cx="2095500" cy="2095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411640EA-A850-EB6C-3CEF-E2D279E423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7469" y="2731038"/>
              <a:ext cx="3212562" cy="3212562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45A816A-A340-995F-D1D5-FB9336E1E82D}"/>
              </a:ext>
            </a:extLst>
          </p:cNvPr>
          <p:cNvSpPr txBox="1"/>
          <p:nvPr/>
        </p:nvSpPr>
        <p:spPr>
          <a:xfrm rot="300777">
            <a:off x="721197" y="3820188"/>
            <a:ext cx="43102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Non-binary variables!</a:t>
            </a:r>
          </a:p>
          <a:p>
            <a:pPr algn="ctr"/>
            <a:r>
              <a:rPr lang="en-US" sz="3200" dirty="0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Covariates!</a:t>
            </a:r>
          </a:p>
          <a:p>
            <a:pPr algn="ctr"/>
            <a:r>
              <a:rPr lang="en-US" sz="3200" dirty="0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Non-</a:t>
            </a:r>
            <a:r>
              <a:rPr lang="en-US" sz="3200" dirty="0" err="1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lInear</a:t>
            </a:r>
            <a:r>
              <a:rPr lang="en-US" sz="3200" dirty="0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 models!</a:t>
            </a:r>
          </a:p>
          <a:p>
            <a:pPr algn="ctr"/>
            <a:r>
              <a:rPr lang="en-US" sz="3200" dirty="0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Asking LLMs to do our work for us!</a:t>
            </a:r>
          </a:p>
          <a:p>
            <a:pPr algn="ctr"/>
            <a:r>
              <a:rPr lang="en-US" sz="3200" b="1" dirty="0" err="1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SpoOooOoooOOOooky</a:t>
            </a:r>
            <a:r>
              <a:rPr lang="en-US" sz="3200" b="1" dirty="0">
                <a:solidFill>
                  <a:schemeClr val="accent2"/>
                </a:solidFill>
                <a:latin typeface="Juice ITC" pitchFamily="82" charset="77"/>
                <a:cs typeface="Rastanty Cortez" panose="020F050202020403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118409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DFF58-7904-7229-16BB-08642F0F6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9CFD0-CBA7-6668-1345-2792AC99F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class Tuesday Nov 4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It’s Democracy Day!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HW3 Part 1 Due Monday Nov 3!</a:t>
            </a:r>
          </a:p>
          <a:p>
            <a:endParaRPr lang="en-US" dirty="0"/>
          </a:p>
          <a:p>
            <a:r>
              <a:rPr lang="en-US" dirty="0"/>
              <a:t>Looking a bit ahead… Project Check-Ins due Monday Nov 10!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By then you should have gone to office hours to talk to at least one of us about your project!</a:t>
            </a:r>
          </a:p>
        </p:txBody>
      </p:sp>
    </p:spTree>
    <p:extLst>
      <p:ext uri="{BB962C8B-B14F-4D97-AF65-F5344CB8AC3E}">
        <p14:creationId xmlns:p14="http://schemas.microsoft.com/office/powerpoint/2010/main" val="2948015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F2F37-E1AE-F8FD-3081-856391844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Agenda: Fancy IVs!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271C4-016D-5D6A-94D3-CEC85483A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happens when…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IV isn’t binary?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treatment isn’t binary?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There are covariates?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There are multiple IVs?</a:t>
            </a:r>
          </a:p>
          <a:p>
            <a:r>
              <a:rPr lang="en-US" dirty="0"/>
              <a:t>IV for returns to education: Quarter of birth</a:t>
            </a:r>
          </a:p>
          <a:p>
            <a:r>
              <a:rPr lang="en-US" dirty="0"/>
              <a:t>Using ML to use/find IVs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Using Deep Neural Nets instead of linear models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Where do we get IVs?</a:t>
            </a:r>
          </a:p>
        </p:txBody>
      </p:sp>
    </p:spTree>
    <p:extLst>
      <p:ext uri="{BB962C8B-B14F-4D97-AF65-F5344CB8AC3E}">
        <p14:creationId xmlns:p14="http://schemas.microsoft.com/office/powerpoint/2010/main" val="1941991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E7B1-B01C-990D-4A6B-D8CA25497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37FD7-EC3C-DBF6-1B48-9E3D01941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Instrumental Variables and LATE</a:t>
            </a:r>
          </a:p>
        </p:txBody>
      </p:sp>
    </p:spTree>
    <p:extLst>
      <p:ext uri="{BB962C8B-B14F-4D97-AF65-F5344CB8AC3E}">
        <p14:creationId xmlns:p14="http://schemas.microsoft.com/office/powerpoint/2010/main" val="1130390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11E13-7BDF-CDF4-4732-345980655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5604"/>
            <a:ext cx="10515600" cy="1325563"/>
          </a:xfrm>
        </p:spPr>
        <p:txBody>
          <a:bodyPr/>
          <a:lstStyle/>
          <a:p>
            <a:r>
              <a:rPr lang="en-US" dirty="0"/>
              <a:t>Recap: IVs and LATE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65BEDF-9DC8-07E0-2229-3D663763AB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32947"/>
                <a:ext cx="8759821" cy="572505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Instrumental variables:</a:t>
                </a:r>
              </a:p>
              <a:p>
                <a:endParaRPr lang="en-US" dirty="0"/>
              </a:p>
              <a:p>
                <a:r>
                  <a:rPr lang="en-US" dirty="0"/>
                  <a:t>We saw an example where: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Z = drafted?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X = served?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Y = log(wages)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LATE = Local Average Treatment Effect</a:t>
                </a:r>
              </a:p>
              <a:p>
                <a:pPr marL="0" indent="0">
                  <a:buNone/>
                </a:pPr>
                <a:r>
                  <a:rPr lang="en-US" dirty="0"/>
                  <a:t>             = ATE among compliers</a:t>
                </a:r>
              </a:p>
              <a:p>
                <a:endParaRPr lang="en-US" dirty="0"/>
              </a:p>
              <a:p>
                <a:r>
                  <a:rPr lang="en-US" dirty="0"/>
                  <a:t>If some assumptions* hold, we can LATE by:</a:t>
                </a:r>
              </a:p>
              <a:p>
                <a:endParaRPr lang="en-US" sz="100" dirty="0"/>
              </a:p>
              <a:p>
                <a:pPr marL="0" indent="0" algn="ctr">
                  <a:buNone/>
                </a:pPr>
                <a:r>
                  <a:rPr lang="en-US" dirty="0"/>
                  <a:t>LATE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Y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65BEDF-9DC8-07E0-2229-3D663763AB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32947"/>
                <a:ext cx="8759821" cy="5725053"/>
              </a:xfrm>
              <a:blipFill>
                <a:blip r:embed="rId3"/>
                <a:stretch>
                  <a:fillRect l="-115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2CF2B65-AEE8-3E6F-0A6B-5939ABA617EA}"/>
              </a:ext>
            </a:extLst>
          </p:cNvPr>
          <p:cNvGrpSpPr/>
          <p:nvPr/>
        </p:nvGrpSpPr>
        <p:grpSpPr>
          <a:xfrm>
            <a:off x="5987330" y="687974"/>
            <a:ext cx="5896848" cy="1460500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4626039-B56B-C549-21EB-DB039D777245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271381A8-7F9F-15AF-19CB-4201B17C74CF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2A7DAE8-824E-1A2D-859F-0BAD9DC63432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ED0AFAC-99B9-BA33-F9FC-7C7C33356403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23AB524-D93D-5963-7859-59199BB9E607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7190827A-C22C-DD68-19FD-FFC01B9D1B37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FE332A00-6F3E-76B7-F0D1-26016BF97D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1972B65-D0D9-F73C-9259-8D6AA8D69DF4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101356A-86C5-6808-39DC-E852E8633098}"/>
              </a:ext>
            </a:extLst>
          </p:cNvPr>
          <p:cNvSpPr txBox="1">
            <a:spLocks/>
          </p:cNvSpPr>
          <p:nvPr/>
        </p:nvSpPr>
        <p:spPr>
          <a:xfrm>
            <a:off x="8204001" y="2997455"/>
            <a:ext cx="3680177" cy="24423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" dirty="0">
              <a:solidFill>
                <a:srgbClr val="8C1516"/>
              </a:solidFill>
            </a:endParaRPr>
          </a:p>
          <a:p>
            <a:endParaRPr lang="en-US" sz="100" dirty="0">
              <a:solidFill>
                <a:srgbClr val="8C1516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49F713-8B6D-E423-7B0F-2647A0151793}"/>
              </a:ext>
            </a:extLst>
          </p:cNvPr>
          <p:cNvSpPr txBox="1"/>
          <p:nvPr/>
        </p:nvSpPr>
        <p:spPr>
          <a:xfrm>
            <a:off x="9907929" y="5351120"/>
            <a:ext cx="2320358" cy="14773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*Assumptions: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Independence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Exclusion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Monotonicity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112BFA8-5F60-DD23-9AA9-769A1EEAA643}"/>
              </a:ext>
            </a:extLst>
          </p:cNvPr>
          <p:cNvGrpSpPr/>
          <p:nvPr/>
        </p:nvGrpSpPr>
        <p:grpSpPr>
          <a:xfrm>
            <a:off x="8497337" y="2982247"/>
            <a:ext cx="3093504" cy="1853799"/>
            <a:chOff x="4283" y="1355799"/>
            <a:chExt cx="9730709" cy="557265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C93D17E-C058-C2B2-9350-0BC6AD02D2C0}"/>
                </a:ext>
              </a:extLst>
            </p:cNvPr>
            <p:cNvGrpSpPr/>
            <p:nvPr/>
          </p:nvGrpSpPr>
          <p:grpSpPr>
            <a:xfrm>
              <a:off x="4283" y="1744216"/>
              <a:ext cx="9730709" cy="5184240"/>
              <a:chOff x="4283" y="1744216"/>
              <a:chExt cx="9730709" cy="5184240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020535A-D92B-D5B8-FC0C-E31E936E526F}"/>
                  </a:ext>
                </a:extLst>
              </p:cNvPr>
              <p:cNvSpPr txBox="1"/>
              <p:nvPr/>
            </p:nvSpPr>
            <p:spPr>
              <a:xfrm>
                <a:off x="2364129" y="1744216"/>
                <a:ext cx="2396098" cy="7401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/>
                  <a:t>Compliers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6C501E2-B811-0CAA-38DE-447D70F844AF}"/>
                  </a:ext>
                </a:extLst>
              </p:cNvPr>
              <p:cNvSpPr txBox="1"/>
              <p:nvPr/>
            </p:nvSpPr>
            <p:spPr>
              <a:xfrm>
                <a:off x="391655" y="3429001"/>
                <a:ext cx="1901954" cy="7401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/>
                  <a:t>Drafted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AD2F3F5-98D0-C844-49CC-1EEB8D445206}"/>
                  </a:ext>
                </a:extLst>
              </p:cNvPr>
              <p:cNvSpPr txBox="1"/>
              <p:nvPr/>
            </p:nvSpPr>
            <p:spPr>
              <a:xfrm>
                <a:off x="4283" y="5213478"/>
                <a:ext cx="1901954" cy="12027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000" dirty="0"/>
                  <a:t>Not </a:t>
                </a:r>
              </a:p>
              <a:p>
                <a:pPr algn="r"/>
                <a:r>
                  <a:rPr lang="en-US" sz="1000" dirty="0"/>
                  <a:t>Drafted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915239F-8D72-BFB2-D0E1-5BD338E11EFF}"/>
                  </a:ext>
                </a:extLst>
              </p:cNvPr>
              <p:cNvSpPr/>
              <p:nvPr/>
            </p:nvSpPr>
            <p:spPr>
              <a:xfrm>
                <a:off x="2058771" y="2456100"/>
                <a:ext cx="7639865" cy="440190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984F20F-5363-3DE4-385A-27C53787ED24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>
                <a:off x="2058771" y="4657050"/>
                <a:ext cx="7676221" cy="3723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07895F92-CF80-34FE-E69F-8C3AED48F2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0856" y="2466718"/>
                <a:ext cx="0" cy="439128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AC72700-8348-EAE0-FF45-1691864FFB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26838" y="2466718"/>
                <a:ext cx="0" cy="439128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6B19CA9F-A2E2-F788-E524-D858F7375A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67236" y="2433017"/>
                <a:ext cx="1475193" cy="2227383"/>
              </a:xfrm>
              <a:prstGeom prst="rect">
                <a:avLst/>
              </a:prstGeom>
            </p:spPr>
          </p:pic>
          <p:pic>
            <p:nvPicPr>
              <p:cNvPr id="31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3C709A90-4DCE-9774-5B2A-393E4E7A8E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84951" y="2346568"/>
                <a:ext cx="873458" cy="873458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69745F8E-33BE-1044-9355-E92EF85484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45249" y="4577011"/>
                <a:ext cx="1475193" cy="2227383"/>
              </a:xfrm>
              <a:prstGeom prst="rect">
                <a:avLst/>
              </a:prstGeom>
            </p:spPr>
          </p:pic>
          <p:pic>
            <p:nvPicPr>
              <p:cNvPr id="33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C6A945FD-B474-4418-79AE-C370F97C67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2894354" y="5475296"/>
                <a:ext cx="1017530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4" name="Picture 7" descr="Adoptable Rabbits | morabbit">
                <a:extLst>
                  <a:ext uri="{FF2B5EF4-FFF2-40B4-BE49-F238E27FC236}">
                    <a16:creationId xmlns:a16="http://schemas.microsoft.com/office/drawing/2014/main" id="{14CE4EE2-02D5-E3C6-C917-7DAEDA6F08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333791" y="2702649"/>
                <a:ext cx="1209688" cy="199163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5" name="Picture 7" descr="Adoptable Rabbits | morabbit">
                <a:extLst>
                  <a:ext uri="{FF2B5EF4-FFF2-40B4-BE49-F238E27FC236}">
                    <a16:creationId xmlns:a16="http://schemas.microsoft.com/office/drawing/2014/main" id="{858877EB-973F-C435-498A-B08F1ADA082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311148" y="4936817"/>
                <a:ext cx="1209688" cy="199163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F694EE67-7809-AA59-2182-27252806F4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53769" y="2586750"/>
                <a:ext cx="710622" cy="71062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E22A470B-13E9-8D5A-BDAC-EE8B484F48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89882" y="4837230"/>
                <a:ext cx="710622" cy="71062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C195025B-27EB-DED1-F804-725914322C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742706" y="2824992"/>
                <a:ext cx="1165158" cy="1477341"/>
              </a:xfrm>
              <a:prstGeom prst="rect">
                <a:avLst/>
              </a:prstGeom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596BAF36-39C9-1C41-2AD2-42DEA6025B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695117" y="4945608"/>
                <a:ext cx="1165158" cy="1477341"/>
              </a:xfrm>
              <a:prstGeom prst="rect">
                <a:avLst/>
              </a:prstGeom>
            </p:spPr>
          </p:pic>
          <p:pic>
            <p:nvPicPr>
              <p:cNvPr id="40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0EBCBCD0-D60C-7A66-34C0-4A80639BF2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7742706" y="3341198"/>
                <a:ext cx="1415159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DE67C660-4DBE-A6AF-6276-E59BC8A15B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7699679" y="5446416"/>
                <a:ext cx="1415159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FAC302-B287-3A91-C76C-AEF0FC3B8BBE}"/>
                </a:ext>
              </a:extLst>
            </p:cNvPr>
            <p:cNvSpPr txBox="1"/>
            <p:nvPr/>
          </p:nvSpPr>
          <p:spPr>
            <a:xfrm>
              <a:off x="5050704" y="1355799"/>
              <a:ext cx="1853610" cy="1202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Always-Takers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7CDBB27-6F90-7E05-7C4C-077A6708871E}"/>
                </a:ext>
              </a:extLst>
            </p:cNvPr>
            <p:cNvSpPr txBox="1"/>
            <p:nvPr/>
          </p:nvSpPr>
          <p:spPr>
            <a:xfrm>
              <a:off x="7562007" y="1355799"/>
              <a:ext cx="1853610" cy="1202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Never-Takers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887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E7B1-B01C-990D-4A6B-D8CA25497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When things get complicated</a:t>
            </a:r>
            <a:br>
              <a:rPr lang="en-US" sz="4800" dirty="0"/>
            </a:br>
            <a:r>
              <a:rPr lang="en-US" sz="3200" dirty="0"/>
              <a:t>and Two-Stage Least Squares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37FD7-EC3C-DBF6-1B48-9E3D01941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Z and X aren’t binary?  What if there are covariates?  What if there is more than one instrument?</a:t>
            </a:r>
          </a:p>
        </p:txBody>
      </p:sp>
    </p:spTree>
    <p:extLst>
      <p:ext uri="{BB962C8B-B14F-4D97-AF65-F5344CB8AC3E}">
        <p14:creationId xmlns:p14="http://schemas.microsoft.com/office/powerpoint/2010/main" val="2117879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6DB88-F3C9-B3A9-4567-8AF1208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example that you read about</a:t>
            </a:r>
            <a:br>
              <a:rPr lang="en-US" dirty="0"/>
            </a:br>
            <a:r>
              <a:rPr lang="en-US" sz="2800" dirty="0"/>
              <a:t>(We’ll return to this in more detail later)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3D584-A4EB-D90A-D7CA-3644CF47D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6422" cy="4351338"/>
          </a:xfrm>
        </p:spPr>
        <p:txBody>
          <a:bodyPr/>
          <a:lstStyle/>
          <a:p>
            <a:r>
              <a:rPr lang="en-US" dirty="0"/>
              <a:t>Angrist + Krueger 1991</a:t>
            </a:r>
          </a:p>
          <a:p>
            <a:r>
              <a:rPr lang="en-US" dirty="0"/>
              <a:t>Instrument: Quarter of birth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Idea: </a:t>
            </a:r>
            <a:r>
              <a:rPr lang="en-US" dirty="0">
                <a:solidFill>
                  <a:schemeClr val="accent1"/>
                </a:solidFill>
              </a:rPr>
              <a:t>people who are born in Q1 can drop out of school earlier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Hopefully what quarter you are born in doesn’t have much to do with your ability or other unmeasured confounding variables.</a:t>
            </a:r>
            <a:endParaRPr lang="en-US" dirty="0"/>
          </a:p>
          <a:p>
            <a:r>
              <a:rPr lang="en-US" dirty="0"/>
              <a:t>Outcome: Earnings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9CDAD04-540B-5D8D-A025-8A817A586D34}"/>
              </a:ext>
            </a:extLst>
          </p:cNvPr>
          <p:cNvGrpSpPr/>
          <p:nvPr/>
        </p:nvGrpSpPr>
        <p:grpSpPr>
          <a:xfrm>
            <a:off x="4921956" y="1958620"/>
            <a:ext cx="7035566" cy="2723799"/>
            <a:chOff x="4921956" y="1958620"/>
            <a:chExt cx="7035566" cy="272379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C1F5972-9618-440C-842D-55A7803CC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02176" y="1958620"/>
              <a:ext cx="4955346" cy="2723799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cxnSp>
          <p:nvCxnSpPr>
            <p:cNvPr id="6" name="Curved Connector 5">
              <a:extLst>
                <a:ext uri="{FF2B5EF4-FFF2-40B4-BE49-F238E27FC236}">
                  <a16:creationId xmlns:a16="http://schemas.microsoft.com/office/drawing/2014/main" id="{58C09530-B00A-C3BE-A4DF-B4F57574CE7C}"/>
                </a:ext>
              </a:extLst>
            </p:cNvPr>
            <p:cNvCxnSpPr/>
            <p:nvPr/>
          </p:nvCxnSpPr>
          <p:spPr>
            <a:xfrm>
              <a:off x="4921956" y="1958620"/>
              <a:ext cx="2080220" cy="784580"/>
            </a:xfrm>
            <a:prstGeom prst="curvedConnector3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71944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E2BE2-955A-7D40-0A6F-D388082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things get more complicated?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What if D and Z aren’t binary anymore?</a:t>
                </a:r>
                <a:r>
                  <a:rPr lang="en-US" dirty="0">
                    <a:solidFill>
                      <a:schemeClr val="accent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E.g.: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Z = quarter of birth (4 values)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X = years of education (many values)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What if there are other covariates that we might want to condition on?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Age, Region of birth, …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What if we have multiple instruments?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Instead of Z taking multiple values, we could have dummy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each quarter.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  <a:blipFill>
                <a:blip r:embed="rId3"/>
                <a:stretch>
                  <a:fillRect l="-994" t="-2168" b="-1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11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07AE-587E-C9CD-F2DF-8C023CB0F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D and Z aren’t binary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72C6E-E7F0-3F47-EBEB-A4B19F23B0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can still estimate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Y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>
                    <a:solidFill>
                      <a:schemeClr val="accent1"/>
                    </a:solidFill>
                  </a:rPr>
                  <a:t>Idea: </a:t>
                </a:r>
                <a:r>
                  <a:rPr lang="en-US" dirty="0">
                    <a:solidFill>
                      <a:schemeClr val="accent1"/>
                    </a:solidFill>
                  </a:rPr>
                  <a:t>Run regressions to estimate the top and the bottom!</a:t>
                </a:r>
              </a:p>
              <a:p>
                <a:endParaRPr lang="en-US" dirty="0"/>
              </a:p>
              <a:p>
                <a:r>
                  <a:rPr lang="en-US" dirty="0"/>
                  <a:t>Bottom (first stage):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r>
                  <a:rPr lang="en-US" dirty="0"/>
                  <a:t>Top (reduced form):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en-US" b="0" i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Run regressions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ac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acc>
                  </m:oMath>
                </a14:m>
                <a:r>
                  <a:rPr lang="en-US" dirty="0"/>
                  <a:t> and return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acc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72C6E-E7F0-3F47-EBEB-A4B19F23B0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3ECC983A-F916-E0F6-C5EE-814B5D7E64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75383" y="5649118"/>
                <a:ext cx="7086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rgbClr val="8C1515"/>
                    </a:solidFill>
                    <a:latin typeface="Arial" panose="020B0604020202020204" pitchFamily="34" charset="0"/>
                    <a:ea typeface="+mj-ea"/>
                    <a:cs typeface="Arial" panose="020B0604020202020204" pitchFamily="34" charset="0"/>
                  </a:defRPr>
                </a:lvl1pPr>
              </a:lstStyle>
              <a:p>
                <a:r>
                  <a:rPr lang="en-US" sz="3600" dirty="0"/>
                  <a:t>But how do we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sz="3600" dirty="0"/>
                  <a:t>?</a:t>
                </a:r>
              </a:p>
            </p:txBody>
          </p:sp>
        </mc:Choice>
        <mc:Fallback xmlns="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3ECC983A-F916-E0F6-C5EE-814B5D7E6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5383" y="5649118"/>
                <a:ext cx="7086600" cy="1325563"/>
              </a:xfrm>
              <a:prstGeom prst="rect">
                <a:avLst/>
              </a:prstGeom>
              <a:blipFill>
                <a:blip r:embed="rId4"/>
                <a:stretch>
                  <a:fillRect l="-2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0651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0311F9-7105-6CA0-E62D-4BE7878E1D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do we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dirty="0"/>
                  <a:t> ?</a:t>
                </a:r>
                <a:br>
                  <a:rPr lang="en-US" dirty="0"/>
                </a:br>
                <a:r>
                  <a:rPr lang="en-US" sz="2700" dirty="0"/>
                  <a:t>when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700" dirty="0"/>
                  <a:t> or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700" dirty="0"/>
                  <a:t> isn’t binary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0311F9-7105-6CA0-E62D-4BE7878E1D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171" t="-6667" b="-10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97D3F2-4991-F3E3-2DBF-E1A7D0DD34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825976" cy="4351338"/>
              </a:xfrm>
            </p:spPr>
            <p:txBody>
              <a:bodyPr/>
              <a:lstStyle/>
              <a:p>
                <a:r>
                  <a:rPr lang="en-US" dirty="0"/>
                  <a:t>Carefully!</a:t>
                </a:r>
              </a:p>
              <a:p>
                <a:r>
                  <a:rPr lang="en-US" dirty="0"/>
                  <a:t>It turns out that under some assumptions*, we can view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dirty="0"/>
                  <a:t> as an average of LATEs: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(instrument) isn’t binary, different LATE for each “type” of complier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(treatment) isn’t binary, different LATE for each value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97D3F2-4991-F3E3-2DBF-E1A7D0DD34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825976" cy="4351338"/>
              </a:xfrm>
              <a:blipFill>
                <a:blip r:embed="rId4"/>
                <a:stretch>
                  <a:fillRect l="-1055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329B94E-22FF-13D0-21BD-ACD52CB85F82}"/>
              </a:ext>
            </a:extLst>
          </p:cNvPr>
          <p:cNvSpPr txBox="1"/>
          <p:nvPr/>
        </p:nvSpPr>
        <p:spPr>
          <a:xfrm>
            <a:off x="9105241" y="78996"/>
            <a:ext cx="3241964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*Assumptions: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Independence +  Exclusion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Monotonicity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A17D174-FEFC-164D-2F68-6B77B048B73F}"/>
              </a:ext>
            </a:extLst>
          </p:cNvPr>
          <p:cNvGrpSpPr/>
          <p:nvPr/>
        </p:nvGrpSpPr>
        <p:grpSpPr>
          <a:xfrm>
            <a:off x="527824" y="4265758"/>
            <a:ext cx="4470710" cy="2580616"/>
            <a:chOff x="527824" y="4265758"/>
            <a:chExt cx="4470710" cy="2580616"/>
          </a:xfrm>
        </p:grpSpPr>
        <p:pic>
          <p:nvPicPr>
            <p:cNvPr id="5" name="Picture 7" descr="Adoptable Rabbits | morabbit">
              <a:extLst>
                <a:ext uri="{FF2B5EF4-FFF2-40B4-BE49-F238E27FC236}">
                  <a16:creationId xmlns:a16="http://schemas.microsoft.com/office/drawing/2014/main" id="{6A174D11-CD5E-AE64-0D28-0160825B8C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27824" y="5457058"/>
              <a:ext cx="814039" cy="1389316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ounded Rectangular Callout 7">
              <a:extLst>
                <a:ext uri="{FF2B5EF4-FFF2-40B4-BE49-F238E27FC236}">
                  <a16:creationId xmlns:a16="http://schemas.microsoft.com/office/drawing/2014/main" id="{FF1EA4F3-A806-C90A-3F51-039E3C98A495}"/>
                </a:ext>
              </a:extLst>
            </p:cNvPr>
            <p:cNvSpPr/>
            <p:nvPr/>
          </p:nvSpPr>
          <p:spPr>
            <a:xfrm>
              <a:off x="1842738" y="4265758"/>
              <a:ext cx="3155796" cy="1193064"/>
            </a:xfrm>
            <a:prstGeom prst="wedgeRoundRectCallout">
              <a:avLst>
                <a:gd name="adj1" fmla="val -66547"/>
                <a:gd name="adj2" fmla="val 53598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E.g., I’m the “type” who goes to college if I’m born in Q3 or Q4, but not Q1 or Q2.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68C23BF-AA3A-B147-D568-B47456A15F02}"/>
              </a:ext>
            </a:extLst>
          </p:cNvPr>
          <p:cNvGrpSpPr/>
          <p:nvPr/>
        </p:nvGrpSpPr>
        <p:grpSpPr>
          <a:xfrm>
            <a:off x="5499409" y="4256953"/>
            <a:ext cx="4843378" cy="2379312"/>
            <a:chOff x="5499409" y="4256953"/>
            <a:chExt cx="4843378" cy="237931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1DA7064-4283-36AE-C453-E7CE0CC82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9433933" y="5566325"/>
              <a:ext cx="908854" cy="1069940"/>
            </a:xfrm>
            <a:prstGeom prst="rect">
              <a:avLst/>
            </a:prstGeom>
          </p:spPr>
        </p:pic>
        <p:sp>
          <p:nvSpPr>
            <p:cNvPr id="10" name="Rounded Rectangular Callout 9">
              <a:extLst>
                <a:ext uri="{FF2B5EF4-FFF2-40B4-BE49-F238E27FC236}">
                  <a16:creationId xmlns:a16="http://schemas.microsoft.com/office/drawing/2014/main" id="{9F94E9A4-D0C6-8F72-599F-12AF5155BD92}"/>
                </a:ext>
              </a:extLst>
            </p:cNvPr>
            <p:cNvSpPr/>
            <p:nvPr/>
          </p:nvSpPr>
          <p:spPr>
            <a:xfrm>
              <a:off x="5499409" y="4256953"/>
              <a:ext cx="3155796" cy="1920009"/>
            </a:xfrm>
            <a:prstGeom prst="wedgeRoundRectCallout">
              <a:avLst>
                <a:gd name="adj1" fmla="val 76209"/>
                <a:gd name="adj2" fmla="val 31736"/>
                <a:gd name="adj3" fmla="val 16667"/>
              </a:avLst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E.g., I got 11 years of schooling, so I contribute to the “LATE for the population who got 11 years of schooling”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4720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3592B-1F5E-2F40-4CD6-7CE3D9A1B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when Z isn’t binary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86CA7FC-D3A1-11F9-7825-6193631657BA}"/>
              </a:ext>
            </a:extLst>
          </p:cNvPr>
          <p:cNvGrpSpPr/>
          <p:nvPr/>
        </p:nvGrpSpPr>
        <p:grpSpPr>
          <a:xfrm>
            <a:off x="4881540" y="4425880"/>
            <a:ext cx="6472260" cy="1603015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851BCC9-2410-4DAF-2113-C6E8165A6E5B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B1E1C6E7-AA53-F180-1E99-7BAF29B15E98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73715247-B04A-949E-66ED-8CFD2F871B5A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8B9B6C1-9CDE-93A0-87EA-CEA28F2F78F4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0A0AF83-0C2E-CAFF-46F8-928192838406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F1B6912-8321-0BE8-C3F6-5FF10687DA64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E7AC5F4C-2213-15F4-189A-CA8B6823263B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2ED03F8A-E9EA-F4FB-D042-345560F22D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Cloud Callout 13">
            <a:extLst>
              <a:ext uri="{FF2B5EF4-FFF2-40B4-BE49-F238E27FC236}">
                <a16:creationId xmlns:a16="http://schemas.microsoft.com/office/drawing/2014/main" id="{5668865F-EF03-37ED-464C-61968E2A7EED}"/>
              </a:ext>
            </a:extLst>
          </p:cNvPr>
          <p:cNvSpPr/>
          <p:nvPr/>
        </p:nvSpPr>
        <p:spPr>
          <a:xfrm>
            <a:off x="2451652" y="2557670"/>
            <a:ext cx="3644348" cy="1736034"/>
          </a:xfrm>
          <a:prstGeom prst="cloudCallout">
            <a:avLst>
              <a:gd name="adj1" fmla="val 26076"/>
              <a:gd name="adj2" fmla="val 72424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Freedom!</a:t>
            </a:r>
          </a:p>
        </p:txBody>
      </p:sp>
    </p:spTree>
    <p:extLst>
      <p:ext uri="{BB962C8B-B14F-4D97-AF65-F5344CB8AC3E}">
        <p14:creationId xmlns:p14="http://schemas.microsoft.com/office/powerpoint/2010/main" val="1772613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2F1FB-02C4-1335-A1F1-5C040076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894" y="363856"/>
            <a:ext cx="10515600" cy="1325563"/>
          </a:xfrm>
        </p:spPr>
        <p:txBody>
          <a:bodyPr/>
          <a:lstStyle/>
          <a:p>
            <a:r>
              <a:rPr lang="en-US" dirty="0"/>
              <a:t>Interpretation when Z isn’t binary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F725-1D4C-BEF8-700C-270BCA7B08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77894" y="1712108"/>
                <a:ext cx="10515600" cy="123852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= Quarter of birth (1,2,3,4).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do you graduate high school? </a:t>
                </a:r>
                <a:r>
                  <a:rPr lang="en-US" sz="1600" dirty="0"/>
                  <a:t>(still binary)</a:t>
                </a:r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F725-1D4C-BEF8-700C-270BCA7B08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7894" y="1712108"/>
                <a:ext cx="10515600" cy="1238529"/>
              </a:xfrm>
              <a:blipFill>
                <a:blip r:embed="rId3"/>
                <a:stretch>
                  <a:fillRect l="-844" t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AF46D5B1-7B3E-AD4D-DF85-2ABC4AB32A9E}"/>
              </a:ext>
            </a:extLst>
          </p:cNvPr>
          <p:cNvGrpSpPr/>
          <p:nvPr/>
        </p:nvGrpSpPr>
        <p:grpSpPr>
          <a:xfrm>
            <a:off x="4447309" y="2978728"/>
            <a:ext cx="7744691" cy="3879272"/>
            <a:chOff x="4447309" y="3089564"/>
            <a:chExt cx="7744691" cy="387927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EB2EE28-5985-5081-0890-A1CBF07B8B47}"/>
                </a:ext>
              </a:extLst>
            </p:cNvPr>
            <p:cNvSpPr/>
            <p:nvPr/>
          </p:nvSpPr>
          <p:spPr>
            <a:xfrm>
              <a:off x="4447309" y="3089564"/>
              <a:ext cx="7744691" cy="387927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AEBE54-EF1F-7416-E760-97C7C15C2304}"/>
                </a:ext>
              </a:extLst>
            </p:cNvPr>
            <p:cNvSpPr txBox="1"/>
            <p:nvPr/>
          </p:nvSpPr>
          <p:spPr>
            <a:xfrm>
              <a:off x="4638651" y="3197946"/>
              <a:ext cx="60960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Types of people:</a:t>
              </a: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DBB75E18-F611-A060-611A-581815C49F35}"/>
                </a:ext>
              </a:extLst>
            </p:cNvPr>
            <p:cNvGrpSpPr/>
            <p:nvPr/>
          </p:nvGrpSpPr>
          <p:grpSpPr>
            <a:xfrm>
              <a:off x="4638652" y="3576044"/>
              <a:ext cx="7314806" cy="3282554"/>
              <a:chOff x="1725344" y="3032210"/>
              <a:chExt cx="7277191" cy="392586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230E7EC0-7D6A-19D2-98CC-9FE3A69BF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26747" y="3682684"/>
                <a:ext cx="635912" cy="1196531"/>
              </a:xfrm>
              <a:prstGeom prst="rect">
                <a:avLst/>
              </a:prstGeom>
            </p:spPr>
          </p:pic>
          <p:pic>
            <p:nvPicPr>
              <p:cNvPr id="5" name="Picture 7" descr="Adoptable Rabbits | morabbit">
                <a:extLst>
                  <a:ext uri="{FF2B5EF4-FFF2-40B4-BE49-F238E27FC236}">
                    <a16:creationId xmlns:a16="http://schemas.microsoft.com/office/drawing/2014/main" id="{9CDBAADC-1A0B-2A81-91F9-8C116C4DFF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2660541" y="3742259"/>
                <a:ext cx="554147" cy="1136955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8A02F97-7581-8BB8-5608-21B10BC5C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26387" y="3872951"/>
                <a:ext cx="516428" cy="815993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03284086-6878-E53A-2164-E71635E9AC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11657" y="3682683"/>
                <a:ext cx="635912" cy="1196531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ADCD025D-1974-DF0B-30B7-0E0A1E3E3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96566" y="3659375"/>
                <a:ext cx="635912" cy="1196531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466527D-523C-D0E8-E105-B4D1E5E812DB}"/>
                  </a:ext>
                </a:extLst>
              </p:cNvPr>
              <p:cNvSpPr txBox="1"/>
              <p:nvPr/>
            </p:nvSpPr>
            <p:spPr>
              <a:xfrm rot="16200000">
                <a:off x="1056827" y="5786513"/>
                <a:ext cx="17063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Quarter of birth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808D2-C138-58E7-EC46-32BF6BD89C69}"/>
                  </a:ext>
                </a:extLst>
              </p:cNvPr>
              <p:cNvSpPr txBox="1"/>
              <p:nvPr/>
            </p:nvSpPr>
            <p:spPr>
              <a:xfrm>
                <a:off x="2087750" y="4717886"/>
                <a:ext cx="662945" cy="478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Q1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F71F01-8933-8911-3A0C-A7987B70F547}"/>
                  </a:ext>
                </a:extLst>
              </p:cNvPr>
              <p:cNvSpPr txBox="1"/>
              <p:nvPr/>
            </p:nvSpPr>
            <p:spPr>
              <a:xfrm>
                <a:off x="2087750" y="5201760"/>
                <a:ext cx="662945" cy="478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Q2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57FCBF-22DB-AF07-36BB-B99B5641A80F}"/>
                  </a:ext>
                </a:extLst>
              </p:cNvPr>
              <p:cNvSpPr txBox="1"/>
              <p:nvPr/>
            </p:nvSpPr>
            <p:spPr>
              <a:xfrm>
                <a:off x="2101605" y="5742061"/>
                <a:ext cx="662945" cy="478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Q3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5DE3A5-1376-D007-C5C4-C8EBF1C9C673}"/>
                  </a:ext>
                </a:extLst>
              </p:cNvPr>
              <p:cNvSpPr txBox="1"/>
              <p:nvPr/>
            </p:nvSpPr>
            <p:spPr>
              <a:xfrm>
                <a:off x="2593670" y="4761356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CB3F41-F658-A116-6503-CF46A7C7D3EE}"/>
                  </a:ext>
                </a:extLst>
              </p:cNvPr>
              <p:cNvSpPr txBox="1"/>
              <p:nvPr/>
            </p:nvSpPr>
            <p:spPr>
              <a:xfrm>
                <a:off x="2593670" y="5238135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C08D84-16AC-7A22-5C54-95827050A3F0}"/>
                  </a:ext>
                </a:extLst>
              </p:cNvPr>
              <p:cNvSpPr txBox="1"/>
              <p:nvPr/>
            </p:nvSpPr>
            <p:spPr>
              <a:xfrm>
                <a:off x="2607525" y="5762000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16724E-3004-33B8-3E99-F5C84981B8B4}"/>
                  </a:ext>
                </a:extLst>
              </p:cNvPr>
              <p:cNvSpPr txBox="1"/>
              <p:nvPr/>
            </p:nvSpPr>
            <p:spPr>
              <a:xfrm>
                <a:off x="3864788" y="5762000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BFED2C-3073-DBA5-DE79-F760FD2182ED}"/>
                  </a:ext>
                </a:extLst>
              </p:cNvPr>
              <p:cNvSpPr txBox="1"/>
              <p:nvPr/>
            </p:nvSpPr>
            <p:spPr>
              <a:xfrm>
                <a:off x="3850934" y="5250416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571465E-2973-7C54-3E07-FA298AA63EE9}"/>
                  </a:ext>
                </a:extLst>
              </p:cNvPr>
              <p:cNvSpPr txBox="1"/>
              <p:nvPr/>
            </p:nvSpPr>
            <p:spPr>
              <a:xfrm>
                <a:off x="3689855" y="4765862"/>
                <a:ext cx="1012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D99AB20-0412-2C1C-55B8-3C0E90745165}"/>
                  </a:ext>
                </a:extLst>
              </p:cNvPr>
              <p:cNvSpPr txBox="1"/>
              <p:nvPr/>
            </p:nvSpPr>
            <p:spPr>
              <a:xfrm>
                <a:off x="5032394" y="4795156"/>
                <a:ext cx="1012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821FEB0-737C-9255-781A-0FCDB498E206}"/>
                  </a:ext>
                </a:extLst>
              </p:cNvPr>
              <p:cNvSpPr txBox="1"/>
              <p:nvPr/>
            </p:nvSpPr>
            <p:spPr>
              <a:xfrm>
                <a:off x="5032394" y="5278238"/>
                <a:ext cx="1012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FA8D5EA-1115-4C1A-9DC0-D8E6B5156B06}"/>
                  </a:ext>
                </a:extLst>
              </p:cNvPr>
              <p:cNvSpPr txBox="1"/>
              <p:nvPr/>
            </p:nvSpPr>
            <p:spPr>
              <a:xfrm>
                <a:off x="6472832" y="4795156"/>
                <a:ext cx="1012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DFA9884-AF3A-EF96-CF3A-E7E077801B01}"/>
                  </a:ext>
                </a:extLst>
              </p:cNvPr>
              <p:cNvSpPr txBox="1"/>
              <p:nvPr/>
            </p:nvSpPr>
            <p:spPr>
              <a:xfrm>
                <a:off x="6478830" y="5299081"/>
                <a:ext cx="1012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D4807-BC79-3765-2405-5D1EFFC62A3A}"/>
                  </a:ext>
                </a:extLst>
              </p:cNvPr>
              <p:cNvSpPr txBox="1"/>
              <p:nvPr/>
            </p:nvSpPr>
            <p:spPr>
              <a:xfrm>
                <a:off x="6445718" y="5775517"/>
                <a:ext cx="1012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2B942AE-EC1E-92B6-4A56-0E14C61F8C31}"/>
                  </a:ext>
                </a:extLst>
              </p:cNvPr>
              <p:cNvSpPr txBox="1"/>
              <p:nvPr/>
            </p:nvSpPr>
            <p:spPr>
              <a:xfrm>
                <a:off x="2087747" y="6226975"/>
                <a:ext cx="662945" cy="478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Q4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0E37937-E3B4-5412-68C6-BC238678E3B8}"/>
                  </a:ext>
                </a:extLst>
              </p:cNvPr>
              <p:cNvSpPr txBox="1"/>
              <p:nvPr/>
            </p:nvSpPr>
            <p:spPr>
              <a:xfrm>
                <a:off x="2593668" y="6246913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6B566F-AA57-A395-9A18-800675571770}"/>
                  </a:ext>
                </a:extLst>
              </p:cNvPr>
              <p:cNvSpPr txBox="1"/>
              <p:nvPr/>
            </p:nvSpPr>
            <p:spPr>
              <a:xfrm>
                <a:off x="3850931" y="6246913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110976-E5B1-413B-A911-559A778D13B1}"/>
                  </a:ext>
                </a:extLst>
              </p:cNvPr>
              <p:cNvSpPr txBox="1"/>
              <p:nvPr/>
            </p:nvSpPr>
            <p:spPr>
              <a:xfrm>
                <a:off x="5187466" y="5805800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043CA27-F024-C4E8-80DA-E9FC04EA3E39}"/>
                  </a:ext>
                </a:extLst>
              </p:cNvPr>
              <p:cNvSpPr txBox="1"/>
              <p:nvPr/>
            </p:nvSpPr>
            <p:spPr>
              <a:xfrm>
                <a:off x="5173608" y="6290713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71DC12D-116A-8C09-F621-7E39C12B81C8}"/>
                  </a:ext>
                </a:extLst>
              </p:cNvPr>
              <p:cNvSpPr txBox="1"/>
              <p:nvPr/>
            </p:nvSpPr>
            <p:spPr>
              <a:xfrm>
                <a:off x="7822581" y="4761702"/>
                <a:ext cx="1012722" cy="731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340463-6743-EF0B-45CC-6D42CF6D3375}"/>
                  </a:ext>
                </a:extLst>
              </p:cNvPr>
              <p:cNvSpPr txBox="1"/>
              <p:nvPr/>
            </p:nvSpPr>
            <p:spPr>
              <a:xfrm>
                <a:off x="7828580" y="5265627"/>
                <a:ext cx="1012722" cy="731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3ED5D8A-2B79-BF67-6FF1-A128E929B337}"/>
                  </a:ext>
                </a:extLst>
              </p:cNvPr>
              <p:cNvSpPr txBox="1"/>
              <p:nvPr/>
            </p:nvSpPr>
            <p:spPr>
              <a:xfrm>
                <a:off x="7795468" y="5742061"/>
                <a:ext cx="1012722" cy="731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CFEF414-F4D8-8FBC-5E27-E5170D300FFD}"/>
                  </a:ext>
                </a:extLst>
              </p:cNvPr>
              <p:cNvSpPr txBox="1"/>
              <p:nvPr/>
            </p:nvSpPr>
            <p:spPr>
              <a:xfrm>
                <a:off x="7781611" y="6226975"/>
                <a:ext cx="1012722" cy="731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Dropout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BF6284-EF3F-88DF-DB4E-5443B5EFD3A5}"/>
                  </a:ext>
                </a:extLst>
              </p:cNvPr>
              <p:cNvSpPr txBox="1"/>
              <p:nvPr/>
            </p:nvSpPr>
            <p:spPr>
              <a:xfrm>
                <a:off x="6580277" y="6290713"/>
                <a:ext cx="69056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Grad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846DAD2-F827-BFAC-F468-422654849617}"/>
                  </a:ext>
                </a:extLst>
              </p:cNvPr>
              <p:cNvSpPr txBox="1"/>
              <p:nvPr/>
            </p:nvSpPr>
            <p:spPr>
              <a:xfrm>
                <a:off x="2218531" y="3395491"/>
                <a:ext cx="160633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accent1"/>
                    </a:solidFill>
                  </a:rPr>
                  <a:t>Always-taker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49A9249-EA53-5A14-20FF-5B8C2DE09F8D}"/>
                  </a:ext>
                </a:extLst>
              </p:cNvPr>
              <p:cNvSpPr txBox="1"/>
              <p:nvPr/>
            </p:nvSpPr>
            <p:spPr>
              <a:xfrm>
                <a:off x="7536236" y="3472841"/>
                <a:ext cx="146629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chemeClr val="accent1"/>
                    </a:solidFill>
                  </a:rPr>
                  <a:t>Never-taker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3EC254-F9F8-4AF5-9753-3FD53B66B788}"/>
                  </a:ext>
                </a:extLst>
              </p:cNvPr>
              <p:cNvSpPr txBox="1"/>
              <p:nvPr/>
            </p:nvSpPr>
            <p:spPr>
              <a:xfrm>
                <a:off x="4128656" y="3032210"/>
                <a:ext cx="310379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accent1"/>
                    </a:solidFill>
                  </a:rPr>
                  <a:t>Three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 types of compliers!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453AB3-11E5-D88F-D7EB-F00F45D87FAD}"/>
                  </a:ext>
                </a:extLst>
              </p:cNvPr>
              <p:cNvSpPr txBox="1"/>
              <p:nvPr/>
            </p:nvSpPr>
            <p:spPr>
              <a:xfrm>
                <a:off x="768023" y="2990941"/>
                <a:ext cx="3361597" cy="3810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1"/>
                    </a:solidFill>
                  </a:rPr>
                  <a:t>Interpretation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𝝀</m:t>
                        </m:r>
                      </m:e>
                    </m:acc>
                    <m:r>
                      <a:rPr lang="en-US" sz="2400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𝝋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accent1"/>
                    </a:solidFill>
                  </a:rPr>
                  <a:t>Suppose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is the ATE among the first type of complier, and so on.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accent1"/>
                    </a:solidFill>
                  </a:rPr>
                  <a:t>Given </a:t>
                </a:r>
                <a:r>
                  <a:rPr lang="en-US" sz="2400" dirty="0" err="1">
                    <a:solidFill>
                      <a:schemeClr val="accent1"/>
                    </a:solidFill>
                  </a:rPr>
                  <a:t>assms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*,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is a weighted average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453AB3-11E5-D88F-D7EB-F00F45D87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23" y="2990941"/>
                <a:ext cx="3361597" cy="3810980"/>
              </a:xfrm>
              <a:prstGeom prst="rect">
                <a:avLst/>
              </a:prstGeom>
              <a:blipFill>
                <a:blip r:embed="rId7"/>
                <a:stretch>
                  <a:fillRect l="-3019" t="-332" r="-26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D3C84245-E6C9-DB0E-8E0A-A2D4EF113603}"/>
              </a:ext>
            </a:extLst>
          </p:cNvPr>
          <p:cNvSpPr txBox="1"/>
          <p:nvPr/>
        </p:nvSpPr>
        <p:spPr>
          <a:xfrm>
            <a:off x="9105241" y="78996"/>
            <a:ext cx="3241964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*Assumptions: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Independence +  Exclusion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Monotonicity</a:t>
            </a:r>
          </a:p>
        </p:txBody>
      </p:sp>
    </p:spTree>
    <p:extLst>
      <p:ext uri="{BB962C8B-B14F-4D97-AF65-F5344CB8AC3E}">
        <p14:creationId xmlns:p14="http://schemas.microsoft.com/office/powerpoint/2010/main" val="3267535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3592B-1F5E-2F40-4CD6-7CE3D9A1B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when X isn’t binary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86CA7FC-D3A1-11F9-7825-6193631657BA}"/>
              </a:ext>
            </a:extLst>
          </p:cNvPr>
          <p:cNvGrpSpPr/>
          <p:nvPr/>
        </p:nvGrpSpPr>
        <p:grpSpPr>
          <a:xfrm>
            <a:off x="4881540" y="4425880"/>
            <a:ext cx="6472260" cy="1603015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851BCC9-2410-4DAF-2113-C6E8165A6E5B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B1E1C6E7-AA53-F180-1E99-7BAF29B15E98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73715247-B04A-949E-66ED-8CFD2F871B5A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8B9B6C1-9CDE-93A0-87EA-CEA28F2F78F4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0A0AF83-0C2E-CAFF-46F8-928192838406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F1B6912-8321-0BE8-C3F6-5FF10687DA64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E7AC5F4C-2213-15F4-189A-CA8B6823263B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2ED03F8A-E9EA-F4FB-D042-345560F22D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Cloud Callout 13">
            <a:extLst>
              <a:ext uri="{FF2B5EF4-FFF2-40B4-BE49-F238E27FC236}">
                <a16:creationId xmlns:a16="http://schemas.microsoft.com/office/drawing/2014/main" id="{5668865F-EF03-37ED-464C-61968E2A7EED}"/>
              </a:ext>
            </a:extLst>
          </p:cNvPr>
          <p:cNvSpPr/>
          <p:nvPr/>
        </p:nvSpPr>
        <p:spPr>
          <a:xfrm>
            <a:off x="5401799" y="2491002"/>
            <a:ext cx="3644348" cy="1736034"/>
          </a:xfrm>
          <a:prstGeom prst="cloudCallout">
            <a:avLst>
              <a:gd name="adj1" fmla="val 26076"/>
              <a:gd name="adj2" fmla="val 72424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Freedom!</a:t>
            </a:r>
          </a:p>
        </p:txBody>
      </p:sp>
    </p:spTree>
    <p:extLst>
      <p:ext uri="{BB962C8B-B14F-4D97-AF65-F5344CB8AC3E}">
        <p14:creationId xmlns:p14="http://schemas.microsoft.com/office/powerpoint/2010/main" val="1739437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were you born in Q1?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= years of education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  <a:blipFill>
                <a:blip r:embed="rId3"/>
                <a:stretch>
                  <a:fillRect l="-1432"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F4F49B5E-F200-0762-4EBC-3F28CE88D252}"/>
              </a:ext>
            </a:extLst>
          </p:cNvPr>
          <p:cNvSpPr/>
          <p:nvPr/>
        </p:nvSpPr>
        <p:spPr>
          <a:xfrm>
            <a:off x="4280453" y="3429000"/>
            <a:ext cx="7911548" cy="3429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232B8-3B04-05A0-0596-C56A8E3AD5BD}"/>
              </a:ext>
            </a:extLst>
          </p:cNvPr>
          <p:cNvSpPr txBox="1"/>
          <p:nvPr/>
        </p:nvSpPr>
        <p:spPr>
          <a:xfrm>
            <a:off x="4654099" y="354965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Lots of types of people: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D7126-BD29-95EB-85DC-6B229C7CA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533" y="4001294"/>
            <a:ext cx="639199" cy="1000461"/>
          </a:xfrm>
          <a:prstGeom prst="rect">
            <a:avLst/>
          </a:prstGeom>
        </p:spPr>
      </p:pic>
      <p:pic>
        <p:nvPicPr>
          <p:cNvPr id="9" name="Picture 7" descr="Adoptable Rabbits | morabbit">
            <a:extLst>
              <a:ext uri="{FF2B5EF4-FFF2-40B4-BE49-F238E27FC236}">
                <a16:creationId xmlns:a16="http://schemas.microsoft.com/office/drawing/2014/main" id="{B9C01791-C3C6-26A8-0AEB-052CBF012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578684" y="4058905"/>
            <a:ext cx="557011" cy="9506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4FB17D-0A63-1CFE-9246-C1F5B2891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4039" y="4236084"/>
            <a:ext cx="519097" cy="6822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CD2BE63-6219-3374-103E-B8B36B87F92C}"/>
              </a:ext>
            </a:extLst>
          </p:cNvPr>
          <p:cNvSpPr txBox="1"/>
          <p:nvPr/>
        </p:nvSpPr>
        <p:spPr>
          <a:xfrm>
            <a:off x="4734369" y="5349521"/>
            <a:ext cx="6663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8D02E1-1538-3B77-976A-A9992E3D6E22}"/>
              </a:ext>
            </a:extLst>
          </p:cNvPr>
          <p:cNvSpPr txBox="1"/>
          <p:nvPr/>
        </p:nvSpPr>
        <p:spPr>
          <a:xfrm>
            <a:off x="4507928" y="6147700"/>
            <a:ext cx="1119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Q2,3,4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A45A564-BDD7-3890-C0F2-C8FE8B55FE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5581" y="4101623"/>
            <a:ext cx="670154" cy="84378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E238320-6B2D-29FD-48E0-7E762B7AB9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6819" y="4251748"/>
            <a:ext cx="766351" cy="681203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369973D-65D1-D192-6807-C01D76036F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6085" y="4116325"/>
            <a:ext cx="597865" cy="83580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FC0D28E-2CC2-81AD-2CA0-9590D1B3CA28}"/>
              </a:ext>
            </a:extLst>
          </p:cNvPr>
          <p:cNvSpPr txBox="1"/>
          <p:nvPr/>
        </p:nvSpPr>
        <p:spPr>
          <a:xfrm>
            <a:off x="11353800" y="4251748"/>
            <a:ext cx="779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B01EC9-5289-A2BC-501E-05B4902A6A2A}"/>
              </a:ext>
            </a:extLst>
          </p:cNvPr>
          <p:cNvSpPr txBox="1"/>
          <p:nvPr/>
        </p:nvSpPr>
        <p:spPr>
          <a:xfrm>
            <a:off x="551799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BC299-A555-FDB8-7E86-16C1911D95E5}"/>
              </a:ext>
            </a:extLst>
          </p:cNvPr>
          <p:cNvSpPr txBox="1"/>
          <p:nvPr/>
        </p:nvSpPr>
        <p:spPr>
          <a:xfrm>
            <a:off x="5513593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11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3D2D7-E657-F914-748A-FA3104B3EC45}"/>
              </a:ext>
            </a:extLst>
          </p:cNvPr>
          <p:cNvSpPr txBox="1"/>
          <p:nvPr/>
        </p:nvSpPr>
        <p:spPr>
          <a:xfrm>
            <a:off x="653532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182382-FCF4-E883-5FDD-1070A3F09837}"/>
              </a:ext>
            </a:extLst>
          </p:cNvPr>
          <p:cNvSpPr txBox="1"/>
          <p:nvPr/>
        </p:nvSpPr>
        <p:spPr>
          <a:xfrm>
            <a:off x="6493975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F94C9C-9291-77B9-5AD6-6AC8FF140621}"/>
              </a:ext>
            </a:extLst>
          </p:cNvPr>
          <p:cNvSpPr txBox="1"/>
          <p:nvPr/>
        </p:nvSpPr>
        <p:spPr>
          <a:xfrm>
            <a:off x="752714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0A35EE-4621-153B-AE27-0B70A658E453}"/>
              </a:ext>
            </a:extLst>
          </p:cNvPr>
          <p:cNvSpPr txBox="1"/>
          <p:nvPr/>
        </p:nvSpPr>
        <p:spPr>
          <a:xfrm>
            <a:off x="7546819" y="594100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C76F4E-37F2-2CCC-96F3-7C0DE7BC728D}"/>
              </a:ext>
            </a:extLst>
          </p:cNvPr>
          <p:cNvSpPr txBox="1"/>
          <p:nvPr/>
        </p:nvSpPr>
        <p:spPr>
          <a:xfrm>
            <a:off x="8579987" y="5127791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D3E0CA-6F71-BDB6-B237-88CCFF4B61F8}"/>
              </a:ext>
            </a:extLst>
          </p:cNvPr>
          <p:cNvSpPr txBox="1"/>
          <p:nvPr/>
        </p:nvSpPr>
        <p:spPr>
          <a:xfrm>
            <a:off x="8599663" y="5925298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D287A-1274-7DB3-D11E-D75633DC32A0}"/>
              </a:ext>
            </a:extLst>
          </p:cNvPr>
          <p:cNvSpPr txBox="1"/>
          <p:nvPr/>
        </p:nvSpPr>
        <p:spPr>
          <a:xfrm>
            <a:off x="1067440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19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382D02-69EA-04FD-3B12-7F47F0B47263}"/>
              </a:ext>
            </a:extLst>
          </p:cNvPr>
          <p:cNvSpPr txBox="1"/>
          <p:nvPr/>
        </p:nvSpPr>
        <p:spPr>
          <a:xfrm>
            <a:off x="10671512" y="5897676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20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DA2D59-152B-135D-6DB6-386A257AC9D3}"/>
              </a:ext>
            </a:extLst>
          </p:cNvPr>
          <p:cNvSpPr txBox="1"/>
          <p:nvPr/>
        </p:nvSpPr>
        <p:spPr>
          <a:xfrm>
            <a:off x="1245966" y="4368905"/>
            <a:ext cx="2605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2"/>
                </a:solidFill>
              </a:rPr>
              <a:t>Years of schooling if born in Q1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071894-7285-DC9E-788D-558BB225081F}"/>
              </a:ext>
            </a:extLst>
          </p:cNvPr>
          <p:cNvSpPr txBox="1"/>
          <p:nvPr/>
        </p:nvSpPr>
        <p:spPr>
          <a:xfrm>
            <a:off x="1186278" y="5749631"/>
            <a:ext cx="2605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2"/>
                </a:solidFill>
              </a:rPr>
              <a:t>Years of schooling if </a:t>
            </a:r>
            <a:r>
              <a:rPr lang="en-US" sz="2400" b="1" dirty="0">
                <a:solidFill>
                  <a:schemeClr val="accent2"/>
                </a:solidFill>
              </a:rPr>
              <a:t>not</a:t>
            </a:r>
            <a:r>
              <a:rPr lang="en-US" sz="2400" dirty="0">
                <a:solidFill>
                  <a:schemeClr val="accent2"/>
                </a:solidFill>
              </a:rPr>
              <a:t> born in Q1</a:t>
            </a:r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A82F5B6F-39B2-BCF0-687B-70E8C5EE47EE}"/>
              </a:ext>
            </a:extLst>
          </p:cNvPr>
          <p:cNvSpPr/>
          <p:nvPr/>
        </p:nvSpPr>
        <p:spPr>
          <a:xfrm>
            <a:off x="3790122" y="4849731"/>
            <a:ext cx="1868556" cy="411382"/>
          </a:xfrm>
          <a:custGeom>
            <a:avLst/>
            <a:gdLst>
              <a:gd name="connsiteX0" fmla="*/ 0 w 1868556"/>
              <a:gd name="connsiteY0" fmla="*/ 27069 h 411382"/>
              <a:gd name="connsiteX1" fmla="*/ 1033669 w 1868556"/>
              <a:gd name="connsiteY1" fmla="*/ 40321 h 411382"/>
              <a:gd name="connsiteX2" fmla="*/ 1868556 w 1868556"/>
              <a:gd name="connsiteY2" fmla="*/ 411382 h 41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68556" h="411382">
                <a:moveTo>
                  <a:pt x="0" y="27069"/>
                </a:moveTo>
                <a:cubicBezTo>
                  <a:pt x="361121" y="1669"/>
                  <a:pt x="722243" y="-23731"/>
                  <a:pt x="1033669" y="40321"/>
                </a:cubicBezTo>
                <a:cubicBezTo>
                  <a:pt x="1345095" y="104373"/>
                  <a:pt x="1606825" y="257877"/>
                  <a:pt x="1868556" y="411382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reeform 76">
            <a:extLst>
              <a:ext uri="{FF2B5EF4-FFF2-40B4-BE49-F238E27FC236}">
                <a16:creationId xmlns:a16="http://schemas.microsoft.com/office/drawing/2014/main" id="{FB1A9C73-C43B-B77C-4733-F58478A253C5}"/>
              </a:ext>
            </a:extLst>
          </p:cNvPr>
          <p:cNvSpPr/>
          <p:nvPr/>
        </p:nvSpPr>
        <p:spPr>
          <a:xfrm>
            <a:off x="3803374" y="5853850"/>
            <a:ext cx="1868556" cy="440933"/>
          </a:xfrm>
          <a:custGeom>
            <a:avLst/>
            <a:gdLst>
              <a:gd name="connsiteX0" fmla="*/ 0 w 1868556"/>
              <a:gd name="connsiteY0" fmla="*/ 440933 h 440933"/>
              <a:gd name="connsiteX1" fmla="*/ 715617 w 1868556"/>
              <a:gd name="connsiteY1" fmla="*/ 56620 h 440933"/>
              <a:gd name="connsiteX2" fmla="*/ 1563756 w 1868556"/>
              <a:gd name="connsiteY2" fmla="*/ 16863 h 440933"/>
              <a:gd name="connsiteX3" fmla="*/ 1868556 w 1868556"/>
              <a:gd name="connsiteY3" fmla="*/ 202393 h 44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68556" h="440933">
                <a:moveTo>
                  <a:pt x="0" y="440933"/>
                </a:moveTo>
                <a:cubicBezTo>
                  <a:pt x="227495" y="284115"/>
                  <a:pt x="454991" y="127298"/>
                  <a:pt x="715617" y="56620"/>
                </a:cubicBezTo>
                <a:cubicBezTo>
                  <a:pt x="976243" y="-14058"/>
                  <a:pt x="1371600" y="-7432"/>
                  <a:pt x="1563756" y="16863"/>
                </a:cubicBezTo>
                <a:cubicBezTo>
                  <a:pt x="1755912" y="41158"/>
                  <a:pt x="1812234" y="121775"/>
                  <a:pt x="1868556" y="202393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E63C386-0454-5533-BBA7-63BB69F808AB}"/>
              </a:ext>
            </a:extLst>
          </p:cNvPr>
          <p:cNvSpPr txBox="1"/>
          <p:nvPr/>
        </p:nvSpPr>
        <p:spPr>
          <a:xfrm>
            <a:off x="9656085" y="5126422"/>
            <a:ext cx="700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1793B77-E22E-BE38-B621-08122F5A045C}"/>
              </a:ext>
            </a:extLst>
          </p:cNvPr>
          <p:cNvSpPr txBox="1"/>
          <p:nvPr/>
        </p:nvSpPr>
        <p:spPr>
          <a:xfrm>
            <a:off x="9656085" y="591229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3" name="Title 1">
            <a:extLst>
              <a:ext uri="{FF2B5EF4-FFF2-40B4-BE49-F238E27FC236}">
                <a16:creationId xmlns:a16="http://schemas.microsoft.com/office/drawing/2014/main" id="{93774B62-062B-AEAF-6A22-E9F32BC10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894" y="363856"/>
            <a:ext cx="10515600" cy="1325563"/>
          </a:xfrm>
        </p:spPr>
        <p:txBody>
          <a:bodyPr/>
          <a:lstStyle/>
          <a:p>
            <a:r>
              <a:rPr lang="en-US" dirty="0"/>
              <a:t>Interpretation when X isn’t binary</a:t>
            </a:r>
          </a:p>
        </p:txBody>
      </p:sp>
    </p:spTree>
    <p:extLst>
      <p:ext uri="{BB962C8B-B14F-4D97-AF65-F5344CB8AC3E}">
        <p14:creationId xmlns:p14="http://schemas.microsoft.com/office/powerpoint/2010/main" val="2703621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were you born in Q1?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= years of education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  <a:blipFill>
                <a:blip r:embed="rId3"/>
                <a:stretch>
                  <a:fillRect l="-1432"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F4F49B5E-F200-0762-4EBC-3F28CE88D252}"/>
              </a:ext>
            </a:extLst>
          </p:cNvPr>
          <p:cNvSpPr/>
          <p:nvPr/>
        </p:nvSpPr>
        <p:spPr>
          <a:xfrm>
            <a:off x="4280453" y="3429000"/>
            <a:ext cx="7911548" cy="3429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232B8-3B04-05A0-0596-C56A8E3AD5BD}"/>
              </a:ext>
            </a:extLst>
          </p:cNvPr>
          <p:cNvSpPr txBox="1"/>
          <p:nvPr/>
        </p:nvSpPr>
        <p:spPr>
          <a:xfrm>
            <a:off x="4654099" y="354965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Lots of types of people: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D7126-BD29-95EB-85DC-6B229C7CA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533" y="4001294"/>
            <a:ext cx="639199" cy="1000461"/>
          </a:xfrm>
          <a:prstGeom prst="rect">
            <a:avLst/>
          </a:prstGeom>
        </p:spPr>
      </p:pic>
      <p:pic>
        <p:nvPicPr>
          <p:cNvPr id="9" name="Picture 7" descr="Adoptable Rabbits | morabbit">
            <a:extLst>
              <a:ext uri="{FF2B5EF4-FFF2-40B4-BE49-F238E27FC236}">
                <a16:creationId xmlns:a16="http://schemas.microsoft.com/office/drawing/2014/main" id="{B9C01791-C3C6-26A8-0AEB-052CBF012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578684" y="4058905"/>
            <a:ext cx="557011" cy="9506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4FB17D-0A63-1CFE-9246-C1F5B2891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4039" y="4236084"/>
            <a:ext cx="519097" cy="6822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CD2BE63-6219-3374-103E-B8B36B87F92C}"/>
              </a:ext>
            </a:extLst>
          </p:cNvPr>
          <p:cNvSpPr txBox="1"/>
          <p:nvPr/>
        </p:nvSpPr>
        <p:spPr>
          <a:xfrm>
            <a:off x="4734369" y="5349521"/>
            <a:ext cx="6663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8D02E1-1538-3B77-976A-A9992E3D6E22}"/>
              </a:ext>
            </a:extLst>
          </p:cNvPr>
          <p:cNvSpPr txBox="1"/>
          <p:nvPr/>
        </p:nvSpPr>
        <p:spPr>
          <a:xfrm>
            <a:off x="4507928" y="6147700"/>
            <a:ext cx="1119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Q2,3,4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A45A564-BDD7-3890-C0F2-C8FE8B55FE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5581" y="4101623"/>
            <a:ext cx="670154" cy="84378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E238320-6B2D-29FD-48E0-7E762B7AB9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6819" y="4251748"/>
            <a:ext cx="766351" cy="681203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369973D-65D1-D192-6807-C01D76036F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6085" y="4116325"/>
            <a:ext cx="597865" cy="83580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FC0D28E-2CC2-81AD-2CA0-9590D1B3CA28}"/>
              </a:ext>
            </a:extLst>
          </p:cNvPr>
          <p:cNvSpPr txBox="1"/>
          <p:nvPr/>
        </p:nvSpPr>
        <p:spPr>
          <a:xfrm>
            <a:off x="11353800" y="4251748"/>
            <a:ext cx="779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B01EC9-5289-A2BC-501E-05B4902A6A2A}"/>
              </a:ext>
            </a:extLst>
          </p:cNvPr>
          <p:cNvSpPr txBox="1"/>
          <p:nvPr/>
        </p:nvSpPr>
        <p:spPr>
          <a:xfrm>
            <a:off x="551799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BC299-A555-FDB8-7E86-16C1911D95E5}"/>
              </a:ext>
            </a:extLst>
          </p:cNvPr>
          <p:cNvSpPr txBox="1"/>
          <p:nvPr/>
        </p:nvSpPr>
        <p:spPr>
          <a:xfrm>
            <a:off x="5513593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11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3D2D7-E657-F914-748A-FA3104B3EC45}"/>
              </a:ext>
            </a:extLst>
          </p:cNvPr>
          <p:cNvSpPr txBox="1"/>
          <p:nvPr/>
        </p:nvSpPr>
        <p:spPr>
          <a:xfrm>
            <a:off x="653532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182382-FCF4-E883-5FDD-1070A3F09837}"/>
              </a:ext>
            </a:extLst>
          </p:cNvPr>
          <p:cNvSpPr txBox="1"/>
          <p:nvPr/>
        </p:nvSpPr>
        <p:spPr>
          <a:xfrm>
            <a:off x="6493975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F94C9C-9291-77B9-5AD6-6AC8FF140621}"/>
              </a:ext>
            </a:extLst>
          </p:cNvPr>
          <p:cNvSpPr txBox="1"/>
          <p:nvPr/>
        </p:nvSpPr>
        <p:spPr>
          <a:xfrm>
            <a:off x="752714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0A35EE-4621-153B-AE27-0B70A658E453}"/>
              </a:ext>
            </a:extLst>
          </p:cNvPr>
          <p:cNvSpPr txBox="1"/>
          <p:nvPr/>
        </p:nvSpPr>
        <p:spPr>
          <a:xfrm>
            <a:off x="7546819" y="594100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C76F4E-37F2-2CCC-96F3-7C0DE7BC728D}"/>
              </a:ext>
            </a:extLst>
          </p:cNvPr>
          <p:cNvSpPr txBox="1"/>
          <p:nvPr/>
        </p:nvSpPr>
        <p:spPr>
          <a:xfrm>
            <a:off x="8579987" y="5127791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D3E0CA-6F71-BDB6-B237-88CCFF4B61F8}"/>
              </a:ext>
            </a:extLst>
          </p:cNvPr>
          <p:cNvSpPr txBox="1"/>
          <p:nvPr/>
        </p:nvSpPr>
        <p:spPr>
          <a:xfrm>
            <a:off x="8599663" y="5925298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515ECC-843C-DCB2-6EFC-4067C53F7D48}"/>
              </a:ext>
            </a:extLst>
          </p:cNvPr>
          <p:cNvSpPr txBox="1"/>
          <p:nvPr/>
        </p:nvSpPr>
        <p:spPr>
          <a:xfrm>
            <a:off x="9656085" y="5126422"/>
            <a:ext cx="700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7D4C2C-EB84-359B-215E-C8A86A2E071D}"/>
              </a:ext>
            </a:extLst>
          </p:cNvPr>
          <p:cNvSpPr txBox="1"/>
          <p:nvPr/>
        </p:nvSpPr>
        <p:spPr>
          <a:xfrm>
            <a:off x="9656085" y="591229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D287A-1274-7DB3-D11E-D75633DC32A0}"/>
              </a:ext>
            </a:extLst>
          </p:cNvPr>
          <p:cNvSpPr txBox="1"/>
          <p:nvPr/>
        </p:nvSpPr>
        <p:spPr>
          <a:xfrm>
            <a:off x="1067440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19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382D02-69EA-04FD-3B12-7F47F0B47263}"/>
              </a:ext>
            </a:extLst>
          </p:cNvPr>
          <p:cNvSpPr txBox="1"/>
          <p:nvPr/>
        </p:nvSpPr>
        <p:spPr>
          <a:xfrm>
            <a:off x="10671512" y="5897676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20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DA2D59-152B-135D-6DB6-386A257AC9D3}"/>
              </a:ext>
            </a:extLst>
          </p:cNvPr>
          <p:cNvSpPr txBox="1"/>
          <p:nvPr/>
        </p:nvSpPr>
        <p:spPr>
          <a:xfrm>
            <a:off x="1245966" y="4368905"/>
            <a:ext cx="2605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2"/>
                </a:solidFill>
              </a:rPr>
              <a:t>Years of schooling if born in Q1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071894-7285-DC9E-788D-558BB225081F}"/>
              </a:ext>
            </a:extLst>
          </p:cNvPr>
          <p:cNvSpPr txBox="1"/>
          <p:nvPr/>
        </p:nvSpPr>
        <p:spPr>
          <a:xfrm>
            <a:off x="1186278" y="5749631"/>
            <a:ext cx="2605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2"/>
                </a:solidFill>
              </a:rPr>
              <a:t>Years of schooling if </a:t>
            </a:r>
            <a:r>
              <a:rPr lang="en-US" sz="2400" b="1" dirty="0">
                <a:solidFill>
                  <a:schemeClr val="accent2"/>
                </a:solidFill>
              </a:rPr>
              <a:t>not</a:t>
            </a:r>
            <a:r>
              <a:rPr lang="en-US" sz="2400" dirty="0">
                <a:solidFill>
                  <a:schemeClr val="accent2"/>
                </a:solidFill>
              </a:rPr>
              <a:t> born in Q1</a:t>
            </a:r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A82F5B6F-39B2-BCF0-687B-70E8C5EE47EE}"/>
              </a:ext>
            </a:extLst>
          </p:cNvPr>
          <p:cNvSpPr/>
          <p:nvPr/>
        </p:nvSpPr>
        <p:spPr>
          <a:xfrm>
            <a:off x="3790122" y="4849731"/>
            <a:ext cx="1868556" cy="411382"/>
          </a:xfrm>
          <a:custGeom>
            <a:avLst/>
            <a:gdLst>
              <a:gd name="connsiteX0" fmla="*/ 0 w 1868556"/>
              <a:gd name="connsiteY0" fmla="*/ 27069 h 411382"/>
              <a:gd name="connsiteX1" fmla="*/ 1033669 w 1868556"/>
              <a:gd name="connsiteY1" fmla="*/ 40321 h 411382"/>
              <a:gd name="connsiteX2" fmla="*/ 1868556 w 1868556"/>
              <a:gd name="connsiteY2" fmla="*/ 411382 h 411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68556" h="411382">
                <a:moveTo>
                  <a:pt x="0" y="27069"/>
                </a:moveTo>
                <a:cubicBezTo>
                  <a:pt x="361121" y="1669"/>
                  <a:pt x="722243" y="-23731"/>
                  <a:pt x="1033669" y="40321"/>
                </a:cubicBezTo>
                <a:cubicBezTo>
                  <a:pt x="1345095" y="104373"/>
                  <a:pt x="1606825" y="257877"/>
                  <a:pt x="1868556" y="411382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reeform 76">
            <a:extLst>
              <a:ext uri="{FF2B5EF4-FFF2-40B4-BE49-F238E27FC236}">
                <a16:creationId xmlns:a16="http://schemas.microsoft.com/office/drawing/2014/main" id="{FB1A9C73-C43B-B77C-4733-F58478A253C5}"/>
              </a:ext>
            </a:extLst>
          </p:cNvPr>
          <p:cNvSpPr/>
          <p:nvPr/>
        </p:nvSpPr>
        <p:spPr>
          <a:xfrm>
            <a:off x="3803374" y="5853850"/>
            <a:ext cx="1868556" cy="440933"/>
          </a:xfrm>
          <a:custGeom>
            <a:avLst/>
            <a:gdLst>
              <a:gd name="connsiteX0" fmla="*/ 0 w 1868556"/>
              <a:gd name="connsiteY0" fmla="*/ 440933 h 440933"/>
              <a:gd name="connsiteX1" fmla="*/ 715617 w 1868556"/>
              <a:gd name="connsiteY1" fmla="*/ 56620 h 440933"/>
              <a:gd name="connsiteX2" fmla="*/ 1563756 w 1868556"/>
              <a:gd name="connsiteY2" fmla="*/ 16863 h 440933"/>
              <a:gd name="connsiteX3" fmla="*/ 1868556 w 1868556"/>
              <a:gd name="connsiteY3" fmla="*/ 202393 h 44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68556" h="440933">
                <a:moveTo>
                  <a:pt x="0" y="440933"/>
                </a:moveTo>
                <a:cubicBezTo>
                  <a:pt x="227495" y="284115"/>
                  <a:pt x="454991" y="127298"/>
                  <a:pt x="715617" y="56620"/>
                </a:cubicBezTo>
                <a:cubicBezTo>
                  <a:pt x="976243" y="-14058"/>
                  <a:pt x="1371600" y="-7432"/>
                  <a:pt x="1563756" y="16863"/>
                </a:cubicBezTo>
                <a:cubicBezTo>
                  <a:pt x="1755912" y="41158"/>
                  <a:pt x="1812234" y="121775"/>
                  <a:pt x="1868556" y="202393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8B76CA-9ED1-61D1-F29F-C17AB773EB8E}"/>
              </a:ext>
            </a:extLst>
          </p:cNvPr>
          <p:cNvSpPr txBox="1"/>
          <p:nvPr/>
        </p:nvSpPr>
        <p:spPr>
          <a:xfrm>
            <a:off x="5756451" y="1790407"/>
            <a:ext cx="55822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Suppose we care about the returns to an 11’th year of education. </a:t>
            </a:r>
          </a:p>
          <a:p>
            <a:pPr algn="ctr"/>
            <a:r>
              <a:rPr lang="en-US" sz="2400" dirty="0">
                <a:solidFill>
                  <a:schemeClr val="accent6"/>
                </a:solidFill>
              </a:rPr>
              <a:t> These types are the “11-year compliers”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686EB1-0099-0A86-31E9-6BA4A2780F4B}"/>
              </a:ext>
            </a:extLst>
          </p:cNvPr>
          <p:cNvSpPr/>
          <p:nvPr/>
        </p:nvSpPr>
        <p:spPr>
          <a:xfrm>
            <a:off x="5387672" y="3926078"/>
            <a:ext cx="1993972" cy="2920718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4A3F9A7-95BD-8D10-5E29-71C1B264BA45}"/>
              </a:ext>
            </a:extLst>
          </p:cNvPr>
          <p:cNvSpPr/>
          <p:nvPr/>
        </p:nvSpPr>
        <p:spPr>
          <a:xfrm>
            <a:off x="8359049" y="3917424"/>
            <a:ext cx="1122803" cy="2920718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5EAE4D-17AE-0A4F-9756-9F03D8496842}"/>
              </a:ext>
            </a:extLst>
          </p:cNvPr>
          <p:cNvCxnSpPr>
            <a:cxnSpLocks/>
          </p:cNvCxnSpPr>
          <p:nvPr/>
        </p:nvCxnSpPr>
        <p:spPr>
          <a:xfrm flipH="1">
            <a:off x="6769111" y="2957925"/>
            <a:ext cx="1097227" cy="90934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F59636-89B0-256F-846C-C6CF67FC8DFA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547552" y="2990736"/>
            <a:ext cx="371630" cy="846482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C4E01127-0514-123A-4371-1733AB331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894" y="363856"/>
            <a:ext cx="10515600" cy="1325563"/>
          </a:xfrm>
        </p:spPr>
        <p:txBody>
          <a:bodyPr/>
          <a:lstStyle/>
          <a:p>
            <a:r>
              <a:rPr lang="en-US" dirty="0"/>
              <a:t>Interpretation when X isn’t binary</a:t>
            </a:r>
          </a:p>
        </p:txBody>
      </p:sp>
    </p:spTree>
    <p:extLst>
      <p:ext uri="{BB962C8B-B14F-4D97-AF65-F5344CB8AC3E}">
        <p14:creationId xmlns:p14="http://schemas.microsoft.com/office/powerpoint/2010/main" val="546754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were you born in Q1?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= years of education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  <a:blipFill>
                <a:blip r:embed="rId3"/>
                <a:stretch>
                  <a:fillRect l="-1432"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F4F49B5E-F200-0762-4EBC-3F28CE88D252}"/>
              </a:ext>
            </a:extLst>
          </p:cNvPr>
          <p:cNvSpPr/>
          <p:nvPr/>
        </p:nvSpPr>
        <p:spPr>
          <a:xfrm>
            <a:off x="4280453" y="3429000"/>
            <a:ext cx="7911548" cy="3429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232B8-3B04-05A0-0596-C56A8E3AD5BD}"/>
              </a:ext>
            </a:extLst>
          </p:cNvPr>
          <p:cNvSpPr txBox="1"/>
          <p:nvPr/>
        </p:nvSpPr>
        <p:spPr>
          <a:xfrm>
            <a:off x="4654099" y="354965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Lots of types of people: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D7126-BD29-95EB-85DC-6B229C7CA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533" y="4001294"/>
            <a:ext cx="639199" cy="1000461"/>
          </a:xfrm>
          <a:prstGeom prst="rect">
            <a:avLst/>
          </a:prstGeom>
        </p:spPr>
      </p:pic>
      <p:pic>
        <p:nvPicPr>
          <p:cNvPr id="9" name="Picture 7" descr="Adoptable Rabbits | morabbit">
            <a:extLst>
              <a:ext uri="{FF2B5EF4-FFF2-40B4-BE49-F238E27FC236}">
                <a16:creationId xmlns:a16="http://schemas.microsoft.com/office/drawing/2014/main" id="{B9C01791-C3C6-26A8-0AEB-052CBF012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578684" y="4058905"/>
            <a:ext cx="557011" cy="9506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4FB17D-0A63-1CFE-9246-C1F5B2891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4039" y="4236084"/>
            <a:ext cx="519097" cy="6822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CD2BE63-6219-3374-103E-B8B36B87F92C}"/>
              </a:ext>
            </a:extLst>
          </p:cNvPr>
          <p:cNvSpPr txBox="1"/>
          <p:nvPr/>
        </p:nvSpPr>
        <p:spPr>
          <a:xfrm>
            <a:off x="4734369" y="5349521"/>
            <a:ext cx="6663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8D02E1-1538-3B77-976A-A9992E3D6E22}"/>
              </a:ext>
            </a:extLst>
          </p:cNvPr>
          <p:cNvSpPr txBox="1"/>
          <p:nvPr/>
        </p:nvSpPr>
        <p:spPr>
          <a:xfrm>
            <a:off x="4507928" y="6147700"/>
            <a:ext cx="1119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Q2,3,4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A45A564-BDD7-3890-C0F2-C8FE8B55FE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5581" y="4101623"/>
            <a:ext cx="670154" cy="84378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E238320-6B2D-29FD-48E0-7E762B7AB9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6819" y="4251748"/>
            <a:ext cx="766351" cy="681203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369973D-65D1-D192-6807-C01D76036F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6085" y="4116325"/>
            <a:ext cx="597865" cy="83580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FC0D28E-2CC2-81AD-2CA0-9590D1B3CA28}"/>
              </a:ext>
            </a:extLst>
          </p:cNvPr>
          <p:cNvSpPr txBox="1"/>
          <p:nvPr/>
        </p:nvSpPr>
        <p:spPr>
          <a:xfrm>
            <a:off x="11353800" y="4251748"/>
            <a:ext cx="779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B01EC9-5289-A2BC-501E-05B4902A6A2A}"/>
              </a:ext>
            </a:extLst>
          </p:cNvPr>
          <p:cNvSpPr txBox="1"/>
          <p:nvPr/>
        </p:nvSpPr>
        <p:spPr>
          <a:xfrm>
            <a:off x="551799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BC299-A555-FDB8-7E86-16C1911D95E5}"/>
              </a:ext>
            </a:extLst>
          </p:cNvPr>
          <p:cNvSpPr txBox="1"/>
          <p:nvPr/>
        </p:nvSpPr>
        <p:spPr>
          <a:xfrm>
            <a:off x="5513593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11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3D2D7-E657-F914-748A-FA3104B3EC45}"/>
              </a:ext>
            </a:extLst>
          </p:cNvPr>
          <p:cNvSpPr txBox="1"/>
          <p:nvPr/>
        </p:nvSpPr>
        <p:spPr>
          <a:xfrm>
            <a:off x="653532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182382-FCF4-E883-5FDD-1070A3F09837}"/>
              </a:ext>
            </a:extLst>
          </p:cNvPr>
          <p:cNvSpPr txBox="1"/>
          <p:nvPr/>
        </p:nvSpPr>
        <p:spPr>
          <a:xfrm>
            <a:off x="6493975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F94C9C-9291-77B9-5AD6-6AC8FF140621}"/>
              </a:ext>
            </a:extLst>
          </p:cNvPr>
          <p:cNvSpPr txBox="1"/>
          <p:nvPr/>
        </p:nvSpPr>
        <p:spPr>
          <a:xfrm>
            <a:off x="752714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0A35EE-4621-153B-AE27-0B70A658E453}"/>
              </a:ext>
            </a:extLst>
          </p:cNvPr>
          <p:cNvSpPr txBox="1"/>
          <p:nvPr/>
        </p:nvSpPr>
        <p:spPr>
          <a:xfrm>
            <a:off x="7546819" y="594100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C76F4E-37F2-2CCC-96F3-7C0DE7BC728D}"/>
              </a:ext>
            </a:extLst>
          </p:cNvPr>
          <p:cNvSpPr txBox="1"/>
          <p:nvPr/>
        </p:nvSpPr>
        <p:spPr>
          <a:xfrm>
            <a:off x="8579987" y="5127791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D3E0CA-6F71-BDB6-B237-88CCFF4B61F8}"/>
              </a:ext>
            </a:extLst>
          </p:cNvPr>
          <p:cNvSpPr txBox="1"/>
          <p:nvPr/>
        </p:nvSpPr>
        <p:spPr>
          <a:xfrm>
            <a:off x="8599663" y="5925298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515ECC-843C-DCB2-6EFC-4067C53F7D48}"/>
              </a:ext>
            </a:extLst>
          </p:cNvPr>
          <p:cNvSpPr txBox="1"/>
          <p:nvPr/>
        </p:nvSpPr>
        <p:spPr>
          <a:xfrm>
            <a:off x="9656085" y="5126422"/>
            <a:ext cx="700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7D4C2C-EB84-359B-215E-C8A86A2E071D}"/>
              </a:ext>
            </a:extLst>
          </p:cNvPr>
          <p:cNvSpPr txBox="1"/>
          <p:nvPr/>
        </p:nvSpPr>
        <p:spPr>
          <a:xfrm>
            <a:off x="9656085" y="591229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D287A-1274-7DB3-D11E-D75633DC32A0}"/>
              </a:ext>
            </a:extLst>
          </p:cNvPr>
          <p:cNvSpPr txBox="1"/>
          <p:nvPr/>
        </p:nvSpPr>
        <p:spPr>
          <a:xfrm>
            <a:off x="1067440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19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382D02-69EA-04FD-3B12-7F47F0B47263}"/>
              </a:ext>
            </a:extLst>
          </p:cNvPr>
          <p:cNvSpPr txBox="1"/>
          <p:nvPr/>
        </p:nvSpPr>
        <p:spPr>
          <a:xfrm>
            <a:off x="10671512" y="5897676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20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8B76CA-9ED1-61D1-F29F-C17AB773EB8E}"/>
              </a:ext>
            </a:extLst>
          </p:cNvPr>
          <p:cNvSpPr txBox="1"/>
          <p:nvPr/>
        </p:nvSpPr>
        <p:spPr>
          <a:xfrm>
            <a:off x="5756451" y="1790407"/>
            <a:ext cx="55822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Suppose we care about the returns to an 11’th year of education. </a:t>
            </a:r>
          </a:p>
          <a:p>
            <a:pPr algn="ctr"/>
            <a:r>
              <a:rPr lang="en-US" sz="2400" dirty="0">
                <a:solidFill>
                  <a:schemeClr val="accent6"/>
                </a:solidFill>
              </a:rPr>
              <a:t> These types are the “11-year compliers”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686EB1-0099-0A86-31E9-6BA4A2780F4B}"/>
              </a:ext>
            </a:extLst>
          </p:cNvPr>
          <p:cNvSpPr/>
          <p:nvPr/>
        </p:nvSpPr>
        <p:spPr>
          <a:xfrm>
            <a:off x="5387672" y="3926078"/>
            <a:ext cx="1993972" cy="2920718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4A3F9A7-95BD-8D10-5E29-71C1B264BA45}"/>
              </a:ext>
            </a:extLst>
          </p:cNvPr>
          <p:cNvSpPr/>
          <p:nvPr/>
        </p:nvSpPr>
        <p:spPr>
          <a:xfrm>
            <a:off x="8359049" y="3917424"/>
            <a:ext cx="1122803" cy="2920718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5EAE4D-17AE-0A4F-9756-9F03D8496842}"/>
              </a:ext>
            </a:extLst>
          </p:cNvPr>
          <p:cNvCxnSpPr>
            <a:cxnSpLocks/>
          </p:cNvCxnSpPr>
          <p:nvPr/>
        </p:nvCxnSpPr>
        <p:spPr>
          <a:xfrm flipH="1">
            <a:off x="6769111" y="2957925"/>
            <a:ext cx="1097227" cy="90934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F59636-89B0-256F-846C-C6CF67FC8DFA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547552" y="2990736"/>
            <a:ext cx="371630" cy="846482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8C2A49-686D-298A-024E-6D7969012262}"/>
                  </a:ext>
                </a:extLst>
              </p:cNvPr>
              <p:cNvSpPr txBox="1"/>
              <p:nvPr/>
            </p:nvSpPr>
            <p:spPr>
              <a:xfrm>
                <a:off x="559074" y="3350657"/>
                <a:ext cx="360164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ATE among the “11-year compliers”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8C2A49-686D-298A-024E-6D7969012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074" y="3350657"/>
                <a:ext cx="3601645" cy="830997"/>
              </a:xfrm>
              <a:prstGeom prst="rect">
                <a:avLst/>
              </a:prstGeom>
              <a:blipFill>
                <a:blip r:embed="rId10"/>
                <a:stretch>
                  <a:fillRect l="-2465" t="-6061" r="-246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itle 1">
            <a:extLst>
              <a:ext uri="{FF2B5EF4-FFF2-40B4-BE49-F238E27FC236}">
                <a16:creationId xmlns:a16="http://schemas.microsoft.com/office/drawing/2014/main" id="{A8BA1A84-E8D5-CF90-DED7-8551640EE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894" y="363856"/>
            <a:ext cx="10515600" cy="1325563"/>
          </a:xfrm>
        </p:spPr>
        <p:txBody>
          <a:bodyPr/>
          <a:lstStyle/>
          <a:p>
            <a:r>
              <a:rPr lang="en-US" dirty="0"/>
              <a:t>Interpretation when X isn’t binary</a:t>
            </a:r>
          </a:p>
        </p:txBody>
      </p:sp>
    </p:spTree>
    <p:extLst>
      <p:ext uri="{BB962C8B-B14F-4D97-AF65-F5344CB8AC3E}">
        <p14:creationId xmlns:p14="http://schemas.microsoft.com/office/powerpoint/2010/main" val="1760016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were you born in Q1?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= years of education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3752D-F447-F443-BCA3-E205937472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506" y="1761547"/>
                <a:ext cx="5297494" cy="1325563"/>
              </a:xfrm>
              <a:blipFill>
                <a:blip r:embed="rId3"/>
                <a:stretch>
                  <a:fillRect l="-1432"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F4F49B5E-F200-0762-4EBC-3F28CE88D252}"/>
              </a:ext>
            </a:extLst>
          </p:cNvPr>
          <p:cNvSpPr/>
          <p:nvPr/>
        </p:nvSpPr>
        <p:spPr>
          <a:xfrm>
            <a:off x="4280453" y="3429000"/>
            <a:ext cx="7911548" cy="3429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232B8-3B04-05A0-0596-C56A8E3AD5BD}"/>
              </a:ext>
            </a:extLst>
          </p:cNvPr>
          <p:cNvSpPr txBox="1"/>
          <p:nvPr/>
        </p:nvSpPr>
        <p:spPr>
          <a:xfrm>
            <a:off x="4654099" y="354965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Lots of types of people: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D7126-BD29-95EB-85DC-6B229C7CA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533" y="4001294"/>
            <a:ext cx="639199" cy="1000461"/>
          </a:xfrm>
          <a:prstGeom prst="rect">
            <a:avLst/>
          </a:prstGeom>
        </p:spPr>
      </p:pic>
      <p:pic>
        <p:nvPicPr>
          <p:cNvPr id="9" name="Picture 7" descr="Adoptable Rabbits | morabbit">
            <a:extLst>
              <a:ext uri="{FF2B5EF4-FFF2-40B4-BE49-F238E27FC236}">
                <a16:creationId xmlns:a16="http://schemas.microsoft.com/office/drawing/2014/main" id="{B9C01791-C3C6-26A8-0AEB-052CBF012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578684" y="4058905"/>
            <a:ext cx="557011" cy="9506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4FB17D-0A63-1CFE-9246-C1F5B2891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4039" y="4236084"/>
            <a:ext cx="519097" cy="6822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CD2BE63-6219-3374-103E-B8B36B87F92C}"/>
              </a:ext>
            </a:extLst>
          </p:cNvPr>
          <p:cNvSpPr txBox="1"/>
          <p:nvPr/>
        </p:nvSpPr>
        <p:spPr>
          <a:xfrm>
            <a:off x="4734369" y="5349521"/>
            <a:ext cx="6663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8D02E1-1538-3B77-976A-A9992E3D6E22}"/>
              </a:ext>
            </a:extLst>
          </p:cNvPr>
          <p:cNvSpPr txBox="1"/>
          <p:nvPr/>
        </p:nvSpPr>
        <p:spPr>
          <a:xfrm>
            <a:off x="4507928" y="6147700"/>
            <a:ext cx="1119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Q2,3,4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A45A564-BDD7-3890-C0F2-C8FE8B55FE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5581" y="4101623"/>
            <a:ext cx="670154" cy="84378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E238320-6B2D-29FD-48E0-7E762B7AB9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6819" y="4251748"/>
            <a:ext cx="766351" cy="681203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369973D-65D1-D192-6807-C01D76036F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6085" y="4116325"/>
            <a:ext cx="597865" cy="83580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FC0D28E-2CC2-81AD-2CA0-9590D1B3CA28}"/>
              </a:ext>
            </a:extLst>
          </p:cNvPr>
          <p:cNvSpPr txBox="1"/>
          <p:nvPr/>
        </p:nvSpPr>
        <p:spPr>
          <a:xfrm>
            <a:off x="11353800" y="4251748"/>
            <a:ext cx="779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B01EC9-5289-A2BC-501E-05B4902A6A2A}"/>
              </a:ext>
            </a:extLst>
          </p:cNvPr>
          <p:cNvSpPr txBox="1"/>
          <p:nvPr/>
        </p:nvSpPr>
        <p:spPr>
          <a:xfrm>
            <a:off x="551799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BC299-A555-FDB8-7E86-16C1911D95E5}"/>
              </a:ext>
            </a:extLst>
          </p:cNvPr>
          <p:cNvSpPr txBox="1"/>
          <p:nvPr/>
        </p:nvSpPr>
        <p:spPr>
          <a:xfrm>
            <a:off x="5513593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11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3D2D7-E657-F914-748A-FA3104B3EC45}"/>
              </a:ext>
            </a:extLst>
          </p:cNvPr>
          <p:cNvSpPr txBox="1"/>
          <p:nvPr/>
        </p:nvSpPr>
        <p:spPr>
          <a:xfrm>
            <a:off x="653532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182382-FCF4-E883-5FDD-1070A3F09837}"/>
              </a:ext>
            </a:extLst>
          </p:cNvPr>
          <p:cNvSpPr txBox="1"/>
          <p:nvPr/>
        </p:nvSpPr>
        <p:spPr>
          <a:xfrm>
            <a:off x="6493975" y="5977084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F94C9C-9291-77B9-5AD6-6AC8FF140621}"/>
              </a:ext>
            </a:extLst>
          </p:cNvPr>
          <p:cNvSpPr txBox="1"/>
          <p:nvPr/>
        </p:nvSpPr>
        <p:spPr>
          <a:xfrm>
            <a:off x="752714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0A35EE-4621-153B-AE27-0B70A658E453}"/>
              </a:ext>
            </a:extLst>
          </p:cNvPr>
          <p:cNvSpPr txBox="1"/>
          <p:nvPr/>
        </p:nvSpPr>
        <p:spPr>
          <a:xfrm>
            <a:off x="7546819" y="594100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15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C76F4E-37F2-2CCC-96F3-7C0DE7BC728D}"/>
              </a:ext>
            </a:extLst>
          </p:cNvPr>
          <p:cNvSpPr txBox="1"/>
          <p:nvPr/>
        </p:nvSpPr>
        <p:spPr>
          <a:xfrm>
            <a:off x="8579987" y="5127791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D3E0CA-6F71-BDB6-B237-88CCFF4B61F8}"/>
              </a:ext>
            </a:extLst>
          </p:cNvPr>
          <p:cNvSpPr txBox="1"/>
          <p:nvPr/>
        </p:nvSpPr>
        <p:spPr>
          <a:xfrm>
            <a:off x="8599663" y="5925298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515ECC-843C-DCB2-6EFC-4067C53F7D48}"/>
              </a:ext>
            </a:extLst>
          </p:cNvPr>
          <p:cNvSpPr txBox="1"/>
          <p:nvPr/>
        </p:nvSpPr>
        <p:spPr>
          <a:xfrm>
            <a:off x="9656085" y="5126422"/>
            <a:ext cx="700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7D4C2C-EB84-359B-215E-C8A86A2E071D}"/>
              </a:ext>
            </a:extLst>
          </p:cNvPr>
          <p:cNvSpPr txBox="1"/>
          <p:nvPr/>
        </p:nvSpPr>
        <p:spPr>
          <a:xfrm>
            <a:off x="9656085" y="5912297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12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D287A-1274-7DB3-D11E-D75633DC32A0}"/>
              </a:ext>
            </a:extLst>
          </p:cNvPr>
          <p:cNvSpPr txBox="1"/>
          <p:nvPr/>
        </p:nvSpPr>
        <p:spPr>
          <a:xfrm>
            <a:off x="10674403" y="5143500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19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382D02-69EA-04FD-3B12-7F47F0B47263}"/>
              </a:ext>
            </a:extLst>
          </p:cNvPr>
          <p:cNvSpPr txBox="1"/>
          <p:nvPr/>
        </p:nvSpPr>
        <p:spPr>
          <a:xfrm>
            <a:off x="10671512" y="5897676"/>
            <a:ext cx="678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20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8B76CA-9ED1-61D1-F29F-C17AB773EB8E}"/>
              </a:ext>
            </a:extLst>
          </p:cNvPr>
          <p:cNvSpPr txBox="1"/>
          <p:nvPr/>
        </p:nvSpPr>
        <p:spPr>
          <a:xfrm>
            <a:off x="5756451" y="1790407"/>
            <a:ext cx="55822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Suppose we care about the returns to an 11’th year of education. </a:t>
            </a:r>
          </a:p>
          <a:p>
            <a:pPr algn="ctr"/>
            <a:r>
              <a:rPr lang="en-US" sz="2400" dirty="0">
                <a:solidFill>
                  <a:schemeClr val="accent6"/>
                </a:solidFill>
              </a:rPr>
              <a:t> These types are the “11-year compliers”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686EB1-0099-0A86-31E9-6BA4A2780F4B}"/>
              </a:ext>
            </a:extLst>
          </p:cNvPr>
          <p:cNvSpPr/>
          <p:nvPr/>
        </p:nvSpPr>
        <p:spPr>
          <a:xfrm>
            <a:off x="5387672" y="3926078"/>
            <a:ext cx="1993972" cy="2920718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4A3F9A7-95BD-8D10-5E29-71C1B264BA45}"/>
              </a:ext>
            </a:extLst>
          </p:cNvPr>
          <p:cNvSpPr/>
          <p:nvPr/>
        </p:nvSpPr>
        <p:spPr>
          <a:xfrm>
            <a:off x="8359049" y="3917424"/>
            <a:ext cx="1122803" cy="2920718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5EAE4D-17AE-0A4F-9756-9F03D8496842}"/>
              </a:ext>
            </a:extLst>
          </p:cNvPr>
          <p:cNvCxnSpPr>
            <a:cxnSpLocks/>
          </p:cNvCxnSpPr>
          <p:nvPr/>
        </p:nvCxnSpPr>
        <p:spPr>
          <a:xfrm flipH="1">
            <a:off x="6769111" y="2957925"/>
            <a:ext cx="1097227" cy="90934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F59636-89B0-256F-846C-C6CF67FC8DFA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547552" y="2990736"/>
            <a:ext cx="371630" cy="846482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8C2A49-686D-298A-024E-6D7969012262}"/>
                  </a:ext>
                </a:extLst>
              </p:cNvPr>
              <p:cNvSpPr txBox="1"/>
              <p:nvPr/>
            </p:nvSpPr>
            <p:spPr>
              <a:xfrm>
                <a:off x="559074" y="3350657"/>
                <a:ext cx="360164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ATE among the “11-year compliers”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8C2A49-686D-298A-024E-6D7969012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074" y="3350657"/>
                <a:ext cx="3601645" cy="830997"/>
              </a:xfrm>
              <a:prstGeom prst="rect">
                <a:avLst/>
              </a:prstGeom>
              <a:blipFill>
                <a:blip r:embed="rId10"/>
                <a:stretch>
                  <a:fillRect l="-2465" t="-6061" r="-246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FE81FE-469C-50FC-D84F-7F430F8B1635}"/>
                  </a:ext>
                </a:extLst>
              </p:cNvPr>
              <p:cNvSpPr txBox="1"/>
              <p:nvPr/>
            </p:nvSpPr>
            <p:spPr>
              <a:xfrm>
                <a:off x="716742" y="4175039"/>
                <a:ext cx="3361597" cy="2549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1"/>
                    </a:solidFill>
                  </a:rPr>
                  <a:t>Interpretation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𝝀</m:t>
                        </m:r>
                      </m:e>
                    </m:acc>
                    <m:r>
                      <a:rPr lang="en-US" sz="2400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𝝋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accent1"/>
                    </a:solidFill>
                  </a:rPr>
                  <a:t>Given </a:t>
                </a:r>
                <a:r>
                  <a:rPr lang="en-US" sz="2400" dirty="0" err="1">
                    <a:solidFill>
                      <a:schemeClr val="accent1"/>
                    </a:solidFill>
                  </a:rPr>
                  <a:t>assms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*,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is a weighted average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accent1"/>
                    </a:solidFill>
                  </a:rPr>
                  <a:t>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for x=10,11,…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accent1"/>
                    </a:solidFill>
                  </a:rPr>
                  <a:t>“Average Causal Response” (ACR)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FE81FE-469C-50FC-D84F-7F430F8B1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742" y="4175039"/>
                <a:ext cx="3361597" cy="2549096"/>
              </a:xfrm>
              <a:prstGeom prst="rect">
                <a:avLst/>
              </a:prstGeom>
              <a:blipFill>
                <a:blip r:embed="rId11"/>
                <a:stretch>
                  <a:fillRect l="-3008" t="-495" b="-4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5C7347A-EA5E-45F9-FD2B-01AC9B8D38AA}"/>
              </a:ext>
            </a:extLst>
          </p:cNvPr>
          <p:cNvSpPr txBox="1"/>
          <p:nvPr/>
        </p:nvSpPr>
        <p:spPr>
          <a:xfrm>
            <a:off x="9258378" y="144387"/>
            <a:ext cx="3241964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*Assumptions: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Independence +  Exclusion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Monotonicity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768D44A0-4594-4F20-F1CB-6A91D6AB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894" y="363856"/>
            <a:ext cx="10515600" cy="1325563"/>
          </a:xfrm>
        </p:spPr>
        <p:txBody>
          <a:bodyPr/>
          <a:lstStyle/>
          <a:p>
            <a:r>
              <a:rPr lang="en-US" dirty="0"/>
              <a:t>Interpretation when X isn’t binary</a:t>
            </a:r>
          </a:p>
        </p:txBody>
      </p:sp>
    </p:spTree>
    <p:extLst>
      <p:ext uri="{BB962C8B-B14F-4D97-AF65-F5344CB8AC3E}">
        <p14:creationId xmlns:p14="http://schemas.microsoft.com/office/powerpoint/2010/main" val="985040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E2BE2-955A-7D40-0A6F-D388082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things get more complicated?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What if D and Z aren’t binary anymore?</a:t>
                </a:r>
                <a:r>
                  <a:rPr lang="en-US" dirty="0">
                    <a:solidFill>
                      <a:schemeClr val="accent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E.g.: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Z = quarter of birth (4 values)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X = years of education (many values)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What if there are other covariates that we might want to condition on?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Age, Region of birth, …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What if we have multiple instruments?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Instead of Z taking multiple values, we could have dummy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each quarter.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  <a:blipFill>
                <a:blip r:embed="rId3"/>
                <a:stretch>
                  <a:fillRect l="-994" t="-2168" b="-1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B21B985-F5B6-142C-A8D4-E2A43AD69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395" y="1493559"/>
            <a:ext cx="2146301" cy="2146301"/>
          </a:xfrm>
          <a:prstGeom prst="rect">
            <a:avLst/>
          </a:prstGeom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BAF02524-3CE9-E337-80F2-25D8FEB99912}"/>
              </a:ext>
            </a:extLst>
          </p:cNvPr>
          <p:cNvSpPr/>
          <p:nvPr/>
        </p:nvSpPr>
        <p:spPr>
          <a:xfrm rot="2024303">
            <a:off x="10105541" y="4427412"/>
            <a:ext cx="1205948" cy="792441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84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4856A-1585-F4EA-9EAA-D849F7F5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89236" cy="1325563"/>
          </a:xfrm>
        </p:spPr>
        <p:txBody>
          <a:bodyPr/>
          <a:lstStyle/>
          <a:p>
            <a:r>
              <a:rPr lang="en-US" dirty="0"/>
              <a:t>What about controlling for other variables?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B4B78-007E-54AA-EA02-8C635421B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6027"/>
            <a:ext cx="10515600" cy="479684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our running example… </a:t>
            </a:r>
          </a:p>
          <a:p>
            <a:endParaRPr lang="en-US" sz="1000" dirty="0"/>
          </a:p>
          <a:p>
            <a:r>
              <a:rPr lang="en-US" dirty="0"/>
              <a:t>Maybe we are worried about age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Slightly older people may make slightly more money.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 we may want to control for age (up to the quarter).</a:t>
            </a:r>
          </a:p>
          <a:p>
            <a:pPr lvl="1"/>
            <a:endParaRPr lang="en-US" sz="1100" dirty="0">
              <a:solidFill>
                <a:schemeClr val="accent1"/>
              </a:solidFill>
            </a:endParaRPr>
          </a:p>
          <a:p>
            <a:r>
              <a:rPr lang="en-US" dirty="0"/>
              <a:t>Maybe we are worried about state of birth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Different states have slightly different compulsory schooling rules, and different populations.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 we may want to control for state of birth.</a:t>
            </a:r>
          </a:p>
          <a:p>
            <a:endParaRPr lang="en-US" dirty="0"/>
          </a:p>
          <a:p>
            <a:r>
              <a:rPr lang="en-US" dirty="0"/>
              <a:t>We can also throw in more observables, just in case!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E.g., we can control for race, marital status, do you live in a city,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904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414CA7E-0EB5-6240-325D-7DD1C9ABC9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Controlling for other variables</a:t>
                </a:r>
                <a:br>
                  <a:rPr lang="en-US" dirty="0"/>
                </a:br>
                <a:r>
                  <a:rPr lang="en-US" sz="2800" dirty="0"/>
                  <a:t>Say,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= age, state of birth, race, …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414CA7E-0EB5-6240-325D-7DD1C9ABC9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413" t="-4762" b="-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52E0A-11D9-5A46-634E-46850EE622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can </a:t>
                </a:r>
                <a:r>
                  <a:rPr lang="en-US" b="1" dirty="0"/>
                  <a:t>still</a:t>
                </a:r>
                <a:r>
                  <a:rPr lang="en-US" dirty="0"/>
                  <a:t> estimate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Y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>
                    <a:solidFill>
                      <a:schemeClr val="accent1"/>
                    </a:solidFill>
                  </a:rPr>
                  <a:t>Idea: </a:t>
                </a:r>
                <a:r>
                  <a:rPr lang="en-US" dirty="0">
                    <a:solidFill>
                      <a:schemeClr val="accent1"/>
                    </a:solidFill>
                  </a:rPr>
                  <a:t>Run some regressions…with more variables!</a:t>
                </a:r>
              </a:p>
              <a:p>
                <a:endParaRPr lang="en-US" dirty="0"/>
              </a:p>
              <a:p>
                <a:r>
                  <a:rPr lang="en-US" dirty="0"/>
                  <a:t>Bottom (first stage):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r>
                  <a:rPr lang="en-US" dirty="0"/>
                  <a:t>Top (reduced form):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Run regressions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ac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acc>
                  </m:oMath>
                </a14:m>
                <a:r>
                  <a:rPr lang="en-US" dirty="0"/>
                  <a:t> and return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acc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52E0A-11D9-5A46-634E-46850EE622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8736C5A4-BDC4-8FBE-12E7-71849BCF0C7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75383" y="5649118"/>
                <a:ext cx="7086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rgbClr val="8C1515"/>
                    </a:solidFill>
                    <a:latin typeface="Arial" panose="020B0604020202020204" pitchFamily="34" charset="0"/>
                    <a:ea typeface="+mj-ea"/>
                    <a:cs typeface="Arial" panose="020B0604020202020204" pitchFamily="34" charset="0"/>
                  </a:defRPr>
                </a:lvl1pPr>
              </a:lstStyle>
              <a:p>
                <a:r>
                  <a:rPr lang="en-US" sz="3600" dirty="0"/>
                  <a:t>But how do we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sz="3600" dirty="0"/>
                  <a:t>?</a:t>
                </a:r>
              </a:p>
            </p:txBody>
          </p:sp>
        </mc:Choice>
        <mc:Fallback xmlns="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8736C5A4-BDC4-8FBE-12E7-71849BCF0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5383" y="5649118"/>
                <a:ext cx="7086600" cy="1325563"/>
              </a:xfrm>
              <a:prstGeom prst="rect">
                <a:avLst/>
              </a:prstGeom>
              <a:blipFill>
                <a:blip r:embed="rId5"/>
                <a:stretch>
                  <a:fillRect l="-2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5789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1458-185D-828C-7182-6FF26BFB3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Carefully!</a:t>
                </a:r>
              </a:p>
              <a:p>
                <a:endParaRPr lang="en-US" sz="1000" dirty="0"/>
              </a:p>
              <a:p>
                <a:r>
                  <a:rPr lang="en-US" dirty="0"/>
                  <a:t>It turns out that when the covariates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are “sufficiently rich,” then we can interpret as before.</a:t>
                </a:r>
              </a:p>
              <a:p>
                <a:endParaRPr lang="en-US" sz="1100" dirty="0"/>
              </a:p>
              <a:p>
                <a:r>
                  <a:rPr lang="en-US" dirty="0"/>
                  <a:t>Examples that are “sufficiently rich”: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is independent of the covariates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E.g.,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a lottery.</a:t>
                </a:r>
              </a:p>
              <a:p>
                <a:pPr lvl="1"/>
                <a:r>
                  <a:rPr lang="en-US" dirty="0"/>
                  <a:t>When the covariates are super flexible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E.g., if instead of including “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=Age”, you include “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Age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” for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1458-185D-828C-7182-6FF26BFB3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1FC80845-86E6-F36F-9E92-99623648078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do we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dirty="0"/>
                  <a:t> ?</a:t>
                </a:r>
                <a:br>
                  <a:rPr lang="en-US" dirty="0"/>
                </a:br>
                <a:r>
                  <a:rPr lang="en-US" sz="2700" dirty="0"/>
                  <a:t>when we throw in covariates?</a:t>
                </a:r>
                <a:endParaRPr lang="en-US" dirty="0"/>
              </a:p>
            </p:txBody>
          </p:sp>
        </mc:Choice>
        <mc:Fallback xmlns="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1FC80845-86E6-F36F-9E92-9962364807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171" t="-6667" b="-10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5160A5E1-3C81-E251-94C9-CAA2E0A63982}"/>
              </a:ext>
            </a:extLst>
          </p:cNvPr>
          <p:cNvGrpSpPr/>
          <p:nvPr/>
        </p:nvGrpSpPr>
        <p:grpSpPr>
          <a:xfrm>
            <a:off x="9108720" y="184391"/>
            <a:ext cx="2881376" cy="3244609"/>
            <a:chOff x="9108720" y="184391"/>
            <a:chExt cx="2881376" cy="32446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BCFFDDE-2BC9-5B30-BDC7-F996D3E81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353800" y="2056774"/>
              <a:ext cx="592642" cy="137222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6EBE4FE-F2E5-907A-C19F-F2C42B832931}"/>
                    </a:ext>
                  </a:extLst>
                </p:cNvPr>
                <p:cNvSpPr txBox="1"/>
                <p:nvPr/>
              </p:nvSpPr>
              <p:spPr>
                <a:xfrm>
                  <a:off x="9108720" y="184391"/>
                  <a:ext cx="2881376" cy="193899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US" sz="2000" dirty="0">
                      <a:solidFill>
                        <a:srgbClr val="0070C0"/>
                      </a:solidFill>
                    </a:rPr>
                    <a:t>Intuitively, “sufficiently rich” means that the expectation of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a14:m>
                  <a:r>
                    <a:rPr lang="en-US" sz="2000" dirty="0">
                      <a:solidFill>
                        <a:srgbClr val="0070C0"/>
                      </a:solidFill>
                    </a:rPr>
                    <a:t> given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a14:m>
                  <a:r>
                    <a:rPr lang="en-US" sz="2000" dirty="0">
                      <a:solidFill>
                        <a:srgbClr val="0070C0"/>
                      </a:solidFill>
                    </a:rPr>
                    <a:t> is the same as what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a14:m>
                  <a:r>
                    <a:rPr lang="en-US" sz="2000" dirty="0">
                      <a:solidFill>
                        <a:srgbClr val="0070C0"/>
                      </a:solidFill>
                    </a:rPr>
                    <a:t> would “predict”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a14:m>
                  <a:r>
                    <a:rPr lang="en-US" sz="2000" dirty="0">
                      <a:solidFill>
                        <a:srgbClr val="0070C0"/>
                      </a:solidFill>
                    </a:rPr>
                    <a:t> to be in a linear model.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6EBE4FE-F2E5-907A-C19F-F2C42B832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8720" y="184391"/>
                  <a:ext cx="2881376" cy="1938992"/>
                </a:xfrm>
                <a:prstGeom prst="rect">
                  <a:avLst/>
                </a:prstGeom>
                <a:blipFill>
                  <a:blip r:embed="rId6"/>
                  <a:stretch>
                    <a:fillRect l="-2193" t="-1299" r="-3947" b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814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02506-3F66-BC85-84AE-E5A623EA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way to do it: 2SLS</a:t>
            </a:r>
            <a:br>
              <a:rPr lang="en-US" dirty="0"/>
            </a:br>
            <a:r>
              <a:rPr lang="en-US" sz="2800" dirty="0"/>
              <a:t>Two-Stage Least Squares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CCE15-FDD5-A22F-12DE-2CB2B6AD9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353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First stage: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Second stage: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</m:e>
                    </m:ac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Given data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=1,2,…,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accent1"/>
                    </a:solidFill>
                  </a:rPr>
                  <a:t>Run the first stage regression 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accent1"/>
                    </a:solidFill>
                  </a:rPr>
                  <a:t>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acc>
                    <m:sSub>
                      <m:sSub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sSub>
                      <m:sSub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accent1"/>
                    </a:solidFill>
                  </a:rPr>
                  <a:t>Run the second stage regression 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accent1"/>
                    </a:solidFill>
                  </a:rPr>
                  <a:t>Return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It turns out this is </a:t>
                </a:r>
                <a:r>
                  <a:rPr lang="en-US" i="1" dirty="0"/>
                  <a:t>equivalent</a:t>
                </a:r>
                <a:r>
                  <a:rPr lang="en-US" dirty="0"/>
                  <a:t> to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num>
                      <m:den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dirty="0"/>
                  <a:t> approach from before.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CCE15-FDD5-A22F-12DE-2CB2B6AD9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35393"/>
              </a:xfrm>
              <a:blipFill>
                <a:blip r:embed="rId3"/>
                <a:stretch>
                  <a:fillRect l="-1086" t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1073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E2BE2-955A-7D40-0A6F-D388082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things get more complicated?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What if D and Z aren’t binary anymore?</a:t>
                </a:r>
                <a:r>
                  <a:rPr lang="en-US" dirty="0">
                    <a:solidFill>
                      <a:schemeClr val="accent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E.g.: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Z = quarter of birth (4 values)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X = years of education (many values)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What if there are other covariates that we might want to condition on?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Age, Region of birth, …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What if we have multiple instruments?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Instead of Z taking multiple values, we could have dummy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each quarter.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  <a:blipFill>
                <a:blip r:embed="rId3"/>
                <a:stretch>
                  <a:fillRect l="-994" t="-2168" b="-1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B21B985-F5B6-142C-A8D4-E2A43AD69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865" y="1690688"/>
            <a:ext cx="1742661" cy="1742661"/>
          </a:xfrm>
          <a:prstGeom prst="rect">
            <a:avLst/>
          </a:prstGeom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BAF02524-3CE9-E337-80F2-25D8FEB99912}"/>
              </a:ext>
            </a:extLst>
          </p:cNvPr>
          <p:cNvSpPr/>
          <p:nvPr/>
        </p:nvSpPr>
        <p:spPr>
          <a:xfrm rot="20089388">
            <a:off x="6962220" y="4771091"/>
            <a:ext cx="1205948" cy="792441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B2E9A0-2F56-5B16-1F0B-D91E245F4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139" y="3236220"/>
            <a:ext cx="1742661" cy="1742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6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3ADB5-D050-2815-66B9-582625EF2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53401-9064-2296-067C-08C9B641AC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For example, instead of multiple values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quarter of birth,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born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born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endParaRPr lang="en-US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born</m:t>
                    </m:r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in</m:t>
                    </m:r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i="1" dirty="0">
                    <a:solidFill>
                      <a:schemeClr val="tx1"/>
                    </a:solidFill>
                  </a:rPr>
                  <a:t>And, </a:t>
                </a:r>
                <a:r>
                  <a:rPr lang="en-US" dirty="0">
                    <a:solidFill>
                      <a:schemeClr val="tx1"/>
                    </a:solidFill>
                  </a:rPr>
                  <a:t>instruments like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YOB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YOB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born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in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year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</a:rPr>
                  <a:t>(This is actually how it </a:t>
                </a:r>
                <a:r>
                  <a:rPr lang="en-US" sz="2000" dirty="0"/>
                  <a:t>was</a:t>
                </a:r>
                <a:r>
                  <a:rPr lang="en-US" sz="2000" dirty="0">
                    <a:solidFill>
                      <a:schemeClr val="tx1"/>
                    </a:solidFill>
                  </a:rPr>
                  <a:t> done in the Angrist + Krueger paper)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53401-9064-2296-067C-08C9B641AC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93406A0-2AA0-82F3-5071-620F571D3EF7}"/>
              </a:ext>
            </a:extLst>
          </p:cNvPr>
          <p:cNvGrpSpPr/>
          <p:nvPr/>
        </p:nvGrpSpPr>
        <p:grpSpPr>
          <a:xfrm>
            <a:off x="6325101" y="74548"/>
            <a:ext cx="5122260" cy="1670934"/>
            <a:chOff x="6325101" y="74548"/>
            <a:chExt cx="5122260" cy="1670934"/>
          </a:xfrm>
        </p:grpSpPr>
        <p:pic>
          <p:nvPicPr>
            <p:cNvPr id="1026" name="Picture 2" descr="Classical guitars hand made in Spain">
              <a:extLst>
                <a:ext uri="{FF2B5EF4-FFF2-40B4-BE49-F238E27FC236}">
                  <a16:creationId xmlns:a16="http://schemas.microsoft.com/office/drawing/2014/main" id="{AB5EA639-3E20-FE1D-E7DA-75B3C86F38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631259">
              <a:off x="9894541" y="74548"/>
              <a:ext cx="1552820" cy="1552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318F5F64-C486-6D58-FDFB-499D764A63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25101" y="156734"/>
              <a:ext cx="1533954" cy="1533954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Selmer Paris Reference 54 Alto Saxophone - Dark Gold Finish – SAX">
              <a:extLst>
                <a:ext uri="{FF2B5EF4-FFF2-40B4-BE49-F238E27FC236}">
                  <a16:creationId xmlns:a16="http://schemas.microsoft.com/office/drawing/2014/main" id="{3039E60E-94D3-B986-CBD8-BD3102B401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57032" flipH="1">
              <a:off x="7441421" y="312765"/>
              <a:ext cx="1109885" cy="143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DRUM KITS | TAMA Drums">
              <a:extLst>
                <a:ext uri="{FF2B5EF4-FFF2-40B4-BE49-F238E27FC236}">
                  <a16:creationId xmlns:a16="http://schemas.microsoft.com/office/drawing/2014/main" id="{5D87CFCB-07BA-1DEE-B59F-DB0CDCAB1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10775" y="156734"/>
              <a:ext cx="2362200" cy="1388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07348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F700-0AFD-0D0F-8BC2-2B31348E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6332CC-DC72-CD52-A77B-F1AF877D53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0719" y="1749733"/>
                <a:ext cx="10515600" cy="500591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We can throw that into 2SLS too!</a:t>
                </a:r>
              </a:p>
              <a:p>
                <a:endParaRPr lang="en-US" dirty="0"/>
              </a:p>
              <a:p>
                <a:r>
                  <a:rPr lang="en-US" dirty="0"/>
                  <a:t>First stage: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YO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1930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noise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Second stage: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</m:e>
                    </m:acc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6332CC-DC72-CD52-A77B-F1AF877D53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0719" y="1749733"/>
                <a:ext cx="10515600" cy="5005917"/>
              </a:xfrm>
              <a:blipFill>
                <a:blip r:embed="rId3"/>
                <a:stretch>
                  <a:fillRect l="-1086" t="-2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F20E0D0F-EB40-4B2A-A705-BF290F4945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60913" y="5892092"/>
                <a:ext cx="5907156" cy="86355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rgbClr val="8C1515"/>
                    </a:solidFill>
                    <a:latin typeface="Arial" panose="020B0604020202020204" pitchFamily="34" charset="0"/>
                    <a:ea typeface="+mj-ea"/>
                    <a:cs typeface="Arial" panose="020B0604020202020204" pitchFamily="34" charset="0"/>
                  </a:defRPr>
                </a:lvl1pPr>
              </a:lstStyle>
              <a:p>
                <a:r>
                  <a:rPr lang="en-US" sz="3200" dirty="0"/>
                  <a:t>But how do we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sz="3200" dirty="0"/>
                  <a:t>?</a:t>
                </a:r>
              </a:p>
            </p:txBody>
          </p:sp>
        </mc:Choice>
        <mc:Fallback xmlns="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F20E0D0F-EB40-4B2A-A705-BF290F494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913" y="5892092"/>
                <a:ext cx="5907156" cy="863558"/>
              </a:xfrm>
              <a:prstGeom prst="rect">
                <a:avLst/>
              </a:prstGeom>
              <a:blipFill>
                <a:blip r:embed="rId4"/>
                <a:stretch>
                  <a:fillRect l="-257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39A2ABC5-6966-1272-0AAF-7354ECAF9F3F}"/>
              </a:ext>
            </a:extLst>
          </p:cNvPr>
          <p:cNvGrpSpPr/>
          <p:nvPr/>
        </p:nvGrpSpPr>
        <p:grpSpPr>
          <a:xfrm>
            <a:off x="2081426" y="2782519"/>
            <a:ext cx="6554083" cy="900327"/>
            <a:chOff x="2081426" y="2782519"/>
            <a:chExt cx="6554083" cy="900327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5BE63FB-7801-9279-C258-D123171796E2}"/>
                </a:ext>
              </a:extLst>
            </p:cNvPr>
            <p:cNvGrpSpPr/>
            <p:nvPr/>
          </p:nvGrpSpPr>
          <p:grpSpPr>
            <a:xfrm>
              <a:off x="2081426" y="2982749"/>
              <a:ext cx="6554083" cy="700097"/>
              <a:chOff x="2081426" y="2982749"/>
              <a:chExt cx="6554083" cy="700097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F8DB764-C264-0D05-A353-52717C4174A8}"/>
                  </a:ext>
                </a:extLst>
              </p:cNvPr>
              <p:cNvSpPr txBox="1"/>
              <p:nvPr/>
            </p:nvSpPr>
            <p:spPr>
              <a:xfrm>
                <a:off x="4086084" y="2982749"/>
                <a:ext cx="23565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So many instruments!</a:t>
                </a:r>
              </a:p>
            </p:txBody>
          </p:sp>
          <p:sp>
            <p:nvSpPr>
              <p:cNvPr id="5" name="Right Brace 4">
                <a:extLst>
                  <a:ext uri="{FF2B5EF4-FFF2-40B4-BE49-F238E27FC236}">
                    <a16:creationId xmlns:a16="http://schemas.microsoft.com/office/drawing/2014/main" id="{1105E422-9E1C-4C1B-38DA-798D36F5AC1C}"/>
                  </a:ext>
                </a:extLst>
              </p:cNvPr>
              <p:cNvSpPr/>
              <p:nvPr/>
            </p:nvSpPr>
            <p:spPr>
              <a:xfrm rot="16200000">
                <a:off x="5173803" y="221139"/>
                <a:ext cx="369330" cy="6554083"/>
              </a:xfrm>
              <a:prstGeom prst="rightBrac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0F88F20-DA82-42C2-7185-68017A6E8989}"/>
                </a:ext>
              </a:extLst>
            </p:cNvPr>
            <p:cNvGrpSpPr/>
            <p:nvPr/>
          </p:nvGrpSpPr>
          <p:grpSpPr>
            <a:xfrm>
              <a:off x="6522813" y="2782519"/>
              <a:ext cx="1627773" cy="530996"/>
              <a:chOff x="6325101" y="74548"/>
              <a:chExt cx="5122260" cy="1670934"/>
            </a:xfrm>
          </p:grpSpPr>
          <p:pic>
            <p:nvPicPr>
              <p:cNvPr id="8" name="Picture 2" descr="Classical guitars hand made in Spain">
                <a:extLst>
                  <a:ext uri="{FF2B5EF4-FFF2-40B4-BE49-F238E27FC236}">
                    <a16:creationId xmlns:a16="http://schemas.microsoft.com/office/drawing/2014/main" id="{66676971-6A13-811A-7BD2-537B05163FB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9631259">
                <a:off x="9894541" y="74548"/>
                <a:ext cx="1552820" cy="15528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2" descr="Hounder Black Red Honey Burst with Stiletto Hard Case">
                <a:extLst>
                  <a:ext uri="{FF2B5EF4-FFF2-40B4-BE49-F238E27FC236}">
                    <a16:creationId xmlns:a16="http://schemas.microsoft.com/office/drawing/2014/main" id="{6CB4CF93-D73D-804C-D1E1-928C1E8B9C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25101" y="156734"/>
                <a:ext cx="1533954" cy="1533954"/>
              </a:xfrm>
              <a:prstGeom prst="rect">
                <a:avLst/>
              </a:prstGeom>
              <a:noFill/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Picture 4" descr="Selmer Paris Reference 54 Alto Saxophone - Dark Gold Finish – SAX">
                <a:extLst>
                  <a:ext uri="{FF2B5EF4-FFF2-40B4-BE49-F238E27FC236}">
                    <a16:creationId xmlns:a16="http://schemas.microsoft.com/office/drawing/2014/main" id="{ED1A36CF-E2E2-8A79-FC59-093B62E95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57032" flipH="1">
                <a:off x="7441421" y="312765"/>
                <a:ext cx="1109885" cy="14327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" name="Picture 6" descr="DRUM KITS | TAMA Drums">
                <a:extLst>
                  <a:ext uri="{FF2B5EF4-FFF2-40B4-BE49-F238E27FC236}">
                    <a16:creationId xmlns:a16="http://schemas.microsoft.com/office/drawing/2014/main" id="{CBCAAF7E-B945-BEBA-FAD3-1DB21FDB3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10775" y="156734"/>
                <a:ext cx="2362200" cy="13884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418929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06083-392E-DE22-BDB7-3039EADA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Carefully!</a:t>
                </a:r>
              </a:p>
              <a:p>
                <a:endParaRPr lang="en-US" dirty="0"/>
              </a:p>
              <a:p>
                <a:r>
                  <a:rPr lang="en-US" dirty="0"/>
                  <a:t>It turns out that, under certain assumptions* we can again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dirty="0"/>
                  <a:t> as a weighted average of LATEs, one for each instrument.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So we get an average of the ATE among compliers for </a:t>
                </a:r>
                <a:r>
                  <a:rPr lang="en-US" i="1" dirty="0">
                    <a:solidFill>
                      <a:schemeClr val="accent1"/>
                    </a:solidFill>
                  </a:rPr>
                  <a:t>this</a:t>
                </a:r>
                <a:r>
                  <a:rPr lang="en-US" dirty="0">
                    <a:solidFill>
                      <a:schemeClr val="accent1"/>
                    </a:solidFill>
                  </a:rPr>
                  <a:t> instrument with the ATE among compliers for </a:t>
                </a:r>
                <a:r>
                  <a:rPr lang="en-US" i="1" dirty="0">
                    <a:solidFill>
                      <a:schemeClr val="accent1"/>
                    </a:solidFill>
                  </a:rPr>
                  <a:t>that</a:t>
                </a:r>
                <a:r>
                  <a:rPr lang="en-US" dirty="0">
                    <a:solidFill>
                      <a:schemeClr val="accent1"/>
                    </a:solidFill>
                  </a:rPr>
                  <a:t> instrument, etc.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06083-392E-DE22-BDB7-3039EADA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77756C25-D5BF-97A7-51FE-893380B140D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do we interpret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dirty="0"/>
                  <a:t> ?</a:t>
                </a:r>
                <a:br>
                  <a:rPr lang="en-US" dirty="0"/>
                </a:br>
                <a:r>
                  <a:rPr lang="en-US" sz="2700" dirty="0"/>
                  <a:t>when we have multiple instruments?</a:t>
                </a:r>
                <a:endParaRPr lang="en-US" dirty="0"/>
              </a:p>
            </p:txBody>
          </p:sp>
        </mc:Choice>
        <mc:Fallback xmlns="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77756C25-D5BF-97A7-51FE-893380B140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413" t="-3810" b="-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65E2C0B-9C01-9332-ED87-A15D9DC92F18}"/>
              </a:ext>
            </a:extLst>
          </p:cNvPr>
          <p:cNvSpPr txBox="1"/>
          <p:nvPr/>
        </p:nvSpPr>
        <p:spPr>
          <a:xfrm>
            <a:off x="9220200" y="73799"/>
            <a:ext cx="28346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*All the ones from before; and, e.g. that the instruments satisfy some sort of </a:t>
            </a:r>
            <a:r>
              <a:rPr lang="en-US" sz="1400" dirty="0" err="1">
                <a:solidFill>
                  <a:schemeClr val="accent1"/>
                </a:solidFill>
              </a:rPr>
              <a:t>monotonicty</a:t>
            </a:r>
            <a:r>
              <a:rPr lang="en-US" sz="1400" dirty="0">
                <a:solidFill>
                  <a:schemeClr val="accent1"/>
                </a:solidFill>
              </a:rPr>
              <a:t>, and the covariates are sufficiently rich.</a:t>
            </a:r>
          </a:p>
        </p:txBody>
      </p:sp>
    </p:spTree>
    <p:extLst>
      <p:ext uri="{BB962C8B-B14F-4D97-AF65-F5344CB8AC3E}">
        <p14:creationId xmlns:p14="http://schemas.microsoft.com/office/powerpoint/2010/main" val="527824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2F1FB-02C4-1335-A1F1-5C040076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703"/>
            <a:ext cx="10515600" cy="1325563"/>
          </a:xfrm>
        </p:spPr>
        <p:txBody>
          <a:bodyPr/>
          <a:lstStyle/>
          <a:p>
            <a:r>
              <a:rPr lang="en-US" dirty="0"/>
              <a:t>Interpretation with multiple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F725-1D4C-BEF8-700C-270BCA7B08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4972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We could have used each instrument individually and interpreted it as a LATE (if the assumptions hold).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Doing them all together in a 2SLS will generate a linear combination of these LATEs: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r>
                  <a:rPr lang="en-US" dirty="0"/>
                  <a:t>That’s more interpretable if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’s are non-negative...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F725-1D4C-BEF8-700C-270BCA7B08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4972"/>
                <a:ext cx="10515600" cy="4351338"/>
              </a:xfrm>
              <a:blipFill>
                <a:blip r:embed="rId3"/>
                <a:stretch>
                  <a:fillRect l="-1086" t="-2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DEC272E-66A3-DCC9-2568-590C8BA7DFB7}"/>
                  </a:ext>
                </a:extLst>
              </p:cNvPr>
              <p:cNvSpPr txBox="1"/>
              <p:nvPr/>
            </p:nvSpPr>
            <p:spPr>
              <a:xfrm>
                <a:off x="1794933" y="2433792"/>
                <a:ext cx="925281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For example, say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LAT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is the ATE among compliers for the instrument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born</m:t>
                    </m:r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in</m:t>
                    </m:r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, and so on.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DEC272E-66A3-DCC9-2568-590C8BA7D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4933" y="2433792"/>
                <a:ext cx="9252818" cy="830997"/>
              </a:xfrm>
              <a:prstGeom prst="rect">
                <a:avLst/>
              </a:prstGeom>
              <a:blipFill>
                <a:blip r:embed="rId4"/>
                <a:stretch>
                  <a:fillRect l="-1097" t="-5970" b="-149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EF49F3-2869-1BB6-149E-634E6DFF1F72}"/>
                  </a:ext>
                </a:extLst>
              </p:cNvPr>
              <p:cNvSpPr txBox="1"/>
              <p:nvPr/>
            </p:nvSpPr>
            <p:spPr>
              <a:xfrm>
                <a:off x="1229749" y="4334692"/>
                <a:ext cx="9252818" cy="6115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LAT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32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LAT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32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LAT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32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+⋯</m:t>
                      </m:r>
                    </m:oMath>
                  </m:oMathPara>
                </a14:m>
                <a:endParaRPr lang="en-US" sz="3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EF49F3-2869-1BB6-149E-634E6DFF1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749" y="4334692"/>
                <a:ext cx="9252818" cy="611578"/>
              </a:xfrm>
              <a:prstGeom prst="rect">
                <a:avLst/>
              </a:prstGeom>
              <a:blipFill>
                <a:blip r:embed="rId5"/>
                <a:stretch>
                  <a:fillRect t="-12245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ectangle 47">
            <a:extLst>
              <a:ext uri="{FF2B5EF4-FFF2-40B4-BE49-F238E27FC236}">
                <a16:creationId xmlns:a16="http://schemas.microsoft.com/office/drawing/2014/main" id="{15306EF3-5611-6C70-185C-D8D1B5D16560}"/>
              </a:ext>
            </a:extLst>
          </p:cNvPr>
          <p:cNvSpPr/>
          <p:nvPr/>
        </p:nvSpPr>
        <p:spPr>
          <a:xfrm>
            <a:off x="7338821" y="5608218"/>
            <a:ext cx="4853179" cy="12497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1BE58-C16F-CDC8-9732-A9062F9B68C7}"/>
              </a:ext>
            </a:extLst>
          </p:cNvPr>
          <p:cNvSpPr txBox="1"/>
          <p:nvPr/>
        </p:nvSpPr>
        <p:spPr>
          <a:xfrm>
            <a:off x="2094735" y="5625951"/>
            <a:ext cx="53853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They </a:t>
            </a:r>
            <a:r>
              <a:rPr lang="en-US" sz="2800" i="1" dirty="0">
                <a:solidFill>
                  <a:schemeClr val="accent1"/>
                </a:solidFill>
              </a:rPr>
              <a:t>are</a:t>
            </a:r>
            <a:r>
              <a:rPr lang="en-US" sz="2800" dirty="0">
                <a:solidFill>
                  <a:schemeClr val="accent1"/>
                </a:solidFill>
              </a:rPr>
              <a:t> non-negative under some assumptions…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D52DCBA-5C65-DE3E-7D13-088B600804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3456" y="5443378"/>
            <a:ext cx="583056" cy="135003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CC0397-0EB9-B12C-E037-1C1FEF259114}"/>
              </a:ext>
            </a:extLst>
          </p:cNvPr>
          <p:cNvSpPr txBox="1"/>
          <p:nvPr/>
        </p:nvSpPr>
        <p:spPr>
          <a:xfrm>
            <a:off x="7083677" y="5656728"/>
            <a:ext cx="42701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For example, if the instruments satisfy some sort of monotonicity; and if the covariates are sufficiently rich.</a:t>
            </a:r>
          </a:p>
        </p:txBody>
      </p:sp>
    </p:spTree>
    <p:extLst>
      <p:ext uri="{BB962C8B-B14F-4D97-AF65-F5344CB8AC3E}">
        <p14:creationId xmlns:p14="http://schemas.microsoft.com/office/powerpoint/2010/main" val="32030099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E2BE2-955A-7D40-0A6F-D388082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things get more complicated?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What if D and Z aren’t binary anymore?</a:t>
                </a:r>
                <a:r>
                  <a:rPr lang="en-US" dirty="0">
                    <a:solidFill>
                      <a:schemeClr val="accent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E.g.: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Z = quarter of birth (4 values)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X = years of education (many values)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What if there are other covariates that we might want to condition on?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Age, Region of birth, …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What if we have multiple instruments?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Instead of Z taking multiple values, we could have dummy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each quarter.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DB93EC-E282-8102-7C84-3B63265E1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356" y="1825625"/>
                <a:ext cx="11483715" cy="4667250"/>
              </a:xfrm>
              <a:blipFill>
                <a:blip r:embed="rId3"/>
                <a:stretch>
                  <a:fillRect l="-994" t="-2168" b="-1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B21B985-F5B6-142C-A8D4-E2A43AD69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865" y="1690688"/>
            <a:ext cx="1742661" cy="17426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B2E9A0-2F56-5B16-1F0B-D91E245F4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139" y="3236220"/>
            <a:ext cx="1742661" cy="1742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D92005-017A-F333-77D4-63163231C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652" y="4978881"/>
            <a:ext cx="1742661" cy="1742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7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A9B72-DF3E-67ED-E7B5-422778879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308" y="0"/>
            <a:ext cx="10515600" cy="1325563"/>
          </a:xfrm>
        </p:spPr>
        <p:txBody>
          <a:bodyPr/>
          <a:lstStyle/>
          <a:p>
            <a:r>
              <a:rPr lang="en-US" dirty="0"/>
              <a:t>Summary: When things get complicated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8F369-ADDB-7331-106F-7E0A9C36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717"/>
            <a:ext cx="10515600" cy="5636302"/>
          </a:xfrm>
        </p:spPr>
        <p:txBody>
          <a:bodyPr>
            <a:normAutofit/>
          </a:bodyPr>
          <a:lstStyle/>
          <a:p>
            <a:r>
              <a:rPr lang="en-US" dirty="0"/>
              <a:t>We can do lots of fancy things!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Non-binary Z and X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Covariates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Multiple Instruments</a:t>
            </a:r>
          </a:p>
          <a:p>
            <a:pPr lvl="1"/>
            <a:endParaRPr lang="en-US" dirty="0"/>
          </a:p>
          <a:p>
            <a:r>
              <a:rPr lang="en-US" dirty="0"/>
              <a:t>Mechanically… it’s not too bad!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Use regressions to estimate the first stage and reduced form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Equivalently, throw it all into 2SLS!</a:t>
            </a:r>
          </a:p>
          <a:p>
            <a:pPr lvl="1"/>
            <a:endParaRPr lang="en-US" dirty="0"/>
          </a:p>
          <a:p>
            <a:r>
              <a:rPr lang="en-US" dirty="0"/>
              <a:t>Thoughtfully… things get complicated.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Under some assumptions, you can view the result as a weighted average of LATEs.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assumptions get more complicated with the situation.</a:t>
            </a:r>
          </a:p>
        </p:txBody>
      </p:sp>
    </p:spTree>
    <p:extLst>
      <p:ext uri="{BB962C8B-B14F-4D97-AF65-F5344CB8AC3E}">
        <p14:creationId xmlns:p14="http://schemas.microsoft.com/office/powerpoint/2010/main" val="100169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E7CE9-E881-156D-2A54-938227B37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Angrist and Krueger 1991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B71A4-0ECA-2A00-9889-60CA1992B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closer look</a:t>
            </a:r>
          </a:p>
        </p:txBody>
      </p:sp>
    </p:spTree>
    <p:extLst>
      <p:ext uri="{BB962C8B-B14F-4D97-AF65-F5344CB8AC3E}">
        <p14:creationId xmlns:p14="http://schemas.microsoft.com/office/powerpoint/2010/main" val="38895902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C0B80-1BD9-5DA0-5C0A-5136F4AD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64187" cy="1325563"/>
          </a:xfrm>
        </p:spPr>
        <p:txBody>
          <a:bodyPr/>
          <a:lstStyle/>
          <a:p>
            <a:r>
              <a:rPr lang="en-US" dirty="0"/>
              <a:t>What did you think after reading the intro?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41DCD-07BF-0FE7-C75C-372266AB3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Share your thoughts with your neighbor!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6518C5-45D0-F49A-EB06-AF5849BFF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836" y="2885707"/>
            <a:ext cx="3432815" cy="304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9865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0087-8237-41D0-5904-C1348169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Stage: </a:t>
            </a:r>
            <a:br>
              <a:rPr lang="en-US" dirty="0"/>
            </a:br>
            <a:r>
              <a:rPr lang="en-US" dirty="0"/>
              <a:t>Does Quarter of birth affect education?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8BAD62-F83F-E307-0147-3B0B6CBA8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74" y="1948721"/>
            <a:ext cx="6672967" cy="44370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58238B-7EDA-6840-0BEC-9A87F309544A}"/>
              </a:ext>
            </a:extLst>
          </p:cNvPr>
          <p:cNvSpPr txBox="1"/>
          <p:nvPr/>
        </p:nvSpPr>
        <p:spPr>
          <a:xfrm>
            <a:off x="4407108" y="4631961"/>
            <a:ext cx="22934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These little numbers are quarter of birth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981CE67-376E-4D23-0A87-5487A82B30D8}"/>
              </a:ext>
            </a:extLst>
          </p:cNvPr>
          <p:cNvSpPr/>
          <p:nvPr/>
        </p:nvSpPr>
        <p:spPr>
          <a:xfrm>
            <a:off x="4089899" y="4362138"/>
            <a:ext cx="317209" cy="509665"/>
          </a:xfrm>
          <a:custGeom>
            <a:avLst/>
            <a:gdLst>
              <a:gd name="connsiteX0" fmla="*/ 317209 w 317209"/>
              <a:gd name="connsiteY0" fmla="*/ 509665 h 509665"/>
              <a:gd name="connsiteX1" fmla="*/ 2416 w 317209"/>
              <a:gd name="connsiteY1" fmla="*/ 404734 h 509665"/>
              <a:gd name="connsiteX2" fmla="*/ 197288 w 317209"/>
              <a:gd name="connsiteY2" fmla="*/ 0 h 509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7209" h="509665">
                <a:moveTo>
                  <a:pt x="317209" y="509665"/>
                </a:moveTo>
                <a:cubicBezTo>
                  <a:pt x="169806" y="499671"/>
                  <a:pt x="22403" y="489678"/>
                  <a:pt x="2416" y="404734"/>
                </a:cubicBezTo>
                <a:cubicBezTo>
                  <a:pt x="-17571" y="319790"/>
                  <a:pt x="89858" y="159895"/>
                  <a:pt x="197288" y="0"/>
                </a:cubicBezTo>
              </a:path>
            </a:pathLst>
          </a:custGeom>
          <a:noFill/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CD9BE2-196F-7EB0-3DA4-20530D6A8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97" y="2149519"/>
            <a:ext cx="5141801" cy="2467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96CF8-F473-C324-96F5-704F81A47EAA}"/>
                  </a:ext>
                </a:extLst>
              </p:cNvPr>
              <p:cNvSpPr txBox="1"/>
              <p:nvPr/>
            </p:nvSpPr>
            <p:spPr>
              <a:xfrm>
                <a:off x="7715950" y="5075801"/>
                <a:ext cx="388000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1"/>
                    </a:solidFill>
                  </a:rPr>
                  <a:t>After “de-trending” the data by comparing to the average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±2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years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96CF8-F473-C324-96F5-704F81A47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950" y="5075801"/>
                <a:ext cx="3880008" cy="646331"/>
              </a:xfrm>
              <a:prstGeom prst="rect">
                <a:avLst/>
              </a:prstGeom>
              <a:blipFill>
                <a:blip r:embed="rId5"/>
                <a:stretch>
                  <a:fillRect l="-654" t="-3846" r="-654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11675AC4-D478-447E-806F-39FB753D24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7319" y="4567626"/>
            <a:ext cx="1571581" cy="30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437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0087-8237-41D0-5904-C1348169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Stage: </a:t>
            </a:r>
            <a:br>
              <a:rPr lang="en-US" dirty="0"/>
            </a:br>
            <a:r>
              <a:rPr lang="en-US" dirty="0"/>
              <a:t>Does Quarter of birth affect education?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839D1E-7414-D2AC-4BFC-A74759B32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241" y="1772496"/>
            <a:ext cx="11370009" cy="267806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F15A4DE-09F7-BDB0-4709-2ECEB9AA7966}"/>
              </a:ext>
            </a:extLst>
          </p:cNvPr>
          <p:cNvSpPr/>
          <p:nvPr/>
        </p:nvSpPr>
        <p:spPr>
          <a:xfrm>
            <a:off x="6340839" y="2413416"/>
            <a:ext cx="1394085" cy="211894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C1F561-587F-85D4-8EEC-05D0113D12FA}"/>
              </a:ext>
            </a:extLst>
          </p:cNvPr>
          <p:cNvSpPr txBox="1"/>
          <p:nvPr/>
        </p:nvSpPr>
        <p:spPr>
          <a:xfrm>
            <a:off x="5171605" y="4646950"/>
            <a:ext cx="37325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The coefficient on being born in Q1 is more negative than Q2 or Q3.</a:t>
            </a:r>
          </a:p>
        </p:txBody>
      </p:sp>
    </p:spTree>
    <p:extLst>
      <p:ext uri="{BB962C8B-B14F-4D97-AF65-F5344CB8AC3E}">
        <p14:creationId xmlns:p14="http://schemas.microsoft.com/office/powerpoint/2010/main" val="20400125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0087-8237-41D0-5904-C1348169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Stage: </a:t>
            </a:r>
            <a:br>
              <a:rPr lang="en-US" dirty="0"/>
            </a:br>
            <a:r>
              <a:rPr lang="en-US" dirty="0"/>
              <a:t>Does Quarter of birth affect education?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839D1E-7414-D2AC-4BFC-A74759B32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241" y="1772496"/>
            <a:ext cx="11370009" cy="267806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F15A4DE-09F7-BDB0-4709-2ECEB9AA7966}"/>
              </a:ext>
            </a:extLst>
          </p:cNvPr>
          <p:cNvSpPr/>
          <p:nvPr/>
        </p:nvSpPr>
        <p:spPr>
          <a:xfrm>
            <a:off x="6340839" y="2413416"/>
            <a:ext cx="1394085" cy="211894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0E7635-C30C-98B3-4D37-E3986D574C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337788"/>
            <a:ext cx="10515600" cy="139279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FE54DE-3AC5-399B-DAAC-2FA4D63CA1F0}"/>
              </a:ext>
            </a:extLst>
          </p:cNvPr>
          <p:cNvSpPr/>
          <p:nvPr/>
        </p:nvSpPr>
        <p:spPr>
          <a:xfrm>
            <a:off x="11242623" y="6175948"/>
            <a:ext cx="949377" cy="554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BDFD04-2894-EB37-F10E-760522500544}"/>
              </a:ext>
            </a:extLst>
          </p:cNvPr>
          <p:cNvSpPr txBox="1"/>
          <p:nvPr/>
        </p:nvSpPr>
        <p:spPr>
          <a:xfrm>
            <a:off x="519241" y="4794315"/>
            <a:ext cx="87398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Much smaller effects for college graduation, which makes sense:</a:t>
            </a:r>
          </a:p>
        </p:txBody>
      </p:sp>
    </p:spTree>
    <p:extLst>
      <p:ext uri="{BB962C8B-B14F-4D97-AF65-F5344CB8AC3E}">
        <p14:creationId xmlns:p14="http://schemas.microsoft.com/office/powerpoint/2010/main" val="1026585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56BBE-60A8-4564-4E1E-8F10AD26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670"/>
            <a:ext cx="10515600" cy="1325563"/>
          </a:xfrm>
        </p:spPr>
        <p:txBody>
          <a:bodyPr/>
          <a:lstStyle/>
          <a:p>
            <a:r>
              <a:rPr lang="en-US" dirty="0"/>
              <a:t>Wald Estimator </a:t>
            </a:r>
            <a:br>
              <a:rPr lang="en-US" dirty="0"/>
            </a:br>
            <a:r>
              <a:rPr lang="en-US" sz="2400" dirty="0"/>
              <a:t>No covariates or anything yet…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B7E39C-8B42-68ED-A57C-BE2FBD665B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4482" y="540711"/>
                <a:ext cx="7016646" cy="1442231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Instrument: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“were you born in Q1”?</a:t>
                </a:r>
              </a:p>
              <a:p>
                <a:r>
                  <a:rPr lang="en-US" sz="2400" dirty="0">
                    <a:solidFill>
                      <a:schemeClr val="accent1"/>
                    </a:solidFill>
                  </a:rPr>
                  <a:t>Treatment: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years of education</a:t>
                </a:r>
              </a:p>
              <a:p>
                <a:r>
                  <a:rPr lang="en-US" sz="2400" dirty="0">
                    <a:solidFill>
                      <a:schemeClr val="accent1"/>
                    </a:solidFill>
                  </a:rPr>
                  <a:t>Outcome: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= ln(Wages)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B7E39C-8B42-68ED-A57C-BE2FBD665B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4482" y="540711"/>
                <a:ext cx="7016646" cy="1442231"/>
              </a:xfrm>
              <a:blipFill>
                <a:blip r:embed="rId3"/>
                <a:stretch>
                  <a:fillRect l="-1266" t="-6140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5AB657B-41E5-8191-B434-83C3E77F9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29" y="2375786"/>
            <a:ext cx="9463521" cy="466568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1C432AA-7327-DB12-ABE0-4E015C2C7EB8}"/>
              </a:ext>
            </a:extLst>
          </p:cNvPr>
          <p:cNvGrpSpPr/>
          <p:nvPr/>
        </p:nvGrpSpPr>
        <p:grpSpPr>
          <a:xfrm>
            <a:off x="902440" y="1424198"/>
            <a:ext cx="3732492" cy="1089422"/>
            <a:chOff x="838200" y="4327742"/>
            <a:chExt cx="10041383" cy="28510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1A3F6DCC-20A9-67B8-F3CF-5F08746DFE4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61323F69-A40A-415C-423E-D9A8CA3B9E94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F16BEA9F-A026-985F-101E-31948B6F96D0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593BF4-C819-B8A8-291F-2DB6058D2A73}"/>
                </a:ext>
              </a:extLst>
            </p:cNvPr>
            <p:cNvCxnSpPr>
              <a:endCxn id="8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E20A05-5359-3649-9ABB-70CC63580CF3}"/>
                </a:ext>
              </a:extLst>
            </p:cNvPr>
            <p:cNvCxnSpPr>
              <a:cxnSpLocks/>
              <a:stCxn id="9" idx="6"/>
              <a:endCxn id="7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DC543FE-38FF-F1D3-77A1-990597291CC1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&quot;No&quot; Symbol 12">
              <a:extLst>
                <a:ext uri="{FF2B5EF4-FFF2-40B4-BE49-F238E27FC236}">
                  <a16:creationId xmlns:a16="http://schemas.microsoft.com/office/drawing/2014/main" id="{907428ED-B71C-F5CA-EEAA-47A6B05A185A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4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3BDD2ACC-BAF7-8E14-0930-DAEC25B7D6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492E097-1B87-D24E-F803-F42A59C57A6D}"/>
                </a:ext>
              </a:extLst>
            </p:cNvPr>
            <p:cNvSpPr txBox="1"/>
            <p:nvPr/>
          </p:nvSpPr>
          <p:spPr>
            <a:xfrm>
              <a:off x="1392519" y="5995019"/>
              <a:ext cx="608668" cy="11837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b="1" i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976F16-DB51-DDE6-7B92-9E92B26102BC}"/>
              </a:ext>
            </a:extLst>
          </p:cNvPr>
          <p:cNvSpPr/>
          <p:nvPr/>
        </p:nvSpPr>
        <p:spPr>
          <a:xfrm>
            <a:off x="8375374" y="4489596"/>
            <a:ext cx="1510748" cy="59923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0284AF-FEED-967F-AB7C-3C42B8226188}"/>
              </a:ext>
            </a:extLst>
          </p:cNvPr>
          <p:cNvSpPr txBox="1"/>
          <p:nvPr/>
        </p:nvSpPr>
        <p:spPr>
          <a:xfrm>
            <a:off x="9954263" y="4386497"/>
            <a:ext cx="1946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Reduced form: ATE of Z on 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1F04F9E-BBC4-2BB9-530A-E145A2292EF2}"/>
              </a:ext>
            </a:extLst>
          </p:cNvPr>
          <p:cNvSpPr/>
          <p:nvPr/>
        </p:nvSpPr>
        <p:spPr>
          <a:xfrm>
            <a:off x="8375374" y="5112448"/>
            <a:ext cx="1510748" cy="532976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6DFBFF-1624-E9C0-F8A7-741F7586B829}"/>
              </a:ext>
            </a:extLst>
          </p:cNvPr>
          <p:cNvSpPr txBox="1"/>
          <p:nvPr/>
        </p:nvSpPr>
        <p:spPr>
          <a:xfrm>
            <a:off x="9934493" y="5028720"/>
            <a:ext cx="1985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First stage: </a:t>
            </a:r>
          </a:p>
          <a:p>
            <a:r>
              <a:rPr lang="en-US" dirty="0">
                <a:solidFill>
                  <a:schemeClr val="accent5"/>
                </a:solidFill>
              </a:rPr>
              <a:t>ATE of Z on 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F09DC31-5C64-2FC6-0FB8-A895A80D5E77}"/>
              </a:ext>
            </a:extLst>
          </p:cNvPr>
          <p:cNvSpPr/>
          <p:nvPr/>
        </p:nvSpPr>
        <p:spPr>
          <a:xfrm>
            <a:off x="8352076" y="5702101"/>
            <a:ext cx="1510748" cy="532976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DF6CC0-CE7F-B178-0CC0-79F0173F6B05}"/>
              </a:ext>
            </a:extLst>
          </p:cNvPr>
          <p:cNvSpPr txBox="1"/>
          <p:nvPr/>
        </p:nvSpPr>
        <p:spPr>
          <a:xfrm>
            <a:off x="9965850" y="5645424"/>
            <a:ext cx="2291945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Quotient: Wald estimator</a:t>
            </a:r>
          </a:p>
          <a:p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39E2827-FD76-AF83-C9F3-5966F2FD8BD2}"/>
              </a:ext>
            </a:extLst>
          </p:cNvPr>
          <p:cNvSpPr/>
          <p:nvPr/>
        </p:nvSpPr>
        <p:spPr>
          <a:xfrm>
            <a:off x="8362122" y="6258692"/>
            <a:ext cx="1510748" cy="589653"/>
          </a:xfrm>
          <a:prstGeom prst="round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6A72C8-BBDB-5673-2950-ED81B64CC778}"/>
              </a:ext>
            </a:extLst>
          </p:cNvPr>
          <p:cNvSpPr txBox="1"/>
          <p:nvPr/>
        </p:nvSpPr>
        <p:spPr>
          <a:xfrm>
            <a:off x="9934493" y="6431111"/>
            <a:ext cx="22919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Plain old regression</a:t>
            </a:r>
          </a:p>
        </p:txBody>
      </p:sp>
    </p:spTree>
    <p:extLst>
      <p:ext uri="{BB962C8B-B14F-4D97-AF65-F5344CB8AC3E}">
        <p14:creationId xmlns:p14="http://schemas.microsoft.com/office/powerpoint/2010/main" val="41926986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2F9DB9-7620-6894-4607-0EB04F00F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46424-CADD-8C0D-D588-8750DD269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670"/>
            <a:ext cx="10515600" cy="1325563"/>
          </a:xfrm>
        </p:spPr>
        <p:txBody>
          <a:bodyPr/>
          <a:lstStyle/>
          <a:p>
            <a:r>
              <a:rPr lang="en-US" dirty="0"/>
              <a:t>Wald Estimator </a:t>
            </a:r>
            <a:br>
              <a:rPr lang="en-US" dirty="0"/>
            </a:br>
            <a:r>
              <a:rPr lang="en-US" sz="2400" dirty="0"/>
              <a:t>No covariates or anything yet…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C8291B-0697-67E8-1DFD-42BBBF8D5F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4482" y="540711"/>
                <a:ext cx="7016646" cy="1442231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Instrument: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“were you born in Q1”?</a:t>
                </a:r>
              </a:p>
              <a:p>
                <a:r>
                  <a:rPr lang="en-US" sz="2400" dirty="0">
                    <a:solidFill>
                      <a:schemeClr val="accent1"/>
                    </a:solidFill>
                  </a:rPr>
                  <a:t>Treatment: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years of education</a:t>
                </a:r>
              </a:p>
              <a:p>
                <a:r>
                  <a:rPr lang="en-US" sz="2400" dirty="0">
                    <a:solidFill>
                      <a:schemeClr val="accent1"/>
                    </a:solidFill>
                  </a:rPr>
                  <a:t>Outcome: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= ln(Wages)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B7E39C-8B42-68ED-A57C-BE2FBD665B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4482" y="540711"/>
                <a:ext cx="7016646" cy="1442231"/>
              </a:xfrm>
              <a:blipFill>
                <a:blip r:embed="rId3"/>
                <a:stretch>
                  <a:fillRect l="-1266" t="-6140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655EAE4-6145-49E1-20CA-162292DD0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29" y="2375786"/>
            <a:ext cx="9463521" cy="466568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9B888D2-3CD6-F36E-39EF-2241C169E054}"/>
              </a:ext>
            </a:extLst>
          </p:cNvPr>
          <p:cNvGrpSpPr/>
          <p:nvPr/>
        </p:nvGrpSpPr>
        <p:grpSpPr>
          <a:xfrm>
            <a:off x="902440" y="1424198"/>
            <a:ext cx="3732492" cy="1089422"/>
            <a:chOff x="838200" y="4327742"/>
            <a:chExt cx="10041383" cy="28510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D298EC31-90CE-766B-1E94-C51E074B0758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829015C1-8FD9-6785-CD1D-909CEEB8E73C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1355C3C-DC74-C787-0BD4-1AC8D404BEBE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51E3CA5-76AF-6965-F74D-1EDAFDA96B20}"/>
                </a:ext>
              </a:extLst>
            </p:cNvPr>
            <p:cNvCxnSpPr>
              <a:endCxn id="8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CE3C71C-0E2B-9B60-1661-820F90F21276}"/>
                </a:ext>
              </a:extLst>
            </p:cNvPr>
            <p:cNvCxnSpPr>
              <a:cxnSpLocks/>
              <a:stCxn id="9" idx="6"/>
              <a:endCxn id="7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17C4A3C-4963-0044-7417-65AA3CDCD281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&quot;No&quot; Symbol 12">
              <a:extLst>
                <a:ext uri="{FF2B5EF4-FFF2-40B4-BE49-F238E27FC236}">
                  <a16:creationId xmlns:a16="http://schemas.microsoft.com/office/drawing/2014/main" id="{E24FDF96-7913-D527-BCB4-8C9942D75EE0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4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B9E35D36-6635-8B5F-06B4-C5F1D40420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40B4E45-46DD-4368-392D-2E2312DCE53F}"/>
                </a:ext>
              </a:extLst>
            </p:cNvPr>
            <p:cNvSpPr txBox="1"/>
            <p:nvPr/>
          </p:nvSpPr>
          <p:spPr>
            <a:xfrm>
              <a:off x="1392519" y="5995019"/>
              <a:ext cx="608668" cy="11837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b="1" i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F40E405-D8C1-172A-5667-A2E655EE1BDB}"/>
              </a:ext>
            </a:extLst>
          </p:cNvPr>
          <p:cNvSpPr/>
          <p:nvPr/>
        </p:nvSpPr>
        <p:spPr>
          <a:xfrm>
            <a:off x="8375374" y="4489596"/>
            <a:ext cx="1510748" cy="59923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018996-5154-9769-A1BD-5ECA3E7FFD7E}"/>
              </a:ext>
            </a:extLst>
          </p:cNvPr>
          <p:cNvSpPr txBox="1"/>
          <p:nvPr/>
        </p:nvSpPr>
        <p:spPr>
          <a:xfrm>
            <a:off x="9954263" y="4386497"/>
            <a:ext cx="1946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Reduced form: ATE of Z on 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050A5CA-E1C3-9F68-1606-A6B1B4DAC26E}"/>
              </a:ext>
            </a:extLst>
          </p:cNvPr>
          <p:cNvSpPr/>
          <p:nvPr/>
        </p:nvSpPr>
        <p:spPr>
          <a:xfrm>
            <a:off x="8375374" y="5112448"/>
            <a:ext cx="1510748" cy="532976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CF2AF2-2F7A-CF14-5C45-4EC1BC31E38E}"/>
              </a:ext>
            </a:extLst>
          </p:cNvPr>
          <p:cNvSpPr txBox="1"/>
          <p:nvPr/>
        </p:nvSpPr>
        <p:spPr>
          <a:xfrm>
            <a:off x="9934493" y="5028720"/>
            <a:ext cx="1985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First stage: </a:t>
            </a:r>
          </a:p>
          <a:p>
            <a:r>
              <a:rPr lang="en-US" dirty="0">
                <a:solidFill>
                  <a:schemeClr val="accent5"/>
                </a:solidFill>
              </a:rPr>
              <a:t>ATE of Z on 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EBC75A3-0236-BA46-0951-982946D25842}"/>
              </a:ext>
            </a:extLst>
          </p:cNvPr>
          <p:cNvSpPr/>
          <p:nvPr/>
        </p:nvSpPr>
        <p:spPr>
          <a:xfrm>
            <a:off x="8352076" y="5702101"/>
            <a:ext cx="1510748" cy="532976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81905A-948E-3CC7-2A55-03A369FDE0C3}"/>
              </a:ext>
            </a:extLst>
          </p:cNvPr>
          <p:cNvSpPr txBox="1"/>
          <p:nvPr/>
        </p:nvSpPr>
        <p:spPr>
          <a:xfrm>
            <a:off x="9965850" y="5645424"/>
            <a:ext cx="2291945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Quotient: Wald estimator</a:t>
            </a:r>
          </a:p>
          <a:p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5CD0491-6F10-9A31-36FD-03E11BB4D9AA}"/>
              </a:ext>
            </a:extLst>
          </p:cNvPr>
          <p:cNvSpPr/>
          <p:nvPr/>
        </p:nvSpPr>
        <p:spPr>
          <a:xfrm>
            <a:off x="8362122" y="6258692"/>
            <a:ext cx="1510748" cy="589653"/>
          </a:xfrm>
          <a:prstGeom prst="round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62940F-64BA-7FF3-21EB-1C21A6CD788A}"/>
              </a:ext>
            </a:extLst>
          </p:cNvPr>
          <p:cNvSpPr txBox="1"/>
          <p:nvPr/>
        </p:nvSpPr>
        <p:spPr>
          <a:xfrm>
            <a:off x="9934493" y="6431111"/>
            <a:ext cx="22919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Plain old regression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DE0F6C8-1930-19C5-47F0-BFDF6D77EA27}"/>
              </a:ext>
            </a:extLst>
          </p:cNvPr>
          <p:cNvSpPr/>
          <p:nvPr/>
        </p:nvSpPr>
        <p:spPr>
          <a:xfrm>
            <a:off x="9707782" y="2017887"/>
            <a:ext cx="2181671" cy="12403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Can/should we interpret “0.102” as a LATE?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714E8CE-F48F-4F18-897C-14EC59BBFFF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25122" y="2878602"/>
            <a:ext cx="932673" cy="144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625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6E1A4-4B39-D89C-1DCE-29FD20C71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56911-712E-D219-9B85-EC69EB553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670"/>
            <a:ext cx="10515600" cy="1325563"/>
          </a:xfrm>
        </p:spPr>
        <p:txBody>
          <a:bodyPr/>
          <a:lstStyle/>
          <a:p>
            <a:r>
              <a:rPr lang="en-US" dirty="0"/>
              <a:t>Wald Estimator </a:t>
            </a:r>
            <a:br>
              <a:rPr lang="en-US" dirty="0"/>
            </a:br>
            <a:r>
              <a:rPr lang="en-US" sz="2400" dirty="0"/>
              <a:t>No covariates or anything yet…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9862-1E88-3FC3-0649-40EBC3045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4482" y="540711"/>
                <a:ext cx="7016646" cy="1442231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Instrument: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“were you born in Q1”?</a:t>
                </a:r>
              </a:p>
              <a:p>
                <a:r>
                  <a:rPr lang="en-US" sz="2400" dirty="0">
                    <a:solidFill>
                      <a:schemeClr val="accent1"/>
                    </a:solidFill>
                  </a:rPr>
                  <a:t>Treatment: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years of education</a:t>
                </a:r>
              </a:p>
              <a:p>
                <a:r>
                  <a:rPr lang="en-US" sz="2400" dirty="0">
                    <a:solidFill>
                      <a:schemeClr val="accent1"/>
                    </a:solidFill>
                  </a:rPr>
                  <a:t>Outcome: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= ln(Wages)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B7E39C-8B42-68ED-A57C-BE2FBD665B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4482" y="540711"/>
                <a:ext cx="7016646" cy="1442231"/>
              </a:xfrm>
              <a:blipFill>
                <a:blip r:embed="rId3"/>
                <a:stretch>
                  <a:fillRect l="-1266" t="-6140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71866A4-5783-AF6B-15FC-2206AA1EE7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29" y="2375786"/>
            <a:ext cx="9463521" cy="466568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5FCD5F4-E805-5C79-2370-46D6E469CD43}"/>
              </a:ext>
            </a:extLst>
          </p:cNvPr>
          <p:cNvGrpSpPr/>
          <p:nvPr/>
        </p:nvGrpSpPr>
        <p:grpSpPr>
          <a:xfrm>
            <a:off x="902440" y="1424198"/>
            <a:ext cx="3732492" cy="1089422"/>
            <a:chOff x="838200" y="4327742"/>
            <a:chExt cx="10041383" cy="28510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95A4FB7-B85E-7170-86C3-B6476229D9CB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BCBC9-5CB7-B8ED-3850-211BCFBB9FE9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9755629-64E8-E69E-A3B1-2E99AD94E0C2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D19F7-A4EB-66C8-9743-D886C8206CC6}"/>
                </a:ext>
              </a:extLst>
            </p:cNvPr>
            <p:cNvCxnSpPr>
              <a:endCxn id="8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0EDD67D-F404-0F71-D34A-8EC1DD8043D0}"/>
                </a:ext>
              </a:extLst>
            </p:cNvPr>
            <p:cNvCxnSpPr>
              <a:cxnSpLocks/>
              <a:stCxn id="9" idx="6"/>
              <a:endCxn id="7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5D27DD8-8ADC-60F5-9C11-B8CA579EDD70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&quot;No&quot; Symbol 12">
              <a:extLst>
                <a:ext uri="{FF2B5EF4-FFF2-40B4-BE49-F238E27FC236}">
                  <a16:creationId xmlns:a16="http://schemas.microsoft.com/office/drawing/2014/main" id="{4C2AA468-0698-362C-0F6E-331B62A62243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4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B8D21216-5A94-3579-CCD6-491AD13BA1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F22749-EFA4-226F-A34A-94CD2229FE9F}"/>
                </a:ext>
              </a:extLst>
            </p:cNvPr>
            <p:cNvSpPr txBox="1"/>
            <p:nvPr/>
          </p:nvSpPr>
          <p:spPr>
            <a:xfrm>
              <a:off x="1392519" y="5995019"/>
              <a:ext cx="608668" cy="11837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b="1" i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A78BBC-F060-2CF4-595C-60024013E76B}"/>
              </a:ext>
            </a:extLst>
          </p:cNvPr>
          <p:cNvSpPr/>
          <p:nvPr/>
        </p:nvSpPr>
        <p:spPr>
          <a:xfrm>
            <a:off x="8375374" y="4489596"/>
            <a:ext cx="1510748" cy="59923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D7B214-7025-CC16-D570-00FA296EE4BE}"/>
              </a:ext>
            </a:extLst>
          </p:cNvPr>
          <p:cNvSpPr txBox="1"/>
          <p:nvPr/>
        </p:nvSpPr>
        <p:spPr>
          <a:xfrm>
            <a:off x="9954263" y="4386497"/>
            <a:ext cx="1946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Reduced form: ATE of Z on 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49399A7-18A2-0CED-5D32-C7BC5D716584}"/>
              </a:ext>
            </a:extLst>
          </p:cNvPr>
          <p:cNvSpPr/>
          <p:nvPr/>
        </p:nvSpPr>
        <p:spPr>
          <a:xfrm>
            <a:off x="8375374" y="5112448"/>
            <a:ext cx="1510748" cy="532976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20A0CF-63F6-2404-63D8-BE2AF4D3F950}"/>
              </a:ext>
            </a:extLst>
          </p:cNvPr>
          <p:cNvSpPr txBox="1"/>
          <p:nvPr/>
        </p:nvSpPr>
        <p:spPr>
          <a:xfrm>
            <a:off x="9934493" y="5028720"/>
            <a:ext cx="1985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First stage: </a:t>
            </a:r>
          </a:p>
          <a:p>
            <a:r>
              <a:rPr lang="en-US" dirty="0">
                <a:solidFill>
                  <a:schemeClr val="accent5"/>
                </a:solidFill>
              </a:rPr>
              <a:t>ATE of Z on 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A93AA05-3753-303E-4084-F1E821659E51}"/>
              </a:ext>
            </a:extLst>
          </p:cNvPr>
          <p:cNvSpPr/>
          <p:nvPr/>
        </p:nvSpPr>
        <p:spPr>
          <a:xfrm>
            <a:off x="8352076" y="5702101"/>
            <a:ext cx="1510748" cy="532976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C5A849-B378-53BF-DC88-7A9A921C138B}"/>
              </a:ext>
            </a:extLst>
          </p:cNvPr>
          <p:cNvSpPr txBox="1"/>
          <p:nvPr/>
        </p:nvSpPr>
        <p:spPr>
          <a:xfrm>
            <a:off x="9965850" y="5645424"/>
            <a:ext cx="2291945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Quotient: Wald estimator</a:t>
            </a:r>
          </a:p>
          <a:p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C723694-0114-4F5E-7411-7DD2C4514B87}"/>
              </a:ext>
            </a:extLst>
          </p:cNvPr>
          <p:cNvSpPr/>
          <p:nvPr/>
        </p:nvSpPr>
        <p:spPr>
          <a:xfrm>
            <a:off x="8362122" y="6258692"/>
            <a:ext cx="1510748" cy="589653"/>
          </a:xfrm>
          <a:prstGeom prst="round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B494E-528C-09CC-F508-C9E2F9462D4C}"/>
              </a:ext>
            </a:extLst>
          </p:cNvPr>
          <p:cNvSpPr txBox="1"/>
          <p:nvPr/>
        </p:nvSpPr>
        <p:spPr>
          <a:xfrm>
            <a:off x="9934493" y="6431111"/>
            <a:ext cx="22919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Plain old regression</a:t>
            </a:r>
          </a:p>
        </p:txBody>
      </p:sp>
    </p:spTree>
    <p:extLst>
      <p:ext uri="{BB962C8B-B14F-4D97-AF65-F5344CB8AC3E}">
        <p14:creationId xmlns:p14="http://schemas.microsoft.com/office/powerpoint/2010/main" val="28911309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2A2A8-298D-5991-8E78-6258348F50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04CA82-F50B-2BFC-D50C-DFAFCCE71A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anRy0DC5Fq0VlBNAkuodt?state=opened&amp;flow=Default&amp;onscreen=persist">
            <a:extLst>
              <a:ext uri="{FF2B5EF4-FFF2-40B4-BE49-F238E27FC236}">
                <a16:creationId xmlns:a16="http://schemas.microsoft.com/office/drawing/2014/main" id="{A00E9966-940F-F7AC-88EF-54D9ECC8FA5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3835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15F0B-5E71-C665-BB83-26FE64EAC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this LATE?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7FBD0A-8315-1573-D719-BBED751B4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0777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This is the right thing to compute: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may worry about independence/exclusion…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For example, people born in earlier quarters are slightly older, and may make slightly more money because of that.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can control for stuff like that!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7FBD0A-8315-1573-D719-BBED751B4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0777"/>
                <a:ext cx="10515600" cy="4351338"/>
              </a:xfrm>
              <a:blipFill>
                <a:blip r:embed="rId3"/>
                <a:stretch>
                  <a:fillRect l="-1086" t="-581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9FF83B1-99F3-74E9-D0C8-D62AF32627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0755" y="230188"/>
                <a:ext cx="6312827" cy="14266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>
                    <a:solidFill>
                      <a:schemeClr val="accent1"/>
                    </a:solidFill>
                  </a:rPr>
                  <a:t>Instrument: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“were you born in Q1”?</a:t>
                </a:r>
              </a:p>
              <a:p>
                <a:r>
                  <a:rPr lang="en-US" sz="2000" dirty="0">
                    <a:solidFill>
                      <a:schemeClr val="accent1"/>
                    </a:solidFill>
                  </a:rPr>
                  <a:t>Treatment: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years of education</a:t>
                </a:r>
              </a:p>
              <a:p>
                <a:r>
                  <a:rPr lang="en-US" sz="2000" dirty="0">
                    <a:solidFill>
                      <a:schemeClr val="accent1"/>
                    </a:solidFill>
                  </a:rPr>
                  <a:t>Outcome: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= ln(Wages)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9FF83B1-99F3-74E9-D0C8-D62AF326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0755" y="230188"/>
                <a:ext cx="6312827" cy="1426634"/>
              </a:xfrm>
              <a:prstGeom prst="rect">
                <a:avLst/>
              </a:prstGeom>
              <a:blipFill>
                <a:blip r:embed="rId4"/>
                <a:stretch>
                  <a:fillRect l="-803" t="-4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6432B0F4-4A08-547A-4781-0401076463EB}"/>
              </a:ext>
            </a:extLst>
          </p:cNvPr>
          <p:cNvGrpSpPr/>
          <p:nvPr/>
        </p:nvGrpSpPr>
        <p:grpSpPr>
          <a:xfrm>
            <a:off x="8300767" y="1020909"/>
            <a:ext cx="3358097" cy="968748"/>
            <a:chOff x="838200" y="4327742"/>
            <a:chExt cx="10041383" cy="25629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41D53F-98DF-AB55-D247-F71B0B20969B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D3DF2C69-006B-77EF-31E7-B6CDAE669AB2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0DEB92DC-2C10-D996-79A4-6997A16E15AC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0B7E639-DD5D-9280-FB47-E5B0184E2F4B}"/>
                </a:ext>
              </a:extLst>
            </p:cNvPr>
            <p:cNvCxnSpPr>
              <a:endCxn id="7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2AF18B0-36F3-0131-8C17-83CE66F714A8}"/>
                </a:ext>
              </a:extLst>
            </p:cNvPr>
            <p:cNvCxnSpPr>
              <a:cxnSpLocks/>
              <a:stCxn id="8" idx="6"/>
              <a:endCxn id="6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82D38CE-9850-E281-7112-346CD42E36C7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2" name="&quot;No&quot; Symbol 11">
              <a:extLst>
                <a:ext uri="{FF2B5EF4-FFF2-40B4-BE49-F238E27FC236}">
                  <a16:creationId xmlns:a16="http://schemas.microsoft.com/office/drawing/2014/main" id="{8EEF339D-DDD7-39E3-5409-38CA866D34E0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tx1"/>
                </a:solidFill>
              </a:endParaRPr>
            </a:p>
          </p:txBody>
        </p:sp>
        <p:pic>
          <p:nvPicPr>
            <p:cNvPr id="13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F6815937-BBB4-7705-925C-5134705CF5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328E0AC-0CF3-418D-0DF5-366209428483}"/>
                </a:ext>
              </a:extLst>
            </p:cNvPr>
            <p:cNvSpPr txBox="1"/>
            <p:nvPr/>
          </p:nvSpPr>
          <p:spPr>
            <a:xfrm>
              <a:off x="1420661" y="5995019"/>
              <a:ext cx="552383" cy="8956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1600" b="1" i="1" dirty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628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CFF15-09BF-A42F-3051-648240B2E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Let’s Get Fancy!</a:t>
            </a:r>
            <a:br>
              <a:rPr lang="en-US" dirty="0"/>
            </a:br>
            <a:r>
              <a:rPr lang="en-US" sz="3200" dirty="0"/>
              <a:t>2SLS with multiple instruments and covariates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F6A1-052C-329D-7448-47C472C91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52455" cy="4351338"/>
          </a:xfrm>
        </p:spPr>
        <p:txBody>
          <a:bodyPr/>
          <a:lstStyle/>
          <a:p>
            <a:r>
              <a:rPr lang="en-US" dirty="0"/>
              <a:t>Covariates: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Race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 you live in a city?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Marital status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Year of birth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Region of residence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Age and Age</a:t>
            </a:r>
            <a:r>
              <a:rPr lang="en-US" baseline="30000" dirty="0">
                <a:solidFill>
                  <a:schemeClr val="accent1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  </a:t>
            </a:r>
          </a:p>
          <a:p>
            <a:pPr lvl="1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F4E3DAA-DC33-E4EB-8243-89E2A12588F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43055" y="1822450"/>
                <a:ext cx="70104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Instruments: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YO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b="0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YO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an indicator for being born in year j.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an indicator for being born in Quarter </a:t>
                </a:r>
                <a:r>
                  <a:rPr lang="en-US" dirty="0" err="1">
                    <a:solidFill>
                      <a:schemeClr val="accent1"/>
                    </a:solidFill>
                  </a:rPr>
                  <a:t>i</a:t>
                </a:r>
                <a:endParaRPr lang="en-US" dirty="0">
                  <a:solidFill>
                    <a:schemeClr val="accent1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2"/>
                    </a:solidFill>
                  </a:rPr>
                  <a:t>30 instruments total!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F4E3DAA-DC33-E4EB-8243-89E2A1258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055" y="1822450"/>
                <a:ext cx="7010400" cy="4351338"/>
              </a:xfrm>
              <a:prstGeom prst="rect">
                <a:avLst/>
              </a:prstGeom>
              <a:blipFill>
                <a:blip r:embed="rId3"/>
                <a:stretch>
                  <a:fillRect l="-1447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8BC266-D558-3C3E-83FE-DEE46F7B15AD}"/>
              </a:ext>
            </a:extLst>
          </p:cNvPr>
          <p:cNvGrpSpPr/>
          <p:nvPr/>
        </p:nvGrpSpPr>
        <p:grpSpPr>
          <a:xfrm>
            <a:off x="5943600" y="4259514"/>
            <a:ext cx="2428052" cy="792056"/>
            <a:chOff x="6325101" y="74548"/>
            <a:chExt cx="5122260" cy="1670934"/>
          </a:xfrm>
        </p:grpSpPr>
        <p:pic>
          <p:nvPicPr>
            <p:cNvPr id="6" name="Picture 2" descr="Classical guitars hand made in Spain">
              <a:extLst>
                <a:ext uri="{FF2B5EF4-FFF2-40B4-BE49-F238E27FC236}">
                  <a16:creationId xmlns:a16="http://schemas.microsoft.com/office/drawing/2014/main" id="{4324B169-E8ED-88EE-872D-7302E0859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631259">
              <a:off x="9894541" y="74548"/>
              <a:ext cx="1552820" cy="1552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B9E485A8-83F9-62C8-6BC8-F34E673F6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25101" y="156734"/>
              <a:ext cx="1533954" cy="1533954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 descr="Selmer Paris Reference 54 Alto Saxophone - Dark Gold Finish – SAX">
              <a:extLst>
                <a:ext uri="{FF2B5EF4-FFF2-40B4-BE49-F238E27FC236}">
                  <a16:creationId xmlns:a16="http://schemas.microsoft.com/office/drawing/2014/main" id="{2D275836-31F4-A2E8-6F2A-9B0C75A1E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57032" flipH="1">
              <a:off x="7441421" y="312765"/>
              <a:ext cx="1109885" cy="143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6" descr="DRUM KITS | TAMA Drums">
              <a:extLst>
                <a:ext uri="{FF2B5EF4-FFF2-40B4-BE49-F238E27FC236}">
                  <a16:creationId xmlns:a16="http://schemas.microsoft.com/office/drawing/2014/main" id="{65BFA038-D1A5-C181-0B90-3C48C5227A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10775" y="156734"/>
              <a:ext cx="2362200" cy="1388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927586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F8A5C-9F12-BCF8-8E6B-8C4076C2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36EFF6-483C-8E18-8ADD-1C3DDCB26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87" y="1482870"/>
            <a:ext cx="11258513" cy="53751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08BD5CD-599D-BBB8-685D-127527BE81A5}"/>
              </a:ext>
            </a:extLst>
          </p:cNvPr>
          <p:cNvSpPr/>
          <p:nvPr/>
        </p:nvSpPr>
        <p:spPr>
          <a:xfrm>
            <a:off x="5902036" y="2105891"/>
            <a:ext cx="3962400" cy="4100945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38E5F-F1D9-6670-846D-F62F225DDAF4}"/>
              </a:ext>
            </a:extLst>
          </p:cNvPr>
          <p:cNvSpPr/>
          <p:nvPr/>
        </p:nvSpPr>
        <p:spPr>
          <a:xfrm>
            <a:off x="3435928" y="1409511"/>
            <a:ext cx="2590802" cy="2902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many covariates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B17932-1C2B-7300-857E-4F730E1D84A8}"/>
              </a:ext>
            </a:extLst>
          </p:cNvPr>
          <p:cNvSpPr/>
          <p:nvPr/>
        </p:nvSpPr>
        <p:spPr>
          <a:xfrm>
            <a:off x="3366656" y="1764822"/>
            <a:ext cx="1108362" cy="56287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Plain old regression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DA6FAA-7937-2C9A-ED51-D628E0A8C9FA}"/>
              </a:ext>
            </a:extLst>
          </p:cNvPr>
          <p:cNvSpPr/>
          <p:nvPr/>
        </p:nvSpPr>
        <p:spPr>
          <a:xfrm>
            <a:off x="4475019" y="1764822"/>
            <a:ext cx="1551710" cy="56287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2-Stage Least-Squares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0FC943-CF2E-8B68-0D5A-866D9A410537}"/>
              </a:ext>
            </a:extLst>
          </p:cNvPr>
          <p:cNvSpPr/>
          <p:nvPr/>
        </p:nvSpPr>
        <p:spPr>
          <a:xfrm>
            <a:off x="3352798" y="1409511"/>
            <a:ext cx="2729345" cy="4797325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320F9-D935-F2DD-E390-D8E618E413F9}"/>
              </a:ext>
            </a:extLst>
          </p:cNvPr>
          <p:cNvSpPr/>
          <p:nvPr/>
        </p:nvSpPr>
        <p:spPr>
          <a:xfrm>
            <a:off x="9815943" y="1367947"/>
            <a:ext cx="2660073" cy="295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All the covariates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485DA6-1367-CF35-002E-4A2A455C08EC}"/>
              </a:ext>
            </a:extLst>
          </p:cNvPr>
          <p:cNvSpPr/>
          <p:nvPr/>
        </p:nvSpPr>
        <p:spPr>
          <a:xfrm>
            <a:off x="9746672" y="1723258"/>
            <a:ext cx="1108362" cy="6015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Plain old regression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11CD5-8073-1FE7-2945-DBE663950DA4}"/>
              </a:ext>
            </a:extLst>
          </p:cNvPr>
          <p:cNvSpPr/>
          <p:nvPr/>
        </p:nvSpPr>
        <p:spPr>
          <a:xfrm>
            <a:off x="10855035" y="1723258"/>
            <a:ext cx="1475510" cy="60155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2-Stage Least-Squares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A5BACF4-CC6A-A824-3EA0-34F722207B19}"/>
              </a:ext>
            </a:extLst>
          </p:cNvPr>
          <p:cNvSpPr/>
          <p:nvPr/>
        </p:nvSpPr>
        <p:spPr>
          <a:xfrm>
            <a:off x="9746671" y="1367947"/>
            <a:ext cx="2770910" cy="4838890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8A2004-A83C-9B59-2D4C-EF7ED159F3D3}"/>
              </a:ext>
            </a:extLst>
          </p:cNvPr>
          <p:cNvSpPr txBox="1">
            <a:spLocks/>
          </p:cNvSpPr>
          <p:nvPr/>
        </p:nvSpPr>
        <p:spPr>
          <a:xfrm>
            <a:off x="56110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What do they get?</a:t>
            </a:r>
            <a:br>
              <a:rPr lang="en-US" dirty="0"/>
            </a:br>
            <a:r>
              <a:rPr lang="en-US" sz="3200" dirty="0"/>
              <a:t>2SLS with multiple instruments and covariates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7131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C25AF-8B71-7C39-EE45-F09C84F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C84B1-1ECE-6088-3C85-911F1D67F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numbers look pretty similar: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That’s evidence that omitted variable bias (conditional on all the covariates we did condition on) isn’t a big deal in Plain Old Regression.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At least if we believe the instruments are legit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DE58A1-2AD9-7E34-595D-9CB3DA7FB7E7}"/>
              </a:ext>
            </a:extLst>
          </p:cNvPr>
          <p:cNvSpPr/>
          <p:nvPr/>
        </p:nvSpPr>
        <p:spPr>
          <a:xfrm>
            <a:off x="7419106" y="1395269"/>
            <a:ext cx="2805546" cy="3030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All the covariates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AC16AD-77FB-8924-2D95-B77ACF39DBD7}"/>
              </a:ext>
            </a:extLst>
          </p:cNvPr>
          <p:cNvSpPr/>
          <p:nvPr/>
        </p:nvSpPr>
        <p:spPr>
          <a:xfrm>
            <a:off x="7419106" y="1833237"/>
            <a:ext cx="1108362" cy="6015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Plain old regression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EFDC8D-02CC-2E73-7ED3-520592E4B345}"/>
              </a:ext>
            </a:extLst>
          </p:cNvPr>
          <p:cNvSpPr/>
          <p:nvPr/>
        </p:nvSpPr>
        <p:spPr>
          <a:xfrm>
            <a:off x="8749142" y="1818013"/>
            <a:ext cx="1475510" cy="60155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2-Stage Least-Squares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46D8F5-E06F-2342-9B61-0A9917061F29}"/>
              </a:ext>
            </a:extLst>
          </p:cNvPr>
          <p:cNvSpPr txBox="1"/>
          <p:nvPr/>
        </p:nvSpPr>
        <p:spPr>
          <a:xfrm>
            <a:off x="7400976" y="2560131"/>
            <a:ext cx="109837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0.0632</a:t>
            </a:r>
          </a:p>
          <a:p>
            <a:pPr algn="ctr"/>
            <a:r>
              <a:rPr lang="en-US" dirty="0"/>
              <a:t>(0.0003)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8E4A0A-09F3-41D6-E827-D9202E716EFC}"/>
              </a:ext>
            </a:extLst>
          </p:cNvPr>
          <p:cNvSpPr txBox="1"/>
          <p:nvPr/>
        </p:nvSpPr>
        <p:spPr>
          <a:xfrm>
            <a:off x="8937707" y="2539281"/>
            <a:ext cx="109837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0.0600</a:t>
            </a:r>
          </a:p>
          <a:p>
            <a:pPr algn="ctr"/>
            <a:r>
              <a:rPr lang="en-US" dirty="0"/>
              <a:t>(0.0299)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426216-EA1C-7113-EC92-64ED90CBF88B}"/>
              </a:ext>
            </a:extLst>
          </p:cNvPr>
          <p:cNvSpPr/>
          <p:nvPr/>
        </p:nvSpPr>
        <p:spPr>
          <a:xfrm>
            <a:off x="7248254" y="1228417"/>
            <a:ext cx="3156510" cy="2082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1807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241E43-B564-0E43-E867-87A2F8961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CB1D-2DD3-A2B9-FEC2-D70196011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if we add in state-by-state info?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9670C-6FC8-65F7-FA0A-DFD5C7858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52455" cy="4351338"/>
          </a:xfrm>
        </p:spPr>
        <p:txBody>
          <a:bodyPr/>
          <a:lstStyle/>
          <a:p>
            <a:r>
              <a:rPr lang="en-US" dirty="0"/>
              <a:t>Covariates: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Race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 you live in a city?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Marital status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Year of birth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Region of residence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Age and Age</a:t>
            </a:r>
            <a:r>
              <a:rPr lang="en-US" baseline="30000" dirty="0">
                <a:solidFill>
                  <a:schemeClr val="accent1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  </a:t>
            </a:r>
          </a:p>
          <a:p>
            <a:pPr lvl="1"/>
            <a:r>
              <a:rPr lang="en-US" b="1" dirty="0">
                <a:solidFill>
                  <a:schemeClr val="accent5"/>
                </a:solidFill>
              </a:rPr>
              <a:t>State of birth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6CE7BDA-3985-7AE6-F27C-01F2513B1F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43055" y="1822450"/>
                <a:ext cx="70104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Instruments: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YO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b="0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YO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an indicator for being born in year j.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an indicator for being born in Quarter </a:t>
                </a:r>
                <a:r>
                  <a:rPr lang="en-US" dirty="0" err="1">
                    <a:solidFill>
                      <a:schemeClr val="accent1"/>
                    </a:solidFill>
                  </a:rPr>
                  <a:t>i</a:t>
                </a: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𝐒𝐓𝐀𝐓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𝐄</m:t>
                        </m:r>
                      </m:e>
                      <m:sub>
                        <m:r>
                          <a:rPr lang="en-US" b="1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𝐣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,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STAT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is an indicator for being born in state j.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is an indicator for being born in Quarter </a:t>
                </a:r>
                <a:r>
                  <a:rPr lang="en-US" dirty="0" err="1">
                    <a:solidFill>
                      <a:schemeClr val="accent5"/>
                    </a:solidFill>
                  </a:rPr>
                  <a:t>i</a:t>
                </a:r>
                <a:endParaRPr lang="en-US" dirty="0">
                  <a:solidFill>
                    <a:schemeClr val="accent5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r>
                  <a:rPr lang="en-US" b="1" dirty="0">
                    <a:solidFill>
                      <a:schemeClr val="accent5"/>
                    </a:solidFill>
                  </a:rPr>
                  <a:t>180</a:t>
                </a:r>
                <a:r>
                  <a:rPr lang="en-US" dirty="0">
                    <a:solidFill>
                      <a:schemeClr val="accent2"/>
                    </a:solidFill>
                  </a:rPr>
                  <a:t> instruments total!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6CE7BDA-3985-7AE6-F27C-01F2513B1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055" y="1822450"/>
                <a:ext cx="7010400" cy="4351338"/>
              </a:xfrm>
              <a:prstGeom prst="rect">
                <a:avLst/>
              </a:prstGeom>
              <a:blipFill>
                <a:blip r:embed="rId3"/>
                <a:stretch>
                  <a:fillRect l="-1447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B6625E0E-AA38-82D0-8821-90EBE6DC6080}"/>
              </a:ext>
            </a:extLst>
          </p:cNvPr>
          <p:cNvGrpSpPr/>
          <p:nvPr/>
        </p:nvGrpSpPr>
        <p:grpSpPr>
          <a:xfrm>
            <a:off x="6096000" y="5381732"/>
            <a:ext cx="2428052" cy="792056"/>
            <a:chOff x="6325101" y="74548"/>
            <a:chExt cx="5122260" cy="1670934"/>
          </a:xfrm>
        </p:grpSpPr>
        <p:pic>
          <p:nvPicPr>
            <p:cNvPr id="6" name="Picture 2" descr="Classical guitars hand made in Spain">
              <a:extLst>
                <a:ext uri="{FF2B5EF4-FFF2-40B4-BE49-F238E27FC236}">
                  <a16:creationId xmlns:a16="http://schemas.microsoft.com/office/drawing/2014/main" id="{06387AEE-6849-D447-E36A-9D77E7CF80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631259">
              <a:off x="9894541" y="74548"/>
              <a:ext cx="1552820" cy="1552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05D0F9A2-0AF6-4EE2-73C5-4FE913ACDC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25101" y="156734"/>
              <a:ext cx="1533954" cy="1533954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 descr="Selmer Paris Reference 54 Alto Saxophone - Dark Gold Finish – SAX">
              <a:extLst>
                <a:ext uri="{FF2B5EF4-FFF2-40B4-BE49-F238E27FC236}">
                  <a16:creationId xmlns:a16="http://schemas.microsoft.com/office/drawing/2014/main" id="{F12C59FF-3B26-DCA6-5835-429F5FA04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57032" flipH="1">
              <a:off x="7441421" y="312765"/>
              <a:ext cx="1109885" cy="143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6" descr="DRUM KITS | TAMA Drums">
              <a:extLst>
                <a:ext uri="{FF2B5EF4-FFF2-40B4-BE49-F238E27FC236}">
                  <a16:creationId xmlns:a16="http://schemas.microsoft.com/office/drawing/2014/main" id="{430C9FC5-50F6-12FA-AF86-C403951A9C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10775" y="156734"/>
              <a:ext cx="2362200" cy="1388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93839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03F76D-DC38-FA7E-F343-F3B34AE9E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7AC57-D2B9-A915-39CE-2DA60E093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109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Now 2SLS gives a bigger estimate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9DF51B-81C8-E7FF-4277-C1531D57A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08991"/>
            <a:ext cx="11222182" cy="544900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EAF265F-7255-FD3F-0FC2-11D8A50E33C2}"/>
              </a:ext>
            </a:extLst>
          </p:cNvPr>
          <p:cNvSpPr/>
          <p:nvPr/>
        </p:nvSpPr>
        <p:spPr>
          <a:xfrm>
            <a:off x="5818909" y="2105891"/>
            <a:ext cx="4045527" cy="4100945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0D98A2-5AB9-8871-4BD3-EDBE3AFD14DA}"/>
              </a:ext>
            </a:extLst>
          </p:cNvPr>
          <p:cNvSpPr/>
          <p:nvPr/>
        </p:nvSpPr>
        <p:spPr>
          <a:xfrm>
            <a:off x="3394362" y="1284817"/>
            <a:ext cx="2660073" cy="295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many covariates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A24A24-B26B-5B3B-C9EB-E9DB1CC9D7A6}"/>
              </a:ext>
            </a:extLst>
          </p:cNvPr>
          <p:cNvSpPr/>
          <p:nvPr/>
        </p:nvSpPr>
        <p:spPr>
          <a:xfrm>
            <a:off x="3325091" y="1640128"/>
            <a:ext cx="1108362" cy="6015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Plain old regression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097422-D52F-19ED-9E95-137B1840ECF2}"/>
              </a:ext>
            </a:extLst>
          </p:cNvPr>
          <p:cNvSpPr/>
          <p:nvPr/>
        </p:nvSpPr>
        <p:spPr>
          <a:xfrm>
            <a:off x="4433454" y="1640128"/>
            <a:ext cx="1551710" cy="60155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2-Stage Least-Squares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6B6D612-5AE4-06A8-057A-01863184258D}"/>
              </a:ext>
            </a:extLst>
          </p:cNvPr>
          <p:cNvSpPr/>
          <p:nvPr/>
        </p:nvSpPr>
        <p:spPr>
          <a:xfrm>
            <a:off x="3325090" y="1284816"/>
            <a:ext cx="2770910" cy="5171401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A246DF-E8AB-B8F5-78E8-86D7E7DF78F6}"/>
              </a:ext>
            </a:extLst>
          </p:cNvPr>
          <p:cNvSpPr/>
          <p:nvPr/>
        </p:nvSpPr>
        <p:spPr>
          <a:xfrm>
            <a:off x="9857507" y="1284817"/>
            <a:ext cx="2660073" cy="295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All the covariates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35143-ECDD-A181-A8DA-BBC311AE28B7}"/>
              </a:ext>
            </a:extLst>
          </p:cNvPr>
          <p:cNvSpPr/>
          <p:nvPr/>
        </p:nvSpPr>
        <p:spPr>
          <a:xfrm>
            <a:off x="9788236" y="1640128"/>
            <a:ext cx="1108362" cy="6015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Plain old regression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EB6D75-B1B3-680B-349F-535F946BA665}"/>
              </a:ext>
            </a:extLst>
          </p:cNvPr>
          <p:cNvSpPr/>
          <p:nvPr/>
        </p:nvSpPr>
        <p:spPr>
          <a:xfrm>
            <a:off x="10896599" y="1640128"/>
            <a:ext cx="1551710" cy="60155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2-Stage Least-Squares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518109A-8083-EEE9-CC2F-A2B3354D58A2}"/>
              </a:ext>
            </a:extLst>
          </p:cNvPr>
          <p:cNvSpPr/>
          <p:nvPr/>
        </p:nvSpPr>
        <p:spPr>
          <a:xfrm>
            <a:off x="9788235" y="1284816"/>
            <a:ext cx="2770910" cy="5171401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6707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C268C4-1E4A-205C-13FE-B4A432913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8C1C0-4B95-FA1B-8AF8-3A15708D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64187" cy="1325563"/>
          </a:xfrm>
        </p:spPr>
        <p:txBody>
          <a:bodyPr/>
          <a:lstStyle/>
          <a:p>
            <a:r>
              <a:rPr lang="en-US" dirty="0"/>
              <a:t>What did you think now?</a:t>
            </a:r>
            <a:br>
              <a:rPr lang="en-US" dirty="0"/>
            </a:br>
            <a:r>
              <a:rPr lang="en-US" sz="2800" dirty="0"/>
              <a:t>After seeing the results in more detail?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5752B-6058-7455-7DF2-456F473DA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you find this compelling?  What are some concerns?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C33E87-C2A0-1FA9-73E1-4F7FFD015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836" y="2885707"/>
            <a:ext cx="3432815" cy="304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6701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3294-2312-DF72-DEA0-0C17FC19D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110E6-8A2B-A6F5-ADB1-454A80415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64187" cy="1325563"/>
          </a:xfrm>
        </p:spPr>
        <p:txBody>
          <a:bodyPr/>
          <a:lstStyle/>
          <a:p>
            <a:r>
              <a:rPr lang="en-US" dirty="0"/>
              <a:t>Let’s revisit our concerns…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349C4-F64F-EE39-5251-58DE278F5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First, any new concerns after seeing the results?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11CCC4-21BC-0E27-DCE9-25F5A207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836" y="2885707"/>
            <a:ext cx="3432815" cy="304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6569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FB67-F14E-C2AE-4CA7-7165C2023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012" y="79052"/>
            <a:ext cx="10515600" cy="1325563"/>
          </a:xfrm>
        </p:spPr>
        <p:txBody>
          <a:bodyPr/>
          <a:lstStyle/>
          <a:p>
            <a:r>
              <a:rPr lang="en-US" dirty="0"/>
              <a:t>Concern: Independence/Exclusion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377226-ED5D-87FC-68CC-4DF89798D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12" y="1296792"/>
            <a:ext cx="8386481" cy="55612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941A80-07BD-6268-9A22-FC9BD4BF4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3560" y="5613790"/>
            <a:ext cx="3886200" cy="111496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4DB9F5-407D-DC7C-EB15-36C27BDA028A}"/>
              </a:ext>
            </a:extLst>
          </p:cNvPr>
          <p:cNvSpPr txBox="1"/>
          <p:nvPr/>
        </p:nvSpPr>
        <p:spPr>
          <a:xfrm>
            <a:off x="9018493" y="1668900"/>
            <a:ext cx="28854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Season of birth is correlated with maternal characteristics.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E.g., January births are more likely to be from mothers who are: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Teenagers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Unmarried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Non-white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No HS diploma</a:t>
            </a:r>
          </a:p>
        </p:txBody>
      </p:sp>
    </p:spTree>
    <p:extLst>
      <p:ext uri="{BB962C8B-B14F-4D97-AF65-F5344CB8AC3E}">
        <p14:creationId xmlns:p14="http://schemas.microsoft.com/office/powerpoint/2010/main" val="32604266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3B24D-9322-7F25-6230-55BCE2791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8965"/>
            <a:ext cx="10515600" cy="1325563"/>
          </a:xfrm>
        </p:spPr>
        <p:txBody>
          <a:bodyPr/>
          <a:lstStyle/>
          <a:p>
            <a:r>
              <a:rPr lang="en-US" dirty="0"/>
              <a:t>Concern: The effect of Z on X is weak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85BF8-7742-E70D-894E-CD295614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8804"/>
            <a:ext cx="10761343" cy="4351338"/>
          </a:xfrm>
        </p:spPr>
        <p:txBody>
          <a:bodyPr/>
          <a:lstStyle/>
          <a:p>
            <a:r>
              <a:rPr lang="en-US" dirty="0"/>
              <a:t>Quarter of birth has a significant but weak effect on education.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That would be fine if exclusion/independence holds, if we had infinite data, </a:t>
            </a:r>
            <a:r>
              <a:rPr lang="en-US" dirty="0" err="1">
                <a:solidFill>
                  <a:schemeClr val="accent1"/>
                </a:solidFill>
              </a:rPr>
              <a:t>etc</a:t>
            </a:r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pPr lvl="1"/>
            <a:endParaRPr lang="en-US" sz="1600" dirty="0">
              <a:solidFill>
                <a:schemeClr val="accent1"/>
              </a:solidFill>
            </a:endParaRPr>
          </a:p>
          <a:p>
            <a:r>
              <a:rPr lang="en-US" dirty="0"/>
              <a:t>Small error terms matter more when the effect of Z on X is weak.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Intuitively, you are dividing a small error term by another small number, which might make it a large error term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4F3EF7-3CDB-7D41-15DC-34A761492487}"/>
              </a:ext>
            </a:extLst>
          </p:cNvPr>
          <p:cNvGrpSpPr/>
          <p:nvPr/>
        </p:nvGrpSpPr>
        <p:grpSpPr>
          <a:xfrm>
            <a:off x="8727487" y="124591"/>
            <a:ext cx="3358097" cy="968748"/>
            <a:chOff x="838200" y="4327742"/>
            <a:chExt cx="10041383" cy="25629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AAC63B58-86DD-ADE1-9AAC-54426DFEF54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2D83BE1-94A3-EBA6-1D7C-2245CF04DAFA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E9B5BE78-5013-C0A2-92D3-65056AA566A7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B05FD6A-9E8C-28A1-DA8B-BDB75AC1E53C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BCCA35B-0A2A-FF90-9D35-936D8D5795B9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D73059D-36D0-8CDF-5547-44AAEA50F8B9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43A9DDF5-0713-4151-7199-CA456386C1AD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39A82B0D-C692-41D5-6644-8ED05EC74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CA9A052-2285-FE74-E87B-7E7651EDE606}"/>
                </a:ext>
              </a:extLst>
            </p:cNvPr>
            <p:cNvSpPr txBox="1"/>
            <p:nvPr/>
          </p:nvSpPr>
          <p:spPr>
            <a:xfrm>
              <a:off x="1420661" y="5995019"/>
              <a:ext cx="552383" cy="8956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1600" b="1" i="1" dirty="0">
                <a:solidFill>
                  <a:schemeClr val="accent2"/>
                </a:solidFill>
              </a:endParaRP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CC5D93B0-B1EC-A197-4F6E-793AF712FBF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840" y="5852689"/>
            <a:ext cx="4353560" cy="918422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D1AA8DA-3796-6BEA-8A4F-F342C1670BB2}"/>
              </a:ext>
            </a:extLst>
          </p:cNvPr>
          <p:cNvSpPr txBox="1"/>
          <p:nvPr/>
        </p:nvSpPr>
        <p:spPr>
          <a:xfrm>
            <a:off x="5010936" y="5253633"/>
            <a:ext cx="55168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This paper got similar results to [Angrist-Krueger’91] with </a:t>
            </a:r>
            <a:r>
              <a:rPr lang="en-US" b="1" dirty="0">
                <a:solidFill>
                  <a:schemeClr val="accent2"/>
                </a:solidFill>
              </a:rPr>
              <a:t>made-up random data </a:t>
            </a:r>
            <a:r>
              <a:rPr lang="en-US" dirty="0">
                <a:solidFill>
                  <a:schemeClr val="accent2"/>
                </a:solidFill>
              </a:rPr>
              <a:t>about birth quarter used as the instrument(s).  That may make us suspicious.</a:t>
            </a:r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713C0083-F7E6-C838-B3B8-C0C23CB91598}"/>
              </a:ext>
            </a:extLst>
          </p:cNvPr>
          <p:cNvCxnSpPr>
            <a:cxnSpLocks/>
            <a:stCxn id="15" idx="1"/>
            <a:endCxn id="14" idx="3"/>
          </p:cNvCxnSpPr>
          <p:nvPr/>
        </p:nvCxnSpPr>
        <p:spPr>
          <a:xfrm rot="10800000" flipV="1">
            <a:off x="4470400" y="5715298"/>
            <a:ext cx="540536" cy="596602"/>
          </a:xfrm>
          <a:prstGeom prst="curved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8458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8202B-6A13-8DD4-B27B-9FC808331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for a break!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ACD3E-ECE6-8B1B-4EDF-3A660EBE8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come back…how can </a:t>
            </a:r>
            <a:r>
              <a:rPr lang="en-US" b="1" dirty="0"/>
              <a:t>machine learning </a:t>
            </a:r>
            <a:r>
              <a:rPr lang="en-US" dirty="0"/>
              <a:t>help us with Instrumental Variables?</a:t>
            </a:r>
          </a:p>
        </p:txBody>
      </p:sp>
      <p:pic>
        <p:nvPicPr>
          <p:cNvPr id="1026" name="Picture 2" descr="Cute Blue Robot Clip Art Image - ClipSafari">
            <a:extLst>
              <a:ext uri="{FF2B5EF4-FFF2-40B4-BE49-F238E27FC236}">
                <a16:creationId xmlns:a16="http://schemas.microsoft.com/office/drawing/2014/main" id="{FA5D1CFB-DBC7-31F1-C2F3-067AE2F29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7180" y="4314190"/>
            <a:ext cx="2204661" cy="1997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FFBC8B42-CAFE-99E9-75C3-C0CBFB06ED39}"/>
              </a:ext>
            </a:extLst>
          </p:cNvPr>
          <p:cNvSpPr/>
          <p:nvPr/>
        </p:nvSpPr>
        <p:spPr>
          <a:xfrm>
            <a:off x="1356360" y="3139440"/>
            <a:ext cx="5669280" cy="2173605"/>
          </a:xfrm>
          <a:prstGeom prst="wedgeRoundRectCallout">
            <a:avLst>
              <a:gd name="adj1" fmla="val 71599"/>
              <a:gd name="adj2" fmla="val 14823"/>
              <a:gd name="adj3" fmla="val 16667"/>
            </a:avLst>
          </a:prstGeom>
          <a:solidFill>
            <a:srgbClr val="DFFBE5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EXOGENEITY TEST FAILED.</a:t>
            </a:r>
          </a:p>
          <a:p>
            <a:pPr algn="ctr"/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WARNING </a:t>
            </a:r>
          </a:p>
          <a:p>
            <a:pPr algn="ctr"/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WARNING </a:t>
            </a:r>
          </a:p>
          <a:p>
            <a:pPr algn="ctr"/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WARNING</a:t>
            </a:r>
            <a:endParaRPr lang="en-US" b="1" dirty="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1466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557E8-0128-CD66-E2FB-D7FBB4553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 Methods for IV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CAAF2-F19A-5D4F-3A8F-4C11C10AA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8623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62796-BEFA-E2F4-B10D-FC1D2DBD2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CE482-3D03-DE4E-DEA6-5638AF78E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can we use ML to analyze instruments?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can we use ML to identify instruments?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70D6107-5ECC-F350-7490-49C88741B3EB}"/>
              </a:ext>
            </a:extLst>
          </p:cNvPr>
          <p:cNvSpPr/>
          <p:nvPr/>
        </p:nvSpPr>
        <p:spPr>
          <a:xfrm rot="10368341">
            <a:off x="8663354" y="1443038"/>
            <a:ext cx="1101969" cy="7651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58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5428B-1D9D-A943-3EBB-D954107C7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story so far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885421-9C09-D082-4994-3D6CA53C70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Two-Stage Least Squares (2SLS):</a:t>
                </a:r>
              </a:p>
              <a:p>
                <a:pPr lvl="1"/>
                <a:r>
                  <a:rPr lang="en-US" dirty="0"/>
                  <a:t>First stage: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Second stage: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Why are we restricting ourselves to linear models?</a:t>
                </a:r>
              </a:p>
              <a:p>
                <a:r>
                  <a:rPr lang="en-US" dirty="0"/>
                  <a:t>Let’s replace them with neural networks!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885421-9C09-D082-4994-3D6CA53C7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CEEE0D81-4B60-5394-918C-13AAAABDD7BB}"/>
              </a:ext>
            </a:extLst>
          </p:cNvPr>
          <p:cNvGrpSpPr/>
          <p:nvPr/>
        </p:nvGrpSpPr>
        <p:grpSpPr>
          <a:xfrm>
            <a:off x="9220200" y="1828515"/>
            <a:ext cx="2743200" cy="3475005"/>
            <a:chOff x="9220200" y="1828515"/>
            <a:chExt cx="2743200" cy="347500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9934A9C-98F1-F8D3-4FE5-2BD7FCD70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48508" y="3857780"/>
              <a:ext cx="624392" cy="144574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CC2532-A8F8-283F-B30C-02D8666E2986}"/>
                </a:ext>
              </a:extLst>
            </p:cNvPr>
            <p:cNvSpPr txBox="1"/>
            <p:nvPr/>
          </p:nvSpPr>
          <p:spPr>
            <a:xfrm>
              <a:off x="9220200" y="1828515"/>
              <a:ext cx="2743200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There are often good reasons to restrict to simpler models – e.g. to prevent over-fitting – but let’s say we have tons of data and want to take advantage of it.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9307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3FA2-7B9A-FF68-F07D-8CB19811C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C1558-16E6-9A45-2325-655111EC6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neural network is a function that looks something* like this: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DACE63-9621-2F3C-EB8D-70C63A92104F}"/>
              </a:ext>
            </a:extLst>
          </p:cNvPr>
          <p:cNvSpPr txBox="1"/>
          <p:nvPr/>
        </p:nvSpPr>
        <p:spPr>
          <a:xfrm>
            <a:off x="457200" y="6488668"/>
            <a:ext cx="585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*very simplified, relative to current state of the art…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49FF5-5111-7B0C-6004-3BF62B5DEAA5}"/>
              </a:ext>
            </a:extLst>
          </p:cNvPr>
          <p:cNvSpPr/>
          <p:nvPr/>
        </p:nvSpPr>
        <p:spPr>
          <a:xfrm>
            <a:off x="2468880" y="2667000"/>
            <a:ext cx="502920" cy="50292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16C48E4-40A7-2DEC-8B2F-3695A3048002}"/>
              </a:ext>
            </a:extLst>
          </p:cNvPr>
          <p:cNvSpPr/>
          <p:nvPr/>
        </p:nvSpPr>
        <p:spPr>
          <a:xfrm>
            <a:off x="2468880" y="3481625"/>
            <a:ext cx="502920" cy="50292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40B2F70-90AD-58B5-B19D-4315C6EFAA70}"/>
              </a:ext>
            </a:extLst>
          </p:cNvPr>
          <p:cNvSpPr/>
          <p:nvPr/>
        </p:nvSpPr>
        <p:spPr>
          <a:xfrm>
            <a:off x="2468880" y="4296250"/>
            <a:ext cx="502920" cy="50292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DBE7AA-029F-16F1-C64D-BD3444250CBA}"/>
              </a:ext>
            </a:extLst>
          </p:cNvPr>
          <p:cNvSpPr/>
          <p:nvPr/>
        </p:nvSpPr>
        <p:spPr>
          <a:xfrm>
            <a:off x="2468880" y="5110875"/>
            <a:ext cx="502920" cy="50292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AA96F4E-8E62-E4DF-E073-55A69A879A26}"/>
              </a:ext>
            </a:extLst>
          </p:cNvPr>
          <p:cNvGrpSpPr/>
          <p:nvPr/>
        </p:nvGrpSpPr>
        <p:grpSpPr>
          <a:xfrm>
            <a:off x="4351020" y="2451495"/>
            <a:ext cx="502920" cy="3761064"/>
            <a:chOff x="4351020" y="2451495"/>
            <a:chExt cx="502920" cy="3761064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A81A9B6-975A-95AC-6835-13AB0A343556}"/>
                </a:ext>
              </a:extLst>
            </p:cNvPr>
            <p:cNvSpPr/>
            <p:nvPr/>
          </p:nvSpPr>
          <p:spPr>
            <a:xfrm>
              <a:off x="4351020" y="245149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DAF1974-45F7-C226-C547-057E2262C497}"/>
                </a:ext>
              </a:extLst>
            </p:cNvPr>
            <p:cNvSpPr/>
            <p:nvPr/>
          </p:nvSpPr>
          <p:spPr>
            <a:xfrm>
              <a:off x="4351020" y="326826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2D39650-7166-AD97-AB69-A4EDAE75E718}"/>
                </a:ext>
              </a:extLst>
            </p:cNvPr>
            <p:cNvSpPr/>
            <p:nvPr/>
          </p:nvSpPr>
          <p:spPr>
            <a:xfrm>
              <a:off x="4351020" y="408979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7560A53-394C-B878-9904-7176712191AB}"/>
                </a:ext>
              </a:extLst>
            </p:cNvPr>
            <p:cNvSpPr/>
            <p:nvPr/>
          </p:nvSpPr>
          <p:spPr>
            <a:xfrm>
              <a:off x="4351020" y="4881919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6DB582-6202-35B7-5FCF-482CE4B11781}"/>
                </a:ext>
              </a:extLst>
            </p:cNvPr>
            <p:cNvSpPr/>
            <p:nvPr/>
          </p:nvSpPr>
          <p:spPr>
            <a:xfrm>
              <a:off x="4351020" y="5709639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8277433-DFEE-3B3B-4655-2F8CBF54FACA}"/>
              </a:ext>
            </a:extLst>
          </p:cNvPr>
          <p:cNvGrpSpPr/>
          <p:nvPr/>
        </p:nvGrpSpPr>
        <p:grpSpPr>
          <a:xfrm>
            <a:off x="6309360" y="2415899"/>
            <a:ext cx="502920" cy="3761064"/>
            <a:chOff x="4351020" y="2451495"/>
            <a:chExt cx="502920" cy="3761064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C195857-4BC5-1C72-2B8E-934D4B4DF5DA}"/>
                </a:ext>
              </a:extLst>
            </p:cNvPr>
            <p:cNvSpPr/>
            <p:nvPr/>
          </p:nvSpPr>
          <p:spPr>
            <a:xfrm>
              <a:off x="4351020" y="245149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B6EC006-167B-E520-C74E-7C887E64C9F1}"/>
                </a:ext>
              </a:extLst>
            </p:cNvPr>
            <p:cNvSpPr/>
            <p:nvPr/>
          </p:nvSpPr>
          <p:spPr>
            <a:xfrm>
              <a:off x="4351020" y="326826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897921A-0E27-0BAC-8A88-E4FB3B610106}"/>
                </a:ext>
              </a:extLst>
            </p:cNvPr>
            <p:cNvSpPr/>
            <p:nvPr/>
          </p:nvSpPr>
          <p:spPr>
            <a:xfrm>
              <a:off x="4351020" y="408979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3396184-12AA-A2BE-4A31-AAC1FBB1A8D3}"/>
                </a:ext>
              </a:extLst>
            </p:cNvPr>
            <p:cNvSpPr/>
            <p:nvPr/>
          </p:nvSpPr>
          <p:spPr>
            <a:xfrm>
              <a:off x="4351020" y="4881919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3DB1F87-DD56-C389-FC39-BB7D85362C0C}"/>
                </a:ext>
              </a:extLst>
            </p:cNvPr>
            <p:cNvSpPr/>
            <p:nvPr/>
          </p:nvSpPr>
          <p:spPr>
            <a:xfrm>
              <a:off x="4351020" y="5709639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4B61FAE-FC94-5D5D-689D-242749CE5746}"/>
              </a:ext>
            </a:extLst>
          </p:cNvPr>
          <p:cNvGrpSpPr/>
          <p:nvPr/>
        </p:nvGrpSpPr>
        <p:grpSpPr>
          <a:xfrm>
            <a:off x="8267700" y="2383630"/>
            <a:ext cx="502920" cy="3761064"/>
            <a:chOff x="4351020" y="2451495"/>
            <a:chExt cx="502920" cy="37610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C9984D0-35A7-14FF-69D9-C53BC0A43EA9}"/>
                </a:ext>
              </a:extLst>
            </p:cNvPr>
            <p:cNvSpPr/>
            <p:nvPr/>
          </p:nvSpPr>
          <p:spPr>
            <a:xfrm>
              <a:off x="4351020" y="245149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ACAC326-F941-9DA6-3503-ABAAF63622BF}"/>
                </a:ext>
              </a:extLst>
            </p:cNvPr>
            <p:cNvSpPr/>
            <p:nvPr/>
          </p:nvSpPr>
          <p:spPr>
            <a:xfrm>
              <a:off x="4351020" y="326826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1D039E5-A8E2-54A5-A4DE-79A161005A5A}"/>
                </a:ext>
              </a:extLst>
            </p:cNvPr>
            <p:cNvSpPr/>
            <p:nvPr/>
          </p:nvSpPr>
          <p:spPr>
            <a:xfrm>
              <a:off x="4351020" y="408979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AB34FD6-DB66-00D8-BC06-DF1C5DAE3E31}"/>
                </a:ext>
              </a:extLst>
            </p:cNvPr>
            <p:cNvSpPr/>
            <p:nvPr/>
          </p:nvSpPr>
          <p:spPr>
            <a:xfrm>
              <a:off x="4351020" y="4881919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7FCC44B-FA90-D662-E2BC-B4B8C45F0D4E}"/>
                </a:ext>
              </a:extLst>
            </p:cNvPr>
            <p:cNvSpPr/>
            <p:nvPr/>
          </p:nvSpPr>
          <p:spPr>
            <a:xfrm>
              <a:off x="4351020" y="5709639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312169AA-3D2A-451D-B545-828D75A177D5}"/>
              </a:ext>
            </a:extLst>
          </p:cNvPr>
          <p:cNvSpPr/>
          <p:nvPr/>
        </p:nvSpPr>
        <p:spPr>
          <a:xfrm>
            <a:off x="9810750" y="3989305"/>
            <a:ext cx="502920" cy="50292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5D2F6CA-D827-6E69-87A2-378A31336FD5}"/>
              </a:ext>
            </a:extLst>
          </p:cNvPr>
          <p:cNvGrpSpPr/>
          <p:nvPr/>
        </p:nvGrpSpPr>
        <p:grpSpPr>
          <a:xfrm>
            <a:off x="2971800" y="2702955"/>
            <a:ext cx="1379220" cy="3258144"/>
            <a:chOff x="2971800" y="2702955"/>
            <a:chExt cx="1379220" cy="3258144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E5920D4-3E66-13E3-EF94-934BECFA68FA}"/>
                </a:ext>
              </a:extLst>
            </p:cNvPr>
            <p:cNvCxnSpPr>
              <a:endCxn id="9" idx="2"/>
            </p:cNvCxnSpPr>
            <p:nvPr/>
          </p:nvCxnSpPr>
          <p:spPr>
            <a:xfrm flipV="1">
              <a:off x="2971800" y="2702955"/>
              <a:ext cx="1379220" cy="215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066426-D9A9-9129-2B85-B34201737746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2971800" y="2943465"/>
              <a:ext cx="1379220" cy="57626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FE3678E-181B-91FE-9D78-C9D9346915BC}"/>
                </a:ext>
              </a:extLst>
            </p:cNvPr>
            <p:cNvCxnSpPr>
              <a:cxnSpLocks/>
              <a:stCxn id="5" idx="6"/>
              <a:endCxn id="11" idx="2"/>
            </p:cNvCxnSpPr>
            <p:nvPr/>
          </p:nvCxnSpPr>
          <p:spPr>
            <a:xfrm>
              <a:off x="2971800" y="2918460"/>
              <a:ext cx="1379220" cy="14227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EE5C15-CA1F-E581-E3E0-77477CB485A3}"/>
                </a:ext>
              </a:extLst>
            </p:cNvPr>
            <p:cNvCxnSpPr>
              <a:cxnSpLocks/>
              <a:stCxn id="5" idx="6"/>
              <a:endCxn id="12" idx="2"/>
            </p:cNvCxnSpPr>
            <p:nvPr/>
          </p:nvCxnSpPr>
          <p:spPr>
            <a:xfrm>
              <a:off x="2971800" y="2918460"/>
              <a:ext cx="1379220" cy="221491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356E9BA-6AE8-F6B2-364C-8CA697156257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2971800" y="2979420"/>
              <a:ext cx="1379220" cy="298167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21B2E13-71DD-C4B0-161A-26DE20B35590}"/>
              </a:ext>
            </a:extLst>
          </p:cNvPr>
          <p:cNvGrpSpPr/>
          <p:nvPr/>
        </p:nvGrpSpPr>
        <p:grpSpPr>
          <a:xfrm>
            <a:off x="2971800" y="2712183"/>
            <a:ext cx="1379220" cy="3258144"/>
            <a:chOff x="2971800" y="2702955"/>
            <a:chExt cx="1379220" cy="32581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A3959D8-83EF-EAD7-948E-42915321EA05}"/>
                </a:ext>
              </a:extLst>
            </p:cNvPr>
            <p:cNvCxnSpPr>
              <a:cxnSpLocks/>
              <a:stCxn id="6" idx="6"/>
            </p:cNvCxnSpPr>
            <p:nvPr/>
          </p:nvCxnSpPr>
          <p:spPr>
            <a:xfrm flipV="1">
              <a:off x="2971800" y="2702955"/>
              <a:ext cx="1379220" cy="102090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A613CEF-8ED8-9F7F-6F95-CC785A74B6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71800" y="3519725"/>
              <a:ext cx="1379220" cy="1852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0FA947D-66CA-EE2D-715B-94833B986065}"/>
                </a:ext>
              </a:extLst>
            </p:cNvPr>
            <p:cNvCxnSpPr>
              <a:cxnSpLocks/>
            </p:cNvCxnSpPr>
            <p:nvPr/>
          </p:nvCxnSpPr>
          <p:spPr>
            <a:xfrm>
              <a:off x="2971800" y="3726361"/>
              <a:ext cx="1379220" cy="61489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B7EBA3E-482B-FE2B-191B-5CD9937D1023}"/>
                </a:ext>
              </a:extLst>
            </p:cNvPr>
            <p:cNvCxnSpPr>
              <a:cxnSpLocks/>
              <a:stCxn id="6" idx="6"/>
            </p:cNvCxnSpPr>
            <p:nvPr/>
          </p:nvCxnSpPr>
          <p:spPr>
            <a:xfrm>
              <a:off x="2971800" y="3723857"/>
              <a:ext cx="1379220" cy="140952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F8925D1-9D5B-210F-F6F9-760AB00A9751}"/>
                </a:ext>
              </a:extLst>
            </p:cNvPr>
            <p:cNvCxnSpPr>
              <a:cxnSpLocks/>
              <a:stCxn id="6" idx="6"/>
            </p:cNvCxnSpPr>
            <p:nvPr/>
          </p:nvCxnSpPr>
          <p:spPr>
            <a:xfrm>
              <a:off x="2971800" y="3723857"/>
              <a:ext cx="1379220" cy="22372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53D6FC2-1653-7585-5AAE-77400FE64FA6}"/>
              </a:ext>
            </a:extLst>
          </p:cNvPr>
          <p:cNvGrpSpPr/>
          <p:nvPr/>
        </p:nvGrpSpPr>
        <p:grpSpPr>
          <a:xfrm>
            <a:off x="2971800" y="2712183"/>
            <a:ext cx="1379220" cy="3258144"/>
            <a:chOff x="2971800" y="2702955"/>
            <a:chExt cx="1379220" cy="3258144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814CE1-0620-A4D3-077B-D6021CF6EAAA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2971800" y="2702955"/>
              <a:ext cx="1379220" cy="1835527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7792951-50CF-4CAE-DCE5-C66B934B3E46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2971800" y="3519725"/>
              <a:ext cx="1379220" cy="1018757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1613FA3-D5AC-FB9D-A6BC-9405CCE27B92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2971800" y="4341255"/>
              <a:ext cx="1379220" cy="197227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046F6B92-89D5-1F50-3950-1D3200E3E027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2971800" y="4538482"/>
              <a:ext cx="1379220" cy="594897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E1903A7-61B0-6FBA-CEE9-918BCCA0B0AB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2971800" y="4538482"/>
              <a:ext cx="1379220" cy="1422617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85B7C06-0DE7-0B55-AC87-9139E0EB8C0D}"/>
              </a:ext>
            </a:extLst>
          </p:cNvPr>
          <p:cNvGrpSpPr/>
          <p:nvPr/>
        </p:nvGrpSpPr>
        <p:grpSpPr>
          <a:xfrm>
            <a:off x="2971800" y="2712183"/>
            <a:ext cx="1379220" cy="3258144"/>
            <a:chOff x="2971800" y="2702955"/>
            <a:chExt cx="1379220" cy="3258144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091C643-FACA-B4F6-B117-1FB5490619C6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 flipV="1">
              <a:off x="2971800" y="2702955"/>
              <a:ext cx="1379220" cy="2650152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5E4E78E-37D6-1E20-13B3-F3532A7FE810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 flipV="1">
              <a:off x="2971800" y="3519725"/>
              <a:ext cx="1379220" cy="1833382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FD264F9-9238-715C-26D8-D0DA932DA3EF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 flipV="1">
              <a:off x="2971800" y="4341255"/>
              <a:ext cx="1379220" cy="1011852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174020C-9CEE-8828-29EC-413F43F11A0F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 flipV="1">
              <a:off x="2971800" y="5133379"/>
              <a:ext cx="1379220" cy="219728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134DFB7-9EFF-D9B3-1DBC-2B0B059B8903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>
              <a:off x="2971800" y="5353107"/>
              <a:ext cx="1379220" cy="607992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F64A0FA-E897-03E3-CA71-11693C1583F9}"/>
              </a:ext>
            </a:extLst>
          </p:cNvPr>
          <p:cNvGrpSpPr/>
          <p:nvPr/>
        </p:nvGrpSpPr>
        <p:grpSpPr>
          <a:xfrm>
            <a:off x="4850130" y="2625862"/>
            <a:ext cx="1463040" cy="3258144"/>
            <a:chOff x="2887980" y="2702955"/>
            <a:chExt cx="1463040" cy="3258144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21953639-EBFF-6550-9D08-CDD51FEC5E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87980" y="2702955"/>
              <a:ext cx="1463040" cy="77093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8B60130A-67AE-AF5E-BE1B-35EB1D8FD6A6}"/>
                </a:ext>
              </a:extLst>
            </p:cNvPr>
            <p:cNvCxnSpPr>
              <a:cxnSpLocks/>
            </p:cNvCxnSpPr>
            <p:nvPr/>
          </p:nvCxnSpPr>
          <p:spPr>
            <a:xfrm>
              <a:off x="2887980" y="2780048"/>
              <a:ext cx="1463040" cy="739677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BC2EF51D-8A9F-170F-11EB-1855A511E28E}"/>
                </a:ext>
              </a:extLst>
            </p:cNvPr>
            <p:cNvCxnSpPr>
              <a:cxnSpLocks/>
            </p:cNvCxnSpPr>
            <p:nvPr/>
          </p:nvCxnSpPr>
          <p:spPr>
            <a:xfrm>
              <a:off x="2887980" y="2780048"/>
              <a:ext cx="1463040" cy="1561207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3AA262A-ADF4-4237-EB68-7D48388C281C}"/>
                </a:ext>
              </a:extLst>
            </p:cNvPr>
            <p:cNvCxnSpPr>
              <a:cxnSpLocks/>
            </p:cNvCxnSpPr>
            <p:nvPr/>
          </p:nvCxnSpPr>
          <p:spPr>
            <a:xfrm>
              <a:off x="2887980" y="2780048"/>
              <a:ext cx="1463040" cy="2353331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F05D6EE6-F511-5F13-A5DF-51C6BDF4FB3F}"/>
                </a:ext>
              </a:extLst>
            </p:cNvPr>
            <p:cNvCxnSpPr>
              <a:cxnSpLocks/>
            </p:cNvCxnSpPr>
            <p:nvPr/>
          </p:nvCxnSpPr>
          <p:spPr>
            <a:xfrm>
              <a:off x="2887980" y="2780048"/>
              <a:ext cx="1463040" cy="3181051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C3CE29C-D34C-C748-71A6-AA41E5C9C1DE}"/>
              </a:ext>
            </a:extLst>
          </p:cNvPr>
          <p:cNvGrpSpPr/>
          <p:nvPr/>
        </p:nvGrpSpPr>
        <p:grpSpPr>
          <a:xfrm>
            <a:off x="4853940" y="2625862"/>
            <a:ext cx="1459230" cy="3258144"/>
            <a:chOff x="2891790" y="2702955"/>
            <a:chExt cx="1459230" cy="3258144"/>
          </a:xfrm>
        </p:grpSpPr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2D2B43D-73EC-1B05-ED70-9C2656E8AF4F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 flipV="1">
              <a:off x="2891790" y="2702955"/>
              <a:ext cx="1459230" cy="893863"/>
            </a:xfrm>
            <a:prstGeom prst="line">
              <a:avLst/>
            </a:prstGeom>
            <a:ln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11FE88C-E207-CFAB-50FD-98F09D7AC01E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 flipV="1">
              <a:off x="2891790" y="3519725"/>
              <a:ext cx="1459230" cy="77093"/>
            </a:xfrm>
            <a:prstGeom prst="line">
              <a:avLst/>
            </a:prstGeom>
            <a:ln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CDC1D44-2D37-8BF6-6CCC-3C9107D01B52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891790" y="3596818"/>
              <a:ext cx="1459230" cy="744437"/>
            </a:xfrm>
            <a:prstGeom prst="line">
              <a:avLst/>
            </a:prstGeom>
            <a:ln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635AC86B-4B93-1039-51E8-4B082E681F96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891790" y="3596818"/>
              <a:ext cx="1459230" cy="1536561"/>
            </a:xfrm>
            <a:prstGeom prst="line">
              <a:avLst/>
            </a:prstGeom>
            <a:ln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E1CACA53-5AD7-13ED-F76E-94B1487F80A5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891790" y="3596818"/>
              <a:ext cx="1459230" cy="2364281"/>
            </a:xfrm>
            <a:prstGeom prst="line">
              <a:avLst/>
            </a:prstGeom>
            <a:ln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AE211DE-B107-10C8-1CF5-5E225AC7C1F3}"/>
              </a:ext>
            </a:extLst>
          </p:cNvPr>
          <p:cNvGrpSpPr/>
          <p:nvPr/>
        </p:nvGrpSpPr>
        <p:grpSpPr>
          <a:xfrm>
            <a:off x="4853940" y="2625862"/>
            <a:ext cx="1457325" cy="3258144"/>
            <a:chOff x="2893695" y="2702955"/>
            <a:chExt cx="1457325" cy="3258144"/>
          </a:xfrm>
        </p:grpSpPr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E27738C-4EDC-8A1F-90CB-C18004371B47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893695" y="2702955"/>
              <a:ext cx="1457325" cy="1715393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DFF25EF-4876-944F-3074-F055353389AB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893695" y="3519725"/>
              <a:ext cx="1457325" cy="898623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12CBF5F-482E-A7CC-28B3-EAF1EF37BD29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893695" y="4341255"/>
              <a:ext cx="1457325" cy="77093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9056CFE-6D5F-15A7-2BA1-1B5C26E3E68D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>
              <a:off x="2893695" y="4418348"/>
              <a:ext cx="1457325" cy="71503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0329396E-6D26-5252-4647-17E8C7F0E95E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>
              <a:off x="2893695" y="4418348"/>
              <a:ext cx="1457325" cy="15427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FD94F93-6108-D514-471F-030DC5F19F76}"/>
              </a:ext>
            </a:extLst>
          </p:cNvPr>
          <p:cNvGrpSpPr/>
          <p:nvPr/>
        </p:nvGrpSpPr>
        <p:grpSpPr>
          <a:xfrm>
            <a:off x="4853940" y="2625862"/>
            <a:ext cx="1456372" cy="3258144"/>
            <a:chOff x="2894648" y="2702955"/>
            <a:chExt cx="1456372" cy="3258144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C3DD21F2-7DC5-D55C-9E6C-0AF3CC097ACA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 flipV="1">
              <a:off x="2894648" y="2702955"/>
              <a:ext cx="1456372" cy="2507517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BCC351C-31AD-B2CF-86C7-6AA638BD400A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 flipV="1">
              <a:off x="2894648" y="3519725"/>
              <a:ext cx="1456372" cy="1690747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830ED6F1-3552-8D9D-0874-FCFD74D122A9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 flipV="1">
              <a:off x="2894648" y="4341255"/>
              <a:ext cx="1456372" cy="869217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38364AF-052C-C637-6787-253F642B867E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 flipV="1">
              <a:off x="2894648" y="5133379"/>
              <a:ext cx="1456372" cy="77093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F8A1E0A-0F7B-0D73-B4EF-8945CE0FB643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2894648" y="5210472"/>
              <a:ext cx="1456372" cy="750627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C6D7A9D2-659A-1142-EBA6-BA359B15FFCA}"/>
              </a:ext>
            </a:extLst>
          </p:cNvPr>
          <p:cNvGrpSpPr/>
          <p:nvPr/>
        </p:nvGrpSpPr>
        <p:grpSpPr>
          <a:xfrm>
            <a:off x="4853940" y="2625862"/>
            <a:ext cx="1455896" cy="3335237"/>
            <a:chOff x="2895124" y="2702955"/>
            <a:chExt cx="1455896" cy="3335237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0C110D4D-3CDD-9979-9EA7-58C76C25CC49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2895124" y="2702955"/>
              <a:ext cx="1455896" cy="3335237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26BFC82-D660-4DB0-20FF-08FE29E261F7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2895124" y="3519725"/>
              <a:ext cx="1455896" cy="2518467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A7C95A3-991E-426C-7712-977ED9CC201D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2895124" y="4341255"/>
              <a:ext cx="1455896" cy="1696937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F3CF24FF-0BBC-7FB4-376B-8C59AD059C16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2895124" y="5133379"/>
              <a:ext cx="1455896" cy="904813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53123F5-06E3-3BBB-82BF-8347697D452B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2895124" y="5961099"/>
              <a:ext cx="1455896" cy="77093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4110943B-1A8B-6C0D-5430-FB96BF816F3B}"/>
              </a:ext>
            </a:extLst>
          </p:cNvPr>
          <p:cNvGrpSpPr/>
          <p:nvPr/>
        </p:nvGrpSpPr>
        <p:grpSpPr>
          <a:xfrm>
            <a:off x="6797516" y="2616634"/>
            <a:ext cx="1463040" cy="3335237"/>
            <a:chOff x="5002530" y="2778262"/>
            <a:chExt cx="1463040" cy="3335237"/>
          </a:xfrm>
        </p:grpSpPr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351C08C8-0CC6-F7D1-FCC4-31E5FA3D37E9}"/>
                </a:ext>
              </a:extLst>
            </p:cNvPr>
            <p:cNvGrpSpPr/>
            <p:nvPr/>
          </p:nvGrpSpPr>
          <p:grpSpPr>
            <a:xfrm>
              <a:off x="5002530" y="2778262"/>
              <a:ext cx="1463040" cy="3258144"/>
              <a:chOff x="2887980" y="2702955"/>
              <a:chExt cx="1463040" cy="3258144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17134BCF-2051-CFF4-031F-AF0C376BB67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7980" y="2702955"/>
                <a:ext cx="1463040" cy="77093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382D1698-1263-3DF8-2569-DA4BD47363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73967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4C76D5DF-DABF-2F78-F069-932A576570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156120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0298BB3E-7244-3F09-FD50-10497FA99C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2353331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BA28647F-D151-8766-1120-15C206F2F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3181051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4316F487-E414-45D0-51CF-356BE1CEF5BC}"/>
                </a:ext>
              </a:extLst>
            </p:cNvPr>
            <p:cNvGrpSpPr/>
            <p:nvPr/>
          </p:nvGrpSpPr>
          <p:grpSpPr>
            <a:xfrm>
              <a:off x="5006340" y="2778262"/>
              <a:ext cx="1459230" cy="3258144"/>
              <a:chOff x="2891790" y="2702955"/>
              <a:chExt cx="1459230" cy="3258144"/>
            </a:xfrm>
          </p:grpSpPr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B50D7F09-A5A9-3328-7693-0F6FE2CE90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1790" y="2702955"/>
                <a:ext cx="1459230" cy="893863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ABF1CE4C-37F7-C44A-A60E-2981415AF54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1790" y="3519725"/>
                <a:ext cx="1459230" cy="77093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4B08F50B-23A5-FAA0-9212-C65E43C723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1790" y="3596818"/>
                <a:ext cx="1459230" cy="744437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7DFB83AF-48C0-4FBF-4467-833737B272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1790" y="3596818"/>
                <a:ext cx="1459230" cy="1536561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6566A4EB-DFBB-F5AF-4764-978DECACDC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1790" y="3596818"/>
                <a:ext cx="1459230" cy="2364281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9E4B5EFD-1225-A232-8D58-D4E1D1DEC763}"/>
                </a:ext>
              </a:extLst>
            </p:cNvPr>
            <p:cNvGrpSpPr/>
            <p:nvPr/>
          </p:nvGrpSpPr>
          <p:grpSpPr>
            <a:xfrm>
              <a:off x="5006340" y="2778262"/>
              <a:ext cx="1457325" cy="3258144"/>
              <a:chOff x="2893695" y="2702955"/>
              <a:chExt cx="1457325" cy="3258144"/>
            </a:xfrm>
          </p:grpSpPr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3423FFE3-88DF-B734-B563-1D8C32428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3695" y="2702955"/>
                <a:ext cx="1457325" cy="171539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A5BEFC4F-E0FC-57E2-2683-E08E3128C3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3695" y="3519725"/>
                <a:ext cx="1457325" cy="89862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D313E2BB-FAF9-73F6-9D89-1AD9269CC7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3695" y="4341255"/>
                <a:ext cx="1457325" cy="7709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D2A16869-84A6-2E35-CF91-C79349F5D4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3695" y="4418348"/>
                <a:ext cx="1457325" cy="715031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CEFC3D8B-FDD4-5708-B48A-65D5A3D1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3695" y="4418348"/>
                <a:ext cx="1457325" cy="1542751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3A545410-3B65-CDF0-C2E9-7B8CD0791562}"/>
                </a:ext>
              </a:extLst>
            </p:cNvPr>
            <p:cNvGrpSpPr/>
            <p:nvPr/>
          </p:nvGrpSpPr>
          <p:grpSpPr>
            <a:xfrm>
              <a:off x="5006340" y="2778262"/>
              <a:ext cx="1456372" cy="3258144"/>
              <a:chOff x="2894648" y="2702955"/>
              <a:chExt cx="1456372" cy="3258144"/>
            </a:xfrm>
          </p:grpSpPr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8274376F-4794-7AED-A71A-80CF631A69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4648" y="2702955"/>
                <a:ext cx="1456372" cy="250751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A49D255F-A89A-B3C3-FC47-53B8E46D88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4648" y="3519725"/>
                <a:ext cx="1456372" cy="169074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4A275C0A-2B22-E1EE-7924-392A62DB2F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4648" y="4341255"/>
                <a:ext cx="1456372" cy="86921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BFA3D35A-F3B5-82CB-ABD4-A698FAFE84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4648" y="5133379"/>
                <a:ext cx="1456372" cy="77093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0EADE7A-1FD6-0902-F86C-D9C5EA6B91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4648" y="5210472"/>
                <a:ext cx="1456372" cy="75062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0B67D875-2240-5B12-F092-C69E1D328120}"/>
                </a:ext>
              </a:extLst>
            </p:cNvPr>
            <p:cNvGrpSpPr/>
            <p:nvPr/>
          </p:nvGrpSpPr>
          <p:grpSpPr>
            <a:xfrm>
              <a:off x="5006340" y="2778262"/>
              <a:ext cx="1455896" cy="3335237"/>
              <a:chOff x="2895124" y="2702955"/>
              <a:chExt cx="1455896" cy="3335237"/>
            </a:xfrm>
          </p:grpSpPr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BACCD89-E5B0-0942-623F-5AFF814BA7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5124" y="2702955"/>
                <a:ext cx="1455896" cy="333523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41CE0DAA-E95C-5883-238A-249A7926C9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5124" y="3519725"/>
                <a:ext cx="1455896" cy="251846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234D4AB3-C514-E88D-22DE-319DFC0EBF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5124" y="4341255"/>
                <a:ext cx="1455896" cy="169693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796A54FC-227C-D0FB-181E-6AD8D6BCCC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5124" y="5133379"/>
                <a:ext cx="1455896" cy="904813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01FA65A-3B15-4542-2D88-731CF686AE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5124" y="5961099"/>
                <a:ext cx="1455896" cy="77093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5199E40A-0651-5AC2-ACF5-5D9C1B2989AF}"/>
              </a:ext>
            </a:extLst>
          </p:cNvPr>
          <p:cNvCxnSpPr>
            <a:cxnSpLocks/>
            <a:stCxn id="29" idx="2"/>
            <a:endCxn id="24" idx="6"/>
          </p:cNvCxnSpPr>
          <p:nvPr/>
        </p:nvCxnSpPr>
        <p:spPr>
          <a:xfrm flipH="1" flipV="1">
            <a:off x="8770620" y="2635090"/>
            <a:ext cx="1040130" cy="1605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0345BFD-4C55-1F34-A6B8-E5553DE74E4F}"/>
              </a:ext>
            </a:extLst>
          </p:cNvPr>
          <p:cNvCxnSpPr>
            <a:cxnSpLocks/>
            <a:stCxn id="29" idx="2"/>
            <a:endCxn id="25" idx="6"/>
          </p:cNvCxnSpPr>
          <p:nvPr/>
        </p:nvCxnSpPr>
        <p:spPr>
          <a:xfrm flipH="1" flipV="1">
            <a:off x="8770620" y="3451860"/>
            <a:ext cx="1040130" cy="7889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85CC9AB6-D724-95DE-BA94-EB9E72858882}"/>
              </a:ext>
            </a:extLst>
          </p:cNvPr>
          <p:cNvCxnSpPr>
            <a:cxnSpLocks/>
            <a:stCxn id="29" idx="2"/>
            <a:endCxn id="26" idx="6"/>
          </p:cNvCxnSpPr>
          <p:nvPr/>
        </p:nvCxnSpPr>
        <p:spPr>
          <a:xfrm flipH="1">
            <a:off x="8770620" y="4240765"/>
            <a:ext cx="1040130" cy="326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8BC6AF89-7D92-64F5-31F3-F7D1143715A9}"/>
              </a:ext>
            </a:extLst>
          </p:cNvPr>
          <p:cNvCxnSpPr>
            <a:cxnSpLocks/>
            <a:stCxn id="29" idx="2"/>
            <a:endCxn id="27" idx="6"/>
          </p:cNvCxnSpPr>
          <p:nvPr/>
        </p:nvCxnSpPr>
        <p:spPr>
          <a:xfrm flipH="1">
            <a:off x="8770620" y="4240765"/>
            <a:ext cx="1040130" cy="824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78A2906-5126-84E7-6CAA-BA83E7E5EB44}"/>
              </a:ext>
            </a:extLst>
          </p:cNvPr>
          <p:cNvCxnSpPr>
            <a:cxnSpLocks/>
            <a:stCxn id="29" idx="2"/>
            <a:endCxn id="28" idx="6"/>
          </p:cNvCxnSpPr>
          <p:nvPr/>
        </p:nvCxnSpPr>
        <p:spPr>
          <a:xfrm flipH="1">
            <a:off x="8770620" y="4240765"/>
            <a:ext cx="1040130" cy="16524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Right Arrow 193">
            <a:extLst>
              <a:ext uri="{FF2B5EF4-FFF2-40B4-BE49-F238E27FC236}">
                <a16:creationId xmlns:a16="http://schemas.microsoft.com/office/drawing/2014/main" id="{159D8943-85CC-6916-EB24-BB173A18EB31}"/>
              </a:ext>
            </a:extLst>
          </p:cNvPr>
          <p:cNvSpPr/>
          <p:nvPr/>
        </p:nvSpPr>
        <p:spPr>
          <a:xfrm>
            <a:off x="1695450" y="2771300"/>
            <a:ext cx="594360" cy="34433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Right Arrow 194">
            <a:extLst>
              <a:ext uri="{FF2B5EF4-FFF2-40B4-BE49-F238E27FC236}">
                <a16:creationId xmlns:a16="http://schemas.microsoft.com/office/drawing/2014/main" id="{1B266862-7BFC-B37B-6C66-61E21FBBEB7F}"/>
              </a:ext>
            </a:extLst>
          </p:cNvPr>
          <p:cNvSpPr/>
          <p:nvPr/>
        </p:nvSpPr>
        <p:spPr>
          <a:xfrm>
            <a:off x="1703070" y="3547613"/>
            <a:ext cx="594360" cy="34433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Right Arrow 195">
            <a:extLst>
              <a:ext uri="{FF2B5EF4-FFF2-40B4-BE49-F238E27FC236}">
                <a16:creationId xmlns:a16="http://schemas.microsoft.com/office/drawing/2014/main" id="{D548D07E-5F0F-F49D-3AF0-8B601A9B08F4}"/>
              </a:ext>
            </a:extLst>
          </p:cNvPr>
          <p:cNvSpPr/>
          <p:nvPr/>
        </p:nvSpPr>
        <p:spPr>
          <a:xfrm>
            <a:off x="1703070" y="4341255"/>
            <a:ext cx="594360" cy="34433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ight Arrow 196">
            <a:extLst>
              <a:ext uri="{FF2B5EF4-FFF2-40B4-BE49-F238E27FC236}">
                <a16:creationId xmlns:a16="http://schemas.microsoft.com/office/drawing/2014/main" id="{C7FB962C-F98E-B9B4-E16F-274A49328194}"/>
              </a:ext>
            </a:extLst>
          </p:cNvPr>
          <p:cNvSpPr/>
          <p:nvPr/>
        </p:nvSpPr>
        <p:spPr>
          <a:xfrm>
            <a:off x="1703070" y="5252471"/>
            <a:ext cx="594360" cy="34433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Rounded Rectangle 197">
            <a:extLst>
              <a:ext uri="{FF2B5EF4-FFF2-40B4-BE49-F238E27FC236}">
                <a16:creationId xmlns:a16="http://schemas.microsoft.com/office/drawing/2014/main" id="{375FF708-7F4C-776E-49D2-81778828BB4C}"/>
              </a:ext>
            </a:extLst>
          </p:cNvPr>
          <p:cNvSpPr/>
          <p:nvPr/>
        </p:nvSpPr>
        <p:spPr>
          <a:xfrm>
            <a:off x="838200" y="2625862"/>
            <a:ext cx="1021080" cy="325814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Inputs</a:t>
            </a:r>
          </a:p>
        </p:txBody>
      </p:sp>
      <p:sp>
        <p:nvSpPr>
          <p:cNvPr id="199" name="Right Arrow 198">
            <a:extLst>
              <a:ext uri="{FF2B5EF4-FFF2-40B4-BE49-F238E27FC236}">
                <a16:creationId xmlns:a16="http://schemas.microsoft.com/office/drawing/2014/main" id="{6D15002B-369C-DAFB-DA1E-5FD55C040DAC}"/>
              </a:ext>
            </a:extLst>
          </p:cNvPr>
          <p:cNvSpPr/>
          <p:nvPr/>
        </p:nvSpPr>
        <p:spPr>
          <a:xfrm>
            <a:off x="10521314" y="3908100"/>
            <a:ext cx="1152525" cy="66533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Output</a:t>
            </a:r>
          </a:p>
        </p:txBody>
      </p: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5E5E266-6E32-1EA7-5D55-BF02C156C882}"/>
              </a:ext>
            </a:extLst>
          </p:cNvPr>
          <p:cNvGrpSpPr/>
          <p:nvPr/>
        </p:nvGrpSpPr>
        <p:grpSpPr>
          <a:xfrm>
            <a:off x="8770620" y="137160"/>
            <a:ext cx="3055396" cy="2234201"/>
            <a:chOff x="8770620" y="137160"/>
            <a:chExt cx="3055396" cy="2234201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63B3E40E-7570-878D-4840-10B710893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01624" y="925621"/>
              <a:ext cx="624392" cy="1445740"/>
            </a:xfrm>
            <a:prstGeom prst="rect">
              <a:avLst/>
            </a:prstGeom>
          </p:spPr>
        </p:pic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371AED48-149B-4E91-A1C5-3CF1BDD4B116}"/>
                </a:ext>
              </a:extLst>
            </p:cNvPr>
            <p:cNvSpPr txBox="1"/>
            <p:nvPr/>
          </p:nvSpPr>
          <p:spPr>
            <a:xfrm>
              <a:off x="8770620" y="137160"/>
              <a:ext cx="305539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Each edge has a “weight” that tells the network how to propagate values from the input to the output.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5649856"/>
      </p:ext>
    </p:extLst>
  </p:cSld>
  <p:clrMapOvr>
    <a:masterClrMapping/>
  </p:clrMapOvr>
  <p:transition spd="slow">
    <p:push dir="r"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CE506-1B75-B5E7-B589-F442AB80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5A595-CCA3-FE7B-76E5-5A77205AC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B389-8F15-BBE5-EE2D-B336DFE3B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neural network is a function that looks something* like this</a:t>
            </a:r>
          </a:p>
          <a:p>
            <a:r>
              <a:rPr lang="en-US" dirty="0"/>
              <a:t>If you give it a bunch of examples of (Input, Output) pairs, it can “learn” weights to predict future examples.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“Learn” = “Solve an optimization problem to find the best weights”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D0E592-DB78-9DD3-8136-FCE0B5CB89E1}"/>
              </a:ext>
            </a:extLst>
          </p:cNvPr>
          <p:cNvSpPr txBox="1"/>
          <p:nvPr/>
        </p:nvSpPr>
        <p:spPr>
          <a:xfrm>
            <a:off x="457200" y="6488668"/>
            <a:ext cx="585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*very simplified, relative to current state of the art…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F9D1C86-350C-12B4-C0BE-32AA44561F43}"/>
              </a:ext>
            </a:extLst>
          </p:cNvPr>
          <p:cNvGrpSpPr/>
          <p:nvPr/>
        </p:nvGrpSpPr>
        <p:grpSpPr>
          <a:xfrm>
            <a:off x="6789592" y="4486640"/>
            <a:ext cx="4884247" cy="1725919"/>
            <a:chOff x="838200" y="2383630"/>
            <a:chExt cx="10835639" cy="382892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DE295F4-8D9E-268C-72ED-C7E65F8C7CF2}"/>
                </a:ext>
              </a:extLst>
            </p:cNvPr>
            <p:cNvSpPr/>
            <p:nvPr/>
          </p:nvSpPr>
          <p:spPr>
            <a:xfrm>
              <a:off x="2468880" y="2667000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4878E18-A2B6-8EC8-359F-F65E83BC5811}"/>
                </a:ext>
              </a:extLst>
            </p:cNvPr>
            <p:cNvSpPr/>
            <p:nvPr/>
          </p:nvSpPr>
          <p:spPr>
            <a:xfrm>
              <a:off x="2468880" y="348162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6F17577-B6F2-1373-5471-D336790BE291}"/>
                </a:ext>
              </a:extLst>
            </p:cNvPr>
            <p:cNvSpPr/>
            <p:nvPr/>
          </p:nvSpPr>
          <p:spPr>
            <a:xfrm>
              <a:off x="2468880" y="4296250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362EB7D-FA0F-12D1-BFF0-08EE75ABBF0D}"/>
                </a:ext>
              </a:extLst>
            </p:cNvPr>
            <p:cNvSpPr/>
            <p:nvPr/>
          </p:nvSpPr>
          <p:spPr>
            <a:xfrm>
              <a:off x="2468880" y="511087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1EBB87-2A6B-C4EF-B9D8-F73642245039}"/>
                </a:ext>
              </a:extLst>
            </p:cNvPr>
            <p:cNvGrpSpPr/>
            <p:nvPr/>
          </p:nvGrpSpPr>
          <p:grpSpPr>
            <a:xfrm>
              <a:off x="4351020" y="2451495"/>
              <a:ext cx="502920" cy="3761064"/>
              <a:chOff x="4351020" y="2451495"/>
              <a:chExt cx="502920" cy="376106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47FCEBE-BB27-2E67-1D3E-7A7C4832BF39}"/>
                  </a:ext>
                </a:extLst>
              </p:cNvPr>
              <p:cNvSpPr/>
              <p:nvPr/>
            </p:nvSpPr>
            <p:spPr>
              <a:xfrm>
                <a:off x="4351020" y="24514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91E8137-D8DE-ADC4-19D5-99569AD3F8E9}"/>
                  </a:ext>
                </a:extLst>
              </p:cNvPr>
              <p:cNvSpPr/>
              <p:nvPr/>
            </p:nvSpPr>
            <p:spPr>
              <a:xfrm>
                <a:off x="4351020" y="326826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69D7FB5-B028-0586-0A45-582222C82045}"/>
                  </a:ext>
                </a:extLst>
              </p:cNvPr>
              <p:cNvSpPr/>
              <p:nvPr/>
            </p:nvSpPr>
            <p:spPr>
              <a:xfrm>
                <a:off x="4351020" y="40897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F4508ED-135F-E0E9-2176-770CB6331015}"/>
                  </a:ext>
                </a:extLst>
              </p:cNvPr>
              <p:cNvSpPr/>
              <p:nvPr/>
            </p:nvSpPr>
            <p:spPr>
              <a:xfrm>
                <a:off x="4351020" y="488191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26DDEA1-8EE6-4AD5-921A-51D3614BFBB1}"/>
                  </a:ext>
                </a:extLst>
              </p:cNvPr>
              <p:cNvSpPr/>
              <p:nvPr/>
            </p:nvSpPr>
            <p:spPr>
              <a:xfrm>
                <a:off x="4351020" y="570963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7BBDF79-68BA-0468-E0F3-5DDF293545F6}"/>
                </a:ext>
              </a:extLst>
            </p:cNvPr>
            <p:cNvGrpSpPr/>
            <p:nvPr/>
          </p:nvGrpSpPr>
          <p:grpSpPr>
            <a:xfrm>
              <a:off x="6309360" y="2415899"/>
              <a:ext cx="502920" cy="3761064"/>
              <a:chOff x="4351020" y="2451495"/>
              <a:chExt cx="502920" cy="3761064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6E6C6F0-C898-4C56-8BE1-0FAAAB02B148}"/>
                  </a:ext>
                </a:extLst>
              </p:cNvPr>
              <p:cNvSpPr/>
              <p:nvPr/>
            </p:nvSpPr>
            <p:spPr>
              <a:xfrm>
                <a:off x="4351020" y="24514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D998816-CF4F-5AFA-F999-5E198384D6FF}"/>
                  </a:ext>
                </a:extLst>
              </p:cNvPr>
              <p:cNvSpPr/>
              <p:nvPr/>
            </p:nvSpPr>
            <p:spPr>
              <a:xfrm>
                <a:off x="4351020" y="326826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B5A03D2-9B6D-E157-89E4-499179909550}"/>
                  </a:ext>
                </a:extLst>
              </p:cNvPr>
              <p:cNvSpPr/>
              <p:nvPr/>
            </p:nvSpPr>
            <p:spPr>
              <a:xfrm>
                <a:off x="4351020" y="40897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836FB9-D2D3-2340-06FB-515B5F9F437C}"/>
                  </a:ext>
                </a:extLst>
              </p:cNvPr>
              <p:cNvSpPr/>
              <p:nvPr/>
            </p:nvSpPr>
            <p:spPr>
              <a:xfrm>
                <a:off x="4351020" y="488191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AB905EC-523A-C022-4B18-EA59742D9FFA}"/>
                  </a:ext>
                </a:extLst>
              </p:cNvPr>
              <p:cNvSpPr/>
              <p:nvPr/>
            </p:nvSpPr>
            <p:spPr>
              <a:xfrm>
                <a:off x="4351020" y="570963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9AA0E30-2EDB-A0CB-42FB-A800D6EC3A92}"/>
                </a:ext>
              </a:extLst>
            </p:cNvPr>
            <p:cNvGrpSpPr/>
            <p:nvPr/>
          </p:nvGrpSpPr>
          <p:grpSpPr>
            <a:xfrm>
              <a:off x="8267700" y="2383630"/>
              <a:ext cx="502920" cy="3761064"/>
              <a:chOff x="4351020" y="2451495"/>
              <a:chExt cx="502920" cy="3761064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75E3939-BDA7-093E-528D-84707468C803}"/>
                  </a:ext>
                </a:extLst>
              </p:cNvPr>
              <p:cNvSpPr/>
              <p:nvPr/>
            </p:nvSpPr>
            <p:spPr>
              <a:xfrm>
                <a:off x="4351020" y="24514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4EB4755-DE2B-71E2-15B5-8A2206086D8C}"/>
                  </a:ext>
                </a:extLst>
              </p:cNvPr>
              <p:cNvSpPr/>
              <p:nvPr/>
            </p:nvSpPr>
            <p:spPr>
              <a:xfrm>
                <a:off x="4351020" y="326826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BA1BDB7-961F-E906-68E7-B16749540222}"/>
                  </a:ext>
                </a:extLst>
              </p:cNvPr>
              <p:cNvSpPr/>
              <p:nvPr/>
            </p:nvSpPr>
            <p:spPr>
              <a:xfrm>
                <a:off x="4351020" y="40897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9A837102-2B57-9682-8203-851A89400513}"/>
                  </a:ext>
                </a:extLst>
              </p:cNvPr>
              <p:cNvSpPr/>
              <p:nvPr/>
            </p:nvSpPr>
            <p:spPr>
              <a:xfrm>
                <a:off x="4351020" y="488191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E621AC2-86E8-75AC-0B56-7022F3B61260}"/>
                  </a:ext>
                </a:extLst>
              </p:cNvPr>
              <p:cNvSpPr/>
              <p:nvPr/>
            </p:nvSpPr>
            <p:spPr>
              <a:xfrm>
                <a:off x="4351020" y="570963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</p:grp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132AACC-E6C0-C461-7EA8-CEB5C9C949CB}"/>
                </a:ext>
              </a:extLst>
            </p:cNvPr>
            <p:cNvSpPr/>
            <p:nvPr/>
          </p:nvSpPr>
          <p:spPr>
            <a:xfrm>
              <a:off x="9810750" y="398930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96153C7-A69F-5E3C-F003-640A0A41A551}"/>
                </a:ext>
              </a:extLst>
            </p:cNvPr>
            <p:cNvGrpSpPr/>
            <p:nvPr/>
          </p:nvGrpSpPr>
          <p:grpSpPr>
            <a:xfrm>
              <a:off x="2971800" y="2702955"/>
              <a:ext cx="1379220" cy="3258144"/>
              <a:chOff x="2971800" y="2702955"/>
              <a:chExt cx="1379220" cy="3258144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D95EC515-E74B-C464-A150-DC81ED3D99F7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 flipV="1">
                <a:off x="2971800" y="2702955"/>
                <a:ext cx="1379220" cy="21550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CE42F962-D38E-BEE6-D4CC-2EB326010509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>
                <a:off x="2971800" y="2943465"/>
                <a:ext cx="1379220" cy="5762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57A8F852-10DB-CAF4-2796-8CCB13F0FA73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>
                <a:off x="2971800" y="2918460"/>
                <a:ext cx="1379220" cy="142279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A7AC14-EB72-14A6-576F-1C2E5DFCEEC3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2971800" y="2918460"/>
                <a:ext cx="1379220" cy="221491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4FE34BC-C837-C915-2900-04C4F865B014}"/>
                  </a:ext>
                </a:extLst>
              </p:cNvPr>
              <p:cNvCxnSpPr>
                <a:cxnSpLocks/>
                <a:endCxn id="13" idx="2"/>
              </p:cNvCxnSpPr>
              <p:nvPr/>
            </p:nvCxnSpPr>
            <p:spPr>
              <a:xfrm>
                <a:off x="2971800" y="2979420"/>
                <a:ext cx="1379220" cy="298167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1CC280C-5017-0E3E-92AC-1A355D47E74F}"/>
                </a:ext>
              </a:extLst>
            </p:cNvPr>
            <p:cNvGrpSpPr/>
            <p:nvPr/>
          </p:nvGrpSpPr>
          <p:grpSpPr>
            <a:xfrm>
              <a:off x="2971800" y="2712183"/>
              <a:ext cx="1379220" cy="3258144"/>
              <a:chOff x="2971800" y="2702955"/>
              <a:chExt cx="1379220" cy="3258144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2313C7A4-B410-FF0E-FCC2-D8394A280F53}"/>
                  </a:ext>
                </a:extLst>
              </p:cNvPr>
              <p:cNvCxnSpPr>
                <a:cxnSpLocks/>
                <a:stCxn id="6" idx="6"/>
              </p:cNvCxnSpPr>
              <p:nvPr/>
            </p:nvCxnSpPr>
            <p:spPr>
              <a:xfrm flipV="1">
                <a:off x="2971800" y="2702955"/>
                <a:ext cx="1379220" cy="102090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1374E5C-C5C2-1CF2-599F-D1430132A44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71800" y="3519725"/>
                <a:ext cx="1379220" cy="185260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8136678-F682-B0D5-9D56-0FDCA0C2E3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71800" y="3726361"/>
                <a:ext cx="1379220" cy="614894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BCDC77F-8A7A-F90E-D731-834C88601731}"/>
                  </a:ext>
                </a:extLst>
              </p:cNvPr>
              <p:cNvCxnSpPr>
                <a:cxnSpLocks/>
                <a:stCxn id="6" idx="6"/>
              </p:cNvCxnSpPr>
              <p:nvPr/>
            </p:nvCxnSpPr>
            <p:spPr>
              <a:xfrm>
                <a:off x="2971800" y="3723857"/>
                <a:ext cx="1379220" cy="140952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1ED686E-CD6E-731B-B22A-4A7EA7DDFA5B}"/>
                  </a:ext>
                </a:extLst>
              </p:cNvPr>
              <p:cNvCxnSpPr>
                <a:cxnSpLocks/>
                <a:stCxn id="6" idx="6"/>
              </p:cNvCxnSpPr>
              <p:nvPr/>
            </p:nvCxnSpPr>
            <p:spPr>
              <a:xfrm>
                <a:off x="2971800" y="3723857"/>
                <a:ext cx="1379220" cy="223724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B72367E-F31E-2FC0-6F5F-B81AF07F98B5}"/>
                </a:ext>
              </a:extLst>
            </p:cNvPr>
            <p:cNvGrpSpPr/>
            <p:nvPr/>
          </p:nvGrpSpPr>
          <p:grpSpPr>
            <a:xfrm>
              <a:off x="2971800" y="2712183"/>
              <a:ext cx="1379220" cy="3258144"/>
              <a:chOff x="2971800" y="2702955"/>
              <a:chExt cx="1379220" cy="3258144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F4EF776-5C94-518A-6C6F-430F2745406C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 flipV="1">
                <a:off x="2971800" y="2702955"/>
                <a:ext cx="1379220" cy="183552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27A6B8-8768-B2A1-7A12-65DFE3358146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 flipV="1">
                <a:off x="2971800" y="3519725"/>
                <a:ext cx="1379220" cy="101875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43BCBB73-275F-43F5-D220-730991E1C7C5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 flipV="1">
                <a:off x="2971800" y="4341255"/>
                <a:ext cx="1379220" cy="19722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F677208-B15E-7228-FD9A-4CFDA6C3AEC5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>
                <a:off x="2971800" y="4538482"/>
                <a:ext cx="1379220" cy="59489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9292088-1047-70CB-0C34-8A2963CCEA21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>
                <a:off x="2971800" y="4538482"/>
                <a:ext cx="1379220" cy="142261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9CCAB673-4442-4F69-2847-7AD7779810D0}"/>
                </a:ext>
              </a:extLst>
            </p:cNvPr>
            <p:cNvGrpSpPr/>
            <p:nvPr/>
          </p:nvGrpSpPr>
          <p:grpSpPr>
            <a:xfrm>
              <a:off x="2971800" y="2712183"/>
              <a:ext cx="1379220" cy="3258144"/>
              <a:chOff x="2971800" y="2702955"/>
              <a:chExt cx="1379220" cy="3258144"/>
            </a:xfrm>
          </p:grpSpPr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FE193240-9323-8066-C8A8-A61A4D92C826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2702955"/>
                <a:ext cx="1379220" cy="265015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E57C9408-B081-A61C-065E-4D128F741629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3519725"/>
                <a:ext cx="1379220" cy="183338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D556AD07-AA56-3EB3-6FDE-91FB58BE5C22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4341255"/>
                <a:ext cx="1379220" cy="101185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62697EED-FAB5-3F2A-E89E-496B33328683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5133379"/>
                <a:ext cx="1379220" cy="219728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A270D543-93D5-6E8A-5B52-BDD791C42775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>
                <a:off x="2971800" y="5353107"/>
                <a:ext cx="1379220" cy="60799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EFA09582-E426-CC35-BF14-602F3ED33CB6}"/>
                </a:ext>
              </a:extLst>
            </p:cNvPr>
            <p:cNvGrpSpPr/>
            <p:nvPr/>
          </p:nvGrpSpPr>
          <p:grpSpPr>
            <a:xfrm>
              <a:off x="4850130" y="2625862"/>
              <a:ext cx="1463040" cy="3258144"/>
              <a:chOff x="2887980" y="2702955"/>
              <a:chExt cx="1463040" cy="3258144"/>
            </a:xfrm>
          </p:grpSpPr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6A7F3ED3-063B-9C44-719C-447C6B0CAE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7980" y="2702955"/>
                <a:ext cx="1463040" cy="77093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8A3A6C-A8EA-7C5C-76BC-CAE60A1EC3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73967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D717B551-E1B4-43C6-958B-434FBABAC3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156120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AE6FF1C-65ED-8859-35CF-DFBD23211B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2353331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80C58C82-0F3B-4C9F-6DFE-7A90B440C1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3181051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16E2A27D-1DF9-7FD1-4299-62F3143D8EBE}"/>
                </a:ext>
              </a:extLst>
            </p:cNvPr>
            <p:cNvGrpSpPr/>
            <p:nvPr/>
          </p:nvGrpSpPr>
          <p:grpSpPr>
            <a:xfrm>
              <a:off x="4853940" y="2625862"/>
              <a:ext cx="1459230" cy="3258144"/>
              <a:chOff x="2891790" y="2702955"/>
              <a:chExt cx="1459230" cy="3258144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08B2702F-3CAE-300B-AADC-DBE12CD8733D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 flipV="1">
                <a:off x="2891790" y="2702955"/>
                <a:ext cx="1459230" cy="893863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2D4FC3E-6D99-ABF0-E2AA-ED359A26B484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 flipV="1">
                <a:off x="2891790" y="3519725"/>
                <a:ext cx="1459230" cy="77093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F7DF741-A64D-136B-0B53-D9FC489ED630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2891790" y="3596818"/>
                <a:ext cx="1459230" cy="744437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F544D7D4-C3D3-6BBE-58B0-8EBE6A765B00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2891790" y="3596818"/>
                <a:ext cx="1459230" cy="1536561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7A9B68D9-AE62-BDA7-9589-3C4D16615FF8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2891790" y="3596818"/>
                <a:ext cx="1459230" cy="2364281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61D833-C640-1EA3-3185-E887207FE4E0}"/>
                </a:ext>
              </a:extLst>
            </p:cNvPr>
            <p:cNvGrpSpPr/>
            <p:nvPr/>
          </p:nvGrpSpPr>
          <p:grpSpPr>
            <a:xfrm>
              <a:off x="4853940" y="2625862"/>
              <a:ext cx="1457325" cy="3258144"/>
              <a:chOff x="2893695" y="2702955"/>
              <a:chExt cx="1457325" cy="3258144"/>
            </a:xfrm>
          </p:grpSpPr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927E7C5-C343-F175-6412-98338D9638E0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 flipV="1">
                <a:off x="2893695" y="2702955"/>
                <a:ext cx="1457325" cy="171539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CED34308-85CC-AC29-F380-D6A2DEF24290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 flipV="1">
                <a:off x="2893695" y="3519725"/>
                <a:ext cx="1457325" cy="89862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C15C2AEC-4E75-FAE4-0AEB-9B7B5F7B5A4C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 flipV="1">
                <a:off x="2893695" y="4341255"/>
                <a:ext cx="1457325" cy="7709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3BB2F543-D780-1C4C-425E-DB634C23FB8F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>
                <a:off x="2893695" y="4418348"/>
                <a:ext cx="1457325" cy="715031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7DD9F380-963B-9871-6E7F-61A5BF7DA2DC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>
                <a:off x="2893695" y="4418348"/>
                <a:ext cx="1457325" cy="1542751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EA6C17C5-F0F1-26D8-3D99-57786C5AAFE5}"/>
                </a:ext>
              </a:extLst>
            </p:cNvPr>
            <p:cNvGrpSpPr/>
            <p:nvPr/>
          </p:nvGrpSpPr>
          <p:grpSpPr>
            <a:xfrm>
              <a:off x="4853940" y="2625862"/>
              <a:ext cx="1456372" cy="3258144"/>
              <a:chOff x="2894648" y="2702955"/>
              <a:chExt cx="1456372" cy="3258144"/>
            </a:xfrm>
          </p:grpSpPr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BAADCA1D-77F5-7374-2A45-95DFC4F0ED9A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2702955"/>
                <a:ext cx="1456372" cy="250751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C76D500D-97A7-E9BB-D563-61C88E67313D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3519725"/>
                <a:ext cx="1456372" cy="169074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7AFDA1F7-171E-103E-BB6E-D9C62F53ED49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4341255"/>
                <a:ext cx="1456372" cy="86921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FEADDF33-1DC3-FB02-6627-68A33F821B63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5133379"/>
                <a:ext cx="1456372" cy="77093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FBD132A3-24B3-B2AB-957B-C4503D76E662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>
                <a:off x="2894648" y="5210472"/>
                <a:ext cx="1456372" cy="75062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F202AB55-D735-37C9-798E-563461BFFE4A}"/>
                </a:ext>
              </a:extLst>
            </p:cNvPr>
            <p:cNvGrpSpPr/>
            <p:nvPr/>
          </p:nvGrpSpPr>
          <p:grpSpPr>
            <a:xfrm>
              <a:off x="4853940" y="2625862"/>
              <a:ext cx="1455896" cy="3335237"/>
              <a:chOff x="2895124" y="2702955"/>
              <a:chExt cx="1455896" cy="3335237"/>
            </a:xfrm>
          </p:grpSpPr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D2B7582F-6847-FDA8-8B98-F672EA794D0F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2702955"/>
                <a:ext cx="1455896" cy="333523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52D234B8-0514-3469-BDBF-56E246E5D43F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3519725"/>
                <a:ext cx="1455896" cy="251846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608CADA-8C04-6377-E866-207E6D973848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4341255"/>
                <a:ext cx="1455896" cy="169693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2C354652-3A63-4F1E-78B6-AD4565803FD9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5133379"/>
                <a:ext cx="1455896" cy="904813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46FB7CC0-A8DF-9A9A-D7D7-FF2C721DE557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5961099"/>
                <a:ext cx="1455896" cy="77093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B372140-9C93-F32B-B650-B0A540797F43}"/>
                </a:ext>
              </a:extLst>
            </p:cNvPr>
            <p:cNvGrpSpPr/>
            <p:nvPr/>
          </p:nvGrpSpPr>
          <p:grpSpPr>
            <a:xfrm>
              <a:off x="6797516" y="2616634"/>
              <a:ext cx="1463040" cy="3335237"/>
              <a:chOff x="5002530" y="2778262"/>
              <a:chExt cx="1463040" cy="3335237"/>
            </a:xfrm>
          </p:grpSpPr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69C367E3-15C4-8DCC-3C63-4554DF21CD1B}"/>
                  </a:ext>
                </a:extLst>
              </p:cNvPr>
              <p:cNvGrpSpPr/>
              <p:nvPr/>
            </p:nvGrpSpPr>
            <p:grpSpPr>
              <a:xfrm>
                <a:off x="5002530" y="2778262"/>
                <a:ext cx="1463040" cy="3258144"/>
                <a:chOff x="2887980" y="2702955"/>
                <a:chExt cx="1463040" cy="3258144"/>
              </a:xfrm>
            </p:grpSpPr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CA987E7D-FF8C-AE13-4E78-5BBAD469E1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87980" y="2702955"/>
                  <a:ext cx="1463040" cy="77093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6E1A45C7-E1A3-4175-141A-F3680DAF6D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739677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C524638A-CE49-4670-ED4B-53E70C021A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1561207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F4553B0D-23FB-72CA-0A45-E262411F3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2353331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62FFF756-4088-6361-2A9F-80E01D730B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3181051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F9ACEC03-E75B-A356-3DDC-ACCECCDBDEAE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9230" cy="3258144"/>
                <a:chOff x="2891790" y="2702955"/>
                <a:chExt cx="1459230" cy="3258144"/>
              </a:xfrm>
            </p:grpSpPr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2BC6D7B2-DCD0-DCAF-957F-C8760E263E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1790" y="2702955"/>
                  <a:ext cx="1459230" cy="893863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40C1788E-CE35-540F-0346-47589B8040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1790" y="3519725"/>
                  <a:ext cx="1459230" cy="77093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54B5F330-673C-1B6A-5BE4-19183AB658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1790" y="3596818"/>
                  <a:ext cx="1459230" cy="744437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B99B80-016D-4FAE-B48A-8CE400C594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1790" y="3596818"/>
                  <a:ext cx="1459230" cy="1536561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22CFD16B-866C-1BB9-0740-92846B612A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1790" y="3596818"/>
                  <a:ext cx="1459230" cy="2364281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290B6E76-E8E3-3D75-039B-1BE6D4B0B88D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7325" cy="3258144"/>
                <a:chOff x="2893695" y="2702955"/>
                <a:chExt cx="1457325" cy="3258144"/>
              </a:xfrm>
            </p:grpSpPr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A2D71738-9356-EA42-09FA-58FE3D762E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3695" y="2702955"/>
                  <a:ext cx="1457325" cy="1715393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1332CCF1-8151-5C93-1E8D-C5135B97D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3695" y="3519725"/>
                  <a:ext cx="1457325" cy="898623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0AA8EC6E-BEF4-BA2A-377A-768D170D06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3695" y="4341255"/>
                  <a:ext cx="1457325" cy="77093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16DCCDCE-8E3F-33B7-25CC-9839D93FD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3695" y="4418348"/>
                  <a:ext cx="1457325" cy="715031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28876DA2-90BE-8EA8-6187-3B669A1CFB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3695" y="4418348"/>
                  <a:ext cx="1457325" cy="1542751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B44B5B63-3B61-8E64-C56A-F1F74829130A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6372" cy="3258144"/>
                <a:chOff x="2894648" y="2702955"/>
                <a:chExt cx="1456372" cy="3258144"/>
              </a:xfrm>
            </p:grpSpPr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0B1FB8F8-81CC-B37C-0D7B-221FB7260F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2702955"/>
                  <a:ext cx="1456372" cy="250751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BEB75E04-29D0-2815-264C-7D7205F146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3519725"/>
                  <a:ext cx="1456372" cy="169074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0B749A1B-EB11-326C-0D81-921E00A22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4341255"/>
                  <a:ext cx="1456372" cy="86921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F5C5CEAD-69D9-0059-03E4-BF4E14FF32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5133379"/>
                  <a:ext cx="1456372" cy="77093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377D5AC8-8B61-CF61-A09A-7D14DFEE8C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4648" y="5210472"/>
                  <a:ext cx="1456372" cy="75062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60413A1B-90DB-EC7B-8422-060FE1EC73DF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5896" cy="3335237"/>
                <a:chOff x="2895124" y="2702955"/>
                <a:chExt cx="1455896" cy="3335237"/>
              </a:xfrm>
            </p:grpSpPr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E1998C9F-431A-3790-4C0A-998E6ED0D8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2702955"/>
                  <a:ext cx="1455896" cy="3335237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6EDE925F-2C69-0FB4-52A7-543732E76F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3519725"/>
                  <a:ext cx="1455896" cy="2518467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C39AA2C4-B1E0-042C-D732-04C6A3ECD1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4341255"/>
                  <a:ext cx="1455896" cy="1696937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F59F8034-780B-34E1-2390-B5BC7E1ADD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5133379"/>
                  <a:ext cx="1455896" cy="904813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FBC8F115-EC65-204D-96C3-CEEEEFE09C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5961099"/>
                  <a:ext cx="1455896" cy="77093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214F3D73-80A4-CA44-FEAB-65A55AEB2D1F}"/>
                </a:ext>
              </a:extLst>
            </p:cNvPr>
            <p:cNvCxnSpPr>
              <a:cxnSpLocks/>
              <a:stCxn id="29" idx="2"/>
              <a:endCxn id="24" idx="6"/>
            </p:cNvCxnSpPr>
            <p:nvPr/>
          </p:nvCxnSpPr>
          <p:spPr>
            <a:xfrm flipH="1" flipV="1">
              <a:off x="8770620" y="2635090"/>
              <a:ext cx="1040130" cy="1605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C59AB968-7E00-D155-4EA1-9BADB06CC913}"/>
                </a:ext>
              </a:extLst>
            </p:cNvPr>
            <p:cNvCxnSpPr>
              <a:cxnSpLocks/>
              <a:stCxn id="29" idx="2"/>
              <a:endCxn id="25" idx="6"/>
            </p:cNvCxnSpPr>
            <p:nvPr/>
          </p:nvCxnSpPr>
          <p:spPr>
            <a:xfrm flipH="1" flipV="1">
              <a:off x="8770620" y="3451860"/>
              <a:ext cx="1040130" cy="7889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5511BCCB-8D44-BA5A-10D0-729710C57B82}"/>
                </a:ext>
              </a:extLst>
            </p:cNvPr>
            <p:cNvCxnSpPr>
              <a:cxnSpLocks/>
              <a:stCxn id="29" idx="2"/>
              <a:endCxn id="26" idx="6"/>
            </p:cNvCxnSpPr>
            <p:nvPr/>
          </p:nvCxnSpPr>
          <p:spPr>
            <a:xfrm flipH="1">
              <a:off x="8770620" y="4240765"/>
              <a:ext cx="1040130" cy="3262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56D568-DC01-044D-CFAF-C514796F542A}"/>
                </a:ext>
              </a:extLst>
            </p:cNvPr>
            <p:cNvCxnSpPr>
              <a:cxnSpLocks/>
              <a:stCxn id="29" idx="2"/>
              <a:endCxn id="27" idx="6"/>
            </p:cNvCxnSpPr>
            <p:nvPr/>
          </p:nvCxnSpPr>
          <p:spPr>
            <a:xfrm flipH="1">
              <a:off x="8770620" y="4240765"/>
              <a:ext cx="1040130" cy="82474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BA7D22A5-FEB1-5A20-A119-E0FAEB082618}"/>
                </a:ext>
              </a:extLst>
            </p:cNvPr>
            <p:cNvCxnSpPr>
              <a:cxnSpLocks/>
              <a:stCxn id="29" idx="2"/>
              <a:endCxn id="28" idx="6"/>
            </p:cNvCxnSpPr>
            <p:nvPr/>
          </p:nvCxnSpPr>
          <p:spPr>
            <a:xfrm flipH="1">
              <a:off x="8770620" y="4240765"/>
              <a:ext cx="1040130" cy="165246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ight Arrow 193">
              <a:extLst>
                <a:ext uri="{FF2B5EF4-FFF2-40B4-BE49-F238E27FC236}">
                  <a16:creationId xmlns:a16="http://schemas.microsoft.com/office/drawing/2014/main" id="{906D68B8-0930-F84F-D7BA-F2AA13490E0E}"/>
                </a:ext>
              </a:extLst>
            </p:cNvPr>
            <p:cNvSpPr/>
            <p:nvPr/>
          </p:nvSpPr>
          <p:spPr>
            <a:xfrm>
              <a:off x="1695450" y="2771300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5" name="Right Arrow 194">
              <a:extLst>
                <a:ext uri="{FF2B5EF4-FFF2-40B4-BE49-F238E27FC236}">
                  <a16:creationId xmlns:a16="http://schemas.microsoft.com/office/drawing/2014/main" id="{8A549ED1-03B7-A629-06A1-50AF56931F6E}"/>
                </a:ext>
              </a:extLst>
            </p:cNvPr>
            <p:cNvSpPr/>
            <p:nvPr/>
          </p:nvSpPr>
          <p:spPr>
            <a:xfrm>
              <a:off x="1703070" y="3547613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6" name="Right Arrow 195">
              <a:extLst>
                <a:ext uri="{FF2B5EF4-FFF2-40B4-BE49-F238E27FC236}">
                  <a16:creationId xmlns:a16="http://schemas.microsoft.com/office/drawing/2014/main" id="{34038F4E-C438-0944-BDF7-91E731CBA836}"/>
                </a:ext>
              </a:extLst>
            </p:cNvPr>
            <p:cNvSpPr/>
            <p:nvPr/>
          </p:nvSpPr>
          <p:spPr>
            <a:xfrm>
              <a:off x="1703070" y="4341255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7" name="Right Arrow 196">
              <a:extLst>
                <a:ext uri="{FF2B5EF4-FFF2-40B4-BE49-F238E27FC236}">
                  <a16:creationId xmlns:a16="http://schemas.microsoft.com/office/drawing/2014/main" id="{DF85BD12-D1CC-EA70-CA6A-C7EA95DB10E0}"/>
                </a:ext>
              </a:extLst>
            </p:cNvPr>
            <p:cNvSpPr/>
            <p:nvPr/>
          </p:nvSpPr>
          <p:spPr>
            <a:xfrm>
              <a:off x="1703070" y="5252471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8" name="Rounded Rectangle 197">
              <a:extLst>
                <a:ext uri="{FF2B5EF4-FFF2-40B4-BE49-F238E27FC236}">
                  <a16:creationId xmlns:a16="http://schemas.microsoft.com/office/drawing/2014/main" id="{D798BBCA-DBC9-DC3B-2598-083513953AF9}"/>
                </a:ext>
              </a:extLst>
            </p:cNvPr>
            <p:cNvSpPr/>
            <p:nvPr/>
          </p:nvSpPr>
          <p:spPr>
            <a:xfrm>
              <a:off x="838200" y="2625862"/>
              <a:ext cx="1021080" cy="325814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00" dirty="0"/>
                <a:t>Inputs</a:t>
              </a:r>
            </a:p>
          </p:txBody>
        </p:sp>
        <p:sp>
          <p:nvSpPr>
            <p:cNvPr id="199" name="Right Arrow 198">
              <a:extLst>
                <a:ext uri="{FF2B5EF4-FFF2-40B4-BE49-F238E27FC236}">
                  <a16:creationId xmlns:a16="http://schemas.microsoft.com/office/drawing/2014/main" id="{BD5DB711-C0DD-8CF9-D309-D5BF0E4DDC1C}"/>
                </a:ext>
              </a:extLst>
            </p:cNvPr>
            <p:cNvSpPr/>
            <p:nvPr/>
          </p:nvSpPr>
          <p:spPr>
            <a:xfrm>
              <a:off x="10521314" y="3908100"/>
              <a:ext cx="1152525" cy="665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00" dirty="0"/>
                <a:t>Output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18CC1D2C-9662-ED85-0825-B06C34A050FB}"/>
              </a:ext>
            </a:extLst>
          </p:cNvPr>
          <p:cNvGrpSpPr/>
          <p:nvPr/>
        </p:nvGrpSpPr>
        <p:grpSpPr>
          <a:xfrm>
            <a:off x="8770620" y="137160"/>
            <a:ext cx="3055396" cy="2234201"/>
            <a:chOff x="8770620" y="137160"/>
            <a:chExt cx="3055396" cy="2234201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A748683A-A4B3-01AB-9131-78BB7A793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01624" y="925621"/>
              <a:ext cx="624392" cy="1445740"/>
            </a:xfrm>
            <a:prstGeom prst="rect">
              <a:avLst/>
            </a:prstGeom>
          </p:spPr>
        </p:pic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7BC98177-10BC-77F4-77C4-FBC6A7AE4846}"/>
                </a:ext>
              </a:extLst>
            </p:cNvPr>
            <p:cNvSpPr txBox="1"/>
            <p:nvPr/>
          </p:nvSpPr>
          <p:spPr>
            <a:xfrm>
              <a:off x="8770620" y="137160"/>
              <a:ext cx="305539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Each edge has a “weight” that tells the network how to propagate values from the input to the output.</a:t>
              </a:r>
            </a:p>
          </p:txBody>
        </p:sp>
      </p:grpSp>
      <p:sp>
        <p:nvSpPr>
          <p:cNvPr id="15" name="Freeform 14">
            <a:extLst>
              <a:ext uri="{FF2B5EF4-FFF2-40B4-BE49-F238E27FC236}">
                <a16:creationId xmlns:a16="http://schemas.microsoft.com/office/drawing/2014/main" id="{944E19E0-E13D-F3ED-D0F7-F9197BF9F99E}"/>
              </a:ext>
            </a:extLst>
          </p:cNvPr>
          <p:cNvSpPr/>
          <p:nvPr/>
        </p:nvSpPr>
        <p:spPr>
          <a:xfrm>
            <a:off x="10652761" y="2068277"/>
            <a:ext cx="701040" cy="2899963"/>
          </a:xfrm>
          <a:custGeom>
            <a:avLst/>
            <a:gdLst>
              <a:gd name="connsiteX0" fmla="*/ 0 w 1066987"/>
              <a:gd name="connsiteY0" fmla="*/ 50083 h 2899963"/>
              <a:gd name="connsiteX1" fmla="*/ 670560 w 1066987"/>
              <a:gd name="connsiteY1" fmla="*/ 65323 h 2899963"/>
              <a:gd name="connsiteX2" fmla="*/ 1066800 w 1066987"/>
              <a:gd name="connsiteY2" fmla="*/ 690163 h 2899963"/>
              <a:gd name="connsiteX3" fmla="*/ 624840 w 1066987"/>
              <a:gd name="connsiteY3" fmla="*/ 2107483 h 2899963"/>
              <a:gd name="connsiteX4" fmla="*/ 228600 w 1066987"/>
              <a:gd name="connsiteY4" fmla="*/ 2899963 h 2899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6987" h="2899963">
                <a:moveTo>
                  <a:pt x="0" y="50083"/>
                </a:moveTo>
                <a:cubicBezTo>
                  <a:pt x="246380" y="4363"/>
                  <a:pt x="492760" y="-41357"/>
                  <a:pt x="670560" y="65323"/>
                </a:cubicBezTo>
                <a:cubicBezTo>
                  <a:pt x="848360" y="172003"/>
                  <a:pt x="1074420" y="349803"/>
                  <a:pt x="1066800" y="690163"/>
                </a:cubicBezTo>
                <a:cubicBezTo>
                  <a:pt x="1059180" y="1030523"/>
                  <a:pt x="764540" y="1739183"/>
                  <a:pt x="624840" y="2107483"/>
                </a:cubicBezTo>
                <a:cubicBezTo>
                  <a:pt x="485140" y="2475783"/>
                  <a:pt x="356870" y="2687873"/>
                  <a:pt x="228600" y="2899963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095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F9202-1B4C-0575-C45E-1D410F80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26131-2695-C4F0-ADAC-00A5DCD07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81F81-384F-7977-8360-6D7D6687A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neural network is a function that looks something* like this</a:t>
            </a:r>
          </a:p>
          <a:p>
            <a:r>
              <a:rPr lang="en-US" dirty="0"/>
              <a:t>If you give it a bunch of examples of (Input, Output) pairs, it can “learn” weights to predict future examples.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“Learn” = “Solve an optimization problem to find the best weights”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C34AC-4FA9-DEF9-7F25-DA81C3216E9B}"/>
              </a:ext>
            </a:extLst>
          </p:cNvPr>
          <p:cNvSpPr txBox="1"/>
          <p:nvPr/>
        </p:nvSpPr>
        <p:spPr>
          <a:xfrm>
            <a:off x="457200" y="6488668"/>
            <a:ext cx="585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*very simplified, relative to current state of the art…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CA65AFE-F2DC-4E35-81CD-344205E1488E}"/>
              </a:ext>
            </a:extLst>
          </p:cNvPr>
          <p:cNvGrpSpPr/>
          <p:nvPr/>
        </p:nvGrpSpPr>
        <p:grpSpPr>
          <a:xfrm>
            <a:off x="6789592" y="4486640"/>
            <a:ext cx="4884247" cy="1725919"/>
            <a:chOff x="838200" y="2383630"/>
            <a:chExt cx="10835639" cy="382892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BFECFAF-B0AA-D004-0599-3F27908E8D83}"/>
                </a:ext>
              </a:extLst>
            </p:cNvPr>
            <p:cNvSpPr/>
            <p:nvPr/>
          </p:nvSpPr>
          <p:spPr>
            <a:xfrm>
              <a:off x="2468880" y="2667000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BC3774E-3104-E04A-D348-0B19609D9E0A}"/>
                </a:ext>
              </a:extLst>
            </p:cNvPr>
            <p:cNvSpPr/>
            <p:nvPr/>
          </p:nvSpPr>
          <p:spPr>
            <a:xfrm>
              <a:off x="2468880" y="348162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A18147E-1DE2-5E1C-400D-69E1E8BF7791}"/>
                </a:ext>
              </a:extLst>
            </p:cNvPr>
            <p:cNvSpPr/>
            <p:nvPr/>
          </p:nvSpPr>
          <p:spPr>
            <a:xfrm>
              <a:off x="2468880" y="4296250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55F4904-E48D-51FB-1FDE-71950172BDFB}"/>
                </a:ext>
              </a:extLst>
            </p:cNvPr>
            <p:cNvSpPr/>
            <p:nvPr/>
          </p:nvSpPr>
          <p:spPr>
            <a:xfrm>
              <a:off x="2468880" y="511087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059D402-0B86-2F5F-1FC2-A2BDEABF559D}"/>
                </a:ext>
              </a:extLst>
            </p:cNvPr>
            <p:cNvGrpSpPr/>
            <p:nvPr/>
          </p:nvGrpSpPr>
          <p:grpSpPr>
            <a:xfrm>
              <a:off x="4351020" y="2451495"/>
              <a:ext cx="502920" cy="3761064"/>
              <a:chOff x="4351020" y="2451495"/>
              <a:chExt cx="502920" cy="376106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77412D-8981-1291-E55F-1A1DEE7CE5FB}"/>
                  </a:ext>
                </a:extLst>
              </p:cNvPr>
              <p:cNvSpPr/>
              <p:nvPr/>
            </p:nvSpPr>
            <p:spPr>
              <a:xfrm>
                <a:off x="4351020" y="24514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D7435AC-9C52-9594-66B6-A9A62F5A848C}"/>
                  </a:ext>
                </a:extLst>
              </p:cNvPr>
              <p:cNvSpPr/>
              <p:nvPr/>
            </p:nvSpPr>
            <p:spPr>
              <a:xfrm>
                <a:off x="4351020" y="326826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179C06F-9D0B-7058-5D92-81FA21582B0E}"/>
                  </a:ext>
                </a:extLst>
              </p:cNvPr>
              <p:cNvSpPr/>
              <p:nvPr/>
            </p:nvSpPr>
            <p:spPr>
              <a:xfrm>
                <a:off x="4351020" y="40897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F574629-5C76-CD53-0412-1A52202D2106}"/>
                  </a:ext>
                </a:extLst>
              </p:cNvPr>
              <p:cNvSpPr/>
              <p:nvPr/>
            </p:nvSpPr>
            <p:spPr>
              <a:xfrm>
                <a:off x="4351020" y="488191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9E99C3-1B22-9081-085D-C2D565D26741}"/>
                  </a:ext>
                </a:extLst>
              </p:cNvPr>
              <p:cNvSpPr/>
              <p:nvPr/>
            </p:nvSpPr>
            <p:spPr>
              <a:xfrm>
                <a:off x="4351020" y="570963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85A71A0-177F-CA64-677B-2326F9444B93}"/>
                </a:ext>
              </a:extLst>
            </p:cNvPr>
            <p:cNvGrpSpPr/>
            <p:nvPr/>
          </p:nvGrpSpPr>
          <p:grpSpPr>
            <a:xfrm>
              <a:off x="6309360" y="2415899"/>
              <a:ext cx="502920" cy="3761064"/>
              <a:chOff x="4351020" y="2451495"/>
              <a:chExt cx="502920" cy="3761064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B273664-CBB7-47DE-AF7E-CDA70014BD85}"/>
                  </a:ext>
                </a:extLst>
              </p:cNvPr>
              <p:cNvSpPr/>
              <p:nvPr/>
            </p:nvSpPr>
            <p:spPr>
              <a:xfrm>
                <a:off x="4351020" y="24514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1212DF5-F594-EE31-26EF-3D022B8F6DAF}"/>
                  </a:ext>
                </a:extLst>
              </p:cNvPr>
              <p:cNvSpPr/>
              <p:nvPr/>
            </p:nvSpPr>
            <p:spPr>
              <a:xfrm>
                <a:off x="4351020" y="326826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EE979B-2521-0A89-CC44-0711D347C1CE}"/>
                  </a:ext>
                </a:extLst>
              </p:cNvPr>
              <p:cNvSpPr/>
              <p:nvPr/>
            </p:nvSpPr>
            <p:spPr>
              <a:xfrm>
                <a:off x="4351020" y="40897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113A710C-4617-1D90-E45F-59C7C6AB82AB}"/>
                  </a:ext>
                </a:extLst>
              </p:cNvPr>
              <p:cNvSpPr/>
              <p:nvPr/>
            </p:nvSpPr>
            <p:spPr>
              <a:xfrm>
                <a:off x="4351020" y="488191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9431895-19A9-67F2-47DA-5D9A1E02FB69}"/>
                  </a:ext>
                </a:extLst>
              </p:cNvPr>
              <p:cNvSpPr/>
              <p:nvPr/>
            </p:nvSpPr>
            <p:spPr>
              <a:xfrm>
                <a:off x="4351020" y="570963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36CC683-6EE3-00E3-FE92-8EF35AEB2D06}"/>
                </a:ext>
              </a:extLst>
            </p:cNvPr>
            <p:cNvGrpSpPr/>
            <p:nvPr/>
          </p:nvGrpSpPr>
          <p:grpSpPr>
            <a:xfrm>
              <a:off x="8267700" y="2383630"/>
              <a:ext cx="502920" cy="3761064"/>
              <a:chOff x="4351020" y="2451495"/>
              <a:chExt cx="502920" cy="3761064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71EB562C-0B60-25C2-F13B-13C24F44F741}"/>
                  </a:ext>
                </a:extLst>
              </p:cNvPr>
              <p:cNvSpPr/>
              <p:nvPr/>
            </p:nvSpPr>
            <p:spPr>
              <a:xfrm>
                <a:off x="4351020" y="24514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C09DB74-6C45-E891-7940-E6A763D2AE34}"/>
                  </a:ext>
                </a:extLst>
              </p:cNvPr>
              <p:cNvSpPr/>
              <p:nvPr/>
            </p:nvSpPr>
            <p:spPr>
              <a:xfrm>
                <a:off x="4351020" y="326826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A60DF5E-60AA-0252-4ADC-C1164B110650}"/>
                  </a:ext>
                </a:extLst>
              </p:cNvPr>
              <p:cNvSpPr/>
              <p:nvPr/>
            </p:nvSpPr>
            <p:spPr>
              <a:xfrm>
                <a:off x="4351020" y="4089795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9883DCF-CC9A-49A1-0DE6-AD65DA783983}"/>
                  </a:ext>
                </a:extLst>
              </p:cNvPr>
              <p:cNvSpPr/>
              <p:nvPr/>
            </p:nvSpPr>
            <p:spPr>
              <a:xfrm>
                <a:off x="4351020" y="488191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156135C-7BC5-35A5-C934-4CE8B9BE9B65}"/>
                  </a:ext>
                </a:extLst>
              </p:cNvPr>
              <p:cNvSpPr/>
              <p:nvPr/>
            </p:nvSpPr>
            <p:spPr>
              <a:xfrm>
                <a:off x="4351020" y="5709639"/>
                <a:ext cx="502920" cy="5029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00"/>
              </a:p>
            </p:txBody>
          </p:sp>
        </p:grp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74807B70-1823-E9D7-F601-C5B0524CA129}"/>
                </a:ext>
              </a:extLst>
            </p:cNvPr>
            <p:cNvSpPr/>
            <p:nvPr/>
          </p:nvSpPr>
          <p:spPr>
            <a:xfrm>
              <a:off x="9810750" y="3989305"/>
              <a:ext cx="502920" cy="50292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62095C17-65DC-BBA5-9EBA-C783F5E2EE3B}"/>
                </a:ext>
              </a:extLst>
            </p:cNvPr>
            <p:cNvGrpSpPr/>
            <p:nvPr/>
          </p:nvGrpSpPr>
          <p:grpSpPr>
            <a:xfrm>
              <a:off x="2971800" y="2702955"/>
              <a:ext cx="1379220" cy="3258144"/>
              <a:chOff x="2971800" y="2702955"/>
              <a:chExt cx="1379220" cy="3258144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A834A215-40CB-9961-B192-2B65D0E92884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 flipV="1">
                <a:off x="2971800" y="2702955"/>
                <a:ext cx="1379220" cy="21550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7C3283A2-BDCC-66E3-890E-93679E3E8064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>
                <a:off x="2971800" y="2943465"/>
                <a:ext cx="1379220" cy="5762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2FD8A3EF-AA4A-AC35-301F-CDA0F77AAD53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>
                <a:off x="2971800" y="2918460"/>
                <a:ext cx="1379220" cy="142279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277C53BD-3834-8266-72BF-E897A9063680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2971800" y="2918460"/>
                <a:ext cx="1379220" cy="221491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2CBEE432-05B6-56EC-F5F6-8DB94A3B7322}"/>
                  </a:ext>
                </a:extLst>
              </p:cNvPr>
              <p:cNvCxnSpPr>
                <a:cxnSpLocks/>
                <a:endCxn id="13" idx="2"/>
              </p:cNvCxnSpPr>
              <p:nvPr/>
            </p:nvCxnSpPr>
            <p:spPr>
              <a:xfrm>
                <a:off x="2971800" y="2979420"/>
                <a:ext cx="1379220" cy="298167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3A7AC7C-951E-26D0-A441-800C2E3F958B}"/>
                </a:ext>
              </a:extLst>
            </p:cNvPr>
            <p:cNvGrpSpPr/>
            <p:nvPr/>
          </p:nvGrpSpPr>
          <p:grpSpPr>
            <a:xfrm>
              <a:off x="2971800" y="2712183"/>
              <a:ext cx="1379220" cy="3258144"/>
              <a:chOff x="2971800" y="2702955"/>
              <a:chExt cx="1379220" cy="3258144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D3354122-DE40-2F5B-88FD-A5060DA5EA19}"/>
                  </a:ext>
                </a:extLst>
              </p:cNvPr>
              <p:cNvCxnSpPr>
                <a:cxnSpLocks/>
                <a:stCxn id="6" idx="6"/>
              </p:cNvCxnSpPr>
              <p:nvPr/>
            </p:nvCxnSpPr>
            <p:spPr>
              <a:xfrm flipV="1">
                <a:off x="2971800" y="2702955"/>
                <a:ext cx="1379220" cy="102090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C045CE0B-6E81-30D4-7AF9-26B8484CC6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71800" y="3519725"/>
                <a:ext cx="1379220" cy="185260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B90439B-43E7-F986-5F1A-5AC861FE4C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71800" y="3726361"/>
                <a:ext cx="1379220" cy="614894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583B90D9-2768-3FC8-91E7-6C8DB1089DA2}"/>
                  </a:ext>
                </a:extLst>
              </p:cNvPr>
              <p:cNvCxnSpPr>
                <a:cxnSpLocks/>
                <a:stCxn id="6" idx="6"/>
              </p:cNvCxnSpPr>
              <p:nvPr/>
            </p:nvCxnSpPr>
            <p:spPr>
              <a:xfrm>
                <a:off x="2971800" y="3723857"/>
                <a:ext cx="1379220" cy="140952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9CAE7C03-1CAB-DDA6-0A30-010E3382181C}"/>
                  </a:ext>
                </a:extLst>
              </p:cNvPr>
              <p:cNvCxnSpPr>
                <a:cxnSpLocks/>
                <a:stCxn id="6" idx="6"/>
              </p:cNvCxnSpPr>
              <p:nvPr/>
            </p:nvCxnSpPr>
            <p:spPr>
              <a:xfrm>
                <a:off x="2971800" y="3723857"/>
                <a:ext cx="1379220" cy="2237242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69A3A24-7D36-CEE6-E1F9-4399F134D10C}"/>
                </a:ext>
              </a:extLst>
            </p:cNvPr>
            <p:cNvGrpSpPr/>
            <p:nvPr/>
          </p:nvGrpSpPr>
          <p:grpSpPr>
            <a:xfrm>
              <a:off x="2971800" y="2712183"/>
              <a:ext cx="1379220" cy="3258144"/>
              <a:chOff x="2971800" y="2702955"/>
              <a:chExt cx="1379220" cy="3258144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A6EC61DC-6916-1FD7-695B-8E51E0FDA6C9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 flipV="1">
                <a:off x="2971800" y="2702955"/>
                <a:ext cx="1379220" cy="183552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6DC8BB58-A21B-6583-684B-29A3086380E7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 flipV="1">
                <a:off x="2971800" y="3519725"/>
                <a:ext cx="1379220" cy="101875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FCBCFCC-2EE3-EFAA-8F59-CB8A21201104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 flipV="1">
                <a:off x="2971800" y="4341255"/>
                <a:ext cx="1379220" cy="19722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C5ECA2C-B5BA-CD18-8748-90DAAB98F13F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>
                <a:off x="2971800" y="4538482"/>
                <a:ext cx="1379220" cy="59489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DFEE03F-7A7B-7E3A-F0AE-1673F0D4F823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>
                <a:off x="2971800" y="4538482"/>
                <a:ext cx="1379220" cy="1422617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2FA2697B-3504-F779-0B95-004F01034573}"/>
                </a:ext>
              </a:extLst>
            </p:cNvPr>
            <p:cNvGrpSpPr/>
            <p:nvPr/>
          </p:nvGrpSpPr>
          <p:grpSpPr>
            <a:xfrm>
              <a:off x="2971800" y="2712183"/>
              <a:ext cx="1379220" cy="3258144"/>
              <a:chOff x="2971800" y="2702955"/>
              <a:chExt cx="1379220" cy="3258144"/>
            </a:xfrm>
          </p:grpSpPr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CEFED805-53D8-9EB6-A5E2-0F78AAB16B76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2702955"/>
                <a:ext cx="1379220" cy="265015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2E63484B-4ED4-B618-0839-3B0760AF2E93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3519725"/>
                <a:ext cx="1379220" cy="183338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DD39CBFD-404A-5A5A-5A17-8C72E3E22BE0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4341255"/>
                <a:ext cx="1379220" cy="101185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7BA5B931-1539-B6F7-85FD-8A742836521F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 flipV="1">
                <a:off x="2971800" y="5133379"/>
                <a:ext cx="1379220" cy="219728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493784BC-1834-9F66-BD71-7F5D3449D317}"/>
                  </a:ext>
                </a:extLst>
              </p:cNvPr>
              <p:cNvCxnSpPr>
                <a:cxnSpLocks/>
                <a:stCxn id="8" idx="6"/>
              </p:cNvCxnSpPr>
              <p:nvPr/>
            </p:nvCxnSpPr>
            <p:spPr>
              <a:xfrm>
                <a:off x="2971800" y="5353107"/>
                <a:ext cx="1379220" cy="607992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ED7540E2-B536-488D-2E07-F10F634CC1F3}"/>
                </a:ext>
              </a:extLst>
            </p:cNvPr>
            <p:cNvGrpSpPr/>
            <p:nvPr/>
          </p:nvGrpSpPr>
          <p:grpSpPr>
            <a:xfrm>
              <a:off x="4850130" y="2625862"/>
              <a:ext cx="1463040" cy="3258144"/>
              <a:chOff x="2887980" y="2702955"/>
              <a:chExt cx="1463040" cy="3258144"/>
            </a:xfrm>
          </p:grpSpPr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6C2D4446-9F9E-DFDA-7053-C6BE2C6A17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87980" y="2702955"/>
                <a:ext cx="1463040" cy="77093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A6B95A1D-EF9C-2640-8419-FAF6AD9A1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73967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B14079A6-AD91-5988-C011-E97FBE646D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156120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F0F00DFD-B71A-1DCE-D78D-33843466DF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2353331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D3FB81-98D1-3F97-A15A-3E007C8603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7980" y="2780048"/>
                <a:ext cx="1463040" cy="3181051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CBA36E8B-59B7-C42F-080C-59FE0224DE9F}"/>
                </a:ext>
              </a:extLst>
            </p:cNvPr>
            <p:cNvGrpSpPr/>
            <p:nvPr/>
          </p:nvGrpSpPr>
          <p:grpSpPr>
            <a:xfrm>
              <a:off x="4853940" y="2625862"/>
              <a:ext cx="1459230" cy="3258144"/>
              <a:chOff x="2891790" y="2702955"/>
              <a:chExt cx="1459230" cy="3258144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93F08EF0-0663-59EF-6C6B-8D4E5D622718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 flipV="1">
                <a:off x="2891790" y="2702955"/>
                <a:ext cx="1459230" cy="893863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5C72F098-146E-1FAA-7574-0B216F3FCED5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 flipV="1">
                <a:off x="2891790" y="3519725"/>
                <a:ext cx="1459230" cy="77093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1F1C52C5-6306-4926-A92B-2A311624CC23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2891790" y="3596818"/>
                <a:ext cx="1459230" cy="744437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B8312385-4ED7-F689-AE9C-3757A1B336C0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2891790" y="3596818"/>
                <a:ext cx="1459230" cy="1536561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99C5AA85-EF82-FA06-B3D5-3A4BF6F5431A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2891790" y="3596818"/>
                <a:ext cx="1459230" cy="2364281"/>
              </a:xfrm>
              <a:prstGeom prst="line">
                <a:avLst/>
              </a:prstGeom>
              <a:ln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6DDAED2-BA8A-BF6D-C09C-A705CF1DBF74}"/>
                </a:ext>
              </a:extLst>
            </p:cNvPr>
            <p:cNvGrpSpPr/>
            <p:nvPr/>
          </p:nvGrpSpPr>
          <p:grpSpPr>
            <a:xfrm>
              <a:off x="4853940" y="2625862"/>
              <a:ext cx="1457325" cy="3258144"/>
              <a:chOff x="2893695" y="2702955"/>
              <a:chExt cx="1457325" cy="3258144"/>
            </a:xfrm>
          </p:grpSpPr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F7B8C608-45DF-6B36-D58B-045A417FD427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 flipV="1">
                <a:off x="2893695" y="2702955"/>
                <a:ext cx="1457325" cy="171539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E578973-A2F6-6018-15E9-C765DE11EE76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 flipV="1">
                <a:off x="2893695" y="3519725"/>
                <a:ext cx="1457325" cy="89862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995908FA-3A31-1869-EAAF-2081C6FC84F0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 flipV="1">
                <a:off x="2893695" y="4341255"/>
                <a:ext cx="1457325" cy="77093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1299B61D-9260-5D89-DC4F-2ECF547CCE71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>
                <a:off x="2893695" y="4418348"/>
                <a:ext cx="1457325" cy="715031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91E029F0-3B20-5688-92F6-95E73ED0A75B}"/>
                  </a:ext>
                </a:extLst>
              </p:cNvPr>
              <p:cNvCxnSpPr>
                <a:cxnSpLocks/>
                <a:stCxn id="11" idx="6"/>
              </p:cNvCxnSpPr>
              <p:nvPr/>
            </p:nvCxnSpPr>
            <p:spPr>
              <a:xfrm>
                <a:off x="2893695" y="4418348"/>
                <a:ext cx="1457325" cy="1542751"/>
              </a:xfrm>
              <a:prstGeom prst="lin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BD7711D1-683D-1CC7-69FB-776DCE45059E}"/>
                </a:ext>
              </a:extLst>
            </p:cNvPr>
            <p:cNvGrpSpPr/>
            <p:nvPr/>
          </p:nvGrpSpPr>
          <p:grpSpPr>
            <a:xfrm>
              <a:off x="4853940" y="2625862"/>
              <a:ext cx="1456372" cy="3258144"/>
              <a:chOff x="2894648" y="2702955"/>
              <a:chExt cx="1456372" cy="3258144"/>
            </a:xfrm>
          </p:grpSpPr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2BC481EF-0FF1-D318-78A0-86DF8BA4AECA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2702955"/>
                <a:ext cx="1456372" cy="250751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CCE82AA-9567-CC58-586D-C17E8A3FE298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3519725"/>
                <a:ext cx="1456372" cy="169074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5EE4F47F-CCB1-0CA7-5959-962F317E49C2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4341255"/>
                <a:ext cx="1456372" cy="86921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0CD79B0A-A363-7E0E-0678-B6523FA844BA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 flipV="1">
                <a:off x="2894648" y="5133379"/>
                <a:ext cx="1456372" cy="77093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0CCD7740-34E8-F841-97C1-D6D2785AF2D5}"/>
                  </a:ext>
                </a:extLst>
              </p:cNvPr>
              <p:cNvCxnSpPr>
                <a:cxnSpLocks/>
                <a:stCxn id="12" idx="6"/>
              </p:cNvCxnSpPr>
              <p:nvPr/>
            </p:nvCxnSpPr>
            <p:spPr>
              <a:xfrm>
                <a:off x="2894648" y="5210472"/>
                <a:ext cx="1456372" cy="750627"/>
              </a:xfrm>
              <a:prstGeom prst="line">
                <a:avLst/>
              </a:prstGeom>
              <a:ln>
                <a:solidFill>
                  <a:schemeClr val="accent5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EF650E6-1212-DF1C-AD62-69762E9927DB}"/>
                </a:ext>
              </a:extLst>
            </p:cNvPr>
            <p:cNvGrpSpPr/>
            <p:nvPr/>
          </p:nvGrpSpPr>
          <p:grpSpPr>
            <a:xfrm>
              <a:off x="4853940" y="2625862"/>
              <a:ext cx="1455896" cy="3335237"/>
              <a:chOff x="2895124" y="2702955"/>
              <a:chExt cx="1455896" cy="3335237"/>
            </a:xfrm>
          </p:grpSpPr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74A88E8-F66F-8EF0-DAAA-16A775F46547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2702955"/>
                <a:ext cx="1455896" cy="333523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54108C00-88B6-62E2-1B31-8A8F56C03D98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3519725"/>
                <a:ext cx="1455896" cy="251846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0F6D1AD5-DCF3-A35D-9854-9D36C83AD905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4341255"/>
                <a:ext cx="1455896" cy="1696937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AED6C901-24AF-9E10-DA4C-1D2CCB70F7A2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5133379"/>
                <a:ext cx="1455896" cy="904813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FE8BA077-0C1E-898B-1564-C6F7B16BF037}"/>
                  </a:ext>
                </a:extLst>
              </p:cNvPr>
              <p:cNvCxnSpPr>
                <a:cxnSpLocks/>
                <a:stCxn id="13" idx="6"/>
              </p:cNvCxnSpPr>
              <p:nvPr/>
            </p:nvCxnSpPr>
            <p:spPr>
              <a:xfrm flipV="1">
                <a:off x="2895124" y="5961099"/>
                <a:ext cx="1455896" cy="77093"/>
              </a:xfrm>
              <a:prstGeom prst="line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0B71728E-755D-2334-1C76-4C37F762CEAE}"/>
                </a:ext>
              </a:extLst>
            </p:cNvPr>
            <p:cNvGrpSpPr/>
            <p:nvPr/>
          </p:nvGrpSpPr>
          <p:grpSpPr>
            <a:xfrm>
              <a:off x="6797516" y="2616634"/>
              <a:ext cx="1463040" cy="3335237"/>
              <a:chOff x="5002530" y="2778262"/>
              <a:chExt cx="1463040" cy="3335237"/>
            </a:xfrm>
          </p:grpSpPr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874EB3A3-A442-37B5-B1F0-650437DD7B70}"/>
                  </a:ext>
                </a:extLst>
              </p:cNvPr>
              <p:cNvGrpSpPr/>
              <p:nvPr/>
            </p:nvGrpSpPr>
            <p:grpSpPr>
              <a:xfrm>
                <a:off x="5002530" y="2778262"/>
                <a:ext cx="1463040" cy="3258144"/>
                <a:chOff x="2887980" y="2702955"/>
                <a:chExt cx="1463040" cy="3258144"/>
              </a:xfrm>
            </p:grpSpPr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26BAF404-0578-B940-AE30-3706AAE824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87980" y="2702955"/>
                  <a:ext cx="1463040" cy="77093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8483DD3D-EDB5-E9E2-D8C5-DD3538B48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739677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EC190822-61CA-CAF8-0117-E09C4DA8C5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1561207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F80999A4-9AF9-7788-F384-EFCCDFD9E9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2353331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32DFCA00-C366-0EF3-B7BB-BBFEAF9A94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7980" y="2780048"/>
                  <a:ext cx="1463040" cy="3181051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06344492-1521-D165-190B-1999D0124134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9230" cy="3258144"/>
                <a:chOff x="2891790" y="2702955"/>
                <a:chExt cx="1459230" cy="3258144"/>
              </a:xfrm>
            </p:grpSpPr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CAE759EE-9F5E-80A7-8F39-EB077D48F0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1790" y="2702955"/>
                  <a:ext cx="1459230" cy="893863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BBBA9CE2-2467-41DA-F2F9-1E150AA7E2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1790" y="3519725"/>
                  <a:ext cx="1459230" cy="77093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A27D2ACE-97CD-E28D-37C5-B28056B5EB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1790" y="3596818"/>
                  <a:ext cx="1459230" cy="744437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1F1763EA-0233-F9C3-473C-CC7AD2CF36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1790" y="3596818"/>
                  <a:ext cx="1459230" cy="1536561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CF5D9084-6DB7-F67A-FEA5-A8EA31E311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1790" y="3596818"/>
                  <a:ext cx="1459230" cy="2364281"/>
                </a:xfrm>
                <a:prstGeom prst="line">
                  <a:avLst/>
                </a:prstGeom>
                <a:ln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0A86BDB7-8F1D-326C-F0B9-5ECA9A1B20E1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7325" cy="3258144"/>
                <a:chOff x="2893695" y="2702955"/>
                <a:chExt cx="1457325" cy="3258144"/>
              </a:xfrm>
            </p:grpSpPr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8125B3B8-95A1-2D7A-0031-24AA23769B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3695" y="2702955"/>
                  <a:ext cx="1457325" cy="1715393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F13721F5-6924-E5A0-F952-71444A25B9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3695" y="3519725"/>
                  <a:ext cx="1457325" cy="898623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F7379295-D5F0-F4EA-A21F-FA2A6AFA24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3695" y="4341255"/>
                  <a:ext cx="1457325" cy="77093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2A241F3A-3B88-7492-B754-6D8DD8CE1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3695" y="4418348"/>
                  <a:ext cx="1457325" cy="715031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B97BAC65-F100-3B75-0E7D-3FB60121D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3695" y="4418348"/>
                  <a:ext cx="1457325" cy="1542751"/>
                </a:xfrm>
                <a:prstGeom prst="line">
                  <a:avLst/>
                </a:prstGeom>
                <a:ln>
                  <a:solidFill>
                    <a:schemeClr val="accent6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1D580628-634E-6921-793E-FAABF09A59E6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6372" cy="3258144"/>
                <a:chOff x="2894648" y="2702955"/>
                <a:chExt cx="1456372" cy="3258144"/>
              </a:xfrm>
            </p:grpSpPr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168464EE-D845-0536-7869-70E2FC216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2702955"/>
                  <a:ext cx="1456372" cy="250751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E23122B9-1FB2-44F3-CBB2-0C13F2B530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3519725"/>
                  <a:ext cx="1456372" cy="169074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907C8939-4C72-026B-1821-5A626B9D07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4341255"/>
                  <a:ext cx="1456372" cy="86921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65AC363B-11AA-AAC7-E1F4-58F45DEE0B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4648" y="5133379"/>
                  <a:ext cx="1456372" cy="77093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CE901F78-EE95-2206-4B23-627407B653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4648" y="5210472"/>
                  <a:ext cx="1456372" cy="750627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1B8E99BC-6BF6-FE8E-75FB-5C2F1304094B}"/>
                  </a:ext>
                </a:extLst>
              </p:cNvPr>
              <p:cNvGrpSpPr/>
              <p:nvPr/>
            </p:nvGrpSpPr>
            <p:grpSpPr>
              <a:xfrm>
                <a:off x="5006340" y="2778262"/>
                <a:ext cx="1455896" cy="3335237"/>
                <a:chOff x="2895124" y="2702955"/>
                <a:chExt cx="1455896" cy="3335237"/>
              </a:xfrm>
            </p:grpSpPr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E0783571-332E-D7C9-FD52-3F1B7A2890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2702955"/>
                  <a:ext cx="1455896" cy="3335237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F72C8AC8-F2E8-203C-9212-2F17FA6592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3519725"/>
                  <a:ext cx="1455896" cy="2518467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9783D929-6CA8-5EFE-EA8D-FDE487DEA8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4341255"/>
                  <a:ext cx="1455896" cy="1696937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996FEA26-725F-DD87-CFC8-FAA5766047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5133379"/>
                  <a:ext cx="1455896" cy="904813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C99A6CA8-EBEB-AFFB-A367-6F99C755FA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95124" y="5961099"/>
                  <a:ext cx="1455896" cy="77093"/>
                </a:xfrm>
                <a:prstGeom prst="line">
                  <a:avLst/>
                </a:prstGeom>
                <a:ln>
                  <a:solidFill>
                    <a:schemeClr val="accent4"/>
                  </a:solidFill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21BF6955-F7E6-A964-CBF4-BBAAC693BC7B}"/>
                </a:ext>
              </a:extLst>
            </p:cNvPr>
            <p:cNvCxnSpPr>
              <a:cxnSpLocks/>
              <a:stCxn id="29" idx="2"/>
              <a:endCxn id="24" idx="6"/>
            </p:cNvCxnSpPr>
            <p:nvPr/>
          </p:nvCxnSpPr>
          <p:spPr>
            <a:xfrm flipH="1" flipV="1">
              <a:off x="8770620" y="2635090"/>
              <a:ext cx="1040130" cy="1605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D3FF29AC-37D8-9675-A032-3283F9119B97}"/>
                </a:ext>
              </a:extLst>
            </p:cNvPr>
            <p:cNvCxnSpPr>
              <a:cxnSpLocks/>
              <a:stCxn id="29" idx="2"/>
              <a:endCxn id="25" idx="6"/>
            </p:cNvCxnSpPr>
            <p:nvPr/>
          </p:nvCxnSpPr>
          <p:spPr>
            <a:xfrm flipH="1" flipV="1">
              <a:off x="8770620" y="3451860"/>
              <a:ext cx="1040130" cy="7889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51CB2545-F456-E965-D466-42034E717502}"/>
                </a:ext>
              </a:extLst>
            </p:cNvPr>
            <p:cNvCxnSpPr>
              <a:cxnSpLocks/>
              <a:stCxn id="29" idx="2"/>
              <a:endCxn id="26" idx="6"/>
            </p:cNvCxnSpPr>
            <p:nvPr/>
          </p:nvCxnSpPr>
          <p:spPr>
            <a:xfrm flipH="1">
              <a:off x="8770620" y="4240765"/>
              <a:ext cx="1040130" cy="3262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D37BCE71-88C6-6D0B-1209-B98959335C0F}"/>
                </a:ext>
              </a:extLst>
            </p:cNvPr>
            <p:cNvCxnSpPr>
              <a:cxnSpLocks/>
              <a:stCxn id="29" idx="2"/>
              <a:endCxn id="27" idx="6"/>
            </p:cNvCxnSpPr>
            <p:nvPr/>
          </p:nvCxnSpPr>
          <p:spPr>
            <a:xfrm flipH="1">
              <a:off x="8770620" y="4240765"/>
              <a:ext cx="1040130" cy="82474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D070F061-A284-212B-9561-8DB5D53829FF}"/>
                </a:ext>
              </a:extLst>
            </p:cNvPr>
            <p:cNvCxnSpPr>
              <a:cxnSpLocks/>
              <a:stCxn id="29" idx="2"/>
              <a:endCxn id="28" idx="6"/>
            </p:cNvCxnSpPr>
            <p:nvPr/>
          </p:nvCxnSpPr>
          <p:spPr>
            <a:xfrm flipH="1">
              <a:off x="8770620" y="4240765"/>
              <a:ext cx="1040130" cy="165246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ight Arrow 193">
              <a:extLst>
                <a:ext uri="{FF2B5EF4-FFF2-40B4-BE49-F238E27FC236}">
                  <a16:creationId xmlns:a16="http://schemas.microsoft.com/office/drawing/2014/main" id="{FC24C44E-3D9E-7E94-49C7-907F170155BB}"/>
                </a:ext>
              </a:extLst>
            </p:cNvPr>
            <p:cNvSpPr/>
            <p:nvPr/>
          </p:nvSpPr>
          <p:spPr>
            <a:xfrm>
              <a:off x="1695450" y="2771300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5" name="Right Arrow 194">
              <a:extLst>
                <a:ext uri="{FF2B5EF4-FFF2-40B4-BE49-F238E27FC236}">
                  <a16:creationId xmlns:a16="http://schemas.microsoft.com/office/drawing/2014/main" id="{4EBC6E50-1E11-F059-FC3B-6F114D3540A9}"/>
                </a:ext>
              </a:extLst>
            </p:cNvPr>
            <p:cNvSpPr/>
            <p:nvPr/>
          </p:nvSpPr>
          <p:spPr>
            <a:xfrm>
              <a:off x="1703070" y="3547613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6" name="Right Arrow 195">
              <a:extLst>
                <a:ext uri="{FF2B5EF4-FFF2-40B4-BE49-F238E27FC236}">
                  <a16:creationId xmlns:a16="http://schemas.microsoft.com/office/drawing/2014/main" id="{35E433C2-C4E9-AF97-C06C-005A5BFD10C8}"/>
                </a:ext>
              </a:extLst>
            </p:cNvPr>
            <p:cNvSpPr/>
            <p:nvPr/>
          </p:nvSpPr>
          <p:spPr>
            <a:xfrm>
              <a:off x="1703070" y="4341255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7" name="Right Arrow 196">
              <a:extLst>
                <a:ext uri="{FF2B5EF4-FFF2-40B4-BE49-F238E27FC236}">
                  <a16:creationId xmlns:a16="http://schemas.microsoft.com/office/drawing/2014/main" id="{6C2B5DB7-E912-A258-93FB-3A4D35882805}"/>
                </a:ext>
              </a:extLst>
            </p:cNvPr>
            <p:cNvSpPr/>
            <p:nvPr/>
          </p:nvSpPr>
          <p:spPr>
            <a:xfrm>
              <a:off x="1703070" y="5252471"/>
              <a:ext cx="594360" cy="344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/>
            </a:p>
          </p:txBody>
        </p:sp>
        <p:sp>
          <p:nvSpPr>
            <p:cNvPr id="198" name="Rounded Rectangle 197">
              <a:extLst>
                <a:ext uri="{FF2B5EF4-FFF2-40B4-BE49-F238E27FC236}">
                  <a16:creationId xmlns:a16="http://schemas.microsoft.com/office/drawing/2014/main" id="{2829F970-C120-22E5-5955-72D364D7DC69}"/>
                </a:ext>
              </a:extLst>
            </p:cNvPr>
            <p:cNvSpPr/>
            <p:nvPr/>
          </p:nvSpPr>
          <p:spPr>
            <a:xfrm>
              <a:off x="838200" y="2625862"/>
              <a:ext cx="1021080" cy="325814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00" dirty="0"/>
                <a:t>Inputs</a:t>
              </a:r>
            </a:p>
          </p:txBody>
        </p:sp>
        <p:sp>
          <p:nvSpPr>
            <p:cNvPr id="199" name="Right Arrow 198">
              <a:extLst>
                <a:ext uri="{FF2B5EF4-FFF2-40B4-BE49-F238E27FC236}">
                  <a16:creationId xmlns:a16="http://schemas.microsoft.com/office/drawing/2014/main" id="{F86AB03A-4F55-F25F-F90A-3037F437F4EC}"/>
                </a:ext>
              </a:extLst>
            </p:cNvPr>
            <p:cNvSpPr/>
            <p:nvPr/>
          </p:nvSpPr>
          <p:spPr>
            <a:xfrm>
              <a:off x="10521314" y="3908100"/>
              <a:ext cx="1152525" cy="66533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00" dirty="0"/>
                <a:t>Output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EA77AD7-90D8-A369-D2A0-B276284CD862}"/>
              </a:ext>
            </a:extLst>
          </p:cNvPr>
          <p:cNvGrpSpPr/>
          <p:nvPr/>
        </p:nvGrpSpPr>
        <p:grpSpPr>
          <a:xfrm>
            <a:off x="8770620" y="137160"/>
            <a:ext cx="3055396" cy="2234201"/>
            <a:chOff x="8770620" y="137160"/>
            <a:chExt cx="3055396" cy="2234201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43F9639-FD70-05E1-ACC5-3E535740D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01624" y="925621"/>
              <a:ext cx="624392" cy="1445740"/>
            </a:xfrm>
            <a:prstGeom prst="rect">
              <a:avLst/>
            </a:prstGeom>
          </p:spPr>
        </p:pic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B9F4109A-FB34-65FC-4905-2A69B04A6206}"/>
                </a:ext>
              </a:extLst>
            </p:cNvPr>
            <p:cNvSpPr txBox="1"/>
            <p:nvPr/>
          </p:nvSpPr>
          <p:spPr>
            <a:xfrm>
              <a:off x="8770620" y="137160"/>
              <a:ext cx="305539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Each edge has a “weight” that tells the network how to propagate values from the input to the output.</a:t>
              </a: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3A2C1FA-4711-1F2B-D10D-6E322A765F16}"/>
              </a:ext>
            </a:extLst>
          </p:cNvPr>
          <p:cNvSpPr txBox="1">
            <a:spLocks/>
          </p:cNvSpPr>
          <p:nvPr/>
        </p:nvSpPr>
        <p:spPr>
          <a:xfrm>
            <a:off x="807726" y="3888792"/>
            <a:ext cx="5409976" cy="228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This gives us a </a:t>
            </a:r>
            <a:r>
              <a:rPr lang="en-US" i="1" dirty="0"/>
              <a:t>non-parametric </a:t>
            </a:r>
            <a:r>
              <a:rPr lang="en-US" dirty="0"/>
              <a:t>way of describing a function.</a:t>
            </a:r>
            <a:endParaRPr lang="en-US" dirty="0">
              <a:solidFill>
                <a:schemeClr val="accent1"/>
              </a:solidFill>
            </a:endParaRP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…but it’s not very interpretable…</a:t>
            </a: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077DAAB8-F265-EBFC-E003-84AF13A2404A}"/>
              </a:ext>
            </a:extLst>
          </p:cNvPr>
          <p:cNvSpPr/>
          <p:nvPr/>
        </p:nvSpPr>
        <p:spPr>
          <a:xfrm>
            <a:off x="10652761" y="2068277"/>
            <a:ext cx="701040" cy="2899963"/>
          </a:xfrm>
          <a:custGeom>
            <a:avLst/>
            <a:gdLst>
              <a:gd name="connsiteX0" fmla="*/ 0 w 1066987"/>
              <a:gd name="connsiteY0" fmla="*/ 50083 h 2899963"/>
              <a:gd name="connsiteX1" fmla="*/ 670560 w 1066987"/>
              <a:gd name="connsiteY1" fmla="*/ 65323 h 2899963"/>
              <a:gd name="connsiteX2" fmla="*/ 1066800 w 1066987"/>
              <a:gd name="connsiteY2" fmla="*/ 690163 h 2899963"/>
              <a:gd name="connsiteX3" fmla="*/ 624840 w 1066987"/>
              <a:gd name="connsiteY3" fmla="*/ 2107483 h 2899963"/>
              <a:gd name="connsiteX4" fmla="*/ 228600 w 1066987"/>
              <a:gd name="connsiteY4" fmla="*/ 2899963 h 2899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6987" h="2899963">
                <a:moveTo>
                  <a:pt x="0" y="50083"/>
                </a:moveTo>
                <a:cubicBezTo>
                  <a:pt x="246380" y="4363"/>
                  <a:pt x="492760" y="-41357"/>
                  <a:pt x="670560" y="65323"/>
                </a:cubicBezTo>
                <a:cubicBezTo>
                  <a:pt x="848360" y="172003"/>
                  <a:pt x="1074420" y="349803"/>
                  <a:pt x="1066800" y="690163"/>
                </a:cubicBezTo>
                <a:cubicBezTo>
                  <a:pt x="1059180" y="1030523"/>
                  <a:pt x="764540" y="1739183"/>
                  <a:pt x="624840" y="2107483"/>
                </a:cubicBezTo>
                <a:cubicBezTo>
                  <a:pt x="485140" y="2475783"/>
                  <a:pt x="356870" y="2687873"/>
                  <a:pt x="228600" y="2899963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4530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D6A1E-BA8A-FC84-19B4-808F90BC2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6564-D87F-F6AA-8858-F4D28F47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story so far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D816BC-D8C6-C6A1-39CC-B3A27BC2AB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Two-Stage Least Squares (2SLS):</a:t>
                </a:r>
              </a:p>
              <a:p>
                <a:pPr lvl="1"/>
                <a:r>
                  <a:rPr lang="en-US" dirty="0"/>
                  <a:t>First stage: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Second stage: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Why are we restricting ourselves to linear models?</a:t>
                </a:r>
              </a:p>
              <a:p>
                <a:r>
                  <a:rPr lang="en-US" dirty="0"/>
                  <a:t>Let’s replace them with neural networks!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D816BC-D8C6-C6A1-39CC-B3A27BC2AB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439C92FC-7671-8A0F-88ED-F27DEC74B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8508" y="3857780"/>
            <a:ext cx="624392" cy="14457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4B9389-AB10-A0CD-600C-305C90F8FA86}"/>
              </a:ext>
            </a:extLst>
          </p:cNvPr>
          <p:cNvSpPr txBox="1"/>
          <p:nvPr/>
        </p:nvSpPr>
        <p:spPr>
          <a:xfrm>
            <a:off x="9220200" y="1828515"/>
            <a:ext cx="2743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There are often good reasons to restrict to simpler models – e.g. to prevent over-fitting – but let’s say we have tons of data and want to take advantage of it.</a:t>
            </a:r>
          </a:p>
        </p:txBody>
      </p:sp>
    </p:spTree>
    <p:extLst>
      <p:ext uri="{BB962C8B-B14F-4D97-AF65-F5344CB8AC3E}">
        <p14:creationId xmlns:p14="http://schemas.microsoft.com/office/powerpoint/2010/main" val="3257093732"/>
      </p:ext>
    </p:extLst>
  </p:cSld>
  <p:clrMapOvr>
    <a:masterClrMapping/>
  </p:clrMapOvr>
  <p:transition spd="slow">
    <p:push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214B2-1430-3A29-FE76-7F1EF4242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790FA-D698-B70B-8C90-D84BC0F0B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story so far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FE557B-5ADF-3442-1788-7A69B7CDCE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Two-Stage Least Squares (2SLS):</a:t>
                </a:r>
              </a:p>
              <a:p>
                <a:pPr lvl="1"/>
                <a:r>
                  <a:rPr lang="en-US" dirty="0"/>
                  <a:t>First stage: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Second stage: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noise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Why are we restricting ourselves to linear models?</a:t>
                </a:r>
              </a:p>
              <a:p>
                <a:r>
                  <a:rPr lang="en-US" dirty="0"/>
                  <a:t>Let’s replace them with neural networks!</a:t>
                </a:r>
              </a:p>
              <a:p>
                <a:endParaRPr lang="en-US" dirty="0"/>
              </a:p>
              <a:p>
                <a:r>
                  <a:rPr lang="en-US" dirty="0"/>
                  <a:t>But how?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FE557B-5ADF-3442-1788-7A69B7CDCE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EAAE9EA2-D4AF-08D4-A57B-36590672C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8508" y="3857780"/>
            <a:ext cx="624392" cy="14457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89596C-BA89-943C-FD6C-E96631AC35F3}"/>
              </a:ext>
            </a:extLst>
          </p:cNvPr>
          <p:cNvSpPr txBox="1"/>
          <p:nvPr/>
        </p:nvSpPr>
        <p:spPr>
          <a:xfrm>
            <a:off x="9220200" y="1828515"/>
            <a:ext cx="2743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There are often good reasons to restrict to simpler models – e.g. to prevent over-fitting – but let’s say we have tons of data and want to take advantage of it.</a:t>
            </a:r>
          </a:p>
        </p:txBody>
      </p:sp>
    </p:spTree>
    <p:extLst>
      <p:ext uri="{BB962C8B-B14F-4D97-AF65-F5344CB8AC3E}">
        <p14:creationId xmlns:p14="http://schemas.microsoft.com/office/powerpoint/2010/main" val="32367231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8CD4F-4BF4-8091-465F-D3EB6AB2D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6293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to use (D)NNs to approximate LATE</a:t>
            </a:r>
            <a:br>
              <a:rPr lang="en-US" dirty="0"/>
            </a:br>
            <a:r>
              <a:rPr lang="en-US" sz="1600" dirty="0"/>
              <a:t>Loosely following [Hartford, Lewis, Leyton-Brown, Taddy, 2017]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224A2D-DB4F-01EE-45C6-D70C72427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Assumption: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noise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]=0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]=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]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224A2D-DB4F-01EE-45C6-D70C72427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078CB8EE-50B9-012E-8988-B2A6A060133A}"/>
              </a:ext>
            </a:extLst>
          </p:cNvPr>
          <p:cNvGrpSpPr/>
          <p:nvPr/>
        </p:nvGrpSpPr>
        <p:grpSpPr>
          <a:xfrm>
            <a:off x="7940612" y="1213688"/>
            <a:ext cx="3851823" cy="953999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6D551A7-1A15-CF65-D1BC-86F1C8FE1D1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4D458044-DB21-013C-2252-5087115D5B6D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251E90EE-1C39-8523-5F5F-32B5F8E6F717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10454D6-6B32-0229-AFA5-91FFABA3C99C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D82BCEB-0B5B-05F9-7088-C60505582943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D771FE3-AA9D-A962-F89C-293CEF87C0EF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7A6AE61B-E8D1-AF41-7C67-55B6585C2678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49962D87-7BDA-20ED-A752-F159BEB65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2DECA0-5618-71E8-0CD1-D79E013F1E34}"/>
                  </a:ext>
                </a:extLst>
              </p:cNvPr>
              <p:cNvSpPr txBox="1"/>
              <p:nvPr/>
            </p:nvSpPr>
            <p:spPr>
              <a:xfrm>
                <a:off x="6225473" y="1668130"/>
                <a:ext cx="26045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Let’s ignore the covariates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now…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2DECA0-5618-71E8-0CD1-D79E013F1E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5473" y="1668130"/>
                <a:ext cx="2604530" cy="646331"/>
              </a:xfrm>
              <a:prstGeom prst="rect">
                <a:avLst/>
              </a:prstGeom>
              <a:blipFill>
                <a:blip r:embed="rId8"/>
                <a:stretch>
                  <a:fillRect l="-1942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76E114-7DFE-060D-2833-7CD120345744}"/>
                  </a:ext>
                </a:extLst>
              </p:cNvPr>
              <p:cNvSpPr txBox="1"/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Plug in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12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76E114-7DFE-060D-2833-7CD120345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BD1EDB-0CD2-764E-1182-6311A6A840D9}"/>
                  </a:ext>
                </a:extLst>
              </p:cNvPr>
              <p:cNvSpPr txBox="1"/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Definition of </a:t>
                </a:r>
                <a14:m>
                  <m:oMath xmlns:m="http://schemas.openxmlformats.org/officeDocument/2006/math">
                    <m:r>
                      <a:rPr lang="en-US" sz="120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200" dirty="0">
                    <a:solidFill>
                      <a:schemeClr val="accent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BD1EDB-0CD2-764E-1182-6311A6A84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blipFill>
                <a:blip r:embed="rId10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16F4DF92-A65C-C017-67A4-D37E8DE39785}"/>
              </a:ext>
            </a:extLst>
          </p:cNvPr>
          <p:cNvGrpSpPr/>
          <p:nvPr/>
        </p:nvGrpSpPr>
        <p:grpSpPr>
          <a:xfrm>
            <a:off x="706139" y="3350253"/>
            <a:ext cx="2869400" cy="2167893"/>
            <a:chOff x="706139" y="3350253"/>
            <a:chExt cx="2869400" cy="21678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6C25D3E-4C7E-98BC-6ACD-2AD95EB04253}"/>
                    </a:ext>
                  </a:extLst>
                </p:cNvPr>
                <p:cNvSpPr txBox="1"/>
                <p:nvPr/>
              </p:nvSpPr>
              <p:spPr>
                <a:xfrm>
                  <a:off x="706139" y="4317817"/>
                  <a:ext cx="1908284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5"/>
                      </a:solidFill>
                    </a:rPr>
                    <a:t>We know this!  We see both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dirty="0">
                      <a:solidFill>
                        <a:schemeClr val="accent5"/>
                      </a:solidFill>
                    </a:rPr>
                    <a:t> and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dirty="0">
                      <a:solidFill>
                        <a:schemeClr val="accent5"/>
                      </a:solidFill>
                    </a:rPr>
                    <a:t> for each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US" dirty="0">
                    <a:solidFill>
                      <a:schemeClr val="accent5"/>
                    </a:solidFill>
                  </a:endParaRPr>
                </a:p>
                <a:p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6C25D3E-4C7E-98BC-6ACD-2AD95EB042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139" y="4317817"/>
                  <a:ext cx="1908284" cy="1200329"/>
                </a:xfrm>
                <a:prstGeom prst="rect">
                  <a:avLst/>
                </a:prstGeom>
                <a:blipFill>
                  <a:blip r:embed="rId11"/>
                  <a:stretch>
                    <a:fillRect l="-2649" t="-20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88E32EB-ABC7-5567-B13C-411343AD4A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1562" y="3962400"/>
              <a:ext cx="283084" cy="355417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9A345FEF-ED4E-DF35-FB9D-A588CECF1F40}"/>
                </a:ext>
              </a:extLst>
            </p:cNvPr>
            <p:cNvSpPr/>
            <p:nvPr/>
          </p:nvSpPr>
          <p:spPr>
            <a:xfrm>
              <a:off x="1667255" y="3350253"/>
              <a:ext cx="1908284" cy="542954"/>
            </a:xfrm>
            <a:prstGeom prst="round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C9CCDF7-0B88-B9E0-E58D-86063DA01411}"/>
              </a:ext>
            </a:extLst>
          </p:cNvPr>
          <p:cNvGrpSpPr/>
          <p:nvPr/>
        </p:nvGrpSpPr>
        <p:grpSpPr>
          <a:xfrm>
            <a:off x="7062694" y="3191607"/>
            <a:ext cx="3309191" cy="2150888"/>
            <a:chOff x="7062694" y="3191607"/>
            <a:chExt cx="3309191" cy="2150888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00E60765-D265-0CAC-A2D2-12093E632C10}"/>
                </a:ext>
              </a:extLst>
            </p:cNvPr>
            <p:cNvSpPr/>
            <p:nvPr/>
          </p:nvSpPr>
          <p:spPr>
            <a:xfrm>
              <a:off x="7395885" y="3191607"/>
              <a:ext cx="2542882" cy="770793"/>
            </a:xfrm>
            <a:prstGeom prst="roundRect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8046ECC-1C52-189F-A3FE-92A852EB613F}"/>
                    </a:ext>
                  </a:extLst>
                </p:cNvPr>
                <p:cNvSpPr txBox="1"/>
                <p:nvPr/>
              </p:nvSpPr>
              <p:spPr>
                <a:xfrm>
                  <a:off x="7062694" y="4001294"/>
                  <a:ext cx="3309191" cy="13412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chemeClr val="accent6"/>
                      </a:solidFill>
                    </a:rPr>
                    <a:t>Stage 1</a:t>
                  </a:r>
                  <a:r>
                    <a:rPr lang="en-US" sz="2000" dirty="0">
                      <a:solidFill>
                        <a:schemeClr val="accent6"/>
                      </a:solidFill>
                    </a:rPr>
                    <a:t>: Use a neural network to learn this function.  Let’s call it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lang="en-US" sz="20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Pr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000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20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8046ECC-1C52-189F-A3FE-92A852EB6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2694" y="4001294"/>
                  <a:ext cx="3309191" cy="1341201"/>
                </a:xfrm>
                <a:prstGeom prst="rect">
                  <a:avLst/>
                </a:prstGeom>
                <a:blipFill>
                  <a:blip r:embed="rId12"/>
                  <a:stretch>
                    <a:fillRect t="-1869" b="-28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330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5" grpId="0"/>
      <p:bldP spid="1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DAC85-3798-8181-FF17-A1C0632D0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F775-F1C4-D518-0D9E-321C9C288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6293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to use (D)NNs to approximate LATE</a:t>
            </a:r>
            <a:br>
              <a:rPr lang="en-US" dirty="0"/>
            </a:br>
            <a:r>
              <a:rPr lang="en-US" sz="1600" dirty="0"/>
              <a:t>Loosely following [Hartford, Lewis, Leyton-Brown, Taddy, 2017]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03A1E2-E0D5-F1AF-3F7D-873A36FF4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717915"/>
              </a:xfrm>
            </p:spPr>
            <p:txBody>
              <a:bodyPr/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Assumption: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noise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]=0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]=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]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03A1E2-E0D5-F1AF-3F7D-873A36FF48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717915"/>
              </a:xfrm>
              <a:blipFill>
                <a:blip r:embed="rId3"/>
                <a:stretch>
                  <a:fillRect l="-1086" t="-3721" b="-52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84F52FF-D408-7F1F-983E-EC86B2A8C44D}"/>
              </a:ext>
            </a:extLst>
          </p:cNvPr>
          <p:cNvGrpSpPr/>
          <p:nvPr/>
        </p:nvGrpSpPr>
        <p:grpSpPr>
          <a:xfrm>
            <a:off x="7940612" y="1213688"/>
            <a:ext cx="3851823" cy="953999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EEDCCB5E-CE69-139D-32F0-63354B576C1A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F25E20EE-558C-35CF-D86D-AF3FD5CFB8FB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7F5BC08-22D3-CA17-8AD3-639E0D2C621B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346817B-70A8-CF84-26A0-CB714BB5C9B8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8334367-C43C-FE0D-CE4E-5CB857CD05ED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09FC88-AD88-9748-A12F-1051476FAEA7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1DFC1872-F55C-31E9-A206-39D634A06C47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2DB43D39-2E40-5606-0A69-6676FA3B9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48BD989-E6B1-E72F-6906-B50625A79AB3}"/>
                  </a:ext>
                </a:extLst>
              </p:cNvPr>
              <p:cNvSpPr txBox="1"/>
              <p:nvPr/>
            </p:nvSpPr>
            <p:spPr>
              <a:xfrm>
                <a:off x="6225473" y="1668130"/>
                <a:ext cx="26045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Let’s ignore the covariates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now…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48BD989-E6B1-E72F-6906-B50625A79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5473" y="1668130"/>
                <a:ext cx="2604530" cy="646331"/>
              </a:xfrm>
              <a:prstGeom prst="rect">
                <a:avLst/>
              </a:prstGeom>
              <a:blipFill>
                <a:blip r:embed="rId8"/>
                <a:stretch>
                  <a:fillRect l="-1942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D25D66-2AAD-7CD6-5677-C4B8B1C99C0E}"/>
                  </a:ext>
                </a:extLst>
              </p:cNvPr>
              <p:cNvSpPr txBox="1"/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Plug in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12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D25D66-2AAD-7CD6-5677-C4B8B1C99C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B55F1F5-E6D2-A17F-19FA-A5B741BE7775}"/>
                  </a:ext>
                </a:extLst>
              </p:cNvPr>
              <p:cNvSpPr txBox="1"/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Definition of </a:t>
                </a:r>
                <a14:m>
                  <m:oMath xmlns:m="http://schemas.openxmlformats.org/officeDocument/2006/math">
                    <m:r>
                      <a:rPr lang="en-US" sz="120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200" dirty="0">
                    <a:solidFill>
                      <a:schemeClr val="accent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B55F1F5-E6D2-A17F-19FA-A5B741BE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blipFill>
                <a:blip r:embed="rId10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6703F05-5E4B-1D74-E8A7-90B12301BED0}"/>
              </a:ext>
            </a:extLst>
          </p:cNvPr>
          <p:cNvSpPr/>
          <p:nvPr/>
        </p:nvSpPr>
        <p:spPr>
          <a:xfrm>
            <a:off x="1667255" y="3350253"/>
            <a:ext cx="1908284" cy="54295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3149015-4510-DE3C-536C-40C7547D4094}"/>
              </a:ext>
            </a:extLst>
          </p:cNvPr>
          <p:cNvSpPr/>
          <p:nvPr/>
        </p:nvSpPr>
        <p:spPr>
          <a:xfrm>
            <a:off x="7395885" y="3191607"/>
            <a:ext cx="2542882" cy="770793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D770337A-C749-A269-B356-8BE9F70DF1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7673" y="4204332"/>
                <a:ext cx="10515600" cy="271791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Stage 2</a:t>
                </a:r>
                <a:r>
                  <a:rPr lang="en-US" sz="2400" dirty="0"/>
                  <a:t>: Use a NN to learn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</m:oMath>
                </a14:m>
                <a:r>
                  <a:rPr lang="en-US" sz="2400" dirty="0"/>
                  <a:t> so that </a:t>
                </a:r>
                <a:endParaRPr lang="en-US" sz="2400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D770337A-C749-A269-B356-8BE9F70DF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673" y="4204332"/>
                <a:ext cx="10515600" cy="2717915"/>
              </a:xfrm>
              <a:prstGeom prst="rect">
                <a:avLst/>
              </a:prstGeom>
              <a:blipFill>
                <a:blip r:embed="rId11"/>
                <a:stretch>
                  <a:fillRect l="-844" t="-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852B6E-539A-AC33-C40A-1292FD5CE9DC}"/>
                  </a:ext>
                </a:extLst>
              </p:cNvPr>
              <p:cNvSpPr txBox="1"/>
              <p:nvPr/>
            </p:nvSpPr>
            <p:spPr>
              <a:xfrm>
                <a:off x="7062694" y="4001294"/>
                <a:ext cx="3309191" cy="1341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chemeClr val="accent6"/>
                    </a:solidFill>
                  </a:rPr>
                  <a:t>Stage 1</a:t>
                </a:r>
                <a:r>
                  <a:rPr lang="en-US" sz="2000" dirty="0">
                    <a:solidFill>
                      <a:schemeClr val="accent6"/>
                    </a:solidFill>
                  </a:rPr>
                  <a:t>: Use a neural network to learn this function.  Let’s call it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0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00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852B6E-539A-AC33-C40A-1292FD5CE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2694" y="4001294"/>
                <a:ext cx="3309191" cy="1341201"/>
              </a:xfrm>
              <a:prstGeom prst="rect">
                <a:avLst/>
              </a:prstGeom>
              <a:blipFill>
                <a:blip r:embed="rId12"/>
                <a:stretch>
                  <a:fillRect t="-1869" b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4609397-7CA5-9F12-63A7-2177AEEC199C}"/>
                  </a:ext>
                </a:extLst>
              </p:cNvPr>
              <p:cNvSpPr txBox="1"/>
              <p:nvPr/>
            </p:nvSpPr>
            <p:spPr>
              <a:xfrm>
                <a:off x="1667255" y="4552224"/>
                <a:ext cx="4985531" cy="11378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acc>
                            <m:accPr>
                              <m:chr m:val="̂"/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acc>
                        <m:accPr>
                          <m:chr m:val="̂"/>
                          <m:ctrlPr>
                            <a:rPr lang="en-US" sz="28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4609397-7CA5-9F12-63A7-2177AEEC1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255" y="4552224"/>
                <a:ext cx="4985531" cy="1137876"/>
              </a:xfrm>
              <a:prstGeom prst="rect">
                <a:avLst/>
              </a:prstGeom>
              <a:blipFill>
                <a:blip r:embed="rId13"/>
                <a:stretch>
                  <a:fillRect t="-131111" r="-2290" b="-18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9581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1EEE-C1B1-0909-BC1D-0A830AF98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F4475-E5B5-E8B6-3D72-6FF9FF63A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6293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to use (D)NNs to approximate LATE</a:t>
            </a:r>
            <a:br>
              <a:rPr lang="en-US" dirty="0"/>
            </a:br>
            <a:r>
              <a:rPr lang="en-US" sz="1600" dirty="0"/>
              <a:t>Loosely following [Hartford, Lewis, Leyton-Brown, Taddy, 2017]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77AF06-317D-19FC-BA74-7B8A4F20ED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717915"/>
              </a:xfrm>
            </p:spPr>
            <p:txBody>
              <a:bodyPr/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Assumption: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noise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]=0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]=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]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77AF06-317D-19FC-BA74-7B8A4F20ED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717915"/>
              </a:xfrm>
              <a:blipFill>
                <a:blip r:embed="rId3"/>
                <a:stretch>
                  <a:fillRect l="-1086" t="-3721" b="-52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350FFAB-ED36-3354-95FB-80FA5F3D516E}"/>
              </a:ext>
            </a:extLst>
          </p:cNvPr>
          <p:cNvGrpSpPr/>
          <p:nvPr/>
        </p:nvGrpSpPr>
        <p:grpSpPr>
          <a:xfrm>
            <a:off x="7940612" y="1213688"/>
            <a:ext cx="3851823" cy="953999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27AB1E6-6425-0484-2DE2-37535758C29A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F6A15255-DCB0-7B6E-CBB7-1D7A4F8AB9DA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9E3D9562-CDEF-4B7A-6301-E456C3CB5559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1C574BF-C5DC-B5BB-3F33-64EDF041029B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48DFBDA-F722-49A1-EAB4-3399C9D46ACF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593BAA0-E2DB-77F9-1790-4A5BA9BAF7A2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F1D41290-97C9-F8B8-3A8A-4E7AB76ED26A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1D0FFF4A-F8B0-C8D1-E852-3B05686E0C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D33E4F-4C94-4B58-B0EB-15CB269061B9}"/>
                  </a:ext>
                </a:extLst>
              </p:cNvPr>
              <p:cNvSpPr txBox="1"/>
              <p:nvPr/>
            </p:nvSpPr>
            <p:spPr>
              <a:xfrm>
                <a:off x="6225473" y="1668130"/>
                <a:ext cx="26045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Let’s ignore the covariates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now…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D33E4F-4C94-4B58-B0EB-15CB26906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5473" y="1668130"/>
                <a:ext cx="2604530" cy="646331"/>
              </a:xfrm>
              <a:prstGeom prst="rect">
                <a:avLst/>
              </a:prstGeom>
              <a:blipFill>
                <a:blip r:embed="rId8"/>
                <a:stretch>
                  <a:fillRect l="-1942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163216-12AD-AF44-955A-153312FE52DD}"/>
                  </a:ext>
                </a:extLst>
              </p:cNvPr>
              <p:cNvSpPr txBox="1"/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Plug in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12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163216-12AD-AF44-955A-153312FE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2F65ED-CCB7-D039-EE03-F09647F09422}"/>
                  </a:ext>
                </a:extLst>
              </p:cNvPr>
              <p:cNvSpPr txBox="1"/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Definition of </a:t>
                </a:r>
                <a14:m>
                  <m:oMath xmlns:m="http://schemas.openxmlformats.org/officeDocument/2006/math">
                    <m:r>
                      <a:rPr lang="en-US" sz="120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200" dirty="0">
                    <a:solidFill>
                      <a:schemeClr val="accent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2F65ED-CCB7-D039-EE03-F09647F0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blipFill>
                <a:blip r:embed="rId10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88F7533-7CB2-D039-F50A-CC1F019727D0}"/>
              </a:ext>
            </a:extLst>
          </p:cNvPr>
          <p:cNvSpPr/>
          <p:nvPr/>
        </p:nvSpPr>
        <p:spPr>
          <a:xfrm>
            <a:off x="1667255" y="3350253"/>
            <a:ext cx="1908284" cy="54295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9DE3C6D-6FB7-C7DE-186F-71DC05B9E14C}"/>
              </a:ext>
            </a:extLst>
          </p:cNvPr>
          <p:cNvSpPr/>
          <p:nvPr/>
        </p:nvSpPr>
        <p:spPr>
          <a:xfrm>
            <a:off x="7395885" y="3191607"/>
            <a:ext cx="2542882" cy="770793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2D7385-57F6-B001-0132-F99C7BB46D10}"/>
                  </a:ext>
                </a:extLst>
              </p:cNvPr>
              <p:cNvSpPr txBox="1"/>
              <p:nvPr/>
            </p:nvSpPr>
            <p:spPr>
              <a:xfrm>
                <a:off x="1667255" y="4552224"/>
                <a:ext cx="4985531" cy="11378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acc>
                            <m:accPr>
                              <m:chr m:val="̂"/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acc>
                        <m:accPr>
                          <m:chr m:val="̂"/>
                          <m:ctrlPr>
                            <a:rPr lang="en-US" sz="28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2D7385-57F6-B001-0132-F99C7BB46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255" y="4552224"/>
                <a:ext cx="4985531" cy="1137876"/>
              </a:xfrm>
              <a:prstGeom prst="rect">
                <a:avLst/>
              </a:prstGeom>
              <a:blipFill>
                <a:blip r:embed="rId11"/>
                <a:stretch>
                  <a:fillRect t="-131111" r="-2290" b="-18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0F2A51C3-72A9-AB8F-EAB9-4FA4547049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7673" y="4204333"/>
                <a:ext cx="10515600" cy="13757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Stage 2</a:t>
                </a:r>
                <a:r>
                  <a:rPr lang="en-US" sz="2400" dirty="0"/>
                  <a:t>: Use a NN to learn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</m:oMath>
                </a14:m>
                <a:r>
                  <a:rPr lang="en-US" sz="2400" dirty="0"/>
                  <a:t> so that </a:t>
                </a:r>
                <a:endParaRPr lang="en-US" sz="2400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0F2A51C3-72A9-AB8F-EAB9-4FA454704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673" y="4204333"/>
                <a:ext cx="10515600" cy="1375708"/>
              </a:xfrm>
              <a:prstGeom prst="rect">
                <a:avLst/>
              </a:prstGeom>
              <a:blipFill>
                <a:blip r:embed="rId12"/>
                <a:stretch>
                  <a:fillRect l="-844" t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6D7541E-57D1-7DAC-3908-46437D7791CD}"/>
                  </a:ext>
                </a:extLst>
              </p:cNvPr>
              <p:cNvSpPr txBox="1"/>
              <p:nvPr/>
            </p:nvSpPr>
            <p:spPr>
              <a:xfrm>
                <a:off x="7062694" y="4001294"/>
                <a:ext cx="3309191" cy="1341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chemeClr val="accent6"/>
                    </a:solidFill>
                  </a:rPr>
                  <a:t>Stage 1</a:t>
                </a:r>
                <a:r>
                  <a:rPr lang="en-US" sz="2000" dirty="0">
                    <a:solidFill>
                      <a:schemeClr val="accent6"/>
                    </a:solidFill>
                  </a:rPr>
                  <a:t>: Use a neural network to learn this function.  Let’s call it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0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00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6D7541E-57D1-7DAC-3908-46437D779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2694" y="4001294"/>
                <a:ext cx="3309191" cy="1341201"/>
              </a:xfrm>
              <a:prstGeom prst="rect">
                <a:avLst/>
              </a:prstGeom>
              <a:blipFill>
                <a:blip r:embed="rId13"/>
                <a:stretch>
                  <a:fillRect t="-1869" b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AC83620-9804-DFE2-363B-CE6845406C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8996" y="5717763"/>
                <a:ext cx="11246315" cy="137570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Last step</a:t>
                </a:r>
                <a:r>
                  <a:rPr lang="en-US" sz="2400" dirty="0"/>
                  <a:t>: </a:t>
                </a:r>
                <a:r>
                  <a:rPr lang="en-US" sz="2400" dirty="0">
                    <a:solidFill>
                      <a:schemeClr val="tx1"/>
                    </a:solidFill>
                  </a:rPr>
                  <a:t>Now we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r>
                      <a:rPr 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 so we can compute counterfactuals!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E.g.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is years of school,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d>
                      <m:dPr>
                        <m:ctrlPr>
                          <a:rPr lang="en-US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d>
                      <m:dPr>
                        <m:ctrlP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returns to a 10’th year of school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AC83620-9804-DFE2-363B-CE6845406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996" y="5717763"/>
                <a:ext cx="11246315" cy="1375708"/>
              </a:xfrm>
              <a:prstGeom prst="rect">
                <a:avLst/>
              </a:prstGeom>
              <a:blipFill>
                <a:blip r:embed="rId14"/>
                <a:stretch>
                  <a:fillRect l="-676" t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29258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14E8-1B41-7EAD-B7D7-F624AE733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more detail</a:t>
            </a:r>
            <a:br>
              <a:rPr lang="en-US" dirty="0"/>
            </a:br>
            <a:r>
              <a:rPr lang="en-US" sz="2800" dirty="0"/>
              <a:t>Stage 1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1A5B9A-0DC5-D73C-3615-55DD302077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645769" cy="4351338"/>
              </a:xfrm>
            </p:spPr>
            <p:txBody>
              <a:bodyPr/>
              <a:lstStyle/>
              <a:p>
                <a:r>
                  <a:rPr lang="en-US" dirty="0"/>
                  <a:t>We want to know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Learn a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a particular form so that: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a legit conditional probability distribution, and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(approximately) minimizes something like:</a:t>
                </a:r>
              </a:p>
              <a:p>
                <a:pPr marL="2743200" lvl="6" indent="0">
                  <a:buNone/>
                </a:pPr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𝑍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1A5B9A-0DC5-D73C-3615-55DD302077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645769" cy="4351338"/>
              </a:xfrm>
              <a:blipFill>
                <a:blip r:embed="rId3"/>
                <a:stretch>
                  <a:fillRect l="-1322" t="-2326" b="-34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F7869E-A48A-61A4-0F3D-888DD70CD606}"/>
                  </a:ext>
                </a:extLst>
              </p:cNvPr>
              <p:cNvSpPr txBox="1"/>
              <p:nvPr/>
            </p:nvSpPr>
            <p:spPr>
              <a:xfrm>
                <a:off x="7033847" y="1547446"/>
                <a:ext cx="431995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E.g., what is the probability that someone 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years of schooling given that they were born in Quarter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F7869E-A48A-61A4-0F3D-888DD70CD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47" y="1547446"/>
                <a:ext cx="4319953" cy="923330"/>
              </a:xfrm>
              <a:prstGeom prst="rect">
                <a:avLst/>
              </a:prstGeom>
              <a:blipFill>
                <a:blip r:embed="rId4"/>
                <a:stretch>
                  <a:fillRect l="-117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E915CA2-806E-682D-57EF-12BC01FC6930}"/>
                  </a:ext>
                </a:extLst>
              </p:cNvPr>
              <p:cNvSpPr txBox="1"/>
              <p:nvPr/>
            </p:nvSpPr>
            <p:spPr>
              <a:xfrm>
                <a:off x="7033847" y="4481009"/>
                <a:ext cx="5064368" cy="2247424"/>
              </a:xfrm>
              <a:prstGeom prst="roundRect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chemeClr val="bg1"/>
                    </a:solidFill>
                  </a:rPr>
                  <a:t>Intuition: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shows up a lot, then this objective function “wants”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to be close to 1, so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isn’t too big.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doesn’t show up a lot, then this objective function is okay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being pretty small.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E915CA2-806E-682D-57EF-12BC01FC6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47" y="4481009"/>
                <a:ext cx="5064368" cy="224742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0783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9F06-6AE6-E7BF-C1C8-DF6993E12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0D5-460C-C036-9DD6-0A340768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more detail</a:t>
            </a:r>
            <a:br>
              <a:rPr lang="en-US" dirty="0"/>
            </a:br>
            <a:r>
              <a:rPr lang="en-US" sz="2800" dirty="0"/>
              <a:t>Stage 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78E21-027F-C5BA-2B17-6A9CC9EC97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19338" cy="4351338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Goal: Use a DNN to find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so that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|"/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]≈</m:t>
                    </m:r>
                    <m:nary>
                      <m:naryPr>
                        <m:chr m:val="∑"/>
                        <m:sup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acc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nary>
                    <m:acc>
                      <m:accPr>
                        <m:chr m:val="̂"/>
                        <m:ctrlPr>
                          <a:rPr lang="en-US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endParaRPr lang="en-US" dirty="0"/>
              </a:p>
              <a:p>
                <a:r>
                  <a:rPr lang="en-US" dirty="0"/>
                  <a:t>To do this: Try to minimize the loss function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  <m:sup/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nary>
                                  <m:acc>
                                    <m:accPr>
                                      <m:chr m:val="̂"/>
                                      <m:ctrlPr>
                                        <a:rPr lang="en-US" i="1" dirty="0">
                                          <a:solidFill>
                                            <a:schemeClr val="accent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dirty="0">
                                          <a:solidFill>
                                            <a:schemeClr val="accent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 dirty="0">
                                          <a:solidFill>
                                            <a:schemeClr val="accent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accent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 dirty="0">
                                          <a:solidFill>
                                            <a:schemeClr val="accent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dirty="0" smtClean="0">
                                              <a:solidFill>
                                                <a:schemeClr val="accent6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dirty="0" smtClean="0">
                                              <a:solidFill>
                                                <a:schemeClr val="accent6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𝑍</m:t>
                                          </m:r>
                                        </m:e>
                                        <m:sub>
                                          <m:r>
                                            <a:rPr lang="en-US" b="0" i="1" dirty="0" smtClean="0">
                                              <a:solidFill>
                                                <a:schemeClr val="accent6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m:rPr>
                                      <m:nor/>
                                    </m:rPr>
                                    <a:rPr lang="en-US" dirty="0">
                                      <a:solidFill>
                                        <a:schemeClr val="accent6"/>
                                      </a:solidFill>
                                    </a:rPr>
                                    <m:t> </m:t>
                                  </m:r>
                                </m:e>
                              </m:d>
                            </m:e>
                          </m:nary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78E21-027F-C5BA-2B17-6A9CC9EC97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19338" cy="4351338"/>
              </a:xfrm>
              <a:blipFill>
                <a:blip r:embed="rId3"/>
                <a:stretch>
                  <a:fillRect l="-1027" t="-15698" b="-21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27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5A148-6D95-95E4-FA15-A104E2F69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14ABF-EF7F-C27C-8EF1-1F280FBA3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6293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to use (D)NNs to approximate LATE</a:t>
            </a:r>
            <a:br>
              <a:rPr lang="en-US" dirty="0"/>
            </a:br>
            <a:r>
              <a:rPr lang="en-US" sz="1600" dirty="0"/>
              <a:t>Loosely following [Hartford, Lewis, Leyton-Brown, Taddy, 2017]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21C543-31FB-F904-32A2-0C9B32DDE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717915"/>
              </a:xfrm>
            </p:spPr>
            <p:txBody>
              <a:bodyPr/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Assumption: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noise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]=0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]=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]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77AF06-317D-19FC-BA74-7B8A4F20ED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717915"/>
              </a:xfrm>
              <a:blipFill>
                <a:blip r:embed="rId3"/>
                <a:stretch>
                  <a:fillRect l="-1086" t="-3721" b="-52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8BD5A95-612E-F295-4477-EE873A6C77DC}"/>
              </a:ext>
            </a:extLst>
          </p:cNvPr>
          <p:cNvGrpSpPr/>
          <p:nvPr/>
        </p:nvGrpSpPr>
        <p:grpSpPr>
          <a:xfrm>
            <a:off x="7940612" y="1213688"/>
            <a:ext cx="3851823" cy="953999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0E81A980-F7BC-F979-F555-9A7CBF0FDF2F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7678D2D-0233-8AEE-91DE-2829A6915C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D0C2E889-0DED-6FD3-97DB-644E91BB51E0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5B083798-4C10-FC31-A9D3-A98E508B4A05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3A4BA92-BC6E-6F99-4B2A-62533FC105A2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5C706D6-F616-CB54-37A7-7F0DC051D012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422CA35-B4B8-7460-4A12-9D51CDC87DFC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1ACA6166-1F24-5067-ADBC-B6D934DED2B8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5EB7FF0E-FC97-9567-DF3A-6C6002D1C6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B9D978-564A-9A19-5DDC-04835BA3DE5D}"/>
                  </a:ext>
                </a:extLst>
              </p:cNvPr>
              <p:cNvSpPr txBox="1"/>
              <p:nvPr/>
            </p:nvSpPr>
            <p:spPr>
              <a:xfrm>
                <a:off x="6273573" y="1587930"/>
                <a:ext cx="26045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Let’s ignore the covariates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now…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B9D978-564A-9A19-5DDC-04835BA3D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573" y="1587930"/>
                <a:ext cx="2604530" cy="646331"/>
              </a:xfrm>
              <a:prstGeom prst="rect">
                <a:avLst/>
              </a:prstGeom>
              <a:blipFill>
                <a:blip r:embed="rId8"/>
                <a:stretch>
                  <a:fillRect l="-1456" t="-3774" b="-11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A50EDE-EBC9-690D-BACD-81FA33B83DB6}"/>
                  </a:ext>
                </a:extLst>
              </p:cNvPr>
              <p:cNvSpPr txBox="1"/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Plug in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12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163216-12AD-AF44-955A-153312FE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39" y="3152001"/>
                <a:ext cx="757515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4192DF7-0DA9-722B-0F50-B4746F511264}"/>
                  </a:ext>
                </a:extLst>
              </p:cNvPr>
              <p:cNvSpPr txBox="1"/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Definition of </a:t>
                </a:r>
                <a14:m>
                  <m:oMath xmlns:m="http://schemas.openxmlformats.org/officeDocument/2006/math">
                    <m:r>
                      <a:rPr lang="en-US" sz="120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200" dirty="0">
                    <a:solidFill>
                      <a:schemeClr val="accent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2F65ED-CCB7-D039-EE03-F09647F0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039" y="3019363"/>
                <a:ext cx="1159292" cy="276999"/>
              </a:xfrm>
              <a:prstGeom prst="rect">
                <a:avLst/>
              </a:prstGeom>
              <a:blipFill>
                <a:blip r:embed="rId10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00D2C06-E6F0-326E-99EB-BE883D2C505F}"/>
              </a:ext>
            </a:extLst>
          </p:cNvPr>
          <p:cNvSpPr/>
          <p:nvPr/>
        </p:nvSpPr>
        <p:spPr>
          <a:xfrm>
            <a:off x="1667255" y="3350253"/>
            <a:ext cx="1908284" cy="54295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8EA8D12-8B36-38C7-961D-718EBBEECCAF}"/>
              </a:ext>
            </a:extLst>
          </p:cNvPr>
          <p:cNvSpPr/>
          <p:nvPr/>
        </p:nvSpPr>
        <p:spPr>
          <a:xfrm>
            <a:off x="7395885" y="3191607"/>
            <a:ext cx="2542882" cy="770793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7F8010-302F-0A8E-A642-50FEBCA82FF6}"/>
                  </a:ext>
                </a:extLst>
              </p:cNvPr>
              <p:cNvSpPr txBox="1"/>
              <p:nvPr/>
            </p:nvSpPr>
            <p:spPr>
              <a:xfrm>
                <a:off x="1667255" y="4552224"/>
                <a:ext cx="4985531" cy="11378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acc>
                            <m:accPr>
                              <m:chr m:val="̂"/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acc>
                        <m:accPr>
                          <m:chr m:val="̂"/>
                          <m:ctrlPr>
                            <a:rPr lang="en-US" sz="28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2D7385-57F6-B001-0132-F99C7BB46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255" y="4552224"/>
                <a:ext cx="4985531" cy="1137876"/>
              </a:xfrm>
              <a:prstGeom prst="rect">
                <a:avLst/>
              </a:prstGeom>
              <a:blipFill>
                <a:blip r:embed="rId11"/>
                <a:stretch>
                  <a:fillRect t="-131111" r="-2290" b="-18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53AE8932-6D00-4643-3988-1763CD4BAD7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7673" y="4204333"/>
                <a:ext cx="10515600" cy="13757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Stage 2</a:t>
                </a:r>
                <a:r>
                  <a:rPr lang="en-US" sz="2400" dirty="0"/>
                  <a:t>: Use a NN to learn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</m:oMath>
                </a14:m>
                <a:r>
                  <a:rPr lang="en-US" sz="2400" dirty="0"/>
                  <a:t> so that </a:t>
                </a:r>
                <a:endParaRPr lang="en-US" sz="2400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0F2A51C3-72A9-AB8F-EAB9-4FA454704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673" y="4204333"/>
                <a:ext cx="10515600" cy="1375708"/>
              </a:xfrm>
              <a:prstGeom prst="rect">
                <a:avLst/>
              </a:prstGeom>
              <a:blipFill>
                <a:blip r:embed="rId12"/>
                <a:stretch>
                  <a:fillRect l="-844" t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2E3BC4C-F884-C631-4E57-F66F93604192}"/>
                  </a:ext>
                </a:extLst>
              </p:cNvPr>
              <p:cNvSpPr txBox="1"/>
              <p:nvPr/>
            </p:nvSpPr>
            <p:spPr>
              <a:xfrm>
                <a:off x="7062694" y="4001294"/>
                <a:ext cx="3309191" cy="1341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chemeClr val="accent6"/>
                    </a:solidFill>
                  </a:rPr>
                  <a:t>Stage 1</a:t>
                </a:r>
                <a:r>
                  <a:rPr lang="en-US" sz="2000" dirty="0">
                    <a:solidFill>
                      <a:schemeClr val="accent6"/>
                    </a:solidFill>
                  </a:rPr>
                  <a:t>: Use a neural network to learn this function.  Let’s call it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0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00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6D7541E-57D1-7DAC-3908-46437D779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2694" y="4001294"/>
                <a:ext cx="3309191" cy="1341201"/>
              </a:xfrm>
              <a:prstGeom prst="rect">
                <a:avLst/>
              </a:prstGeom>
              <a:blipFill>
                <a:blip r:embed="rId13"/>
                <a:stretch>
                  <a:fillRect t="-1869" b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00A8CE30-92B6-FB6E-4CD8-38B3007FE4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89860" y="5640473"/>
                <a:ext cx="11246315" cy="137570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Last step</a:t>
                </a:r>
                <a:r>
                  <a:rPr lang="en-US" sz="2400" dirty="0"/>
                  <a:t>: </a:t>
                </a:r>
                <a:r>
                  <a:rPr lang="en-US" sz="2400" dirty="0">
                    <a:solidFill>
                      <a:schemeClr val="tx1"/>
                    </a:solidFill>
                  </a:rPr>
                  <a:t>Now we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r>
                      <a:rPr 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 so we can compute counterfactuals!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E.g.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is years of school,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d>
                      <m:dPr>
                        <m:ctrlPr>
                          <a:rPr lang="en-US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d>
                      <m:dPr>
                        <m:ctrlP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returns to a 10’th year of school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00A8CE30-92B6-FB6E-4CD8-38B3007FE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60" y="5640473"/>
                <a:ext cx="11246315" cy="1375708"/>
              </a:xfrm>
              <a:prstGeom prst="rect">
                <a:avLst/>
              </a:prstGeom>
              <a:blipFill>
                <a:blip r:embed="rId14"/>
                <a:stretch>
                  <a:fillRect l="-790" t="-6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96A15E0A-41D4-FCFA-7B81-01030E6F1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8767" y="3531268"/>
            <a:ext cx="928147" cy="928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036A400-3436-D9A4-19E0-6A549CA76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445" y="4478944"/>
            <a:ext cx="928147" cy="928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63FE5E9-5BE4-E4CD-1739-05125919F72A}"/>
              </a:ext>
            </a:extLst>
          </p:cNvPr>
          <p:cNvSpPr txBox="1"/>
          <p:nvPr/>
        </p:nvSpPr>
        <p:spPr>
          <a:xfrm>
            <a:off x="7220132" y="2250692"/>
            <a:ext cx="3916480" cy="1021556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If you want to include covariates, just throw them in at every step!  </a:t>
            </a:r>
          </a:p>
          <a:p>
            <a:r>
              <a:rPr lang="en-US" dirty="0">
                <a:solidFill>
                  <a:schemeClr val="bg1"/>
                </a:solidFill>
              </a:rPr>
              <a:t>This lets us deal with heterogeneity.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8A78BAA-2BB8-58B5-4AFD-F4966F4C5BFD}"/>
                  </a:ext>
                </a:extLst>
              </p:cNvPr>
              <p:cNvSpPr txBox="1"/>
              <p:nvPr/>
            </p:nvSpPr>
            <p:spPr>
              <a:xfrm>
                <a:off x="1305139" y="6411200"/>
                <a:ext cx="10487296" cy="408623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=10,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gender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=9,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gender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returns to a 10</a:t>
                </a:r>
                <a:r>
                  <a:rPr lang="en-US" baseline="30000" dirty="0">
                    <a:solidFill>
                      <a:schemeClr val="bg1"/>
                    </a:solidFill>
                  </a:rPr>
                  <a:t>th</a:t>
                </a:r>
                <a:r>
                  <a:rPr lang="en-US" dirty="0">
                    <a:solidFill>
                      <a:schemeClr val="bg1"/>
                    </a:solidFill>
                  </a:rPr>
                  <a:t> year of education among women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8A78BAA-2BB8-58B5-4AFD-F4966F4C5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139" y="6411200"/>
                <a:ext cx="10487296" cy="408623"/>
              </a:xfrm>
              <a:prstGeom prst="roundRect">
                <a:avLst/>
              </a:prstGeom>
              <a:blipFill>
                <a:blip r:embed="rId16"/>
                <a:stretch>
                  <a:fillRect b="-17647"/>
                </a:stretch>
              </a:blipFill>
              <a:ln>
                <a:solidFill>
                  <a:schemeClr val="accent2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3455BD2-AAB2-6776-9651-18029A9293D5}"/>
                  </a:ext>
                </a:extLst>
              </p:cNvPr>
              <p:cNvSpPr txBox="1"/>
              <p:nvPr/>
            </p:nvSpPr>
            <p:spPr>
              <a:xfrm>
                <a:off x="4070762" y="1358328"/>
                <a:ext cx="1296533" cy="445796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3455BD2-AAB2-6776-9651-18029A929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762" y="1358328"/>
                <a:ext cx="1296533" cy="445796"/>
              </a:xfrm>
              <a:prstGeom prst="roundRect">
                <a:avLst/>
              </a:prstGeom>
              <a:blipFill>
                <a:blip r:embed="rId17"/>
                <a:stretch>
                  <a:fillRect b="-2703"/>
                </a:stretch>
              </a:blipFill>
              <a:ln>
                <a:solidFill>
                  <a:schemeClr val="accent2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3100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EEC1-D5BE-4BED-511D-C2947E2CE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generalizes 2SLS!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9B778-0DF7-7F54-C7ED-6DB76A941C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dirty="0"/>
                  <a:t>Stage 1: Run a regression to learn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dirty="0"/>
                  <a:t>, based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Analogous to learning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func>
                      <m:func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|"/>
                            <m:ctrlP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endParaRPr lang="en-US" dirty="0"/>
              </a:p>
              <a:p>
                <a:r>
                  <a:rPr lang="en-US" dirty="0"/>
                  <a:t>Stage 2: Find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</m:oMath>
                </a14:m>
                <a:r>
                  <a:rPr lang="en-US" dirty="0"/>
                  <a:t> that minimizes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acc>
                                      <m:accPr>
                                        <m:chr m:val="̃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Analogous to the optimization problem on the previous slide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9B778-0DF7-7F54-C7ED-6DB76A941C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02409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ED3A2-90A0-AFF4-4EFE-FEDA7245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39352F-F1F1-E919-ACD9-FB83398FF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We can replace the linear regressions in 2SLS with neural networks!  (Or any other non-parametric model).</a:t>
                </a:r>
              </a:p>
              <a:p>
                <a:endParaRPr lang="en-US" dirty="0"/>
              </a:p>
              <a:p>
                <a:r>
                  <a:rPr lang="en-US" dirty="0"/>
                  <a:t>Pros: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Can be more accurate (at least, in experiments with synthetic data)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Great when you have tons of features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Can deal with heterogeneous treatment effects (CATE)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Just throw in some observable variables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and learn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</m:d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  <a:p>
                <a:r>
                  <a:rPr lang="en-US" dirty="0"/>
                  <a:t>Cons: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Hard to reason about analytically, not very transparent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Concerns about overfitting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39352F-F1F1-E919-ACD9-FB83398FF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2907" r="-1689" b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176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1BB86-8046-DC46-780D-EE455B206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62BF5-A056-4C11-CED1-4CE0968D4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256E3-5035-0B94-096B-28493A6AE3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can we use ML to analyze instruments?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can we use ML to identify instruments?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970DB15-B927-D551-1BA5-3947C9EDC453}"/>
              </a:ext>
            </a:extLst>
          </p:cNvPr>
          <p:cNvSpPr/>
          <p:nvPr/>
        </p:nvSpPr>
        <p:spPr>
          <a:xfrm rot="10368341">
            <a:off x="8569569" y="2486391"/>
            <a:ext cx="1101969" cy="7651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00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Stradivarius – Treasures on Trial: The Art and Science of Detecting Fakes">
            <a:extLst>
              <a:ext uri="{FF2B5EF4-FFF2-40B4-BE49-F238E27FC236}">
                <a16:creationId xmlns:a16="http://schemas.microsoft.com/office/drawing/2014/main" id="{9E2E22AD-CC16-13F8-B9EF-982F4CF56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7280" y="3071336"/>
            <a:ext cx="3395698" cy="2268220"/>
          </a:xfrm>
          <a:prstGeom prst="rect">
            <a:avLst/>
          </a:prstGeom>
          <a:noFill/>
          <a:effectLst>
            <a:softEdge rad="177896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C0D592-AE9D-880C-408A-B202F7906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get good instruments?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62E78-CEC7-7B1D-A613-0ADBE99EE75D}"/>
              </a:ext>
            </a:extLst>
          </p:cNvPr>
          <p:cNvSpPr txBox="1"/>
          <p:nvPr/>
        </p:nvSpPr>
        <p:spPr>
          <a:xfrm>
            <a:off x="9937253" y="5016390"/>
            <a:ext cx="2010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Buy them at auction for $15M?</a:t>
            </a:r>
          </a:p>
        </p:txBody>
      </p:sp>
    </p:spTree>
    <p:extLst>
      <p:ext uri="{BB962C8B-B14F-4D97-AF65-F5344CB8AC3E}">
        <p14:creationId xmlns:p14="http://schemas.microsoft.com/office/powerpoint/2010/main" val="278188385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80DFE-3650-01A9-8DBB-D8670DCE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hard to come up with instruments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20569-6C64-290B-5E05-03735EE42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Maybe ML can help?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FFCF6FF-87FE-F6B4-DF64-D81E2CB8B873}"/>
              </a:ext>
            </a:extLst>
          </p:cNvPr>
          <p:cNvGrpSpPr/>
          <p:nvPr/>
        </p:nvGrpSpPr>
        <p:grpSpPr>
          <a:xfrm>
            <a:off x="1004881" y="2717626"/>
            <a:ext cx="8726529" cy="4405713"/>
            <a:chOff x="1004881" y="2717626"/>
            <a:chExt cx="8726529" cy="440571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863DBA-A0C1-7A89-1C80-592FAA726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29900" y="2717626"/>
              <a:ext cx="5701510" cy="440571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78942D-94CA-6096-A989-AEF089DFE5BB}"/>
                </a:ext>
              </a:extLst>
            </p:cNvPr>
            <p:cNvSpPr txBox="1"/>
            <p:nvPr/>
          </p:nvSpPr>
          <p:spPr>
            <a:xfrm>
              <a:off x="1004881" y="3771901"/>
              <a:ext cx="280525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800" dirty="0">
                  <a:solidFill>
                    <a:schemeClr val="accent1"/>
                  </a:solidFill>
                </a:rPr>
                <a:t>Actual academic answer: “Let’s ask ChatGPT!”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226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26F7D-902D-C4E9-CB4C-5E70257F1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might this be a good idea?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B453F-0A63-CB0A-027D-F3C274A86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up with good IVs and justifying them is an exercise in story-telling.  (Especially the </a:t>
            </a:r>
            <a:r>
              <a:rPr lang="en-US" b="1" dirty="0"/>
              <a:t>exclusion</a:t>
            </a:r>
            <a:r>
              <a:rPr lang="en-US" dirty="0"/>
              <a:t> requirement)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Why doesn’t Z directly affect Y? 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Can you come up with a story where Z might directly affect 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Etc.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LLMs can speed up the process by helping humans think up such stories.</a:t>
            </a:r>
          </a:p>
        </p:txBody>
      </p:sp>
    </p:spTree>
    <p:extLst>
      <p:ext uri="{BB962C8B-B14F-4D97-AF65-F5344CB8AC3E}">
        <p14:creationId xmlns:p14="http://schemas.microsoft.com/office/powerpoint/2010/main" val="29263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BDC6F-B76A-092F-CABF-83E9DFF6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Prompt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59BCE1-5589-6BD6-3E3B-55DC21DCB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358" y="1450521"/>
            <a:ext cx="9570746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77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342398B3-0E8D-3ECD-E11B-8527EEB645AD}"/>
              </a:ext>
            </a:extLst>
          </p:cNvPr>
          <p:cNvSpPr/>
          <p:nvPr/>
        </p:nvSpPr>
        <p:spPr>
          <a:xfrm>
            <a:off x="294639" y="1341120"/>
            <a:ext cx="11152506" cy="5516880"/>
          </a:xfrm>
          <a:prstGeom prst="wedgeRoundRectCallout">
            <a:avLst>
              <a:gd name="adj1" fmla="val 49286"/>
              <a:gd name="adj2" fmla="val 28039"/>
              <a:gd name="adj3" fmla="val 16667"/>
            </a:avLst>
          </a:prstGeom>
          <a:solidFill>
            <a:srgbClr val="FFFF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EE3F3-1954-438F-1271-2E302E843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55" y="93752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Some suggestions in this paper </a:t>
            </a:r>
            <a:r>
              <a:rPr lang="en-US" sz="2800" dirty="0"/>
              <a:t>(using ChatGPT4)</a:t>
            </a:r>
            <a:br>
              <a:rPr lang="en-US" sz="2800" dirty="0"/>
            </a:br>
            <a:r>
              <a:rPr lang="en-US" sz="2800" dirty="0"/>
              <a:t>Returns to attending college</a:t>
            </a:r>
            <a:endParaRPr lang="en-US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3AE73-BE71-9F57-D0E2-984C1883F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855" y="1550579"/>
            <a:ext cx="10766788" cy="5648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Distance from home to college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Hey, that one looks familiar!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“This is purely geographical and independent of personal attributes”</a:t>
            </a:r>
          </a:p>
          <a:p>
            <a:r>
              <a:rPr lang="en-US" dirty="0"/>
              <a:t>Personal savings for education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“Largely determined by external economic conditions and family support.”</a:t>
            </a:r>
          </a:p>
          <a:p>
            <a:r>
              <a:rPr lang="en-US" dirty="0"/>
              <a:t>Number of siblings attending college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“Depends on family/siblings’ decisions, unrelated to the student’s personal characteristics”</a:t>
            </a:r>
          </a:p>
          <a:p>
            <a:r>
              <a:rPr lang="en-US" dirty="0"/>
              <a:t>Parents’ education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“A demographic factor that precedes the student’s own choices and abilities”</a:t>
            </a:r>
          </a:p>
          <a:p>
            <a:r>
              <a:rPr lang="en-US" dirty="0"/>
              <a:t>Religious affiliation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“A personal and family cultural factor, not a direct influence on personal academic or career potential.”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pic>
        <p:nvPicPr>
          <p:cNvPr id="2050" name="Picture 2" descr="ChatGPT - Simple English Wikipedia, the free encyclopedia">
            <a:extLst>
              <a:ext uri="{FF2B5EF4-FFF2-40B4-BE49-F238E27FC236}">
                <a16:creationId xmlns:a16="http://schemas.microsoft.com/office/drawing/2014/main" id="{7DB94DA7-654F-AD56-435C-5CA0D504A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1005" y="5230813"/>
            <a:ext cx="1545590" cy="154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524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2789B-704F-6907-4E81-5BA9963E5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2BF1E035-615E-805F-0401-246BC6A13149}"/>
              </a:ext>
            </a:extLst>
          </p:cNvPr>
          <p:cNvSpPr/>
          <p:nvPr/>
        </p:nvSpPr>
        <p:spPr>
          <a:xfrm>
            <a:off x="294639" y="1341120"/>
            <a:ext cx="11152506" cy="5516880"/>
          </a:xfrm>
          <a:prstGeom prst="wedgeRoundRectCallout">
            <a:avLst>
              <a:gd name="adj1" fmla="val 49286"/>
              <a:gd name="adj2" fmla="val 28039"/>
              <a:gd name="adj3" fmla="val 16667"/>
            </a:avLst>
          </a:prstGeom>
          <a:solidFill>
            <a:srgbClr val="FFFF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68F3D0-F97E-8742-6278-0EE2AC16D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55" y="93752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Some suggestions in this paper </a:t>
            </a:r>
            <a:r>
              <a:rPr lang="en-US" sz="2800" dirty="0"/>
              <a:t>(using ChatGPT4)</a:t>
            </a:r>
            <a:br>
              <a:rPr lang="en-US" sz="2800" dirty="0"/>
            </a:br>
            <a:r>
              <a:rPr lang="en-US" sz="2800" dirty="0"/>
              <a:t>Returns to years of college</a:t>
            </a:r>
            <a:endParaRPr lang="en-US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C5A4C-9716-6FC7-A441-14A21F2BA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855" y="1550579"/>
            <a:ext cx="10309588" cy="5648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Credits required for graduation (at college attended)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“does not depend on your personal qualities or the quality of the school, but can determine the length of time you stay in school”</a:t>
            </a:r>
          </a:p>
          <a:p>
            <a:r>
              <a:rPr lang="en-US" dirty="0"/>
              <a:t>State education laws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“Laws mandating education until a certain age affect all students irrespective of individual abilities or school quality.”</a:t>
            </a:r>
          </a:p>
          <a:p>
            <a:r>
              <a:rPr lang="en-US" dirty="0"/>
              <a:t>Distance to nearest College/University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“doesn’t depend on your ability but can influence the decision to pursue further education”</a:t>
            </a:r>
          </a:p>
          <a:p>
            <a:r>
              <a:rPr lang="en-US" dirty="0"/>
              <a:t>Transportation Availability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“affects your ability to attend and continue education, independent of personal academic qualities or school resources”</a:t>
            </a:r>
          </a:p>
          <a:p>
            <a:r>
              <a:rPr lang="en-US" dirty="0"/>
              <a:t>Local unemployment rates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“might incentivize staying in school longer to defer entering a bad job market, a decision not influenced by personal academic prowess.”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pic>
        <p:nvPicPr>
          <p:cNvPr id="2050" name="Picture 2" descr="ChatGPT - Simple English Wikipedia, the free encyclopedia">
            <a:extLst>
              <a:ext uri="{FF2B5EF4-FFF2-40B4-BE49-F238E27FC236}">
                <a16:creationId xmlns:a16="http://schemas.microsoft.com/office/drawing/2014/main" id="{85B7632E-4EBC-4C89-4A15-6811879A0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1005" y="5230813"/>
            <a:ext cx="1545590" cy="154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455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A9B0E-73D3-CEE3-572B-6A51CBD31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that paper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D8911-C33B-DD32-8CA6-D17AF7C78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“This essay … merely serves as a starting point”</a:t>
            </a:r>
          </a:p>
          <a:p>
            <a:endParaRPr lang="en-US" dirty="0"/>
          </a:p>
          <a:p>
            <a:r>
              <a:rPr lang="en-US" dirty="0"/>
              <a:t>Do you think asking ChatGPT for this sort of thing is a good idea?</a:t>
            </a:r>
          </a:p>
          <a:p>
            <a:r>
              <a:rPr lang="en-US" dirty="0"/>
              <a:t>What sort of caveats do you have?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56D633-02D0-FC01-CAEE-4E5B99510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966" y="4358066"/>
            <a:ext cx="2407864" cy="213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16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E512-A995-2CE9-2FBB-84E14138D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6D38A-1AC6-59D4-2539-8ADFE43DA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F5279-F450-2112-6A8F-42F0655B244C}"/>
              </a:ext>
            </a:extLst>
          </p:cNvPr>
          <p:cNvSpPr txBox="1"/>
          <p:nvPr/>
        </p:nvSpPr>
        <p:spPr>
          <a:xfrm>
            <a:off x="8270240" y="352851"/>
            <a:ext cx="35344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Don’t forget to stick around for the exit ticket!</a:t>
            </a:r>
          </a:p>
        </p:txBody>
      </p:sp>
    </p:spTree>
    <p:extLst>
      <p:ext uri="{BB962C8B-B14F-4D97-AF65-F5344CB8AC3E}">
        <p14:creationId xmlns:p14="http://schemas.microsoft.com/office/powerpoint/2010/main" val="16839945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BD0F7-9AE8-9D55-1F7A-A329DDD8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DEF55-09DF-3A7A-FEE8-433555FBE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get fancy with instrumental variables!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Nonbinary Z and X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Covariates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Multiple Instruments</a:t>
            </a:r>
          </a:p>
          <a:p>
            <a:r>
              <a:rPr lang="en-US" dirty="0"/>
              <a:t>Interpreting this gets harder the fancier we get.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Under assumptions, interpret as a weighted average of LATEs</a:t>
            </a:r>
          </a:p>
          <a:p>
            <a:r>
              <a:rPr lang="en-US" dirty="0"/>
              <a:t>Example: Angrist and Krueger 1991 (IV: quarter of birth)</a:t>
            </a:r>
          </a:p>
          <a:p>
            <a:r>
              <a:rPr lang="en-US" dirty="0"/>
              <a:t>ML can help!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But, as always with AI / ML, we should be very careful about what we believe and how we interpret the results.</a:t>
            </a:r>
          </a:p>
        </p:txBody>
      </p:sp>
    </p:spTree>
    <p:extLst>
      <p:ext uri="{BB962C8B-B14F-4D97-AF65-F5344CB8AC3E}">
        <p14:creationId xmlns:p14="http://schemas.microsoft.com/office/powerpoint/2010/main" val="7434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16F85-213E-17B7-3728-E9A3D089A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inference is hard!</a:t>
            </a:r>
            <a:br>
              <a:rPr lang="en-US" dirty="0"/>
            </a:br>
            <a:r>
              <a:rPr lang="en-US" dirty="0"/>
              <a:t>The real world is messy!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9A9B6-4414-292E-CB47-0BFAC67AE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89640" cy="4351338"/>
          </a:xfrm>
        </p:spPr>
        <p:txBody>
          <a:bodyPr/>
          <a:lstStyle/>
          <a:p>
            <a:r>
              <a:rPr lang="en-US" dirty="0"/>
              <a:t>Maybe you are compelled by [Angrist, Krueger '91], or maybe not.</a:t>
            </a:r>
          </a:p>
          <a:p>
            <a:endParaRPr lang="en-US" dirty="0"/>
          </a:p>
          <a:p>
            <a:r>
              <a:rPr lang="en-US" dirty="0"/>
              <a:t>You’ll see another IV approach [Card ‘93] on HW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Instrument: College proximity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Before next time, think about… What else could you do?</a:t>
            </a:r>
          </a:p>
        </p:txBody>
      </p:sp>
    </p:spTree>
    <p:extLst>
      <p:ext uri="{BB962C8B-B14F-4D97-AF65-F5344CB8AC3E}">
        <p14:creationId xmlns:p14="http://schemas.microsoft.com/office/powerpoint/2010/main" val="2321800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ECA2D-9FED-5147-9F50-4C3B73C9E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754B8-1BF9-2F5B-437A-646B9CA24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20120" cy="4351338"/>
          </a:xfrm>
        </p:spPr>
        <p:txBody>
          <a:bodyPr/>
          <a:lstStyle/>
          <a:p>
            <a:r>
              <a:rPr lang="en-US" dirty="0"/>
              <a:t>No class Tuesday!</a:t>
            </a:r>
          </a:p>
          <a:p>
            <a:endParaRPr lang="en-US" dirty="0"/>
          </a:p>
          <a:p>
            <a:r>
              <a:rPr lang="en-US" dirty="0"/>
              <a:t>On Thursday (one week from now):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Yet more approaches to the returns to education: Regression Discontinuity!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DBE614-A924-B094-9F92-299D3B82CE17}"/>
              </a:ext>
            </a:extLst>
          </p:cNvPr>
          <p:cNvGrpSpPr/>
          <p:nvPr/>
        </p:nvGrpSpPr>
        <p:grpSpPr>
          <a:xfrm>
            <a:off x="1872686" y="4277359"/>
            <a:ext cx="2786312" cy="2418079"/>
            <a:chOff x="5048250" y="2731038"/>
            <a:chExt cx="3701781" cy="3212562"/>
          </a:xfrm>
        </p:grpSpPr>
        <p:pic>
          <p:nvPicPr>
            <p:cNvPr id="5" name="Picture 2" descr="JACK O' LANTERN LANE | Saras Farm Adventure">
              <a:extLst>
                <a:ext uri="{FF2B5EF4-FFF2-40B4-BE49-F238E27FC236}">
                  <a16:creationId xmlns:a16="http://schemas.microsoft.com/office/drawing/2014/main" id="{ADAC59B7-4458-C532-46ED-D5FFDF0E82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48250" y="2933700"/>
              <a:ext cx="2095500" cy="2095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43FE31BD-96A7-FC40-57D1-42BE8E0D7A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7469" y="2731038"/>
              <a:ext cx="3212562" cy="3212562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FA7343-57BB-AF28-B372-71D204DA8AC3}"/>
              </a:ext>
            </a:extLst>
          </p:cNvPr>
          <p:cNvSpPr txBox="1"/>
          <p:nvPr/>
        </p:nvSpPr>
        <p:spPr>
          <a:xfrm>
            <a:off x="3818191" y="4998619"/>
            <a:ext cx="556665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atin typeface="Juice ITC" pitchFamily="82" charset="77"/>
              </a:rPr>
              <a:t>H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a</a:t>
            </a:r>
            <a:r>
              <a:rPr lang="en-US" sz="8000" b="1" dirty="0">
                <a:latin typeface="Juice ITC" pitchFamily="82" charset="77"/>
              </a:rPr>
              <a:t>p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p</a:t>
            </a:r>
            <a:r>
              <a:rPr lang="en-US" sz="8000" b="1" dirty="0">
                <a:latin typeface="Juice ITC" pitchFamily="82" charset="77"/>
              </a:rPr>
              <a:t>y 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H</a:t>
            </a:r>
            <a:r>
              <a:rPr lang="en-US" sz="8000" b="1" dirty="0">
                <a:latin typeface="Juice ITC" pitchFamily="82" charset="77"/>
              </a:rPr>
              <a:t>a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l</a:t>
            </a:r>
            <a:r>
              <a:rPr lang="en-US" sz="8000" b="1" dirty="0">
                <a:latin typeface="Juice ITC" pitchFamily="82" charset="77"/>
              </a:rPr>
              <a:t>l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o</a:t>
            </a:r>
            <a:r>
              <a:rPr lang="en-US" sz="8000" b="1" dirty="0">
                <a:latin typeface="Juice ITC" pitchFamily="82" charset="77"/>
              </a:rPr>
              <a:t>w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e</a:t>
            </a:r>
            <a:r>
              <a:rPr lang="en-US" sz="8000" b="1" dirty="0">
                <a:latin typeface="Juice ITC" pitchFamily="82" charset="77"/>
              </a:rPr>
              <a:t>e</a:t>
            </a:r>
            <a:r>
              <a:rPr lang="en-US" sz="8000" b="1" dirty="0">
                <a:solidFill>
                  <a:schemeClr val="accent2"/>
                </a:solidFill>
                <a:latin typeface="Juice ITC" pitchFamily="82" charset="77"/>
              </a:rPr>
              <a:t>n</a:t>
            </a:r>
            <a:r>
              <a:rPr lang="en-US" sz="8000" b="1" dirty="0">
                <a:latin typeface="Juice ITC" pitchFamily="82" charset="7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86623636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7F5513-8648-59D1-6BB8-3EB5CBFE2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9678" y="2507463"/>
            <a:ext cx="4272643" cy="4272643"/>
          </a:xfrm>
          <a:prstGeom prst="rect">
            <a:avLst/>
          </a:prstGeom>
        </p:spPr>
      </p:pic>
      <p:pic>
        <p:nvPicPr>
          <p:cNvPr id="5" name="Picture 2" descr="JACK O' LANTERN LANE | Saras Farm Adventure">
            <a:extLst>
              <a:ext uri="{FF2B5EF4-FFF2-40B4-BE49-F238E27FC236}">
                <a16:creationId xmlns:a16="http://schemas.microsoft.com/office/drawing/2014/main" id="{6B525B9E-103A-38E6-8410-5F9F6D309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8487" y="5202834"/>
            <a:ext cx="1577272" cy="1577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a949c78-c1c3-4c52-8439-97ba33f45ee5"/>
</p:tagLst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1273</TotalTime>
  <Words>5289</Words>
  <Application>Microsoft Macintosh PowerPoint</Application>
  <PresentationFormat>Widescreen</PresentationFormat>
  <Paragraphs>832</Paragraphs>
  <Slides>78</Slides>
  <Notes>77</Notes>
  <HiddenSlides>14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4" baseType="lpstr">
      <vt:lpstr>Aptos</vt:lpstr>
      <vt:lpstr>Arial</vt:lpstr>
      <vt:lpstr>Cambria Math</vt:lpstr>
      <vt:lpstr>Courier New</vt:lpstr>
      <vt:lpstr>Juice ITC</vt:lpstr>
      <vt:lpstr>stanford_theme_1</vt:lpstr>
      <vt:lpstr>Instrumental Variables</vt:lpstr>
      <vt:lpstr>Announcements</vt:lpstr>
      <vt:lpstr>Agenda: Fancy IVs!</vt:lpstr>
      <vt:lpstr>Recap</vt:lpstr>
      <vt:lpstr>Recap: IVs and LATE</vt:lpstr>
      <vt:lpstr>When things get complicated and Two-Stage Least Squares</vt:lpstr>
      <vt:lpstr>Running example that you read about (We’ll return to this in more detail later)</vt:lpstr>
      <vt:lpstr>What if things get more complicated?</vt:lpstr>
      <vt:lpstr>If D and Z aren’t binary</vt:lpstr>
      <vt:lpstr>How do we interpret λ ̂=ρ ̂/φ ̂  ? when Z or X isn’t binary </vt:lpstr>
      <vt:lpstr>Interpretation when Z isn’t binary</vt:lpstr>
      <vt:lpstr>Interpretation when Z isn’t binary</vt:lpstr>
      <vt:lpstr>Interpretation when X isn’t binary</vt:lpstr>
      <vt:lpstr>Interpretation when X isn’t binary</vt:lpstr>
      <vt:lpstr>Interpretation when X isn’t binary</vt:lpstr>
      <vt:lpstr>Interpretation when X isn’t binary</vt:lpstr>
      <vt:lpstr>Interpretation when X isn’t binary</vt:lpstr>
      <vt:lpstr>What if things get more complicated?</vt:lpstr>
      <vt:lpstr>What about controlling for other variables?</vt:lpstr>
      <vt:lpstr>Controlling for other variables Say, W = age, state of birth, race, …</vt:lpstr>
      <vt:lpstr>How do we interpret λ ̂=ρ ̂/φ ̂  ? when we throw in covariates?</vt:lpstr>
      <vt:lpstr>Equivalent way to do it: 2SLS Two-Stage Least Squares</vt:lpstr>
      <vt:lpstr>What if things get more complicated?</vt:lpstr>
      <vt:lpstr>Multiple Instruments</vt:lpstr>
      <vt:lpstr>Multiple Instruments</vt:lpstr>
      <vt:lpstr>How do we interpret λ ̂ ? when we have multiple instruments?</vt:lpstr>
      <vt:lpstr>Interpretation with multiple instruments</vt:lpstr>
      <vt:lpstr>What if things get more complicated?</vt:lpstr>
      <vt:lpstr>Summary: When things get complicated</vt:lpstr>
      <vt:lpstr>Angrist and Krueger 1991</vt:lpstr>
      <vt:lpstr>What did you think after reading the intro?</vt:lpstr>
      <vt:lpstr>First Stage:  Does Quarter of birth affect education?</vt:lpstr>
      <vt:lpstr>First Stage:  Does Quarter of birth affect education?</vt:lpstr>
      <vt:lpstr>First Stage:  Does Quarter of birth affect education?</vt:lpstr>
      <vt:lpstr>Wald Estimator  No covariates or anything yet…</vt:lpstr>
      <vt:lpstr>Wald Estimator  No covariates or anything yet…</vt:lpstr>
      <vt:lpstr>Wald Estimator  No covariates or anything yet…</vt:lpstr>
      <vt:lpstr>PowerPoint Presentation</vt:lpstr>
      <vt:lpstr>Is this LATE?</vt:lpstr>
      <vt:lpstr>Let’s Get Fancy! 2SLS with multiple instruments and covariates</vt:lpstr>
      <vt:lpstr>PowerPoint Presentation</vt:lpstr>
      <vt:lpstr>One conclusion</vt:lpstr>
      <vt:lpstr>What if we add in state-by-state info?</vt:lpstr>
      <vt:lpstr>Now 2SLS gives a bigger estimate</vt:lpstr>
      <vt:lpstr>What did you think now? After seeing the results in more detail?</vt:lpstr>
      <vt:lpstr>Let’s revisit our concerns…</vt:lpstr>
      <vt:lpstr>Concern: Independence/Exclusion</vt:lpstr>
      <vt:lpstr>Concern: The effect of Z on X is weak</vt:lpstr>
      <vt:lpstr>Time for a break!</vt:lpstr>
      <vt:lpstr>ML Methods for IV</vt:lpstr>
      <vt:lpstr>Two questions</vt:lpstr>
      <vt:lpstr>The story so far</vt:lpstr>
      <vt:lpstr>Aside: Neural Networks</vt:lpstr>
      <vt:lpstr>Aside: Neural Networks</vt:lpstr>
      <vt:lpstr>Aside: Neural Networks</vt:lpstr>
      <vt:lpstr>The story so far</vt:lpstr>
      <vt:lpstr>The story so far</vt:lpstr>
      <vt:lpstr>One way to use (D)NNs to approximate LATE Loosely following [Hartford, Lewis, Leyton-Brown, Taddy, 2017]</vt:lpstr>
      <vt:lpstr>One way to use (D)NNs to approximate LATE Loosely following [Hartford, Lewis, Leyton-Brown, Taddy, 2017]</vt:lpstr>
      <vt:lpstr>One way to use (D)NNs to approximate LATE Loosely following [Hartford, Lewis, Leyton-Brown, Taddy, 2017]</vt:lpstr>
      <vt:lpstr>A bit more detail Stage 1</vt:lpstr>
      <vt:lpstr>A bit more detail Stage 2</vt:lpstr>
      <vt:lpstr>One way to use (D)NNs to approximate LATE Loosely following [Hartford, Lewis, Leyton-Brown, Taddy, 2017]</vt:lpstr>
      <vt:lpstr>This generalizes 2SLS!</vt:lpstr>
      <vt:lpstr>Take-Aways</vt:lpstr>
      <vt:lpstr>Two questions</vt:lpstr>
      <vt:lpstr>Where do we get good instruments?</vt:lpstr>
      <vt:lpstr>It’s hard to come up with instruments</vt:lpstr>
      <vt:lpstr>Why might this be a good idea?</vt:lpstr>
      <vt:lpstr>Example Prompt</vt:lpstr>
      <vt:lpstr>Some suggestions in this paper (using ChatGPT4) Returns to attending college</vt:lpstr>
      <vt:lpstr>Some suggestions in this paper (using ChatGPT4) Returns to years of college</vt:lpstr>
      <vt:lpstr>From that paper</vt:lpstr>
      <vt:lpstr>Recap and Looking Ahead</vt:lpstr>
      <vt:lpstr>Recap</vt:lpstr>
      <vt:lpstr>Causal inference is hard! The real world is messy!</vt:lpstr>
      <vt:lpstr>Next time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40</cp:revision>
  <cp:lastPrinted>2024-10-30T20:36:45Z</cp:lastPrinted>
  <dcterms:created xsi:type="dcterms:W3CDTF">2024-10-28T22:25:13Z</dcterms:created>
  <dcterms:modified xsi:type="dcterms:W3CDTF">2025-11-24T22:13:14Z</dcterms:modified>
</cp:coreProperties>
</file>