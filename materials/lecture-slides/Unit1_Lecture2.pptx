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tags/tag1.xml" ContentType="application/vnd.openxmlformats-officedocument.presentationml.tags+xml"/>
  <Override PartName="/ppt/notesSlides/notesSlide36.xml" ContentType="application/vnd.openxmlformats-officedocument.presentationml.notesSlide+xml"/>
  <Override PartName="/ppt/tags/tag2.xml" ContentType="application/vnd.openxmlformats-officedocument.presentationml.tags+xml"/>
  <Override PartName="/ppt/notesSlides/notesSlide37.xml" ContentType="application/vnd.openxmlformats-officedocument.presentationml.notesSlide+xml"/>
  <Override PartName="/ppt/tags/tag3.xml" ContentType="application/vnd.openxmlformats-officedocument.presentationml.tags+xml"/>
  <Override PartName="/ppt/notesSlides/notesSlide38.xml" ContentType="application/vnd.openxmlformats-officedocument.presentationml.notesSlide+xml"/>
  <Override PartName="/ppt/tags/tag4.xml" ContentType="application/vnd.openxmlformats-officedocument.presentationml.tags+xml"/>
  <Override PartName="/ppt/notesSlides/notesSlide39.xml" ContentType="application/vnd.openxmlformats-officedocument.presentationml.notesSlide+xml"/>
  <Override PartName="/ppt/tags/tag5.xml" ContentType="application/vnd.openxmlformats-officedocument.presentationml.tags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tags/tag6.xml" ContentType="application/vnd.openxmlformats-officedocument.presentationml.tags+xml"/>
  <Override PartName="/ppt/notesSlides/notesSlide46.xml" ContentType="application/vnd.openxmlformats-officedocument.presentationml.notesSlide+xml"/>
  <Override PartName="/ppt/tags/tag7.xml" ContentType="application/vnd.openxmlformats-officedocument.presentationml.tags+xml"/>
  <Override PartName="/ppt/notesSlides/notesSlide47.xml" ContentType="application/vnd.openxmlformats-officedocument.presentationml.notesSlide+xml"/>
  <Override PartName="/ppt/tags/tag8.xml" ContentType="application/vnd.openxmlformats-officedocument.presentationml.tags+xml"/>
  <Override PartName="/ppt/notesSlides/notesSlide48.xml" ContentType="application/vnd.openxmlformats-officedocument.presentationml.notesSlide+xml"/>
  <Override PartName="/ppt/tags/tag9.xml" ContentType="application/vnd.openxmlformats-officedocument.presentationml.tags+xml"/>
  <Override PartName="/ppt/notesSlides/notesSlide49.xml" ContentType="application/vnd.openxmlformats-officedocument.presentationml.notesSlide+xml"/>
  <Override PartName="/ppt/tags/tag10.xml" ContentType="application/vnd.openxmlformats-officedocument.presentationml.tags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tags/tag11.xml" ContentType="application/vnd.openxmlformats-officedocument.presentationml.tags+xml"/>
  <Override PartName="/ppt/notesSlides/notesSlide61.xml" ContentType="application/vnd.openxmlformats-officedocument.presentationml.notesSlide+xml"/>
  <Override PartName="/ppt/tags/tag12.xml" ContentType="application/vnd.openxmlformats-officedocument.presentationml.tags+xml"/>
  <Override PartName="/ppt/notesSlides/notesSlide62.xml" ContentType="application/vnd.openxmlformats-officedocument.presentationml.notesSlide+xml"/>
  <Override PartName="/ppt/tags/tag13.xml" ContentType="application/vnd.openxmlformats-officedocument.presentationml.tags+xml"/>
  <Override PartName="/ppt/notesSlides/notesSlide63.xml" ContentType="application/vnd.openxmlformats-officedocument.presentationml.notesSlide+xml"/>
  <Override PartName="/ppt/tags/tag14.xml" ContentType="application/vnd.openxmlformats-officedocument.presentationml.tags+xml"/>
  <Override PartName="/ppt/notesSlides/notesSlide64.xml" ContentType="application/vnd.openxmlformats-officedocument.presentationml.notesSlide+xml"/>
  <Override PartName="/ppt/tags/tag15.xml" ContentType="application/vnd.openxmlformats-officedocument.presentationml.tags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tags/tag16.xml" ContentType="application/vnd.openxmlformats-officedocument.presentationml.tags+xml"/>
  <Override PartName="/ppt/notesSlides/notesSlide71.xml" ContentType="application/vnd.openxmlformats-officedocument.presentationml.notesSlide+xml"/>
  <Override PartName="/ppt/tags/tag17.xml" ContentType="application/vnd.openxmlformats-officedocument.presentationml.tags+xml"/>
  <Override PartName="/ppt/notesSlides/notesSlide72.xml" ContentType="application/vnd.openxmlformats-officedocument.presentationml.notesSlide+xml"/>
  <Override PartName="/ppt/tags/tag18.xml" ContentType="application/vnd.openxmlformats-officedocument.presentationml.tags+xml"/>
  <Override PartName="/ppt/notesSlides/notesSlide73.xml" ContentType="application/vnd.openxmlformats-officedocument.presentationml.notesSlide+xml"/>
  <Override PartName="/ppt/tags/tag19.xml" ContentType="application/vnd.openxmlformats-officedocument.presentationml.tags+xml"/>
  <Override PartName="/ppt/notesSlides/notesSlide74.xml" ContentType="application/vnd.openxmlformats-officedocument.presentationml.notesSlide+xml"/>
  <Override PartName="/ppt/tags/tag20.xml" ContentType="application/vnd.openxmlformats-officedocument.presentationml.tags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6"/>
  </p:notesMasterIdLst>
  <p:sldIdLst>
    <p:sldId id="256" r:id="rId2"/>
    <p:sldId id="257" r:id="rId3"/>
    <p:sldId id="479" r:id="rId4"/>
    <p:sldId id="468" r:id="rId5"/>
    <p:sldId id="262" r:id="rId6"/>
    <p:sldId id="263" r:id="rId7"/>
    <p:sldId id="264" r:id="rId8"/>
    <p:sldId id="317" r:id="rId9"/>
    <p:sldId id="314" r:id="rId10"/>
    <p:sldId id="313" r:id="rId11"/>
    <p:sldId id="315" r:id="rId12"/>
    <p:sldId id="472" r:id="rId13"/>
    <p:sldId id="316" r:id="rId14"/>
    <p:sldId id="318" r:id="rId15"/>
    <p:sldId id="319" r:id="rId16"/>
    <p:sldId id="326" r:id="rId17"/>
    <p:sldId id="473" r:id="rId18"/>
    <p:sldId id="327" r:id="rId19"/>
    <p:sldId id="328" r:id="rId20"/>
    <p:sldId id="329" r:id="rId21"/>
    <p:sldId id="330" r:id="rId22"/>
    <p:sldId id="331" r:id="rId23"/>
    <p:sldId id="332" r:id="rId24"/>
    <p:sldId id="339" r:id="rId25"/>
    <p:sldId id="334" r:id="rId26"/>
    <p:sldId id="333" r:id="rId27"/>
    <p:sldId id="335" r:id="rId28"/>
    <p:sldId id="336" r:id="rId29"/>
    <p:sldId id="340" r:id="rId30"/>
    <p:sldId id="478" r:id="rId31"/>
    <p:sldId id="337" r:id="rId32"/>
    <p:sldId id="338" r:id="rId33"/>
    <p:sldId id="341" r:id="rId34"/>
    <p:sldId id="342" r:id="rId35"/>
    <p:sldId id="343" r:id="rId36"/>
    <p:sldId id="411" r:id="rId37"/>
    <p:sldId id="412" r:id="rId38"/>
    <p:sldId id="413" r:id="rId39"/>
    <p:sldId id="414" r:id="rId40"/>
    <p:sldId id="415" r:id="rId41"/>
    <p:sldId id="416" r:id="rId42"/>
    <p:sldId id="320" r:id="rId43"/>
    <p:sldId id="417" r:id="rId44"/>
    <p:sldId id="418" r:id="rId45"/>
    <p:sldId id="419" r:id="rId46"/>
    <p:sldId id="288" r:id="rId47"/>
    <p:sldId id="289" r:id="rId48"/>
    <p:sldId id="290" r:id="rId49"/>
    <p:sldId id="291" r:id="rId50"/>
    <p:sldId id="292" r:id="rId51"/>
    <p:sldId id="420" r:id="rId52"/>
    <p:sldId id="421" r:id="rId53"/>
    <p:sldId id="422" r:id="rId54"/>
    <p:sldId id="423" r:id="rId55"/>
    <p:sldId id="424" r:id="rId56"/>
    <p:sldId id="426" r:id="rId57"/>
    <p:sldId id="427" r:id="rId58"/>
    <p:sldId id="428" r:id="rId59"/>
    <p:sldId id="425" r:id="rId60"/>
    <p:sldId id="429" r:id="rId61"/>
    <p:sldId id="430" r:id="rId62"/>
    <p:sldId id="431" r:id="rId63"/>
    <p:sldId id="432" r:id="rId64"/>
    <p:sldId id="433" r:id="rId65"/>
    <p:sldId id="434" r:id="rId66"/>
    <p:sldId id="448" r:id="rId67"/>
    <p:sldId id="435" r:id="rId68"/>
    <p:sldId id="436" r:id="rId69"/>
    <p:sldId id="437" r:id="rId70"/>
    <p:sldId id="438" r:id="rId71"/>
    <p:sldId id="441" r:id="rId72"/>
    <p:sldId id="442" r:id="rId73"/>
    <p:sldId id="443" r:id="rId74"/>
    <p:sldId id="444" r:id="rId75"/>
    <p:sldId id="445" r:id="rId76"/>
    <p:sldId id="449" r:id="rId77"/>
    <p:sldId id="439" r:id="rId78"/>
    <p:sldId id="440" r:id="rId79"/>
    <p:sldId id="450" r:id="rId80"/>
    <p:sldId id="451" r:id="rId81"/>
    <p:sldId id="452" r:id="rId82"/>
    <p:sldId id="454" r:id="rId83"/>
    <p:sldId id="453" r:id="rId84"/>
    <p:sldId id="477" r:id="rId85"/>
  </p:sldIdLst>
  <p:sldSz cx="12192000" cy="6858000"/>
  <p:notesSz cx="9236075" cy="701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365B6F7-A368-EFA0-FE84-2F127833AA27}" name="Mary Katherine Wootters" initials="" userId="S::marykw@stanford.edu::1cbb3eed-a053-4438-a02d-badade57fdf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400"/>
    <a:srgbClr val="88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75510"/>
  </p:normalViewPr>
  <p:slideViewPr>
    <p:cSldViewPr snapToGrid="0">
      <p:cViewPr varScale="1">
        <p:scale>
          <a:sx n="95" d="100"/>
          <a:sy n="95" d="100"/>
        </p:scale>
        <p:origin x="7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91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02299" cy="351737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31639" y="1"/>
            <a:ext cx="4002299" cy="351737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50E26252-6E5D-E441-8473-1BBBF98320DA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6188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23608" y="3373754"/>
            <a:ext cx="7388860" cy="2760346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4"/>
            <a:ext cx="4002299" cy="351736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31639" y="6658664"/>
            <a:ext cx="4002299" cy="351736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544CC4B1-87DF-2844-BDB4-80CFA1E60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23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299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7006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28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405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2558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1579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17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8099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6737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629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0857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9411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AFDC =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Aid to Families with Dependent Children</a:t>
            </a:r>
            <a:endParaRPr lang="en-US" dirty="0"/>
          </a:p>
          <a:p>
            <a:r>
              <a:rPr lang="en-US" dirty="0"/>
              <a:t>TANF = </a:t>
            </a:r>
            <a:r>
              <a:rPr lang="en-US" b="0" i="0" dirty="0">
                <a:solidFill>
                  <a:srgbClr val="040C28"/>
                </a:solidFill>
                <a:effectLst/>
                <a:latin typeface="Google Sans"/>
              </a:rPr>
              <a:t>California Tribal Temporary Assistance for Needy Families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2118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1848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9517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Children enter at age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950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3267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157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2155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215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0965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5748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771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173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5216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1164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054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4478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0397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4851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042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0130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8728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5873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86735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External Validity</a:t>
            </a:r>
          </a:p>
          <a:p>
            <a:r>
              <a:rPr lang="en-US"/>
              <a:t>https://www.polleverywhere.com/surveys/rw6o7YWWzEIJx7tH4lVlj?display_state=chart&amp;activity_state=opened&amp;state=opened&amp;flow=Engagement&amp;onscreen=persist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325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GAIN (job training program)</a:t>
            </a:r>
          </a:p>
          <a:p>
            <a:r>
              <a:rPr lang="en-US"/>
              <a:t>https://www.polleverywhere.com/multiple_choice_polls/8mtUCXlK8Wm4FuAXwLYKp?display_state=chart&amp;activity_state=opened&amp;state=opened&amp;flow=Engagement&amp;onscreen=persist&amp;hide=instructions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3451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Perry Preschool Program</a:t>
            </a:r>
          </a:p>
          <a:p>
            <a:r>
              <a:rPr lang="en-US"/>
              <a:t>https://www.polleverywhere.com/multiple_choice_polls/ch03Uilh2uFj4MhYJ3nHj?display_state=chart&amp;activity_state=opened&amp;state=opened&amp;flow=Engagement&amp;onscreen=persist&amp;hide=instructions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29934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Racial Discrimination in the Sharing Economy</a:t>
            </a:r>
          </a:p>
          <a:p>
            <a:r>
              <a:rPr lang="en-US"/>
              <a:t>https://www.polleverywhere.com/multiple_choice_polls/flqevcMK7vT85adzWURoS?display_state=chart&amp;activity_state=opened&amp;state=opened&amp;flow=Engagement&amp;onscreen=persist&amp;hide=instructions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1346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Facebook Emotional Contagion</a:t>
            </a:r>
          </a:p>
          <a:p>
            <a:r>
              <a:rPr lang="en-US"/>
              <a:t>https://www.polleverywhere.com/multiple_choice_polls/KjrzT5a0Qr0rboso8T2up?display_state=chart&amp;activity_state=opened&amp;state=opened&amp;flow=Engagement&amp;onscreen=persist&amp;hide=instructions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49039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2575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6643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60467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4791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3582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Construct Validity</a:t>
            </a:r>
          </a:p>
          <a:p>
            <a:r>
              <a:rPr lang="en-US"/>
              <a:t>https://www.polleverywhere.com/surveys/rolcpIkupg9wpi5ECPrQb?display_state=chart&amp;activity_state=opened&amp;state=opened&amp;flow=Engagement&amp;onscreen=persist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91C5C-2794-3941-97DA-2D592572D51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42860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GAIN (job training program)</a:t>
            </a:r>
          </a:p>
          <a:p>
            <a:r>
              <a:rPr lang="en-US"/>
              <a:t>https://www.polleverywhere.com/multiple_choice_polls/34sFZkrQoqQGq7PtQ4zrs?display_state=chart&amp;activity_state=opened&amp;state=opened&amp;flow=Engagement&amp;onscreen=persist&amp;hide=instructions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91C5C-2794-3941-97DA-2D592572D51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92008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Perry Preschool Program</a:t>
            </a:r>
          </a:p>
          <a:p>
            <a:r>
              <a:rPr lang="en-US"/>
              <a:t>https://www.polleverywhere.com/multiple_choice_polls/mqYuhBMhkg9QCLys3PIAn?display_state=chart&amp;activity_state=opened&amp;state=opened&amp;flow=Engagement&amp;onscreen=persist&amp;hide=instructions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91C5C-2794-3941-97DA-2D592572D51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66467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Racial Discrimination in the Sharing Economy</a:t>
            </a:r>
          </a:p>
          <a:p>
            <a:r>
              <a:rPr lang="en-US"/>
              <a:t>https://www.polleverywhere.com/multiple_choice_polls/uf6Y7TLNoKI6RJQTLakDk?display_state=chart&amp;activity_state=opened&amp;state=opened&amp;flow=Engagement&amp;onscreen=persist&amp;hide=instructions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91C5C-2794-3941-97DA-2D592572D51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70953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Facebook Emotional Contagion</a:t>
            </a:r>
          </a:p>
          <a:p>
            <a:r>
              <a:rPr lang="en-US"/>
              <a:t>https://www.polleverywhere.com/multiple_choice_polls/S0OzecDxUN7kdWhotLVnf?display_state=chart&amp;activity_state=opened&amp;state=opened&amp;flow=Engagement&amp;onscreen=persist&amp;hide=instructions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91C5C-2794-3941-97DA-2D592572D51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30358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0450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72377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30050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39721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9790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18890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99610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33456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8457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136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Spillovers</a:t>
            </a:r>
          </a:p>
          <a:p>
            <a:r>
              <a:rPr lang="en-US"/>
              <a:t>https://www.polleverywhere.com/surveys/30cCRLDScNkv3AIB7ujLx?display_state=chart&amp;activity_state=opened&amp;state=opened&amp;flow=Engagement&amp;onscreen=persist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91C5C-2794-3941-97DA-2D592572D51C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20472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GAIN (job training program)</a:t>
            </a:r>
          </a:p>
          <a:p>
            <a:r>
              <a:rPr lang="en-US"/>
              <a:t>https://www.polleverywhere.com/multiple_choice_polls/MfT8nabLrDK0veiml6mBh?display_state=chart&amp;activity_state=opened&amp;state=opened&amp;flow=Engagement&amp;onscreen=persist&amp;hide=instructions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91C5C-2794-3941-97DA-2D592572D51C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7206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Perry Preschool Program</a:t>
            </a:r>
          </a:p>
          <a:p>
            <a:r>
              <a:rPr lang="en-US"/>
              <a:t>https://www.polleverywhere.com/multiple_choice_polls/81UShyCnxkhjuNOVFa0oA?display_state=chart&amp;activity_state=opened&amp;state=opened&amp;flow=Engagement&amp;onscreen=persist&amp;hide=instructions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91C5C-2794-3941-97DA-2D592572D51C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6951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Racial Discrimination in the Sharing Economy</a:t>
            </a:r>
          </a:p>
          <a:p>
            <a:r>
              <a:rPr lang="en-US"/>
              <a:t>https://www.polleverywhere.com/multiple_choice_polls/hp3eDLIhRFBlax6sw2Ozd?display_state=chart&amp;activity_state=opened&amp;state=opened&amp;flow=Engagement&amp;onscreen=persist&amp;hide=instructions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91C5C-2794-3941-97DA-2D592572D51C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28203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Facebook Emotional Contagion</a:t>
            </a:r>
          </a:p>
          <a:p>
            <a:r>
              <a:rPr lang="en-US"/>
              <a:t>https://www.polleverywhere.com/multiple_choice_polls/5ilsEEMIxncQcOkflDe40?display_state=chart&amp;activity_state=opened&amp;state=opened&amp;flow=Engagement&amp;onscreen=persist&amp;hide=instructions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91C5C-2794-3941-97DA-2D592572D51C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4448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25802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4426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38562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72402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i="0" dirty="0">
              <a:solidFill>
                <a:srgbClr val="222222"/>
              </a:solidFill>
              <a:effectLst/>
              <a:highlight>
                <a:srgbClr val="FFFFFF"/>
              </a:highlight>
              <a:latin typeface="Retin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67367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Ethical Concerns</a:t>
            </a:r>
          </a:p>
          <a:p>
            <a:r>
              <a:rPr lang="en-US"/>
              <a:t>https://www.polleverywhere.com/surveys/j15Y713PtRtp1ykWiwGiI?display_state=chart&amp;activity_state=opened&amp;state=opened&amp;flow=Engagement&amp;onscreen=persist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3286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GAIN (job training program)</a:t>
            </a:r>
          </a:p>
          <a:p>
            <a:r>
              <a:rPr lang="en-US"/>
              <a:t>https://www.polleverywhere.com/multiple_choice_polls/pMjJ9Pytyrn5vOrN3SfmY?display_state=chart&amp;activity_state=opened&amp;state=opened&amp;flow=Engagement&amp;onscreen=persist&amp;hide=instructions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3123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Perry Preschool Program</a:t>
            </a:r>
          </a:p>
          <a:p>
            <a:r>
              <a:rPr lang="en-US"/>
              <a:t>https://www.polleverywhere.com/multiple_choice_polls/kB19ViGNfqN6LIdlwxzsP?display_state=chart&amp;activity_state=opened&amp;state=opened&amp;flow=Engagement&amp;onscreen=persist&amp;hide=instructions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02483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Racial Discrimination in the Sharing Economy</a:t>
            </a:r>
          </a:p>
          <a:p>
            <a:r>
              <a:rPr lang="en-US"/>
              <a:t>https://www.polleverywhere.com/multiple_choice_polls/8T4lBLas6zzhP8OQmnCB3?display_state=chart&amp;activity_state=opened&amp;state=opened&amp;flow=Engagement&amp;onscreen=persist&amp;hide=instructions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08849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Facebook Emotional Contagion</a:t>
            </a:r>
          </a:p>
          <a:p>
            <a:r>
              <a:rPr lang="en-US"/>
              <a:t>https://www.polleverywhere.com/multiple_choice_polls/XfHEDRzXpW4KRUd62AqFS?display_state=chart&amp;activity_state=opened&amp;state=opened&amp;flow=Engagement&amp;onscreen=persist&amp;hide=instructions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97041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i="0" dirty="0">
              <a:solidFill>
                <a:srgbClr val="222222"/>
              </a:solidFill>
              <a:effectLst/>
              <a:highlight>
                <a:srgbClr val="FFFFFF"/>
              </a:highlight>
              <a:latin typeface="Retin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F306F-0B23-B74D-B43E-003A4782948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91737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12704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92582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81424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66887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6811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CC4B1-87DF-2844-BDB4-80CFA1E609DE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40601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1E6818-5228-6746-93C7-81444766F2C7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60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DF170-811C-2B31-C0B0-862E91A4B4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CCEDE-52CB-FB5A-D84F-1DE2B0FF2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0654C-3E45-A586-A8CF-27C2F44FD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3FB41-6698-A8A3-9568-A48F19505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00EE-EA0C-D40A-DD27-0D0C4B3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54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F521-5D56-2266-8D85-8DD46238A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C1307-B2F1-2310-0212-94140F1A5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DBA0A-585B-37F2-C235-0D07DF81F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C95D1-75E4-DBB9-137E-73D4F5ABD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8427C-7848-DA7C-8C53-9BD75700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FA992D-C6A1-04E6-6480-D6FF5834A1D9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98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FEB4-A114-1406-AAC7-E6A937476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5736C-4324-7C32-AD7B-93A2A9C7E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1F154-5E54-8A6E-32D1-50892B476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038B-6435-F39A-AE45-EC227764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BDF1E-A55C-2F2F-60EB-26E50943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C699B5-BC08-318D-27C2-159A3F84676E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683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E8BC7-37A9-2A41-A226-1AA2056C7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95DB0-B3D9-5AA8-0EBE-8DE243B43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C9C40-4553-98FF-B057-51D063165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316FA-702D-0970-98FC-C9857BDB9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F98C5-312D-43ED-B810-B24CF5C92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17E21C-8BB3-4F1E-CF27-B3C2310D0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B9F7D-4293-E584-BB33-F33655869B04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84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BB629-ED87-5F0F-C9BC-928A597F1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799BA-B41E-6860-AA97-BD0EF6DD4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FE23B1-8B3C-B07C-FDE2-19F41F30B9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9C4BBA-5A0D-0E42-7483-493DBCED4B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716F14-27E0-D214-DE57-BB9CAF7B4F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ACE10-B3E3-AA96-7962-FFDFF7158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16E200-901C-8F02-918B-5D1D4D582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EBD97F-62C3-7108-5E3B-4FCE958B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3A5397-9352-EF76-A222-9B7EF3224C80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93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D29A3-9228-EFA1-7EA8-320A5E4CD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2B2899-CC6E-9662-436F-D08B922BA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09471A-67C3-CA58-574B-353065996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098AAE-7DA0-24C8-EAFB-42939860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67E615-E4D7-8DF7-AC05-9434E1BD634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47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657AF7-9EDB-A1C4-8FE7-E0FEEE544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B410C-9EC2-0283-7D97-C87FEBE2B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11A1-87A4-150F-6303-025F73278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EC10DA-58DD-6058-72F5-37C7FA819707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63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9521-1256-3807-0A09-73CF197D1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A0C9A-E639-327E-EAE2-4C18EEFBB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2BD3E-A8F9-C833-0D6E-E56DF294F7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27D350-5EB9-6E86-2F02-CACFB7A7E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94B27-4321-6C96-5E6C-B4294A3A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78C75-416A-15DA-A2DC-37E0ECED7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D89290-EA5E-999A-9087-ED945E983F0D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806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BC17-AE68-BB5D-7E81-4CAFF8B6C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C9BB58-A5B3-752C-C3CD-66BCD70B95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F54B17-4878-2B1B-1EF4-2E2326955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C00598-743F-6934-3985-938F1E866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902F9-7383-6CE3-298B-4DB50315F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4894E-3991-6152-5957-002E7265C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B84A78-F893-43A3-1D6F-4587823EF278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47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B4510-4B21-DC22-7420-9F84FC621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119451-B586-AA05-D054-A9F1923CE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7FC57-6205-2A78-80A0-BB6AA1CF0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B43F5-3769-91D9-F447-F3E44C42D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62A88-1673-2416-F5B7-E12A4BECB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2AE72-8B3F-0851-5089-AC8CFF790B2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81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E1EEFA-D7BD-F80C-2B4C-0AEDA101A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C1D9E-E814-5FED-9B2B-78D71AEBE4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57526-7469-C9F1-34C8-B1F790EC8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ADFC0-7CC2-BF2F-F56F-571E62AE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4DFF3-379F-BDBB-5CAB-16B1BC40B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5E4D9E-0F99-E18D-52A5-55D652C32935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1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lose-up of a logo&#10;&#10;Description automatically generated">
            <a:extLst>
              <a:ext uri="{FF2B5EF4-FFF2-40B4-BE49-F238E27FC236}">
                <a16:creationId xmlns:a16="http://schemas.microsoft.com/office/drawing/2014/main" id="{45FD974E-6B30-074E-DCDA-B43A8313BDC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705" y="6239790"/>
            <a:ext cx="1473924" cy="50617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70B608-161B-B8F7-D7A5-CED71D4B4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A0E45-27EC-856E-DA78-F5A5903CB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56F89-8D60-6463-E4B5-485DB2E56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DDFEF-E259-13F0-9373-3E1D0F6A24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544F3-851E-BC68-C039-63A94D3C5E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524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8C151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4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2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3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3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Relationship Id="rId4" Type="http://schemas.openxmlformats.org/officeDocument/2006/relationships/image" Target="../media/image3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4" Type="http://schemas.openxmlformats.org/officeDocument/2006/relationships/image" Target="../media/image4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image" Target="../media/image4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4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4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Relationship Id="rId4" Type="http://schemas.openxmlformats.org/officeDocument/2006/relationships/image" Target="../media/image48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Relationship Id="rId4" Type="http://schemas.openxmlformats.org/officeDocument/2006/relationships/image" Target="../media/image5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Relationship Id="rId4" Type="http://schemas.openxmlformats.org/officeDocument/2006/relationships/image" Target="../media/image5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Relationship Id="rId4" Type="http://schemas.openxmlformats.org/officeDocument/2006/relationships/image" Target="../media/image5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9.xml"/><Relationship Id="rId4" Type="http://schemas.openxmlformats.org/officeDocument/2006/relationships/image" Target="../media/image54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0.xml"/><Relationship Id="rId4" Type="http://schemas.openxmlformats.org/officeDocument/2006/relationships/image" Target="../media/image55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CD367-14A4-20FF-FAF7-E1619F9A46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Problems with Experiments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83847C-4A76-41B2-85B5-C7DCEDDF36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Causality, Decision Making, and Data Science</a:t>
            </a:r>
          </a:p>
          <a:p>
            <a:r>
              <a:rPr lang="en-US" dirty="0"/>
              <a:t>Lecture 4</a:t>
            </a:r>
          </a:p>
        </p:txBody>
      </p:sp>
    </p:spTree>
    <p:extLst>
      <p:ext uri="{BB962C8B-B14F-4D97-AF65-F5344CB8AC3E}">
        <p14:creationId xmlns:p14="http://schemas.microsoft.com/office/powerpoint/2010/main" val="3624641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4832F-AF62-01C5-D607-98E163323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3C27F-3519-77FF-A654-AA9856057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HW1 Part 1 Due soon!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Monday, 11:59pm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8610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04677-C9E3-3107-147E-84AD55FF7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ADA64-9E42-4759-00AD-78AC6D992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Four experiments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these experiments, and experiments in general.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6EE7D6-7CF9-830A-59C2-AD83DDD365EB}"/>
              </a:ext>
            </a:extLst>
          </p:cNvPr>
          <p:cNvGrpSpPr/>
          <p:nvPr/>
        </p:nvGrpSpPr>
        <p:grpSpPr>
          <a:xfrm>
            <a:off x="2732371" y="4549452"/>
            <a:ext cx="8831578" cy="1512522"/>
            <a:chOff x="1649284" y="4633208"/>
            <a:chExt cx="8831578" cy="151252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7ED13D-BF6E-CEE5-91BD-9E64230F6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27804" y="4633208"/>
              <a:ext cx="653058" cy="151252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28E5DD-A6AA-2669-95C7-80A0B3B4148E}"/>
                </a:ext>
              </a:extLst>
            </p:cNvPr>
            <p:cNvSpPr txBox="1"/>
            <p:nvPr/>
          </p:nvSpPr>
          <p:spPr>
            <a:xfrm>
              <a:off x="1649284" y="4633208"/>
              <a:ext cx="8068878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dirty="0">
                  <a:solidFill>
                    <a:srgbClr val="0070C0"/>
                  </a:solidFill>
                </a:rPr>
                <a:t>The problems that we’re going to talk about today can show up even if you do all the statistics correctly!  </a:t>
              </a:r>
            </a:p>
            <a:p>
              <a:pPr algn="r"/>
              <a:r>
                <a:rPr lang="en-US" dirty="0">
                  <a:solidFill>
                    <a:srgbClr val="0070C0"/>
                  </a:solidFill>
                </a:rPr>
                <a:t>(That is, even if you have big sample sizes, compute accurate p-values, </a:t>
              </a:r>
              <a:r>
                <a:rPr lang="en-US" dirty="0" err="1">
                  <a:solidFill>
                    <a:srgbClr val="0070C0"/>
                  </a:solidFill>
                </a:rPr>
                <a:t>etc</a:t>
              </a:r>
              <a:r>
                <a:rPr lang="en-US" dirty="0">
                  <a:solidFill>
                    <a:srgbClr val="0070C0"/>
                  </a:solidFill>
                </a:rPr>
                <a:t>).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480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51F29-EB17-7B3D-A65F-9FCE79698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CAC3F-2F0E-F991-A885-42301ACB3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Last time in class, and in your reading responses, you thought about problems with the West Point laptop experiment.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 settings are different!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West Point students are different from Stanford students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Technology in 2014-2016 is different from 2024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Intro Econ is different than this class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Are test scores the right thing to measure?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Morally, is it right to take away agency from students?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…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Today we’ll discuss these issues more generally.</a:t>
            </a:r>
          </a:p>
        </p:txBody>
      </p:sp>
    </p:spTree>
    <p:extLst>
      <p:ext uri="{BB962C8B-B14F-4D97-AF65-F5344CB8AC3E}">
        <p14:creationId xmlns:p14="http://schemas.microsoft.com/office/powerpoint/2010/main" val="3104379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EFF7-E4F8-2034-FE8B-253FE5E06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 more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D8267-399D-16EB-C816-0CA3B1427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Greater Avenues to Independence (GAIN)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Does a job training program work?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Perry Preschool Program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What is the effect of early childhood education?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Racial Discrimination in the Sharing Economy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Do Airbnb hosts discriminate against Black users?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Facebook Emotional Contagion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Do the emotions that we see expressed on Facebook effect our own emotions?</a:t>
            </a:r>
          </a:p>
        </p:txBody>
      </p:sp>
    </p:spTree>
    <p:extLst>
      <p:ext uri="{BB962C8B-B14F-4D97-AF65-F5344CB8AC3E}">
        <p14:creationId xmlns:p14="http://schemas.microsoft.com/office/powerpoint/2010/main" val="185341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03B4E-296E-C7F5-A587-6AF7827D3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D51A9-5F81-9C70-CD62-367BBF3B1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We’ll talk about each of these four in a “just-the-facts” way.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We’ll talk about some issues with experiments in general.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Along the way, we’ll revisit each of these four experiments and see which issues apply.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13C5F18-55EF-E122-7022-688B5676AD0A}"/>
              </a:ext>
            </a:extLst>
          </p:cNvPr>
          <p:cNvGrpSpPr/>
          <p:nvPr/>
        </p:nvGrpSpPr>
        <p:grpSpPr>
          <a:xfrm>
            <a:off x="877957" y="4237971"/>
            <a:ext cx="9564756" cy="2254904"/>
            <a:chOff x="2170203" y="4060761"/>
            <a:chExt cx="9564756" cy="2254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88C0C76-E5F3-AAEF-2240-C67B2CBCB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2170203" y="4803143"/>
              <a:ext cx="651242" cy="151252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E43AC0E-1CCD-419E-AB1A-063928A67871}"/>
                </a:ext>
              </a:extLst>
            </p:cNvPr>
            <p:cNvSpPr txBox="1"/>
            <p:nvPr/>
          </p:nvSpPr>
          <p:spPr>
            <a:xfrm>
              <a:off x="2940715" y="4060761"/>
              <a:ext cx="8794244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70C0"/>
                  </a:solidFill>
                </a:rPr>
                <a:t>Pay attention to things like: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400" dirty="0">
                  <a:solidFill>
                    <a:srgbClr val="0070C0"/>
                  </a:solidFill>
                </a:rPr>
                <a:t>What population participates in the study?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400" dirty="0">
                  <a:solidFill>
                    <a:srgbClr val="0070C0"/>
                  </a:solidFill>
                </a:rPr>
                <a:t>What outcomes does the study measure?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400" dirty="0">
                  <a:solidFill>
                    <a:srgbClr val="0070C0"/>
                  </a:solidFill>
                </a:rPr>
                <a:t>What question is the study trying to answer?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400" dirty="0">
                  <a:solidFill>
                    <a:srgbClr val="0070C0"/>
                  </a:solidFill>
                </a:rPr>
                <a:t>…and think about other potential issues that might come up.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6222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3197A-5946-F870-EB66-8D3DB39ED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 Experiments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58A03A-CA2B-55F9-371C-675D0B9FB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135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D0B16-8C5A-1FC1-0B6C-D3087EEF9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Experiment 1 </a:t>
            </a:r>
            <a:br>
              <a:rPr lang="en-US" sz="4800" dirty="0"/>
            </a:br>
            <a:r>
              <a:rPr lang="en-US" dirty="0"/>
              <a:t>GAIN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5FB82A-6FD0-D9E0-142C-9539F70FF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/>
              <a:t>Greater Avenues to Independence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2693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C7083-2534-1A1A-E6E5-1C0AF8CE9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training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592D9-51AC-7E94-CF3D-422AC3BE4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 aimed at welfare recipients.</a:t>
            </a:r>
          </a:p>
          <a:p>
            <a:r>
              <a:rPr lang="en-US" dirty="0"/>
              <a:t>Provides some or all of: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Basic education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Vocational training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Support in finding a job</a:t>
            </a:r>
          </a:p>
        </p:txBody>
      </p:sp>
    </p:spTree>
    <p:extLst>
      <p:ext uri="{BB962C8B-B14F-4D97-AF65-F5344CB8AC3E}">
        <p14:creationId xmlns:p14="http://schemas.microsoft.com/office/powerpoint/2010/main" val="358132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2CD40-8D8C-7141-27CE-4730944B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we might want to answer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6D070-A827-7590-BC14-CD1CFCD97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Are particular job training programs effective?</a:t>
            </a:r>
          </a:p>
          <a:p>
            <a:endParaRPr lang="en-US" dirty="0"/>
          </a:p>
          <a:p>
            <a:r>
              <a:rPr lang="en-US" dirty="0"/>
              <a:t>Which sort of job training program is more effective?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FAF4D-5B8C-B4E0-FE92-8F40530FC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07840" cy="1325563"/>
          </a:xfrm>
        </p:spPr>
        <p:txBody>
          <a:bodyPr/>
          <a:lstStyle/>
          <a:p>
            <a:r>
              <a:rPr lang="en-US" dirty="0"/>
              <a:t>Greater Avenues to Independence (GAIN)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A1181-40CE-E60B-F2DF-44B2022D3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35748" cy="4351338"/>
          </a:xfrm>
        </p:spPr>
        <p:txBody>
          <a:bodyPr/>
          <a:lstStyle/>
          <a:p>
            <a:r>
              <a:rPr lang="en-US" dirty="0"/>
              <a:t>Job training program in CA (since 1986)</a:t>
            </a:r>
          </a:p>
          <a:p>
            <a:r>
              <a:rPr lang="en-US" dirty="0"/>
              <a:t>Implemented differently in different counties, e.g.: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Riverside: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“find a job first” focused program 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Enrolled all welfare recipients in Riverside county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Los Angeles: 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“build human capital” focused program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Enrolled long-term welfare recipients in LA county</a:t>
            </a:r>
          </a:p>
          <a:p>
            <a:r>
              <a:rPr lang="en-US" dirty="0"/>
              <a:t>Each county ran* an RCT.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1988-1990(</a:t>
            </a:r>
            <a:r>
              <a:rPr lang="en-US" dirty="0" err="1">
                <a:solidFill>
                  <a:schemeClr val="accent1"/>
                </a:solidFill>
              </a:rPr>
              <a:t>ish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892FE-7CCE-C76C-771A-EB05DCF0E1E7}"/>
              </a:ext>
            </a:extLst>
          </p:cNvPr>
          <p:cNvSpPr txBox="1"/>
          <p:nvPr/>
        </p:nvSpPr>
        <p:spPr>
          <a:xfrm>
            <a:off x="357809" y="6492875"/>
            <a:ext cx="7595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*RCTs were run by Manpower Demonstration Research Corporation (MDRC)</a:t>
            </a:r>
          </a:p>
        </p:txBody>
      </p:sp>
    </p:spTree>
    <p:extLst>
      <p:ext uri="{BB962C8B-B14F-4D97-AF65-F5344CB8AC3E}">
        <p14:creationId xmlns:p14="http://schemas.microsoft.com/office/powerpoint/2010/main" val="1393913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CA9E9-E409-3398-C0B0-2E5786B90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F7345-2F5E-8AB6-DFE4-6970B123E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Riverside program (jobs first) did great!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Participants were 39% more likely to find a job in the next 1-3 years.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Participants made 63% more money in the next 1-3 years.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These results were statistically significant (p-value 0.01)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The LA program (human capital first) didn’t look so good.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Nothing statistically significant 1-3 years out.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1755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339D-6D22-670B-92AF-FD7FB51F7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Results*</a:t>
            </a:r>
            <a:br>
              <a:rPr lang="en-US" dirty="0"/>
            </a:br>
            <a:r>
              <a:rPr lang="en-US" sz="2000" dirty="0"/>
              <a:t>1-3 years after enrolling in the program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E2EFE-F01D-2B57-0A69-433F9683AA64}"/>
              </a:ext>
            </a:extLst>
          </p:cNvPr>
          <p:cNvSpPr txBox="1"/>
          <p:nvPr/>
        </p:nvSpPr>
        <p:spPr>
          <a:xfrm>
            <a:off x="437322" y="6488668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*Simplified </a:t>
            </a:r>
            <a:r>
              <a:rPr lang="en-US" dirty="0">
                <a:sym typeface="Wingdings" pitchFamily="2" charset="2"/>
              </a:rPr>
              <a:t>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87E743-F010-6935-30B3-ECD8635DCFE4}"/>
              </a:ext>
            </a:extLst>
          </p:cNvPr>
          <p:cNvSpPr txBox="1"/>
          <p:nvPr/>
        </p:nvSpPr>
        <p:spPr>
          <a:xfrm>
            <a:off x="2768442" y="1690686"/>
            <a:ext cx="46437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5"/>
                </a:solidFill>
              </a:rPr>
              <a:t>Los Angeles </a:t>
            </a:r>
            <a:r>
              <a:rPr lang="en-US" sz="2000" b="1" dirty="0">
                <a:solidFill>
                  <a:schemeClr val="accent5"/>
                </a:solidFill>
              </a:rPr>
              <a:t>(Human Capital first)</a:t>
            </a:r>
            <a:endParaRPr lang="en-US" sz="2800" b="1" dirty="0">
              <a:solidFill>
                <a:schemeClr val="accent5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8117E5-BFB5-AE22-ACBA-DAF1D6F84804}"/>
              </a:ext>
            </a:extLst>
          </p:cNvPr>
          <p:cNvSpPr txBox="1"/>
          <p:nvPr/>
        </p:nvSpPr>
        <p:spPr>
          <a:xfrm>
            <a:off x="8306398" y="1683267"/>
            <a:ext cx="2978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/>
                </a:solidFill>
              </a:rPr>
              <a:t>Riverside </a:t>
            </a:r>
            <a:r>
              <a:rPr lang="en-US" sz="2000" b="1" dirty="0">
                <a:solidFill>
                  <a:schemeClr val="accent1"/>
                </a:solidFill>
              </a:rPr>
              <a:t>(Jobs first)</a:t>
            </a:r>
            <a:endParaRPr lang="en-US" sz="2800" b="1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05FBBF-D473-64B1-BA67-35FFD8AF3E31}"/>
              </a:ext>
            </a:extLst>
          </p:cNvPr>
          <p:cNvSpPr txBox="1"/>
          <p:nvPr/>
        </p:nvSpPr>
        <p:spPr>
          <a:xfrm>
            <a:off x="437322" y="3429000"/>
            <a:ext cx="18420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What fraction were employed at all that year?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EE3CB3-69B5-8928-2756-C97B873B5C55}"/>
              </a:ext>
            </a:extLst>
          </p:cNvPr>
          <p:cNvSpPr txBox="1"/>
          <p:nvPr/>
        </p:nvSpPr>
        <p:spPr>
          <a:xfrm>
            <a:off x="437322" y="5013008"/>
            <a:ext cx="1842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Annual earnings (in 1999 dollars)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92D2C0-1E92-A4ED-ABBE-0140F887C68F}"/>
              </a:ext>
            </a:extLst>
          </p:cNvPr>
          <p:cNvSpPr txBox="1"/>
          <p:nvPr/>
        </p:nvSpPr>
        <p:spPr>
          <a:xfrm>
            <a:off x="4238119" y="2213907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Treatment 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484282-8968-C9B2-6AD2-58DE0CB284F6}"/>
              </a:ext>
            </a:extLst>
          </p:cNvPr>
          <p:cNvSpPr txBox="1"/>
          <p:nvPr/>
        </p:nvSpPr>
        <p:spPr>
          <a:xfrm>
            <a:off x="2627577" y="2213907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Control</a:t>
            </a:r>
          </a:p>
          <a:p>
            <a:pPr algn="ctr"/>
            <a:r>
              <a:rPr lang="en-US" dirty="0">
                <a:solidFill>
                  <a:schemeClr val="accent5"/>
                </a:solidFill>
              </a:rPr>
              <a:t>Group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3E1BFD-3061-1A9D-A4A3-819990CF5360}"/>
              </a:ext>
            </a:extLst>
          </p:cNvPr>
          <p:cNvSpPr txBox="1"/>
          <p:nvPr/>
        </p:nvSpPr>
        <p:spPr>
          <a:xfrm>
            <a:off x="5819302" y="2213908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Percentage difference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E5ADE7-44F6-A6FF-37E4-B3C19CD49924}"/>
              </a:ext>
            </a:extLst>
          </p:cNvPr>
          <p:cNvSpPr txBox="1"/>
          <p:nvPr/>
        </p:nvSpPr>
        <p:spPr>
          <a:xfrm>
            <a:off x="8933285" y="2220350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Treatment Group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E369B0-E3AD-A4C1-7B17-DB25B4B17671}"/>
              </a:ext>
            </a:extLst>
          </p:cNvPr>
          <p:cNvSpPr txBox="1"/>
          <p:nvPr/>
        </p:nvSpPr>
        <p:spPr>
          <a:xfrm>
            <a:off x="7546780" y="2213906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Control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Group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DD04A6-0BDD-BBA6-EF55-1ABA4A1E8834}"/>
              </a:ext>
            </a:extLst>
          </p:cNvPr>
          <p:cNvSpPr txBox="1"/>
          <p:nvPr/>
        </p:nvSpPr>
        <p:spPr>
          <a:xfrm>
            <a:off x="10455965" y="2197685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Percentage difference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36A783-2491-812A-E9A8-E640B7C4B5A7}"/>
              </a:ext>
            </a:extLst>
          </p:cNvPr>
          <p:cNvCxnSpPr/>
          <p:nvPr/>
        </p:nvCxnSpPr>
        <p:spPr>
          <a:xfrm>
            <a:off x="2425149" y="2981739"/>
            <a:ext cx="991262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10A6FD7-5377-FE82-9BC5-F9A90886D76D}"/>
              </a:ext>
            </a:extLst>
          </p:cNvPr>
          <p:cNvCxnSpPr>
            <a:cxnSpLocks/>
          </p:cNvCxnSpPr>
          <p:nvPr/>
        </p:nvCxnSpPr>
        <p:spPr>
          <a:xfrm>
            <a:off x="2425149" y="2981739"/>
            <a:ext cx="0" cy="44792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76B2909-F2F3-9C02-A16C-14AE6323CAB9}"/>
              </a:ext>
            </a:extLst>
          </p:cNvPr>
          <p:cNvCxnSpPr>
            <a:cxnSpLocks/>
          </p:cNvCxnSpPr>
          <p:nvPr/>
        </p:nvCxnSpPr>
        <p:spPr>
          <a:xfrm>
            <a:off x="7381462" y="2980730"/>
            <a:ext cx="0" cy="44792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10035A5-F4FE-2D93-0F41-5C61D9093FB0}"/>
              </a:ext>
            </a:extLst>
          </p:cNvPr>
          <p:cNvSpPr txBox="1"/>
          <p:nvPr/>
        </p:nvSpPr>
        <p:spPr>
          <a:xfrm>
            <a:off x="4375937" y="3452492"/>
            <a:ext cx="11608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26.1%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9C1E64-E72D-6EF9-6DBA-9D19412F1E71}"/>
              </a:ext>
            </a:extLst>
          </p:cNvPr>
          <p:cNvSpPr txBox="1"/>
          <p:nvPr/>
        </p:nvSpPr>
        <p:spPr>
          <a:xfrm>
            <a:off x="2765395" y="3480869"/>
            <a:ext cx="11608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24.5%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0180BD-3489-80D3-B072-A962CAB25665}"/>
              </a:ext>
            </a:extLst>
          </p:cNvPr>
          <p:cNvSpPr txBox="1"/>
          <p:nvPr/>
        </p:nvSpPr>
        <p:spPr>
          <a:xfrm>
            <a:off x="5894086" y="3452492"/>
            <a:ext cx="8659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5"/>
                </a:solidFill>
              </a:rPr>
              <a:t>+7%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D80378-4E89-C036-220C-077AA4627754}"/>
              </a:ext>
            </a:extLst>
          </p:cNvPr>
          <p:cNvSpPr txBox="1"/>
          <p:nvPr/>
        </p:nvSpPr>
        <p:spPr>
          <a:xfrm>
            <a:off x="9226232" y="3414221"/>
            <a:ext cx="8659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49%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9BA184-D9D1-627D-30C6-84329FF7109D}"/>
              </a:ext>
            </a:extLst>
          </p:cNvPr>
          <p:cNvSpPr txBox="1"/>
          <p:nvPr/>
        </p:nvSpPr>
        <p:spPr>
          <a:xfrm>
            <a:off x="7615690" y="3442598"/>
            <a:ext cx="11608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35.3%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AEA19E-9CBE-EE26-15AC-EBC8073C8014}"/>
              </a:ext>
            </a:extLst>
          </p:cNvPr>
          <p:cNvSpPr txBox="1"/>
          <p:nvPr/>
        </p:nvSpPr>
        <p:spPr>
          <a:xfrm>
            <a:off x="10744381" y="3414221"/>
            <a:ext cx="10583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+39%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6020E6-D3AC-21BD-2953-712AA6D4BEB7}"/>
              </a:ext>
            </a:extLst>
          </p:cNvPr>
          <p:cNvSpPr txBox="1"/>
          <p:nvPr/>
        </p:nvSpPr>
        <p:spPr>
          <a:xfrm>
            <a:off x="4390737" y="5074259"/>
            <a:ext cx="1249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$1,843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8D910D-8946-DEF6-2DDC-F3F61AC794AB}"/>
              </a:ext>
            </a:extLst>
          </p:cNvPr>
          <p:cNvSpPr txBox="1"/>
          <p:nvPr/>
        </p:nvSpPr>
        <p:spPr>
          <a:xfrm>
            <a:off x="2845662" y="5099169"/>
            <a:ext cx="1249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$1,849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F3D204-9BA3-4529-B3E4-0F99D0328399}"/>
              </a:ext>
            </a:extLst>
          </p:cNvPr>
          <p:cNvSpPr txBox="1"/>
          <p:nvPr/>
        </p:nvSpPr>
        <p:spPr>
          <a:xfrm>
            <a:off x="5974353" y="5070792"/>
            <a:ext cx="8659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5"/>
                </a:solidFill>
              </a:rPr>
              <a:t>+0%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55C3519-30AF-3778-CA0E-4E989C544379}"/>
              </a:ext>
            </a:extLst>
          </p:cNvPr>
          <p:cNvSpPr txBox="1"/>
          <p:nvPr/>
        </p:nvSpPr>
        <p:spPr>
          <a:xfrm>
            <a:off x="9082982" y="5060898"/>
            <a:ext cx="1249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$3,668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4E475A-9658-2C82-0F83-D7FD2E0E1154}"/>
              </a:ext>
            </a:extLst>
          </p:cNvPr>
          <p:cNvSpPr txBox="1"/>
          <p:nvPr/>
        </p:nvSpPr>
        <p:spPr>
          <a:xfrm>
            <a:off x="7587619" y="5050726"/>
            <a:ext cx="1249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$2,253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FABE1E-23BF-BBED-02C8-DBFE110C7C97}"/>
              </a:ext>
            </a:extLst>
          </p:cNvPr>
          <p:cNvSpPr txBox="1"/>
          <p:nvPr/>
        </p:nvSpPr>
        <p:spPr>
          <a:xfrm>
            <a:off x="10824648" y="5032521"/>
            <a:ext cx="10583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+63%</a:t>
            </a:r>
            <a:endParaRPr lang="en-US" sz="2800" baseline="30000" dirty="0">
              <a:solidFill>
                <a:schemeClr val="accent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BCF56CE-31DF-35CF-4003-2A33236F90D3}"/>
              </a:ext>
            </a:extLst>
          </p:cNvPr>
          <p:cNvSpPr txBox="1"/>
          <p:nvPr/>
        </p:nvSpPr>
        <p:spPr>
          <a:xfrm>
            <a:off x="3379169" y="6304002"/>
            <a:ext cx="2053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(1458 people total)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A772B5-C854-A87F-54FC-B4BDBE0E0FE4}"/>
              </a:ext>
            </a:extLst>
          </p:cNvPr>
          <p:cNvSpPr txBox="1"/>
          <p:nvPr/>
        </p:nvSpPr>
        <p:spPr>
          <a:xfrm>
            <a:off x="7922629" y="6289522"/>
            <a:ext cx="2053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(2288 people total)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20C2BB-4FB0-F1F5-15FA-803319CD01B0}"/>
              </a:ext>
            </a:extLst>
          </p:cNvPr>
          <p:cNvSpPr txBox="1"/>
          <p:nvPr/>
        </p:nvSpPr>
        <p:spPr>
          <a:xfrm>
            <a:off x="958591" y="58958"/>
            <a:ext cx="3417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=Statistically significant (p=0.01)</a:t>
            </a:r>
          </a:p>
        </p:txBody>
      </p:sp>
      <p:sp>
        <p:nvSpPr>
          <p:cNvPr id="42" name="5-Point Star 41">
            <a:extLst>
              <a:ext uri="{FF2B5EF4-FFF2-40B4-BE49-F238E27FC236}">
                <a16:creationId xmlns:a16="http://schemas.microsoft.com/office/drawing/2014/main" id="{218C950C-1D29-863A-1A8F-E673AA35B1D6}"/>
              </a:ext>
            </a:extLst>
          </p:cNvPr>
          <p:cNvSpPr/>
          <p:nvPr/>
        </p:nvSpPr>
        <p:spPr>
          <a:xfrm>
            <a:off x="792480" y="88515"/>
            <a:ext cx="228600" cy="267351"/>
          </a:xfrm>
          <a:prstGeom prst="star5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5-Point Star 42">
            <a:extLst>
              <a:ext uri="{FF2B5EF4-FFF2-40B4-BE49-F238E27FC236}">
                <a16:creationId xmlns:a16="http://schemas.microsoft.com/office/drawing/2014/main" id="{6D530E4C-0DC4-F3DA-311C-1143C5AC5C9F}"/>
              </a:ext>
            </a:extLst>
          </p:cNvPr>
          <p:cNvSpPr/>
          <p:nvPr/>
        </p:nvSpPr>
        <p:spPr>
          <a:xfrm>
            <a:off x="11677869" y="3351013"/>
            <a:ext cx="259075" cy="293023"/>
          </a:xfrm>
          <a:prstGeom prst="star5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5-Point Star 43">
            <a:extLst>
              <a:ext uri="{FF2B5EF4-FFF2-40B4-BE49-F238E27FC236}">
                <a16:creationId xmlns:a16="http://schemas.microsoft.com/office/drawing/2014/main" id="{3176FA02-4CD3-36F7-6C58-F6E988383A4A}"/>
              </a:ext>
            </a:extLst>
          </p:cNvPr>
          <p:cNvSpPr/>
          <p:nvPr/>
        </p:nvSpPr>
        <p:spPr>
          <a:xfrm>
            <a:off x="11774486" y="4952657"/>
            <a:ext cx="259075" cy="293023"/>
          </a:xfrm>
          <a:prstGeom prst="star5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DE0A00-51D4-0A65-6AEF-CED2290D63A6}"/>
              </a:ext>
            </a:extLst>
          </p:cNvPr>
          <p:cNvSpPr txBox="1"/>
          <p:nvPr/>
        </p:nvSpPr>
        <p:spPr>
          <a:xfrm>
            <a:off x="9112205" y="-24966"/>
            <a:ext cx="311457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Also measured: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# quarters employed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Earnings above min. wage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# quarters on AFDC/TANF benefits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6273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F2803-AFAE-BF60-7EA8-3E96F20D9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was impactful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38170-A1E8-4461-1410-5347D41DC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Based on these data, the Wilson administration in California pushed to have all CA counties adopt the Riverside work-first approach.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594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76896-5ECE-EE4D-F56F-4905B2A97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Experiment 2: </a:t>
            </a:r>
            <a:br>
              <a:rPr lang="en-US" dirty="0"/>
            </a:br>
            <a:r>
              <a:rPr lang="en-US" dirty="0"/>
              <a:t>Perry Preschool Program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8460DF-C27F-A503-EACE-8C746CAB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829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F301F-36EB-528D-F15D-E637DC5F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Perry Preschool 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73FF2-B9ED-7E82-E2FF-F9DD7DBA8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204115"/>
          </a:xfrm>
        </p:spPr>
        <p:txBody>
          <a:bodyPr>
            <a:normAutofit/>
          </a:bodyPr>
          <a:lstStyle/>
          <a:p>
            <a:r>
              <a:rPr lang="en-US" dirty="0"/>
              <a:t>Experiment in early education conducted from 1962-1967</a:t>
            </a:r>
          </a:p>
          <a:p>
            <a:r>
              <a:rPr lang="en-US" dirty="0"/>
              <a:t>Population: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153 children at Perry Elementary School in Ypsilanti, MI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To be eligible, children had to be economically disadvantaged, Black, and “low-IQ” as measured by the Stanford-Binet IQ test.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Annual surveys until age 15, follow-ups every 10 years or so until today</a:t>
            </a:r>
          </a:p>
          <a:p>
            <a:r>
              <a:rPr lang="en-US" dirty="0"/>
              <a:t>Treatment: 2.5-hour educational preschool each weekday, based on active learning techniques, plus weekly home visits by teachers.</a:t>
            </a:r>
          </a:p>
        </p:txBody>
      </p:sp>
    </p:spTree>
    <p:extLst>
      <p:ext uri="{BB962C8B-B14F-4D97-AF65-F5344CB8AC3E}">
        <p14:creationId xmlns:p14="http://schemas.microsoft.com/office/powerpoint/2010/main" val="293747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0F114-3632-A1B6-1E1C-348A57402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F725DC-9093-9D7D-110A-E971A04B8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really good!</a:t>
            </a:r>
          </a:p>
          <a:p>
            <a:r>
              <a:rPr lang="en-US" dirty="0"/>
              <a:t>Short term improvements in IQ</a:t>
            </a:r>
          </a:p>
          <a:p>
            <a:r>
              <a:rPr lang="en-US" dirty="0"/>
              <a:t>Long term improvements in all sorts of things: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High-school graduation rate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Incarceration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Teen pregnancies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…</a:t>
            </a:r>
          </a:p>
          <a:p>
            <a:r>
              <a:rPr lang="en-US" dirty="0"/>
              <a:t>All of these is big and statistically significant effects.</a:t>
            </a:r>
          </a:p>
        </p:txBody>
      </p:sp>
    </p:spTree>
    <p:extLst>
      <p:ext uri="{BB962C8B-B14F-4D97-AF65-F5344CB8AC3E}">
        <p14:creationId xmlns:p14="http://schemas.microsoft.com/office/powerpoint/2010/main" val="1513538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23953-6E9C-F124-FBE1-9B1D3235C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A1DD2-157A-E108-EA9A-BF1B891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120640" cy="5201603"/>
          </a:xfrm>
        </p:spPr>
        <p:txBody>
          <a:bodyPr>
            <a:normAutofit/>
          </a:bodyPr>
          <a:lstStyle/>
          <a:p>
            <a:r>
              <a:rPr lang="en-US" dirty="0"/>
              <a:t>Look really good!</a:t>
            </a:r>
          </a:p>
          <a:p>
            <a:r>
              <a:rPr lang="en-US" dirty="0"/>
              <a:t>Short-term increase in IQ</a:t>
            </a:r>
          </a:p>
          <a:p>
            <a:r>
              <a:rPr lang="en-US" dirty="0"/>
              <a:t>Longer-term increase in all sorts of good things.</a:t>
            </a: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384F93-96AC-EC79-2313-66745F11F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1143794"/>
            <a:ext cx="6362700" cy="5715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D40F50-0CD9-6668-522D-AF769C60E49E}"/>
              </a:ext>
            </a:extLst>
          </p:cNvPr>
          <p:cNvSpPr txBox="1"/>
          <p:nvPr/>
        </p:nvSpPr>
        <p:spPr>
          <a:xfrm>
            <a:off x="11216640" y="69958"/>
            <a:ext cx="980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(1985)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254385-6622-9A68-CCCE-1F5020728B3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096000" y="144123"/>
            <a:ext cx="3571240" cy="8312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8732E94-FF25-6771-D10B-F2321A48BF22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006840" y="518261"/>
            <a:ext cx="3002280" cy="39450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92A585-13CE-D7C2-6C40-BDAB351F76DE}"/>
              </a:ext>
            </a:extLst>
          </p:cNvPr>
          <p:cNvCxnSpPr/>
          <p:nvPr/>
        </p:nvCxnSpPr>
        <p:spPr>
          <a:xfrm>
            <a:off x="4465320" y="3429000"/>
            <a:ext cx="16306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755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C9D7D-1268-9A05-2E92-471F411C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was impactful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D3F78-2A41-F5F4-D0A8-4B9A5B601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Influenced by this study, about 30% of HeadStart programs use this method.</a:t>
            </a:r>
          </a:p>
          <a:p>
            <a:pPr lvl="1"/>
            <a:endParaRPr lang="en-US" dirty="0"/>
          </a:p>
          <a:p>
            <a:r>
              <a:rPr lang="en-US" dirty="0"/>
              <a:t>President Obama referenced it (and follow-up analyses) in the 2013 State of the Union Address when discussing early childhood education.</a:t>
            </a:r>
          </a:p>
          <a:p>
            <a:pPr lvl="1"/>
            <a:endParaRPr lang="en-US" i="1" dirty="0">
              <a:solidFill>
                <a:schemeClr val="accent4">
                  <a:lumMod val="75000"/>
                </a:schemeClr>
              </a:solidFill>
            </a:endParaRPr>
          </a:p>
          <a:p>
            <a:endParaRPr lang="en-US" i="1" dirty="0"/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B60FBE5-3C55-AA0D-C79F-9459702E9E3E}"/>
              </a:ext>
            </a:extLst>
          </p:cNvPr>
          <p:cNvGrpSpPr/>
          <p:nvPr/>
        </p:nvGrpSpPr>
        <p:grpSpPr>
          <a:xfrm>
            <a:off x="1063032" y="4507151"/>
            <a:ext cx="10713636" cy="2369508"/>
            <a:chOff x="1063032" y="4507151"/>
            <a:chExt cx="10713636" cy="2369508"/>
          </a:xfrm>
        </p:grpSpPr>
        <p:pic>
          <p:nvPicPr>
            <p:cNvPr id="1026" name="Picture 2" descr="President Barack Obama State of the Union 2013 speech (full text, video) -  POLITICO">
              <a:extLst>
                <a:ext uri="{FF2B5EF4-FFF2-40B4-BE49-F238E27FC236}">
                  <a16:creationId xmlns:a16="http://schemas.microsoft.com/office/drawing/2014/main" id="{B0D8878B-E70E-5619-CB5D-F6B51F66C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3032" y="4569676"/>
              <a:ext cx="3460474" cy="23069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20473D-E950-93EF-8048-14F3C429B548}"/>
                </a:ext>
              </a:extLst>
            </p:cNvPr>
            <p:cNvSpPr txBox="1"/>
            <p:nvPr/>
          </p:nvSpPr>
          <p:spPr>
            <a:xfrm>
              <a:off x="4748338" y="4507151"/>
              <a:ext cx="7028330" cy="1464231"/>
            </a:xfrm>
            <a:prstGeom prst="wedgeRoundRectCallout">
              <a:avLst>
                <a:gd name="adj1" fmla="val -73323"/>
                <a:gd name="adj2" fmla="val 3303"/>
                <a:gd name="adj3" fmla="val 16667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txBody>
            <a:bodyPr wrap="square">
              <a:spAutoFit/>
            </a:bodyPr>
            <a:lstStyle/>
            <a:p>
              <a:pPr marL="457200" lvl="1" indent="0" algn="ctr">
                <a:buNone/>
              </a:pPr>
              <a:r>
                <a:rPr lang="en-US" sz="2000" b="0" i="1" dirty="0">
                  <a:solidFill>
                    <a:srgbClr val="333333"/>
                  </a:solidFill>
                  <a:effectLst/>
                </a:rPr>
                <a:t>“Every dollar we invest in high-quality early childhood education can save more than </a:t>
              </a:r>
              <a:r>
                <a:rPr lang="en-US" sz="2000" b="1" i="1" dirty="0">
                  <a:solidFill>
                    <a:srgbClr val="333333"/>
                  </a:solidFill>
                  <a:effectLst/>
                </a:rPr>
                <a:t>seven dollars</a:t>
              </a:r>
              <a:r>
                <a:rPr lang="en-US" sz="2000" b="0" i="1" dirty="0">
                  <a:solidFill>
                    <a:srgbClr val="333333"/>
                  </a:solidFill>
                  <a:effectLst/>
                </a:rPr>
                <a:t> later on -- by boosting graduation rates, reducing teen pregnancy, even reducing violent crime</a:t>
              </a:r>
              <a:r>
                <a:rPr lang="en-US" sz="2000" b="0" i="0" dirty="0">
                  <a:solidFill>
                    <a:srgbClr val="333333"/>
                  </a:solidFill>
                  <a:effectLst/>
                  <a:latin typeface="HCo Whitney"/>
                </a:rPr>
                <a:t>.”</a:t>
              </a:r>
              <a:endParaRPr lang="en-US" sz="20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6717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76896-5ECE-EE4D-F56F-4905B2A97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784045" cy="2852737"/>
          </a:xfrm>
        </p:spPr>
        <p:txBody>
          <a:bodyPr/>
          <a:lstStyle/>
          <a:p>
            <a:r>
              <a:rPr lang="en-US" sz="4800" dirty="0"/>
              <a:t>Experiment 3: </a:t>
            </a:r>
            <a:br>
              <a:rPr lang="en-US" dirty="0"/>
            </a:br>
            <a:r>
              <a:rPr lang="en-US" dirty="0"/>
              <a:t>Racial Discrimination on Airbnb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8460DF-C27F-A503-EACE-8C746CAB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ADFBA-8E6B-0C58-AB08-7175A833D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695" y="113114"/>
            <a:ext cx="6337300" cy="15621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B5105F-D357-802F-ABF0-9803D1AFFE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595" y="1705358"/>
            <a:ext cx="38354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1945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6E2A7-C4F0-0E08-DBFB-335A08C65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Airbnb hosts discriminate by race?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99759-3238-3DD5-AAFE-D6BE5F17B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 in 2015, “Instant Book” was not so common on Airbnb</a:t>
            </a:r>
          </a:p>
          <a:p>
            <a:pPr lvl="1"/>
            <a:r>
              <a:rPr lang="en-US" dirty="0"/>
              <a:t>You had to contact the host and ask to stay at their place</a:t>
            </a:r>
          </a:p>
        </p:txBody>
      </p:sp>
    </p:spTree>
    <p:extLst>
      <p:ext uri="{BB962C8B-B14F-4D97-AF65-F5344CB8AC3E}">
        <p14:creationId xmlns:p14="http://schemas.microsoft.com/office/powerpoint/2010/main" val="3270721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78A6F-11A0-A213-E13A-F7D8D9DAF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567"/>
            <a:ext cx="10515600" cy="1325563"/>
          </a:xfrm>
        </p:spPr>
        <p:txBody>
          <a:bodyPr/>
          <a:lstStyle/>
          <a:p>
            <a:r>
              <a:rPr lang="en-US" dirty="0"/>
              <a:t>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A4FFB-CC19-5304-4F26-8CED122F2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3130"/>
            <a:ext cx="10515600" cy="4351338"/>
          </a:xfrm>
        </p:spPr>
        <p:txBody>
          <a:bodyPr/>
          <a:lstStyle/>
          <a:p>
            <a:r>
              <a:rPr lang="en-US" dirty="0"/>
              <a:t>Randomly contact ~6400 listings in 5 US cities</a:t>
            </a:r>
          </a:p>
          <a:p>
            <a:r>
              <a:rPr lang="en-US" dirty="0"/>
              <a:t>Everything about the message is the same, except the names.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69D9AE-8BB6-3C53-7552-F4826EE83B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316" y="3627687"/>
            <a:ext cx="5834117" cy="22609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08479A-3C95-4568-BC09-75AAC0DA1976}"/>
              </a:ext>
            </a:extLst>
          </p:cNvPr>
          <p:cNvSpPr txBox="1"/>
          <p:nvPr/>
        </p:nvSpPr>
        <p:spPr>
          <a:xfrm>
            <a:off x="639754" y="2542235"/>
            <a:ext cx="14013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Names: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6AB0EBA-D976-249D-6A36-89396AF8F578}"/>
              </a:ext>
            </a:extLst>
          </p:cNvPr>
          <p:cNvGrpSpPr/>
          <p:nvPr/>
        </p:nvGrpSpPr>
        <p:grpSpPr>
          <a:xfrm>
            <a:off x="639754" y="3067663"/>
            <a:ext cx="2171700" cy="3621938"/>
            <a:chOff x="639754" y="3067663"/>
            <a:chExt cx="2171700" cy="362193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80D4124-7FC6-716B-4FCA-A6CB39B5D9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9754" y="3627687"/>
              <a:ext cx="2171700" cy="1524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6F39553-158B-0DCF-5D06-2F06DA887D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3677" y="5203701"/>
              <a:ext cx="1752600" cy="14859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CE31AB-1A8E-20B4-56F7-AF49785A6FDE}"/>
                </a:ext>
              </a:extLst>
            </p:cNvPr>
            <p:cNvSpPr txBox="1"/>
            <p:nvPr/>
          </p:nvSpPr>
          <p:spPr>
            <a:xfrm>
              <a:off x="786722" y="3067663"/>
              <a:ext cx="17992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Coded “white”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404A840-5DEF-9A0E-9E85-0B4A565B7996}"/>
              </a:ext>
            </a:extLst>
          </p:cNvPr>
          <p:cNvGrpSpPr/>
          <p:nvPr/>
        </p:nvGrpSpPr>
        <p:grpSpPr>
          <a:xfrm>
            <a:off x="3206910" y="3069461"/>
            <a:ext cx="2057400" cy="3620140"/>
            <a:chOff x="3206910" y="3069461"/>
            <a:chExt cx="2057400" cy="362014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C09C641-64F7-2C57-F103-ACFE2390E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06910" y="3602287"/>
              <a:ext cx="2057400" cy="15494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EE8D0E4-9079-BDF7-9238-D14D63FCB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206910" y="5191001"/>
              <a:ext cx="1943100" cy="14986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FE90B58-A009-B703-F95C-3F1095E4EBC9}"/>
                </a:ext>
              </a:extLst>
            </p:cNvPr>
            <p:cNvSpPr txBox="1"/>
            <p:nvPr/>
          </p:nvSpPr>
          <p:spPr>
            <a:xfrm>
              <a:off x="3336005" y="3069461"/>
              <a:ext cx="18175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Coded “Black”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1B75516-58D0-2370-5144-62A7F14B2091}"/>
              </a:ext>
            </a:extLst>
          </p:cNvPr>
          <p:cNvSpPr txBox="1"/>
          <p:nvPr/>
        </p:nvSpPr>
        <p:spPr>
          <a:xfrm>
            <a:off x="9126190" y="18643"/>
            <a:ext cx="3008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The 5 cities: </a:t>
            </a:r>
          </a:p>
          <a:p>
            <a:pPr algn="r"/>
            <a:r>
              <a:rPr lang="en-US" dirty="0"/>
              <a:t>Baltimore, Dallas, LA, </a:t>
            </a:r>
          </a:p>
          <a:p>
            <a:pPr algn="r"/>
            <a:r>
              <a:rPr lang="en-US" dirty="0"/>
              <a:t>St. Louis, Washington DC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8198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0B72-7EDA-6995-C833-5D3F3905B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8479C-B43E-8B9D-843A-3B50B93F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Black-sounding names got a 42% positive response rate.</a:t>
            </a:r>
          </a:p>
          <a:p>
            <a:r>
              <a:rPr lang="en-US" dirty="0"/>
              <a:t>White-sounding names got a 50% positive response rate.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p-value: 0.02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001E56-7012-FEAA-6FE4-6AA6B3D53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475" y="3059320"/>
            <a:ext cx="5695525" cy="36927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5B4865-5DA0-4DFA-8300-4CDBF4692714}"/>
              </a:ext>
            </a:extLst>
          </p:cNvPr>
          <p:cNvSpPr txBox="1"/>
          <p:nvPr/>
        </p:nvSpPr>
        <p:spPr>
          <a:xfrm>
            <a:off x="924448" y="3720499"/>
            <a:ext cx="438108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paper also did a breakdown by host demographics, by city, by gender, </a:t>
            </a:r>
            <a:r>
              <a:rPr lang="en-US" sz="2000" dirty="0" err="1"/>
              <a:t>etc</a:t>
            </a:r>
            <a:r>
              <a:rPr lang="en-US" sz="2000" dirty="0"/>
              <a:t>, and found similar trends.</a:t>
            </a:r>
          </a:p>
        </p:txBody>
      </p:sp>
    </p:spTree>
    <p:extLst>
      <p:ext uri="{BB962C8B-B14F-4D97-AF65-F5344CB8AC3E}">
        <p14:creationId xmlns:p14="http://schemas.microsoft.com/office/powerpoint/2010/main" val="25342828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8D3A9-BD11-0EF3-B5DA-AB6EB4201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was impactful?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E85B8-624E-D485-9301-3F5A4CC2F6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Correlation does not imply causation, but around the time this paper came out: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Airbnb did their own audit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They have since made some changes to reduce discrimination</a:t>
            </a:r>
          </a:p>
        </p:txBody>
      </p:sp>
    </p:spTree>
    <p:extLst>
      <p:ext uri="{BB962C8B-B14F-4D97-AF65-F5344CB8AC3E}">
        <p14:creationId xmlns:p14="http://schemas.microsoft.com/office/powerpoint/2010/main" val="3346667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2A1E8-B2FD-FEA5-AEC9-58CCD99EB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Experiment 4:</a:t>
            </a:r>
            <a:br>
              <a:rPr lang="en-US" dirty="0"/>
            </a:br>
            <a:r>
              <a:rPr lang="en-US" dirty="0"/>
              <a:t>Facebook Emotional Contagion Experiment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E79F2-1A21-779F-D412-9F4E0469B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FF8AEB3-C18F-A45E-607E-78AD0CD3BF46}"/>
              </a:ext>
            </a:extLst>
          </p:cNvPr>
          <p:cNvGrpSpPr/>
          <p:nvPr/>
        </p:nvGrpSpPr>
        <p:grpSpPr>
          <a:xfrm>
            <a:off x="11277757" y="1020924"/>
            <a:ext cx="864003" cy="561951"/>
            <a:chOff x="10262805" y="1784599"/>
            <a:chExt cx="1496014" cy="973013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DAFAD594-2B5B-C40C-53CC-569C0FF47C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62805" y="1784599"/>
              <a:ext cx="1332848" cy="4930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6ABA71F-4B73-5212-97E6-655670DFE935}"/>
                </a:ext>
              </a:extLst>
            </p:cNvPr>
            <p:cNvSpPr txBox="1"/>
            <p:nvPr/>
          </p:nvSpPr>
          <p:spPr>
            <a:xfrm>
              <a:off x="10917262" y="2304637"/>
              <a:ext cx="841557" cy="4529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2014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0406ACFB-6FE9-7018-0319-305AE849DB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54" y="49134"/>
            <a:ext cx="5994346" cy="8853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644880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8E273-94A6-CB39-078A-6116FB752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Emotional Contagion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78E22-75E7-B5D2-27D3-E9F13DE84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Research in psychology has found: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When people around you are sad, you feel sadder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When people around you are happy, you feel happier</a:t>
            </a:r>
          </a:p>
          <a:p>
            <a:endParaRPr lang="en-US" dirty="0"/>
          </a:p>
          <a:p>
            <a:r>
              <a:rPr lang="en-US" b="1" dirty="0"/>
              <a:t>Question: </a:t>
            </a:r>
            <a:r>
              <a:rPr lang="en-US" dirty="0"/>
              <a:t>Is this true on social media?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Maybe face-to-face contact is important for the effect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Maybe non-verbal cues are important for the effect</a:t>
            </a:r>
          </a:p>
          <a:p>
            <a:pPr lvl="1"/>
            <a:r>
              <a:rPr lang="en-US" dirty="0" err="1">
                <a:solidFill>
                  <a:schemeClr val="accent1"/>
                </a:solidFill>
              </a:rPr>
              <a:t>etc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9897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67703-7303-335A-CDDB-A5353842A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DC80B-2194-51A2-001F-32554D1BD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Researchers at Facebook randomly manipulated what N=689,003 random users saw in their news feeds in 2012.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Control group: </a:t>
            </a:r>
            <a:r>
              <a:rPr lang="en-US" dirty="0">
                <a:solidFill>
                  <a:schemeClr val="accent1"/>
                </a:solidFill>
              </a:rPr>
              <a:t>No change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Treatment group 1: </a:t>
            </a:r>
            <a:r>
              <a:rPr lang="en-US" dirty="0">
                <a:solidFill>
                  <a:schemeClr val="accent1"/>
                </a:solidFill>
              </a:rPr>
              <a:t>Negative-emotion posts reduced in News Feed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Treatment group 2: </a:t>
            </a:r>
            <a:r>
              <a:rPr lang="en-US" dirty="0">
                <a:solidFill>
                  <a:schemeClr val="accent1"/>
                </a:solidFill>
              </a:rPr>
              <a:t>Positive-emotion posts reduced in News Feed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Dependent Variable: </a:t>
            </a:r>
            <a:r>
              <a:rPr lang="en-US" dirty="0">
                <a:solidFill>
                  <a:schemeClr val="accent1"/>
                </a:solidFill>
              </a:rPr>
              <a:t>Emotional valence of posts that follow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As measured by number of “positive” or “negative” words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5C2C8D-37D3-FB20-1AF2-9A7B8BE976A6}"/>
              </a:ext>
            </a:extLst>
          </p:cNvPr>
          <p:cNvSpPr txBox="1"/>
          <p:nvPr/>
        </p:nvSpPr>
        <p:spPr>
          <a:xfrm>
            <a:off x="-406959" y="6176963"/>
            <a:ext cx="75814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>
                <a:solidFill>
                  <a:schemeClr val="accent1"/>
                </a:solidFill>
              </a:rPr>
              <a:t>All groups could still see all the posts by, e.g., going to a friend’s “wall” or “timeline”, this only affected their news feed.</a:t>
            </a:r>
          </a:p>
        </p:txBody>
      </p:sp>
    </p:spTree>
    <p:extLst>
      <p:ext uri="{BB962C8B-B14F-4D97-AF65-F5344CB8AC3E}">
        <p14:creationId xmlns:p14="http://schemas.microsoft.com/office/powerpoint/2010/main" val="2787729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D1862-4945-7ADB-E3DE-9A7C4F8B2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F81EB-745D-91B8-0EAA-1BB004D3D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0037" cy="4351338"/>
          </a:xfrm>
        </p:spPr>
        <p:txBody>
          <a:bodyPr/>
          <a:lstStyle/>
          <a:p>
            <a:r>
              <a:rPr lang="en-US" dirty="0"/>
              <a:t>The emotional valence of your news feed effects the emotional valence of words you use.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ABF1E1-0636-7229-28A4-6DFE1B666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0" y="787400"/>
            <a:ext cx="5689600" cy="607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2750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F01DCFF-9C27-3BB2-274E-F2C04B576E98}"/>
              </a:ext>
            </a:extLst>
          </p:cNvPr>
          <p:cNvGrpSpPr/>
          <p:nvPr/>
        </p:nvGrpSpPr>
        <p:grpSpPr>
          <a:xfrm>
            <a:off x="838200" y="2747311"/>
            <a:ext cx="7719342" cy="3745564"/>
            <a:chOff x="838200" y="2747311"/>
            <a:chExt cx="7719342" cy="3745564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48865C-633E-3F29-2612-F01BCF901C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2747311"/>
              <a:ext cx="7719342" cy="3564589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666CC6E-1179-2BF1-9135-B2F431254800}"/>
                </a:ext>
              </a:extLst>
            </p:cNvPr>
            <p:cNvSpPr/>
            <p:nvPr/>
          </p:nvSpPr>
          <p:spPr>
            <a:xfrm>
              <a:off x="2190306" y="5706066"/>
              <a:ext cx="1318438" cy="786809"/>
            </a:xfrm>
            <a:prstGeom prst="ellipse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131B54-8466-E68C-DB2B-0520892D4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was impactful?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26FBD-28BC-5C3E-0109-BD0020A2D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least it made a big splash…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5D0F347-BA7F-476C-FB66-9DAFA0DE2081}"/>
              </a:ext>
            </a:extLst>
          </p:cNvPr>
          <p:cNvGrpSpPr/>
          <p:nvPr/>
        </p:nvGrpSpPr>
        <p:grpSpPr>
          <a:xfrm>
            <a:off x="7737230" y="411163"/>
            <a:ext cx="4614029" cy="4597643"/>
            <a:chOff x="7737230" y="411163"/>
            <a:chExt cx="4614029" cy="45976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546924B-494E-C036-5E43-468BA22D0933}"/>
                </a:ext>
              </a:extLst>
            </p:cNvPr>
            <p:cNvGrpSpPr/>
            <p:nvPr/>
          </p:nvGrpSpPr>
          <p:grpSpPr>
            <a:xfrm>
              <a:off x="7737230" y="411163"/>
              <a:ext cx="4614029" cy="1071940"/>
              <a:chOff x="7737230" y="411163"/>
              <a:chExt cx="4614029" cy="1071940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263BBE83-F29A-FEB0-21B1-BB73C736EA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37230" y="546100"/>
                <a:ext cx="4614029" cy="937003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4A7A0F71-EF59-8307-71CF-38421FABDD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37230" y="411163"/>
                <a:ext cx="1028701" cy="374651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</p:pic>
        </p:grp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012CD24-EAE4-5ED6-989D-5783224B3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78405" y="1939369"/>
              <a:ext cx="4331677" cy="1324110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3ED29A8-655A-AAFF-6E4A-892ED4CBC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51580" y="3429000"/>
              <a:ext cx="3789066" cy="1579806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969687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1E82F-D753-8E8E-F5AF-44EC9B713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take a quick break </a:t>
            </a:r>
            <a:r>
              <a:rPr lang="en-US" dirty="0">
                <a:sym typeface="Wingdings" pitchFamily="2" charset="2"/>
              </a:rPr>
              <a:t>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EFF2D-D6EF-635C-4BE8-434A97192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up, stretch, talk to your neighbor, start thinking about issues with these experiments…</a:t>
            </a:r>
          </a:p>
        </p:txBody>
      </p:sp>
    </p:spTree>
    <p:extLst>
      <p:ext uri="{BB962C8B-B14F-4D97-AF65-F5344CB8AC3E}">
        <p14:creationId xmlns:p14="http://schemas.microsoft.com/office/powerpoint/2010/main" val="6934990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0F14C-E7B3-2CA4-470E-62990BD9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Experiments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36849-BE3C-AD9F-2A03-53155CF76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089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28766-3107-7BFB-1A3C-BA67B5FE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Four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B6771-5864-62F4-A40D-41129902A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External Validity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 Validity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Spillover Effects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Ethical Concerns</a:t>
            </a:r>
          </a:p>
        </p:txBody>
      </p:sp>
    </p:spTree>
    <p:extLst>
      <p:ext uri="{BB962C8B-B14F-4D97-AF65-F5344CB8AC3E}">
        <p14:creationId xmlns:p14="http://schemas.microsoft.com/office/powerpoint/2010/main" val="17141622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4C5FA-EFC2-DF46-CAD1-CCB201E3A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Validity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8706E1-DF7D-6464-ED9B-00D724854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1820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21129-B6E1-55E4-F8F8-5A957BBA7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vs. External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7DB4F-77A3-9376-8C6D-65E932682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 experiment has good </a:t>
            </a:r>
            <a:r>
              <a:rPr lang="en-US" b="1" dirty="0"/>
              <a:t>internal validity </a:t>
            </a:r>
            <a:r>
              <a:rPr lang="en-US" dirty="0"/>
              <a:t>if it tells you something about the population in the study.</a:t>
            </a:r>
          </a:p>
          <a:p>
            <a:r>
              <a:rPr lang="en-US" dirty="0"/>
              <a:t>An experiment has good </a:t>
            </a:r>
            <a:r>
              <a:rPr lang="en-US" b="1" dirty="0"/>
              <a:t>external validity </a:t>
            </a:r>
            <a:r>
              <a:rPr lang="en-US" dirty="0"/>
              <a:t>if the results generalize to other populations.</a:t>
            </a:r>
          </a:p>
          <a:p>
            <a:endParaRPr lang="en-US" dirty="0"/>
          </a:p>
          <a:p>
            <a:r>
              <a:rPr lang="en-US" dirty="0"/>
              <a:t>Example: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Internal Validity: The laptop experiment tells us something about West Point students taking intro econ in 2016.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External Validity: Does this apply to Stanford students taking our class in 2025?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2153214-3B3A-D078-4E8E-1EE8C7E310E2}"/>
              </a:ext>
            </a:extLst>
          </p:cNvPr>
          <p:cNvGrpSpPr/>
          <p:nvPr/>
        </p:nvGrpSpPr>
        <p:grpSpPr>
          <a:xfrm>
            <a:off x="9706708" y="434717"/>
            <a:ext cx="2331267" cy="2750797"/>
            <a:chOff x="8311341" y="3394933"/>
            <a:chExt cx="2331267" cy="275079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30E5701-298D-571A-3FD1-3D47E59C2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27804" y="4633208"/>
              <a:ext cx="653058" cy="151252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3D21FC-59AC-2709-CAE7-E1381E11EE6E}"/>
                </a:ext>
              </a:extLst>
            </p:cNvPr>
            <p:cNvSpPr txBox="1"/>
            <p:nvPr/>
          </p:nvSpPr>
          <p:spPr>
            <a:xfrm>
              <a:off x="8311341" y="3394933"/>
              <a:ext cx="2331267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000" dirty="0">
                  <a:solidFill>
                    <a:srgbClr val="0070C0"/>
                  </a:solidFill>
                </a:rPr>
                <a:t>RCTs have good internal validity thanks to the randomization!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409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83711-E884-1A1A-C25B-BC6390BBC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Validity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3512E-DA93-C2F5-0E98-2AACFF2AB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Rate each of our four experiments on external validity: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1) Not externally valid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2) Maybe externally valid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3) Externally valid for an important population</a:t>
            </a:r>
          </a:p>
          <a:p>
            <a:r>
              <a:rPr lang="en-US" dirty="0"/>
              <a:t>What is one potential concern with external validity for each experiment?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0075E0-3573-5D8A-7738-A1FFF3EAB1F9}"/>
              </a:ext>
            </a:extLst>
          </p:cNvPr>
          <p:cNvSpPr txBox="1"/>
          <p:nvPr/>
        </p:nvSpPr>
        <p:spPr>
          <a:xfrm>
            <a:off x="1189892" y="4742240"/>
            <a:ext cx="1005050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GAIN </a:t>
            </a:r>
            <a:r>
              <a:rPr lang="en-US" sz="2000" dirty="0">
                <a:solidFill>
                  <a:schemeClr val="accent1"/>
                </a:solidFill>
              </a:rPr>
              <a:t>(job training program in CA)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Perry Preschool Program </a:t>
            </a:r>
            <a:r>
              <a:rPr lang="en-US" sz="2000" dirty="0">
                <a:solidFill>
                  <a:schemeClr val="accent1"/>
                </a:solidFill>
              </a:rPr>
              <a:t>(early childhood education program)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Racial Discrimination in the Sharing Economy </a:t>
            </a:r>
            <a:r>
              <a:rPr lang="en-US" sz="2000" dirty="0">
                <a:solidFill>
                  <a:schemeClr val="accent1"/>
                </a:solidFill>
              </a:rPr>
              <a:t>(do Airbnb hosts discriminate?)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Facebook Emotional Contagion </a:t>
            </a:r>
            <a:r>
              <a:rPr lang="en-US" sz="2000" dirty="0">
                <a:solidFill>
                  <a:schemeClr val="accent1"/>
                </a:solidFill>
              </a:rPr>
              <a:t>(does emotional contagion happen online?)</a:t>
            </a:r>
            <a:endParaRPr lang="en-US" sz="2400" dirty="0">
              <a:solidFill>
                <a:schemeClr val="accent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ADC2028-524B-121F-85AA-7AEE52C63956}"/>
              </a:ext>
            </a:extLst>
          </p:cNvPr>
          <p:cNvGrpSpPr/>
          <p:nvPr/>
        </p:nvGrpSpPr>
        <p:grpSpPr>
          <a:xfrm>
            <a:off x="8267203" y="230188"/>
            <a:ext cx="2922177" cy="1325563"/>
            <a:chOff x="8267203" y="230188"/>
            <a:chExt cx="2922177" cy="132556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CD36CAD-0AB8-306E-CDE3-AC3D6E821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67203" y="230188"/>
              <a:ext cx="1477879" cy="132556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A29A2F1-4B30-CF2C-3DD0-7680631E310A}"/>
                </a:ext>
              </a:extLst>
            </p:cNvPr>
            <p:cNvSpPr txBox="1"/>
            <p:nvPr/>
          </p:nvSpPr>
          <p:spPr>
            <a:xfrm>
              <a:off x="9586056" y="369749"/>
              <a:ext cx="16033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accent1"/>
                  </a:solidFill>
                </a:rPr>
                <a:t>Discuss!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88035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6F7FB-4C91-B96C-A2A3-229F17A247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579E39-AA16-8AAD-BA71-BC30CBCBFA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surveys/rw6o7YWWzEIJx7tH4lVlj?display_state=chart&amp;activity_state=opened&amp;state=opened&amp;flow=Engagement&amp;onscreen=persist">
            <a:extLst>
              <a:ext uri="{FF2B5EF4-FFF2-40B4-BE49-F238E27FC236}">
                <a16:creationId xmlns:a16="http://schemas.microsoft.com/office/drawing/2014/main" id="{B56A2FEE-7F72-C862-5711-D8B7BF2BBBD1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2464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9E299-99C8-674F-9E33-157E6DBDEF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13252-8469-3820-1A37-DEC02E2A7F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8mtUCXlK8Wm4FuAXwLYKp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F9F2ADDD-ECEC-4BF4-3ECB-90A5655B5FE6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7312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B912D-2593-D3AB-4155-F4235512DB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7A7E9E-0CC9-7DFA-2136-A98A4F4D3A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ch03Uilh2uFj4MhYJ3nHj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3F23F845-886B-50DD-3FF5-157200D1B9D2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4272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2C750-06FC-9C60-396E-C3258D63DB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5B2724-0756-06B4-926B-94E3CC7AFC7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flqevcMK7vT85adzWURoS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8405A3AC-7F9A-C17B-FBA5-374023F8287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3615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3998B-882E-F8FD-2DAE-2B6CFC06DE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5F0DC9-6A2D-B509-38C9-102D33F119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KjrzT5a0Qr0rboso8T2up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700400D4-C530-0501-A18B-CE4E8DD8F58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8794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53944-CF56-629D-7C03-DC26D34D8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concrete concern </a:t>
            </a:r>
            <a:br>
              <a:rPr lang="en-US" dirty="0"/>
            </a:br>
            <a:r>
              <a:rPr lang="en-US" dirty="0"/>
              <a:t>with external validity in each?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5B81C3-018C-6FD6-B7BE-164172F4CEBB}"/>
              </a:ext>
            </a:extLst>
          </p:cNvPr>
          <p:cNvSpPr txBox="1"/>
          <p:nvPr/>
        </p:nvSpPr>
        <p:spPr>
          <a:xfrm>
            <a:off x="1189892" y="4742240"/>
            <a:ext cx="1005050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GAIN </a:t>
            </a:r>
            <a:r>
              <a:rPr lang="en-US" sz="2000" dirty="0">
                <a:solidFill>
                  <a:schemeClr val="accent1"/>
                </a:solidFill>
              </a:rPr>
              <a:t>(job training program in CA)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Perry Preschool Program </a:t>
            </a:r>
            <a:r>
              <a:rPr lang="en-US" sz="2000" dirty="0">
                <a:solidFill>
                  <a:schemeClr val="accent1"/>
                </a:solidFill>
              </a:rPr>
              <a:t>(early childhood education program)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Racial Discrimination in the Sharing Economy </a:t>
            </a:r>
            <a:r>
              <a:rPr lang="en-US" sz="2000" dirty="0">
                <a:solidFill>
                  <a:schemeClr val="accent1"/>
                </a:solidFill>
              </a:rPr>
              <a:t>(do Airbnb hosts discriminate?)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Facebook Emotional Contagion </a:t>
            </a:r>
            <a:r>
              <a:rPr lang="en-US" sz="2000" dirty="0">
                <a:solidFill>
                  <a:schemeClr val="accent1"/>
                </a:solidFill>
              </a:rPr>
              <a:t>(does emotional contagion happen online?)</a:t>
            </a: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02588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B13AF-16C4-5C28-ADDF-BFDC9E67C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Populations in the GAIN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E4FB3-2444-EE83-98EB-7F839AB20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counties chose different populations.</a:t>
            </a:r>
          </a:p>
          <a:p>
            <a:endParaRPr lang="en-US" dirty="0"/>
          </a:p>
          <a:p>
            <a:r>
              <a:rPr lang="en-US" dirty="0"/>
              <a:t>Riverside chose to enroll</a:t>
            </a:r>
            <a:r>
              <a:rPr lang="en-US" b="1" dirty="0"/>
              <a:t> all </a:t>
            </a:r>
            <a:r>
              <a:rPr lang="en-US" dirty="0"/>
              <a:t>welfare recipients for GAIN.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Average last-quarter income: $453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52% white, 27% Hispanic, 16% Black</a:t>
            </a:r>
          </a:p>
          <a:p>
            <a:r>
              <a:rPr lang="en-US" dirty="0"/>
              <a:t>LA registered mostly long-term welfare recipients.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Average last-quarter income: $221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12% white, 32% Hispanic, 45% Black</a:t>
            </a:r>
          </a:p>
        </p:txBody>
      </p:sp>
    </p:spTree>
    <p:extLst>
      <p:ext uri="{BB962C8B-B14F-4D97-AF65-F5344CB8AC3E}">
        <p14:creationId xmlns:p14="http://schemas.microsoft.com/office/powerpoint/2010/main" val="36529203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B7BD9-F82F-4486-86BC-4EE0FB1A6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 Validity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9A9AC-CA60-176C-5E88-6D6F7FF943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9793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85C72-6047-324C-1C43-6654DAE34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BFD54-0AD7-533E-C6C6-F442CE765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experiment has </a:t>
            </a:r>
            <a:r>
              <a:rPr lang="en-US" b="1" dirty="0"/>
              <a:t>construct validity </a:t>
            </a:r>
            <a:r>
              <a:rPr lang="en-US" dirty="0"/>
              <a:t>if it measures the thing we actually care about.</a:t>
            </a:r>
          </a:p>
          <a:p>
            <a:endParaRPr lang="en-US" dirty="0"/>
          </a:p>
          <a:p>
            <a:r>
              <a:rPr lang="en-US" dirty="0"/>
              <a:t>Example: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 the laptop experiment, they looked at scores on a final exam.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Is that what really matters?  What about… 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long-term retention and/or deep understanding of the material? 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Student happiness/success in life?</a:t>
            </a:r>
          </a:p>
        </p:txBody>
      </p:sp>
    </p:spTree>
    <p:extLst>
      <p:ext uri="{BB962C8B-B14F-4D97-AF65-F5344CB8AC3E}">
        <p14:creationId xmlns:p14="http://schemas.microsoft.com/office/powerpoint/2010/main" val="3522658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83711-E884-1A1A-C25B-BC6390BBC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 Validity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3512E-DA93-C2F5-0E98-2AACFF2AB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Rate each of our four experiments on construct validity: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1) Doesn’t measure what we actually care about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2) Maybe measures what we care about?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3) Measures what we care about.</a:t>
            </a:r>
          </a:p>
          <a:p>
            <a:r>
              <a:rPr lang="en-US" dirty="0"/>
              <a:t>What is one potential concern with construct validity for each experiment?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0075E0-3573-5D8A-7738-A1FFF3EAB1F9}"/>
              </a:ext>
            </a:extLst>
          </p:cNvPr>
          <p:cNvSpPr txBox="1"/>
          <p:nvPr/>
        </p:nvSpPr>
        <p:spPr>
          <a:xfrm>
            <a:off x="1189892" y="4742240"/>
            <a:ext cx="1005050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GAIN </a:t>
            </a:r>
            <a:r>
              <a:rPr lang="en-US" sz="2000" dirty="0">
                <a:solidFill>
                  <a:schemeClr val="accent1"/>
                </a:solidFill>
              </a:rPr>
              <a:t>(job training program in CA)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Perry Preschool Program </a:t>
            </a:r>
            <a:r>
              <a:rPr lang="en-US" sz="2000" dirty="0">
                <a:solidFill>
                  <a:schemeClr val="accent1"/>
                </a:solidFill>
              </a:rPr>
              <a:t>(early childhood education program)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Racial Discrimination in the Sharing Economy </a:t>
            </a:r>
            <a:r>
              <a:rPr lang="en-US" sz="2000" dirty="0">
                <a:solidFill>
                  <a:schemeClr val="accent1"/>
                </a:solidFill>
              </a:rPr>
              <a:t>(do Airbnb hosts discriminate?)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Facebook Emotional Contagion </a:t>
            </a:r>
            <a:r>
              <a:rPr lang="en-US" sz="2000" dirty="0">
                <a:solidFill>
                  <a:schemeClr val="accent1"/>
                </a:solidFill>
              </a:rPr>
              <a:t>(does emotional contagion happen online?)</a:t>
            </a:r>
            <a:endParaRPr lang="en-US" sz="2400" dirty="0">
              <a:solidFill>
                <a:schemeClr val="accent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ADC2028-524B-121F-85AA-7AEE52C63956}"/>
              </a:ext>
            </a:extLst>
          </p:cNvPr>
          <p:cNvGrpSpPr/>
          <p:nvPr/>
        </p:nvGrpSpPr>
        <p:grpSpPr>
          <a:xfrm>
            <a:off x="8267203" y="230188"/>
            <a:ext cx="2922177" cy="1325563"/>
            <a:chOff x="8267203" y="230188"/>
            <a:chExt cx="2922177" cy="132556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CD36CAD-0AB8-306E-CDE3-AC3D6E821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67203" y="230188"/>
              <a:ext cx="1477879" cy="132556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A29A2F1-4B30-CF2C-3DD0-7680631E310A}"/>
                </a:ext>
              </a:extLst>
            </p:cNvPr>
            <p:cNvSpPr txBox="1"/>
            <p:nvPr/>
          </p:nvSpPr>
          <p:spPr>
            <a:xfrm>
              <a:off x="9586056" y="369749"/>
              <a:ext cx="16033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accent1"/>
                  </a:solidFill>
                </a:rPr>
                <a:t>Discuss!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8484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772D3-9822-C0C2-F1C0-3E8E7B5BB7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E44407-8818-516C-3F19-C6470FCB65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surveys/rolcpIkupg9wpi5ECPrQb?display_state=chart&amp;activity_state=opened&amp;state=opened&amp;flow=Engagement&amp;onscreen=persist">
            <a:extLst>
              <a:ext uri="{FF2B5EF4-FFF2-40B4-BE49-F238E27FC236}">
                <a16:creationId xmlns:a16="http://schemas.microsoft.com/office/drawing/2014/main" id="{315A1124-D9BD-082A-D0BE-D6B4474AB44A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7894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37D57-DE35-0CA7-89F6-2F6547A44F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8C973D-CDAE-EF9C-78B3-F35800302D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34sFZkrQoqQGq7PtQ4zrs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7E89EDA6-2A0C-5226-DE9C-48CD31926BF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3601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00A8F-2FF6-53E3-C74B-097CE8788C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2AAE6-6025-D65F-CCD0-154B1D4E3F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mqYuhBMhkg9QCLys3PIAn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B10A4242-D056-B7DE-A6CE-DB71142EF3D8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227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33D9B-6C87-AA5A-7D51-4537580426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6D71ED-C184-63F5-35A2-BF7067608A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uf6Y7TLNoKI6RJQTLakDk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4914D02D-AC55-3635-5E90-608F596875C0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2452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4284-324B-2FB7-D068-D475CAFD87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B85931-3AED-7B9F-AD0F-9C44E6172B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S0OzecDxUN7kdWhotLVnf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EA99BC74-555C-81B4-0222-BE0C3AA85BA9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5032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53944-CF56-629D-7C03-DC26D34D8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concrete concern </a:t>
            </a:r>
            <a:br>
              <a:rPr lang="en-US" dirty="0"/>
            </a:br>
            <a:r>
              <a:rPr lang="en-US" dirty="0"/>
              <a:t>with construct validity in each?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5B81C3-018C-6FD6-B7BE-164172F4CEBB}"/>
              </a:ext>
            </a:extLst>
          </p:cNvPr>
          <p:cNvSpPr txBox="1"/>
          <p:nvPr/>
        </p:nvSpPr>
        <p:spPr>
          <a:xfrm>
            <a:off x="1189892" y="4742240"/>
            <a:ext cx="1005050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GAIN </a:t>
            </a:r>
            <a:r>
              <a:rPr lang="en-US" sz="2000" dirty="0">
                <a:solidFill>
                  <a:schemeClr val="accent1"/>
                </a:solidFill>
              </a:rPr>
              <a:t>(job training program in CA)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Perry Preschool Program </a:t>
            </a:r>
            <a:r>
              <a:rPr lang="en-US" sz="2000" dirty="0">
                <a:solidFill>
                  <a:schemeClr val="accent1"/>
                </a:solidFill>
              </a:rPr>
              <a:t>(early childhood education program)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Racial Discrimination in the Sharing Economy </a:t>
            </a:r>
            <a:r>
              <a:rPr lang="en-US" sz="2000" dirty="0">
                <a:solidFill>
                  <a:schemeClr val="accent1"/>
                </a:solidFill>
              </a:rPr>
              <a:t>(do Airbnb hosts discriminate?)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Facebook Emotional Contagion </a:t>
            </a:r>
            <a:r>
              <a:rPr lang="en-US" sz="2000" dirty="0">
                <a:solidFill>
                  <a:schemeClr val="accent1"/>
                </a:solidFill>
              </a:rPr>
              <a:t>(does emotional contagion happen online?)</a:t>
            </a: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10958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339D-6D22-670B-92AF-FD7FB51F7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Longer-Term Results*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E2EFE-F01D-2B57-0A69-433F9683AA64}"/>
              </a:ext>
            </a:extLst>
          </p:cNvPr>
          <p:cNvSpPr txBox="1"/>
          <p:nvPr/>
        </p:nvSpPr>
        <p:spPr>
          <a:xfrm>
            <a:off x="407349" y="-13524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*Simplified </a:t>
            </a:r>
            <a:r>
              <a:rPr lang="en-US" dirty="0">
                <a:sym typeface="Wingdings" pitchFamily="2" charset="2"/>
              </a:rPr>
              <a:t>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87E743-F010-6935-30B3-ECD8635DCFE4}"/>
              </a:ext>
            </a:extLst>
          </p:cNvPr>
          <p:cNvSpPr txBox="1"/>
          <p:nvPr/>
        </p:nvSpPr>
        <p:spPr>
          <a:xfrm>
            <a:off x="2768442" y="1690686"/>
            <a:ext cx="46437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5"/>
                </a:solidFill>
              </a:rPr>
              <a:t>Los Angeles </a:t>
            </a:r>
            <a:r>
              <a:rPr lang="en-US" sz="2000" b="1" dirty="0">
                <a:solidFill>
                  <a:schemeClr val="accent5"/>
                </a:solidFill>
              </a:rPr>
              <a:t>(Human Capital first)</a:t>
            </a:r>
            <a:endParaRPr lang="en-US" sz="2800" b="1" dirty="0">
              <a:solidFill>
                <a:schemeClr val="accent5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8117E5-BFB5-AE22-ACBA-DAF1D6F84804}"/>
              </a:ext>
            </a:extLst>
          </p:cNvPr>
          <p:cNvSpPr txBox="1"/>
          <p:nvPr/>
        </p:nvSpPr>
        <p:spPr>
          <a:xfrm>
            <a:off x="8306398" y="1683267"/>
            <a:ext cx="2978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/>
                </a:solidFill>
              </a:rPr>
              <a:t>Riverside </a:t>
            </a:r>
            <a:r>
              <a:rPr lang="en-US" sz="2000" b="1" dirty="0">
                <a:solidFill>
                  <a:schemeClr val="accent1"/>
                </a:solidFill>
              </a:rPr>
              <a:t>(Jobs first)</a:t>
            </a:r>
            <a:endParaRPr lang="en-US" sz="2800" b="1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05FBBF-D473-64B1-BA67-35FFD8AF3E31}"/>
              </a:ext>
            </a:extLst>
          </p:cNvPr>
          <p:cNvSpPr txBox="1"/>
          <p:nvPr/>
        </p:nvSpPr>
        <p:spPr>
          <a:xfrm>
            <a:off x="-24353" y="3424427"/>
            <a:ext cx="153747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What fraction were employed at all that year?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EE3CB3-69B5-8928-2756-C97B873B5C55}"/>
              </a:ext>
            </a:extLst>
          </p:cNvPr>
          <p:cNvSpPr txBox="1"/>
          <p:nvPr/>
        </p:nvSpPr>
        <p:spPr>
          <a:xfrm>
            <a:off x="-17262" y="5140242"/>
            <a:ext cx="133561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Annual earnings (in 1999 dollars)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92D2C0-1E92-A4ED-ABBE-0140F887C68F}"/>
              </a:ext>
            </a:extLst>
          </p:cNvPr>
          <p:cNvSpPr txBox="1"/>
          <p:nvPr/>
        </p:nvSpPr>
        <p:spPr>
          <a:xfrm>
            <a:off x="4238119" y="2213907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Treatment 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484282-8968-C9B2-6AD2-58DE0CB284F6}"/>
              </a:ext>
            </a:extLst>
          </p:cNvPr>
          <p:cNvSpPr txBox="1"/>
          <p:nvPr/>
        </p:nvSpPr>
        <p:spPr>
          <a:xfrm>
            <a:off x="2627577" y="2213907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Control</a:t>
            </a:r>
          </a:p>
          <a:p>
            <a:pPr algn="ctr"/>
            <a:r>
              <a:rPr lang="en-US" dirty="0">
                <a:solidFill>
                  <a:schemeClr val="accent5"/>
                </a:solidFill>
              </a:rPr>
              <a:t>Group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3E1BFD-3061-1A9D-A4A3-819990CF5360}"/>
              </a:ext>
            </a:extLst>
          </p:cNvPr>
          <p:cNvSpPr txBox="1"/>
          <p:nvPr/>
        </p:nvSpPr>
        <p:spPr>
          <a:xfrm>
            <a:off x="5819302" y="2213908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Percentage difference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E5ADE7-44F6-A6FF-37E4-B3C19CD49924}"/>
              </a:ext>
            </a:extLst>
          </p:cNvPr>
          <p:cNvSpPr txBox="1"/>
          <p:nvPr/>
        </p:nvSpPr>
        <p:spPr>
          <a:xfrm>
            <a:off x="8933285" y="2220350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Treatment Group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E369B0-E3AD-A4C1-7B17-DB25B4B17671}"/>
              </a:ext>
            </a:extLst>
          </p:cNvPr>
          <p:cNvSpPr txBox="1"/>
          <p:nvPr/>
        </p:nvSpPr>
        <p:spPr>
          <a:xfrm>
            <a:off x="7546780" y="2213906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Control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Group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DD04A6-0BDD-BBA6-EF55-1ABA4A1E8834}"/>
              </a:ext>
            </a:extLst>
          </p:cNvPr>
          <p:cNvSpPr txBox="1"/>
          <p:nvPr/>
        </p:nvSpPr>
        <p:spPr>
          <a:xfrm>
            <a:off x="10455965" y="2197685"/>
            <a:ext cx="1298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Percentage difference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36A783-2491-812A-E9A8-E640B7C4B5A7}"/>
              </a:ext>
            </a:extLst>
          </p:cNvPr>
          <p:cNvCxnSpPr/>
          <p:nvPr/>
        </p:nvCxnSpPr>
        <p:spPr>
          <a:xfrm>
            <a:off x="2425149" y="2981739"/>
            <a:ext cx="991262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10A6FD7-5377-FE82-9BC5-F9A90886D76D}"/>
              </a:ext>
            </a:extLst>
          </p:cNvPr>
          <p:cNvCxnSpPr>
            <a:cxnSpLocks/>
          </p:cNvCxnSpPr>
          <p:nvPr/>
        </p:nvCxnSpPr>
        <p:spPr>
          <a:xfrm>
            <a:off x="2425149" y="2981739"/>
            <a:ext cx="0" cy="44792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76B2909-F2F3-9C02-A16C-14AE6323CAB9}"/>
              </a:ext>
            </a:extLst>
          </p:cNvPr>
          <p:cNvCxnSpPr>
            <a:cxnSpLocks/>
          </p:cNvCxnSpPr>
          <p:nvPr/>
        </p:nvCxnSpPr>
        <p:spPr>
          <a:xfrm>
            <a:off x="7381462" y="2980730"/>
            <a:ext cx="0" cy="44792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10035A5-F4FE-2D93-0F41-5C61D9093FB0}"/>
              </a:ext>
            </a:extLst>
          </p:cNvPr>
          <p:cNvSpPr txBox="1"/>
          <p:nvPr/>
        </p:nvSpPr>
        <p:spPr>
          <a:xfrm>
            <a:off x="4375937" y="3134440"/>
            <a:ext cx="11608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26.1%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9C1E64-E72D-6EF9-6DBA-9D19412F1E71}"/>
              </a:ext>
            </a:extLst>
          </p:cNvPr>
          <p:cNvSpPr txBox="1"/>
          <p:nvPr/>
        </p:nvSpPr>
        <p:spPr>
          <a:xfrm>
            <a:off x="2765395" y="3162817"/>
            <a:ext cx="11608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24.5%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0180BD-3489-80D3-B072-A962CAB25665}"/>
              </a:ext>
            </a:extLst>
          </p:cNvPr>
          <p:cNvSpPr txBox="1"/>
          <p:nvPr/>
        </p:nvSpPr>
        <p:spPr>
          <a:xfrm>
            <a:off x="5894086" y="3134440"/>
            <a:ext cx="8659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5"/>
                </a:solidFill>
              </a:rPr>
              <a:t>+7%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D80378-4E89-C036-220C-077AA4627754}"/>
              </a:ext>
            </a:extLst>
          </p:cNvPr>
          <p:cNvSpPr txBox="1"/>
          <p:nvPr/>
        </p:nvSpPr>
        <p:spPr>
          <a:xfrm>
            <a:off x="9226232" y="3096168"/>
            <a:ext cx="8659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49%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9BA184-D9D1-627D-30C6-84329FF7109D}"/>
              </a:ext>
            </a:extLst>
          </p:cNvPr>
          <p:cNvSpPr txBox="1"/>
          <p:nvPr/>
        </p:nvSpPr>
        <p:spPr>
          <a:xfrm>
            <a:off x="7615690" y="3124545"/>
            <a:ext cx="11608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35.3%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AEA19E-9CBE-EE26-15AC-EBC8073C8014}"/>
              </a:ext>
            </a:extLst>
          </p:cNvPr>
          <p:cNvSpPr txBox="1"/>
          <p:nvPr/>
        </p:nvSpPr>
        <p:spPr>
          <a:xfrm>
            <a:off x="10744381" y="3096168"/>
            <a:ext cx="10583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+39%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6020E6-D3AC-21BD-2953-712AA6D4BEB7}"/>
              </a:ext>
            </a:extLst>
          </p:cNvPr>
          <p:cNvSpPr txBox="1"/>
          <p:nvPr/>
        </p:nvSpPr>
        <p:spPr>
          <a:xfrm>
            <a:off x="4390737" y="5074259"/>
            <a:ext cx="1249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$1,843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8D910D-8946-DEF6-2DDC-F3F61AC794AB}"/>
              </a:ext>
            </a:extLst>
          </p:cNvPr>
          <p:cNvSpPr txBox="1"/>
          <p:nvPr/>
        </p:nvSpPr>
        <p:spPr>
          <a:xfrm>
            <a:off x="2845662" y="5099169"/>
            <a:ext cx="1249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$1,849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F3D204-9BA3-4529-B3E4-0F99D0328399}"/>
              </a:ext>
            </a:extLst>
          </p:cNvPr>
          <p:cNvSpPr txBox="1"/>
          <p:nvPr/>
        </p:nvSpPr>
        <p:spPr>
          <a:xfrm>
            <a:off x="5974353" y="5070792"/>
            <a:ext cx="8659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5"/>
                </a:solidFill>
              </a:rPr>
              <a:t>+0%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55C3519-30AF-3778-CA0E-4E989C544379}"/>
              </a:ext>
            </a:extLst>
          </p:cNvPr>
          <p:cNvSpPr txBox="1"/>
          <p:nvPr/>
        </p:nvSpPr>
        <p:spPr>
          <a:xfrm>
            <a:off x="9082982" y="5060898"/>
            <a:ext cx="1249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$3,668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4E475A-9658-2C82-0F83-D7FD2E0E1154}"/>
              </a:ext>
            </a:extLst>
          </p:cNvPr>
          <p:cNvSpPr txBox="1"/>
          <p:nvPr/>
        </p:nvSpPr>
        <p:spPr>
          <a:xfrm>
            <a:off x="7587619" y="5050726"/>
            <a:ext cx="1249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50000"/>
                  </a:schemeClr>
                </a:solidFill>
              </a:rPr>
              <a:t>$2,253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FABE1E-23BF-BBED-02C8-DBFE110C7C97}"/>
              </a:ext>
            </a:extLst>
          </p:cNvPr>
          <p:cNvSpPr txBox="1"/>
          <p:nvPr/>
        </p:nvSpPr>
        <p:spPr>
          <a:xfrm>
            <a:off x="10824648" y="5032521"/>
            <a:ext cx="10583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+63%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C506E31-4E92-94F7-D262-DD34B4BF44B0}"/>
              </a:ext>
            </a:extLst>
          </p:cNvPr>
          <p:cNvCxnSpPr/>
          <p:nvPr/>
        </p:nvCxnSpPr>
        <p:spPr>
          <a:xfrm>
            <a:off x="2425149" y="5013008"/>
            <a:ext cx="991262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0A31F7-388D-4566-D836-CF7CC14C9E48}"/>
              </a:ext>
            </a:extLst>
          </p:cNvPr>
          <p:cNvSpPr txBox="1"/>
          <p:nvPr/>
        </p:nvSpPr>
        <p:spPr>
          <a:xfrm>
            <a:off x="1538939" y="3201489"/>
            <a:ext cx="847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1-3 </a:t>
            </a:r>
            <a:r>
              <a:rPr lang="en-US" dirty="0" err="1"/>
              <a:t>yrs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114BA-525A-DCB8-5BB6-FD01B1D07BED}"/>
              </a:ext>
            </a:extLst>
          </p:cNvPr>
          <p:cNvSpPr txBox="1"/>
          <p:nvPr/>
        </p:nvSpPr>
        <p:spPr>
          <a:xfrm>
            <a:off x="1517990" y="3791806"/>
            <a:ext cx="847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3-5 </a:t>
            </a:r>
            <a:r>
              <a:rPr lang="en-US" dirty="0" err="1"/>
              <a:t>yrs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E41D90-1CC9-451E-A41A-076D9298FF8E}"/>
              </a:ext>
            </a:extLst>
          </p:cNvPr>
          <p:cNvSpPr txBox="1"/>
          <p:nvPr/>
        </p:nvSpPr>
        <p:spPr>
          <a:xfrm>
            <a:off x="1538939" y="4395468"/>
            <a:ext cx="83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5-7 </a:t>
            </a:r>
            <a:r>
              <a:rPr lang="en-US" dirty="0" err="1"/>
              <a:t>yrs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35CD96-1ADB-BEFA-5C26-608F30513FB1}"/>
              </a:ext>
            </a:extLst>
          </p:cNvPr>
          <p:cNvSpPr txBox="1"/>
          <p:nvPr/>
        </p:nvSpPr>
        <p:spPr>
          <a:xfrm>
            <a:off x="1513037" y="5074854"/>
            <a:ext cx="847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1-3 </a:t>
            </a:r>
            <a:r>
              <a:rPr lang="en-US" dirty="0" err="1"/>
              <a:t>yrs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4944DE-7B23-C462-FA65-968E2EB5CDF6}"/>
              </a:ext>
            </a:extLst>
          </p:cNvPr>
          <p:cNvSpPr txBox="1"/>
          <p:nvPr/>
        </p:nvSpPr>
        <p:spPr>
          <a:xfrm>
            <a:off x="1492088" y="5665171"/>
            <a:ext cx="847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3-5 </a:t>
            </a:r>
            <a:r>
              <a:rPr lang="en-US" dirty="0" err="1"/>
              <a:t>yrs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965BFC-B0D9-5F4D-F6CF-1B60469D0705}"/>
              </a:ext>
            </a:extLst>
          </p:cNvPr>
          <p:cNvSpPr txBox="1"/>
          <p:nvPr/>
        </p:nvSpPr>
        <p:spPr>
          <a:xfrm>
            <a:off x="1513037" y="6268833"/>
            <a:ext cx="83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5-7 </a:t>
            </a:r>
            <a:r>
              <a:rPr lang="en-US" dirty="0" err="1"/>
              <a:t>yrs</a:t>
            </a:r>
            <a:endParaRPr lang="en-US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DFEE1A1-7063-B38F-FE4A-9B31F5907A4A}"/>
              </a:ext>
            </a:extLst>
          </p:cNvPr>
          <p:cNvGrpSpPr/>
          <p:nvPr/>
        </p:nvGrpSpPr>
        <p:grpSpPr>
          <a:xfrm>
            <a:off x="2845662" y="6231660"/>
            <a:ext cx="9180687" cy="593447"/>
            <a:chOff x="2845662" y="6231660"/>
            <a:chExt cx="9180687" cy="593447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CA76B7F-6824-19A9-D986-E3D96D23A62F}"/>
                </a:ext>
              </a:extLst>
            </p:cNvPr>
            <p:cNvSpPr txBox="1"/>
            <p:nvPr/>
          </p:nvSpPr>
          <p:spPr>
            <a:xfrm>
              <a:off x="4375077" y="6301887"/>
              <a:ext cx="1249060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$3,689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6CC5E5B-5D6E-F4CD-310F-34618845C090}"/>
                </a:ext>
              </a:extLst>
            </p:cNvPr>
            <p:cNvSpPr txBox="1"/>
            <p:nvPr/>
          </p:nvSpPr>
          <p:spPr>
            <a:xfrm>
              <a:off x="2845662" y="6298455"/>
              <a:ext cx="1249060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$3,386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1A2229C-777C-DE34-F729-560F2BB02B01}"/>
                </a:ext>
              </a:extLst>
            </p:cNvPr>
            <p:cNvSpPr txBox="1"/>
            <p:nvPr/>
          </p:nvSpPr>
          <p:spPr>
            <a:xfrm>
              <a:off x="5999889" y="6298455"/>
              <a:ext cx="865943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5"/>
                  </a:solidFill>
                </a:rPr>
                <a:t>+9%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C90A2F9-19C3-1B2A-BC2A-5B0C5D58E6A6}"/>
                </a:ext>
              </a:extLst>
            </p:cNvPr>
            <p:cNvSpPr txBox="1"/>
            <p:nvPr/>
          </p:nvSpPr>
          <p:spPr>
            <a:xfrm>
              <a:off x="9123128" y="6261228"/>
              <a:ext cx="1249060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$4,585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A9BC6C9-D09D-48EA-7AD0-9847A1B2736A}"/>
                </a:ext>
              </a:extLst>
            </p:cNvPr>
            <p:cNvSpPr txBox="1"/>
            <p:nvPr/>
          </p:nvSpPr>
          <p:spPr>
            <a:xfrm>
              <a:off x="7546780" y="6269931"/>
              <a:ext cx="1249060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$4,171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AEE4927-7AC0-40E6-2B89-71932006B12C}"/>
                </a:ext>
              </a:extLst>
            </p:cNvPr>
            <p:cNvSpPr txBox="1"/>
            <p:nvPr/>
          </p:nvSpPr>
          <p:spPr>
            <a:xfrm>
              <a:off x="10524807" y="6231660"/>
              <a:ext cx="1501542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chemeClr val="accent1"/>
                  </a:solidFill>
                </a:rPr>
                <a:t>    +10%</a:t>
              </a: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9A762360-E6F7-C050-9333-AB587FD79808}"/>
              </a:ext>
            </a:extLst>
          </p:cNvPr>
          <p:cNvSpPr txBox="1"/>
          <p:nvPr/>
        </p:nvSpPr>
        <p:spPr>
          <a:xfrm>
            <a:off x="1133698" y="973095"/>
            <a:ext cx="3417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=Statistically significant (p=0.01)</a:t>
            </a:r>
          </a:p>
        </p:txBody>
      </p:sp>
      <p:sp>
        <p:nvSpPr>
          <p:cNvPr id="62" name="5-Point Star 61">
            <a:extLst>
              <a:ext uri="{FF2B5EF4-FFF2-40B4-BE49-F238E27FC236}">
                <a16:creationId xmlns:a16="http://schemas.microsoft.com/office/drawing/2014/main" id="{00CBA2F0-4E0B-BF19-68D1-CE43B0726827}"/>
              </a:ext>
            </a:extLst>
          </p:cNvPr>
          <p:cNvSpPr/>
          <p:nvPr/>
        </p:nvSpPr>
        <p:spPr>
          <a:xfrm>
            <a:off x="967587" y="1002652"/>
            <a:ext cx="228600" cy="267351"/>
          </a:xfrm>
          <a:prstGeom prst="star5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5-Point Star 62">
            <a:extLst>
              <a:ext uri="{FF2B5EF4-FFF2-40B4-BE49-F238E27FC236}">
                <a16:creationId xmlns:a16="http://schemas.microsoft.com/office/drawing/2014/main" id="{D21FE4B3-7057-1F0F-7E8C-AEB62072C28A}"/>
              </a:ext>
            </a:extLst>
          </p:cNvPr>
          <p:cNvSpPr/>
          <p:nvPr/>
        </p:nvSpPr>
        <p:spPr>
          <a:xfrm>
            <a:off x="11699500" y="3105819"/>
            <a:ext cx="228600" cy="267351"/>
          </a:xfrm>
          <a:prstGeom prst="star5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5-Point Star 63">
            <a:extLst>
              <a:ext uri="{FF2B5EF4-FFF2-40B4-BE49-F238E27FC236}">
                <a16:creationId xmlns:a16="http://schemas.microsoft.com/office/drawing/2014/main" id="{E0CFF53B-DF62-DB73-EEBB-AC156C082ABE}"/>
              </a:ext>
            </a:extLst>
          </p:cNvPr>
          <p:cNvSpPr/>
          <p:nvPr/>
        </p:nvSpPr>
        <p:spPr>
          <a:xfrm>
            <a:off x="11787344" y="5070792"/>
            <a:ext cx="228600" cy="267351"/>
          </a:xfrm>
          <a:prstGeom prst="star5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6B0685A6-A76D-CDF3-B1E0-7F205EEE9755}"/>
              </a:ext>
            </a:extLst>
          </p:cNvPr>
          <p:cNvGrpSpPr/>
          <p:nvPr/>
        </p:nvGrpSpPr>
        <p:grpSpPr>
          <a:xfrm>
            <a:off x="2842371" y="5661742"/>
            <a:ext cx="9200029" cy="589868"/>
            <a:chOff x="2842371" y="5661742"/>
            <a:chExt cx="9200029" cy="589868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E34A54E-8E53-6CF4-0FF8-CAE3C2983E72}"/>
                </a:ext>
              </a:extLst>
            </p:cNvPr>
            <p:cNvSpPr txBox="1"/>
            <p:nvPr/>
          </p:nvSpPr>
          <p:spPr>
            <a:xfrm>
              <a:off x="4387446" y="5703480"/>
              <a:ext cx="12490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$2,615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ABB4351-EF25-939A-6167-1AEAF21300B5}"/>
                </a:ext>
              </a:extLst>
            </p:cNvPr>
            <p:cNvSpPr txBox="1"/>
            <p:nvPr/>
          </p:nvSpPr>
          <p:spPr>
            <a:xfrm>
              <a:off x="2842371" y="5728390"/>
              <a:ext cx="12490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$2,493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326E824-534E-0A57-4AE9-461C50FE39D7}"/>
                </a:ext>
              </a:extLst>
            </p:cNvPr>
            <p:cNvSpPr txBox="1"/>
            <p:nvPr/>
          </p:nvSpPr>
          <p:spPr>
            <a:xfrm>
              <a:off x="5971062" y="5700013"/>
              <a:ext cx="8659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5"/>
                  </a:solidFill>
                </a:rPr>
                <a:t>+5%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3521BD0-390F-B104-B872-177289275E6A}"/>
                </a:ext>
              </a:extLst>
            </p:cNvPr>
            <p:cNvSpPr txBox="1"/>
            <p:nvPr/>
          </p:nvSpPr>
          <p:spPr>
            <a:xfrm>
              <a:off x="9079691" y="5690119"/>
              <a:ext cx="12490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$4,363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01403CD-D1A4-6FFA-614A-8BD453FF4192}"/>
                </a:ext>
              </a:extLst>
            </p:cNvPr>
            <p:cNvSpPr txBox="1"/>
            <p:nvPr/>
          </p:nvSpPr>
          <p:spPr>
            <a:xfrm>
              <a:off x="7584328" y="5679947"/>
              <a:ext cx="12490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$3,201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173715E-7AD6-5F71-95FB-7D548776B360}"/>
                </a:ext>
              </a:extLst>
            </p:cNvPr>
            <p:cNvSpPr txBox="1"/>
            <p:nvPr/>
          </p:nvSpPr>
          <p:spPr>
            <a:xfrm>
              <a:off x="10821357" y="5661742"/>
              <a:ext cx="10583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1"/>
                  </a:solidFill>
                </a:rPr>
                <a:t>+36%</a:t>
              </a:r>
            </a:p>
          </p:txBody>
        </p:sp>
        <p:sp>
          <p:nvSpPr>
            <p:cNvPr id="65" name="5-Point Star 64">
              <a:extLst>
                <a:ext uri="{FF2B5EF4-FFF2-40B4-BE49-F238E27FC236}">
                  <a16:creationId xmlns:a16="http://schemas.microsoft.com/office/drawing/2014/main" id="{4CC84174-EF22-0861-D834-888A272D9C03}"/>
                </a:ext>
              </a:extLst>
            </p:cNvPr>
            <p:cNvSpPr/>
            <p:nvPr/>
          </p:nvSpPr>
          <p:spPr>
            <a:xfrm>
              <a:off x="11813800" y="5728390"/>
              <a:ext cx="228600" cy="267351"/>
            </a:xfrm>
            <a:prstGeom prst="star5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07E9A57-069B-BC56-81FB-58ADA32A213F}"/>
              </a:ext>
            </a:extLst>
          </p:cNvPr>
          <p:cNvGrpSpPr/>
          <p:nvPr/>
        </p:nvGrpSpPr>
        <p:grpSpPr>
          <a:xfrm>
            <a:off x="7626806" y="3764601"/>
            <a:ext cx="4313552" cy="551597"/>
            <a:chOff x="7626806" y="3764601"/>
            <a:chExt cx="4313552" cy="55159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9A87149-4DD7-E687-810E-C5406572F31F}"/>
                </a:ext>
              </a:extLst>
            </p:cNvPr>
            <p:cNvSpPr txBox="1"/>
            <p:nvPr/>
          </p:nvSpPr>
          <p:spPr>
            <a:xfrm>
              <a:off x="9237348" y="3764601"/>
              <a:ext cx="11608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40.4%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0DE9AF8-70C9-2BD1-8D9C-39A5A078E454}"/>
                </a:ext>
              </a:extLst>
            </p:cNvPr>
            <p:cNvSpPr txBox="1"/>
            <p:nvPr/>
          </p:nvSpPr>
          <p:spPr>
            <a:xfrm>
              <a:off x="7626806" y="3792978"/>
              <a:ext cx="11608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33.5%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D6561CA-B7B1-7DB8-DF7B-A4B8F0DDF7D9}"/>
                </a:ext>
              </a:extLst>
            </p:cNvPr>
            <p:cNvSpPr txBox="1"/>
            <p:nvPr/>
          </p:nvSpPr>
          <p:spPr>
            <a:xfrm>
              <a:off x="10755497" y="3764601"/>
              <a:ext cx="10583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1"/>
                  </a:solidFill>
                </a:rPr>
                <a:t>+21%</a:t>
              </a:r>
            </a:p>
          </p:txBody>
        </p:sp>
        <p:sp>
          <p:nvSpPr>
            <p:cNvPr id="66" name="5-Point Star 65">
              <a:extLst>
                <a:ext uri="{FF2B5EF4-FFF2-40B4-BE49-F238E27FC236}">
                  <a16:creationId xmlns:a16="http://schemas.microsoft.com/office/drawing/2014/main" id="{6A2EF65F-6334-8E90-1A09-CCEBAD9ADAE9}"/>
                </a:ext>
              </a:extLst>
            </p:cNvPr>
            <p:cNvSpPr/>
            <p:nvPr/>
          </p:nvSpPr>
          <p:spPr>
            <a:xfrm>
              <a:off x="11711758" y="3821200"/>
              <a:ext cx="228600" cy="267351"/>
            </a:xfrm>
            <a:prstGeom prst="star5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96EDE82-3D69-62EF-80BE-F2FDF2CD1C1E}"/>
              </a:ext>
            </a:extLst>
          </p:cNvPr>
          <p:cNvGrpSpPr/>
          <p:nvPr/>
        </p:nvGrpSpPr>
        <p:grpSpPr>
          <a:xfrm>
            <a:off x="2741469" y="3743820"/>
            <a:ext cx="4338596" cy="551597"/>
            <a:chOff x="2741469" y="3743820"/>
            <a:chExt cx="4338596" cy="55159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D6855E6-94F1-D7F2-EC88-5D60861CCECF}"/>
                </a:ext>
              </a:extLst>
            </p:cNvPr>
            <p:cNvSpPr txBox="1"/>
            <p:nvPr/>
          </p:nvSpPr>
          <p:spPr>
            <a:xfrm>
              <a:off x="4352011" y="3743820"/>
              <a:ext cx="11608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29.2%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B3C7425-A285-E32D-25B1-3CE89B18A545}"/>
                </a:ext>
              </a:extLst>
            </p:cNvPr>
            <p:cNvSpPr txBox="1"/>
            <p:nvPr/>
          </p:nvSpPr>
          <p:spPr>
            <a:xfrm>
              <a:off x="2741469" y="3772197"/>
              <a:ext cx="11608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25.8%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29F5649-93EC-8BF6-54AC-532A3CE707D7}"/>
                </a:ext>
              </a:extLst>
            </p:cNvPr>
            <p:cNvSpPr txBox="1"/>
            <p:nvPr/>
          </p:nvSpPr>
          <p:spPr>
            <a:xfrm>
              <a:off x="5870160" y="3743820"/>
              <a:ext cx="10583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5"/>
                  </a:solidFill>
                </a:rPr>
                <a:t>+13%</a:t>
              </a:r>
            </a:p>
          </p:txBody>
        </p:sp>
        <p:sp>
          <p:nvSpPr>
            <p:cNvPr id="67" name="5-Point Star 66">
              <a:extLst>
                <a:ext uri="{FF2B5EF4-FFF2-40B4-BE49-F238E27FC236}">
                  <a16:creationId xmlns:a16="http://schemas.microsoft.com/office/drawing/2014/main" id="{DC58EC39-08B1-EBC2-F8FC-2A981743177B}"/>
                </a:ext>
              </a:extLst>
            </p:cNvPr>
            <p:cNvSpPr/>
            <p:nvPr/>
          </p:nvSpPr>
          <p:spPr>
            <a:xfrm>
              <a:off x="6851465" y="3791806"/>
              <a:ext cx="228600" cy="267351"/>
            </a:xfrm>
            <a:prstGeom prst="star5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3F158EF-465C-0A9C-727F-31D7B42CBADD}"/>
              </a:ext>
            </a:extLst>
          </p:cNvPr>
          <p:cNvGrpSpPr/>
          <p:nvPr/>
        </p:nvGrpSpPr>
        <p:grpSpPr>
          <a:xfrm>
            <a:off x="2751631" y="4334298"/>
            <a:ext cx="8877005" cy="554387"/>
            <a:chOff x="2751631" y="4334298"/>
            <a:chExt cx="8877005" cy="55438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30D380D-6D97-39E6-8C90-182E47BF8367}"/>
                </a:ext>
              </a:extLst>
            </p:cNvPr>
            <p:cNvSpPr txBox="1"/>
            <p:nvPr/>
          </p:nvSpPr>
          <p:spPr>
            <a:xfrm>
              <a:off x="4362173" y="4337088"/>
              <a:ext cx="11608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36.9%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E64E8C0-F78B-67BF-D8DF-D51B5C14454F}"/>
                </a:ext>
              </a:extLst>
            </p:cNvPr>
            <p:cNvSpPr txBox="1"/>
            <p:nvPr/>
          </p:nvSpPr>
          <p:spPr>
            <a:xfrm>
              <a:off x="2751631" y="4365465"/>
              <a:ext cx="11608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33.1%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D0620CA-E202-C551-6496-8930BDAA19F4}"/>
                </a:ext>
              </a:extLst>
            </p:cNvPr>
            <p:cNvSpPr txBox="1"/>
            <p:nvPr/>
          </p:nvSpPr>
          <p:spPr>
            <a:xfrm>
              <a:off x="5880322" y="4337088"/>
              <a:ext cx="10583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5"/>
                  </a:solidFill>
                </a:rPr>
                <a:t>+11%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1951735-6743-3A22-B389-A2F39B9D62D5}"/>
                </a:ext>
              </a:extLst>
            </p:cNvPr>
            <p:cNvSpPr txBox="1"/>
            <p:nvPr/>
          </p:nvSpPr>
          <p:spPr>
            <a:xfrm>
              <a:off x="9244544" y="4334298"/>
              <a:ext cx="11608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39.3%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6E153FB-3BA1-12E4-3F03-D1B0175EE6E8}"/>
                </a:ext>
              </a:extLst>
            </p:cNvPr>
            <p:cNvSpPr txBox="1"/>
            <p:nvPr/>
          </p:nvSpPr>
          <p:spPr>
            <a:xfrm>
              <a:off x="7634002" y="4362675"/>
              <a:ext cx="11608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2">
                      <a:lumMod val="50000"/>
                    </a:schemeClr>
                  </a:solidFill>
                </a:rPr>
                <a:t>37.8%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892A843-46C0-B515-08D2-24023AEBE260}"/>
                </a:ext>
              </a:extLst>
            </p:cNvPr>
            <p:cNvSpPr txBox="1"/>
            <p:nvPr/>
          </p:nvSpPr>
          <p:spPr>
            <a:xfrm>
              <a:off x="10762693" y="4334298"/>
              <a:ext cx="8659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1"/>
                  </a:solidFill>
                </a:rPr>
                <a:t>+4%</a:t>
              </a:r>
            </a:p>
          </p:txBody>
        </p:sp>
        <p:sp>
          <p:nvSpPr>
            <p:cNvPr id="68" name="5-Point Star 67">
              <a:extLst>
                <a:ext uri="{FF2B5EF4-FFF2-40B4-BE49-F238E27FC236}">
                  <a16:creationId xmlns:a16="http://schemas.microsoft.com/office/drawing/2014/main" id="{DD82BA9F-BD26-7177-3538-A0E80799FE03}"/>
                </a:ext>
              </a:extLst>
            </p:cNvPr>
            <p:cNvSpPr/>
            <p:nvPr/>
          </p:nvSpPr>
          <p:spPr>
            <a:xfrm>
              <a:off x="6867185" y="4417104"/>
              <a:ext cx="228600" cy="267351"/>
            </a:xfrm>
            <a:prstGeom prst="star5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8" name="Picture 37">
            <a:extLst>
              <a:ext uri="{FF2B5EF4-FFF2-40B4-BE49-F238E27FC236}">
                <a16:creationId xmlns:a16="http://schemas.microsoft.com/office/drawing/2014/main" id="{05D721B2-0660-BB75-8771-8E84DEE15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294" y="49701"/>
            <a:ext cx="5234589" cy="125070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7347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6302C-7AE9-7327-5B58-24D0929E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810" y="191906"/>
            <a:ext cx="5769756" cy="1675709"/>
          </a:xfrm>
        </p:spPr>
        <p:txBody>
          <a:bodyPr>
            <a:normAutofit/>
          </a:bodyPr>
          <a:lstStyle/>
          <a:p>
            <a:r>
              <a:rPr lang="en-US" sz="3200" dirty="0"/>
              <a:t>Even more outcomes for the Perry Preschool Experiment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EE6F9B-688B-64A7-57E5-6EC042815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529" y="-405383"/>
            <a:ext cx="6123831" cy="738104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827958-44E9-DC14-3BFB-0EA7EEADD437}"/>
              </a:ext>
            </a:extLst>
          </p:cNvPr>
          <p:cNvSpPr txBox="1"/>
          <p:nvPr/>
        </p:nvSpPr>
        <p:spPr>
          <a:xfrm>
            <a:off x="609600" y="2315641"/>
            <a:ext cx="56719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Follow-up work has also tried to quantify how much money such a program would save.</a:t>
            </a:r>
          </a:p>
          <a:p>
            <a:pPr algn="ctr"/>
            <a:r>
              <a:rPr lang="en-US" sz="2400" i="1" dirty="0"/>
              <a:t>“</a:t>
            </a:r>
            <a:r>
              <a:rPr lang="en-US" sz="2400" i="1" dirty="0">
                <a:solidFill>
                  <a:srgbClr val="212121"/>
                </a:solidFill>
                <a:highlight>
                  <a:srgbClr val="FFFFFF"/>
                </a:highlight>
                <a:latin typeface="Cambria" panose="02040503050406030204" pitchFamily="18" charset="0"/>
              </a:rPr>
              <a:t>E</a:t>
            </a:r>
            <a:r>
              <a:rPr lang="en-US" sz="2400" b="0" i="1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Cambria" panose="02040503050406030204" pitchFamily="18" charset="0"/>
              </a:rPr>
              <a:t>ach dollar invested returns in present value terms 7 to 12 dollars back to society”</a:t>
            </a:r>
            <a:endParaRPr lang="en-US" sz="2400" i="1" dirty="0"/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BCBE814E-8083-332C-4DD5-02AB491619F7}"/>
              </a:ext>
            </a:extLst>
          </p:cNvPr>
          <p:cNvSpPr/>
          <p:nvPr/>
        </p:nvSpPr>
        <p:spPr>
          <a:xfrm flipV="1">
            <a:off x="4642358" y="1429917"/>
            <a:ext cx="1943973" cy="437698"/>
          </a:xfrm>
          <a:prstGeom prst="bentArrow">
            <a:avLst/>
          </a:prstGeom>
          <a:solidFill>
            <a:srgbClr val="88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88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53E6EE-B6FB-24B5-EA70-5768D3F12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26" y="4460089"/>
            <a:ext cx="5277676" cy="96799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26643084"/>
      </p:ext>
    </p:extLst>
  </p:cSld>
  <p:clrMapOvr>
    <a:masterClrMapping/>
  </p:clrMapOvr>
  <p:transition spd="slow">
    <p:push dir="r"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64D71-FC70-1CD5-C4C4-6EF216D21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Spillovers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CC905B-6C37-BFD6-6FB9-202EE87BA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53968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D1335-53DA-DB5F-8B22-480F887F3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Spillovers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11018-4CC3-CC3A-6676-B9109CF3F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13714"/>
          </a:xfrm>
        </p:spPr>
        <p:txBody>
          <a:bodyPr>
            <a:normAutofit/>
          </a:bodyPr>
          <a:lstStyle/>
          <a:p>
            <a:r>
              <a:rPr lang="en-US" dirty="0"/>
              <a:t>When treating one individual “spills over” into affecting a non-treated individual, this can mess up how you interpret results.</a:t>
            </a:r>
          </a:p>
          <a:p>
            <a:r>
              <a:rPr lang="en-US" dirty="0"/>
              <a:t>Also called </a:t>
            </a:r>
            <a:r>
              <a:rPr lang="en-US" b="1" dirty="0"/>
              <a:t>interference effects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61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5F5EB-D9BB-0624-6BC0-7AE1F6F5B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090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Stylized example</a:t>
            </a:r>
            <a:br>
              <a:rPr lang="en-US" dirty="0"/>
            </a:br>
            <a:r>
              <a:rPr lang="en-US" sz="3100" dirty="0"/>
              <a:t>Job placement program: helps workers find a job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A5F11-2AE1-1CED-C691-8C2C6F4E2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995" y="3542814"/>
            <a:ext cx="10515600" cy="331518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Put no one in the job placement program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3/5 of people get a job.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accent1"/>
                </a:solidFill>
              </a:rPr>
              <a:t> 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8DDCF81-3750-8B51-B225-3A5744E994F8}"/>
              </a:ext>
            </a:extLst>
          </p:cNvPr>
          <p:cNvGrpSpPr/>
          <p:nvPr/>
        </p:nvGrpSpPr>
        <p:grpSpPr>
          <a:xfrm>
            <a:off x="8968320" y="301052"/>
            <a:ext cx="2808718" cy="3084832"/>
            <a:chOff x="8968320" y="301052"/>
            <a:chExt cx="2808718" cy="3084832"/>
          </a:xfrm>
        </p:grpSpPr>
        <p:pic>
          <p:nvPicPr>
            <p:cNvPr id="4098" name="Picture 2" descr="Red Factory Building PNG Transparent Images Free Download | Vector Files |  Pngtree">
              <a:extLst>
                <a:ext uri="{FF2B5EF4-FFF2-40B4-BE49-F238E27FC236}">
                  <a16:creationId xmlns:a16="http://schemas.microsoft.com/office/drawing/2014/main" id="{DF422A52-4049-4586-3BE8-E14B371820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45264" y="954110"/>
              <a:ext cx="2431774" cy="24317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Rounded Rectangular Callout 3">
              <a:extLst>
                <a:ext uri="{FF2B5EF4-FFF2-40B4-BE49-F238E27FC236}">
                  <a16:creationId xmlns:a16="http://schemas.microsoft.com/office/drawing/2014/main" id="{27CFE37F-BF4B-6608-30CD-C5C5069FED84}"/>
                </a:ext>
              </a:extLst>
            </p:cNvPr>
            <p:cNvSpPr/>
            <p:nvPr/>
          </p:nvSpPr>
          <p:spPr>
            <a:xfrm>
              <a:off x="8968320" y="301052"/>
              <a:ext cx="2726635" cy="647907"/>
            </a:xfrm>
            <a:prstGeom prst="wedgeRoundRectCallout">
              <a:avLst>
                <a:gd name="adj1" fmla="val -14632"/>
                <a:gd name="adj2" fmla="val 19178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We need 3 workers.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BC4EAAAD-B310-2428-A8A0-B2225CDEAD5C}"/>
              </a:ext>
            </a:extLst>
          </p:cNvPr>
          <p:cNvGrpSpPr/>
          <p:nvPr/>
        </p:nvGrpSpPr>
        <p:grpSpPr>
          <a:xfrm>
            <a:off x="1166103" y="1777677"/>
            <a:ext cx="5683821" cy="1406715"/>
            <a:chOff x="2613392" y="2584795"/>
            <a:chExt cx="5683821" cy="140671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1601FD7-20A7-D179-EAE1-383D62CF8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13392" y="2584795"/>
              <a:ext cx="934106" cy="140671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EF41112-4F43-52FD-7D0C-D36A87ABF2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80180" y="2957715"/>
              <a:ext cx="1063163" cy="94257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309FD48-A2FB-1F17-40F3-11B345899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42455" y="2709906"/>
              <a:ext cx="829419" cy="1156492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E5FD038-7AFD-E321-DDC7-FA8B78697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72084" y="2852003"/>
              <a:ext cx="725129" cy="917015"/>
            </a:xfrm>
            <a:prstGeom prst="rect">
              <a:avLst/>
            </a:prstGeom>
          </p:spPr>
        </p:pic>
        <p:pic>
          <p:nvPicPr>
            <p:cNvPr id="10" name="Picture 7" descr="Adoptable Rabbits | morabbit">
              <a:extLst>
                <a:ext uri="{FF2B5EF4-FFF2-40B4-BE49-F238E27FC236}">
                  <a16:creationId xmlns:a16="http://schemas.microsoft.com/office/drawing/2014/main" id="{001E68EC-7011-5A15-45B8-364D7E314D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266581" y="2629512"/>
              <a:ext cx="829419" cy="13619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94C8E31D-816C-B941-6CE5-2754EA2E7C56}"/>
              </a:ext>
            </a:extLst>
          </p:cNvPr>
          <p:cNvSpPr txBox="1"/>
          <p:nvPr/>
        </p:nvSpPr>
        <p:spPr>
          <a:xfrm>
            <a:off x="918508" y="1446686"/>
            <a:ext cx="2855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5 people need a job: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D033F6A-BF7C-A734-89E4-11C2C6207B1D}"/>
              </a:ext>
            </a:extLst>
          </p:cNvPr>
          <p:cNvGrpSpPr/>
          <p:nvPr/>
        </p:nvGrpSpPr>
        <p:grpSpPr>
          <a:xfrm>
            <a:off x="9085419" y="2280901"/>
            <a:ext cx="2507383" cy="1361998"/>
            <a:chOff x="9085419" y="2280901"/>
            <a:chExt cx="2507383" cy="1361998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02960935-DF36-1A3E-5B9C-0DEECA707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85419" y="2471004"/>
              <a:ext cx="1063163" cy="942570"/>
            </a:xfrm>
            <a:prstGeom prst="rect">
              <a:avLst/>
            </a:prstGeom>
            <a:effectLst>
              <a:glow rad="72517">
                <a:schemeClr val="bg1"/>
              </a:glo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3503C3E-564A-D828-5C2D-C956A7942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867673" y="2403911"/>
              <a:ext cx="725129" cy="917015"/>
            </a:xfrm>
            <a:prstGeom prst="rect">
              <a:avLst/>
            </a:prstGeom>
            <a:effectLst>
              <a:glow rad="72517">
                <a:schemeClr val="bg1"/>
              </a:glow>
            </a:effectLst>
          </p:spPr>
        </p:pic>
        <p:pic>
          <p:nvPicPr>
            <p:cNvPr id="21" name="Picture 7" descr="Adoptable Rabbits | morabbit">
              <a:extLst>
                <a:ext uri="{FF2B5EF4-FFF2-40B4-BE49-F238E27FC236}">
                  <a16:creationId xmlns:a16="http://schemas.microsoft.com/office/drawing/2014/main" id="{E19FB534-DD4B-577B-A142-73A16F548A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0110758" y="2280901"/>
              <a:ext cx="829419" cy="1361998"/>
            </a:xfrm>
            <a:prstGeom prst="rect">
              <a:avLst/>
            </a:prstGeom>
            <a:noFill/>
            <a:effectLst>
              <a:glow rad="72517">
                <a:schemeClr val="bg1"/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19418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5F5EB-D9BB-0624-6BC0-7AE1F6F5B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090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Stylized example</a:t>
            </a:r>
            <a:br>
              <a:rPr lang="en-US" dirty="0"/>
            </a:br>
            <a:r>
              <a:rPr lang="en-US" sz="3100" dirty="0"/>
              <a:t>Job placement program: helps workers find a job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A5F11-2AE1-1CED-C691-8C2C6F4E2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995" y="3542814"/>
            <a:ext cx="10515600" cy="344108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Put no one in the job placement program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3/5 of people get a job.</a:t>
            </a:r>
          </a:p>
          <a:p>
            <a:r>
              <a:rPr lang="en-US" dirty="0"/>
              <a:t>Randomly assign 2 people to the program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Everyone in the treatment group finds a job! 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Only 1/3 of the control group finds a job.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 program looks like it helps a lot! </a:t>
            </a:r>
            <a:r>
              <a:rPr lang="en-US" dirty="0">
                <a:solidFill>
                  <a:schemeClr val="accent1"/>
                </a:solidFill>
                <a:sym typeface="Wingdings" pitchFamily="2" charset="2"/>
              </a:rPr>
              <a:t> </a:t>
            </a:r>
          </a:p>
          <a:p>
            <a:pPr lvl="1"/>
            <a:endParaRPr lang="en-US" dirty="0">
              <a:solidFill>
                <a:schemeClr val="accent1"/>
              </a:solidFill>
              <a:sym typeface="Wingdings" pitchFamily="2" charset="2"/>
            </a:endParaRPr>
          </a:p>
          <a:p>
            <a:pPr lvl="1"/>
            <a:endParaRPr lang="en-US" dirty="0">
              <a:solidFill>
                <a:schemeClr val="accent1"/>
              </a:solidFill>
              <a:sym typeface="Wingdings" pitchFamily="2" charset="2"/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accent1"/>
                </a:solidFill>
                <a:sym typeface="Wingdings" pitchFamily="2" charset="2"/>
              </a:rPr>
              <a:t> 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4098" name="Picture 2" descr="Red Factory Building PNG Transparent Images Free Download | Vector Files |  Pngtree">
            <a:extLst>
              <a:ext uri="{FF2B5EF4-FFF2-40B4-BE49-F238E27FC236}">
                <a16:creationId xmlns:a16="http://schemas.microsoft.com/office/drawing/2014/main" id="{DF422A52-4049-4586-3BE8-E14B37182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5264" y="954110"/>
            <a:ext cx="2431774" cy="243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ular Callout 3">
            <a:extLst>
              <a:ext uri="{FF2B5EF4-FFF2-40B4-BE49-F238E27FC236}">
                <a16:creationId xmlns:a16="http://schemas.microsoft.com/office/drawing/2014/main" id="{27CFE37F-BF4B-6608-30CD-C5C5069FED84}"/>
              </a:ext>
            </a:extLst>
          </p:cNvPr>
          <p:cNvSpPr/>
          <p:nvPr/>
        </p:nvSpPr>
        <p:spPr>
          <a:xfrm>
            <a:off x="8968320" y="301052"/>
            <a:ext cx="2726635" cy="647907"/>
          </a:xfrm>
          <a:prstGeom prst="wedgeRoundRectCallout">
            <a:avLst>
              <a:gd name="adj1" fmla="val -14632"/>
              <a:gd name="adj2" fmla="val 19178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We need 3 workers.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4EAAAD-B310-2428-A8A0-B2225CDEAD5C}"/>
              </a:ext>
            </a:extLst>
          </p:cNvPr>
          <p:cNvGrpSpPr/>
          <p:nvPr/>
        </p:nvGrpSpPr>
        <p:grpSpPr>
          <a:xfrm>
            <a:off x="1166103" y="1777677"/>
            <a:ext cx="5683821" cy="1406715"/>
            <a:chOff x="2613392" y="2584795"/>
            <a:chExt cx="5683821" cy="140671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1601FD7-20A7-D179-EAE1-383D62CF8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13392" y="2584795"/>
              <a:ext cx="934106" cy="140671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EF41112-4F43-52FD-7D0C-D36A87ABF2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80180" y="2957715"/>
              <a:ext cx="1063163" cy="94257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309FD48-A2FB-1F17-40F3-11B345899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42455" y="2709906"/>
              <a:ext cx="829419" cy="1156492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E5FD038-7AFD-E321-DDC7-FA8B78697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72084" y="2852003"/>
              <a:ext cx="725129" cy="917015"/>
            </a:xfrm>
            <a:prstGeom prst="rect">
              <a:avLst/>
            </a:prstGeom>
          </p:spPr>
        </p:pic>
        <p:pic>
          <p:nvPicPr>
            <p:cNvPr id="10" name="Picture 7" descr="Adoptable Rabbits | morabbit">
              <a:extLst>
                <a:ext uri="{FF2B5EF4-FFF2-40B4-BE49-F238E27FC236}">
                  <a16:creationId xmlns:a16="http://schemas.microsoft.com/office/drawing/2014/main" id="{001E68EC-7011-5A15-45B8-364D7E314D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266581" y="2629512"/>
              <a:ext cx="829419" cy="13619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94C8E31D-816C-B941-6CE5-2754EA2E7C56}"/>
              </a:ext>
            </a:extLst>
          </p:cNvPr>
          <p:cNvSpPr txBox="1"/>
          <p:nvPr/>
        </p:nvSpPr>
        <p:spPr>
          <a:xfrm>
            <a:off x="918508" y="1446686"/>
            <a:ext cx="2855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5 people need a job: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277468-AF5E-8A9C-96FA-ADC093202AAE}"/>
              </a:ext>
            </a:extLst>
          </p:cNvPr>
          <p:cNvGrpSpPr/>
          <p:nvPr/>
        </p:nvGrpSpPr>
        <p:grpSpPr>
          <a:xfrm>
            <a:off x="918508" y="1812686"/>
            <a:ext cx="3903430" cy="1290189"/>
            <a:chOff x="918508" y="1812686"/>
            <a:chExt cx="3903430" cy="129018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AEBDDE7-FD68-675A-8742-F43192E68B6E}"/>
                </a:ext>
              </a:extLst>
            </p:cNvPr>
            <p:cNvSpPr/>
            <p:nvPr/>
          </p:nvSpPr>
          <p:spPr>
            <a:xfrm>
              <a:off x="918508" y="1822394"/>
              <a:ext cx="1254175" cy="1280481"/>
            </a:xfrm>
            <a:prstGeom prst="ellipse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81E01A0-8907-AC5C-0B2D-404888488FED}"/>
                </a:ext>
              </a:extLst>
            </p:cNvPr>
            <p:cNvSpPr/>
            <p:nvPr/>
          </p:nvSpPr>
          <p:spPr>
            <a:xfrm>
              <a:off x="3567763" y="1812686"/>
              <a:ext cx="1254175" cy="1280481"/>
            </a:xfrm>
            <a:prstGeom prst="ellipse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F414C39A-9119-9DD4-193C-D071FE0F97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733" y="2326403"/>
            <a:ext cx="934106" cy="1406715"/>
          </a:xfrm>
          <a:prstGeom prst="rect">
            <a:avLst/>
          </a:prstGeom>
          <a:effectLst>
            <a:glow rad="83718">
              <a:schemeClr val="bg1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F42626C-49B4-5E6F-12F9-EB603A8B3B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1109" y="2725884"/>
            <a:ext cx="725129" cy="917015"/>
          </a:xfrm>
          <a:prstGeom prst="rect">
            <a:avLst/>
          </a:prstGeom>
          <a:effectLst>
            <a:glow rad="83718">
              <a:schemeClr val="bg1"/>
            </a:glow>
          </a:effectLst>
        </p:spPr>
      </p:pic>
      <p:pic>
        <p:nvPicPr>
          <p:cNvPr id="22" name="Picture 7" descr="Adoptable Rabbits | morabbit">
            <a:extLst>
              <a:ext uri="{FF2B5EF4-FFF2-40B4-BE49-F238E27FC236}">
                <a16:creationId xmlns:a16="http://schemas.microsoft.com/office/drawing/2014/main" id="{E2B86A59-A4CA-1A8E-F693-D10E37B6ED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810588" y="2384647"/>
            <a:ext cx="829419" cy="1361998"/>
          </a:xfrm>
          <a:prstGeom prst="rect">
            <a:avLst/>
          </a:prstGeom>
          <a:noFill/>
          <a:effectLst>
            <a:glow rad="83718">
              <a:schemeClr val="bg1"/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618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5F5EB-D9BB-0624-6BC0-7AE1F6F5B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090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Stylized example</a:t>
            </a:r>
            <a:br>
              <a:rPr lang="en-US" dirty="0"/>
            </a:br>
            <a:r>
              <a:rPr lang="en-US" sz="3100" dirty="0"/>
              <a:t>Job placement program: helps workers find a job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A5F11-2AE1-1CED-C691-8C2C6F4E2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995" y="3542814"/>
            <a:ext cx="10515600" cy="344108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Put no one in the job placement program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3/5 of people get a job.</a:t>
            </a:r>
          </a:p>
          <a:p>
            <a:r>
              <a:rPr lang="en-US" dirty="0"/>
              <a:t>Randomly assign 2 people to the program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Everyone in the treatment group finds a job! 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Only 1/3 of the control group finds a job.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The program looks like it helps a lot! </a:t>
            </a:r>
            <a:r>
              <a:rPr lang="en-US" dirty="0">
                <a:solidFill>
                  <a:schemeClr val="accent1"/>
                </a:solidFill>
                <a:sym typeface="Wingdings" pitchFamily="2" charset="2"/>
              </a:rPr>
              <a:t> 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Put everyone in the program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3/5 of people get a job….the program doesn’t help </a:t>
            </a:r>
            <a:r>
              <a:rPr lang="en-US" dirty="0">
                <a:solidFill>
                  <a:schemeClr val="accent1"/>
                </a:solidFill>
                <a:sym typeface="Wingdings" pitchFamily="2" charset="2"/>
              </a:rPr>
              <a:t> 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4098" name="Picture 2" descr="Red Factory Building PNG Transparent Images Free Download | Vector Files |  Pngtree">
            <a:extLst>
              <a:ext uri="{FF2B5EF4-FFF2-40B4-BE49-F238E27FC236}">
                <a16:creationId xmlns:a16="http://schemas.microsoft.com/office/drawing/2014/main" id="{DF422A52-4049-4586-3BE8-E14B37182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5264" y="954110"/>
            <a:ext cx="2431774" cy="243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ular Callout 3">
            <a:extLst>
              <a:ext uri="{FF2B5EF4-FFF2-40B4-BE49-F238E27FC236}">
                <a16:creationId xmlns:a16="http://schemas.microsoft.com/office/drawing/2014/main" id="{27CFE37F-BF4B-6608-30CD-C5C5069FED84}"/>
              </a:ext>
            </a:extLst>
          </p:cNvPr>
          <p:cNvSpPr/>
          <p:nvPr/>
        </p:nvSpPr>
        <p:spPr>
          <a:xfrm>
            <a:off x="8968320" y="301052"/>
            <a:ext cx="2726635" cy="647907"/>
          </a:xfrm>
          <a:prstGeom prst="wedgeRoundRectCallout">
            <a:avLst>
              <a:gd name="adj1" fmla="val -14632"/>
              <a:gd name="adj2" fmla="val 19178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We need 3 workers.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4EAAAD-B310-2428-A8A0-B2225CDEAD5C}"/>
              </a:ext>
            </a:extLst>
          </p:cNvPr>
          <p:cNvGrpSpPr/>
          <p:nvPr/>
        </p:nvGrpSpPr>
        <p:grpSpPr>
          <a:xfrm>
            <a:off x="1166103" y="1777677"/>
            <a:ext cx="5683821" cy="1406715"/>
            <a:chOff x="2613392" y="2584795"/>
            <a:chExt cx="5683821" cy="140671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1601FD7-20A7-D179-EAE1-383D62CF8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13392" y="2584795"/>
              <a:ext cx="934106" cy="140671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EF41112-4F43-52FD-7D0C-D36A87ABF2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80180" y="2957715"/>
              <a:ext cx="1063163" cy="94257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309FD48-A2FB-1F17-40F3-11B345899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42455" y="2709906"/>
              <a:ext cx="829419" cy="1156492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E5FD038-7AFD-E321-DDC7-FA8B78697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72084" y="2852003"/>
              <a:ext cx="725129" cy="917015"/>
            </a:xfrm>
            <a:prstGeom prst="rect">
              <a:avLst/>
            </a:prstGeom>
          </p:spPr>
        </p:pic>
        <p:pic>
          <p:nvPicPr>
            <p:cNvPr id="10" name="Picture 7" descr="Adoptable Rabbits | morabbit">
              <a:extLst>
                <a:ext uri="{FF2B5EF4-FFF2-40B4-BE49-F238E27FC236}">
                  <a16:creationId xmlns:a16="http://schemas.microsoft.com/office/drawing/2014/main" id="{001E68EC-7011-5A15-45B8-364D7E314D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266581" y="2629512"/>
              <a:ext cx="829419" cy="13619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94C8E31D-816C-B941-6CE5-2754EA2E7C56}"/>
              </a:ext>
            </a:extLst>
          </p:cNvPr>
          <p:cNvSpPr txBox="1"/>
          <p:nvPr/>
        </p:nvSpPr>
        <p:spPr>
          <a:xfrm>
            <a:off x="918508" y="1446686"/>
            <a:ext cx="2855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5 people need a job: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3957F1-A852-4AD6-08C1-5AC93F8FCEB9}"/>
              </a:ext>
            </a:extLst>
          </p:cNvPr>
          <p:cNvGrpSpPr/>
          <p:nvPr/>
        </p:nvGrpSpPr>
        <p:grpSpPr>
          <a:xfrm>
            <a:off x="8366155" y="4170425"/>
            <a:ext cx="3664099" cy="1966256"/>
            <a:chOff x="6816763" y="4179474"/>
            <a:chExt cx="3664099" cy="196625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677FA88-5BB8-9A37-D0DF-2473B9064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827804" y="4633208"/>
              <a:ext cx="653058" cy="151252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DD3FE16-39DA-11AE-A07D-1AD689129EF8}"/>
                </a:ext>
              </a:extLst>
            </p:cNvPr>
            <p:cNvSpPr txBox="1"/>
            <p:nvPr/>
          </p:nvSpPr>
          <p:spPr>
            <a:xfrm>
              <a:off x="6816763" y="4179474"/>
              <a:ext cx="2958850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000" dirty="0">
                  <a:solidFill>
                    <a:srgbClr val="0070C0"/>
                  </a:solidFill>
                </a:rPr>
                <a:t>This is an example of </a:t>
              </a:r>
              <a:r>
                <a:rPr lang="en-US" sz="2000" b="1" dirty="0">
                  <a:solidFill>
                    <a:srgbClr val="0070C0"/>
                  </a:solidFill>
                </a:rPr>
                <a:t>spillovers</a:t>
              </a:r>
              <a:r>
                <a:rPr lang="en-US" sz="2000" dirty="0">
                  <a:solidFill>
                    <a:srgbClr val="0070C0"/>
                  </a:solidFill>
                </a:rPr>
                <a:t>: Someone else being in the treatment group negatively affects people in the control group.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3D5CB0E-D84C-68D0-8301-53A1D4A221E9}"/>
              </a:ext>
            </a:extLst>
          </p:cNvPr>
          <p:cNvGrpSpPr/>
          <p:nvPr/>
        </p:nvGrpSpPr>
        <p:grpSpPr>
          <a:xfrm>
            <a:off x="918508" y="1822394"/>
            <a:ext cx="6349050" cy="1391804"/>
            <a:chOff x="918508" y="1822394"/>
            <a:chExt cx="6349050" cy="139180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067CDB6-A411-7739-7169-0CE7CA0B9B86}"/>
                </a:ext>
              </a:extLst>
            </p:cNvPr>
            <p:cNvSpPr/>
            <p:nvPr/>
          </p:nvSpPr>
          <p:spPr>
            <a:xfrm>
              <a:off x="918508" y="1822394"/>
              <a:ext cx="1254175" cy="1280481"/>
            </a:xfrm>
            <a:prstGeom prst="ellipse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93E290-1DC5-31C6-AF27-04A1417D54CB}"/>
                </a:ext>
              </a:extLst>
            </p:cNvPr>
            <p:cNvSpPr/>
            <p:nvPr/>
          </p:nvSpPr>
          <p:spPr>
            <a:xfrm>
              <a:off x="2309905" y="1933717"/>
              <a:ext cx="1254175" cy="1280481"/>
            </a:xfrm>
            <a:prstGeom prst="ellipse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7D9B67C-E4C9-FA67-EB79-5C5D300F5B9F}"/>
                </a:ext>
              </a:extLst>
            </p:cNvPr>
            <p:cNvSpPr/>
            <p:nvPr/>
          </p:nvSpPr>
          <p:spPr>
            <a:xfrm>
              <a:off x="3569084" y="1840793"/>
              <a:ext cx="1254175" cy="1280481"/>
            </a:xfrm>
            <a:prstGeom prst="ellipse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F40DC93-A44E-B675-B0EF-9029C8AA4F4F}"/>
                </a:ext>
              </a:extLst>
            </p:cNvPr>
            <p:cNvSpPr/>
            <p:nvPr/>
          </p:nvSpPr>
          <p:spPr>
            <a:xfrm>
              <a:off x="4792455" y="1859192"/>
              <a:ext cx="1254175" cy="1280481"/>
            </a:xfrm>
            <a:prstGeom prst="ellipse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D1C4A59-7373-D0D4-E9BF-67CE54414E5D}"/>
                </a:ext>
              </a:extLst>
            </p:cNvPr>
            <p:cNvSpPr/>
            <p:nvPr/>
          </p:nvSpPr>
          <p:spPr>
            <a:xfrm>
              <a:off x="6013383" y="1864602"/>
              <a:ext cx="1254175" cy="1280481"/>
            </a:xfrm>
            <a:prstGeom prst="ellipse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A888B84-B38B-084B-9665-D4242AD397DE}"/>
              </a:ext>
            </a:extLst>
          </p:cNvPr>
          <p:cNvGrpSpPr/>
          <p:nvPr/>
        </p:nvGrpSpPr>
        <p:grpSpPr>
          <a:xfrm>
            <a:off x="9085419" y="2280901"/>
            <a:ext cx="2507383" cy="1361998"/>
            <a:chOff x="9085419" y="2280901"/>
            <a:chExt cx="2507383" cy="136199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41F37D0-51EE-573B-E473-36E8842991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85419" y="2471004"/>
              <a:ext cx="1063163" cy="942570"/>
            </a:xfrm>
            <a:prstGeom prst="rect">
              <a:avLst/>
            </a:prstGeom>
            <a:effectLst>
              <a:glow rad="72517">
                <a:schemeClr val="bg1"/>
              </a:glow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B47C91A-740E-1674-350E-EA27C669B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867673" y="2403911"/>
              <a:ext cx="725129" cy="917015"/>
            </a:xfrm>
            <a:prstGeom prst="rect">
              <a:avLst/>
            </a:prstGeom>
            <a:effectLst>
              <a:glow rad="72517">
                <a:schemeClr val="bg1"/>
              </a:glow>
            </a:effectLst>
          </p:spPr>
        </p:pic>
        <p:pic>
          <p:nvPicPr>
            <p:cNvPr id="22" name="Picture 7" descr="Adoptable Rabbits | morabbit">
              <a:extLst>
                <a:ext uri="{FF2B5EF4-FFF2-40B4-BE49-F238E27FC236}">
                  <a16:creationId xmlns:a16="http://schemas.microsoft.com/office/drawing/2014/main" id="{E650F13B-EB4B-945A-FC0D-02B987EFD9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0110758" y="2280901"/>
              <a:ext cx="829419" cy="1361998"/>
            </a:xfrm>
            <a:prstGeom prst="rect">
              <a:avLst/>
            </a:prstGeom>
            <a:noFill/>
            <a:effectLst>
              <a:glow rad="72517">
                <a:schemeClr val="bg1"/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54395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6869C-7486-58BC-EEF4-341249B46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There’s evidence that this happens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039DB4-E2AF-5878-0DBB-6330FE11BE6A}"/>
              </a:ext>
            </a:extLst>
          </p:cNvPr>
          <p:cNvSpPr txBox="1"/>
          <p:nvPr/>
        </p:nvSpPr>
        <p:spPr>
          <a:xfrm>
            <a:off x="7460974" y="6200487"/>
            <a:ext cx="2283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Quarterly Journal of Economics, 2013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B64414-5E55-7B3E-53FA-26D03627C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783" y="1586216"/>
            <a:ext cx="6119191" cy="53599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84880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83711-E884-1A1A-C25B-BC6390BBC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Spillovers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3512E-DA93-C2F5-0E98-2AACFF2AB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Rate each of our four experiments on spillovers: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1) Very concerned about spillovers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2) Somewhat concerned about spillovers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3) Not concerned about spillovers</a:t>
            </a:r>
          </a:p>
          <a:p>
            <a:r>
              <a:rPr lang="en-US" dirty="0"/>
              <a:t>What is one potential concern with spillovers for each experiment?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0075E0-3573-5D8A-7738-A1FFF3EAB1F9}"/>
              </a:ext>
            </a:extLst>
          </p:cNvPr>
          <p:cNvSpPr txBox="1"/>
          <p:nvPr/>
        </p:nvSpPr>
        <p:spPr>
          <a:xfrm>
            <a:off x="1189892" y="4742240"/>
            <a:ext cx="1005050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GAIN </a:t>
            </a:r>
            <a:r>
              <a:rPr lang="en-US" sz="2000" dirty="0">
                <a:solidFill>
                  <a:schemeClr val="accent1"/>
                </a:solidFill>
              </a:rPr>
              <a:t>(job training program in CA)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Perry Preschool Program </a:t>
            </a:r>
            <a:r>
              <a:rPr lang="en-US" sz="2000" dirty="0">
                <a:solidFill>
                  <a:schemeClr val="accent1"/>
                </a:solidFill>
              </a:rPr>
              <a:t>(early childhood education program)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Racial Discrimination in the Sharing Economy </a:t>
            </a:r>
            <a:r>
              <a:rPr lang="en-US" sz="2000" dirty="0">
                <a:solidFill>
                  <a:schemeClr val="accent1"/>
                </a:solidFill>
              </a:rPr>
              <a:t>(do Airbnb hosts discriminate?)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Facebook Emotional Contagion </a:t>
            </a:r>
            <a:r>
              <a:rPr lang="en-US" sz="2000" dirty="0">
                <a:solidFill>
                  <a:schemeClr val="accent1"/>
                </a:solidFill>
              </a:rPr>
              <a:t>(does emotional contagion happen online?)</a:t>
            </a:r>
            <a:endParaRPr lang="en-US" sz="2400" dirty="0">
              <a:solidFill>
                <a:schemeClr val="accent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ADC2028-524B-121F-85AA-7AEE52C63956}"/>
              </a:ext>
            </a:extLst>
          </p:cNvPr>
          <p:cNvGrpSpPr/>
          <p:nvPr/>
        </p:nvGrpSpPr>
        <p:grpSpPr>
          <a:xfrm>
            <a:off x="8267203" y="230188"/>
            <a:ext cx="2922177" cy="1325563"/>
            <a:chOff x="8267203" y="230188"/>
            <a:chExt cx="2922177" cy="132556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CD36CAD-0AB8-306E-CDE3-AC3D6E821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67203" y="230188"/>
              <a:ext cx="1477879" cy="132556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A29A2F1-4B30-CF2C-3DD0-7680631E310A}"/>
                </a:ext>
              </a:extLst>
            </p:cNvPr>
            <p:cNvSpPr txBox="1"/>
            <p:nvPr/>
          </p:nvSpPr>
          <p:spPr>
            <a:xfrm>
              <a:off x="9586056" y="369749"/>
              <a:ext cx="16033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accent1"/>
                  </a:solidFill>
                </a:rPr>
                <a:t>Discuss!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7437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44DB2-9464-B679-07B7-9997FE9F10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387565-78C1-0ED4-D6A4-E3AA0E22C9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surveys/30cCRLDScNkv3AIB7ujLx?display_state=chart&amp;activity_state=opened&amp;state=opened&amp;flow=Engagement&amp;onscreen=persist">
            <a:extLst>
              <a:ext uri="{FF2B5EF4-FFF2-40B4-BE49-F238E27FC236}">
                <a16:creationId xmlns:a16="http://schemas.microsoft.com/office/drawing/2014/main" id="{FDF0EB2E-2C2D-C980-8341-30A77DAB44C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2645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7D5CE-1427-9901-7F2F-EBAA6241D8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96EB19-8290-AA30-C617-B1CBCD0334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MfT8nabLrDK0veiml6mBh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86D62BCE-20C4-118B-03AC-C9B06A1555E0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7459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4899C-13E9-806C-7A57-54DF50A1BB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590AA7-0F13-70B7-19BD-18640D4D73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81UShyCnxkhjuNOVFa0oA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96D7CE79-5352-736F-0279-EFE6244C707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8104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DC07-84F2-1401-4C62-8C1C7965E9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F17831-5479-7D67-8784-FF03BBCC3A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hp3eDLIhRFBlax6sw2Ozd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9F3158B4-BE45-004C-5436-AC069AD56D61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30330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5079B-C184-769B-8EEF-B2B7EBDCB8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9D82F9-4031-F3E1-1989-A07C9C5BFE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5ilsEEMIxncQcOkflDe40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8EAC2B8B-677B-BC4D-4E05-03C15E2D2D09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69798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53944-CF56-629D-7C03-DC26D34D8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669696" cy="1325563"/>
          </a:xfrm>
        </p:spPr>
        <p:txBody>
          <a:bodyPr/>
          <a:lstStyle/>
          <a:p>
            <a:r>
              <a:rPr lang="en-US" dirty="0"/>
              <a:t>One concrete concern with spillovers in each?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5B81C3-018C-6FD6-B7BE-164172F4CEBB}"/>
              </a:ext>
            </a:extLst>
          </p:cNvPr>
          <p:cNvSpPr txBox="1"/>
          <p:nvPr/>
        </p:nvSpPr>
        <p:spPr>
          <a:xfrm>
            <a:off x="1189892" y="4742240"/>
            <a:ext cx="1005050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GAIN </a:t>
            </a:r>
            <a:r>
              <a:rPr lang="en-US" sz="2000" dirty="0">
                <a:solidFill>
                  <a:schemeClr val="accent1"/>
                </a:solidFill>
              </a:rPr>
              <a:t>(job training program in CA)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Perry Preschool Program </a:t>
            </a:r>
            <a:r>
              <a:rPr lang="en-US" sz="2000" dirty="0">
                <a:solidFill>
                  <a:schemeClr val="accent1"/>
                </a:solidFill>
              </a:rPr>
              <a:t>(early childhood education program)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Racial Discrimination in the Sharing Economy </a:t>
            </a:r>
            <a:r>
              <a:rPr lang="en-US" sz="2000" dirty="0">
                <a:solidFill>
                  <a:schemeClr val="accent1"/>
                </a:solidFill>
              </a:rPr>
              <a:t>(do Airbnb hosts discriminate?)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Facebook Emotional Contagion </a:t>
            </a:r>
            <a:r>
              <a:rPr lang="en-US" sz="2000" dirty="0">
                <a:solidFill>
                  <a:schemeClr val="accent1"/>
                </a:solidFill>
              </a:rPr>
              <a:t>(does emotional contagion happen online?)</a:t>
            </a: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34978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B7985-3CB7-573E-7159-FD930BF1F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Ethical Concerns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E239D0-FE72-0680-1DDA-D686CDD428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87929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4169A-C6B0-5C15-2D3C-C23E3778E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Ethical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73B27-5CB0-3611-5D14-043A3DE0A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a randomized experiment might not be ethical…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19CAB88-036C-A3E6-51C6-B60E0C166D06}"/>
              </a:ext>
            </a:extLst>
          </p:cNvPr>
          <p:cNvGrpSpPr/>
          <p:nvPr/>
        </p:nvGrpSpPr>
        <p:grpSpPr>
          <a:xfrm>
            <a:off x="954158" y="3429000"/>
            <a:ext cx="5697180" cy="3046310"/>
            <a:chOff x="954158" y="3429000"/>
            <a:chExt cx="5697180" cy="304631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7B037C1-0D43-74C5-F73D-ABECC1C76918}"/>
                </a:ext>
              </a:extLst>
            </p:cNvPr>
            <p:cNvGrpSpPr/>
            <p:nvPr/>
          </p:nvGrpSpPr>
          <p:grpSpPr>
            <a:xfrm>
              <a:off x="954158" y="4133733"/>
              <a:ext cx="994718" cy="2341577"/>
              <a:chOff x="1637029" y="2533899"/>
              <a:chExt cx="854378" cy="1790201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D57C6A32-F396-0F6A-C150-9655CFDE70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flipH="1">
                <a:off x="1637029" y="2533899"/>
                <a:ext cx="854378" cy="1790201"/>
              </a:xfrm>
              <a:prstGeom prst="rect">
                <a:avLst/>
              </a:prstGeom>
            </p:spPr>
          </p:pic>
          <p:pic>
            <p:nvPicPr>
              <p:cNvPr id="8196" name="Picture 4" descr="Download Graduation Mortarboard Clipart Png Lat | Wallpapers.com">
                <a:extLst>
                  <a:ext uri="{FF2B5EF4-FFF2-40B4-BE49-F238E27FC236}">
                    <a16:creationId xmlns:a16="http://schemas.microsoft.com/office/drawing/2014/main" id="{91902B5B-5B8A-3371-3A79-EDCD30525A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37029" y="2773017"/>
                <a:ext cx="655983" cy="65598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5" name="Rounded Rectangular Callout 4">
              <a:extLst>
                <a:ext uri="{FF2B5EF4-FFF2-40B4-BE49-F238E27FC236}">
                  <a16:creationId xmlns:a16="http://schemas.microsoft.com/office/drawing/2014/main" id="{5872E0AC-6F5A-1AB6-5F7E-27D0A767F4CC}"/>
                </a:ext>
              </a:extLst>
            </p:cNvPr>
            <p:cNvSpPr/>
            <p:nvPr/>
          </p:nvSpPr>
          <p:spPr>
            <a:xfrm>
              <a:off x="2685622" y="3429000"/>
              <a:ext cx="3965716" cy="1875523"/>
            </a:xfrm>
            <a:prstGeom prst="wedgeRoundRectCallout">
              <a:avLst>
                <a:gd name="adj1" fmla="val -67773"/>
                <a:gd name="adj2" fmla="val 38019"/>
                <a:gd name="adj3" fmla="val 16667"/>
              </a:avLst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I’m going to do an RCT to see if parachutes work!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65C8499-5179-5135-E2DE-AC18A04D1862}"/>
              </a:ext>
            </a:extLst>
          </p:cNvPr>
          <p:cNvGrpSpPr/>
          <p:nvPr/>
        </p:nvGrpSpPr>
        <p:grpSpPr>
          <a:xfrm>
            <a:off x="7388084" y="795441"/>
            <a:ext cx="4833393" cy="3338292"/>
            <a:chOff x="7388084" y="795441"/>
            <a:chExt cx="4833393" cy="3338292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25B457DC-AA87-6113-62BD-21167B96DC8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13370"/>
            <a:stretch/>
          </p:blipFill>
          <p:spPr>
            <a:xfrm>
              <a:off x="9886123" y="795441"/>
              <a:ext cx="2335354" cy="3283551"/>
            </a:xfrm>
            <a:prstGeom prst="rect">
              <a:avLst/>
            </a:prstGeom>
          </p:spPr>
        </p:pic>
        <p:sp>
          <p:nvSpPr>
            <p:cNvPr id="21" name="Rounded Rectangular Callout 20">
              <a:extLst>
                <a:ext uri="{FF2B5EF4-FFF2-40B4-BE49-F238E27FC236}">
                  <a16:creationId xmlns:a16="http://schemas.microsoft.com/office/drawing/2014/main" id="{5FA09120-4233-B195-90EF-3EEDF156A2F5}"/>
                </a:ext>
              </a:extLst>
            </p:cNvPr>
            <p:cNvSpPr/>
            <p:nvPr/>
          </p:nvSpPr>
          <p:spPr>
            <a:xfrm>
              <a:off x="7388084" y="2629130"/>
              <a:ext cx="2673631" cy="1504603"/>
            </a:xfrm>
            <a:prstGeom prst="wedgeRoundRectCallout">
              <a:avLst>
                <a:gd name="adj1" fmla="val 62887"/>
                <a:gd name="adj2" fmla="val -48814"/>
                <a:gd name="adj3" fmla="val 16667"/>
              </a:avLst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bg1"/>
                  </a:solidFill>
                </a:rPr>
                <a:t>I mean, I’m glad I’m in the treatment group, but is this really necessary?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9770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7AFDE-3A55-7DAA-C15C-DDF68A4A2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serious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2D0F2-FE39-85EB-317C-987185696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dirty="0"/>
              <a:t>Laptop experiment: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If we really believe that laptops hurt student learning, is it ethical to let half of students use laptops in class?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Is it ethical to purposely give half of students a different experience than another half?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Is it ethical to not give students a choice?  </a:t>
            </a:r>
          </a:p>
          <a:p>
            <a:endParaRPr lang="en-US" dirty="0"/>
          </a:p>
          <a:p>
            <a:r>
              <a:rPr lang="en-US" dirty="0"/>
              <a:t>Medical RCTs are very tightly regulated</a:t>
            </a:r>
          </a:p>
          <a:p>
            <a:r>
              <a:rPr lang="en-US" dirty="0"/>
              <a:t>But, say, RCTs that tech companies do are not</a:t>
            </a:r>
          </a:p>
        </p:txBody>
      </p:sp>
    </p:spTree>
    <p:extLst>
      <p:ext uri="{BB962C8B-B14F-4D97-AF65-F5344CB8AC3E}">
        <p14:creationId xmlns:p14="http://schemas.microsoft.com/office/powerpoint/2010/main" val="253376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83711-E884-1A1A-C25B-BC6390BBC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Ethical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3512E-DA93-C2F5-0E98-2AACFF2AB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Rate each of our four experiments on ethics: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1) Major ethical concerns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2) Some ethical concerns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3) No ethical concerns</a:t>
            </a:r>
          </a:p>
          <a:p>
            <a:r>
              <a:rPr lang="en-US" dirty="0"/>
              <a:t>What is one potential ethical concern for each experiment?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0075E0-3573-5D8A-7738-A1FFF3EAB1F9}"/>
              </a:ext>
            </a:extLst>
          </p:cNvPr>
          <p:cNvSpPr txBox="1"/>
          <p:nvPr/>
        </p:nvSpPr>
        <p:spPr>
          <a:xfrm>
            <a:off x="1189892" y="4742240"/>
            <a:ext cx="1005050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GAIN </a:t>
            </a:r>
            <a:r>
              <a:rPr lang="en-US" sz="2000" dirty="0">
                <a:solidFill>
                  <a:schemeClr val="accent1"/>
                </a:solidFill>
              </a:rPr>
              <a:t>(job training program in CA)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Perry Preschool Program </a:t>
            </a:r>
            <a:r>
              <a:rPr lang="en-US" sz="2000" dirty="0">
                <a:solidFill>
                  <a:schemeClr val="accent1"/>
                </a:solidFill>
              </a:rPr>
              <a:t>(early childhood education program)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Racial Discrimination in the Sharing Economy </a:t>
            </a:r>
            <a:r>
              <a:rPr lang="en-US" sz="2000" dirty="0">
                <a:solidFill>
                  <a:schemeClr val="accent1"/>
                </a:solidFill>
              </a:rPr>
              <a:t>(do Airbnb hosts discriminate?)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Facebook Emotional Contagion </a:t>
            </a:r>
            <a:r>
              <a:rPr lang="en-US" sz="2000" dirty="0">
                <a:solidFill>
                  <a:schemeClr val="accent1"/>
                </a:solidFill>
              </a:rPr>
              <a:t>(does emotional contagion happen online?)</a:t>
            </a:r>
            <a:endParaRPr lang="en-US" sz="2400" dirty="0">
              <a:solidFill>
                <a:schemeClr val="accent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ADC2028-524B-121F-85AA-7AEE52C63956}"/>
              </a:ext>
            </a:extLst>
          </p:cNvPr>
          <p:cNvGrpSpPr/>
          <p:nvPr/>
        </p:nvGrpSpPr>
        <p:grpSpPr>
          <a:xfrm>
            <a:off x="8267203" y="230188"/>
            <a:ext cx="2922177" cy="1325563"/>
            <a:chOff x="8267203" y="230188"/>
            <a:chExt cx="2922177" cy="132556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CD36CAD-0AB8-306E-CDE3-AC3D6E821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67203" y="230188"/>
              <a:ext cx="1477879" cy="132556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A29A2F1-4B30-CF2C-3DD0-7680631E310A}"/>
                </a:ext>
              </a:extLst>
            </p:cNvPr>
            <p:cNvSpPr txBox="1"/>
            <p:nvPr/>
          </p:nvSpPr>
          <p:spPr>
            <a:xfrm>
              <a:off x="9586056" y="369749"/>
              <a:ext cx="16033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accent1"/>
                  </a:solidFill>
                </a:rPr>
                <a:t>Discuss!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89874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EA310-3777-AFDD-0970-99C9F68105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A69CE4-1F42-9234-9BE9-A95D8B5D58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surveys/j15Y713PtRtp1ykWiwGiI?display_state=chart&amp;activity_state=opened&amp;state=opened&amp;flow=Engagement&amp;onscreen=persist">
            <a:extLst>
              <a:ext uri="{FF2B5EF4-FFF2-40B4-BE49-F238E27FC236}">
                <a16:creationId xmlns:a16="http://schemas.microsoft.com/office/drawing/2014/main" id="{E407625F-3B5E-2A02-D004-042728C02ECE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18113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FAAD7-C55B-FB82-51D7-CC0382BA5F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ACA9CA-0FBA-DBF2-3F0E-C4276A5C43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pMjJ9Pytyrn5vOrN3SfmY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197F1E93-60C1-405C-B68D-1BCF9380FDC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58139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B55A8-F59C-F1CD-81A9-1C8B43B280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0AB1D-6B02-90D5-E28F-BDEE31A49E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kB19ViGNfqN6LIdlwxzsP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C2872849-7E20-9F68-14E6-BF674764C79E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51456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96F22-06F9-9051-700C-D81BEBB113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C75D8-237B-F1C3-978A-0A288B1D39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8T4lBLas6zzhP8OQmnCB3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EE1ED01E-DCCC-8DDE-87C0-FF2999E7552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09691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EE9F5-42AD-D668-7B45-739802E0FE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6831E0-528B-03E0-17B2-B9A8E8A94C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XfHEDRzXpW4KRUd62AqFS?display_state=chart&amp;activity_state=opened&amp;state=opened&amp;flow=Engagement&amp;onscreen=persist&amp;hide=instructions">
            <a:extLst>
              <a:ext uri="{FF2B5EF4-FFF2-40B4-BE49-F238E27FC236}">
                <a16:creationId xmlns:a16="http://schemas.microsoft.com/office/drawing/2014/main" id="{9C929B8E-F777-F38F-DD46-E01B192DEDB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93922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53944-CF56-629D-7C03-DC26D34D8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concrete ethical concern in each?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5B81C3-018C-6FD6-B7BE-164172F4CEBB}"/>
              </a:ext>
            </a:extLst>
          </p:cNvPr>
          <p:cNvSpPr txBox="1"/>
          <p:nvPr/>
        </p:nvSpPr>
        <p:spPr>
          <a:xfrm>
            <a:off x="1189892" y="4742240"/>
            <a:ext cx="10050508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GAIN </a:t>
            </a:r>
            <a:r>
              <a:rPr lang="en-US" sz="2000" dirty="0">
                <a:solidFill>
                  <a:schemeClr val="accent1"/>
                </a:solidFill>
              </a:rPr>
              <a:t>(job training program in CA)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Perry Preschool Program </a:t>
            </a:r>
            <a:r>
              <a:rPr lang="en-US" sz="2000" dirty="0">
                <a:solidFill>
                  <a:schemeClr val="accent1"/>
                </a:solidFill>
              </a:rPr>
              <a:t>(early childhood education program)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Racial Discrimination in the Sharing Economy </a:t>
            </a:r>
            <a:r>
              <a:rPr lang="en-US" sz="2000" dirty="0">
                <a:solidFill>
                  <a:schemeClr val="accent1"/>
                </a:solidFill>
              </a:rPr>
              <a:t>(do Airbnb hosts discriminate?)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1"/>
                </a:solidFill>
              </a:rPr>
              <a:t>Facebook Emotional Contagion </a:t>
            </a:r>
            <a:r>
              <a:rPr lang="en-US" sz="2000" dirty="0">
                <a:solidFill>
                  <a:schemeClr val="accent1"/>
                </a:solidFill>
              </a:rPr>
              <a:t>(does emotional contagion happen online?)</a:t>
            </a: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5415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Research Ethics">
            <a:extLst>
              <a:ext uri="{FF2B5EF4-FFF2-40B4-BE49-F238E27FC236}">
                <a16:creationId xmlns:a16="http://schemas.microsoft.com/office/drawing/2014/main" id="{6CDBD4AF-E2B4-D3A1-95DF-9CCBEAC4AB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88601"/>
            <a:ext cx="4677189" cy="6280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D26A07-2DC6-4ABC-84CC-1ECDE9EEB832}"/>
              </a:ext>
            </a:extLst>
          </p:cNvPr>
          <p:cNvSpPr txBox="1"/>
          <p:nvPr/>
        </p:nvSpPr>
        <p:spPr>
          <a:xfrm>
            <a:off x="5515389" y="6176963"/>
            <a:ext cx="25576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https://</a:t>
            </a:r>
            <a:r>
              <a:rPr lang="en-US" dirty="0" err="1">
                <a:solidFill>
                  <a:schemeClr val="accent1"/>
                </a:solidFill>
              </a:rPr>
              <a:t>xkcd.com</a:t>
            </a:r>
            <a:r>
              <a:rPr lang="en-US" dirty="0">
                <a:solidFill>
                  <a:schemeClr val="accent1"/>
                </a:solidFill>
              </a:rPr>
              <a:t>/1390/</a:t>
            </a:r>
          </a:p>
        </p:txBody>
      </p:sp>
    </p:spTree>
    <p:extLst>
      <p:ext uri="{BB962C8B-B14F-4D97-AF65-F5344CB8AC3E}">
        <p14:creationId xmlns:p14="http://schemas.microsoft.com/office/powerpoint/2010/main" val="408372083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Research Ethics">
            <a:extLst>
              <a:ext uri="{FF2B5EF4-FFF2-40B4-BE49-F238E27FC236}">
                <a16:creationId xmlns:a16="http://schemas.microsoft.com/office/drawing/2014/main" id="{6CDBD4AF-E2B4-D3A1-95DF-9CCBEAC4AB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88601"/>
            <a:ext cx="4677189" cy="6280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D26A07-2DC6-4ABC-84CC-1ECDE9EEB832}"/>
              </a:ext>
            </a:extLst>
          </p:cNvPr>
          <p:cNvSpPr txBox="1"/>
          <p:nvPr/>
        </p:nvSpPr>
        <p:spPr>
          <a:xfrm>
            <a:off x="5515389" y="6176963"/>
            <a:ext cx="25576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https://</a:t>
            </a:r>
            <a:r>
              <a:rPr lang="en-US" dirty="0" err="1">
                <a:solidFill>
                  <a:schemeClr val="accent1"/>
                </a:solidFill>
              </a:rPr>
              <a:t>xkcd.com</a:t>
            </a:r>
            <a:r>
              <a:rPr lang="en-US" dirty="0">
                <a:solidFill>
                  <a:schemeClr val="accent1"/>
                </a:solidFill>
              </a:rPr>
              <a:t>/1390/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DE0989-12F8-0A09-4331-C2ECC4A3ECD9}"/>
              </a:ext>
            </a:extLst>
          </p:cNvPr>
          <p:cNvSpPr txBox="1"/>
          <p:nvPr/>
        </p:nvSpPr>
        <p:spPr>
          <a:xfrm>
            <a:off x="6583017" y="768626"/>
            <a:ext cx="477078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play devil’s advocate: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Shouldn’t tech companies try to understand the impact they have on users’ emotions?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Doesn’t that mean that it would be unethical </a:t>
            </a:r>
            <a:r>
              <a:rPr lang="en-US" sz="2400" b="1" dirty="0">
                <a:solidFill>
                  <a:schemeClr val="accent1"/>
                </a:solidFill>
              </a:rPr>
              <a:t>not</a:t>
            </a:r>
            <a:r>
              <a:rPr lang="en-US" sz="2400" dirty="0">
                <a:solidFill>
                  <a:schemeClr val="accent1"/>
                </a:solidFill>
              </a:rPr>
              <a:t> to run an RCT?</a:t>
            </a:r>
          </a:p>
        </p:txBody>
      </p:sp>
    </p:spTree>
    <p:extLst>
      <p:ext uri="{BB962C8B-B14F-4D97-AF65-F5344CB8AC3E}">
        <p14:creationId xmlns:p14="http://schemas.microsoft.com/office/powerpoint/2010/main" val="399549683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A8E0-08F4-9B31-E7AA-9FE8F8197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and Looking Ahead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5F5140-A518-119C-9E61-C7AC0E2AF1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79377A-2F94-0391-96CB-C1D480B3C213}"/>
              </a:ext>
            </a:extLst>
          </p:cNvPr>
          <p:cNvSpPr txBox="1"/>
          <p:nvPr/>
        </p:nvSpPr>
        <p:spPr>
          <a:xfrm>
            <a:off x="6407150" y="768350"/>
            <a:ext cx="4953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/>
              <a:t>Don’t forget to stick around until the exit ticket!</a:t>
            </a:r>
          </a:p>
        </p:txBody>
      </p:sp>
    </p:spTree>
    <p:extLst>
      <p:ext uri="{BB962C8B-B14F-4D97-AF65-F5344CB8AC3E}">
        <p14:creationId xmlns:p14="http://schemas.microsoft.com/office/powerpoint/2010/main" val="115124906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6920-21D8-6A5C-1A12-4702E9422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4C068-6B8C-8F20-F871-0F1A8C2EA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Four things to be concerned about with experiments: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External Validity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Construct Validity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Spillovers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Ethics</a:t>
            </a:r>
          </a:p>
          <a:p>
            <a:r>
              <a:rPr lang="en-US" dirty="0"/>
              <a:t>And we learned last time that we should be concerned about, say, doing good statistics!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Getting big enough sample sizes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Computing accurate standard errors, p-values, </a:t>
            </a:r>
            <a:r>
              <a:rPr lang="en-US" dirty="0" err="1">
                <a:solidFill>
                  <a:schemeClr val="accent1"/>
                </a:solidFill>
              </a:rPr>
              <a:t>etc</a:t>
            </a:r>
            <a:r>
              <a:rPr lang="en-US" dirty="0">
                <a:solidFill>
                  <a:schemeClr val="accent1"/>
                </a:solidFill>
              </a:rPr>
              <a:t>, and interpreting them thoughtfully</a:t>
            </a:r>
          </a:p>
        </p:txBody>
      </p:sp>
    </p:spTree>
    <p:extLst>
      <p:ext uri="{BB962C8B-B14F-4D97-AF65-F5344CB8AC3E}">
        <p14:creationId xmlns:p14="http://schemas.microsoft.com/office/powerpoint/2010/main" val="379624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73B3E-9C36-E02B-5659-B9041455A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 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046C8-0135-D7F2-E42A-0DDD7B64D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other things to be worried about with experiments!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Attrition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Non-Compliance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…</a:t>
            </a:r>
          </a:p>
          <a:p>
            <a:r>
              <a:rPr lang="en-US" dirty="0"/>
              <a:t>We’ll talk about these more later!</a:t>
            </a:r>
          </a:p>
        </p:txBody>
      </p:sp>
    </p:spTree>
    <p:extLst>
      <p:ext uri="{BB962C8B-B14F-4D97-AF65-F5344CB8AC3E}">
        <p14:creationId xmlns:p14="http://schemas.microsoft.com/office/powerpoint/2010/main" val="4248843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7707E-FB0D-C3A8-D5F4-188E6A962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5A233-183F-D5E2-B61A-0FA3708D6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Adaptive Experiments!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And multi-armed bandits!</a:t>
            </a:r>
          </a:p>
        </p:txBody>
      </p:sp>
    </p:spTree>
    <p:extLst>
      <p:ext uri="{BB962C8B-B14F-4D97-AF65-F5344CB8AC3E}">
        <p14:creationId xmlns:p14="http://schemas.microsoft.com/office/powerpoint/2010/main" val="8460776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22A96-0CF5-5576-F91A-36BDF59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Before 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CA5FF-6AD0-F2FA-9D5F-173724E45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response!</a:t>
            </a:r>
          </a:p>
          <a:p>
            <a:r>
              <a:rPr lang="en-US" dirty="0"/>
              <a:t>HW1.1 </a:t>
            </a:r>
            <a:r>
              <a:rPr lang="en-US"/>
              <a:t>due Monday!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311182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0EB9-8855-6AA6-B0C9-E83FD33E1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ticket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D56821-B36F-05BE-8C22-119BD426E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775" y="146050"/>
            <a:ext cx="2028825" cy="14406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5F0044E-68BA-46FB-DFE2-EB19710BB196}"/>
              </a:ext>
            </a:extLst>
          </p:cNvPr>
          <p:cNvSpPr txBox="1"/>
          <p:nvPr/>
        </p:nvSpPr>
        <p:spPr>
          <a:xfrm>
            <a:off x="1505712" y="1984243"/>
            <a:ext cx="98480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Don’t forget to fill out the exit ticket before you leave class!</a:t>
            </a:r>
          </a:p>
        </p:txBody>
      </p:sp>
      <p:sp>
        <p:nvSpPr>
          <p:cNvPr id="10" name="Arrow: Bent 9">
            <a:extLst>
              <a:ext uri="{FF2B5EF4-FFF2-40B4-BE49-F238E27FC236}">
                <a16:creationId xmlns:a16="http://schemas.microsoft.com/office/drawing/2014/main" id="{01F52CB0-CE46-989E-A338-6C694D0A271D}"/>
              </a:ext>
            </a:extLst>
          </p:cNvPr>
          <p:cNvSpPr/>
          <p:nvPr/>
        </p:nvSpPr>
        <p:spPr>
          <a:xfrm rot="10800000">
            <a:off x="8403336" y="2902064"/>
            <a:ext cx="2002536" cy="1551063"/>
          </a:xfrm>
          <a:prstGeom prst="bentArrow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87C73F-958F-2898-39D3-4A962F7AD2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2643377"/>
            <a:ext cx="361950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11427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38e24faf-f124-43a9-9a61-27dd1207a5a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fb6f8cfc-47f9-4240-a910-c1ca8597f06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dc02e15f-43bf-4327-81d8-9e8a4104f8d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d31fae0c-d215-4416-a04f-fd66a303e0f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27b4a243-d2bb-4c87-b59a-b09a75edfa3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c6f13cbe-e78e-4b15-b9a3-2a30900abf5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54459000-4257-4022-b3f7-64ae3b41a3fc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b3db6aa8-53a1-482c-a95c-0e1a00e6e687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da6f687f-0ab4-4559-8465-78b1d6fd047f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6b558f82-9931-4bd6-a5ff-b8cae6b90cc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56aff4fe-3433-4340-804e-1bacf458d99a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10896b5b-4f97-46f7-8d70-cfd9e9fffbe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4dba4407-032f-47ed-9a64-cb23ab9a265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cba7925a-6916-45ec-86c7-47260141a8b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e9e02c54-6bb5-495d-8b2b-de274fad665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3f50bb03-a0cc-4109-b50d-59d856249f8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d29725fb-fd68-4364-be08-4265f961dfc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391a328f-5d47-4250-ab96-d5e073bfca0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ad66e4e2-d07c-403c-b11e-025b36bd4ff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aca81d3c-d703-4c11-a424-fa572804b186"/>
</p:tagLst>
</file>

<file path=ppt/theme/theme1.xml><?xml version="1.0" encoding="utf-8"?>
<a:theme xmlns:a="http://schemas.openxmlformats.org/drawingml/2006/main" name="stanford_theme_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ford_theme_1" id="{A142E0A3-F9A9-4D8A-A335-47DDAA9BD0A9}" vid="{02C1A18B-3E97-49A8-9281-C5CEFF4893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stanford_theme_1</Template>
  <TotalTime>6469</TotalTime>
  <Words>4323</Words>
  <Application>Microsoft Macintosh PowerPoint</Application>
  <PresentationFormat>Widescreen</PresentationFormat>
  <Paragraphs>554</Paragraphs>
  <Slides>84</Slides>
  <Notes>83</Notes>
  <HiddenSlides>6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92" baseType="lpstr">
      <vt:lpstr>Aptos</vt:lpstr>
      <vt:lpstr>Arial</vt:lpstr>
      <vt:lpstr>Cambria</vt:lpstr>
      <vt:lpstr>Google Sans</vt:lpstr>
      <vt:lpstr>HCo Whitney</vt:lpstr>
      <vt:lpstr>Retina</vt:lpstr>
      <vt:lpstr>Wingdings</vt:lpstr>
      <vt:lpstr>stanford_theme_1</vt:lpstr>
      <vt:lpstr>Problems with Experiments</vt:lpstr>
      <vt:lpstr>Announcements</vt:lpstr>
      <vt:lpstr>Agenda</vt:lpstr>
      <vt:lpstr>Reading responses</vt:lpstr>
      <vt:lpstr>Four more experiments</vt:lpstr>
      <vt:lpstr>The plan</vt:lpstr>
      <vt:lpstr>Four Experiments</vt:lpstr>
      <vt:lpstr>Experiment 1  GAIN </vt:lpstr>
      <vt:lpstr>Job training programs</vt:lpstr>
      <vt:lpstr>Questions we might want to answer</vt:lpstr>
      <vt:lpstr>Greater Avenues to Independence (GAIN)</vt:lpstr>
      <vt:lpstr>Results</vt:lpstr>
      <vt:lpstr>Results* 1-3 years after enrolling in the program</vt:lpstr>
      <vt:lpstr>This was impactful</vt:lpstr>
      <vt:lpstr>Experiment 2:  Perry Preschool Program</vt:lpstr>
      <vt:lpstr>Perry Preschool Experiment</vt:lpstr>
      <vt:lpstr>Findings</vt:lpstr>
      <vt:lpstr>Findings</vt:lpstr>
      <vt:lpstr>This was impactful</vt:lpstr>
      <vt:lpstr>Experiment 3:  Racial Discrimination on Airbnb</vt:lpstr>
      <vt:lpstr>Do Airbnb hosts discriminate by race?</vt:lpstr>
      <vt:lpstr>Experiment</vt:lpstr>
      <vt:lpstr>Findings</vt:lpstr>
      <vt:lpstr>This was impactful?</vt:lpstr>
      <vt:lpstr>Experiment 4: Facebook Emotional Contagion Experiment</vt:lpstr>
      <vt:lpstr>Emotional Contagion</vt:lpstr>
      <vt:lpstr>The experiment</vt:lpstr>
      <vt:lpstr>Findings</vt:lpstr>
      <vt:lpstr>This was impactful?</vt:lpstr>
      <vt:lpstr>Let’s take a quick break  </vt:lpstr>
      <vt:lpstr>Issues with Experiments</vt:lpstr>
      <vt:lpstr>Four issues</vt:lpstr>
      <vt:lpstr>External Validity</vt:lpstr>
      <vt:lpstr>Internal vs. External Validity</vt:lpstr>
      <vt:lpstr>External Validity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One concrete concern  with external validity in each?</vt:lpstr>
      <vt:lpstr>Populations in the GAIN study</vt:lpstr>
      <vt:lpstr>Construct Validity</vt:lpstr>
      <vt:lpstr>Construct Validity</vt:lpstr>
      <vt:lpstr>Construct Validity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One concrete concern  with construct validity in each?</vt:lpstr>
      <vt:lpstr>Longer-Term Results* </vt:lpstr>
      <vt:lpstr>Even more outcomes for the Perry Preschool Experiment</vt:lpstr>
      <vt:lpstr>Spillovers</vt:lpstr>
      <vt:lpstr>Spillovers</vt:lpstr>
      <vt:lpstr>Stylized example Job placement program: helps workers find a job </vt:lpstr>
      <vt:lpstr>Stylized example Job placement program: helps workers find a job </vt:lpstr>
      <vt:lpstr>Stylized example Job placement program: helps workers find a job </vt:lpstr>
      <vt:lpstr>There’s evidence that this happens </vt:lpstr>
      <vt:lpstr>Spillovers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One concrete concern with spillovers in each?</vt:lpstr>
      <vt:lpstr>Ethical Concerns</vt:lpstr>
      <vt:lpstr>Ethical Concerns</vt:lpstr>
      <vt:lpstr>More serious examples</vt:lpstr>
      <vt:lpstr>Ethical Concerns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One concrete ethical concern in each?</vt:lpstr>
      <vt:lpstr>PowerPoint Presentation</vt:lpstr>
      <vt:lpstr>PowerPoint Presentation</vt:lpstr>
      <vt:lpstr>Recap and Looking Ahead</vt:lpstr>
      <vt:lpstr>Recap </vt:lpstr>
      <vt:lpstr>Side note</vt:lpstr>
      <vt:lpstr>Next time</vt:lpstr>
      <vt:lpstr>Before next time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Mary Katherine Wootters</dc:creator>
  <cp:lastModifiedBy>Mary Katherine Wootters</cp:lastModifiedBy>
  <cp:revision>25</cp:revision>
  <cp:lastPrinted>2024-10-04T23:35:20Z</cp:lastPrinted>
  <dcterms:created xsi:type="dcterms:W3CDTF">2024-09-27T23:13:26Z</dcterms:created>
  <dcterms:modified xsi:type="dcterms:W3CDTF">2025-11-24T21:57:18Z</dcterms:modified>
</cp:coreProperties>
</file>