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tags/tag1.xml" ContentType="application/vnd.openxmlformats-officedocument.presentationml.tags+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tags/tag2.xml" ContentType="application/vnd.openxmlformats-officedocument.presentationml.tags+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6"/>
  </p:notesMasterIdLst>
  <p:sldIdLst>
    <p:sldId id="256" r:id="rId2"/>
    <p:sldId id="257" r:id="rId3"/>
    <p:sldId id="258" r:id="rId4"/>
    <p:sldId id="259" r:id="rId5"/>
    <p:sldId id="261" r:id="rId6"/>
    <p:sldId id="263" r:id="rId7"/>
    <p:sldId id="264" r:id="rId8"/>
    <p:sldId id="265" r:id="rId9"/>
    <p:sldId id="279" r:id="rId10"/>
    <p:sldId id="280" r:id="rId11"/>
    <p:sldId id="281" r:id="rId12"/>
    <p:sldId id="282" r:id="rId13"/>
    <p:sldId id="287" r:id="rId14"/>
    <p:sldId id="402" r:id="rId15"/>
    <p:sldId id="293" r:id="rId16"/>
    <p:sldId id="286" r:id="rId17"/>
    <p:sldId id="294" r:id="rId18"/>
    <p:sldId id="283" r:id="rId19"/>
    <p:sldId id="284" r:id="rId20"/>
    <p:sldId id="285" r:id="rId21"/>
    <p:sldId id="288" r:id="rId22"/>
    <p:sldId id="289" r:id="rId23"/>
    <p:sldId id="290" r:id="rId24"/>
    <p:sldId id="291" r:id="rId25"/>
    <p:sldId id="292" r:id="rId26"/>
    <p:sldId id="339" r:id="rId27"/>
    <p:sldId id="295" r:id="rId28"/>
    <p:sldId id="296" r:id="rId29"/>
    <p:sldId id="298" r:id="rId30"/>
    <p:sldId id="300" r:id="rId31"/>
    <p:sldId id="302" r:id="rId32"/>
    <p:sldId id="303" r:id="rId33"/>
    <p:sldId id="304" r:id="rId34"/>
    <p:sldId id="297" r:id="rId35"/>
    <p:sldId id="305" r:id="rId36"/>
    <p:sldId id="306" r:id="rId37"/>
    <p:sldId id="403" r:id="rId38"/>
    <p:sldId id="404" r:id="rId39"/>
    <p:sldId id="318" r:id="rId40"/>
    <p:sldId id="319" r:id="rId41"/>
    <p:sldId id="320" r:id="rId42"/>
    <p:sldId id="321" r:id="rId43"/>
    <p:sldId id="324" r:id="rId44"/>
    <p:sldId id="322" r:id="rId45"/>
    <p:sldId id="323" r:id="rId46"/>
    <p:sldId id="325" r:id="rId47"/>
    <p:sldId id="405" r:id="rId48"/>
    <p:sldId id="406" r:id="rId49"/>
    <p:sldId id="326" r:id="rId50"/>
    <p:sldId id="327" r:id="rId51"/>
    <p:sldId id="340" r:id="rId52"/>
    <p:sldId id="328" r:id="rId53"/>
    <p:sldId id="329" r:id="rId54"/>
    <p:sldId id="330" r:id="rId55"/>
    <p:sldId id="331" r:id="rId56"/>
    <p:sldId id="332" r:id="rId57"/>
    <p:sldId id="333" r:id="rId58"/>
    <p:sldId id="334" r:id="rId59"/>
    <p:sldId id="335" r:id="rId60"/>
    <p:sldId id="336" r:id="rId61"/>
    <p:sldId id="337" r:id="rId62"/>
    <p:sldId id="338" r:id="rId63"/>
    <p:sldId id="341" r:id="rId64"/>
    <p:sldId id="401" r:id="rId6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82"/>
    <a:srgbClr val="8C151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7367"/>
    <p:restoredTop sz="82857"/>
  </p:normalViewPr>
  <p:slideViewPr>
    <p:cSldViewPr snapToGrid="0">
      <p:cViewPr varScale="1">
        <p:scale>
          <a:sx n="105" d="100"/>
          <a:sy n="105" d="100"/>
        </p:scale>
        <p:origin x="632"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11DD62B-CAD4-2941-A1CF-0E7F4E8058B8}" type="datetimeFigureOut">
              <a:rPr lang="en-US" smtClean="0"/>
              <a:t>11/24/25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B063336-137B-7F4C-A94E-089B36A0418E}" type="slidenum">
              <a:rPr lang="en-US" smtClean="0"/>
              <a:t>‹#›</a:t>
            </a:fld>
            <a:endParaRPr lang="en-US"/>
          </a:p>
        </p:txBody>
      </p:sp>
    </p:spTree>
    <p:extLst>
      <p:ext uri="{BB962C8B-B14F-4D97-AF65-F5344CB8AC3E}">
        <p14:creationId xmlns:p14="http://schemas.microsoft.com/office/powerpoint/2010/main" val="38694132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B063336-137B-7F4C-A94E-089B36A0418E}" type="slidenum">
              <a:rPr lang="en-US" smtClean="0"/>
              <a:t>1</a:t>
            </a:fld>
            <a:endParaRPr lang="en-US"/>
          </a:p>
        </p:txBody>
      </p:sp>
    </p:spTree>
    <p:extLst>
      <p:ext uri="{BB962C8B-B14F-4D97-AF65-F5344CB8AC3E}">
        <p14:creationId xmlns:p14="http://schemas.microsoft.com/office/powerpoint/2010/main" val="26659214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B063336-137B-7F4C-A94E-089B36A0418E}" type="slidenum">
              <a:rPr lang="en-US" smtClean="0"/>
              <a:t>2</a:t>
            </a:fld>
            <a:endParaRPr lang="en-US"/>
          </a:p>
        </p:txBody>
      </p:sp>
    </p:spTree>
    <p:extLst>
      <p:ext uri="{BB962C8B-B14F-4D97-AF65-F5344CB8AC3E}">
        <p14:creationId xmlns:p14="http://schemas.microsoft.com/office/powerpoint/2010/main" val="2825437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B063336-137B-7F4C-A94E-089B36A0418E}" type="slidenum">
              <a:rPr lang="en-US" smtClean="0"/>
              <a:t>3</a:t>
            </a:fld>
            <a:endParaRPr lang="en-US"/>
          </a:p>
        </p:txBody>
      </p:sp>
    </p:spTree>
    <p:extLst>
      <p:ext uri="{BB962C8B-B14F-4D97-AF65-F5344CB8AC3E}">
        <p14:creationId xmlns:p14="http://schemas.microsoft.com/office/powerpoint/2010/main" val="14542014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B063336-137B-7F4C-A94E-089B36A0418E}" type="slidenum">
              <a:rPr lang="en-US" smtClean="0"/>
              <a:t>4</a:t>
            </a:fld>
            <a:endParaRPr lang="en-US"/>
          </a:p>
        </p:txBody>
      </p:sp>
    </p:spTree>
    <p:extLst>
      <p:ext uri="{BB962C8B-B14F-4D97-AF65-F5344CB8AC3E}">
        <p14:creationId xmlns:p14="http://schemas.microsoft.com/office/powerpoint/2010/main" val="31067626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B063336-137B-7F4C-A94E-089B36A0418E}" type="slidenum">
              <a:rPr lang="en-US" smtClean="0"/>
              <a:t>5</a:t>
            </a:fld>
            <a:endParaRPr lang="en-US"/>
          </a:p>
        </p:txBody>
      </p:sp>
    </p:spTree>
    <p:extLst>
      <p:ext uri="{BB962C8B-B14F-4D97-AF65-F5344CB8AC3E}">
        <p14:creationId xmlns:p14="http://schemas.microsoft.com/office/powerpoint/2010/main" val="8466870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B063336-137B-7F4C-A94E-089B36A0418E}" type="slidenum">
              <a:rPr lang="en-US" smtClean="0"/>
              <a:t>6</a:t>
            </a:fld>
            <a:endParaRPr lang="en-US"/>
          </a:p>
        </p:txBody>
      </p:sp>
    </p:spTree>
    <p:extLst>
      <p:ext uri="{BB962C8B-B14F-4D97-AF65-F5344CB8AC3E}">
        <p14:creationId xmlns:p14="http://schemas.microsoft.com/office/powerpoint/2010/main" val="26793413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B063336-137B-7F4C-A94E-089B36A0418E}" type="slidenum">
              <a:rPr lang="en-US" smtClean="0"/>
              <a:t>7</a:t>
            </a:fld>
            <a:endParaRPr lang="en-US"/>
          </a:p>
        </p:txBody>
      </p:sp>
    </p:spTree>
    <p:extLst>
      <p:ext uri="{BB962C8B-B14F-4D97-AF65-F5344CB8AC3E}">
        <p14:creationId xmlns:p14="http://schemas.microsoft.com/office/powerpoint/2010/main" val="345557977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B063336-137B-7F4C-A94E-089B36A0418E}" type="slidenum">
              <a:rPr lang="en-US" smtClean="0"/>
              <a:t>8</a:t>
            </a:fld>
            <a:endParaRPr lang="en-US"/>
          </a:p>
        </p:txBody>
      </p:sp>
    </p:spTree>
    <p:extLst>
      <p:ext uri="{BB962C8B-B14F-4D97-AF65-F5344CB8AC3E}">
        <p14:creationId xmlns:p14="http://schemas.microsoft.com/office/powerpoint/2010/main" val="420890334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942A01-5202-5A4D-878A-8AC5AD35FF2B}" type="slidenum">
              <a:rPr lang="en-US" smtClean="0"/>
              <a:t>9</a:t>
            </a:fld>
            <a:endParaRPr lang="en-US"/>
          </a:p>
        </p:txBody>
      </p:sp>
    </p:spTree>
    <p:extLst>
      <p:ext uri="{BB962C8B-B14F-4D97-AF65-F5344CB8AC3E}">
        <p14:creationId xmlns:p14="http://schemas.microsoft.com/office/powerpoint/2010/main" val="6834050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B063336-137B-7F4C-A94E-089B36A0418E}" type="slidenum">
              <a:rPr lang="en-US" smtClean="0"/>
              <a:t>10</a:t>
            </a:fld>
            <a:endParaRPr lang="en-US"/>
          </a:p>
        </p:txBody>
      </p:sp>
    </p:spTree>
    <p:extLst>
      <p:ext uri="{BB962C8B-B14F-4D97-AF65-F5344CB8AC3E}">
        <p14:creationId xmlns:p14="http://schemas.microsoft.com/office/powerpoint/2010/main" val="367621410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B063336-137B-7F4C-A94E-089B36A0418E}" type="slidenum">
              <a:rPr lang="en-US" smtClean="0"/>
              <a:t>11</a:t>
            </a:fld>
            <a:endParaRPr lang="en-US"/>
          </a:p>
        </p:txBody>
      </p:sp>
    </p:spTree>
    <p:extLst>
      <p:ext uri="{BB962C8B-B14F-4D97-AF65-F5344CB8AC3E}">
        <p14:creationId xmlns:p14="http://schemas.microsoft.com/office/powerpoint/2010/main" val="15614987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B063336-137B-7F4C-A94E-089B36A0418E}" type="slidenum">
              <a:rPr lang="en-US" smtClean="0"/>
              <a:t>12</a:t>
            </a:fld>
            <a:endParaRPr lang="en-US"/>
          </a:p>
        </p:txBody>
      </p:sp>
    </p:spTree>
    <p:extLst>
      <p:ext uri="{BB962C8B-B14F-4D97-AF65-F5344CB8AC3E}">
        <p14:creationId xmlns:p14="http://schemas.microsoft.com/office/powerpoint/2010/main" val="168319651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0C5BF5-3821-EF90-600A-1C9F040832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38EB78-2D1F-9E53-44CD-F99F360EED3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3EC6B3-32D3-0DDA-5A0D-140F7863306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D0A23AC-D58F-5204-C325-CDCADF89344A}"/>
              </a:ext>
            </a:extLst>
          </p:cNvPr>
          <p:cNvSpPr>
            <a:spLocks noGrp="1"/>
          </p:cNvSpPr>
          <p:nvPr>
            <p:ph type="sldNum" sz="quarter" idx="5"/>
          </p:nvPr>
        </p:nvSpPr>
        <p:spPr/>
        <p:txBody>
          <a:bodyPr/>
          <a:lstStyle/>
          <a:p>
            <a:fld id="{6B063336-137B-7F4C-A94E-089B36A0418E}" type="slidenum">
              <a:rPr lang="en-US" smtClean="0"/>
              <a:t>14</a:t>
            </a:fld>
            <a:endParaRPr lang="en-US"/>
          </a:p>
        </p:txBody>
      </p:sp>
    </p:spTree>
    <p:extLst>
      <p:ext uri="{BB962C8B-B14F-4D97-AF65-F5344CB8AC3E}">
        <p14:creationId xmlns:p14="http://schemas.microsoft.com/office/powerpoint/2010/main" val="314524526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B063336-137B-7F4C-A94E-089B36A0418E}" type="slidenum">
              <a:rPr lang="en-US" smtClean="0"/>
              <a:t>15</a:t>
            </a:fld>
            <a:endParaRPr lang="en-US"/>
          </a:p>
        </p:txBody>
      </p:sp>
    </p:spTree>
    <p:extLst>
      <p:ext uri="{BB962C8B-B14F-4D97-AF65-F5344CB8AC3E}">
        <p14:creationId xmlns:p14="http://schemas.microsoft.com/office/powerpoint/2010/main" val="11430485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B063336-137B-7F4C-A94E-089B36A0418E}" type="slidenum">
              <a:rPr lang="en-US" smtClean="0"/>
              <a:t>16</a:t>
            </a:fld>
            <a:endParaRPr lang="en-US"/>
          </a:p>
        </p:txBody>
      </p:sp>
    </p:spTree>
    <p:extLst>
      <p:ext uri="{BB962C8B-B14F-4D97-AF65-F5344CB8AC3E}">
        <p14:creationId xmlns:p14="http://schemas.microsoft.com/office/powerpoint/2010/main" val="65585848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B063336-137B-7F4C-A94E-089B36A0418E}" type="slidenum">
              <a:rPr lang="en-US" smtClean="0"/>
              <a:t>17</a:t>
            </a:fld>
            <a:endParaRPr lang="en-US"/>
          </a:p>
        </p:txBody>
      </p:sp>
    </p:spTree>
    <p:extLst>
      <p:ext uri="{BB962C8B-B14F-4D97-AF65-F5344CB8AC3E}">
        <p14:creationId xmlns:p14="http://schemas.microsoft.com/office/powerpoint/2010/main" val="145729181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B063336-137B-7F4C-A94E-089B36A0418E}" type="slidenum">
              <a:rPr lang="en-US" smtClean="0"/>
              <a:t>18</a:t>
            </a:fld>
            <a:endParaRPr lang="en-US"/>
          </a:p>
        </p:txBody>
      </p:sp>
    </p:spTree>
    <p:extLst>
      <p:ext uri="{BB962C8B-B14F-4D97-AF65-F5344CB8AC3E}">
        <p14:creationId xmlns:p14="http://schemas.microsoft.com/office/powerpoint/2010/main" val="106947348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B063336-137B-7F4C-A94E-089B36A0418E}" type="slidenum">
              <a:rPr lang="en-US" smtClean="0"/>
              <a:t>19</a:t>
            </a:fld>
            <a:endParaRPr lang="en-US"/>
          </a:p>
        </p:txBody>
      </p:sp>
    </p:spTree>
    <p:extLst>
      <p:ext uri="{BB962C8B-B14F-4D97-AF65-F5344CB8AC3E}">
        <p14:creationId xmlns:p14="http://schemas.microsoft.com/office/powerpoint/2010/main" val="145371874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B063336-137B-7F4C-A94E-089B36A0418E}" type="slidenum">
              <a:rPr lang="en-US" smtClean="0"/>
              <a:t>20</a:t>
            </a:fld>
            <a:endParaRPr lang="en-US"/>
          </a:p>
        </p:txBody>
      </p:sp>
    </p:spTree>
    <p:extLst>
      <p:ext uri="{BB962C8B-B14F-4D97-AF65-F5344CB8AC3E}">
        <p14:creationId xmlns:p14="http://schemas.microsoft.com/office/powerpoint/2010/main" val="128844211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B063336-137B-7F4C-A94E-089B36A0418E}" type="slidenum">
              <a:rPr lang="en-US" smtClean="0"/>
              <a:t>21</a:t>
            </a:fld>
            <a:endParaRPr lang="en-US"/>
          </a:p>
        </p:txBody>
      </p:sp>
    </p:spTree>
    <p:extLst>
      <p:ext uri="{BB962C8B-B14F-4D97-AF65-F5344CB8AC3E}">
        <p14:creationId xmlns:p14="http://schemas.microsoft.com/office/powerpoint/2010/main" val="259967966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B063336-137B-7F4C-A94E-089B36A0418E}" type="slidenum">
              <a:rPr lang="en-US" smtClean="0"/>
              <a:t>22</a:t>
            </a:fld>
            <a:endParaRPr lang="en-US"/>
          </a:p>
        </p:txBody>
      </p:sp>
    </p:spTree>
    <p:extLst>
      <p:ext uri="{BB962C8B-B14F-4D97-AF65-F5344CB8AC3E}">
        <p14:creationId xmlns:p14="http://schemas.microsoft.com/office/powerpoint/2010/main" val="160267990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B063336-137B-7F4C-A94E-089B36A0418E}" type="slidenum">
              <a:rPr lang="en-US" smtClean="0"/>
              <a:t>23</a:t>
            </a:fld>
            <a:endParaRPr lang="en-US"/>
          </a:p>
        </p:txBody>
      </p:sp>
    </p:spTree>
    <p:extLst>
      <p:ext uri="{BB962C8B-B14F-4D97-AF65-F5344CB8AC3E}">
        <p14:creationId xmlns:p14="http://schemas.microsoft.com/office/powerpoint/2010/main" val="34490426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B063336-137B-7F4C-A94E-089B36A0418E}" type="slidenum">
              <a:rPr lang="en-US" smtClean="0"/>
              <a:t>24</a:t>
            </a:fld>
            <a:endParaRPr lang="en-US"/>
          </a:p>
        </p:txBody>
      </p:sp>
    </p:spTree>
    <p:extLst>
      <p:ext uri="{BB962C8B-B14F-4D97-AF65-F5344CB8AC3E}">
        <p14:creationId xmlns:p14="http://schemas.microsoft.com/office/powerpoint/2010/main" val="201314718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B063336-137B-7F4C-A94E-089B36A0418E}" type="slidenum">
              <a:rPr lang="en-US" smtClean="0"/>
              <a:t>25</a:t>
            </a:fld>
            <a:endParaRPr lang="en-US"/>
          </a:p>
        </p:txBody>
      </p:sp>
    </p:spTree>
    <p:extLst>
      <p:ext uri="{BB962C8B-B14F-4D97-AF65-F5344CB8AC3E}">
        <p14:creationId xmlns:p14="http://schemas.microsoft.com/office/powerpoint/2010/main" val="83581015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B063336-137B-7F4C-A94E-089B36A0418E}" type="slidenum">
              <a:rPr lang="en-US" smtClean="0"/>
              <a:t>26</a:t>
            </a:fld>
            <a:endParaRPr lang="en-US"/>
          </a:p>
        </p:txBody>
      </p:sp>
    </p:spTree>
    <p:extLst>
      <p:ext uri="{BB962C8B-B14F-4D97-AF65-F5344CB8AC3E}">
        <p14:creationId xmlns:p14="http://schemas.microsoft.com/office/powerpoint/2010/main" val="170216190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B063336-137B-7F4C-A94E-089B36A0418E}" type="slidenum">
              <a:rPr lang="en-US" smtClean="0"/>
              <a:t>27</a:t>
            </a:fld>
            <a:endParaRPr lang="en-US"/>
          </a:p>
        </p:txBody>
      </p:sp>
    </p:spTree>
    <p:extLst>
      <p:ext uri="{BB962C8B-B14F-4D97-AF65-F5344CB8AC3E}">
        <p14:creationId xmlns:p14="http://schemas.microsoft.com/office/powerpoint/2010/main" val="9299122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B063336-137B-7F4C-A94E-089B36A0418E}" type="slidenum">
              <a:rPr lang="en-US" smtClean="0"/>
              <a:t>28</a:t>
            </a:fld>
            <a:endParaRPr lang="en-US"/>
          </a:p>
        </p:txBody>
      </p:sp>
    </p:spTree>
    <p:extLst>
      <p:ext uri="{BB962C8B-B14F-4D97-AF65-F5344CB8AC3E}">
        <p14:creationId xmlns:p14="http://schemas.microsoft.com/office/powerpoint/2010/main" val="26185213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B063336-137B-7F4C-A94E-089B36A0418E}" type="slidenum">
              <a:rPr lang="en-US" smtClean="0"/>
              <a:t>29</a:t>
            </a:fld>
            <a:endParaRPr lang="en-US"/>
          </a:p>
        </p:txBody>
      </p:sp>
    </p:spTree>
    <p:extLst>
      <p:ext uri="{BB962C8B-B14F-4D97-AF65-F5344CB8AC3E}">
        <p14:creationId xmlns:p14="http://schemas.microsoft.com/office/powerpoint/2010/main" val="251384613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B063336-137B-7F4C-A94E-089B36A0418E}" type="slidenum">
              <a:rPr lang="en-US" smtClean="0"/>
              <a:t>30</a:t>
            </a:fld>
            <a:endParaRPr lang="en-US"/>
          </a:p>
        </p:txBody>
      </p:sp>
    </p:spTree>
    <p:extLst>
      <p:ext uri="{BB962C8B-B14F-4D97-AF65-F5344CB8AC3E}">
        <p14:creationId xmlns:p14="http://schemas.microsoft.com/office/powerpoint/2010/main" val="144998130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B063336-137B-7F4C-A94E-089B36A0418E}" type="slidenum">
              <a:rPr lang="en-US" smtClean="0"/>
              <a:t>31</a:t>
            </a:fld>
            <a:endParaRPr lang="en-US"/>
          </a:p>
        </p:txBody>
      </p:sp>
    </p:spTree>
    <p:extLst>
      <p:ext uri="{BB962C8B-B14F-4D97-AF65-F5344CB8AC3E}">
        <p14:creationId xmlns:p14="http://schemas.microsoft.com/office/powerpoint/2010/main" val="77730540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B063336-137B-7F4C-A94E-089B36A0418E}" type="slidenum">
              <a:rPr lang="en-US" smtClean="0"/>
              <a:t>32</a:t>
            </a:fld>
            <a:endParaRPr lang="en-US"/>
          </a:p>
        </p:txBody>
      </p:sp>
    </p:spTree>
    <p:extLst>
      <p:ext uri="{BB962C8B-B14F-4D97-AF65-F5344CB8AC3E}">
        <p14:creationId xmlns:p14="http://schemas.microsoft.com/office/powerpoint/2010/main" val="19734835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B063336-137B-7F4C-A94E-089B36A0418E}" type="slidenum">
              <a:rPr lang="en-US" smtClean="0"/>
              <a:t>33</a:t>
            </a:fld>
            <a:endParaRPr lang="en-US"/>
          </a:p>
        </p:txBody>
      </p:sp>
    </p:spTree>
    <p:extLst>
      <p:ext uri="{BB962C8B-B14F-4D97-AF65-F5344CB8AC3E}">
        <p14:creationId xmlns:p14="http://schemas.microsoft.com/office/powerpoint/2010/main" val="98183677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B063336-137B-7F4C-A94E-089B36A0418E}" type="slidenum">
              <a:rPr lang="en-US" smtClean="0"/>
              <a:t>36</a:t>
            </a:fld>
            <a:endParaRPr lang="en-US"/>
          </a:p>
        </p:txBody>
      </p:sp>
    </p:spTree>
    <p:extLst>
      <p:ext uri="{BB962C8B-B14F-4D97-AF65-F5344CB8AC3E}">
        <p14:creationId xmlns:p14="http://schemas.microsoft.com/office/powerpoint/2010/main" val="132975186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B063336-137B-7F4C-A94E-089B36A0418E}" type="slidenum">
              <a:rPr lang="en-US" smtClean="0"/>
              <a:t>37</a:t>
            </a:fld>
            <a:endParaRPr lang="en-US"/>
          </a:p>
        </p:txBody>
      </p:sp>
    </p:spTree>
    <p:extLst>
      <p:ext uri="{BB962C8B-B14F-4D97-AF65-F5344CB8AC3E}">
        <p14:creationId xmlns:p14="http://schemas.microsoft.com/office/powerpoint/2010/main" val="313171048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B063336-137B-7F4C-A94E-089B36A0418E}" type="slidenum">
              <a:rPr lang="en-US" smtClean="0"/>
              <a:t>38</a:t>
            </a:fld>
            <a:endParaRPr lang="en-US"/>
          </a:p>
        </p:txBody>
      </p:sp>
    </p:spTree>
    <p:extLst>
      <p:ext uri="{BB962C8B-B14F-4D97-AF65-F5344CB8AC3E}">
        <p14:creationId xmlns:p14="http://schemas.microsoft.com/office/powerpoint/2010/main" val="192458944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B063336-137B-7F4C-A94E-089B36A0418E}" type="slidenum">
              <a:rPr lang="en-US" smtClean="0"/>
              <a:t>39</a:t>
            </a:fld>
            <a:endParaRPr lang="en-US"/>
          </a:p>
        </p:txBody>
      </p:sp>
    </p:spTree>
    <p:extLst>
      <p:ext uri="{BB962C8B-B14F-4D97-AF65-F5344CB8AC3E}">
        <p14:creationId xmlns:p14="http://schemas.microsoft.com/office/powerpoint/2010/main" val="201164252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B063336-137B-7F4C-A94E-089B36A0418E}" type="slidenum">
              <a:rPr lang="en-US" smtClean="0"/>
              <a:t>40</a:t>
            </a:fld>
            <a:endParaRPr lang="en-US"/>
          </a:p>
        </p:txBody>
      </p:sp>
    </p:spTree>
    <p:extLst>
      <p:ext uri="{BB962C8B-B14F-4D97-AF65-F5344CB8AC3E}">
        <p14:creationId xmlns:p14="http://schemas.microsoft.com/office/powerpoint/2010/main" val="97688907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B063336-137B-7F4C-A94E-089B36A0418E}" type="slidenum">
              <a:rPr lang="en-US" smtClean="0"/>
              <a:t>44</a:t>
            </a:fld>
            <a:endParaRPr lang="en-US"/>
          </a:p>
        </p:txBody>
      </p:sp>
    </p:spTree>
    <p:extLst>
      <p:ext uri="{BB962C8B-B14F-4D97-AF65-F5344CB8AC3E}">
        <p14:creationId xmlns:p14="http://schemas.microsoft.com/office/powerpoint/2010/main" val="270487587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B063336-137B-7F4C-A94E-089B36A0418E}" type="slidenum">
              <a:rPr lang="en-US" smtClean="0"/>
              <a:t>45</a:t>
            </a:fld>
            <a:endParaRPr lang="en-US"/>
          </a:p>
        </p:txBody>
      </p:sp>
    </p:spTree>
    <p:extLst>
      <p:ext uri="{BB962C8B-B14F-4D97-AF65-F5344CB8AC3E}">
        <p14:creationId xmlns:p14="http://schemas.microsoft.com/office/powerpoint/2010/main" val="333036765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Do not modify the notes in this section to avoid tampering with the Poll Everywhere activity.
More info at polleverywhere.com/support
Are you compelled by the synthetic controls approach for the CA anti-smoking example?</a:t>
            </a:r>
          </a:p>
          <a:p>
            <a:r>
              <a:rPr lang="en-US"/>
              <a:t>https://www.polleverywhere.com/multiple_choice_polls/X6apMw7EczW87nEanK9et?state=opened&amp;flow=Default&amp;onscreen=persist</a:t>
            </a:r>
          </a:p>
        </p:txBody>
      </p:sp>
      <p:sp>
        <p:nvSpPr>
          <p:cNvPr id="4" name="Slide Number Placeholder 3"/>
          <p:cNvSpPr>
            <a:spLocks noGrp="1"/>
          </p:cNvSpPr>
          <p:nvPr>
            <p:ph type="sldNum" sz="quarter" idx="5"/>
          </p:nvPr>
        </p:nvSpPr>
        <p:spPr/>
        <p:txBody>
          <a:bodyPr/>
          <a:lstStyle/>
          <a:p>
            <a:fld id="{6B063336-137B-7F4C-A94E-089B36A0418E}" type="slidenum">
              <a:rPr lang="en-US" smtClean="0"/>
              <a:t>46</a:t>
            </a:fld>
            <a:endParaRPr lang="en-US"/>
          </a:p>
        </p:txBody>
      </p:sp>
    </p:spTree>
    <p:extLst>
      <p:ext uri="{BB962C8B-B14F-4D97-AF65-F5344CB8AC3E}">
        <p14:creationId xmlns:p14="http://schemas.microsoft.com/office/powerpoint/2010/main" val="90248159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B063336-137B-7F4C-A94E-089B36A0418E}" type="slidenum">
              <a:rPr lang="en-US" smtClean="0"/>
              <a:t>47</a:t>
            </a:fld>
            <a:endParaRPr lang="en-US"/>
          </a:p>
        </p:txBody>
      </p:sp>
    </p:spTree>
    <p:extLst>
      <p:ext uri="{BB962C8B-B14F-4D97-AF65-F5344CB8AC3E}">
        <p14:creationId xmlns:p14="http://schemas.microsoft.com/office/powerpoint/2010/main" val="377403667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1E5CFF-D284-AD3F-CBB5-0E864A553D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242C9F-5782-E187-E837-A58512A7741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9142052-23AD-5C42-94E0-A64EBB41BBB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FEF707A-FB4B-CA99-CFE7-EAB3CD2D16B7}"/>
              </a:ext>
            </a:extLst>
          </p:cNvPr>
          <p:cNvSpPr>
            <a:spLocks noGrp="1"/>
          </p:cNvSpPr>
          <p:nvPr>
            <p:ph type="sldNum" sz="quarter" idx="5"/>
          </p:nvPr>
        </p:nvSpPr>
        <p:spPr/>
        <p:txBody>
          <a:bodyPr/>
          <a:lstStyle/>
          <a:p>
            <a:fld id="{6B063336-137B-7F4C-A94E-089B36A0418E}" type="slidenum">
              <a:rPr lang="en-US" smtClean="0"/>
              <a:t>48</a:t>
            </a:fld>
            <a:endParaRPr lang="en-US"/>
          </a:p>
        </p:txBody>
      </p:sp>
    </p:spTree>
    <p:extLst>
      <p:ext uri="{BB962C8B-B14F-4D97-AF65-F5344CB8AC3E}">
        <p14:creationId xmlns:p14="http://schemas.microsoft.com/office/powerpoint/2010/main" val="150188790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B063336-137B-7F4C-A94E-089B36A0418E}" type="slidenum">
              <a:rPr lang="en-US" smtClean="0"/>
              <a:t>49</a:t>
            </a:fld>
            <a:endParaRPr lang="en-US"/>
          </a:p>
        </p:txBody>
      </p:sp>
    </p:spTree>
    <p:extLst>
      <p:ext uri="{BB962C8B-B14F-4D97-AF65-F5344CB8AC3E}">
        <p14:creationId xmlns:p14="http://schemas.microsoft.com/office/powerpoint/2010/main" val="128835890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Do not modify the notes in this section to avoid tampering with the Poll Everywhere activity.
More info at polleverywhere.com/support
Rank these approaches from most compelling to least compelling, for the Brexit example</a:t>
            </a:r>
          </a:p>
          <a:p>
            <a:r>
              <a:rPr lang="en-US"/>
              <a:t>https://www.polleverywhere.com/ranking_polls/3EhN09jviKeUC6n5SVBK9</a:t>
            </a:r>
          </a:p>
        </p:txBody>
      </p:sp>
      <p:sp>
        <p:nvSpPr>
          <p:cNvPr id="4" name="Slide Number Placeholder 3"/>
          <p:cNvSpPr>
            <a:spLocks noGrp="1"/>
          </p:cNvSpPr>
          <p:nvPr>
            <p:ph type="sldNum" sz="quarter" idx="5"/>
          </p:nvPr>
        </p:nvSpPr>
        <p:spPr/>
        <p:txBody>
          <a:bodyPr/>
          <a:lstStyle/>
          <a:p>
            <a:fld id="{6B063336-137B-7F4C-A94E-089B36A0418E}" type="slidenum">
              <a:rPr lang="en-US" smtClean="0"/>
              <a:t>50</a:t>
            </a:fld>
            <a:endParaRPr lang="en-US"/>
          </a:p>
        </p:txBody>
      </p:sp>
    </p:spTree>
    <p:extLst>
      <p:ext uri="{BB962C8B-B14F-4D97-AF65-F5344CB8AC3E}">
        <p14:creationId xmlns:p14="http://schemas.microsoft.com/office/powerpoint/2010/main" val="64345051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B063336-137B-7F4C-A94E-089B36A0418E}" type="slidenum">
              <a:rPr lang="en-US" smtClean="0"/>
              <a:t>51</a:t>
            </a:fld>
            <a:endParaRPr lang="en-US"/>
          </a:p>
        </p:txBody>
      </p:sp>
    </p:spTree>
    <p:extLst>
      <p:ext uri="{BB962C8B-B14F-4D97-AF65-F5344CB8AC3E}">
        <p14:creationId xmlns:p14="http://schemas.microsoft.com/office/powerpoint/2010/main" val="194532757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B063336-137B-7F4C-A94E-089B36A0418E}" type="slidenum">
              <a:rPr lang="en-US" smtClean="0"/>
              <a:t>52</a:t>
            </a:fld>
            <a:endParaRPr lang="en-US"/>
          </a:p>
        </p:txBody>
      </p:sp>
    </p:spTree>
    <p:extLst>
      <p:ext uri="{BB962C8B-B14F-4D97-AF65-F5344CB8AC3E}">
        <p14:creationId xmlns:p14="http://schemas.microsoft.com/office/powerpoint/2010/main" val="69248267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B063336-137B-7F4C-A94E-089B36A0418E}" type="slidenum">
              <a:rPr lang="en-US" smtClean="0"/>
              <a:t>53</a:t>
            </a:fld>
            <a:endParaRPr lang="en-US"/>
          </a:p>
        </p:txBody>
      </p:sp>
    </p:spTree>
    <p:extLst>
      <p:ext uri="{BB962C8B-B14F-4D97-AF65-F5344CB8AC3E}">
        <p14:creationId xmlns:p14="http://schemas.microsoft.com/office/powerpoint/2010/main" val="155673010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B063336-137B-7F4C-A94E-089B36A0418E}" type="slidenum">
              <a:rPr lang="en-US" smtClean="0"/>
              <a:t>54</a:t>
            </a:fld>
            <a:endParaRPr lang="en-US"/>
          </a:p>
        </p:txBody>
      </p:sp>
    </p:spTree>
    <p:extLst>
      <p:ext uri="{BB962C8B-B14F-4D97-AF65-F5344CB8AC3E}">
        <p14:creationId xmlns:p14="http://schemas.microsoft.com/office/powerpoint/2010/main" val="379636483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B063336-137B-7F4C-A94E-089B36A0418E}" type="slidenum">
              <a:rPr lang="en-US" smtClean="0"/>
              <a:t>55</a:t>
            </a:fld>
            <a:endParaRPr lang="en-US"/>
          </a:p>
        </p:txBody>
      </p:sp>
    </p:spTree>
    <p:extLst>
      <p:ext uri="{BB962C8B-B14F-4D97-AF65-F5344CB8AC3E}">
        <p14:creationId xmlns:p14="http://schemas.microsoft.com/office/powerpoint/2010/main" val="3196500842"/>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B063336-137B-7F4C-A94E-089B36A0418E}" type="slidenum">
              <a:rPr lang="en-US" smtClean="0"/>
              <a:t>56</a:t>
            </a:fld>
            <a:endParaRPr lang="en-US"/>
          </a:p>
        </p:txBody>
      </p:sp>
    </p:spTree>
    <p:extLst>
      <p:ext uri="{BB962C8B-B14F-4D97-AF65-F5344CB8AC3E}">
        <p14:creationId xmlns:p14="http://schemas.microsoft.com/office/powerpoint/2010/main" val="1587872580"/>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B063336-137B-7F4C-A94E-089B36A0418E}" type="slidenum">
              <a:rPr lang="en-US" smtClean="0"/>
              <a:t>57</a:t>
            </a:fld>
            <a:endParaRPr lang="en-US"/>
          </a:p>
        </p:txBody>
      </p:sp>
    </p:spTree>
    <p:extLst>
      <p:ext uri="{BB962C8B-B14F-4D97-AF65-F5344CB8AC3E}">
        <p14:creationId xmlns:p14="http://schemas.microsoft.com/office/powerpoint/2010/main" val="3343163490"/>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B063336-137B-7F4C-A94E-089B36A0418E}" type="slidenum">
              <a:rPr lang="en-US" smtClean="0"/>
              <a:t>58</a:t>
            </a:fld>
            <a:endParaRPr lang="en-US"/>
          </a:p>
        </p:txBody>
      </p:sp>
    </p:spTree>
    <p:extLst>
      <p:ext uri="{BB962C8B-B14F-4D97-AF65-F5344CB8AC3E}">
        <p14:creationId xmlns:p14="http://schemas.microsoft.com/office/powerpoint/2010/main" val="1234767032"/>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B063336-137B-7F4C-A94E-089B36A0418E}" type="slidenum">
              <a:rPr lang="en-US" smtClean="0"/>
              <a:t>59</a:t>
            </a:fld>
            <a:endParaRPr lang="en-US"/>
          </a:p>
        </p:txBody>
      </p:sp>
    </p:spTree>
    <p:extLst>
      <p:ext uri="{BB962C8B-B14F-4D97-AF65-F5344CB8AC3E}">
        <p14:creationId xmlns:p14="http://schemas.microsoft.com/office/powerpoint/2010/main" val="756982237"/>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B063336-137B-7F4C-A94E-089B36A0418E}" type="slidenum">
              <a:rPr lang="en-US" smtClean="0"/>
              <a:t>60</a:t>
            </a:fld>
            <a:endParaRPr lang="en-US"/>
          </a:p>
        </p:txBody>
      </p:sp>
    </p:spTree>
    <p:extLst>
      <p:ext uri="{BB962C8B-B14F-4D97-AF65-F5344CB8AC3E}">
        <p14:creationId xmlns:p14="http://schemas.microsoft.com/office/powerpoint/2010/main" val="1491674454"/>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B063336-137B-7F4C-A94E-089B36A0418E}" type="slidenum">
              <a:rPr lang="en-US" smtClean="0"/>
              <a:t>61</a:t>
            </a:fld>
            <a:endParaRPr lang="en-US"/>
          </a:p>
        </p:txBody>
      </p:sp>
    </p:spTree>
    <p:extLst>
      <p:ext uri="{BB962C8B-B14F-4D97-AF65-F5344CB8AC3E}">
        <p14:creationId xmlns:p14="http://schemas.microsoft.com/office/powerpoint/2010/main" val="1915946725"/>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B063336-137B-7F4C-A94E-089B36A0418E}" type="slidenum">
              <a:rPr lang="en-US" smtClean="0"/>
              <a:t>62</a:t>
            </a:fld>
            <a:endParaRPr lang="en-US"/>
          </a:p>
        </p:txBody>
      </p:sp>
    </p:spTree>
    <p:extLst>
      <p:ext uri="{BB962C8B-B14F-4D97-AF65-F5344CB8AC3E}">
        <p14:creationId xmlns:p14="http://schemas.microsoft.com/office/powerpoint/2010/main" val="1476738388"/>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B063336-137B-7F4C-A94E-089B36A0418E}" type="slidenum">
              <a:rPr lang="en-US" smtClean="0"/>
              <a:t>63</a:t>
            </a:fld>
            <a:endParaRPr lang="en-US"/>
          </a:p>
        </p:txBody>
      </p:sp>
    </p:spTree>
    <p:extLst>
      <p:ext uri="{BB962C8B-B14F-4D97-AF65-F5344CB8AC3E}">
        <p14:creationId xmlns:p14="http://schemas.microsoft.com/office/powerpoint/2010/main" val="2391050300"/>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E1E6818-5228-6746-93C7-81444766F2C7}" type="slidenum">
              <a:rPr lang="en-US" smtClean="0"/>
              <a:t>64</a:t>
            </a:fld>
            <a:endParaRPr lang="en-US"/>
          </a:p>
        </p:txBody>
      </p:sp>
    </p:spTree>
    <p:extLst>
      <p:ext uri="{BB962C8B-B14F-4D97-AF65-F5344CB8AC3E}">
        <p14:creationId xmlns:p14="http://schemas.microsoft.com/office/powerpoint/2010/main" val="41643602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6DF170-811C-2B31-C0B0-862E91A4B48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307CCEDE-52CB-FB5A-D84F-1DE2B0FF221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C20654C-3E45-A586-A8CF-27C2F44FD84E}"/>
              </a:ext>
            </a:extLst>
          </p:cNvPr>
          <p:cNvSpPr>
            <a:spLocks noGrp="1"/>
          </p:cNvSpPr>
          <p:nvPr>
            <p:ph type="dt" sz="half" idx="10"/>
          </p:nvPr>
        </p:nvSpPr>
        <p:spPr/>
        <p:txBody>
          <a:bodyPr/>
          <a:lstStyle/>
          <a:p>
            <a:fld id="{7B1B529C-7AC4-498E-86D4-DC9A7DA9F898}" type="datetimeFigureOut">
              <a:rPr lang="en-US" smtClean="0"/>
              <a:t>11/24/25</a:t>
            </a:fld>
            <a:endParaRPr lang="en-US"/>
          </a:p>
        </p:txBody>
      </p:sp>
      <p:sp>
        <p:nvSpPr>
          <p:cNvPr id="5" name="Footer Placeholder 4">
            <a:extLst>
              <a:ext uri="{FF2B5EF4-FFF2-40B4-BE49-F238E27FC236}">
                <a16:creationId xmlns:a16="http://schemas.microsoft.com/office/drawing/2014/main" id="{B5F3FB41-6698-A8A3-9568-A48F1950532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D5500EE-EA0C-D40A-DD27-0D0C4B373C78}"/>
              </a:ext>
            </a:extLst>
          </p:cNvPr>
          <p:cNvSpPr>
            <a:spLocks noGrp="1"/>
          </p:cNvSpPr>
          <p:nvPr>
            <p:ph type="sldNum" sz="quarter" idx="12"/>
          </p:nvPr>
        </p:nvSpPr>
        <p:spPr/>
        <p:txBody>
          <a:bodyPr/>
          <a:lstStyle/>
          <a:p>
            <a:fld id="{9D4A35CC-C70A-4792-B171-5A9C7364B6D5}" type="slidenum">
              <a:rPr lang="en-US" smtClean="0"/>
              <a:t>‹#›</a:t>
            </a:fld>
            <a:endParaRPr lang="en-US"/>
          </a:p>
        </p:txBody>
      </p:sp>
    </p:spTree>
    <p:extLst>
      <p:ext uri="{BB962C8B-B14F-4D97-AF65-F5344CB8AC3E}">
        <p14:creationId xmlns:p14="http://schemas.microsoft.com/office/powerpoint/2010/main" val="13915432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5DF521-5D56-2266-8D85-8DD46238AAC0}"/>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BE0C1307-B2F1-2310-0212-94140F1A5D4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EADBA0A-585B-37F2-C235-0D07DF81F0C6}"/>
              </a:ext>
            </a:extLst>
          </p:cNvPr>
          <p:cNvSpPr>
            <a:spLocks noGrp="1"/>
          </p:cNvSpPr>
          <p:nvPr>
            <p:ph type="dt" sz="half" idx="10"/>
          </p:nvPr>
        </p:nvSpPr>
        <p:spPr/>
        <p:txBody>
          <a:bodyPr/>
          <a:lstStyle/>
          <a:p>
            <a:fld id="{7B1B529C-7AC4-498E-86D4-DC9A7DA9F898}" type="datetimeFigureOut">
              <a:rPr lang="en-US" smtClean="0"/>
              <a:t>11/24/25</a:t>
            </a:fld>
            <a:endParaRPr lang="en-US"/>
          </a:p>
        </p:txBody>
      </p:sp>
      <p:sp>
        <p:nvSpPr>
          <p:cNvPr id="5" name="Footer Placeholder 4">
            <a:extLst>
              <a:ext uri="{FF2B5EF4-FFF2-40B4-BE49-F238E27FC236}">
                <a16:creationId xmlns:a16="http://schemas.microsoft.com/office/drawing/2014/main" id="{766C95D1-75E4-DBB9-137E-73D4F5ABD4B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B98427C-7848-DA7C-8C53-9BD757009D89}"/>
              </a:ext>
            </a:extLst>
          </p:cNvPr>
          <p:cNvSpPr>
            <a:spLocks noGrp="1"/>
          </p:cNvSpPr>
          <p:nvPr>
            <p:ph type="sldNum" sz="quarter" idx="12"/>
          </p:nvPr>
        </p:nvSpPr>
        <p:spPr/>
        <p:txBody>
          <a:bodyPr/>
          <a:lstStyle/>
          <a:p>
            <a:fld id="{9D4A35CC-C70A-4792-B171-5A9C7364B6D5}" type="slidenum">
              <a:rPr lang="en-US" smtClean="0"/>
              <a:t>‹#›</a:t>
            </a:fld>
            <a:endParaRPr lang="en-US"/>
          </a:p>
        </p:txBody>
      </p:sp>
      <p:sp>
        <p:nvSpPr>
          <p:cNvPr id="7" name="Rectangle 6">
            <a:extLst>
              <a:ext uri="{FF2B5EF4-FFF2-40B4-BE49-F238E27FC236}">
                <a16:creationId xmlns:a16="http://schemas.microsoft.com/office/drawing/2014/main" id="{B4FA992D-C6A1-04E6-6480-D6FF5834A1D9}"/>
              </a:ext>
            </a:extLst>
          </p:cNvPr>
          <p:cNvSpPr/>
          <p:nvPr/>
        </p:nvSpPr>
        <p:spPr>
          <a:xfrm>
            <a:off x="0" y="0"/>
            <a:ext cx="381000" cy="6858000"/>
          </a:xfrm>
          <a:prstGeom prst="rect">
            <a:avLst/>
          </a:prstGeom>
          <a:solidFill>
            <a:srgbClr val="8C151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309809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49FEB4-A114-1406-AAC7-E6A93747626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2F5736C-4324-7C32-AD7B-93A2A9C7E0C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E71F154-5E54-8A6E-32D1-50892B476E0D}"/>
              </a:ext>
            </a:extLst>
          </p:cNvPr>
          <p:cNvSpPr>
            <a:spLocks noGrp="1"/>
          </p:cNvSpPr>
          <p:nvPr>
            <p:ph type="dt" sz="half" idx="10"/>
          </p:nvPr>
        </p:nvSpPr>
        <p:spPr/>
        <p:txBody>
          <a:bodyPr/>
          <a:lstStyle/>
          <a:p>
            <a:fld id="{7B1B529C-7AC4-498E-86D4-DC9A7DA9F898}" type="datetimeFigureOut">
              <a:rPr lang="en-US" smtClean="0"/>
              <a:t>11/24/25</a:t>
            </a:fld>
            <a:endParaRPr lang="en-US"/>
          </a:p>
        </p:txBody>
      </p:sp>
      <p:sp>
        <p:nvSpPr>
          <p:cNvPr id="5" name="Footer Placeholder 4">
            <a:extLst>
              <a:ext uri="{FF2B5EF4-FFF2-40B4-BE49-F238E27FC236}">
                <a16:creationId xmlns:a16="http://schemas.microsoft.com/office/drawing/2014/main" id="{5F89038B-6435-F39A-AE45-EC227764823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38BDF1E-A55C-2F2F-60EB-26E50943C5FB}"/>
              </a:ext>
            </a:extLst>
          </p:cNvPr>
          <p:cNvSpPr>
            <a:spLocks noGrp="1"/>
          </p:cNvSpPr>
          <p:nvPr>
            <p:ph type="sldNum" sz="quarter" idx="12"/>
          </p:nvPr>
        </p:nvSpPr>
        <p:spPr/>
        <p:txBody>
          <a:bodyPr/>
          <a:lstStyle/>
          <a:p>
            <a:fld id="{9D4A35CC-C70A-4792-B171-5A9C7364B6D5}" type="slidenum">
              <a:rPr lang="en-US" smtClean="0"/>
              <a:t>‹#›</a:t>
            </a:fld>
            <a:endParaRPr lang="en-US"/>
          </a:p>
        </p:txBody>
      </p:sp>
      <p:sp>
        <p:nvSpPr>
          <p:cNvPr id="7" name="Rectangle 6">
            <a:extLst>
              <a:ext uri="{FF2B5EF4-FFF2-40B4-BE49-F238E27FC236}">
                <a16:creationId xmlns:a16="http://schemas.microsoft.com/office/drawing/2014/main" id="{2CC699B5-BC08-318D-27C2-159A3F84676E}"/>
              </a:ext>
            </a:extLst>
          </p:cNvPr>
          <p:cNvSpPr/>
          <p:nvPr/>
        </p:nvSpPr>
        <p:spPr>
          <a:xfrm>
            <a:off x="0" y="0"/>
            <a:ext cx="381000" cy="6858000"/>
          </a:xfrm>
          <a:prstGeom prst="rect">
            <a:avLst/>
          </a:prstGeom>
          <a:solidFill>
            <a:srgbClr val="8C151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836836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4E8BC7-37A9-2A41-A226-1AA2056C755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1195DB0-B3D9-5AA8-0EBE-8DE243B43F7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0BC9C40-4553-98FF-B057-51D06316551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3D316FA-702D-0970-98FC-C9857BDB916C}"/>
              </a:ext>
            </a:extLst>
          </p:cNvPr>
          <p:cNvSpPr>
            <a:spLocks noGrp="1"/>
          </p:cNvSpPr>
          <p:nvPr>
            <p:ph type="dt" sz="half" idx="10"/>
          </p:nvPr>
        </p:nvSpPr>
        <p:spPr/>
        <p:txBody>
          <a:bodyPr/>
          <a:lstStyle/>
          <a:p>
            <a:fld id="{7B1B529C-7AC4-498E-86D4-DC9A7DA9F898}" type="datetimeFigureOut">
              <a:rPr lang="en-US" smtClean="0"/>
              <a:t>11/24/25</a:t>
            </a:fld>
            <a:endParaRPr lang="en-US"/>
          </a:p>
        </p:txBody>
      </p:sp>
      <p:sp>
        <p:nvSpPr>
          <p:cNvPr id="6" name="Footer Placeholder 5">
            <a:extLst>
              <a:ext uri="{FF2B5EF4-FFF2-40B4-BE49-F238E27FC236}">
                <a16:creationId xmlns:a16="http://schemas.microsoft.com/office/drawing/2014/main" id="{1E5F98C5-312D-43ED-B810-B24CF5C9208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A17E21C-8BB3-4F1E-CF27-B3C2310D0545}"/>
              </a:ext>
            </a:extLst>
          </p:cNvPr>
          <p:cNvSpPr>
            <a:spLocks noGrp="1"/>
          </p:cNvSpPr>
          <p:nvPr>
            <p:ph type="sldNum" sz="quarter" idx="12"/>
          </p:nvPr>
        </p:nvSpPr>
        <p:spPr/>
        <p:txBody>
          <a:bodyPr/>
          <a:lstStyle/>
          <a:p>
            <a:fld id="{9D4A35CC-C70A-4792-B171-5A9C7364B6D5}" type="slidenum">
              <a:rPr lang="en-US" smtClean="0"/>
              <a:t>‹#›</a:t>
            </a:fld>
            <a:endParaRPr lang="en-US"/>
          </a:p>
        </p:txBody>
      </p:sp>
      <p:sp>
        <p:nvSpPr>
          <p:cNvPr id="8" name="Rectangle 7">
            <a:extLst>
              <a:ext uri="{FF2B5EF4-FFF2-40B4-BE49-F238E27FC236}">
                <a16:creationId xmlns:a16="http://schemas.microsoft.com/office/drawing/2014/main" id="{4ADB9F7D-4293-E584-BB33-F33655869B04}"/>
              </a:ext>
            </a:extLst>
          </p:cNvPr>
          <p:cNvSpPr/>
          <p:nvPr/>
        </p:nvSpPr>
        <p:spPr>
          <a:xfrm>
            <a:off x="0" y="0"/>
            <a:ext cx="381000" cy="6858000"/>
          </a:xfrm>
          <a:prstGeom prst="rect">
            <a:avLst/>
          </a:prstGeom>
          <a:solidFill>
            <a:srgbClr val="8C151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127846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DBB629-ED87-5F0F-C9BC-928A597F10D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53799BA-B41E-6860-AA97-BD0EF6DD433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3FE23B1-8B3C-B07C-FDE2-19F41F30B92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89C4BBA-5A0D-0E42-7483-493DBCED4BC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D716F14-27E0-D214-DE57-BB9CAF7B4F8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7BACE10-B3E3-AA96-7962-FFDFF715887E}"/>
              </a:ext>
            </a:extLst>
          </p:cNvPr>
          <p:cNvSpPr>
            <a:spLocks noGrp="1"/>
          </p:cNvSpPr>
          <p:nvPr>
            <p:ph type="dt" sz="half" idx="10"/>
          </p:nvPr>
        </p:nvSpPr>
        <p:spPr/>
        <p:txBody>
          <a:bodyPr/>
          <a:lstStyle/>
          <a:p>
            <a:fld id="{7B1B529C-7AC4-498E-86D4-DC9A7DA9F898}" type="datetimeFigureOut">
              <a:rPr lang="en-US" smtClean="0"/>
              <a:t>11/24/25</a:t>
            </a:fld>
            <a:endParaRPr lang="en-US"/>
          </a:p>
        </p:txBody>
      </p:sp>
      <p:sp>
        <p:nvSpPr>
          <p:cNvPr id="8" name="Footer Placeholder 7">
            <a:extLst>
              <a:ext uri="{FF2B5EF4-FFF2-40B4-BE49-F238E27FC236}">
                <a16:creationId xmlns:a16="http://schemas.microsoft.com/office/drawing/2014/main" id="{A916E200-901C-8F02-918B-5D1D4D58277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DEBD97F-62C3-7108-5E3B-4FCE958B80A1}"/>
              </a:ext>
            </a:extLst>
          </p:cNvPr>
          <p:cNvSpPr>
            <a:spLocks noGrp="1"/>
          </p:cNvSpPr>
          <p:nvPr>
            <p:ph type="sldNum" sz="quarter" idx="12"/>
          </p:nvPr>
        </p:nvSpPr>
        <p:spPr/>
        <p:txBody>
          <a:bodyPr/>
          <a:lstStyle/>
          <a:p>
            <a:fld id="{9D4A35CC-C70A-4792-B171-5A9C7364B6D5}" type="slidenum">
              <a:rPr lang="en-US" smtClean="0"/>
              <a:t>‹#›</a:t>
            </a:fld>
            <a:endParaRPr lang="en-US"/>
          </a:p>
        </p:txBody>
      </p:sp>
      <p:sp>
        <p:nvSpPr>
          <p:cNvPr id="10" name="Rectangle 9">
            <a:extLst>
              <a:ext uri="{FF2B5EF4-FFF2-40B4-BE49-F238E27FC236}">
                <a16:creationId xmlns:a16="http://schemas.microsoft.com/office/drawing/2014/main" id="{513A5397-9352-EF76-A222-9B7EF3224C80}"/>
              </a:ext>
            </a:extLst>
          </p:cNvPr>
          <p:cNvSpPr/>
          <p:nvPr/>
        </p:nvSpPr>
        <p:spPr>
          <a:xfrm>
            <a:off x="0" y="0"/>
            <a:ext cx="381000" cy="6858000"/>
          </a:xfrm>
          <a:prstGeom prst="rect">
            <a:avLst/>
          </a:prstGeom>
          <a:solidFill>
            <a:srgbClr val="8C151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279375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8D29A3-9228-EFA1-7EA8-320A5E4CDD1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62B2899-CC6E-9662-436F-D08B922BA144}"/>
              </a:ext>
            </a:extLst>
          </p:cNvPr>
          <p:cNvSpPr>
            <a:spLocks noGrp="1"/>
          </p:cNvSpPr>
          <p:nvPr>
            <p:ph type="dt" sz="half" idx="10"/>
          </p:nvPr>
        </p:nvSpPr>
        <p:spPr/>
        <p:txBody>
          <a:bodyPr/>
          <a:lstStyle/>
          <a:p>
            <a:fld id="{7B1B529C-7AC4-498E-86D4-DC9A7DA9F898}" type="datetimeFigureOut">
              <a:rPr lang="en-US" smtClean="0"/>
              <a:t>11/24/25</a:t>
            </a:fld>
            <a:endParaRPr lang="en-US"/>
          </a:p>
        </p:txBody>
      </p:sp>
      <p:sp>
        <p:nvSpPr>
          <p:cNvPr id="4" name="Footer Placeholder 3">
            <a:extLst>
              <a:ext uri="{FF2B5EF4-FFF2-40B4-BE49-F238E27FC236}">
                <a16:creationId xmlns:a16="http://schemas.microsoft.com/office/drawing/2014/main" id="{2F09471A-67C3-CA58-574B-353065996BC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9098AAE-7DA0-24C8-EAFB-429398606A07}"/>
              </a:ext>
            </a:extLst>
          </p:cNvPr>
          <p:cNvSpPr>
            <a:spLocks noGrp="1"/>
          </p:cNvSpPr>
          <p:nvPr>
            <p:ph type="sldNum" sz="quarter" idx="12"/>
          </p:nvPr>
        </p:nvSpPr>
        <p:spPr/>
        <p:txBody>
          <a:bodyPr/>
          <a:lstStyle/>
          <a:p>
            <a:fld id="{9D4A35CC-C70A-4792-B171-5A9C7364B6D5}" type="slidenum">
              <a:rPr lang="en-US" smtClean="0"/>
              <a:t>‹#›</a:t>
            </a:fld>
            <a:endParaRPr lang="en-US"/>
          </a:p>
        </p:txBody>
      </p:sp>
      <p:sp>
        <p:nvSpPr>
          <p:cNvPr id="6" name="Rectangle 5">
            <a:extLst>
              <a:ext uri="{FF2B5EF4-FFF2-40B4-BE49-F238E27FC236}">
                <a16:creationId xmlns:a16="http://schemas.microsoft.com/office/drawing/2014/main" id="{BA67E615-E4D7-8DF7-AC05-9434E1BD634F}"/>
              </a:ext>
            </a:extLst>
          </p:cNvPr>
          <p:cNvSpPr/>
          <p:nvPr/>
        </p:nvSpPr>
        <p:spPr>
          <a:xfrm>
            <a:off x="0" y="0"/>
            <a:ext cx="381000" cy="6858000"/>
          </a:xfrm>
          <a:prstGeom prst="rect">
            <a:avLst/>
          </a:prstGeom>
          <a:solidFill>
            <a:srgbClr val="8C151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921474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2657AF7-9EDB-A1C4-8FE7-E0FEEE544BC3}"/>
              </a:ext>
            </a:extLst>
          </p:cNvPr>
          <p:cNvSpPr>
            <a:spLocks noGrp="1"/>
          </p:cNvSpPr>
          <p:nvPr>
            <p:ph type="dt" sz="half" idx="10"/>
          </p:nvPr>
        </p:nvSpPr>
        <p:spPr/>
        <p:txBody>
          <a:bodyPr/>
          <a:lstStyle/>
          <a:p>
            <a:fld id="{7B1B529C-7AC4-498E-86D4-DC9A7DA9F898}" type="datetimeFigureOut">
              <a:rPr lang="en-US" smtClean="0"/>
              <a:t>11/24/25</a:t>
            </a:fld>
            <a:endParaRPr lang="en-US"/>
          </a:p>
        </p:txBody>
      </p:sp>
      <p:sp>
        <p:nvSpPr>
          <p:cNvPr id="3" name="Footer Placeholder 2">
            <a:extLst>
              <a:ext uri="{FF2B5EF4-FFF2-40B4-BE49-F238E27FC236}">
                <a16:creationId xmlns:a16="http://schemas.microsoft.com/office/drawing/2014/main" id="{3EFB410C-9EC2-0283-7D97-C87FEBE2B39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00411A1-87A4-150F-6303-025F73278A83}"/>
              </a:ext>
            </a:extLst>
          </p:cNvPr>
          <p:cNvSpPr>
            <a:spLocks noGrp="1"/>
          </p:cNvSpPr>
          <p:nvPr>
            <p:ph type="sldNum" sz="quarter" idx="12"/>
          </p:nvPr>
        </p:nvSpPr>
        <p:spPr/>
        <p:txBody>
          <a:bodyPr/>
          <a:lstStyle/>
          <a:p>
            <a:fld id="{9D4A35CC-C70A-4792-B171-5A9C7364B6D5}" type="slidenum">
              <a:rPr lang="en-US" smtClean="0"/>
              <a:t>‹#›</a:t>
            </a:fld>
            <a:endParaRPr lang="en-US"/>
          </a:p>
        </p:txBody>
      </p:sp>
      <p:sp>
        <p:nvSpPr>
          <p:cNvPr id="5" name="Rectangle 4">
            <a:extLst>
              <a:ext uri="{FF2B5EF4-FFF2-40B4-BE49-F238E27FC236}">
                <a16:creationId xmlns:a16="http://schemas.microsoft.com/office/drawing/2014/main" id="{6BEC10DA-58DD-6058-72F5-37C7FA819707}"/>
              </a:ext>
            </a:extLst>
          </p:cNvPr>
          <p:cNvSpPr/>
          <p:nvPr/>
        </p:nvSpPr>
        <p:spPr>
          <a:xfrm>
            <a:off x="0" y="0"/>
            <a:ext cx="381000" cy="6858000"/>
          </a:xfrm>
          <a:prstGeom prst="rect">
            <a:avLst/>
          </a:prstGeom>
          <a:solidFill>
            <a:srgbClr val="8C151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817635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569521-1256-3807-0A09-73CF197D198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25A0C9A-E639-327E-EAE2-4C18EEFBB2B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C72BD3E-A8F9-C833-0D6E-E56DF294F73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727D350-5EB9-6E86-2F02-CACFB7A7E0DA}"/>
              </a:ext>
            </a:extLst>
          </p:cNvPr>
          <p:cNvSpPr>
            <a:spLocks noGrp="1"/>
          </p:cNvSpPr>
          <p:nvPr>
            <p:ph type="dt" sz="half" idx="10"/>
          </p:nvPr>
        </p:nvSpPr>
        <p:spPr/>
        <p:txBody>
          <a:bodyPr/>
          <a:lstStyle/>
          <a:p>
            <a:fld id="{7B1B529C-7AC4-498E-86D4-DC9A7DA9F898}" type="datetimeFigureOut">
              <a:rPr lang="en-US" smtClean="0"/>
              <a:t>11/24/25</a:t>
            </a:fld>
            <a:endParaRPr lang="en-US"/>
          </a:p>
        </p:txBody>
      </p:sp>
      <p:sp>
        <p:nvSpPr>
          <p:cNvPr id="6" name="Footer Placeholder 5">
            <a:extLst>
              <a:ext uri="{FF2B5EF4-FFF2-40B4-BE49-F238E27FC236}">
                <a16:creationId xmlns:a16="http://schemas.microsoft.com/office/drawing/2014/main" id="{56194B27-4321-6C96-5E6C-B4294A3A3FC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A878C75-416A-15DA-A2DC-37E0ECED7DB7}"/>
              </a:ext>
            </a:extLst>
          </p:cNvPr>
          <p:cNvSpPr>
            <a:spLocks noGrp="1"/>
          </p:cNvSpPr>
          <p:nvPr>
            <p:ph type="sldNum" sz="quarter" idx="12"/>
          </p:nvPr>
        </p:nvSpPr>
        <p:spPr/>
        <p:txBody>
          <a:bodyPr/>
          <a:lstStyle/>
          <a:p>
            <a:fld id="{9D4A35CC-C70A-4792-B171-5A9C7364B6D5}" type="slidenum">
              <a:rPr lang="en-US" smtClean="0"/>
              <a:t>‹#›</a:t>
            </a:fld>
            <a:endParaRPr lang="en-US"/>
          </a:p>
        </p:txBody>
      </p:sp>
      <p:sp>
        <p:nvSpPr>
          <p:cNvPr id="8" name="Rectangle 7">
            <a:extLst>
              <a:ext uri="{FF2B5EF4-FFF2-40B4-BE49-F238E27FC236}">
                <a16:creationId xmlns:a16="http://schemas.microsoft.com/office/drawing/2014/main" id="{4DD89290-EA5E-999A-9087-ED945E983F0D}"/>
              </a:ext>
            </a:extLst>
          </p:cNvPr>
          <p:cNvSpPr/>
          <p:nvPr/>
        </p:nvSpPr>
        <p:spPr>
          <a:xfrm>
            <a:off x="0" y="0"/>
            <a:ext cx="381000" cy="6858000"/>
          </a:xfrm>
          <a:prstGeom prst="rect">
            <a:avLst/>
          </a:prstGeom>
          <a:solidFill>
            <a:srgbClr val="8C151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688062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37BC17-AE68-BB5D-7E81-4CAFF8B6CBF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9C9BB58-A5B3-752C-C3CD-66BCD70B953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47F54B17-4878-2B1B-1EF4-2E2326955CF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EC00598-743F-6934-3985-938F1E866A58}"/>
              </a:ext>
            </a:extLst>
          </p:cNvPr>
          <p:cNvSpPr>
            <a:spLocks noGrp="1"/>
          </p:cNvSpPr>
          <p:nvPr>
            <p:ph type="dt" sz="half" idx="10"/>
          </p:nvPr>
        </p:nvSpPr>
        <p:spPr/>
        <p:txBody>
          <a:bodyPr/>
          <a:lstStyle/>
          <a:p>
            <a:fld id="{7B1B529C-7AC4-498E-86D4-DC9A7DA9F898}" type="datetimeFigureOut">
              <a:rPr lang="en-US" smtClean="0"/>
              <a:t>11/24/25</a:t>
            </a:fld>
            <a:endParaRPr lang="en-US"/>
          </a:p>
        </p:txBody>
      </p:sp>
      <p:sp>
        <p:nvSpPr>
          <p:cNvPr id="6" name="Footer Placeholder 5">
            <a:extLst>
              <a:ext uri="{FF2B5EF4-FFF2-40B4-BE49-F238E27FC236}">
                <a16:creationId xmlns:a16="http://schemas.microsoft.com/office/drawing/2014/main" id="{A7D902F9-7383-6CE3-298B-4DB50315F4D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434894E-3991-6152-5957-002E7265C881}"/>
              </a:ext>
            </a:extLst>
          </p:cNvPr>
          <p:cNvSpPr>
            <a:spLocks noGrp="1"/>
          </p:cNvSpPr>
          <p:nvPr>
            <p:ph type="sldNum" sz="quarter" idx="12"/>
          </p:nvPr>
        </p:nvSpPr>
        <p:spPr/>
        <p:txBody>
          <a:bodyPr/>
          <a:lstStyle/>
          <a:p>
            <a:fld id="{9D4A35CC-C70A-4792-B171-5A9C7364B6D5}" type="slidenum">
              <a:rPr lang="en-US" smtClean="0"/>
              <a:t>‹#›</a:t>
            </a:fld>
            <a:endParaRPr lang="en-US"/>
          </a:p>
        </p:txBody>
      </p:sp>
      <p:sp>
        <p:nvSpPr>
          <p:cNvPr id="8" name="Rectangle 7">
            <a:extLst>
              <a:ext uri="{FF2B5EF4-FFF2-40B4-BE49-F238E27FC236}">
                <a16:creationId xmlns:a16="http://schemas.microsoft.com/office/drawing/2014/main" id="{66B84A78-F893-43A3-1D6F-4587823EF278}"/>
              </a:ext>
            </a:extLst>
          </p:cNvPr>
          <p:cNvSpPr/>
          <p:nvPr/>
        </p:nvSpPr>
        <p:spPr>
          <a:xfrm>
            <a:off x="0" y="0"/>
            <a:ext cx="381000" cy="6858000"/>
          </a:xfrm>
          <a:prstGeom prst="rect">
            <a:avLst/>
          </a:prstGeom>
          <a:solidFill>
            <a:srgbClr val="8C151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771473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9B4510-4B21-DC22-7420-9F84FC621D8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D119451-B586-AA05-D054-A9F1923CE2A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7E7FC57-6205-2A78-80A0-BB6AA1CF03C7}"/>
              </a:ext>
            </a:extLst>
          </p:cNvPr>
          <p:cNvSpPr>
            <a:spLocks noGrp="1"/>
          </p:cNvSpPr>
          <p:nvPr>
            <p:ph type="dt" sz="half" idx="10"/>
          </p:nvPr>
        </p:nvSpPr>
        <p:spPr/>
        <p:txBody>
          <a:bodyPr/>
          <a:lstStyle/>
          <a:p>
            <a:fld id="{7B1B529C-7AC4-498E-86D4-DC9A7DA9F898}" type="datetimeFigureOut">
              <a:rPr lang="en-US" smtClean="0"/>
              <a:t>11/24/25</a:t>
            </a:fld>
            <a:endParaRPr lang="en-US"/>
          </a:p>
        </p:txBody>
      </p:sp>
      <p:sp>
        <p:nvSpPr>
          <p:cNvPr id="5" name="Footer Placeholder 4">
            <a:extLst>
              <a:ext uri="{FF2B5EF4-FFF2-40B4-BE49-F238E27FC236}">
                <a16:creationId xmlns:a16="http://schemas.microsoft.com/office/drawing/2014/main" id="{A15B43F5-3769-91D9-F447-F3E44C42DA1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5562A88-1673-2416-F5B7-E12A4BECBDC2}"/>
              </a:ext>
            </a:extLst>
          </p:cNvPr>
          <p:cNvSpPr>
            <a:spLocks noGrp="1"/>
          </p:cNvSpPr>
          <p:nvPr>
            <p:ph type="sldNum" sz="quarter" idx="12"/>
          </p:nvPr>
        </p:nvSpPr>
        <p:spPr/>
        <p:txBody>
          <a:bodyPr/>
          <a:lstStyle/>
          <a:p>
            <a:fld id="{9D4A35CC-C70A-4792-B171-5A9C7364B6D5}" type="slidenum">
              <a:rPr lang="en-US" smtClean="0"/>
              <a:t>‹#›</a:t>
            </a:fld>
            <a:endParaRPr lang="en-US"/>
          </a:p>
        </p:txBody>
      </p:sp>
      <p:sp>
        <p:nvSpPr>
          <p:cNvPr id="7" name="Rectangle 6">
            <a:extLst>
              <a:ext uri="{FF2B5EF4-FFF2-40B4-BE49-F238E27FC236}">
                <a16:creationId xmlns:a16="http://schemas.microsoft.com/office/drawing/2014/main" id="{6352AE72-8B3F-0851-5089-AC8CFF790B2F}"/>
              </a:ext>
            </a:extLst>
          </p:cNvPr>
          <p:cNvSpPr/>
          <p:nvPr/>
        </p:nvSpPr>
        <p:spPr>
          <a:xfrm>
            <a:off x="0" y="0"/>
            <a:ext cx="381000" cy="6858000"/>
          </a:xfrm>
          <a:prstGeom prst="rect">
            <a:avLst/>
          </a:prstGeom>
          <a:solidFill>
            <a:srgbClr val="8C151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379811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3E1EEFA-D7BD-F80C-2B4C-0AEDA101A1A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D3C1D9E-E814-5FED-9B2B-78D71AEBE4B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A157526-7469-C9F1-34C8-B1F790EC8CFB}"/>
              </a:ext>
            </a:extLst>
          </p:cNvPr>
          <p:cNvSpPr>
            <a:spLocks noGrp="1"/>
          </p:cNvSpPr>
          <p:nvPr>
            <p:ph type="dt" sz="half" idx="10"/>
          </p:nvPr>
        </p:nvSpPr>
        <p:spPr/>
        <p:txBody>
          <a:bodyPr/>
          <a:lstStyle/>
          <a:p>
            <a:fld id="{7B1B529C-7AC4-498E-86D4-DC9A7DA9F898}" type="datetimeFigureOut">
              <a:rPr lang="en-US" smtClean="0"/>
              <a:t>11/24/25</a:t>
            </a:fld>
            <a:endParaRPr lang="en-US"/>
          </a:p>
        </p:txBody>
      </p:sp>
      <p:sp>
        <p:nvSpPr>
          <p:cNvPr id="5" name="Footer Placeholder 4">
            <a:extLst>
              <a:ext uri="{FF2B5EF4-FFF2-40B4-BE49-F238E27FC236}">
                <a16:creationId xmlns:a16="http://schemas.microsoft.com/office/drawing/2014/main" id="{525ADFC0-7CC2-BF2F-F56F-571E62AE49E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F84DFF3-379F-BDBB-5CAB-16B1BC40BEB9}"/>
              </a:ext>
            </a:extLst>
          </p:cNvPr>
          <p:cNvSpPr>
            <a:spLocks noGrp="1"/>
          </p:cNvSpPr>
          <p:nvPr>
            <p:ph type="sldNum" sz="quarter" idx="12"/>
          </p:nvPr>
        </p:nvSpPr>
        <p:spPr/>
        <p:txBody>
          <a:bodyPr/>
          <a:lstStyle/>
          <a:p>
            <a:fld id="{9D4A35CC-C70A-4792-B171-5A9C7364B6D5}" type="slidenum">
              <a:rPr lang="en-US" smtClean="0"/>
              <a:t>‹#›</a:t>
            </a:fld>
            <a:endParaRPr lang="en-US"/>
          </a:p>
        </p:txBody>
      </p:sp>
      <p:sp>
        <p:nvSpPr>
          <p:cNvPr id="7" name="Rectangle 6">
            <a:extLst>
              <a:ext uri="{FF2B5EF4-FFF2-40B4-BE49-F238E27FC236}">
                <a16:creationId xmlns:a16="http://schemas.microsoft.com/office/drawing/2014/main" id="{185E4D9E-0F99-E18D-52A5-55D652C32935}"/>
              </a:ext>
            </a:extLst>
          </p:cNvPr>
          <p:cNvSpPr/>
          <p:nvPr/>
        </p:nvSpPr>
        <p:spPr>
          <a:xfrm>
            <a:off x="0" y="0"/>
            <a:ext cx="381000" cy="6858000"/>
          </a:xfrm>
          <a:prstGeom prst="rect">
            <a:avLst/>
          </a:prstGeom>
          <a:solidFill>
            <a:srgbClr val="8C151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588112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9" name="Picture 8" descr="A close-up of a logo&#10;&#10;Description automatically generated">
            <a:extLst>
              <a:ext uri="{FF2B5EF4-FFF2-40B4-BE49-F238E27FC236}">
                <a16:creationId xmlns:a16="http://schemas.microsoft.com/office/drawing/2014/main" id="{45FD974E-6B30-074E-DCDA-B43A8313BDC9}"/>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10523705" y="6239790"/>
            <a:ext cx="1473924" cy="506170"/>
          </a:xfrm>
          <a:prstGeom prst="rect">
            <a:avLst/>
          </a:prstGeom>
        </p:spPr>
      </p:pic>
      <p:sp>
        <p:nvSpPr>
          <p:cNvPr id="2" name="Title Placeholder 1">
            <a:extLst>
              <a:ext uri="{FF2B5EF4-FFF2-40B4-BE49-F238E27FC236}">
                <a16:creationId xmlns:a16="http://schemas.microsoft.com/office/drawing/2014/main" id="{6770B608-161B-B8F7-D7A5-CED71D4B413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FA8A0E45-27EC-856E-DA78-F5A5903CB69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49A56F89-8D60-6463-E4B5-485DB2E5698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B1B529C-7AC4-498E-86D4-DC9A7DA9F898}" type="datetimeFigureOut">
              <a:rPr lang="en-US" smtClean="0"/>
              <a:t>11/24/25</a:t>
            </a:fld>
            <a:endParaRPr lang="en-US"/>
          </a:p>
        </p:txBody>
      </p:sp>
      <p:sp>
        <p:nvSpPr>
          <p:cNvPr id="5" name="Footer Placeholder 4">
            <a:extLst>
              <a:ext uri="{FF2B5EF4-FFF2-40B4-BE49-F238E27FC236}">
                <a16:creationId xmlns:a16="http://schemas.microsoft.com/office/drawing/2014/main" id="{3AEDDFEF-E259-13F0-9373-3E1D0F6A242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94B544F3-851E-BC68-C039-63A94D3C5EB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D4A35CC-C70A-4792-B171-5A9C7364B6D5}" type="slidenum">
              <a:rPr lang="en-US" smtClean="0"/>
              <a:t>‹#›</a:t>
            </a:fld>
            <a:endParaRPr lang="en-US"/>
          </a:p>
        </p:txBody>
      </p:sp>
    </p:spTree>
    <p:extLst>
      <p:ext uri="{BB962C8B-B14F-4D97-AF65-F5344CB8AC3E}">
        <p14:creationId xmlns:p14="http://schemas.microsoft.com/office/powerpoint/2010/main" val="177352434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rgbClr val="8C1515"/>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63.pn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7.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8" Type="http://schemas.openxmlformats.org/officeDocument/2006/relationships/image" Target="../media/image27.png"/><Relationship Id="rId13" Type="http://schemas.openxmlformats.org/officeDocument/2006/relationships/image" Target="../media/image32.png"/><Relationship Id="rId18" Type="http://schemas.openxmlformats.org/officeDocument/2006/relationships/image" Target="../media/image37.png"/><Relationship Id="rId3" Type="http://schemas.openxmlformats.org/officeDocument/2006/relationships/image" Target="../media/image22.png"/><Relationship Id="rId21" Type="http://schemas.openxmlformats.org/officeDocument/2006/relationships/image" Target="../media/image40.png"/><Relationship Id="rId7" Type="http://schemas.openxmlformats.org/officeDocument/2006/relationships/image" Target="../media/image26.png"/><Relationship Id="rId12" Type="http://schemas.openxmlformats.org/officeDocument/2006/relationships/image" Target="../media/image31.png"/><Relationship Id="rId17" Type="http://schemas.openxmlformats.org/officeDocument/2006/relationships/image" Target="../media/image36.png"/><Relationship Id="rId2" Type="http://schemas.openxmlformats.org/officeDocument/2006/relationships/notesSlide" Target="../notesSlides/notesSlide19.xml"/><Relationship Id="rId16" Type="http://schemas.openxmlformats.org/officeDocument/2006/relationships/image" Target="../media/image35.png"/><Relationship Id="rId20" Type="http://schemas.openxmlformats.org/officeDocument/2006/relationships/image" Target="../media/image39.png"/><Relationship Id="rId1" Type="http://schemas.openxmlformats.org/officeDocument/2006/relationships/slideLayout" Target="../slideLayouts/slideLayout2.xml"/><Relationship Id="rId6" Type="http://schemas.openxmlformats.org/officeDocument/2006/relationships/image" Target="../media/image20.png"/><Relationship Id="rId11" Type="http://schemas.openxmlformats.org/officeDocument/2006/relationships/image" Target="../media/image30.png"/><Relationship Id="rId5" Type="http://schemas.openxmlformats.org/officeDocument/2006/relationships/image" Target="../media/image24.png"/><Relationship Id="rId15" Type="http://schemas.openxmlformats.org/officeDocument/2006/relationships/image" Target="../media/image34.png"/><Relationship Id="rId23" Type="http://schemas.openxmlformats.org/officeDocument/2006/relationships/image" Target="../media/image13.png"/><Relationship Id="rId10" Type="http://schemas.openxmlformats.org/officeDocument/2006/relationships/image" Target="../media/image29.png"/><Relationship Id="rId19" Type="http://schemas.openxmlformats.org/officeDocument/2006/relationships/image" Target="../media/image38.png"/><Relationship Id="rId4" Type="http://schemas.openxmlformats.org/officeDocument/2006/relationships/image" Target="../media/image19.png"/><Relationship Id="rId9" Type="http://schemas.openxmlformats.org/officeDocument/2006/relationships/image" Target="../media/image28.png"/><Relationship Id="rId14" Type="http://schemas.openxmlformats.org/officeDocument/2006/relationships/image" Target="../media/image33.png"/><Relationship Id="rId22" Type="http://schemas.openxmlformats.org/officeDocument/2006/relationships/image" Target="../media/image21.png"/></Relationships>
</file>

<file path=ppt/slides/_rels/slide2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25.png"/></Relationships>
</file>

<file path=ppt/slides/_rels/slide22.xml.rels><?xml version="1.0" encoding="UTF-8" standalone="yes"?>
<Relationships xmlns="http://schemas.openxmlformats.org/package/2006/relationships"><Relationship Id="rId13" Type="http://schemas.openxmlformats.org/officeDocument/2006/relationships/image" Target="../media/image32.png"/><Relationship Id="rId18" Type="http://schemas.openxmlformats.org/officeDocument/2006/relationships/image" Target="../media/image37.png"/><Relationship Id="rId26" Type="http://schemas.openxmlformats.org/officeDocument/2006/relationships/image" Target="../media/image48.png"/><Relationship Id="rId21" Type="http://schemas.openxmlformats.org/officeDocument/2006/relationships/image" Target="../media/image40.png"/><Relationship Id="rId34" Type="http://schemas.openxmlformats.org/officeDocument/2006/relationships/image" Target="../media/image56.png"/><Relationship Id="rId7" Type="http://schemas.openxmlformats.org/officeDocument/2006/relationships/image" Target="../media/image26.png"/><Relationship Id="rId12" Type="http://schemas.openxmlformats.org/officeDocument/2006/relationships/image" Target="../media/image31.png"/><Relationship Id="rId17" Type="http://schemas.openxmlformats.org/officeDocument/2006/relationships/image" Target="../media/image36.png"/><Relationship Id="rId25" Type="http://schemas.openxmlformats.org/officeDocument/2006/relationships/image" Target="../media/image47.png"/><Relationship Id="rId33" Type="http://schemas.openxmlformats.org/officeDocument/2006/relationships/image" Target="../media/image55.png"/><Relationship Id="rId38" Type="http://schemas.openxmlformats.org/officeDocument/2006/relationships/image" Target="../media/image60.png"/><Relationship Id="rId2" Type="http://schemas.openxmlformats.org/officeDocument/2006/relationships/notesSlide" Target="../notesSlides/notesSlide21.xml"/><Relationship Id="rId16" Type="http://schemas.openxmlformats.org/officeDocument/2006/relationships/image" Target="../media/image35.png"/><Relationship Id="rId20" Type="http://schemas.openxmlformats.org/officeDocument/2006/relationships/image" Target="../media/image39.png"/><Relationship Id="rId29" Type="http://schemas.openxmlformats.org/officeDocument/2006/relationships/image" Target="../media/image51.png"/><Relationship Id="rId1" Type="http://schemas.openxmlformats.org/officeDocument/2006/relationships/slideLayout" Target="../slideLayouts/slideLayout2.xml"/><Relationship Id="rId6" Type="http://schemas.openxmlformats.org/officeDocument/2006/relationships/image" Target="../media/image44.png"/><Relationship Id="rId11" Type="http://schemas.openxmlformats.org/officeDocument/2006/relationships/image" Target="../media/image30.png"/><Relationship Id="rId24" Type="http://schemas.openxmlformats.org/officeDocument/2006/relationships/image" Target="../media/image46.png"/><Relationship Id="rId32" Type="http://schemas.openxmlformats.org/officeDocument/2006/relationships/image" Target="../media/image54.png"/><Relationship Id="rId37" Type="http://schemas.openxmlformats.org/officeDocument/2006/relationships/image" Target="../media/image59.png"/><Relationship Id="rId5" Type="http://schemas.openxmlformats.org/officeDocument/2006/relationships/image" Target="../media/image24.png"/><Relationship Id="rId15" Type="http://schemas.openxmlformats.org/officeDocument/2006/relationships/image" Target="../media/image34.png"/><Relationship Id="rId23" Type="http://schemas.openxmlformats.org/officeDocument/2006/relationships/image" Target="../media/image45.png"/><Relationship Id="rId28" Type="http://schemas.openxmlformats.org/officeDocument/2006/relationships/image" Target="../media/image50.png"/><Relationship Id="rId36" Type="http://schemas.openxmlformats.org/officeDocument/2006/relationships/image" Target="../media/image58.png"/><Relationship Id="rId10" Type="http://schemas.openxmlformats.org/officeDocument/2006/relationships/image" Target="../media/image29.png"/><Relationship Id="rId19" Type="http://schemas.openxmlformats.org/officeDocument/2006/relationships/image" Target="../media/image38.png"/><Relationship Id="rId31" Type="http://schemas.openxmlformats.org/officeDocument/2006/relationships/image" Target="../media/image53.png"/><Relationship Id="rId4" Type="http://schemas.openxmlformats.org/officeDocument/2006/relationships/image" Target="../media/image43.png"/><Relationship Id="rId9" Type="http://schemas.openxmlformats.org/officeDocument/2006/relationships/image" Target="../media/image28.png"/><Relationship Id="rId14" Type="http://schemas.openxmlformats.org/officeDocument/2006/relationships/image" Target="../media/image33.png"/><Relationship Id="rId22" Type="http://schemas.openxmlformats.org/officeDocument/2006/relationships/image" Target="../media/image13.png"/><Relationship Id="rId27" Type="http://schemas.openxmlformats.org/officeDocument/2006/relationships/image" Target="../media/image49.png"/><Relationship Id="rId30" Type="http://schemas.openxmlformats.org/officeDocument/2006/relationships/image" Target="../media/image52.png"/><Relationship Id="rId35" Type="http://schemas.openxmlformats.org/officeDocument/2006/relationships/image" Target="../media/image57.png"/><Relationship Id="rId8" Type="http://schemas.openxmlformats.org/officeDocument/2006/relationships/image" Target="../media/image27.png"/><Relationship Id="rId3" Type="http://schemas.openxmlformats.org/officeDocument/2006/relationships/image" Target="../media/image22.png"/></Relationships>
</file>

<file path=ppt/slides/_rels/slide23.xml.rels><?xml version="1.0" encoding="UTF-8" standalone="yes"?>
<Relationships xmlns="http://schemas.openxmlformats.org/package/2006/relationships"><Relationship Id="rId3" Type="http://schemas.openxmlformats.org/officeDocument/2006/relationships/image" Target="../media/image23.png"/><Relationship Id="rId7" Type="http://schemas.openxmlformats.org/officeDocument/2006/relationships/image" Target="../media/image41.pn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42.png"/><Relationship Id="rId5" Type="http://schemas.openxmlformats.org/officeDocument/2006/relationships/image" Target="../media/image61.png"/><Relationship Id="rId4" Type="http://schemas.openxmlformats.org/officeDocument/2006/relationships/image" Target="../media/image25.png"/></Relationships>
</file>

<file path=ppt/slides/_rels/slide24.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23.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63.png"/></Relationships>
</file>

<file path=ppt/slides/_rels/slide25.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3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34.xml.rels><?xml version="1.0" encoding="UTF-8" standalone="yes"?>
<Relationships xmlns="http://schemas.openxmlformats.org/package/2006/relationships"><Relationship Id="rId3" Type="http://schemas.openxmlformats.org/officeDocument/2006/relationships/image" Target="../media/image660.pn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69.png"/><Relationship Id="rId5" Type="http://schemas.openxmlformats.org/officeDocument/2006/relationships/image" Target="../media/image68.png"/><Relationship Id="rId4" Type="http://schemas.openxmlformats.org/officeDocument/2006/relationships/image" Target="../media/image67.png"/></Relationships>
</file>

<file path=ppt/slides/_rels/slide35.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60.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8" Type="http://schemas.openxmlformats.org/officeDocument/2006/relationships/image" Target="../media/image76.png"/><Relationship Id="rId13" Type="http://schemas.openxmlformats.org/officeDocument/2006/relationships/image" Target="../media/image81.png"/><Relationship Id="rId18" Type="http://schemas.openxmlformats.org/officeDocument/2006/relationships/image" Target="../media/image86.png"/><Relationship Id="rId3" Type="http://schemas.openxmlformats.org/officeDocument/2006/relationships/image" Target="../media/image71.png"/><Relationship Id="rId21" Type="http://schemas.openxmlformats.org/officeDocument/2006/relationships/image" Target="../media/image89.png"/><Relationship Id="rId7" Type="http://schemas.openxmlformats.org/officeDocument/2006/relationships/image" Target="../media/image75.png"/><Relationship Id="rId12" Type="http://schemas.openxmlformats.org/officeDocument/2006/relationships/image" Target="../media/image80.png"/><Relationship Id="rId17" Type="http://schemas.openxmlformats.org/officeDocument/2006/relationships/image" Target="../media/image85.png"/><Relationship Id="rId2" Type="http://schemas.openxmlformats.org/officeDocument/2006/relationships/notesSlide" Target="../notesSlides/notesSlide33.xml"/><Relationship Id="rId16" Type="http://schemas.openxmlformats.org/officeDocument/2006/relationships/image" Target="../media/image84.png"/><Relationship Id="rId20" Type="http://schemas.openxmlformats.org/officeDocument/2006/relationships/image" Target="../media/image88.png"/><Relationship Id="rId1" Type="http://schemas.openxmlformats.org/officeDocument/2006/relationships/slideLayout" Target="../slideLayouts/slideLayout2.xml"/><Relationship Id="rId6" Type="http://schemas.openxmlformats.org/officeDocument/2006/relationships/image" Target="../media/image74.png"/><Relationship Id="rId11" Type="http://schemas.openxmlformats.org/officeDocument/2006/relationships/image" Target="../media/image79.png"/><Relationship Id="rId5" Type="http://schemas.openxmlformats.org/officeDocument/2006/relationships/image" Target="../media/image73.png"/><Relationship Id="rId15" Type="http://schemas.openxmlformats.org/officeDocument/2006/relationships/image" Target="../media/image83.png"/><Relationship Id="rId10" Type="http://schemas.openxmlformats.org/officeDocument/2006/relationships/image" Target="../media/image78.png"/><Relationship Id="rId19" Type="http://schemas.openxmlformats.org/officeDocument/2006/relationships/image" Target="../media/image87.png"/><Relationship Id="rId4" Type="http://schemas.openxmlformats.org/officeDocument/2006/relationships/image" Target="../media/image72.png"/><Relationship Id="rId9" Type="http://schemas.openxmlformats.org/officeDocument/2006/relationships/image" Target="../media/image77.png"/><Relationship Id="rId14" Type="http://schemas.openxmlformats.org/officeDocument/2006/relationships/image" Target="../media/image82.png"/></Relationships>
</file>

<file path=ppt/slides/_rels/slide37.xml.rels><?xml version="1.0" encoding="UTF-8" standalone="yes"?>
<Relationships xmlns="http://schemas.openxmlformats.org/package/2006/relationships"><Relationship Id="rId8" Type="http://schemas.openxmlformats.org/officeDocument/2006/relationships/image" Target="../media/image111.png"/><Relationship Id="rId13" Type="http://schemas.openxmlformats.org/officeDocument/2006/relationships/image" Target="../media/image116.png"/><Relationship Id="rId18" Type="http://schemas.openxmlformats.org/officeDocument/2006/relationships/image" Target="../media/image121.png"/><Relationship Id="rId21" Type="http://schemas.openxmlformats.org/officeDocument/2006/relationships/image" Target="../media/image107.png"/><Relationship Id="rId7" Type="http://schemas.openxmlformats.org/officeDocument/2006/relationships/image" Target="../media/image110.png"/><Relationship Id="rId12" Type="http://schemas.openxmlformats.org/officeDocument/2006/relationships/image" Target="../media/image115.png"/><Relationship Id="rId17" Type="http://schemas.openxmlformats.org/officeDocument/2006/relationships/image" Target="../media/image120.png"/><Relationship Id="rId2" Type="http://schemas.openxmlformats.org/officeDocument/2006/relationships/notesSlide" Target="../notesSlides/notesSlide34.xml"/><Relationship Id="rId16" Type="http://schemas.openxmlformats.org/officeDocument/2006/relationships/image" Target="../media/image119.png"/><Relationship Id="rId20" Type="http://schemas.openxmlformats.org/officeDocument/2006/relationships/image" Target="../media/image123.png"/><Relationship Id="rId1" Type="http://schemas.openxmlformats.org/officeDocument/2006/relationships/slideLayout" Target="../slideLayouts/slideLayout2.xml"/><Relationship Id="rId6" Type="http://schemas.openxmlformats.org/officeDocument/2006/relationships/image" Target="../media/image109.png"/><Relationship Id="rId11" Type="http://schemas.openxmlformats.org/officeDocument/2006/relationships/image" Target="../media/image114.png"/><Relationship Id="rId24" Type="http://schemas.openxmlformats.org/officeDocument/2006/relationships/image" Target="../media/image92.png"/><Relationship Id="rId15" Type="http://schemas.openxmlformats.org/officeDocument/2006/relationships/image" Target="../media/image118.png"/><Relationship Id="rId23" Type="http://schemas.openxmlformats.org/officeDocument/2006/relationships/image" Target="../media/image91.png"/><Relationship Id="rId10" Type="http://schemas.openxmlformats.org/officeDocument/2006/relationships/image" Target="../media/image113.png"/><Relationship Id="rId19" Type="http://schemas.openxmlformats.org/officeDocument/2006/relationships/image" Target="../media/image122.png"/><Relationship Id="rId9" Type="http://schemas.openxmlformats.org/officeDocument/2006/relationships/image" Target="../media/image112.png"/><Relationship Id="rId14" Type="http://schemas.openxmlformats.org/officeDocument/2006/relationships/image" Target="../media/image117.png"/><Relationship Id="rId22" Type="http://schemas.openxmlformats.org/officeDocument/2006/relationships/image" Target="../media/image90.png"/></Relationships>
</file>

<file path=ppt/slides/_rels/slide38.xml.rels><?xml version="1.0" encoding="UTF-8" standalone="yes"?>
<Relationships xmlns="http://schemas.openxmlformats.org/package/2006/relationships"><Relationship Id="rId8" Type="http://schemas.openxmlformats.org/officeDocument/2006/relationships/image" Target="../media/image111.png"/><Relationship Id="rId13" Type="http://schemas.openxmlformats.org/officeDocument/2006/relationships/image" Target="../media/image116.png"/><Relationship Id="rId18" Type="http://schemas.openxmlformats.org/officeDocument/2006/relationships/image" Target="../media/image121.png"/><Relationship Id="rId21" Type="http://schemas.openxmlformats.org/officeDocument/2006/relationships/image" Target="../media/image107.png"/><Relationship Id="rId7" Type="http://schemas.openxmlformats.org/officeDocument/2006/relationships/image" Target="../media/image110.png"/><Relationship Id="rId12" Type="http://schemas.openxmlformats.org/officeDocument/2006/relationships/image" Target="../media/image115.png"/><Relationship Id="rId17" Type="http://schemas.openxmlformats.org/officeDocument/2006/relationships/image" Target="../media/image120.png"/><Relationship Id="rId2" Type="http://schemas.openxmlformats.org/officeDocument/2006/relationships/notesSlide" Target="../notesSlides/notesSlide35.xml"/><Relationship Id="rId16" Type="http://schemas.openxmlformats.org/officeDocument/2006/relationships/image" Target="../media/image119.png"/><Relationship Id="rId20" Type="http://schemas.openxmlformats.org/officeDocument/2006/relationships/image" Target="../media/image123.png"/><Relationship Id="rId1" Type="http://schemas.openxmlformats.org/officeDocument/2006/relationships/slideLayout" Target="../slideLayouts/slideLayout2.xml"/><Relationship Id="rId6" Type="http://schemas.openxmlformats.org/officeDocument/2006/relationships/image" Target="../media/image109.png"/><Relationship Id="rId11" Type="http://schemas.openxmlformats.org/officeDocument/2006/relationships/image" Target="../media/image114.png"/><Relationship Id="rId24" Type="http://schemas.openxmlformats.org/officeDocument/2006/relationships/image" Target="../media/image92.png"/><Relationship Id="rId15" Type="http://schemas.openxmlformats.org/officeDocument/2006/relationships/image" Target="../media/image118.png"/><Relationship Id="rId23" Type="http://schemas.openxmlformats.org/officeDocument/2006/relationships/image" Target="../media/image91.png"/><Relationship Id="rId10" Type="http://schemas.openxmlformats.org/officeDocument/2006/relationships/image" Target="../media/image113.png"/><Relationship Id="rId19" Type="http://schemas.openxmlformats.org/officeDocument/2006/relationships/image" Target="../media/image122.png"/><Relationship Id="rId9" Type="http://schemas.openxmlformats.org/officeDocument/2006/relationships/image" Target="../media/image112.png"/><Relationship Id="rId14" Type="http://schemas.openxmlformats.org/officeDocument/2006/relationships/image" Target="../media/image117.png"/><Relationship Id="rId22" Type="http://schemas.openxmlformats.org/officeDocument/2006/relationships/image" Target="../media/image90.pn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notesSlide" Target="../notesSlides/notesSlide37.xml"/><Relationship Id="rId1" Type="http://schemas.openxmlformats.org/officeDocument/2006/relationships/slideLayout" Target="../slideLayouts/slideLayout2.xml"/><Relationship Id="rId5" Type="http://schemas.openxmlformats.org/officeDocument/2006/relationships/image" Target="../media/image95.png"/><Relationship Id="rId4" Type="http://schemas.openxmlformats.org/officeDocument/2006/relationships/image" Target="../media/image94.png"/></Relationships>
</file>

<file path=ppt/slides/_rels/slide41.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image" Target="../media/image96.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image" Target="../media/image98.png"/><Relationship Id="rId1" Type="http://schemas.openxmlformats.org/officeDocument/2006/relationships/slideLayout" Target="../slideLayouts/slideLayout2.xml"/><Relationship Id="rId4" Type="http://schemas.openxmlformats.org/officeDocument/2006/relationships/image" Target="../media/image97.png"/></Relationships>
</file>

<file path=ppt/slides/_rels/slide43.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image" Target="../media/image100.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1.xml"/><Relationship Id="rId1" Type="http://schemas.openxmlformats.org/officeDocument/2006/relationships/tags" Target="../tags/tag1.xml"/><Relationship Id="rId4" Type="http://schemas.openxmlformats.org/officeDocument/2006/relationships/image" Target="../media/image102.png"/></Relationships>
</file>

<file path=ppt/slides/_rels/slide4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1.xml"/><Relationship Id="rId1" Type="http://schemas.openxmlformats.org/officeDocument/2006/relationships/tags" Target="../tags/tag2.xml"/><Relationship Id="rId4" Type="http://schemas.openxmlformats.org/officeDocument/2006/relationships/image" Target="../media/image103.png"/></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notesSlide" Target="../notesSlides/notesSlide47.xml"/><Relationship Id="rId1" Type="http://schemas.openxmlformats.org/officeDocument/2006/relationships/slideLayout" Target="../slideLayouts/slideLayout2.xml"/><Relationship Id="rId4" Type="http://schemas.openxmlformats.org/officeDocument/2006/relationships/image" Target="../media/image105.jpeg"/></Relationships>
</file>

<file path=ppt/slides/_rels/slide54.xml.rels><?xml version="1.0" encoding="UTF-8" standalone="yes"?>
<Relationships xmlns="http://schemas.openxmlformats.org/package/2006/relationships"><Relationship Id="rId13" Type="http://schemas.openxmlformats.org/officeDocument/2006/relationships/image" Target="../media/image132.png"/><Relationship Id="rId18" Type="http://schemas.openxmlformats.org/officeDocument/2006/relationships/image" Target="NULL"/><Relationship Id="rId26" Type="http://schemas.openxmlformats.org/officeDocument/2006/relationships/image" Target="NULL"/><Relationship Id="rId3" Type="http://schemas.openxmlformats.org/officeDocument/2006/relationships/image" Target="../media/image106.jpeg"/><Relationship Id="rId21" Type="http://schemas.openxmlformats.org/officeDocument/2006/relationships/image" Target="NULL"/><Relationship Id="rId7" Type="http://schemas.openxmlformats.org/officeDocument/2006/relationships/image" Target="../media/image126.png"/><Relationship Id="rId12" Type="http://schemas.openxmlformats.org/officeDocument/2006/relationships/image" Target="../media/image131.png"/><Relationship Id="rId17" Type="http://schemas.openxmlformats.org/officeDocument/2006/relationships/image" Target="NULL"/><Relationship Id="rId25" Type="http://schemas.openxmlformats.org/officeDocument/2006/relationships/image" Target="NULL"/><Relationship Id="rId33" Type="http://schemas.openxmlformats.org/officeDocument/2006/relationships/image" Target="../media/image171.png"/><Relationship Id="rId2" Type="http://schemas.openxmlformats.org/officeDocument/2006/relationships/notesSlide" Target="../notesSlides/notesSlide48.xml"/><Relationship Id="rId16" Type="http://schemas.openxmlformats.org/officeDocument/2006/relationships/image" Target="NULL"/><Relationship Id="rId20" Type="http://schemas.openxmlformats.org/officeDocument/2006/relationships/image" Target="NULL"/><Relationship Id="rId29" Type="http://schemas.openxmlformats.org/officeDocument/2006/relationships/image" Target="NULL"/><Relationship Id="rId1" Type="http://schemas.openxmlformats.org/officeDocument/2006/relationships/slideLayout" Target="../slideLayouts/slideLayout2.xml"/><Relationship Id="rId6" Type="http://schemas.openxmlformats.org/officeDocument/2006/relationships/image" Target="../media/image125.png"/><Relationship Id="rId11" Type="http://schemas.openxmlformats.org/officeDocument/2006/relationships/image" Target="../media/image130.png"/><Relationship Id="rId24" Type="http://schemas.openxmlformats.org/officeDocument/2006/relationships/image" Target="NULL"/><Relationship Id="rId32" Type="http://schemas.openxmlformats.org/officeDocument/2006/relationships/image" Target="NULL"/><Relationship Id="rId5" Type="http://schemas.openxmlformats.org/officeDocument/2006/relationships/image" Target="../media/image124.png"/><Relationship Id="rId15" Type="http://schemas.openxmlformats.org/officeDocument/2006/relationships/image" Target="NULL"/><Relationship Id="rId23" Type="http://schemas.openxmlformats.org/officeDocument/2006/relationships/image" Target="NULL"/><Relationship Id="rId28" Type="http://schemas.openxmlformats.org/officeDocument/2006/relationships/image" Target="NULL"/><Relationship Id="rId10" Type="http://schemas.openxmlformats.org/officeDocument/2006/relationships/image" Target="../media/image129.png"/><Relationship Id="rId19" Type="http://schemas.openxmlformats.org/officeDocument/2006/relationships/image" Target="NULL"/><Relationship Id="rId31" Type="http://schemas.openxmlformats.org/officeDocument/2006/relationships/image" Target="NULL"/><Relationship Id="rId4" Type="http://schemas.openxmlformats.org/officeDocument/2006/relationships/image" Target="../media/image108.png"/><Relationship Id="rId9" Type="http://schemas.openxmlformats.org/officeDocument/2006/relationships/image" Target="../media/image128.png"/><Relationship Id="rId14" Type="http://schemas.openxmlformats.org/officeDocument/2006/relationships/image" Target="NULL"/><Relationship Id="rId22" Type="http://schemas.openxmlformats.org/officeDocument/2006/relationships/image" Target="NULL"/><Relationship Id="rId27" Type="http://schemas.openxmlformats.org/officeDocument/2006/relationships/image" Target="NULL"/><Relationship Id="rId30" Type="http://schemas.openxmlformats.org/officeDocument/2006/relationships/image" Target="NULL"/><Relationship Id="rId8" Type="http://schemas.openxmlformats.org/officeDocument/2006/relationships/image" Target="../media/image127.png"/></Relationships>
</file>

<file path=ppt/slides/_rels/slide55.xml.rels><?xml version="1.0" encoding="UTF-8" standalone="yes"?>
<Relationships xmlns="http://schemas.openxmlformats.org/package/2006/relationships"><Relationship Id="rId3" Type="http://schemas.openxmlformats.org/officeDocument/2006/relationships/image" Target="../media/image133.png"/><Relationship Id="rId7" Type="http://schemas.openxmlformats.org/officeDocument/2006/relationships/image" Target="../media/image136.jpeg"/><Relationship Id="rId2" Type="http://schemas.openxmlformats.org/officeDocument/2006/relationships/notesSlide" Target="../notesSlides/notesSlide49.xml"/><Relationship Id="rId1" Type="http://schemas.openxmlformats.org/officeDocument/2006/relationships/slideLayout" Target="../slideLayouts/slideLayout2.xml"/><Relationship Id="rId6" Type="http://schemas.openxmlformats.org/officeDocument/2006/relationships/image" Target="../media/image135.png"/><Relationship Id="rId5" Type="http://schemas.openxmlformats.org/officeDocument/2006/relationships/image" Target="../media/image134.png"/><Relationship Id="rId4" Type="http://schemas.openxmlformats.org/officeDocument/2006/relationships/image" Target="../media/image6.png"/></Relationships>
</file>

<file path=ppt/slides/_rels/slide56.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137.png"/><Relationship Id="rId7" Type="http://schemas.openxmlformats.org/officeDocument/2006/relationships/image" Target="../media/image140.png"/><Relationship Id="rId2" Type="http://schemas.openxmlformats.org/officeDocument/2006/relationships/notesSlide" Target="../notesSlides/notesSlide50.xml"/><Relationship Id="rId1" Type="http://schemas.openxmlformats.org/officeDocument/2006/relationships/slideLayout" Target="../slideLayouts/slideLayout2.xml"/><Relationship Id="rId6" Type="http://schemas.openxmlformats.org/officeDocument/2006/relationships/image" Target="../media/image128.png"/><Relationship Id="rId11" Type="http://schemas.openxmlformats.org/officeDocument/2006/relationships/image" Target="../media/image142.png"/><Relationship Id="rId5" Type="http://schemas.openxmlformats.org/officeDocument/2006/relationships/image" Target="../media/image139.jpeg"/><Relationship Id="rId10" Type="http://schemas.microsoft.com/office/2007/relationships/hdphoto" Target="../media/hdphoto2.wdp"/><Relationship Id="rId4" Type="http://schemas.openxmlformats.org/officeDocument/2006/relationships/image" Target="../media/image138.png"/><Relationship Id="rId9" Type="http://schemas.openxmlformats.org/officeDocument/2006/relationships/image" Target="../media/image141.png"/></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8" Type="http://schemas.openxmlformats.org/officeDocument/2006/relationships/image" Target="../media/image145.png"/><Relationship Id="rId13" Type="http://schemas.openxmlformats.org/officeDocument/2006/relationships/image" Target="../media/image126.png"/><Relationship Id="rId3" Type="http://schemas.openxmlformats.org/officeDocument/2006/relationships/image" Target="../media/image143.jpeg"/><Relationship Id="rId7" Type="http://schemas.openxmlformats.org/officeDocument/2006/relationships/image" Target="NULL"/><Relationship Id="rId12" Type="http://schemas.openxmlformats.org/officeDocument/2006/relationships/image" Target="../media/image128.png"/><Relationship Id="rId2" Type="http://schemas.openxmlformats.org/officeDocument/2006/relationships/notesSlide" Target="../notesSlides/notesSlide52.xml"/><Relationship Id="rId16" Type="http://schemas.openxmlformats.org/officeDocument/2006/relationships/image" Target="../media/image150.png"/><Relationship Id="rId1" Type="http://schemas.openxmlformats.org/officeDocument/2006/relationships/slideLayout" Target="../slideLayouts/slideLayout2.xml"/><Relationship Id="rId6" Type="http://schemas.openxmlformats.org/officeDocument/2006/relationships/image" Target="NULL"/><Relationship Id="rId11" Type="http://schemas.openxmlformats.org/officeDocument/2006/relationships/image" Target="../media/image147.png"/><Relationship Id="rId5" Type="http://schemas.openxmlformats.org/officeDocument/2006/relationships/image" Target="NULL"/><Relationship Id="rId15" Type="http://schemas.openxmlformats.org/officeDocument/2006/relationships/image" Target="../media/image149.png"/><Relationship Id="rId10" Type="http://schemas.openxmlformats.org/officeDocument/2006/relationships/image" Target="../media/image146.png"/><Relationship Id="rId4" Type="http://schemas.openxmlformats.org/officeDocument/2006/relationships/image" Target="../media/image144.png"/><Relationship Id="rId9" Type="http://schemas.openxmlformats.org/officeDocument/2006/relationships/image" Target="../media/image108.png"/><Relationship Id="rId14" Type="http://schemas.openxmlformats.org/officeDocument/2006/relationships/image" Target="../media/image148.png"/></Relationships>
</file>

<file path=ppt/slides/_rels/slide59.xml.rels><?xml version="1.0" encoding="UTF-8" standalone="yes"?>
<Relationships xmlns="http://schemas.openxmlformats.org/package/2006/relationships"><Relationship Id="rId3" Type="http://schemas.openxmlformats.org/officeDocument/2006/relationships/image" Target="../media/image190.png"/><Relationship Id="rId2" Type="http://schemas.openxmlformats.org/officeDocument/2006/relationships/notesSlide" Target="../notesSlides/notesSlide53.xml"/><Relationship Id="rId1" Type="http://schemas.openxmlformats.org/officeDocument/2006/relationships/slideLayout" Target="../slideLayouts/slideLayout2.xml"/><Relationship Id="rId6" Type="http://schemas.openxmlformats.org/officeDocument/2006/relationships/image" Target="../media/image145.png"/><Relationship Id="rId5" Type="http://schemas.openxmlformats.org/officeDocument/2006/relationships/image" Target="../media/image128.png"/><Relationship Id="rId4" Type="http://schemas.openxmlformats.org/officeDocument/2006/relationships/image" Target="../media/image191.png"/></Relationships>
</file>

<file path=ppt/slides/_rels/slide60.xml.rels><?xml version="1.0" encoding="UTF-8" standalone="yes"?>
<Relationships xmlns="http://schemas.openxmlformats.org/package/2006/relationships"><Relationship Id="rId26" Type="http://schemas.openxmlformats.org/officeDocument/2006/relationships/image" Target="../media/image215.png"/><Relationship Id="rId21" Type="http://schemas.openxmlformats.org/officeDocument/2006/relationships/image" Target="../media/image210.png"/><Relationship Id="rId42" Type="http://schemas.openxmlformats.org/officeDocument/2006/relationships/image" Target="../media/image231.png"/><Relationship Id="rId47" Type="http://schemas.openxmlformats.org/officeDocument/2006/relationships/image" Target="../media/image236.png"/><Relationship Id="rId63" Type="http://schemas.openxmlformats.org/officeDocument/2006/relationships/image" Target="../media/image252.png"/><Relationship Id="rId68" Type="http://schemas.openxmlformats.org/officeDocument/2006/relationships/image" Target="../media/image257.png"/><Relationship Id="rId16" Type="http://schemas.openxmlformats.org/officeDocument/2006/relationships/image" Target="../media/image205.png"/><Relationship Id="rId11" Type="http://schemas.openxmlformats.org/officeDocument/2006/relationships/image" Target="../media/image200.png"/><Relationship Id="rId24" Type="http://schemas.openxmlformats.org/officeDocument/2006/relationships/image" Target="../media/image213.png"/><Relationship Id="rId32" Type="http://schemas.openxmlformats.org/officeDocument/2006/relationships/image" Target="../media/image221.png"/><Relationship Id="rId37" Type="http://schemas.openxmlformats.org/officeDocument/2006/relationships/image" Target="../media/image226.png"/><Relationship Id="rId40" Type="http://schemas.openxmlformats.org/officeDocument/2006/relationships/image" Target="../media/image229.png"/><Relationship Id="rId45" Type="http://schemas.openxmlformats.org/officeDocument/2006/relationships/image" Target="../media/image234.png"/><Relationship Id="rId53" Type="http://schemas.openxmlformats.org/officeDocument/2006/relationships/image" Target="../media/image242.png"/><Relationship Id="rId58" Type="http://schemas.openxmlformats.org/officeDocument/2006/relationships/image" Target="../media/image247.png"/><Relationship Id="rId66" Type="http://schemas.openxmlformats.org/officeDocument/2006/relationships/image" Target="../media/image255.png"/><Relationship Id="rId74" Type="http://schemas.microsoft.com/office/2007/relationships/hdphoto" Target="../media/hdphoto4.wdp"/><Relationship Id="rId5" Type="http://schemas.openxmlformats.org/officeDocument/2006/relationships/image" Target="../media/image194.png"/><Relationship Id="rId61" Type="http://schemas.openxmlformats.org/officeDocument/2006/relationships/image" Target="../media/image250.png"/><Relationship Id="rId19" Type="http://schemas.openxmlformats.org/officeDocument/2006/relationships/image" Target="../media/image208.png"/><Relationship Id="rId14" Type="http://schemas.openxmlformats.org/officeDocument/2006/relationships/image" Target="../media/image203.png"/><Relationship Id="rId22" Type="http://schemas.openxmlformats.org/officeDocument/2006/relationships/image" Target="../media/image211.png"/><Relationship Id="rId27" Type="http://schemas.openxmlformats.org/officeDocument/2006/relationships/image" Target="../media/image216.png"/><Relationship Id="rId30" Type="http://schemas.openxmlformats.org/officeDocument/2006/relationships/image" Target="../media/image219.png"/><Relationship Id="rId35" Type="http://schemas.openxmlformats.org/officeDocument/2006/relationships/image" Target="../media/image224.png"/><Relationship Id="rId43" Type="http://schemas.openxmlformats.org/officeDocument/2006/relationships/image" Target="../media/image232.png"/><Relationship Id="rId48" Type="http://schemas.openxmlformats.org/officeDocument/2006/relationships/image" Target="../media/image237.png"/><Relationship Id="rId56" Type="http://schemas.openxmlformats.org/officeDocument/2006/relationships/image" Target="../media/image245.png"/><Relationship Id="rId64" Type="http://schemas.openxmlformats.org/officeDocument/2006/relationships/image" Target="../media/image253.png"/><Relationship Id="rId69" Type="http://schemas.openxmlformats.org/officeDocument/2006/relationships/image" Target="../media/image258.png"/><Relationship Id="rId77" Type="http://schemas.openxmlformats.org/officeDocument/2006/relationships/image" Target="../media/image155.png"/><Relationship Id="rId8" Type="http://schemas.openxmlformats.org/officeDocument/2006/relationships/image" Target="../media/image197.png"/><Relationship Id="rId51" Type="http://schemas.openxmlformats.org/officeDocument/2006/relationships/image" Target="../media/image240.png"/><Relationship Id="rId72" Type="http://schemas.microsoft.com/office/2007/relationships/hdphoto" Target="../media/hdphoto3.wdp"/><Relationship Id="rId3" Type="http://schemas.openxmlformats.org/officeDocument/2006/relationships/image" Target="../media/image192.png"/><Relationship Id="rId12" Type="http://schemas.openxmlformats.org/officeDocument/2006/relationships/image" Target="../media/image201.png"/><Relationship Id="rId17" Type="http://schemas.openxmlformats.org/officeDocument/2006/relationships/image" Target="../media/image206.png"/><Relationship Id="rId25" Type="http://schemas.openxmlformats.org/officeDocument/2006/relationships/image" Target="../media/image214.png"/><Relationship Id="rId33" Type="http://schemas.openxmlformats.org/officeDocument/2006/relationships/image" Target="../media/image222.png"/><Relationship Id="rId38" Type="http://schemas.openxmlformats.org/officeDocument/2006/relationships/image" Target="../media/image227.png"/><Relationship Id="rId46" Type="http://schemas.openxmlformats.org/officeDocument/2006/relationships/image" Target="../media/image235.png"/><Relationship Id="rId59" Type="http://schemas.openxmlformats.org/officeDocument/2006/relationships/image" Target="../media/image248.png"/><Relationship Id="rId67" Type="http://schemas.openxmlformats.org/officeDocument/2006/relationships/image" Target="../media/image256.png"/><Relationship Id="rId20" Type="http://schemas.openxmlformats.org/officeDocument/2006/relationships/image" Target="../media/image209.png"/><Relationship Id="rId41" Type="http://schemas.openxmlformats.org/officeDocument/2006/relationships/image" Target="../media/image230.png"/><Relationship Id="rId54" Type="http://schemas.openxmlformats.org/officeDocument/2006/relationships/image" Target="../media/image243.png"/><Relationship Id="rId62" Type="http://schemas.openxmlformats.org/officeDocument/2006/relationships/image" Target="../media/image251.png"/><Relationship Id="rId70" Type="http://schemas.openxmlformats.org/officeDocument/2006/relationships/image" Target="../media/image151.png"/><Relationship Id="rId75" Type="http://schemas.openxmlformats.org/officeDocument/2006/relationships/image" Target="../media/image154.png"/><Relationship Id="rId1" Type="http://schemas.openxmlformats.org/officeDocument/2006/relationships/slideLayout" Target="../slideLayouts/slideLayout2.xml"/><Relationship Id="rId6" Type="http://schemas.openxmlformats.org/officeDocument/2006/relationships/image" Target="../media/image195.png"/><Relationship Id="rId15" Type="http://schemas.openxmlformats.org/officeDocument/2006/relationships/image" Target="../media/image204.png"/><Relationship Id="rId23" Type="http://schemas.openxmlformats.org/officeDocument/2006/relationships/image" Target="../media/image212.png"/><Relationship Id="rId28" Type="http://schemas.openxmlformats.org/officeDocument/2006/relationships/image" Target="../media/image217.png"/><Relationship Id="rId36" Type="http://schemas.openxmlformats.org/officeDocument/2006/relationships/image" Target="../media/image225.png"/><Relationship Id="rId49" Type="http://schemas.openxmlformats.org/officeDocument/2006/relationships/image" Target="../media/image238.png"/><Relationship Id="rId57" Type="http://schemas.openxmlformats.org/officeDocument/2006/relationships/image" Target="../media/image246.png"/><Relationship Id="rId10" Type="http://schemas.openxmlformats.org/officeDocument/2006/relationships/image" Target="../media/image199.png"/><Relationship Id="rId31" Type="http://schemas.openxmlformats.org/officeDocument/2006/relationships/image" Target="../media/image220.png"/><Relationship Id="rId44" Type="http://schemas.openxmlformats.org/officeDocument/2006/relationships/image" Target="../media/image233.png"/><Relationship Id="rId52" Type="http://schemas.openxmlformats.org/officeDocument/2006/relationships/image" Target="../media/image241.png"/><Relationship Id="rId60" Type="http://schemas.openxmlformats.org/officeDocument/2006/relationships/image" Target="../media/image249.png"/><Relationship Id="rId65" Type="http://schemas.openxmlformats.org/officeDocument/2006/relationships/image" Target="../media/image254.png"/><Relationship Id="rId73" Type="http://schemas.openxmlformats.org/officeDocument/2006/relationships/image" Target="../media/image153.png"/><Relationship Id="rId78" Type="http://schemas.openxmlformats.org/officeDocument/2006/relationships/image" Target="../media/image156.jpeg"/><Relationship Id="rId4" Type="http://schemas.openxmlformats.org/officeDocument/2006/relationships/image" Target="../media/image193.png"/><Relationship Id="rId9" Type="http://schemas.openxmlformats.org/officeDocument/2006/relationships/image" Target="../media/image198.png"/><Relationship Id="rId13" Type="http://schemas.openxmlformats.org/officeDocument/2006/relationships/image" Target="../media/image202.png"/><Relationship Id="rId18" Type="http://schemas.openxmlformats.org/officeDocument/2006/relationships/image" Target="../media/image207.png"/><Relationship Id="rId39" Type="http://schemas.openxmlformats.org/officeDocument/2006/relationships/image" Target="../media/image228.png"/><Relationship Id="rId34" Type="http://schemas.openxmlformats.org/officeDocument/2006/relationships/image" Target="../media/image223.png"/><Relationship Id="rId50" Type="http://schemas.openxmlformats.org/officeDocument/2006/relationships/image" Target="../media/image239.png"/><Relationship Id="rId55" Type="http://schemas.openxmlformats.org/officeDocument/2006/relationships/image" Target="../media/image244.png"/><Relationship Id="rId76" Type="http://schemas.openxmlformats.org/officeDocument/2006/relationships/image" Target="../media/image3.jpeg"/><Relationship Id="rId7" Type="http://schemas.openxmlformats.org/officeDocument/2006/relationships/image" Target="../media/image196.png"/><Relationship Id="rId71" Type="http://schemas.openxmlformats.org/officeDocument/2006/relationships/image" Target="../media/image152.png"/><Relationship Id="rId2" Type="http://schemas.openxmlformats.org/officeDocument/2006/relationships/notesSlide" Target="../notesSlides/notesSlide54.xml"/><Relationship Id="rId29" Type="http://schemas.openxmlformats.org/officeDocument/2006/relationships/image" Target="../media/image218.png"/></Relationships>
</file>

<file path=ppt/slides/_rels/slide61.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6.png"/><Relationship Id="rId7" Type="http://schemas.openxmlformats.org/officeDocument/2006/relationships/image" Target="../media/image336.png"/><Relationship Id="rId2" Type="http://schemas.openxmlformats.org/officeDocument/2006/relationships/notesSlide" Target="../notesSlides/notesSlide55.xml"/><Relationship Id="rId1" Type="http://schemas.openxmlformats.org/officeDocument/2006/relationships/slideLayout" Target="../slideLayouts/slideLayout2.xml"/><Relationship Id="rId6" Type="http://schemas.openxmlformats.org/officeDocument/2006/relationships/image" Target="../media/image335.png"/><Relationship Id="rId5" Type="http://schemas.openxmlformats.org/officeDocument/2006/relationships/image" Target="../media/image334.png"/><Relationship Id="rId10" Type="http://schemas.openxmlformats.org/officeDocument/2006/relationships/image" Target="../media/image266.png"/><Relationship Id="rId4" Type="http://schemas.openxmlformats.org/officeDocument/2006/relationships/image" Target="../media/image333.png"/><Relationship Id="rId9" Type="http://schemas.openxmlformats.org/officeDocument/2006/relationships/image" Target="../media/image265.png"/></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157.png"/><Relationship Id="rId2" Type="http://schemas.openxmlformats.org/officeDocument/2006/relationships/notesSlide" Target="../notesSlides/notesSlide58.xml"/><Relationship Id="rId1" Type="http://schemas.openxmlformats.org/officeDocument/2006/relationships/slideLayout" Target="../slideLayouts/slideLayout2.xml"/><Relationship Id="rId5" Type="http://schemas.openxmlformats.org/officeDocument/2006/relationships/image" Target="../media/image158.png"/><Relationship Id="rId4" Type="http://schemas.openxmlformats.org/officeDocument/2006/relationships/image" Target="../media/image2.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2FB7FF-DAB8-D6BF-FAD0-10E6C996ABC7}"/>
              </a:ext>
            </a:extLst>
          </p:cNvPr>
          <p:cNvSpPr>
            <a:spLocks noGrp="1"/>
          </p:cNvSpPr>
          <p:nvPr>
            <p:ph type="ctrTitle"/>
          </p:nvPr>
        </p:nvSpPr>
        <p:spPr/>
        <p:txBody>
          <a:bodyPr/>
          <a:lstStyle/>
          <a:p>
            <a:r>
              <a:rPr lang="en-US" dirty="0"/>
              <a:t>Synthetic Controls</a:t>
            </a:r>
            <a:br>
              <a:rPr lang="en-US" dirty="0"/>
            </a:br>
            <a:r>
              <a:rPr lang="en-US" sz="4000" dirty="0"/>
              <a:t>and course recap</a:t>
            </a:r>
            <a:endParaRPr lang="en-US" dirty="0"/>
          </a:p>
        </p:txBody>
      </p:sp>
      <p:sp>
        <p:nvSpPr>
          <p:cNvPr id="3" name="Subtitle 2">
            <a:extLst>
              <a:ext uri="{FF2B5EF4-FFF2-40B4-BE49-F238E27FC236}">
                <a16:creationId xmlns:a16="http://schemas.microsoft.com/office/drawing/2014/main" id="{1A46D4FD-5548-AF39-5923-EDF3BC77AB8D}"/>
              </a:ext>
            </a:extLst>
          </p:cNvPr>
          <p:cNvSpPr>
            <a:spLocks noGrp="1"/>
          </p:cNvSpPr>
          <p:nvPr>
            <p:ph type="subTitle" idx="1"/>
          </p:nvPr>
        </p:nvSpPr>
        <p:spPr/>
        <p:txBody>
          <a:bodyPr/>
          <a:lstStyle/>
          <a:p>
            <a:r>
              <a:rPr lang="en-US" dirty="0"/>
              <a:t>Causality, Decision Making, and Data Science, Lecture 17</a:t>
            </a:r>
          </a:p>
        </p:txBody>
      </p:sp>
    </p:spTree>
    <p:extLst>
      <p:ext uri="{BB962C8B-B14F-4D97-AF65-F5344CB8AC3E}">
        <p14:creationId xmlns:p14="http://schemas.microsoft.com/office/powerpoint/2010/main" val="26872783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B862D7-48EC-FAC9-C9D2-BE17720C53E4}"/>
              </a:ext>
            </a:extLst>
          </p:cNvPr>
          <p:cNvSpPr>
            <a:spLocks noGrp="1"/>
          </p:cNvSpPr>
          <p:nvPr>
            <p:ph type="title"/>
          </p:nvPr>
        </p:nvSpPr>
        <p:spPr/>
        <p:txBody>
          <a:bodyPr/>
          <a:lstStyle/>
          <a:p>
            <a:r>
              <a:rPr lang="en-US" dirty="0"/>
              <a:t>Announcements</a:t>
            </a:r>
          </a:p>
        </p:txBody>
      </p:sp>
      <p:sp>
        <p:nvSpPr>
          <p:cNvPr id="3" name="Content Placeholder 2">
            <a:extLst>
              <a:ext uri="{FF2B5EF4-FFF2-40B4-BE49-F238E27FC236}">
                <a16:creationId xmlns:a16="http://schemas.microsoft.com/office/drawing/2014/main" id="{9F0CE2BC-6988-9A0D-0901-7108FBF5AB06}"/>
              </a:ext>
            </a:extLst>
          </p:cNvPr>
          <p:cNvSpPr>
            <a:spLocks noGrp="1"/>
          </p:cNvSpPr>
          <p:nvPr>
            <p:ph idx="1"/>
          </p:nvPr>
        </p:nvSpPr>
        <p:spPr>
          <a:xfrm>
            <a:off x="838200" y="1825625"/>
            <a:ext cx="10766778" cy="4351338"/>
          </a:xfrm>
        </p:spPr>
        <p:txBody>
          <a:bodyPr>
            <a:normAutofit fontScale="85000" lnSpcReduction="20000"/>
          </a:bodyPr>
          <a:lstStyle/>
          <a:p>
            <a:r>
              <a:rPr lang="en-US" dirty="0"/>
              <a:t>Next week is fall break! </a:t>
            </a:r>
          </a:p>
          <a:p>
            <a:endParaRPr lang="en-US" dirty="0"/>
          </a:p>
          <a:p>
            <a:r>
              <a:rPr lang="en-US" dirty="0"/>
              <a:t>This is our last class before your project presentations!</a:t>
            </a:r>
          </a:p>
          <a:p>
            <a:pPr lvl="1"/>
            <a:r>
              <a:rPr lang="en-US" dirty="0">
                <a:solidFill>
                  <a:schemeClr val="accent1"/>
                </a:solidFill>
              </a:rPr>
              <a:t>We are looking forward to your presentations after the break!</a:t>
            </a:r>
          </a:p>
          <a:p>
            <a:pPr lvl="1"/>
            <a:r>
              <a:rPr lang="en-US" dirty="0">
                <a:solidFill>
                  <a:schemeClr val="accent1"/>
                </a:solidFill>
              </a:rPr>
              <a:t>You have 7 minutes per group for your presentations – please upload slides by Dec 1.</a:t>
            </a:r>
          </a:p>
          <a:p>
            <a:pPr lvl="1"/>
            <a:endParaRPr lang="en-US" dirty="0"/>
          </a:p>
          <a:p>
            <a:r>
              <a:rPr lang="en-US" dirty="0"/>
              <a:t>HW4 Part 2 (last one!!!) due Monday after fall break.</a:t>
            </a:r>
          </a:p>
          <a:p>
            <a:pPr lvl="1"/>
            <a:r>
              <a:rPr lang="en-US" dirty="0">
                <a:solidFill>
                  <a:schemeClr val="accent1"/>
                </a:solidFill>
              </a:rPr>
              <a:t>But you might want to get it done earlier, to (a) enjoy fall break, and (b) have more time to work on your projects before fall break!</a:t>
            </a:r>
          </a:p>
          <a:p>
            <a:endParaRPr lang="en-US" dirty="0"/>
          </a:p>
          <a:p>
            <a:r>
              <a:rPr lang="en-US" dirty="0"/>
              <a:t>End-of-quarter celebration!</a:t>
            </a:r>
          </a:p>
          <a:p>
            <a:pPr lvl="1"/>
            <a:r>
              <a:rPr lang="en-US" dirty="0">
                <a:solidFill>
                  <a:schemeClr val="accent1"/>
                </a:solidFill>
              </a:rPr>
              <a:t>December 4 at Guido’s house!</a:t>
            </a:r>
          </a:p>
          <a:p>
            <a:pPr lvl="1"/>
            <a:r>
              <a:rPr lang="en-US" dirty="0">
                <a:solidFill>
                  <a:schemeClr val="accent1"/>
                </a:solidFill>
              </a:rPr>
              <a:t>Please fill out RSVP form (via Canvas announcement)</a:t>
            </a:r>
          </a:p>
        </p:txBody>
      </p:sp>
      <p:pic>
        <p:nvPicPr>
          <p:cNvPr id="4" name="Picture 2" descr="Turkey Dancing Stock Illustrations – 388 Turkey Dancing Stock  Illustrations, Vectors &amp; Clipart - Dreamstime">
            <a:extLst>
              <a:ext uri="{FF2B5EF4-FFF2-40B4-BE49-F238E27FC236}">
                <a16:creationId xmlns:a16="http://schemas.microsoft.com/office/drawing/2014/main" id="{DF2AE0FF-0EB9-7449-1584-1383098E282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83654" y="1430008"/>
            <a:ext cx="741233" cy="7912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696724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10" end="10"/>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0080EC-046E-8CCB-F6E6-0E42526A20CD}"/>
              </a:ext>
            </a:extLst>
          </p:cNvPr>
          <p:cNvSpPr>
            <a:spLocks noGrp="1"/>
          </p:cNvSpPr>
          <p:nvPr>
            <p:ph type="title"/>
          </p:nvPr>
        </p:nvSpPr>
        <p:spPr/>
        <p:txBody>
          <a:bodyPr/>
          <a:lstStyle/>
          <a:p>
            <a:r>
              <a:rPr lang="en-US" dirty="0"/>
              <a:t>Agenda</a:t>
            </a:r>
          </a:p>
        </p:txBody>
      </p:sp>
      <p:sp>
        <p:nvSpPr>
          <p:cNvPr id="3" name="Content Placeholder 2">
            <a:extLst>
              <a:ext uri="{FF2B5EF4-FFF2-40B4-BE49-F238E27FC236}">
                <a16:creationId xmlns:a16="http://schemas.microsoft.com/office/drawing/2014/main" id="{559C342C-139D-4220-F688-8CFA6EBDBBD0}"/>
              </a:ext>
            </a:extLst>
          </p:cNvPr>
          <p:cNvSpPr>
            <a:spLocks noGrp="1"/>
          </p:cNvSpPr>
          <p:nvPr>
            <p:ph idx="1"/>
          </p:nvPr>
        </p:nvSpPr>
        <p:spPr/>
        <p:txBody>
          <a:bodyPr/>
          <a:lstStyle/>
          <a:p>
            <a:r>
              <a:rPr lang="en-US" dirty="0"/>
              <a:t>Synthetic Controls</a:t>
            </a:r>
          </a:p>
          <a:p>
            <a:pPr lvl="1"/>
            <a:r>
              <a:rPr lang="en-US" dirty="0">
                <a:solidFill>
                  <a:schemeClr val="accent1"/>
                </a:solidFill>
              </a:rPr>
              <a:t>Idea and examples</a:t>
            </a:r>
          </a:p>
          <a:p>
            <a:pPr lvl="1"/>
            <a:r>
              <a:rPr lang="en-US" dirty="0">
                <a:solidFill>
                  <a:schemeClr val="accent1"/>
                </a:solidFill>
              </a:rPr>
              <a:t>How does this compare to </a:t>
            </a:r>
            <a:r>
              <a:rPr lang="en-US" dirty="0" err="1">
                <a:solidFill>
                  <a:schemeClr val="accent1"/>
                </a:solidFill>
              </a:rPr>
              <a:t>DiD</a:t>
            </a:r>
            <a:r>
              <a:rPr lang="en-US" dirty="0">
                <a:solidFill>
                  <a:schemeClr val="accent1"/>
                </a:solidFill>
              </a:rPr>
              <a:t> and Matrix Completion?</a:t>
            </a:r>
          </a:p>
          <a:p>
            <a:pPr lvl="1"/>
            <a:endParaRPr lang="en-US" dirty="0"/>
          </a:p>
          <a:p>
            <a:r>
              <a:rPr lang="en-US" dirty="0"/>
              <a:t>Recap!</a:t>
            </a:r>
          </a:p>
          <a:p>
            <a:pPr lvl="1"/>
            <a:r>
              <a:rPr lang="en-US" dirty="0">
                <a:solidFill>
                  <a:schemeClr val="accent1"/>
                </a:solidFill>
              </a:rPr>
              <a:t>What just happened???</a:t>
            </a:r>
          </a:p>
        </p:txBody>
      </p:sp>
    </p:spTree>
    <p:extLst>
      <p:ext uri="{BB962C8B-B14F-4D97-AF65-F5344CB8AC3E}">
        <p14:creationId xmlns:p14="http://schemas.microsoft.com/office/powerpoint/2010/main" val="39339495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B8902B-3033-6538-BE6C-135A78678EFF}"/>
              </a:ext>
            </a:extLst>
          </p:cNvPr>
          <p:cNvSpPr>
            <a:spLocks noGrp="1"/>
          </p:cNvSpPr>
          <p:nvPr>
            <p:ph type="title"/>
          </p:nvPr>
        </p:nvSpPr>
        <p:spPr/>
        <p:txBody>
          <a:bodyPr/>
          <a:lstStyle/>
          <a:p>
            <a:r>
              <a:rPr lang="en-US" dirty="0"/>
              <a:t>Synthetic Controls</a:t>
            </a:r>
          </a:p>
        </p:txBody>
      </p:sp>
      <p:sp>
        <p:nvSpPr>
          <p:cNvPr id="3" name="Text Placeholder 2">
            <a:extLst>
              <a:ext uri="{FF2B5EF4-FFF2-40B4-BE49-F238E27FC236}">
                <a16:creationId xmlns:a16="http://schemas.microsoft.com/office/drawing/2014/main" id="{9E515D07-C428-EC47-1A4F-AE34472BF5A8}"/>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8881520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068A7-7DDB-127A-D2E1-EDC246B5460E}"/>
              </a:ext>
            </a:extLst>
          </p:cNvPr>
          <p:cNvSpPr>
            <a:spLocks noGrp="1"/>
          </p:cNvSpPr>
          <p:nvPr>
            <p:ph type="title"/>
          </p:nvPr>
        </p:nvSpPr>
        <p:spPr/>
        <p:txBody>
          <a:bodyPr/>
          <a:lstStyle/>
          <a:p>
            <a:r>
              <a:rPr lang="en-US" dirty="0"/>
              <a:t>Idea of synthetic control</a:t>
            </a:r>
          </a:p>
        </p:txBody>
      </p:sp>
      <p:sp>
        <p:nvSpPr>
          <p:cNvPr id="3" name="Content Placeholder 2">
            <a:extLst>
              <a:ext uri="{FF2B5EF4-FFF2-40B4-BE49-F238E27FC236}">
                <a16:creationId xmlns:a16="http://schemas.microsoft.com/office/drawing/2014/main" id="{308E3A08-34D4-F5E9-AB22-C274D056DAC7}"/>
              </a:ext>
            </a:extLst>
          </p:cNvPr>
          <p:cNvSpPr>
            <a:spLocks noGrp="1"/>
          </p:cNvSpPr>
          <p:nvPr>
            <p:ph idx="1"/>
          </p:nvPr>
        </p:nvSpPr>
        <p:spPr>
          <a:xfrm>
            <a:off x="838200" y="1521609"/>
            <a:ext cx="10515600" cy="4351338"/>
          </a:xfrm>
        </p:spPr>
        <p:txBody>
          <a:bodyPr/>
          <a:lstStyle/>
          <a:p>
            <a:r>
              <a:rPr lang="en-US" dirty="0"/>
              <a:t>Suppose we want to predict a counterfactual</a:t>
            </a:r>
          </a:p>
          <a:p>
            <a:pPr lvl="1"/>
            <a:r>
              <a:rPr lang="en-US" dirty="0">
                <a:solidFill>
                  <a:schemeClr val="accent1"/>
                </a:solidFill>
              </a:rPr>
              <a:t>What would have happened without Brexit?</a:t>
            </a:r>
          </a:p>
        </p:txBody>
      </p:sp>
      <p:sp>
        <p:nvSpPr>
          <p:cNvPr id="13" name="TextBox 12">
            <a:extLst>
              <a:ext uri="{FF2B5EF4-FFF2-40B4-BE49-F238E27FC236}">
                <a16:creationId xmlns:a16="http://schemas.microsoft.com/office/drawing/2014/main" id="{A2A50BF3-2371-C90A-C96F-D8D4E4479B17}"/>
              </a:ext>
            </a:extLst>
          </p:cNvPr>
          <p:cNvSpPr txBox="1"/>
          <p:nvPr/>
        </p:nvSpPr>
        <p:spPr>
          <a:xfrm>
            <a:off x="486889" y="6385250"/>
            <a:ext cx="4150495" cy="369332"/>
          </a:xfrm>
          <a:prstGeom prst="rect">
            <a:avLst/>
          </a:prstGeom>
          <a:noFill/>
        </p:spPr>
        <p:txBody>
          <a:bodyPr wrap="none" rtlCol="0">
            <a:spAutoFit/>
          </a:bodyPr>
          <a:lstStyle/>
          <a:p>
            <a:r>
              <a:rPr lang="en-US" dirty="0">
                <a:solidFill>
                  <a:schemeClr val="accent2"/>
                </a:solidFill>
              </a:rPr>
              <a:t>Thought experiment with made-up data!</a:t>
            </a:r>
          </a:p>
        </p:txBody>
      </p:sp>
      <p:grpSp>
        <p:nvGrpSpPr>
          <p:cNvPr id="30" name="Group 29">
            <a:extLst>
              <a:ext uri="{FF2B5EF4-FFF2-40B4-BE49-F238E27FC236}">
                <a16:creationId xmlns:a16="http://schemas.microsoft.com/office/drawing/2014/main" id="{9E7ECD2E-274F-C99C-7E15-EC398A5523E3}"/>
              </a:ext>
            </a:extLst>
          </p:cNvPr>
          <p:cNvGrpSpPr/>
          <p:nvPr/>
        </p:nvGrpSpPr>
        <p:grpSpPr>
          <a:xfrm>
            <a:off x="1624939" y="2748539"/>
            <a:ext cx="9636624" cy="3442564"/>
            <a:chOff x="1624939" y="2748539"/>
            <a:chExt cx="9636624" cy="3442564"/>
          </a:xfrm>
        </p:grpSpPr>
        <p:cxnSp>
          <p:nvCxnSpPr>
            <p:cNvPr id="5" name="Straight Arrow Connector 4">
              <a:extLst>
                <a:ext uri="{FF2B5EF4-FFF2-40B4-BE49-F238E27FC236}">
                  <a16:creationId xmlns:a16="http://schemas.microsoft.com/office/drawing/2014/main" id="{589B7DF3-5F0D-CC66-EBB1-3FFA48D29A99}"/>
                </a:ext>
              </a:extLst>
            </p:cNvPr>
            <p:cNvCxnSpPr/>
            <p:nvPr/>
          </p:nvCxnSpPr>
          <p:spPr>
            <a:xfrm>
              <a:off x="2351314" y="5688281"/>
              <a:ext cx="8241476"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6" name="Straight Arrow Connector 5">
              <a:extLst>
                <a:ext uri="{FF2B5EF4-FFF2-40B4-BE49-F238E27FC236}">
                  <a16:creationId xmlns:a16="http://schemas.microsoft.com/office/drawing/2014/main" id="{85A6F559-8CB2-2AF5-A899-86B8F4D71257}"/>
                </a:ext>
              </a:extLst>
            </p:cNvPr>
            <p:cNvCxnSpPr>
              <a:cxnSpLocks/>
            </p:cNvCxnSpPr>
            <p:nvPr/>
          </p:nvCxnSpPr>
          <p:spPr>
            <a:xfrm flipV="1">
              <a:off x="2351314" y="2933205"/>
              <a:ext cx="0" cy="275507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2F9E4752-4B7C-C0B1-786A-6FB5ACB33EB0}"/>
                </a:ext>
              </a:extLst>
            </p:cNvPr>
            <p:cNvSpPr txBox="1"/>
            <p:nvPr/>
          </p:nvSpPr>
          <p:spPr>
            <a:xfrm>
              <a:off x="10592790" y="5503615"/>
              <a:ext cx="668773" cy="369332"/>
            </a:xfrm>
            <a:prstGeom prst="rect">
              <a:avLst/>
            </a:prstGeom>
            <a:noFill/>
          </p:spPr>
          <p:txBody>
            <a:bodyPr wrap="none" rtlCol="0">
              <a:spAutoFit/>
            </a:bodyPr>
            <a:lstStyle/>
            <a:p>
              <a:r>
                <a:rPr lang="en-US" dirty="0">
                  <a:solidFill>
                    <a:schemeClr val="accent1"/>
                  </a:solidFill>
                </a:rPr>
                <a:t>Time</a:t>
              </a:r>
            </a:p>
          </p:txBody>
        </p:sp>
        <p:sp>
          <p:nvSpPr>
            <p:cNvPr id="11" name="TextBox 10">
              <a:extLst>
                <a:ext uri="{FF2B5EF4-FFF2-40B4-BE49-F238E27FC236}">
                  <a16:creationId xmlns:a16="http://schemas.microsoft.com/office/drawing/2014/main" id="{F833F365-513F-D080-5010-A403CE1D3798}"/>
                </a:ext>
              </a:extLst>
            </p:cNvPr>
            <p:cNvSpPr txBox="1"/>
            <p:nvPr/>
          </p:nvSpPr>
          <p:spPr>
            <a:xfrm>
              <a:off x="1624939" y="2748539"/>
              <a:ext cx="639919" cy="369332"/>
            </a:xfrm>
            <a:prstGeom prst="rect">
              <a:avLst/>
            </a:prstGeom>
            <a:noFill/>
          </p:spPr>
          <p:txBody>
            <a:bodyPr wrap="none" rtlCol="0">
              <a:spAutoFit/>
            </a:bodyPr>
            <a:lstStyle/>
            <a:p>
              <a:r>
                <a:rPr lang="en-US" dirty="0">
                  <a:solidFill>
                    <a:schemeClr val="accent1"/>
                  </a:solidFill>
                </a:rPr>
                <a:t>GDP</a:t>
              </a:r>
            </a:p>
          </p:txBody>
        </p:sp>
        <p:grpSp>
          <p:nvGrpSpPr>
            <p:cNvPr id="17" name="Group 16">
              <a:extLst>
                <a:ext uri="{FF2B5EF4-FFF2-40B4-BE49-F238E27FC236}">
                  <a16:creationId xmlns:a16="http://schemas.microsoft.com/office/drawing/2014/main" id="{C677DCC2-AF26-6720-B531-D4332D34E3D7}"/>
                </a:ext>
              </a:extLst>
            </p:cNvPr>
            <p:cNvGrpSpPr/>
            <p:nvPr/>
          </p:nvGrpSpPr>
          <p:grpSpPr>
            <a:xfrm>
              <a:off x="7592139" y="2933205"/>
              <a:ext cx="678391" cy="3257898"/>
              <a:chOff x="7754587" y="2933205"/>
              <a:chExt cx="678391" cy="3257898"/>
            </a:xfrm>
          </p:grpSpPr>
          <p:sp>
            <p:nvSpPr>
              <p:cNvPr id="14" name="TextBox 13">
                <a:extLst>
                  <a:ext uri="{FF2B5EF4-FFF2-40B4-BE49-F238E27FC236}">
                    <a16:creationId xmlns:a16="http://schemas.microsoft.com/office/drawing/2014/main" id="{D2540A4B-CFB3-4EB4-7EDE-387CCAAB2004}"/>
                  </a:ext>
                </a:extLst>
              </p:cNvPr>
              <p:cNvSpPr txBox="1"/>
              <p:nvPr/>
            </p:nvSpPr>
            <p:spPr>
              <a:xfrm>
                <a:off x="7754587" y="5821771"/>
                <a:ext cx="678391" cy="369332"/>
              </a:xfrm>
              <a:prstGeom prst="rect">
                <a:avLst/>
              </a:prstGeom>
              <a:noFill/>
            </p:spPr>
            <p:txBody>
              <a:bodyPr wrap="none" rtlCol="0">
                <a:spAutoFit/>
              </a:bodyPr>
              <a:lstStyle/>
              <a:p>
                <a:r>
                  <a:rPr lang="en-US" dirty="0">
                    <a:solidFill>
                      <a:schemeClr val="accent1"/>
                    </a:solidFill>
                  </a:rPr>
                  <a:t>2020</a:t>
                </a:r>
              </a:p>
            </p:txBody>
          </p:sp>
          <p:cxnSp>
            <p:nvCxnSpPr>
              <p:cNvPr id="16" name="Straight Connector 15">
                <a:extLst>
                  <a:ext uri="{FF2B5EF4-FFF2-40B4-BE49-F238E27FC236}">
                    <a16:creationId xmlns:a16="http://schemas.microsoft.com/office/drawing/2014/main" id="{469BB408-0FE1-245E-D7F4-8AC5637D9E63}"/>
                  </a:ext>
                </a:extLst>
              </p:cNvPr>
              <p:cNvCxnSpPr/>
              <p:nvPr/>
            </p:nvCxnSpPr>
            <p:spPr>
              <a:xfrm flipV="1">
                <a:off x="8063345" y="2933205"/>
                <a:ext cx="0" cy="2814751"/>
              </a:xfrm>
              <a:prstGeom prst="line">
                <a:avLst/>
              </a:prstGeom>
              <a:ln>
                <a:prstDash val="dash"/>
              </a:ln>
            </p:spPr>
            <p:style>
              <a:lnRef idx="2">
                <a:schemeClr val="accent1"/>
              </a:lnRef>
              <a:fillRef idx="0">
                <a:schemeClr val="accent1"/>
              </a:fillRef>
              <a:effectRef idx="1">
                <a:schemeClr val="accent1"/>
              </a:effectRef>
              <a:fontRef idx="minor">
                <a:schemeClr val="tx1"/>
              </a:fontRef>
            </p:style>
          </p:cxnSp>
        </p:grpSp>
      </p:grpSp>
      <p:grpSp>
        <p:nvGrpSpPr>
          <p:cNvPr id="24" name="Group 23">
            <a:extLst>
              <a:ext uri="{FF2B5EF4-FFF2-40B4-BE49-F238E27FC236}">
                <a16:creationId xmlns:a16="http://schemas.microsoft.com/office/drawing/2014/main" id="{5C918712-2697-5CFD-75C8-C5D6D95A0797}"/>
              </a:ext>
            </a:extLst>
          </p:cNvPr>
          <p:cNvGrpSpPr/>
          <p:nvPr/>
        </p:nvGrpSpPr>
        <p:grpSpPr>
          <a:xfrm>
            <a:off x="7900897" y="2444339"/>
            <a:ext cx="3716716" cy="1560911"/>
            <a:chOff x="7896673" y="1935994"/>
            <a:chExt cx="3716716" cy="1560911"/>
          </a:xfrm>
        </p:grpSpPr>
        <p:sp>
          <p:nvSpPr>
            <p:cNvPr id="22" name="Freeform 21">
              <a:extLst>
                <a:ext uri="{FF2B5EF4-FFF2-40B4-BE49-F238E27FC236}">
                  <a16:creationId xmlns:a16="http://schemas.microsoft.com/office/drawing/2014/main" id="{5659F325-A5F7-750E-11D7-1B35EB53CDBE}"/>
                </a:ext>
              </a:extLst>
            </p:cNvPr>
            <p:cNvSpPr/>
            <p:nvPr/>
          </p:nvSpPr>
          <p:spPr>
            <a:xfrm>
              <a:off x="7896673" y="2238121"/>
              <a:ext cx="3455719" cy="1258784"/>
            </a:xfrm>
            <a:custGeom>
              <a:avLst/>
              <a:gdLst>
                <a:gd name="connsiteX0" fmla="*/ 0 w 3455719"/>
                <a:gd name="connsiteY0" fmla="*/ 1258784 h 1258784"/>
                <a:gd name="connsiteX1" fmla="*/ 1068779 w 3455719"/>
                <a:gd name="connsiteY1" fmla="*/ 771896 h 1258784"/>
                <a:gd name="connsiteX2" fmla="*/ 1579418 w 3455719"/>
                <a:gd name="connsiteY2" fmla="*/ 783771 h 1258784"/>
                <a:gd name="connsiteX3" fmla="*/ 1971303 w 3455719"/>
                <a:gd name="connsiteY3" fmla="*/ 534390 h 1258784"/>
                <a:gd name="connsiteX4" fmla="*/ 2458192 w 3455719"/>
                <a:gd name="connsiteY4" fmla="*/ 653143 h 1258784"/>
                <a:gd name="connsiteX5" fmla="*/ 3455719 w 3455719"/>
                <a:gd name="connsiteY5" fmla="*/ 0 h 12587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55719" h="1258784">
                  <a:moveTo>
                    <a:pt x="0" y="1258784"/>
                  </a:moveTo>
                  <a:cubicBezTo>
                    <a:pt x="402771" y="1054924"/>
                    <a:pt x="805543" y="851065"/>
                    <a:pt x="1068779" y="771896"/>
                  </a:cubicBezTo>
                  <a:cubicBezTo>
                    <a:pt x="1332015" y="692727"/>
                    <a:pt x="1428997" y="823355"/>
                    <a:pt x="1579418" y="783771"/>
                  </a:cubicBezTo>
                  <a:cubicBezTo>
                    <a:pt x="1729839" y="744187"/>
                    <a:pt x="1824841" y="556161"/>
                    <a:pt x="1971303" y="534390"/>
                  </a:cubicBezTo>
                  <a:cubicBezTo>
                    <a:pt x="2117765" y="512619"/>
                    <a:pt x="2210789" y="742208"/>
                    <a:pt x="2458192" y="653143"/>
                  </a:cubicBezTo>
                  <a:cubicBezTo>
                    <a:pt x="2705595" y="564078"/>
                    <a:pt x="3080657" y="282039"/>
                    <a:pt x="3455719" y="0"/>
                  </a:cubicBezTo>
                </a:path>
              </a:pathLst>
            </a:custGeom>
            <a:noFill/>
            <a:ln w="19050">
              <a:solidFill>
                <a:schemeClr val="accent2"/>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2"/>
                </a:solidFill>
              </a:endParaRPr>
            </a:p>
          </p:txBody>
        </p:sp>
        <p:sp>
          <p:nvSpPr>
            <p:cNvPr id="23" name="TextBox 22">
              <a:extLst>
                <a:ext uri="{FF2B5EF4-FFF2-40B4-BE49-F238E27FC236}">
                  <a16:creationId xmlns:a16="http://schemas.microsoft.com/office/drawing/2014/main" id="{E2BC487E-0314-C91D-C65C-8F328740F709}"/>
                </a:ext>
              </a:extLst>
            </p:cNvPr>
            <p:cNvSpPr txBox="1"/>
            <p:nvPr/>
          </p:nvSpPr>
          <p:spPr>
            <a:xfrm>
              <a:off x="10240962" y="1935994"/>
              <a:ext cx="1372427" cy="369332"/>
            </a:xfrm>
            <a:prstGeom prst="rect">
              <a:avLst/>
            </a:prstGeom>
            <a:noFill/>
          </p:spPr>
          <p:txBody>
            <a:bodyPr wrap="none" rtlCol="0">
              <a:spAutoFit/>
            </a:bodyPr>
            <a:lstStyle/>
            <a:p>
              <a:r>
                <a:rPr lang="en-US" dirty="0">
                  <a:solidFill>
                    <a:schemeClr val="accent2"/>
                  </a:solidFill>
                </a:rPr>
                <a:t>Maybe this?</a:t>
              </a:r>
            </a:p>
          </p:txBody>
        </p:sp>
      </p:grpSp>
      <p:grpSp>
        <p:nvGrpSpPr>
          <p:cNvPr id="27" name="Group 26">
            <a:extLst>
              <a:ext uri="{FF2B5EF4-FFF2-40B4-BE49-F238E27FC236}">
                <a16:creationId xmlns:a16="http://schemas.microsoft.com/office/drawing/2014/main" id="{F7F03DAC-9B7F-74D0-3D1B-CBB5B6B4EAF4}"/>
              </a:ext>
            </a:extLst>
          </p:cNvPr>
          <p:cNvGrpSpPr/>
          <p:nvPr/>
        </p:nvGrpSpPr>
        <p:grpSpPr>
          <a:xfrm>
            <a:off x="2343245" y="3485805"/>
            <a:ext cx="8951698" cy="2082942"/>
            <a:chOff x="2363190" y="3130325"/>
            <a:chExt cx="8951698" cy="2082942"/>
          </a:xfrm>
        </p:grpSpPr>
        <p:sp>
          <p:nvSpPr>
            <p:cNvPr id="20" name="TextBox 19">
              <a:extLst>
                <a:ext uri="{FF2B5EF4-FFF2-40B4-BE49-F238E27FC236}">
                  <a16:creationId xmlns:a16="http://schemas.microsoft.com/office/drawing/2014/main" id="{5A66426C-9B4F-26C6-21CB-D7418A74C403}"/>
                </a:ext>
              </a:extLst>
            </p:cNvPr>
            <p:cNvSpPr txBox="1"/>
            <p:nvPr/>
          </p:nvSpPr>
          <p:spPr>
            <a:xfrm>
              <a:off x="6004616" y="4791693"/>
              <a:ext cx="934871" cy="369332"/>
            </a:xfrm>
            <a:prstGeom prst="rect">
              <a:avLst/>
            </a:prstGeom>
            <a:noFill/>
          </p:spPr>
          <p:txBody>
            <a:bodyPr wrap="none" rtlCol="0">
              <a:spAutoFit/>
            </a:bodyPr>
            <a:lstStyle/>
            <a:p>
              <a:r>
                <a:rPr lang="en-US" dirty="0">
                  <a:solidFill>
                    <a:schemeClr val="accent5"/>
                  </a:solidFill>
                </a:rPr>
                <a:t>Gondor</a:t>
              </a:r>
            </a:p>
          </p:txBody>
        </p:sp>
        <p:sp>
          <p:nvSpPr>
            <p:cNvPr id="21" name="Freeform 20">
              <a:extLst>
                <a:ext uri="{FF2B5EF4-FFF2-40B4-BE49-F238E27FC236}">
                  <a16:creationId xmlns:a16="http://schemas.microsoft.com/office/drawing/2014/main" id="{F6D40B00-DCE0-B0E8-F2AE-288EB46F91E3}"/>
                </a:ext>
              </a:extLst>
            </p:cNvPr>
            <p:cNvSpPr/>
            <p:nvPr/>
          </p:nvSpPr>
          <p:spPr>
            <a:xfrm>
              <a:off x="7859169" y="3130325"/>
              <a:ext cx="3455719" cy="1258784"/>
            </a:xfrm>
            <a:custGeom>
              <a:avLst/>
              <a:gdLst>
                <a:gd name="connsiteX0" fmla="*/ 0 w 3455719"/>
                <a:gd name="connsiteY0" fmla="*/ 1258784 h 1258784"/>
                <a:gd name="connsiteX1" fmla="*/ 1068779 w 3455719"/>
                <a:gd name="connsiteY1" fmla="*/ 771896 h 1258784"/>
                <a:gd name="connsiteX2" fmla="*/ 1579418 w 3455719"/>
                <a:gd name="connsiteY2" fmla="*/ 783771 h 1258784"/>
                <a:gd name="connsiteX3" fmla="*/ 1971303 w 3455719"/>
                <a:gd name="connsiteY3" fmla="*/ 534390 h 1258784"/>
                <a:gd name="connsiteX4" fmla="*/ 2458192 w 3455719"/>
                <a:gd name="connsiteY4" fmla="*/ 653143 h 1258784"/>
                <a:gd name="connsiteX5" fmla="*/ 3455719 w 3455719"/>
                <a:gd name="connsiteY5" fmla="*/ 0 h 12587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55719" h="1258784">
                  <a:moveTo>
                    <a:pt x="0" y="1258784"/>
                  </a:moveTo>
                  <a:cubicBezTo>
                    <a:pt x="402771" y="1054924"/>
                    <a:pt x="805543" y="851065"/>
                    <a:pt x="1068779" y="771896"/>
                  </a:cubicBezTo>
                  <a:cubicBezTo>
                    <a:pt x="1332015" y="692727"/>
                    <a:pt x="1428997" y="823355"/>
                    <a:pt x="1579418" y="783771"/>
                  </a:cubicBezTo>
                  <a:cubicBezTo>
                    <a:pt x="1729839" y="744187"/>
                    <a:pt x="1824841" y="556161"/>
                    <a:pt x="1971303" y="534390"/>
                  </a:cubicBezTo>
                  <a:cubicBezTo>
                    <a:pt x="2117765" y="512619"/>
                    <a:pt x="2210789" y="742208"/>
                    <a:pt x="2458192" y="653143"/>
                  </a:cubicBezTo>
                  <a:cubicBezTo>
                    <a:pt x="2705595" y="564078"/>
                    <a:pt x="3080657" y="282039"/>
                    <a:pt x="3455719" y="0"/>
                  </a:cubicBezTo>
                </a:path>
              </a:pathLst>
            </a:custGeom>
            <a:noFill/>
            <a:ln w="3810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25">
              <a:extLst>
                <a:ext uri="{FF2B5EF4-FFF2-40B4-BE49-F238E27FC236}">
                  <a16:creationId xmlns:a16="http://schemas.microsoft.com/office/drawing/2014/main" id="{33A68564-FC29-F56F-C935-9259C1D60E1E}"/>
                </a:ext>
              </a:extLst>
            </p:cNvPr>
            <p:cNvSpPr/>
            <p:nvPr/>
          </p:nvSpPr>
          <p:spPr>
            <a:xfrm>
              <a:off x="2363190" y="4370119"/>
              <a:ext cx="5557652" cy="843148"/>
            </a:xfrm>
            <a:custGeom>
              <a:avLst/>
              <a:gdLst>
                <a:gd name="connsiteX0" fmla="*/ 0 w 5557652"/>
                <a:gd name="connsiteY0" fmla="*/ 843148 h 843148"/>
                <a:gd name="connsiteX1" fmla="*/ 1258784 w 5557652"/>
                <a:gd name="connsiteY1" fmla="*/ 819397 h 843148"/>
                <a:gd name="connsiteX2" fmla="*/ 1793174 w 5557652"/>
                <a:gd name="connsiteY2" fmla="*/ 641267 h 843148"/>
                <a:gd name="connsiteX3" fmla="*/ 2541319 w 5557652"/>
                <a:gd name="connsiteY3" fmla="*/ 570015 h 843148"/>
                <a:gd name="connsiteX4" fmla="*/ 3004457 w 5557652"/>
                <a:gd name="connsiteY4" fmla="*/ 356259 h 843148"/>
                <a:gd name="connsiteX5" fmla="*/ 3372592 w 5557652"/>
                <a:gd name="connsiteY5" fmla="*/ 285008 h 843148"/>
                <a:gd name="connsiteX6" fmla="*/ 3776353 w 5557652"/>
                <a:gd name="connsiteY6" fmla="*/ 403761 h 843148"/>
                <a:gd name="connsiteX7" fmla="*/ 4643252 w 5557652"/>
                <a:gd name="connsiteY7" fmla="*/ 249382 h 843148"/>
                <a:gd name="connsiteX8" fmla="*/ 5557652 w 5557652"/>
                <a:gd name="connsiteY8" fmla="*/ 0 h 843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557652" h="843148">
                  <a:moveTo>
                    <a:pt x="0" y="843148"/>
                  </a:moveTo>
                  <a:lnTo>
                    <a:pt x="1258784" y="819397"/>
                  </a:lnTo>
                  <a:cubicBezTo>
                    <a:pt x="1557646" y="785750"/>
                    <a:pt x="1579418" y="682831"/>
                    <a:pt x="1793174" y="641267"/>
                  </a:cubicBezTo>
                  <a:cubicBezTo>
                    <a:pt x="2006930" y="599703"/>
                    <a:pt x="2339439" y="617516"/>
                    <a:pt x="2541319" y="570015"/>
                  </a:cubicBezTo>
                  <a:cubicBezTo>
                    <a:pt x="2743200" y="522514"/>
                    <a:pt x="2865912" y="403760"/>
                    <a:pt x="3004457" y="356259"/>
                  </a:cubicBezTo>
                  <a:cubicBezTo>
                    <a:pt x="3143003" y="308758"/>
                    <a:pt x="3243943" y="277091"/>
                    <a:pt x="3372592" y="285008"/>
                  </a:cubicBezTo>
                  <a:cubicBezTo>
                    <a:pt x="3501241" y="292925"/>
                    <a:pt x="3564576" y="409699"/>
                    <a:pt x="3776353" y="403761"/>
                  </a:cubicBezTo>
                  <a:cubicBezTo>
                    <a:pt x="3988130" y="397823"/>
                    <a:pt x="4346369" y="316675"/>
                    <a:pt x="4643252" y="249382"/>
                  </a:cubicBezTo>
                  <a:cubicBezTo>
                    <a:pt x="4940135" y="182089"/>
                    <a:pt x="5248893" y="91044"/>
                    <a:pt x="5557652" y="0"/>
                  </a:cubicBezTo>
                </a:path>
              </a:pathLst>
            </a:custGeom>
            <a:ln w="38100">
              <a:solidFill>
                <a:schemeClr val="accent5"/>
              </a:solidFill>
            </a:ln>
          </p:spPr>
          <p:style>
            <a:lnRef idx="1">
              <a:schemeClr val="accent2"/>
            </a:lnRef>
            <a:fillRef idx="0">
              <a:schemeClr val="accent2"/>
            </a:fillRef>
            <a:effectRef idx="0">
              <a:schemeClr val="accent2"/>
            </a:effectRef>
            <a:fontRef idx="minor">
              <a:schemeClr val="tx1"/>
            </a:fontRef>
          </p:style>
          <p:txBody>
            <a:bodyPr rtlCol="0" anchor="ctr"/>
            <a:lstStyle/>
            <a:p>
              <a:pPr algn="ctr"/>
              <a:endParaRPr lang="en-US"/>
            </a:p>
          </p:txBody>
        </p:sp>
      </p:grpSp>
      <p:grpSp>
        <p:nvGrpSpPr>
          <p:cNvPr id="31" name="Group 30">
            <a:extLst>
              <a:ext uri="{FF2B5EF4-FFF2-40B4-BE49-F238E27FC236}">
                <a16:creationId xmlns:a16="http://schemas.microsoft.com/office/drawing/2014/main" id="{DEB8D428-6F48-6FE1-B3A8-9C1DE0789A69}"/>
              </a:ext>
            </a:extLst>
          </p:cNvPr>
          <p:cNvGrpSpPr/>
          <p:nvPr/>
        </p:nvGrpSpPr>
        <p:grpSpPr>
          <a:xfrm>
            <a:off x="2363190" y="4013860"/>
            <a:ext cx="5557652" cy="851758"/>
            <a:chOff x="2363190" y="4013860"/>
            <a:chExt cx="5557652" cy="851758"/>
          </a:xfrm>
        </p:grpSpPr>
        <p:sp>
          <p:nvSpPr>
            <p:cNvPr id="28" name="TextBox 27">
              <a:extLst>
                <a:ext uri="{FF2B5EF4-FFF2-40B4-BE49-F238E27FC236}">
                  <a16:creationId xmlns:a16="http://schemas.microsoft.com/office/drawing/2014/main" id="{78DD6A18-1725-F3FA-5C1D-68DDF9898F38}"/>
                </a:ext>
              </a:extLst>
            </p:cNvPr>
            <p:cNvSpPr txBox="1"/>
            <p:nvPr/>
          </p:nvSpPr>
          <p:spPr>
            <a:xfrm>
              <a:off x="2562136" y="4496286"/>
              <a:ext cx="869827" cy="369332"/>
            </a:xfrm>
            <a:prstGeom prst="rect">
              <a:avLst/>
            </a:prstGeom>
            <a:noFill/>
          </p:spPr>
          <p:txBody>
            <a:bodyPr wrap="square" rtlCol="0">
              <a:spAutoFit/>
            </a:bodyPr>
            <a:lstStyle/>
            <a:p>
              <a:r>
                <a:rPr lang="en-US" dirty="0">
                  <a:solidFill>
                    <a:schemeClr val="accent2"/>
                  </a:solidFill>
                </a:rPr>
                <a:t>UK</a:t>
              </a:r>
            </a:p>
          </p:txBody>
        </p:sp>
        <p:sp>
          <p:nvSpPr>
            <p:cNvPr id="29" name="Freeform 28">
              <a:extLst>
                <a:ext uri="{FF2B5EF4-FFF2-40B4-BE49-F238E27FC236}">
                  <a16:creationId xmlns:a16="http://schemas.microsoft.com/office/drawing/2014/main" id="{32E8C170-6865-0031-86FA-9362486E68F2}"/>
                </a:ext>
              </a:extLst>
            </p:cNvPr>
            <p:cNvSpPr/>
            <p:nvPr/>
          </p:nvSpPr>
          <p:spPr>
            <a:xfrm>
              <a:off x="2363190" y="4013860"/>
              <a:ext cx="5557652" cy="843148"/>
            </a:xfrm>
            <a:custGeom>
              <a:avLst/>
              <a:gdLst>
                <a:gd name="connsiteX0" fmla="*/ 0 w 5557652"/>
                <a:gd name="connsiteY0" fmla="*/ 843148 h 843148"/>
                <a:gd name="connsiteX1" fmla="*/ 1258784 w 5557652"/>
                <a:gd name="connsiteY1" fmla="*/ 819397 h 843148"/>
                <a:gd name="connsiteX2" fmla="*/ 1793174 w 5557652"/>
                <a:gd name="connsiteY2" fmla="*/ 641267 h 843148"/>
                <a:gd name="connsiteX3" fmla="*/ 2541319 w 5557652"/>
                <a:gd name="connsiteY3" fmla="*/ 570015 h 843148"/>
                <a:gd name="connsiteX4" fmla="*/ 3004457 w 5557652"/>
                <a:gd name="connsiteY4" fmla="*/ 356259 h 843148"/>
                <a:gd name="connsiteX5" fmla="*/ 3372592 w 5557652"/>
                <a:gd name="connsiteY5" fmla="*/ 285008 h 843148"/>
                <a:gd name="connsiteX6" fmla="*/ 3776353 w 5557652"/>
                <a:gd name="connsiteY6" fmla="*/ 403761 h 843148"/>
                <a:gd name="connsiteX7" fmla="*/ 4643252 w 5557652"/>
                <a:gd name="connsiteY7" fmla="*/ 249382 h 843148"/>
                <a:gd name="connsiteX8" fmla="*/ 5557652 w 5557652"/>
                <a:gd name="connsiteY8" fmla="*/ 0 h 843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557652" h="843148">
                  <a:moveTo>
                    <a:pt x="0" y="843148"/>
                  </a:moveTo>
                  <a:lnTo>
                    <a:pt x="1258784" y="819397"/>
                  </a:lnTo>
                  <a:cubicBezTo>
                    <a:pt x="1557646" y="785750"/>
                    <a:pt x="1579418" y="682831"/>
                    <a:pt x="1793174" y="641267"/>
                  </a:cubicBezTo>
                  <a:cubicBezTo>
                    <a:pt x="2006930" y="599703"/>
                    <a:pt x="2339439" y="617516"/>
                    <a:pt x="2541319" y="570015"/>
                  </a:cubicBezTo>
                  <a:cubicBezTo>
                    <a:pt x="2743200" y="522514"/>
                    <a:pt x="2865912" y="403760"/>
                    <a:pt x="3004457" y="356259"/>
                  </a:cubicBezTo>
                  <a:cubicBezTo>
                    <a:pt x="3143003" y="308758"/>
                    <a:pt x="3243943" y="277091"/>
                    <a:pt x="3372592" y="285008"/>
                  </a:cubicBezTo>
                  <a:cubicBezTo>
                    <a:pt x="3501241" y="292925"/>
                    <a:pt x="3564576" y="409699"/>
                    <a:pt x="3776353" y="403761"/>
                  </a:cubicBezTo>
                  <a:cubicBezTo>
                    <a:pt x="3988130" y="397823"/>
                    <a:pt x="4346369" y="316675"/>
                    <a:pt x="4643252" y="249382"/>
                  </a:cubicBezTo>
                  <a:cubicBezTo>
                    <a:pt x="4940135" y="182089"/>
                    <a:pt x="5248893" y="91044"/>
                    <a:pt x="5557652" y="0"/>
                  </a:cubicBezTo>
                </a:path>
              </a:pathLst>
            </a:custGeom>
            <a:ln w="38100"/>
          </p:spPr>
          <p:style>
            <a:lnRef idx="1">
              <a:schemeClr val="accent2"/>
            </a:lnRef>
            <a:fillRef idx="0">
              <a:schemeClr val="accent2"/>
            </a:fillRef>
            <a:effectRef idx="0">
              <a:schemeClr val="accent2"/>
            </a:effectRef>
            <a:fontRef idx="minor">
              <a:schemeClr val="tx1"/>
            </a:fontRef>
          </p:style>
          <p:txBody>
            <a:bodyPr rtlCol="0" anchor="ctr"/>
            <a:lstStyle/>
            <a:p>
              <a:pPr algn="ctr"/>
              <a:endParaRPr lang="en-US"/>
            </a:p>
          </p:txBody>
        </p:sp>
      </p:grpSp>
    </p:spTree>
    <p:extLst>
      <p:ext uri="{BB962C8B-B14F-4D97-AF65-F5344CB8AC3E}">
        <p14:creationId xmlns:p14="http://schemas.microsoft.com/office/powerpoint/2010/main" val="5170304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068A7-7DDB-127A-D2E1-EDC246B5460E}"/>
              </a:ext>
            </a:extLst>
          </p:cNvPr>
          <p:cNvSpPr>
            <a:spLocks noGrp="1"/>
          </p:cNvSpPr>
          <p:nvPr>
            <p:ph type="title"/>
          </p:nvPr>
        </p:nvSpPr>
        <p:spPr/>
        <p:txBody>
          <a:bodyPr/>
          <a:lstStyle/>
          <a:p>
            <a:r>
              <a:rPr lang="en-US" dirty="0"/>
              <a:t>Idea of synthetic control</a:t>
            </a:r>
          </a:p>
        </p:txBody>
      </p:sp>
      <p:sp>
        <p:nvSpPr>
          <p:cNvPr id="3" name="Content Placeholder 2">
            <a:extLst>
              <a:ext uri="{FF2B5EF4-FFF2-40B4-BE49-F238E27FC236}">
                <a16:creationId xmlns:a16="http://schemas.microsoft.com/office/drawing/2014/main" id="{308E3A08-34D4-F5E9-AB22-C274D056DAC7}"/>
              </a:ext>
            </a:extLst>
          </p:cNvPr>
          <p:cNvSpPr>
            <a:spLocks noGrp="1"/>
          </p:cNvSpPr>
          <p:nvPr>
            <p:ph idx="1"/>
          </p:nvPr>
        </p:nvSpPr>
        <p:spPr>
          <a:xfrm>
            <a:off x="838200" y="1521609"/>
            <a:ext cx="10515600" cy="4351338"/>
          </a:xfrm>
        </p:spPr>
        <p:txBody>
          <a:bodyPr/>
          <a:lstStyle/>
          <a:p>
            <a:r>
              <a:rPr lang="en-US" dirty="0"/>
              <a:t>Suppose we want to predict a counterfactual</a:t>
            </a:r>
          </a:p>
          <a:p>
            <a:pPr lvl="1"/>
            <a:r>
              <a:rPr lang="en-US" dirty="0">
                <a:solidFill>
                  <a:schemeClr val="accent1"/>
                </a:solidFill>
              </a:rPr>
              <a:t>What would have happened without Brexit?</a:t>
            </a:r>
          </a:p>
        </p:txBody>
      </p:sp>
      <p:cxnSp>
        <p:nvCxnSpPr>
          <p:cNvPr id="5" name="Straight Arrow Connector 4">
            <a:extLst>
              <a:ext uri="{FF2B5EF4-FFF2-40B4-BE49-F238E27FC236}">
                <a16:creationId xmlns:a16="http://schemas.microsoft.com/office/drawing/2014/main" id="{589B7DF3-5F0D-CC66-EBB1-3FFA48D29A99}"/>
              </a:ext>
            </a:extLst>
          </p:cNvPr>
          <p:cNvCxnSpPr/>
          <p:nvPr/>
        </p:nvCxnSpPr>
        <p:spPr>
          <a:xfrm>
            <a:off x="2351314" y="5688281"/>
            <a:ext cx="8241476"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6" name="Straight Arrow Connector 5">
            <a:extLst>
              <a:ext uri="{FF2B5EF4-FFF2-40B4-BE49-F238E27FC236}">
                <a16:creationId xmlns:a16="http://schemas.microsoft.com/office/drawing/2014/main" id="{85A6F559-8CB2-2AF5-A899-86B8F4D71257}"/>
              </a:ext>
            </a:extLst>
          </p:cNvPr>
          <p:cNvCxnSpPr>
            <a:cxnSpLocks/>
          </p:cNvCxnSpPr>
          <p:nvPr/>
        </p:nvCxnSpPr>
        <p:spPr>
          <a:xfrm flipV="1">
            <a:off x="2351314" y="2933205"/>
            <a:ext cx="0" cy="275507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2F9E4752-4B7C-C0B1-786A-6FB5ACB33EB0}"/>
              </a:ext>
            </a:extLst>
          </p:cNvPr>
          <p:cNvSpPr txBox="1"/>
          <p:nvPr/>
        </p:nvSpPr>
        <p:spPr>
          <a:xfrm>
            <a:off x="10592790" y="5503615"/>
            <a:ext cx="668773" cy="369332"/>
          </a:xfrm>
          <a:prstGeom prst="rect">
            <a:avLst/>
          </a:prstGeom>
          <a:noFill/>
        </p:spPr>
        <p:txBody>
          <a:bodyPr wrap="none" rtlCol="0">
            <a:spAutoFit/>
          </a:bodyPr>
          <a:lstStyle/>
          <a:p>
            <a:r>
              <a:rPr lang="en-US" dirty="0">
                <a:solidFill>
                  <a:schemeClr val="accent1"/>
                </a:solidFill>
              </a:rPr>
              <a:t>Time</a:t>
            </a:r>
          </a:p>
        </p:txBody>
      </p:sp>
      <p:sp>
        <p:nvSpPr>
          <p:cNvPr id="11" name="TextBox 10">
            <a:extLst>
              <a:ext uri="{FF2B5EF4-FFF2-40B4-BE49-F238E27FC236}">
                <a16:creationId xmlns:a16="http://schemas.microsoft.com/office/drawing/2014/main" id="{F833F365-513F-D080-5010-A403CE1D3798}"/>
              </a:ext>
            </a:extLst>
          </p:cNvPr>
          <p:cNvSpPr txBox="1"/>
          <p:nvPr/>
        </p:nvSpPr>
        <p:spPr>
          <a:xfrm>
            <a:off x="1624939" y="2748539"/>
            <a:ext cx="639919" cy="369332"/>
          </a:xfrm>
          <a:prstGeom prst="rect">
            <a:avLst/>
          </a:prstGeom>
          <a:noFill/>
        </p:spPr>
        <p:txBody>
          <a:bodyPr wrap="none" rtlCol="0">
            <a:spAutoFit/>
          </a:bodyPr>
          <a:lstStyle/>
          <a:p>
            <a:r>
              <a:rPr lang="en-US" dirty="0">
                <a:solidFill>
                  <a:schemeClr val="accent1"/>
                </a:solidFill>
              </a:rPr>
              <a:t>GDP</a:t>
            </a:r>
          </a:p>
        </p:txBody>
      </p:sp>
      <p:sp>
        <p:nvSpPr>
          <p:cNvPr id="13" name="TextBox 12">
            <a:extLst>
              <a:ext uri="{FF2B5EF4-FFF2-40B4-BE49-F238E27FC236}">
                <a16:creationId xmlns:a16="http://schemas.microsoft.com/office/drawing/2014/main" id="{A2A50BF3-2371-C90A-C96F-D8D4E4479B17}"/>
              </a:ext>
            </a:extLst>
          </p:cNvPr>
          <p:cNvSpPr txBox="1"/>
          <p:nvPr/>
        </p:nvSpPr>
        <p:spPr>
          <a:xfrm>
            <a:off x="486889" y="6385250"/>
            <a:ext cx="4150495" cy="369332"/>
          </a:xfrm>
          <a:prstGeom prst="rect">
            <a:avLst/>
          </a:prstGeom>
          <a:noFill/>
        </p:spPr>
        <p:txBody>
          <a:bodyPr wrap="none" rtlCol="0">
            <a:spAutoFit/>
          </a:bodyPr>
          <a:lstStyle/>
          <a:p>
            <a:r>
              <a:rPr lang="en-US" dirty="0">
                <a:solidFill>
                  <a:schemeClr val="accent2"/>
                </a:solidFill>
              </a:rPr>
              <a:t>Thought experiment with made-up data!</a:t>
            </a:r>
          </a:p>
        </p:txBody>
      </p:sp>
      <p:grpSp>
        <p:nvGrpSpPr>
          <p:cNvPr id="17" name="Group 16">
            <a:extLst>
              <a:ext uri="{FF2B5EF4-FFF2-40B4-BE49-F238E27FC236}">
                <a16:creationId xmlns:a16="http://schemas.microsoft.com/office/drawing/2014/main" id="{C677DCC2-AF26-6720-B531-D4332D34E3D7}"/>
              </a:ext>
            </a:extLst>
          </p:cNvPr>
          <p:cNvGrpSpPr/>
          <p:nvPr/>
        </p:nvGrpSpPr>
        <p:grpSpPr>
          <a:xfrm>
            <a:off x="7592139" y="2933205"/>
            <a:ext cx="678391" cy="3257898"/>
            <a:chOff x="7754587" y="2933205"/>
            <a:chExt cx="678391" cy="3257898"/>
          </a:xfrm>
        </p:grpSpPr>
        <p:sp>
          <p:nvSpPr>
            <p:cNvPr id="14" name="TextBox 13">
              <a:extLst>
                <a:ext uri="{FF2B5EF4-FFF2-40B4-BE49-F238E27FC236}">
                  <a16:creationId xmlns:a16="http://schemas.microsoft.com/office/drawing/2014/main" id="{D2540A4B-CFB3-4EB4-7EDE-387CCAAB2004}"/>
                </a:ext>
              </a:extLst>
            </p:cNvPr>
            <p:cNvSpPr txBox="1"/>
            <p:nvPr/>
          </p:nvSpPr>
          <p:spPr>
            <a:xfrm>
              <a:off x="7754587" y="5821771"/>
              <a:ext cx="678391" cy="369332"/>
            </a:xfrm>
            <a:prstGeom prst="rect">
              <a:avLst/>
            </a:prstGeom>
            <a:noFill/>
          </p:spPr>
          <p:txBody>
            <a:bodyPr wrap="none" rtlCol="0">
              <a:spAutoFit/>
            </a:bodyPr>
            <a:lstStyle/>
            <a:p>
              <a:r>
                <a:rPr lang="en-US" dirty="0">
                  <a:solidFill>
                    <a:schemeClr val="accent1"/>
                  </a:solidFill>
                </a:rPr>
                <a:t>2020</a:t>
              </a:r>
            </a:p>
          </p:txBody>
        </p:sp>
        <p:cxnSp>
          <p:nvCxnSpPr>
            <p:cNvPr id="16" name="Straight Connector 15">
              <a:extLst>
                <a:ext uri="{FF2B5EF4-FFF2-40B4-BE49-F238E27FC236}">
                  <a16:creationId xmlns:a16="http://schemas.microsoft.com/office/drawing/2014/main" id="{469BB408-0FE1-245E-D7F4-8AC5637D9E63}"/>
                </a:ext>
              </a:extLst>
            </p:cNvPr>
            <p:cNvCxnSpPr/>
            <p:nvPr/>
          </p:nvCxnSpPr>
          <p:spPr>
            <a:xfrm flipV="1">
              <a:off x="8063345" y="2933205"/>
              <a:ext cx="0" cy="2814751"/>
            </a:xfrm>
            <a:prstGeom prst="line">
              <a:avLst/>
            </a:prstGeom>
            <a:ln>
              <a:prstDash val="dash"/>
            </a:ln>
          </p:spPr>
          <p:style>
            <a:lnRef idx="2">
              <a:schemeClr val="accent1"/>
            </a:lnRef>
            <a:fillRef idx="0">
              <a:schemeClr val="accent1"/>
            </a:fillRef>
            <a:effectRef idx="1">
              <a:schemeClr val="accent1"/>
            </a:effectRef>
            <a:fontRef idx="minor">
              <a:schemeClr val="tx1"/>
            </a:fontRef>
          </p:style>
        </p:cxnSp>
      </p:grpSp>
      <p:sp>
        <p:nvSpPr>
          <p:cNvPr id="18" name="TextBox 17">
            <a:extLst>
              <a:ext uri="{FF2B5EF4-FFF2-40B4-BE49-F238E27FC236}">
                <a16:creationId xmlns:a16="http://schemas.microsoft.com/office/drawing/2014/main" id="{74409142-28F6-5192-4253-3BAC859D896D}"/>
              </a:ext>
            </a:extLst>
          </p:cNvPr>
          <p:cNvSpPr txBox="1"/>
          <p:nvPr/>
        </p:nvSpPr>
        <p:spPr>
          <a:xfrm>
            <a:off x="2562136" y="4496286"/>
            <a:ext cx="869827" cy="369332"/>
          </a:xfrm>
          <a:prstGeom prst="rect">
            <a:avLst/>
          </a:prstGeom>
          <a:noFill/>
        </p:spPr>
        <p:txBody>
          <a:bodyPr wrap="square" rtlCol="0">
            <a:spAutoFit/>
          </a:bodyPr>
          <a:lstStyle/>
          <a:p>
            <a:r>
              <a:rPr lang="en-US" dirty="0">
                <a:solidFill>
                  <a:schemeClr val="accent2"/>
                </a:solidFill>
              </a:rPr>
              <a:t>UK</a:t>
            </a:r>
          </a:p>
        </p:txBody>
      </p:sp>
      <p:sp>
        <p:nvSpPr>
          <p:cNvPr id="9" name="Freeform 8">
            <a:extLst>
              <a:ext uri="{FF2B5EF4-FFF2-40B4-BE49-F238E27FC236}">
                <a16:creationId xmlns:a16="http://schemas.microsoft.com/office/drawing/2014/main" id="{76CDCC36-5A8C-5809-1845-9C512D6C57A6}"/>
              </a:ext>
            </a:extLst>
          </p:cNvPr>
          <p:cNvSpPr/>
          <p:nvPr/>
        </p:nvSpPr>
        <p:spPr>
          <a:xfrm>
            <a:off x="2363190" y="4013860"/>
            <a:ext cx="5557652" cy="843148"/>
          </a:xfrm>
          <a:custGeom>
            <a:avLst/>
            <a:gdLst>
              <a:gd name="connsiteX0" fmla="*/ 0 w 5557652"/>
              <a:gd name="connsiteY0" fmla="*/ 843148 h 843148"/>
              <a:gd name="connsiteX1" fmla="*/ 1258784 w 5557652"/>
              <a:gd name="connsiteY1" fmla="*/ 819397 h 843148"/>
              <a:gd name="connsiteX2" fmla="*/ 1793174 w 5557652"/>
              <a:gd name="connsiteY2" fmla="*/ 641267 h 843148"/>
              <a:gd name="connsiteX3" fmla="*/ 2541319 w 5557652"/>
              <a:gd name="connsiteY3" fmla="*/ 570015 h 843148"/>
              <a:gd name="connsiteX4" fmla="*/ 3004457 w 5557652"/>
              <a:gd name="connsiteY4" fmla="*/ 356259 h 843148"/>
              <a:gd name="connsiteX5" fmla="*/ 3372592 w 5557652"/>
              <a:gd name="connsiteY5" fmla="*/ 285008 h 843148"/>
              <a:gd name="connsiteX6" fmla="*/ 3776353 w 5557652"/>
              <a:gd name="connsiteY6" fmla="*/ 403761 h 843148"/>
              <a:gd name="connsiteX7" fmla="*/ 4643252 w 5557652"/>
              <a:gd name="connsiteY7" fmla="*/ 249382 h 843148"/>
              <a:gd name="connsiteX8" fmla="*/ 5557652 w 5557652"/>
              <a:gd name="connsiteY8" fmla="*/ 0 h 843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557652" h="843148">
                <a:moveTo>
                  <a:pt x="0" y="843148"/>
                </a:moveTo>
                <a:lnTo>
                  <a:pt x="1258784" y="819397"/>
                </a:lnTo>
                <a:cubicBezTo>
                  <a:pt x="1557646" y="785750"/>
                  <a:pt x="1579418" y="682831"/>
                  <a:pt x="1793174" y="641267"/>
                </a:cubicBezTo>
                <a:cubicBezTo>
                  <a:pt x="2006930" y="599703"/>
                  <a:pt x="2339439" y="617516"/>
                  <a:pt x="2541319" y="570015"/>
                </a:cubicBezTo>
                <a:cubicBezTo>
                  <a:pt x="2743200" y="522514"/>
                  <a:pt x="2865912" y="403760"/>
                  <a:pt x="3004457" y="356259"/>
                </a:cubicBezTo>
                <a:cubicBezTo>
                  <a:pt x="3143003" y="308758"/>
                  <a:pt x="3243943" y="277091"/>
                  <a:pt x="3372592" y="285008"/>
                </a:cubicBezTo>
                <a:cubicBezTo>
                  <a:pt x="3501241" y="292925"/>
                  <a:pt x="3564576" y="409699"/>
                  <a:pt x="3776353" y="403761"/>
                </a:cubicBezTo>
                <a:cubicBezTo>
                  <a:pt x="3988130" y="397823"/>
                  <a:pt x="4346369" y="316675"/>
                  <a:pt x="4643252" y="249382"/>
                </a:cubicBezTo>
                <a:cubicBezTo>
                  <a:pt x="4940135" y="182089"/>
                  <a:pt x="5248893" y="91044"/>
                  <a:pt x="5557652" y="0"/>
                </a:cubicBezTo>
              </a:path>
            </a:pathLst>
          </a:custGeom>
          <a:ln w="38100"/>
        </p:spPr>
        <p:style>
          <a:lnRef idx="1">
            <a:schemeClr val="accent2"/>
          </a:lnRef>
          <a:fillRef idx="0">
            <a:schemeClr val="accent2"/>
          </a:fillRef>
          <a:effectRef idx="0">
            <a:schemeClr val="accent2"/>
          </a:effectRef>
          <a:fontRef idx="minor">
            <a:schemeClr val="tx1"/>
          </a:fontRef>
        </p:style>
        <p:txBody>
          <a:bodyPr rtlCol="0" anchor="ctr"/>
          <a:lstStyle/>
          <a:p>
            <a:pPr algn="ctr"/>
            <a:endParaRPr lang="en-US"/>
          </a:p>
        </p:txBody>
      </p:sp>
      <p:grpSp>
        <p:nvGrpSpPr>
          <p:cNvPr id="26" name="Group 25">
            <a:extLst>
              <a:ext uri="{FF2B5EF4-FFF2-40B4-BE49-F238E27FC236}">
                <a16:creationId xmlns:a16="http://schemas.microsoft.com/office/drawing/2014/main" id="{47CBD10C-3BC9-FB86-DC69-81E7F58DFDBF}"/>
              </a:ext>
            </a:extLst>
          </p:cNvPr>
          <p:cNvGrpSpPr/>
          <p:nvPr/>
        </p:nvGrpSpPr>
        <p:grpSpPr>
          <a:xfrm>
            <a:off x="7932717" y="2873829"/>
            <a:ext cx="3550722" cy="1140031"/>
            <a:chOff x="7932717" y="2873829"/>
            <a:chExt cx="3550722" cy="1140031"/>
          </a:xfrm>
        </p:grpSpPr>
        <p:sp>
          <p:nvSpPr>
            <p:cNvPr id="15" name="Freeform 14">
              <a:extLst>
                <a:ext uri="{FF2B5EF4-FFF2-40B4-BE49-F238E27FC236}">
                  <a16:creationId xmlns:a16="http://schemas.microsoft.com/office/drawing/2014/main" id="{ACCC9694-D297-1671-0D33-2BA1D7D4A000}"/>
                </a:ext>
              </a:extLst>
            </p:cNvPr>
            <p:cNvSpPr/>
            <p:nvPr/>
          </p:nvSpPr>
          <p:spPr>
            <a:xfrm>
              <a:off x="7932717" y="2873829"/>
              <a:ext cx="3550722" cy="1140031"/>
            </a:xfrm>
            <a:custGeom>
              <a:avLst/>
              <a:gdLst>
                <a:gd name="connsiteX0" fmla="*/ 0 w 3550722"/>
                <a:gd name="connsiteY0" fmla="*/ 1140031 h 1140031"/>
                <a:gd name="connsiteX1" fmla="*/ 498764 w 3550722"/>
                <a:gd name="connsiteY1" fmla="*/ 997527 h 1140031"/>
                <a:gd name="connsiteX2" fmla="*/ 1140031 w 3550722"/>
                <a:gd name="connsiteY2" fmla="*/ 748145 h 1140031"/>
                <a:gd name="connsiteX3" fmla="*/ 1448789 w 3550722"/>
                <a:gd name="connsiteY3" fmla="*/ 522514 h 1140031"/>
                <a:gd name="connsiteX4" fmla="*/ 1959428 w 3550722"/>
                <a:gd name="connsiteY4" fmla="*/ 427511 h 1140031"/>
                <a:gd name="connsiteX5" fmla="*/ 2351314 w 3550722"/>
                <a:gd name="connsiteY5" fmla="*/ 368135 h 1140031"/>
                <a:gd name="connsiteX6" fmla="*/ 3004457 w 3550722"/>
                <a:gd name="connsiteY6" fmla="*/ 166254 h 1140031"/>
                <a:gd name="connsiteX7" fmla="*/ 3550722 w 3550722"/>
                <a:gd name="connsiteY7" fmla="*/ 0 h 11400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50722" h="1140031">
                  <a:moveTo>
                    <a:pt x="0" y="1140031"/>
                  </a:moveTo>
                  <a:cubicBezTo>
                    <a:pt x="154379" y="1101436"/>
                    <a:pt x="308759" y="1062841"/>
                    <a:pt x="498764" y="997527"/>
                  </a:cubicBezTo>
                  <a:cubicBezTo>
                    <a:pt x="688769" y="932213"/>
                    <a:pt x="981694" y="827314"/>
                    <a:pt x="1140031" y="748145"/>
                  </a:cubicBezTo>
                  <a:cubicBezTo>
                    <a:pt x="1298368" y="668976"/>
                    <a:pt x="1312223" y="575953"/>
                    <a:pt x="1448789" y="522514"/>
                  </a:cubicBezTo>
                  <a:cubicBezTo>
                    <a:pt x="1585355" y="469075"/>
                    <a:pt x="1809007" y="453241"/>
                    <a:pt x="1959428" y="427511"/>
                  </a:cubicBezTo>
                  <a:cubicBezTo>
                    <a:pt x="2109849" y="401781"/>
                    <a:pt x="2177143" y="411678"/>
                    <a:pt x="2351314" y="368135"/>
                  </a:cubicBezTo>
                  <a:cubicBezTo>
                    <a:pt x="2525485" y="324592"/>
                    <a:pt x="3004457" y="166254"/>
                    <a:pt x="3004457" y="166254"/>
                  </a:cubicBezTo>
                  <a:lnTo>
                    <a:pt x="3550722" y="0"/>
                  </a:lnTo>
                </a:path>
              </a:pathLst>
            </a:custGeom>
            <a:noFill/>
            <a:ln>
              <a:solidFill>
                <a:schemeClr val="accent2"/>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C3C43A50-E050-28DC-42FD-4F89D47ACE51}"/>
                </a:ext>
              </a:extLst>
            </p:cNvPr>
            <p:cNvSpPr txBox="1"/>
            <p:nvPr/>
          </p:nvSpPr>
          <p:spPr>
            <a:xfrm>
              <a:off x="9489618" y="3320152"/>
              <a:ext cx="1372427" cy="369332"/>
            </a:xfrm>
            <a:prstGeom prst="rect">
              <a:avLst/>
            </a:prstGeom>
            <a:noFill/>
          </p:spPr>
          <p:txBody>
            <a:bodyPr wrap="none" rtlCol="0">
              <a:spAutoFit/>
            </a:bodyPr>
            <a:lstStyle/>
            <a:p>
              <a:r>
                <a:rPr lang="en-US" dirty="0">
                  <a:solidFill>
                    <a:schemeClr val="accent2"/>
                  </a:solidFill>
                </a:rPr>
                <a:t>Maybe this?</a:t>
              </a:r>
            </a:p>
          </p:txBody>
        </p:sp>
      </p:grpSp>
      <p:grpSp>
        <p:nvGrpSpPr>
          <p:cNvPr id="35" name="Group 34">
            <a:extLst>
              <a:ext uri="{FF2B5EF4-FFF2-40B4-BE49-F238E27FC236}">
                <a16:creationId xmlns:a16="http://schemas.microsoft.com/office/drawing/2014/main" id="{340079A6-C239-EF5A-ADC2-4B1B022DD922}"/>
              </a:ext>
            </a:extLst>
          </p:cNvPr>
          <p:cNvGrpSpPr/>
          <p:nvPr/>
        </p:nvGrpSpPr>
        <p:grpSpPr>
          <a:xfrm>
            <a:off x="290024" y="4258071"/>
            <a:ext cx="2000200" cy="1327015"/>
            <a:chOff x="290024" y="4258071"/>
            <a:chExt cx="2000200" cy="1327015"/>
          </a:xfrm>
        </p:grpSpPr>
        <p:sp>
          <p:nvSpPr>
            <p:cNvPr id="27" name="TextBox 26">
              <a:extLst>
                <a:ext uri="{FF2B5EF4-FFF2-40B4-BE49-F238E27FC236}">
                  <a16:creationId xmlns:a16="http://schemas.microsoft.com/office/drawing/2014/main" id="{C299C106-61DC-55BF-6FFC-E740516511BB}"/>
                </a:ext>
              </a:extLst>
            </p:cNvPr>
            <p:cNvSpPr txBox="1"/>
            <p:nvPr/>
          </p:nvSpPr>
          <p:spPr>
            <a:xfrm>
              <a:off x="290024" y="4661756"/>
              <a:ext cx="1599970" cy="923330"/>
            </a:xfrm>
            <a:prstGeom prst="rect">
              <a:avLst/>
            </a:prstGeom>
            <a:noFill/>
          </p:spPr>
          <p:txBody>
            <a:bodyPr wrap="square" rtlCol="0">
              <a:spAutoFit/>
            </a:bodyPr>
            <a:lstStyle/>
            <a:p>
              <a:pPr algn="r"/>
              <a:r>
                <a:rPr lang="en-US" dirty="0">
                  <a:solidFill>
                    <a:schemeClr val="accent1"/>
                  </a:solidFill>
                </a:rPr>
                <a:t>The idea is to </a:t>
              </a:r>
              <a:r>
                <a:rPr lang="en-US" b="1" dirty="0">
                  <a:solidFill>
                    <a:schemeClr val="accent1"/>
                  </a:solidFill>
                </a:rPr>
                <a:t>average</a:t>
              </a:r>
              <a:r>
                <a:rPr lang="en-US" dirty="0">
                  <a:solidFill>
                    <a:schemeClr val="accent1"/>
                  </a:solidFill>
                </a:rPr>
                <a:t> the two of these!</a:t>
              </a:r>
            </a:p>
          </p:txBody>
        </p:sp>
        <p:cxnSp>
          <p:nvCxnSpPr>
            <p:cNvPr id="28" name="Straight Arrow Connector 27">
              <a:extLst>
                <a:ext uri="{FF2B5EF4-FFF2-40B4-BE49-F238E27FC236}">
                  <a16:creationId xmlns:a16="http://schemas.microsoft.com/office/drawing/2014/main" id="{D7463699-8608-075E-E988-4319DEC8E205}"/>
                </a:ext>
              </a:extLst>
            </p:cNvPr>
            <p:cNvCxnSpPr>
              <a:cxnSpLocks/>
            </p:cNvCxnSpPr>
            <p:nvPr/>
          </p:nvCxnSpPr>
          <p:spPr>
            <a:xfrm flipV="1">
              <a:off x="1888605" y="4258071"/>
              <a:ext cx="401619" cy="86535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9" name="Straight Arrow Connector 28">
              <a:extLst>
                <a:ext uri="{FF2B5EF4-FFF2-40B4-BE49-F238E27FC236}">
                  <a16:creationId xmlns:a16="http://schemas.microsoft.com/office/drawing/2014/main" id="{2D783852-ACE6-BDAB-48F9-16E0860D038E}"/>
                </a:ext>
              </a:extLst>
            </p:cNvPr>
            <p:cNvCxnSpPr>
              <a:cxnSpLocks/>
            </p:cNvCxnSpPr>
            <p:nvPr/>
          </p:nvCxnSpPr>
          <p:spPr>
            <a:xfrm>
              <a:off x="1872923" y="5123421"/>
              <a:ext cx="396050" cy="30656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grpSp>
        <p:nvGrpSpPr>
          <p:cNvPr id="33" name="Group 32">
            <a:extLst>
              <a:ext uri="{FF2B5EF4-FFF2-40B4-BE49-F238E27FC236}">
                <a16:creationId xmlns:a16="http://schemas.microsoft.com/office/drawing/2014/main" id="{3DBC97BE-AB82-5FE9-2587-9D4702CDA742}"/>
              </a:ext>
            </a:extLst>
          </p:cNvPr>
          <p:cNvGrpSpPr/>
          <p:nvPr/>
        </p:nvGrpSpPr>
        <p:grpSpPr>
          <a:xfrm>
            <a:off x="2351314" y="3146956"/>
            <a:ext cx="9144000" cy="2339439"/>
            <a:chOff x="2351314" y="3146956"/>
            <a:chExt cx="9144000" cy="2339439"/>
          </a:xfrm>
        </p:grpSpPr>
        <p:sp>
          <p:nvSpPr>
            <p:cNvPr id="7" name="Freeform 6">
              <a:extLst>
                <a:ext uri="{FF2B5EF4-FFF2-40B4-BE49-F238E27FC236}">
                  <a16:creationId xmlns:a16="http://schemas.microsoft.com/office/drawing/2014/main" id="{CDD4911A-2F20-51BF-E948-19B1748A4E47}"/>
                </a:ext>
              </a:extLst>
            </p:cNvPr>
            <p:cNvSpPr/>
            <p:nvPr/>
          </p:nvSpPr>
          <p:spPr>
            <a:xfrm>
              <a:off x="2351314" y="3146956"/>
              <a:ext cx="9144000" cy="2339439"/>
            </a:xfrm>
            <a:custGeom>
              <a:avLst/>
              <a:gdLst>
                <a:gd name="connsiteX0" fmla="*/ 0 w 9144000"/>
                <a:gd name="connsiteY0" fmla="*/ 2339439 h 2339439"/>
                <a:gd name="connsiteX1" fmla="*/ 771896 w 9144000"/>
                <a:gd name="connsiteY1" fmla="*/ 2327564 h 2339439"/>
                <a:gd name="connsiteX2" fmla="*/ 1246909 w 9144000"/>
                <a:gd name="connsiteY2" fmla="*/ 2268187 h 2339439"/>
                <a:gd name="connsiteX3" fmla="*/ 1686296 w 9144000"/>
                <a:gd name="connsiteY3" fmla="*/ 2018806 h 2339439"/>
                <a:gd name="connsiteX4" fmla="*/ 2018805 w 9144000"/>
                <a:gd name="connsiteY4" fmla="*/ 1911928 h 2339439"/>
                <a:gd name="connsiteX5" fmla="*/ 2410691 w 9144000"/>
                <a:gd name="connsiteY5" fmla="*/ 1888177 h 2339439"/>
                <a:gd name="connsiteX6" fmla="*/ 5569528 w 9144000"/>
                <a:gd name="connsiteY6" fmla="*/ 1852551 h 2339439"/>
                <a:gd name="connsiteX7" fmla="*/ 6792686 w 9144000"/>
                <a:gd name="connsiteY7" fmla="*/ 1698172 h 2339439"/>
                <a:gd name="connsiteX8" fmla="*/ 7327076 w 9144000"/>
                <a:gd name="connsiteY8" fmla="*/ 1211284 h 2339439"/>
                <a:gd name="connsiteX9" fmla="*/ 8146473 w 9144000"/>
                <a:gd name="connsiteY9" fmla="*/ 961902 h 2339439"/>
                <a:gd name="connsiteX10" fmla="*/ 9144000 w 9144000"/>
                <a:gd name="connsiteY10" fmla="*/ 0 h 2339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144000" h="2339439">
                  <a:moveTo>
                    <a:pt x="0" y="2339439"/>
                  </a:moveTo>
                  <a:cubicBezTo>
                    <a:pt x="282039" y="2339439"/>
                    <a:pt x="564078" y="2339439"/>
                    <a:pt x="771896" y="2327564"/>
                  </a:cubicBezTo>
                  <a:cubicBezTo>
                    <a:pt x="979714" y="2315689"/>
                    <a:pt x="1094509" y="2319647"/>
                    <a:pt x="1246909" y="2268187"/>
                  </a:cubicBezTo>
                  <a:cubicBezTo>
                    <a:pt x="1399309" y="2216727"/>
                    <a:pt x="1557647" y="2078182"/>
                    <a:pt x="1686296" y="2018806"/>
                  </a:cubicBezTo>
                  <a:cubicBezTo>
                    <a:pt x="1814945" y="1959430"/>
                    <a:pt x="1898073" y="1933699"/>
                    <a:pt x="2018805" y="1911928"/>
                  </a:cubicBezTo>
                  <a:cubicBezTo>
                    <a:pt x="2139537" y="1890157"/>
                    <a:pt x="2410691" y="1888177"/>
                    <a:pt x="2410691" y="1888177"/>
                  </a:cubicBezTo>
                  <a:lnTo>
                    <a:pt x="5569528" y="1852551"/>
                  </a:lnTo>
                  <a:cubicBezTo>
                    <a:pt x="6299860" y="1820884"/>
                    <a:pt x="6499761" y="1805050"/>
                    <a:pt x="6792686" y="1698172"/>
                  </a:cubicBezTo>
                  <a:cubicBezTo>
                    <a:pt x="7085611" y="1591294"/>
                    <a:pt x="7101445" y="1333996"/>
                    <a:pt x="7327076" y="1211284"/>
                  </a:cubicBezTo>
                  <a:cubicBezTo>
                    <a:pt x="7552707" y="1088572"/>
                    <a:pt x="7843652" y="1163783"/>
                    <a:pt x="8146473" y="961902"/>
                  </a:cubicBezTo>
                  <a:cubicBezTo>
                    <a:pt x="8449294" y="760021"/>
                    <a:pt x="8796647" y="380010"/>
                    <a:pt x="9144000" y="0"/>
                  </a:cubicBezTo>
                </a:path>
              </a:pathLst>
            </a:custGeom>
            <a:noFill/>
            <a:ln w="3810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48E55165-7C1D-C21F-AEC6-99599A35E19B}"/>
                </a:ext>
              </a:extLst>
            </p:cNvPr>
            <p:cNvSpPr txBox="1"/>
            <p:nvPr/>
          </p:nvSpPr>
          <p:spPr>
            <a:xfrm>
              <a:off x="5992778" y="5013273"/>
              <a:ext cx="827471" cy="369332"/>
            </a:xfrm>
            <a:prstGeom prst="rect">
              <a:avLst/>
            </a:prstGeom>
            <a:noFill/>
          </p:spPr>
          <p:txBody>
            <a:bodyPr wrap="none" rtlCol="0">
              <a:spAutoFit/>
            </a:bodyPr>
            <a:lstStyle/>
            <a:p>
              <a:r>
                <a:rPr lang="en-US" dirty="0">
                  <a:solidFill>
                    <a:schemeClr val="accent4"/>
                  </a:solidFill>
                </a:rPr>
                <a:t>Rohan</a:t>
              </a:r>
            </a:p>
          </p:txBody>
        </p:sp>
      </p:grpSp>
      <p:grpSp>
        <p:nvGrpSpPr>
          <p:cNvPr id="34" name="Group 33">
            <a:extLst>
              <a:ext uri="{FF2B5EF4-FFF2-40B4-BE49-F238E27FC236}">
                <a16:creationId xmlns:a16="http://schemas.microsoft.com/office/drawing/2014/main" id="{A8E037E1-85E9-B5EA-75A9-6581EC737897}"/>
              </a:ext>
            </a:extLst>
          </p:cNvPr>
          <p:cNvGrpSpPr/>
          <p:nvPr/>
        </p:nvGrpSpPr>
        <p:grpSpPr>
          <a:xfrm>
            <a:off x="2375065" y="2636318"/>
            <a:ext cx="9108374" cy="1621753"/>
            <a:chOff x="2375065" y="2636318"/>
            <a:chExt cx="9108374" cy="1621753"/>
          </a:xfrm>
        </p:grpSpPr>
        <p:sp>
          <p:nvSpPr>
            <p:cNvPr id="8" name="Freeform 7">
              <a:extLst>
                <a:ext uri="{FF2B5EF4-FFF2-40B4-BE49-F238E27FC236}">
                  <a16:creationId xmlns:a16="http://schemas.microsoft.com/office/drawing/2014/main" id="{F68136FC-37EA-2D4B-C458-FB1A53D900BF}"/>
                </a:ext>
              </a:extLst>
            </p:cNvPr>
            <p:cNvSpPr/>
            <p:nvPr/>
          </p:nvSpPr>
          <p:spPr>
            <a:xfrm>
              <a:off x="2375065" y="2636318"/>
              <a:ext cx="9108374" cy="1621753"/>
            </a:xfrm>
            <a:custGeom>
              <a:avLst/>
              <a:gdLst>
                <a:gd name="connsiteX0" fmla="*/ 0 w 9108374"/>
                <a:gd name="connsiteY0" fmla="*/ 1591294 h 1621753"/>
                <a:gd name="connsiteX1" fmla="*/ 2280062 w 9108374"/>
                <a:gd name="connsiteY1" fmla="*/ 1567543 h 1621753"/>
                <a:gd name="connsiteX2" fmla="*/ 3099460 w 9108374"/>
                <a:gd name="connsiteY2" fmla="*/ 1092530 h 1621753"/>
                <a:gd name="connsiteX3" fmla="*/ 3740727 w 9108374"/>
                <a:gd name="connsiteY3" fmla="*/ 1235034 h 1621753"/>
                <a:gd name="connsiteX4" fmla="*/ 4429496 w 9108374"/>
                <a:gd name="connsiteY4" fmla="*/ 1021278 h 1621753"/>
                <a:gd name="connsiteX5" fmla="*/ 5533901 w 9108374"/>
                <a:gd name="connsiteY5" fmla="*/ 558141 h 1621753"/>
                <a:gd name="connsiteX6" fmla="*/ 6222670 w 9108374"/>
                <a:gd name="connsiteY6" fmla="*/ 213756 h 1621753"/>
                <a:gd name="connsiteX7" fmla="*/ 7042067 w 9108374"/>
                <a:gd name="connsiteY7" fmla="*/ 47502 h 1621753"/>
                <a:gd name="connsiteX8" fmla="*/ 9108374 w 9108374"/>
                <a:gd name="connsiteY8" fmla="*/ 0 h 16217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108374" h="1621753">
                  <a:moveTo>
                    <a:pt x="0" y="1591294"/>
                  </a:moveTo>
                  <a:cubicBezTo>
                    <a:pt x="881742" y="1620982"/>
                    <a:pt x="1763485" y="1650670"/>
                    <a:pt x="2280062" y="1567543"/>
                  </a:cubicBezTo>
                  <a:cubicBezTo>
                    <a:pt x="2796639" y="1484416"/>
                    <a:pt x="2856016" y="1147948"/>
                    <a:pt x="3099460" y="1092530"/>
                  </a:cubicBezTo>
                  <a:cubicBezTo>
                    <a:pt x="3342904" y="1037112"/>
                    <a:pt x="3519054" y="1246909"/>
                    <a:pt x="3740727" y="1235034"/>
                  </a:cubicBezTo>
                  <a:cubicBezTo>
                    <a:pt x="3962400" y="1223159"/>
                    <a:pt x="4130634" y="1134093"/>
                    <a:pt x="4429496" y="1021278"/>
                  </a:cubicBezTo>
                  <a:cubicBezTo>
                    <a:pt x="4728358" y="908462"/>
                    <a:pt x="5235039" y="692728"/>
                    <a:pt x="5533901" y="558141"/>
                  </a:cubicBezTo>
                  <a:cubicBezTo>
                    <a:pt x="5832763" y="423554"/>
                    <a:pt x="5971309" y="298862"/>
                    <a:pt x="6222670" y="213756"/>
                  </a:cubicBezTo>
                  <a:cubicBezTo>
                    <a:pt x="6474031" y="128650"/>
                    <a:pt x="6561116" y="83128"/>
                    <a:pt x="7042067" y="47502"/>
                  </a:cubicBezTo>
                  <a:cubicBezTo>
                    <a:pt x="7523018" y="11876"/>
                    <a:pt x="8315696" y="5938"/>
                    <a:pt x="9108374" y="0"/>
                  </a:cubicBezTo>
                </a:path>
              </a:pathLst>
            </a:custGeom>
            <a:noFill/>
            <a:ln w="3810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extBox 31">
              <a:extLst>
                <a:ext uri="{FF2B5EF4-FFF2-40B4-BE49-F238E27FC236}">
                  <a16:creationId xmlns:a16="http://schemas.microsoft.com/office/drawing/2014/main" id="{2456273D-5714-9E12-AD0B-789E28820239}"/>
                </a:ext>
              </a:extLst>
            </p:cNvPr>
            <p:cNvSpPr txBox="1"/>
            <p:nvPr/>
          </p:nvSpPr>
          <p:spPr>
            <a:xfrm>
              <a:off x="3227811" y="3863151"/>
              <a:ext cx="1196738" cy="369332"/>
            </a:xfrm>
            <a:prstGeom prst="rect">
              <a:avLst/>
            </a:prstGeom>
            <a:noFill/>
          </p:spPr>
          <p:txBody>
            <a:bodyPr wrap="none" rtlCol="0">
              <a:spAutoFit/>
            </a:bodyPr>
            <a:lstStyle/>
            <a:p>
              <a:r>
                <a:rPr lang="en-US" dirty="0" err="1">
                  <a:solidFill>
                    <a:schemeClr val="accent6"/>
                  </a:solidFill>
                </a:rPr>
                <a:t>Lothlorian</a:t>
              </a:r>
              <a:endParaRPr lang="en-US" dirty="0">
                <a:solidFill>
                  <a:schemeClr val="accent6"/>
                </a:solidFill>
              </a:endParaRPr>
            </a:p>
          </p:txBody>
        </p:sp>
      </p:grpSp>
    </p:spTree>
    <p:extLst>
      <p:ext uri="{BB962C8B-B14F-4D97-AF65-F5344CB8AC3E}">
        <p14:creationId xmlns:p14="http://schemas.microsoft.com/office/powerpoint/2010/main" val="20767412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ED15E9-AC38-2785-95FE-A017518F3FC1}"/>
              </a:ext>
            </a:extLst>
          </p:cNvPr>
          <p:cNvSpPr>
            <a:spLocks noGrp="1"/>
          </p:cNvSpPr>
          <p:nvPr>
            <p:ph type="title"/>
          </p:nvPr>
        </p:nvSpPr>
        <p:spPr/>
        <p:txBody>
          <a:bodyPr/>
          <a:lstStyle/>
          <a:p>
            <a:r>
              <a:rPr lang="en-US" dirty="0"/>
              <a:t>Questions about this idea</a:t>
            </a:r>
          </a:p>
        </p:txBody>
      </p:sp>
      <p:sp>
        <p:nvSpPr>
          <p:cNvPr id="3" name="Content Placeholder 2">
            <a:extLst>
              <a:ext uri="{FF2B5EF4-FFF2-40B4-BE49-F238E27FC236}">
                <a16:creationId xmlns:a16="http://schemas.microsoft.com/office/drawing/2014/main" id="{99E25692-3303-9420-0593-3ABE7E124015}"/>
              </a:ext>
            </a:extLst>
          </p:cNvPr>
          <p:cNvSpPr>
            <a:spLocks noGrp="1"/>
          </p:cNvSpPr>
          <p:nvPr>
            <p:ph idx="1"/>
          </p:nvPr>
        </p:nvSpPr>
        <p:spPr>
          <a:xfrm>
            <a:off x="838200" y="1825625"/>
            <a:ext cx="10515600" cy="4836432"/>
          </a:xfrm>
        </p:spPr>
        <p:txBody>
          <a:bodyPr>
            <a:normAutofit/>
          </a:bodyPr>
          <a:lstStyle/>
          <a:p>
            <a:r>
              <a:rPr lang="en-US" dirty="0"/>
              <a:t>How do we implement it?</a:t>
            </a:r>
          </a:p>
          <a:p>
            <a:pPr lvl="1"/>
            <a:r>
              <a:rPr lang="en-US" dirty="0">
                <a:solidFill>
                  <a:schemeClr val="accent1"/>
                </a:solidFill>
              </a:rPr>
              <a:t>How can we find which countries to average?</a:t>
            </a:r>
          </a:p>
          <a:p>
            <a:pPr lvl="1"/>
            <a:r>
              <a:rPr lang="en-US" dirty="0">
                <a:solidFill>
                  <a:schemeClr val="accent1"/>
                </a:solidFill>
              </a:rPr>
              <a:t>With what weights?</a:t>
            </a:r>
          </a:p>
          <a:p>
            <a:endParaRPr lang="en-US" dirty="0"/>
          </a:p>
          <a:p>
            <a:r>
              <a:rPr lang="en-US" dirty="0"/>
              <a:t>Can we take into account covariates?</a:t>
            </a:r>
          </a:p>
          <a:p>
            <a:pPr lvl="1"/>
            <a:r>
              <a:rPr lang="en-US" dirty="0">
                <a:solidFill>
                  <a:schemeClr val="accent1"/>
                </a:solidFill>
              </a:rPr>
              <a:t>Does it matter that </a:t>
            </a:r>
            <a:r>
              <a:rPr lang="en-US" dirty="0" err="1">
                <a:solidFill>
                  <a:schemeClr val="accent1"/>
                </a:solidFill>
              </a:rPr>
              <a:t>Lothlorian</a:t>
            </a:r>
            <a:r>
              <a:rPr lang="en-US" dirty="0">
                <a:solidFill>
                  <a:schemeClr val="accent1"/>
                </a:solidFill>
              </a:rPr>
              <a:t> has a population of mostly elves, while the UK has a population of mostly humans?</a:t>
            </a:r>
          </a:p>
          <a:p>
            <a:endParaRPr lang="en-US" dirty="0"/>
          </a:p>
          <a:p>
            <a:r>
              <a:rPr lang="en-US" dirty="0"/>
              <a:t>How does this compare to other approaches we’ve seen?</a:t>
            </a:r>
          </a:p>
          <a:p>
            <a:pPr lvl="1"/>
            <a:r>
              <a:rPr lang="en-US" dirty="0">
                <a:solidFill>
                  <a:schemeClr val="accent1"/>
                </a:solidFill>
              </a:rPr>
              <a:t>Difference-in-differences; Matrix completion</a:t>
            </a:r>
          </a:p>
        </p:txBody>
      </p:sp>
    </p:spTree>
    <p:extLst>
      <p:ext uri="{BB962C8B-B14F-4D97-AF65-F5344CB8AC3E}">
        <p14:creationId xmlns:p14="http://schemas.microsoft.com/office/powerpoint/2010/main" val="29172545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4B8279-5D10-08AF-72C7-1EFB12E8E5E6}"/>
              </a:ext>
            </a:extLst>
          </p:cNvPr>
          <p:cNvSpPr>
            <a:spLocks noGrp="1"/>
          </p:cNvSpPr>
          <p:nvPr>
            <p:ph type="title"/>
          </p:nvPr>
        </p:nvSpPr>
        <p:spPr/>
        <p:txBody>
          <a:bodyPr/>
          <a:lstStyle/>
          <a:p>
            <a:r>
              <a:rPr lang="en-US" dirty="0"/>
              <a:t>Running example for today’s class</a:t>
            </a:r>
          </a:p>
        </p:txBody>
      </p:sp>
      <p:sp>
        <p:nvSpPr>
          <p:cNvPr id="3" name="Content Placeholder 2">
            <a:extLst>
              <a:ext uri="{FF2B5EF4-FFF2-40B4-BE49-F238E27FC236}">
                <a16:creationId xmlns:a16="http://schemas.microsoft.com/office/drawing/2014/main" id="{99F7EC80-18F5-BAE8-AA0F-6DA7C1FBB212}"/>
              </a:ext>
            </a:extLst>
          </p:cNvPr>
          <p:cNvSpPr>
            <a:spLocks noGrp="1"/>
          </p:cNvSpPr>
          <p:nvPr>
            <p:ph idx="1"/>
          </p:nvPr>
        </p:nvSpPr>
        <p:spPr/>
        <p:txBody>
          <a:bodyPr/>
          <a:lstStyle/>
          <a:p>
            <a:r>
              <a:rPr lang="en-US" dirty="0"/>
              <a:t>The Brexit example</a:t>
            </a:r>
          </a:p>
          <a:p>
            <a:endParaRPr lang="en-US" dirty="0"/>
          </a:p>
          <a:p>
            <a:r>
              <a:rPr lang="en-US" dirty="0"/>
              <a:t>The CA Prop. 99 Example (anti-smoking legislation)</a:t>
            </a:r>
          </a:p>
          <a:p>
            <a:endParaRPr lang="en-US" dirty="0"/>
          </a:p>
        </p:txBody>
      </p:sp>
      <p:grpSp>
        <p:nvGrpSpPr>
          <p:cNvPr id="15" name="Group 14">
            <a:extLst>
              <a:ext uri="{FF2B5EF4-FFF2-40B4-BE49-F238E27FC236}">
                <a16:creationId xmlns:a16="http://schemas.microsoft.com/office/drawing/2014/main" id="{A8FBB255-B7D7-AC70-4029-EDDEAB697A20}"/>
              </a:ext>
            </a:extLst>
          </p:cNvPr>
          <p:cNvGrpSpPr/>
          <p:nvPr/>
        </p:nvGrpSpPr>
        <p:grpSpPr>
          <a:xfrm>
            <a:off x="1033153" y="1686572"/>
            <a:ext cx="8989621" cy="830997"/>
            <a:chOff x="1033153" y="1686572"/>
            <a:chExt cx="8989621" cy="830997"/>
          </a:xfrm>
        </p:grpSpPr>
        <p:grpSp>
          <p:nvGrpSpPr>
            <p:cNvPr id="14" name="Group 13">
              <a:extLst>
                <a:ext uri="{FF2B5EF4-FFF2-40B4-BE49-F238E27FC236}">
                  <a16:creationId xmlns:a16="http://schemas.microsoft.com/office/drawing/2014/main" id="{E78B343E-36B4-6913-71EF-C6C72AC6C014}"/>
                </a:ext>
              </a:extLst>
            </p:cNvPr>
            <p:cNvGrpSpPr/>
            <p:nvPr/>
          </p:nvGrpSpPr>
          <p:grpSpPr>
            <a:xfrm>
              <a:off x="1033153" y="1825625"/>
              <a:ext cx="3170712" cy="513814"/>
              <a:chOff x="1033153" y="1825625"/>
              <a:chExt cx="3170712" cy="513814"/>
            </a:xfrm>
          </p:grpSpPr>
          <p:cxnSp>
            <p:nvCxnSpPr>
              <p:cNvPr id="5" name="Straight Connector 4">
                <a:extLst>
                  <a:ext uri="{FF2B5EF4-FFF2-40B4-BE49-F238E27FC236}">
                    <a16:creationId xmlns:a16="http://schemas.microsoft.com/office/drawing/2014/main" id="{4DE2B734-91D3-FCAB-5737-5F934C021358}"/>
                  </a:ext>
                </a:extLst>
              </p:cNvPr>
              <p:cNvCxnSpPr>
                <a:cxnSpLocks/>
              </p:cNvCxnSpPr>
              <p:nvPr/>
            </p:nvCxnSpPr>
            <p:spPr>
              <a:xfrm>
                <a:off x="1258784" y="1825625"/>
                <a:ext cx="2945081" cy="513814"/>
              </a:xfrm>
              <a:prstGeom prst="line">
                <a:avLst/>
              </a:prstGeom>
              <a:ln w="5715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FC3457D4-AE8F-6957-634D-3FE517FC8054}"/>
                  </a:ext>
                </a:extLst>
              </p:cNvPr>
              <p:cNvCxnSpPr>
                <a:cxnSpLocks/>
              </p:cNvCxnSpPr>
              <p:nvPr/>
            </p:nvCxnSpPr>
            <p:spPr>
              <a:xfrm flipV="1">
                <a:off x="1033153" y="1825625"/>
                <a:ext cx="3170712" cy="513814"/>
              </a:xfrm>
              <a:prstGeom prst="line">
                <a:avLst/>
              </a:prstGeom>
              <a:ln w="57150">
                <a:solidFill>
                  <a:srgbClr val="FF0000"/>
                </a:solidFill>
              </a:ln>
            </p:spPr>
            <p:style>
              <a:lnRef idx="2">
                <a:schemeClr val="accent1"/>
              </a:lnRef>
              <a:fillRef idx="0">
                <a:schemeClr val="accent1"/>
              </a:fillRef>
              <a:effectRef idx="1">
                <a:schemeClr val="accent1"/>
              </a:effectRef>
              <a:fontRef idx="minor">
                <a:schemeClr val="tx1"/>
              </a:fontRef>
            </p:style>
          </p:cxnSp>
        </p:grpSp>
        <p:sp>
          <p:nvSpPr>
            <p:cNvPr id="9" name="TextBox 8">
              <a:extLst>
                <a:ext uri="{FF2B5EF4-FFF2-40B4-BE49-F238E27FC236}">
                  <a16:creationId xmlns:a16="http://schemas.microsoft.com/office/drawing/2014/main" id="{CA0712DE-3ADE-BB78-4CC5-CC8B288E9AA8}"/>
                </a:ext>
              </a:extLst>
            </p:cNvPr>
            <p:cNvSpPr txBox="1"/>
            <p:nvPr/>
          </p:nvSpPr>
          <p:spPr>
            <a:xfrm>
              <a:off x="4785755" y="1686572"/>
              <a:ext cx="5237019" cy="830997"/>
            </a:xfrm>
            <a:prstGeom prst="rect">
              <a:avLst/>
            </a:prstGeom>
            <a:noFill/>
          </p:spPr>
          <p:txBody>
            <a:bodyPr wrap="square" rtlCol="0">
              <a:spAutoFit/>
            </a:bodyPr>
            <a:lstStyle/>
            <a:p>
              <a:r>
                <a:rPr lang="en-US" sz="2400" dirty="0">
                  <a:solidFill>
                    <a:srgbClr val="FF0000"/>
                  </a:solidFill>
                </a:rPr>
                <a:t>No spoilers!  You can do this on an optional part of your HW if you want!</a:t>
              </a:r>
            </a:p>
          </p:txBody>
        </p:sp>
      </p:grpSp>
    </p:spTree>
    <p:extLst>
      <p:ext uri="{BB962C8B-B14F-4D97-AF65-F5344CB8AC3E}">
        <p14:creationId xmlns:p14="http://schemas.microsoft.com/office/powerpoint/2010/main" val="8247813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A4A7F72-2EC0-6AA2-0004-F9BAF001C88A}"/>
              </a:ext>
            </a:extLst>
          </p:cNvPr>
          <p:cNvSpPr/>
          <p:nvPr/>
        </p:nvSpPr>
        <p:spPr>
          <a:xfrm>
            <a:off x="10399361" y="6085023"/>
            <a:ext cx="1987902" cy="81279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4758623-EEA8-3BB4-4AA7-073C0DCDD5DF}"/>
              </a:ext>
            </a:extLst>
          </p:cNvPr>
          <p:cNvSpPr>
            <a:spLocks noGrp="1"/>
          </p:cNvSpPr>
          <p:nvPr>
            <p:ph type="title"/>
          </p:nvPr>
        </p:nvSpPr>
        <p:spPr>
          <a:xfrm>
            <a:off x="814393" y="130730"/>
            <a:ext cx="10515600" cy="1325563"/>
          </a:xfrm>
        </p:spPr>
        <p:txBody>
          <a:bodyPr>
            <a:normAutofit/>
          </a:bodyPr>
          <a:lstStyle/>
          <a:p>
            <a:r>
              <a:rPr lang="en-US" dirty="0"/>
              <a:t>Effect of anti-smoking legislation</a:t>
            </a:r>
            <a:br>
              <a:rPr lang="en-US" dirty="0"/>
            </a:br>
            <a:r>
              <a:rPr lang="en-US" sz="2700" dirty="0"/>
              <a:t>Abadie, Diamond and </a:t>
            </a:r>
            <a:r>
              <a:rPr lang="en-US" sz="2700" dirty="0" err="1"/>
              <a:t>Hainmueller</a:t>
            </a:r>
            <a:r>
              <a:rPr lang="en-US" sz="2700" dirty="0"/>
              <a:t> (2010)</a:t>
            </a:r>
            <a:endParaRPr lang="en-US" dirty="0"/>
          </a:p>
        </p:txBody>
      </p:sp>
      <p:sp>
        <p:nvSpPr>
          <p:cNvPr id="3" name="Content Placeholder 2">
            <a:extLst>
              <a:ext uri="{FF2B5EF4-FFF2-40B4-BE49-F238E27FC236}">
                <a16:creationId xmlns:a16="http://schemas.microsoft.com/office/drawing/2014/main" id="{E2B2147E-1863-8F97-8FA7-49C5245AF559}"/>
              </a:ext>
            </a:extLst>
          </p:cNvPr>
          <p:cNvSpPr>
            <a:spLocks noGrp="1"/>
          </p:cNvSpPr>
          <p:nvPr>
            <p:ph idx="1"/>
          </p:nvPr>
        </p:nvSpPr>
        <p:spPr>
          <a:xfrm>
            <a:off x="849452" y="1839216"/>
            <a:ext cx="6374187" cy="1529076"/>
          </a:xfrm>
        </p:spPr>
        <p:txBody>
          <a:bodyPr>
            <a:normAutofit/>
          </a:bodyPr>
          <a:lstStyle/>
          <a:p>
            <a:r>
              <a:rPr lang="en-US" b="1" dirty="0"/>
              <a:t>Substantive question: </a:t>
            </a:r>
            <a:r>
              <a:rPr lang="en-US" dirty="0"/>
              <a:t>Do anti-smoking programs lower rates of smoking?</a:t>
            </a:r>
          </a:p>
        </p:txBody>
      </p:sp>
      <p:sp>
        <p:nvSpPr>
          <p:cNvPr id="12" name="Content Placeholder 2">
            <a:extLst>
              <a:ext uri="{FF2B5EF4-FFF2-40B4-BE49-F238E27FC236}">
                <a16:creationId xmlns:a16="http://schemas.microsoft.com/office/drawing/2014/main" id="{EFC89368-98D5-665D-F375-914C594F81CA}"/>
              </a:ext>
            </a:extLst>
          </p:cNvPr>
          <p:cNvSpPr txBox="1">
            <a:spLocks/>
          </p:cNvSpPr>
          <p:nvPr/>
        </p:nvSpPr>
        <p:spPr>
          <a:xfrm>
            <a:off x="849452" y="3241155"/>
            <a:ext cx="6129854" cy="374153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b="1" dirty="0"/>
              <a:t>Units: </a:t>
            </a:r>
            <a:r>
              <a:rPr lang="en-US" sz="2400" dirty="0"/>
              <a:t>US States</a:t>
            </a:r>
          </a:p>
          <a:p>
            <a:r>
              <a:rPr lang="en-US" sz="2400" b="1" dirty="0"/>
              <a:t>Outcome: </a:t>
            </a:r>
            <a:r>
              <a:rPr lang="en-US" sz="2400" dirty="0"/>
              <a:t>Per-capita smoking rate</a:t>
            </a:r>
          </a:p>
          <a:p>
            <a:r>
              <a:rPr lang="en-US" sz="2400" b="1" dirty="0"/>
              <a:t>Treatment: </a:t>
            </a:r>
            <a:r>
              <a:rPr lang="en-US" sz="2400" dirty="0"/>
              <a:t>CA Prop. 99 passed in 1988</a:t>
            </a:r>
          </a:p>
          <a:p>
            <a:r>
              <a:rPr lang="en-US" sz="2400" b="1" dirty="0"/>
              <a:t>Treatment pattern: </a:t>
            </a:r>
            <a:r>
              <a:rPr lang="en-US" sz="2400" dirty="0"/>
              <a:t>Single treated unit</a:t>
            </a:r>
          </a:p>
          <a:p>
            <a:pPr lvl="1"/>
            <a:r>
              <a:rPr lang="en-US" sz="2000" dirty="0">
                <a:solidFill>
                  <a:schemeClr val="accent1"/>
                </a:solidFill>
              </a:rPr>
              <a:t>CA is treated</a:t>
            </a:r>
          </a:p>
          <a:p>
            <a:pPr lvl="1"/>
            <a:r>
              <a:rPr lang="en-US" sz="2000" dirty="0">
                <a:solidFill>
                  <a:schemeClr val="accent1"/>
                </a:solidFill>
              </a:rPr>
              <a:t>11 other states are somewhat treated (these were discarded)</a:t>
            </a:r>
          </a:p>
          <a:p>
            <a:pPr lvl="1"/>
            <a:r>
              <a:rPr lang="en-US" sz="2000" dirty="0">
                <a:solidFill>
                  <a:schemeClr val="accent1"/>
                </a:solidFill>
              </a:rPr>
              <a:t>38 remaining states are the “controls”</a:t>
            </a:r>
          </a:p>
          <a:p>
            <a:endParaRPr lang="en-US" sz="2400" dirty="0"/>
          </a:p>
        </p:txBody>
      </p:sp>
      <p:grpSp>
        <p:nvGrpSpPr>
          <p:cNvPr id="6" name="Group 5">
            <a:extLst>
              <a:ext uri="{FF2B5EF4-FFF2-40B4-BE49-F238E27FC236}">
                <a16:creationId xmlns:a16="http://schemas.microsoft.com/office/drawing/2014/main" id="{737AB391-CF8D-79DF-F4F2-A21BCA52BFA3}"/>
              </a:ext>
            </a:extLst>
          </p:cNvPr>
          <p:cNvGrpSpPr/>
          <p:nvPr/>
        </p:nvGrpSpPr>
        <p:grpSpPr>
          <a:xfrm>
            <a:off x="7174271" y="1756028"/>
            <a:ext cx="4705380" cy="4644759"/>
            <a:chOff x="7174271" y="1756028"/>
            <a:chExt cx="4705380" cy="4644759"/>
          </a:xfrm>
        </p:grpSpPr>
        <p:grpSp>
          <p:nvGrpSpPr>
            <p:cNvPr id="9" name="Group 8">
              <a:extLst>
                <a:ext uri="{FF2B5EF4-FFF2-40B4-BE49-F238E27FC236}">
                  <a16:creationId xmlns:a16="http://schemas.microsoft.com/office/drawing/2014/main" id="{ACF7E860-D2FC-FE63-8E77-560888036120}"/>
                </a:ext>
              </a:extLst>
            </p:cNvPr>
            <p:cNvGrpSpPr/>
            <p:nvPr/>
          </p:nvGrpSpPr>
          <p:grpSpPr>
            <a:xfrm>
              <a:off x="7291667" y="3033147"/>
              <a:ext cx="4587984" cy="3367640"/>
              <a:chOff x="7452544" y="2446238"/>
              <a:chExt cx="4587984" cy="3367640"/>
            </a:xfrm>
          </p:grpSpPr>
          <p:pic>
            <p:nvPicPr>
              <p:cNvPr id="16386" name="Picture 2" descr="California aggressively fights Big Tobacco usage in ads such as this, with funds voters allocated when they increased the tobacco tax by passing Proposition 99 in 1988. Image courtesy of the California Department of Public Health">
                <a:extLst>
                  <a:ext uri="{FF2B5EF4-FFF2-40B4-BE49-F238E27FC236}">
                    <a16:creationId xmlns:a16="http://schemas.microsoft.com/office/drawing/2014/main" id="{4FC63DA8-B411-3E51-4504-2BB6816E0D2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52544" y="2446238"/>
                <a:ext cx="4466155" cy="2037683"/>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CBA77631-EF80-CB68-43BA-2304379691C9}"/>
                  </a:ext>
                </a:extLst>
              </p:cNvPr>
              <p:cNvSpPr txBox="1"/>
              <p:nvPr/>
            </p:nvSpPr>
            <p:spPr>
              <a:xfrm>
                <a:off x="9074987" y="4982881"/>
                <a:ext cx="2648747" cy="830997"/>
              </a:xfrm>
              <a:prstGeom prst="rect">
                <a:avLst/>
              </a:prstGeom>
              <a:solidFill>
                <a:srgbClr val="4C3F2D"/>
              </a:solidFill>
              <a:ln w="57150">
                <a:solidFill>
                  <a:schemeClr val="accent2"/>
                </a:solidFill>
              </a:ln>
            </p:spPr>
            <p:txBody>
              <a:bodyPr wrap="square" rtlCol="0">
                <a:spAutoFit/>
              </a:bodyPr>
              <a:lstStyle/>
              <a:p>
                <a:pPr algn="ctr"/>
                <a:r>
                  <a:rPr lang="en-US" sz="1600" dirty="0">
                    <a:solidFill>
                      <a:schemeClr val="bg1"/>
                    </a:solidFill>
                    <a:latin typeface="Eurostile" panose="020B0504020202050204" pitchFamily="34" charset="77"/>
                    <a:cs typeface="DecoType Naskh" pitchFamily="2" charset="-78"/>
                  </a:rPr>
                  <a:t>California Department of Health Services.  Funded by the Tobacco Tax Initiative.</a:t>
                </a:r>
              </a:p>
            </p:txBody>
          </p:sp>
          <p:sp>
            <p:nvSpPr>
              <p:cNvPr id="5" name="Rectangle 4">
                <a:extLst>
                  <a:ext uri="{FF2B5EF4-FFF2-40B4-BE49-F238E27FC236}">
                    <a16:creationId xmlns:a16="http://schemas.microsoft.com/office/drawing/2014/main" id="{239EA5C7-424A-0E92-5A3C-943ED63B5589}"/>
                  </a:ext>
                </a:extLst>
              </p:cNvPr>
              <p:cNvSpPr/>
              <p:nvPr/>
            </p:nvSpPr>
            <p:spPr>
              <a:xfrm>
                <a:off x="9885680" y="4330131"/>
                <a:ext cx="2154848" cy="170169"/>
              </a:xfrm>
              <a:prstGeom prst="rect">
                <a:avLst/>
              </a:prstGeom>
              <a:noFill/>
              <a:ln w="571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a:extLst>
                  <a:ext uri="{FF2B5EF4-FFF2-40B4-BE49-F238E27FC236}">
                    <a16:creationId xmlns:a16="http://schemas.microsoft.com/office/drawing/2014/main" id="{339FCA8B-07B7-F872-2EBC-5B5FE1798C0C}"/>
                  </a:ext>
                </a:extLst>
              </p:cNvPr>
              <p:cNvCxnSpPr>
                <a:stCxn id="5" idx="2"/>
                <a:endCxn id="4" idx="0"/>
              </p:cNvCxnSpPr>
              <p:nvPr/>
            </p:nvCxnSpPr>
            <p:spPr>
              <a:xfrm flipH="1">
                <a:off x="10399361" y="4500300"/>
                <a:ext cx="563743" cy="482581"/>
              </a:xfrm>
              <a:prstGeom prst="line">
                <a:avLst/>
              </a:prstGeom>
              <a:ln w="38100">
                <a:solidFill>
                  <a:schemeClr val="accent2"/>
                </a:solidFill>
              </a:ln>
            </p:spPr>
            <p:style>
              <a:lnRef idx="2">
                <a:schemeClr val="accent1"/>
              </a:lnRef>
              <a:fillRef idx="0">
                <a:schemeClr val="accent1"/>
              </a:fillRef>
              <a:effectRef idx="1">
                <a:schemeClr val="accent1"/>
              </a:effectRef>
              <a:fontRef idx="minor">
                <a:schemeClr val="tx1"/>
              </a:fontRef>
            </p:style>
          </p:cxnSp>
        </p:grpSp>
        <p:sp>
          <p:nvSpPr>
            <p:cNvPr id="10" name="TextBox 9">
              <a:extLst>
                <a:ext uri="{FF2B5EF4-FFF2-40B4-BE49-F238E27FC236}">
                  <a16:creationId xmlns:a16="http://schemas.microsoft.com/office/drawing/2014/main" id="{0CC886FE-9B07-41F4-2055-EE2CD40877A7}"/>
                </a:ext>
              </a:extLst>
            </p:cNvPr>
            <p:cNvSpPr txBox="1"/>
            <p:nvPr/>
          </p:nvSpPr>
          <p:spPr>
            <a:xfrm>
              <a:off x="7174271" y="1756028"/>
              <a:ext cx="4583551" cy="1015663"/>
            </a:xfrm>
            <a:prstGeom prst="rect">
              <a:avLst/>
            </a:prstGeom>
            <a:noFill/>
          </p:spPr>
          <p:txBody>
            <a:bodyPr wrap="square" rtlCol="0">
              <a:spAutoFit/>
            </a:bodyPr>
            <a:lstStyle/>
            <a:p>
              <a:pPr algn="ctr"/>
              <a:r>
                <a:rPr lang="en-US" sz="2400" b="1" dirty="0">
                  <a:solidFill>
                    <a:schemeClr val="accent1"/>
                  </a:solidFill>
                </a:rPr>
                <a:t>CA Prop. 99 </a:t>
              </a:r>
              <a:r>
                <a:rPr lang="en-US" sz="2400" dirty="0">
                  <a:solidFill>
                    <a:schemeClr val="accent1"/>
                  </a:solidFill>
                </a:rPr>
                <a:t>(passed in 1988) </a:t>
              </a:r>
            </a:p>
            <a:p>
              <a:pPr algn="ctr"/>
              <a:r>
                <a:rPr lang="en-US" dirty="0">
                  <a:solidFill>
                    <a:schemeClr val="accent1"/>
                  </a:solidFill>
                </a:rPr>
                <a:t>Raised taxes on tobacco products and funded an anti-smoking campaign.</a:t>
              </a:r>
            </a:p>
          </p:txBody>
        </p:sp>
      </p:grpSp>
      <p:grpSp>
        <p:nvGrpSpPr>
          <p:cNvPr id="17" name="Group 16">
            <a:extLst>
              <a:ext uri="{FF2B5EF4-FFF2-40B4-BE49-F238E27FC236}">
                <a16:creationId xmlns:a16="http://schemas.microsoft.com/office/drawing/2014/main" id="{0A5B6582-7806-EDDB-ECDB-8A02BE75A0C1}"/>
              </a:ext>
            </a:extLst>
          </p:cNvPr>
          <p:cNvGrpSpPr/>
          <p:nvPr/>
        </p:nvGrpSpPr>
        <p:grpSpPr>
          <a:xfrm>
            <a:off x="6469221" y="4804576"/>
            <a:ext cx="2444889" cy="2093244"/>
            <a:chOff x="6469221" y="4804576"/>
            <a:chExt cx="2444889" cy="2093244"/>
          </a:xfrm>
        </p:grpSpPr>
        <p:grpSp>
          <p:nvGrpSpPr>
            <p:cNvPr id="69" name="Group 68">
              <a:extLst>
                <a:ext uri="{FF2B5EF4-FFF2-40B4-BE49-F238E27FC236}">
                  <a16:creationId xmlns:a16="http://schemas.microsoft.com/office/drawing/2014/main" id="{9D66FA5E-5CC3-EAC2-740C-A9FD3C56921A}"/>
                </a:ext>
              </a:extLst>
            </p:cNvPr>
            <p:cNvGrpSpPr/>
            <p:nvPr/>
          </p:nvGrpSpPr>
          <p:grpSpPr>
            <a:xfrm>
              <a:off x="6469221" y="4804576"/>
              <a:ext cx="2444889" cy="2093244"/>
              <a:chOff x="5576560" y="3464532"/>
              <a:chExt cx="3296092" cy="2822019"/>
            </a:xfrm>
          </p:grpSpPr>
          <p:grpSp>
            <p:nvGrpSpPr>
              <p:cNvPr id="44" name="Group 43">
                <a:extLst>
                  <a:ext uri="{FF2B5EF4-FFF2-40B4-BE49-F238E27FC236}">
                    <a16:creationId xmlns:a16="http://schemas.microsoft.com/office/drawing/2014/main" id="{0E2F1C1D-BF8C-B333-AABF-3A28A8354A47}"/>
                  </a:ext>
                </a:extLst>
              </p:cNvPr>
              <p:cNvGrpSpPr/>
              <p:nvPr/>
            </p:nvGrpSpPr>
            <p:grpSpPr>
              <a:xfrm>
                <a:off x="5649388" y="4115127"/>
                <a:ext cx="3223264" cy="2171424"/>
                <a:chOff x="6131246" y="5082073"/>
                <a:chExt cx="3223264" cy="2171424"/>
              </a:xfrm>
            </p:grpSpPr>
            <p:grpSp>
              <p:nvGrpSpPr>
                <p:cNvPr id="19" name="Group 18">
                  <a:extLst>
                    <a:ext uri="{FF2B5EF4-FFF2-40B4-BE49-F238E27FC236}">
                      <a16:creationId xmlns:a16="http://schemas.microsoft.com/office/drawing/2014/main" id="{D24E5660-3DE3-732C-4FDD-C05F564ED448}"/>
                    </a:ext>
                  </a:extLst>
                </p:cNvPr>
                <p:cNvGrpSpPr/>
                <p:nvPr/>
              </p:nvGrpSpPr>
              <p:grpSpPr>
                <a:xfrm>
                  <a:off x="6131246" y="5348876"/>
                  <a:ext cx="3223264" cy="1904621"/>
                  <a:chOff x="1076436" y="2951434"/>
                  <a:chExt cx="3711712" cy="2232704"/>
                </a:xfrm>
              </p:grpSpPr>
              <p:sp>
                <p:nvSpPr>
                  <p:cNvPr id="26" name="Rectangle 25">
                    <a:extLst>
                      <a:ext uri="{FF2B5EF4-FFF2-40B4-BE49-F238E27FC236}">
                        <a16:creationId xmlns:a16="http://schemas.microsoft.com/office/drawing/2014/main" id="{1881D37D-E83C-3BAE-6DB7-B29C517930E8}"/>
                      </a:ext>
                    </a:extLst>
                  </p:cNvPr>
                  <p:cNvSpPr/>
                  <p:nvPr/>
                </p:nvSpPr>
                <p:spPr>
                  <a:xfrm>
                    <a:off x="1563312" y="2951434"/>
                    <a:ext cx="2543863" cy="1754052"/>
                  </a:xfrm>
                  <a:prstGeom prst="rect">
                    <a:avLst/>
                  </a:prstGeom>
                  <a:solidFill>
                    <a:schemeClr val="bg1">
                      <a:lumMod val="95000"/>
                    </a:schemeClr>
                  </a:solidFill>
                  <a:ln>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p>
                </p:txBody>
              </p:sp>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F4E5A4D3-E24A-1097-6AE2-82AE9526D366}"/>
                          </a:ext>
                        </a:extLst>
                      </p:cNvPr>
                      <p:cNvSpPr txBox="1"/>
                      <p:nvPr/>
                    </p:nvSpPr>
                    <p:spPr>
                      <a:xfrm>
                        <a:off x="1076436" y="4770694"/>
                        <a:ext cx="3711712" cy="413444"/>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sz="1100" b="1" i="1" smtClean="0">
                                  <a:solidFill>
                                    <a:schemeClr val="accent1"/>
                                  </a:solidFill>
                                  <a:latin typeface="Cambria Math" panose="02040503050406030204" pitchFamily="18" charset="0"/>
                                </a:rPr>
                                <m:t>𝑾</m:t>
                              </m:r>
                            </m:oMath>
                          </m:oMathPara>
                        </a14:m>
                        <a:endParaRPr lang="en-US" sz="1100" dirty="0">
                          <a:solidFill>
                            <a:schemeClr val="accent1"/>
                          </a:solidFill>
                        </a:endParaRPr>
                      </a:p>
                    </p:txBody>
                  </p:sp>
                </mc:Choice>
                <mc:Fallback xmlns="">
                  <p:sp>
                    <p:nvSpPr>
                      <p:cNvPr id="27" name="TextBox 26">
                        <a:extLst>
                          <a:ext uri="{FF2B5EF4-FFF2-40B4-BE49-F238E27FC236}">
                            <a16:creationId xmlns:a16="http://schemas.microsoft.com/office/drawing/2014/main" id="{F4E5A4D3-E24A-1097-6AE2-82AE9526D366}"/>
                          </a:ext>
                        </a:extLst>
                      </p:cNvPr>
                      <p:cNvSpPr txBox="1">
                        <a:spLocks noRot="1" noChangeAspect="1" noMove="1" noResize="1" noEditPoints="1" noAdjustHandles="1" noChangeArrowheads="1" noChangeShapeType="1" noTextEdit="1"/>
                      </p:cNvSpPr>
                      <p:nvPr/>
                    </p:nvSpPr>
                    <p:spPr>
                      <a:xfrm>
                        <a:off x="1076436" y="4770694"/>
                        <a:ext cx="3711712" cy="413444"/>
                      </a:xfrm>
                      <a:prstGeom prst="rect">
                        <a:avLst/>
                      </a:prstGeom>
                      <a:blipFill>
                        <a:blip r:embed="rId4"/>
                        <a:stretch>
                          <a:fillRect/>
                        </a:stretch>
                      </a:blipFill>
                    </p:spPr>
                    <p:txBody>
                      <a:bodyPr/>
                      <a:lstStyle/>
                      <a:p>
                        <a:r>
                          <a:rPr lang="en-US">
                            <a:noFill/>
                          </a:rPr>
                          <a:t> </a:t>
                        </a:r>
                      </a:p>
                    </p:txBody>
                  </p:sp>
                </mc:Fallback>
              </mc:AlternateContent>
            </p:grpSp>
            <p:sp>
              <p:nvSpPr>
                <p:cNvPr id="42" name="TextBox 41">
                  <a:extLst>
                    <a:ext uri="{FF2B5EF4-FFF2-40B4-BE49-F238E27FC236}">
                      <a16:creationId xmlns:a16="http://schemas.microsoft.com/office/drawing/2014/main" id="{C3BB0B20-EF5B-418A-A94E-20F173381A25}"/>
                    </a:ext>
                  </a:extLst>
                </p:cNvPr>
                <p:cNvSpPr txBox="1"/>
                <p:nvPr/>
              </p:nvSpPr>
              <p:spPr>
                <a:xfrm>
                  <a:off x="6508097" y="5082073"/>
                  <a:ext cx="620667" cy="331944"/>
                </a:xfrm>
                <a:prstGeom prst="rect">
                  <a:avLst/>
                </a:prstGeom>
                <a:noFill/>
              </p:spPr>
              <p:txBody>
                <a:bodyPr wrap="none" rtlCol="0">
                  <a:spAutoFit/>
                </a:bodyPr>
                <a:lstStyle/>
                <a:p>
                  <a:r>
                    <a:rPr lang="en-US" sz="1000" dirty="0"/>
                    <a:t>1970</a:t>
                  </a:r>
                </a:p>
              </p:txBody>
            </p:sp>
          </p:grpSp>
          <p:sp>
            <p:nvSpPr>
              <p:cNvPr id="63" name="TextBox 62">
                <a:extLst>
                  <a:ext uri="{FF2B5EF4-FFF2-40B4-BE49-F238E27FC236}">
                    <a16:creationId xmlns:a16="http://schemas.microsoft.com/office/drawing/2014/main" id="{14874254-4616-EE01-94F2-D368A84F6B06}"/>
                  </a:ext>
                </a:extLst>
              </p:cNvPr>
              <p:cNvSpPr txBox="1"/>
              <p:nvPr/>
            </p:nvSpPr>
            <p:spPr>
              <a:xfrm>
                <a:off x="6975296" y="5511238"/>
                <a:ext cx="1452546" cy="373438"/>
              </a:xfrm>
              <a:prstGeom prst="rect">
                <a:avLst/>
              </a:prstGeom>
              <a:noFill/>
            </p:spPr>
            <p:txBody>
              <a:bodyPr wrap="square" rtlCol="0">
                <a:spAutoFit/>
              </a:bodyPr>
              <a:lstStyle/>
              <a:p>
                <a:r>
                  <a:rPr lang="en-US" sz="1200" b="1" dirty="0">
                    <a:solidFill>
                      <a:schemeClr val="accent2"/>
                    </a:solidFill>
                  </a:rPr>
                  <a:t>1  1     1  1  1 </a:t>
                </a:r>
                <a:endParaRPr lang="en-US" sz="1000" b="1" dirty="0">
                  <a:solidFill>
                    <a:schemeClr val="accent2"/>
                  </a:solidFill>
                </a:endParaRPr>
              </a:p>
            </p:txBody>
          </p:sp>
          <p:cxnSp>
            <p:nvCxnSpPr>
              <p:cNvPr id="75" name="Curved Connector 74">
                <a:extLst>
                  <a:ext uri="{FF2B5EF4-FFF2-40B4-BE49-F238E27FC236}">
                    <a16:creationId xmlns:a16="http://schemas.microsoft.com/office/drawing/2014/main" id="{6ECF963F-E160-D1C8-1E19-62E97D9F89EC}"/>
                  </a:ext>
                </a:extLst>
              </p:cNvPr>
              <p:cNvCxnSpPr>
                <a:cxnSpLocks/>
                <a:endCxn id="42" idx="0"/>
              </p:cNvCxnSpPr>
              <p:nvPr/>
            </p:nvCxnSpPr>
            <p:spPr>
              <a:xfrm>
                <a:off x="5576560" y="3464532"/>
                <a:ext cx="760012" cy="650594"/>
              </a:xfrm>
              <a:prstGeom prst="curvedConnector2">
                <a:avLst/>
              </a:prstGeom>
              <a:ln>
                <a:tailEnd type="triangle"/>
              </a:ln>
            </p:spPr>
            <p:style>
              <a:lnRef idx="2">
                <a:schemeClr val="accent1"/>
              </a:lnRef>
              <a:fillRef idx="0">
                <a:schemeClr val="accent1"/>
              </a:fillRef>
              <a:effectRef idx="1">
                <a:schemeClr val="accent1"/>
              </a:effectRef>
              <a:fontRef idx="minor">
                <a:schemeClr val="tx1"/>
              </a:fontRef>
            </p:style>
          </p:cxnSp>
          <p:sp>
            <p:nvSpPr>
              <p:cNvPr id="18" name="TextBox 17">
                <a:extLst>
                  <a:ext uri="{FF2B5EF4-FFF2-40B4-BE49-F238E27FC236}">
                    <a16:creationId xmlns:a16="http://schemas.microsoft.com/office/drawing/2014/main" id="{6ED407C8-45DB-C950-4933-2BD9D8DE1B8E}"/>
                  </a:ext>
                </a:extLst>
              </p:cNvPr>
              <p:cNvSpPr txBox="1"/>
              <p:nvPr/>
            </p:nvSpPr>
            <p:spPr>
              <a:xfrm>
                <a:off x="7739716" y="4126697"/>
                <a:ext cx="620667" cy="331944"/>
              </a:xfrm>
              <a:prstGeom prst="rect">
                <a:avLst/>
              </a:prstGeom>
              <a:noFill/>
            </p:spPr>
            <p:txBody>
              <a:bodyPr wrap="none" rtlCol="0">
                <a:spAutoFit/>
              </a:bodyPr>
              <a:lstStyle/>
              <a:p>
                <a:r>
                  <a:rPr lang="en-US" sz="1000" dirty="0"/>
                  <a:t>2000</a:t>
                </a:r>
              </a:p>
            </p:txBody>
          </p:sp>
          <p:sp>
            <p:nvSpPr>
              <p:cNvPr id="38" name="TextBox 37">
                <a:extLst>
                  <a:ext uri="{FF2B5EF4-FFF2-40B4-BE49-F238E27FC236}">
                    <a16:creationId xmlns:a16="http://schemas.microsoft.com/office/drawing/2014/main" id="{5D039D8B-4DC4-4FC0-9417-7BF6745C109B}"/>
                  </a:ext>
                </a:extLst>
              </p:cNvPr>
              <p:cNvSpPr txBox="1"/>
              <p:nvPr/>
            </p:nvSpPr>
            <p:spPr>
              <a:xfrm>
                <a:off x="7355567" y="4079844"/>
                <a:ext cx="606947" cy="331944"/>
              </a:xfrm>
              <a:prstGeom prst="rect">
                <a:avLst/>
              </a:prstGeom>
              <a:noFill/>
            </p:spPr>
            <p:txBody>
              <a:bodyPr wrap="square" rtlCol="0">
                <a:spAutoFit/>
              </a:bodyPr>
              <a:lstStyle/>
              <a:p>
                <a:r>
                  <a:rPr lang="en-US" sz="1000" dirty="0"/>
                  <a:t>…</a:t>
                </a:r>
              </a:p>
            </p:txBody>
          </p:sp>
          <p:grpSp>
            <p:nvGrpSpPr>
              <p:cNvPr id="45" name="Group 44">
                <a:extLst>
                  <a:ext uri="{FF2B5EF4-FFF2-40B4-BE49-F238E27FC236}">
                    <a16:creationId xmlns:a16="http://schemas.microsoft.com/office/drawing/2014/main" id="{C32D27AA-9A34-8FC1-CB4E-875527362C26}"/>
                  </a:ext>
                </a:extLst>
              </p:cNvPr>
              <p:cNvGrpSpPr/>
              <p:nvPr/>
            </p:nvGrpSpPr>
            <p:grpSpPr>
              <a:xfrm>
                <a:off x="6129739" y="4333799"/>
                <a:ext cx="2325656" cy="443278"/>
                <a:chOff x="6129739" y="4333799"/>
                <a:chExt cx="2325656" cy="443278"/>
              </a:xfrm>
            </p:grpSpPr>
            <p:sp>
              <p:nvSpPr>
                <p:cNvPr id="29" name="TextBox 28">
                  <a:extLst>
                    <a:ext uri="{FF2B5EF4-FFF2-40B4-BE49-F238E27FC236}">
                      <a16:creationId xmlns:a16="http://schemas.microsoft.com/office/drawing/2014/main" id="{7290A239-C45D-692D-3030-C9136485A9C8}"/>
                    </a:ext>
                  </a:extLst>
                </p:cNvPr>
                <p:cNvSpPr txBox="1"/>
                <p:nvPr/>
              </p:nvSpPr>
              <p:spPr>
                <a:xfrm>
                  <a:off x="7080031" y="4333799"/>
                  <a:ext cx="900029" cy="373438"/>
                </a:xfrm>
                <a:prstGeom prst="rect">
                  <a:avLst/>
                </a:prstGeom>
                <a:noFill/>
              </p:spPr>
              <p:txBody>
                <a:bodyPr wrap="square" rtlCol="0">
                  <a:spAutoFit/>
                </a:bodyPr>
                <a:lstStyle/>
                <a:p>
                  <a:r>
                    <a:rPr lang="en-US" sz="1200" dirty="0">
                      <a:solidFill>
                        <a:schemeClr val="bg2">
                          <a:lumMod val="50000"/>
                        </a:schemeClr>
                      </a:solidFill>
                    </a:rPr>
                    <a:t>…</a:t>
                  </a:r>
                  <a:endParaRPr lang="en-US" sz="1000" dirty="0">
                    <a:solidFill>
                      <a:schemeClr val="bg2">
                        <a:lumMod val="50000"/>
                      </a:schemeClr>
                    </a:solidFill>
                  </a:endParaRPr>
                </a:p>
              </p:txBody>
            </p:sp>
            <p:sp>
              <p:nvSpPr>
                <p:cNvPr id="72" name="TextBox 71">
                  <a:extLst>
                    <a:ext uri="{FF2B5EF4-FFF2-40B4-BE49-F238E27FC236}">
                      <a16:creationId xmlns:a16="http://schemas.microsoft.com/office/drawing/2014/main" id="{9694644A-A977-F3B6-DF68-F4C43BDECA2A}"/>
                    </a:ext>
                  </a:extLst>
                </p:cNvPr>
                <p:cNvSpPr txBox="1"/>
                <p:nvPr/>
              </p:nvSpPr>
              <p:spPr>
                <a:xfrm>
                  <a:off x="6129739" y="4403639"/>
                  <a:ext cx="900029" cy="373438"/>
                </a:xfrm>
                <a:prstGeom prst="rect">
                  <a:avLst/>
                </a:prstGeom>
                <a:noFill/>
              </p:spPr>
              <p:txBody>
                <a:bodyPr wrap="square" rtlCol="0">
                  <a:spAutoFit/>
                </a:bodyPr>
                <a:lstStyle/>
                <a:p>
                  <a:r>
                    <a:rPr lang="en-US" sz="1200" dirty="0">
                      <a:solidFill>
                        <a:schemeClr val="bg2">
                          <a:lumMod val="50000"/>
                        </a:schemeClr>
                      </a:solidFill>
                    </a:rPr>
                    <a:t>0   0   0</a:t>
                  </a:r>
                  <a:endParaRPr lang="en-US" sz="1000" dirty="0">
                    <a:solidFill>
                      <a:schemeClr val="bg2">
                        <a:lumMod val="50000"/>
                      </a:schemeClr>
                    </a:solidFill>
                  </a:endParaRPr>
                </a:p>
              </p:txBody>
            </p:sp>
            <p:sp>
              <p:nvSpPr>
                <p:cNvPr id="39" name="TextBox 38">
                  <a:extLst>
                    <a:ext uri="{FF2B5EF4-FFF2-40B4-BE49-F238E27FC236}">
                      <a16:creationId xmlns:a16="http://schemas.microsoft.com/office/drawing/2014/main" id="{134CDEB2-9D0C-9395-48FE-318B5DCA847E}"/>
                    </a:ext>
                  </a:extLst>
                </p:cNvPr>
                <p:cNvSpPr txBox="1"/>
                <p:nvPr/>
              </p:nvSpPr>
              <p:spPr>
                <a:xfrm>
                  <a:off x="7555366" y="4403639"/>
                  <a:ext cx="900029" cy="373438"/>
                </a:xfrm>
                <a:prstGeom prst="rect">
                  <a:avLst/>
                </a:prstGeom>
                <a:noFill/>
              </p:spPr>
              <p:txBody>
                <a:bodyPr wrap="square" rtlCol="0">
                  <a:spAutoFit/>
                </a:bodyPr>
                <a:lstStyle/>
                <a:p>
                  <a:r>
                    <a:rPr lang="en-US" sz="1200" dirty="0">
                      <a:solidFill>
                        <a:schemeClr val="bg2">
                          <a:lumMod val="50000"/>
                        </a:schemeClr>
                      </a:solidFill>
                    </a:rPr>
                    <a:t>0  0  0</a:t>
                  </a:r>
                  <a:endParaRPr lang="en-US" sz="1000" dirty="0">
                    <a:solidFill>
                      <a:schemeClr val="bg2">
                        <a:lumMod val="50000"/>
                      </a:schemeClr>
                    </a:solidFill>
                  </a:endParaRPr>
                </a:p>
              </p:txBody>
            </p:sp>
          </p:grpSp>
          <p:sp>
            <p:nvSpPr>
              <p:cNvPr id="47" name="TextBox 46">
                <a:extLst>
                  <a:ext uri="{FF2B5EF4-FFF2-40B4-BE49-F238E27FC236}">
                    <a16:creationId xmlns:a16="http://schemas.microsoft.com/office/drawing/2014/main" id="{1CD2D4CC-3286-A45A-14A3-A1EF724CEB32}"/>
                  </a:ext>
                </a:extLst>
              </p:cNvPr>
              <p:cNvSpPr txBox="1"/>
              <p:nvPr/>
            </p:nvSpPr>
            <p:spPr>
              <a:xfrm>
                <a:off x="6843887" y="4110767"/>
                <a:ext cx="620667" cy="331944"/>
              </a:xfrm>
              <a:prstGeom prst="rect">
                <a:avLst/>
              </a:prstGeom>
              <a:noFill/>
            </p:spPr>
            <p:txBody>
              <a:bodyPr wrap="none" rtlCol="0">
                <a:spAutoFit/>
              </a:bodyPr>
              <a:lstStyle/>
              <a:p>
                <a:r>
                  <a:rPr lang="en-US" sz="1000" dirty="0"/>
                  <a:t>1988</a:t>
                </a:r>
              </a:p>
            </p:txBody>
          </p:sp>
          <p:sp>
            <p:nvSpPr>
              <p:cNvPr id="49" name="TextBox 48">
                <a:extLst>
                  <a:ext uri="{FF2B5EF4-FFF2-40B4-BE49-F238E27FC236}">
                    <a16:creationId xmlns:a16="http://schemas.microsoft.com/office/drawing/2014/main" id="{FF2A8148-BD3B-BDA7-BC67-C78574749675}"/>
                  </a:ext>
                </a:extLst>
              </p:cNvPr>
              <p:cNvSpPr txBox="1"/>
              <p:nvPr/>
            </p:nvSpPr>
            <p:spPr>
              <a:xfrm>
                <a:off x="6557896" y="4074252"/>
                <a:ext cx="606947" cy="331944"/>
              </a:xfrm>
              <a:prstGeom prst="rect">
                <a:avLst/>
              </a:prstGeom>
              <a:noFill/>
            </p:spPr>
            <p:txBody>
              <a:bodyPr wrap="square" rtlCol="0">
                <a:spAutoFit/>
              </a:bodyPr>
              <a:lstStyle/>
              <a:p>
                <a:r>
                  <a:rPr lang="en-US" sz="1000" dirty="0"/>
                  <a:t>…</a:t>
                </a:r>
              </a:p>
            </p:txBody>
          </p:sp>
          <p:grpSp>
            <p:nvGrpSpPr>
              <p:cNvPr id="52" name="Group 51">
                <a:extLst>
                  <a:ext uri="{FF2B5EF4-FFF2-40B4-BE49-F238E27FC236}">
                    <a16:creationId xmlns:a16="http://schemas.microsoft.com/office/drawing/2014/main" id="{AC536FFB-BA34-27F7-9EF9-B4A913E471E4}"/>
                  </a:ext>
                </a:extLst>
              </p:cNvPr>
              <p:cNvGrpSpPr/>
              <p:nvPr/>
            </p:nvGrpSpPr>
            <p:grpSpPr>
              <a:xfrm>
                <a:off x="6135463" y="4578471"/>
                <a:ext cx="2325656" cy="443278"/>
                <a:chOff x="6129739" y="4333799"/>
                <a:chExt cx="2325656" cy="443278"/>
              </a:xfrm>
            </p:grpSpPr>
            <p:sp>
              <p:nvSpPr>
                <p:cNvPr id="54" name="TextBox 53">
                  <a:extLst>
                    <a:ext uri="{FF2B5EF4-FFF2-40B4-BE49-F238E27FC236}">
                      <a16:creationId xmlns:a16="http://schemas.microsoft.com/office/drawing/2014/main" id="{A2EEDE29-EBA7-6393-C4EB-BF08354F16A3}"/>
                    </a:ext>
                  </a:extLst>
                </p:cNvPr>
                <p:cNvSpPr txBox="1"/>
                <p:nvPr/>
              </p:nvSpPr>
              <p:spPr>
                <a:xfrm>
                  <a:off x="7080031" y="4333799"/>
                  <a:ext cx="900029" cy="373438"/>
                </a:xfrm>
                <a:prstGeom prst="rect">
                  <a:avLst/>
                </a:prstGeom>
                <a:noFill/>
              </p:spPr>
              <p:txBody>
                <a:bodyPr wrap="square" rtlCol="0">
                  <a:spAutoFit/>
                </a:bodyPr>
                <a:lstStyle/>
                <a:p>
                  <a:r>
                    <a:rPr lang="en-US" sz="1200" dirty="0">
                      <a:solidFill>
                        <a:schemeClr val="bg2">
                          <a:lumMod val="50000"/>
                        </a:schemeClr>
                      </a:solidFill>
                    </a:rPr>
                    <a:t>…</a:t>
                  </a:r>
                  <a:endParaRPr lang="en-US" sz="1000" dirty="0">
                    <a:solidFill>
                      <a:schemeClr val="bg2">
                        <a:lumMod val="50000"/>
                      </a:schemeClr>
                    </a:solidFill>
                  </a:endParaRPr>
                </a:p>
              </p:txBody>
            </p:sp>
            <p:sp>
              <p:nvSpPr>
                <p:cNvPr id="55" name="TextBox 54">
                  <a:extLst>
                    <a:ext uri="{FF2B5EF4-FFF2-40B4-BE49-F238E27FC236}">
                      <a16:creationId xmlns:a16="http://schemas.microsoft.com/office/drawing/2014/main" id="{63432A83-C749-B4E6-7BD2-B52877530418}"/>
                    </a:ext>
                  </a:extLst>
                </p:cNvPr>
                <p:cNvSpPr txBox="1"/>
                <p:nvPr/>
              </p:nvSpPr>
              <p:spPr>
                <a:xfrm>
                  <a:off x="6129739" y="4403639"/>
                  <a:ext cx="900029" cy="373438"/>
                </a:xfrm>
                <a:prstGeom prst="rect">
                  <a:avLst/>
                </a:prstGeom>
                <a:noFill/>
              </p:spPr>
              <p:txBody>
                <a:bodyPr wrap="square" rtlCol="0">
                  <a:spAutoFit/>
                </a:bodyPr>
                <a:lstStyle/>
                <a:p>
                  <a:r>
                    <a:rPr lang="en-US" sz="1200" dirty="0">
                      <a:solidFill>
                        <a:schemeClr val="bg2">
                          <a:lumMod val="50000"/>
                        </a:schemeClr>
                      </a:solidFill>
                    </a:rPr>
                    <a:t>0   0   0</a:t>
                  </a:r>
                  <a:endParaRPr lang="en-US" sz="1000" dirty="0">
                    <a:solidFill>
                      <a:schemeClr val="bg2">
                        <a:lumMod val="50000"/>
                      </a:schemeClr>
                    </a:solidFill>
                  </a:endParaRPr>
                </a:p>
              </p:txBody>
            </p:sp>
            <p:sp>
              <p:nvSpPr>
                <p:cNvPr id="56" name="TextBox 55">
                  <a:extLst>
                    <a:ext uri="{FF2B5EF4-FFF2-40B4-BE49-F238E27FC236}">
                      <a16:creationId xmlns:a16="http://schemas.microsoft.com/office/drawing/2014/main" id="{2E5C5AD2-1245-7A6B-E30E-8EE08F2C6404}"/>
                    </a:ext>
                  </a:extLst>
                </p:cNvPr>
                <p:cNvSpPr txBox="1"/>
                <p:nvPr/>
              </p:nvSpPr>
              <p:spPr>
                <a:xfrm>
                  <a:off x="7555366" y="4403639"/>
                  <a:ext cx="900029" cy="373438"/>
                </a:xfrm>
                <a:prstGeom prst="rect">
                  <a:avLst/>
                </a:prstGeom>
                <a:noFill/>
              </p:spPr>
              <p:txBody>
                <a:bodyPr wrap="square" rtlCol="0">
                  <a:spAutoFit/>
                </a:bodyPr>
                <a:lstStyle/>
                <a:p>
                  <a:r>
                    <a:rPr lang="en-US" sz="1200" dirty="0">
                      <a:solidFill>
                        <a:schemeClr val="bg2">
                          <a:lumMod val="50000"/>
                        </a:schemeClr>
                      </a:solidFill>
                    </a:rPr>
                    <a:t>0  0  0</a:t>
                  </a:r>
                  <a:endParaRPr lang="en-US" sz="1000" dirty="0">
                    <a:solidFill>
                      <a:schemeClr val="bg2">
                        <a:lumMod val="50000"/>
                      </a:schemeClr>
                    </a:solidFill>
                  </a:endParaRPr>
                </a:p>
              </p:txBody>
            </p:sp>
          </p:grpSp>
          <p:grpSp>
            <p:nvGrpSpPr>
              <p:cNvPr id="58" name="Group 57">
                <a:extLst>
                  <a:ext uri="{FF2B5EF4-FFF2-40B4-BE49-F238E27FC236}">
                    <a16:creationId xmlns:a16="http://schemas.microsoft.com/office/drawing/2014/main" id="{52381B12-3A20-A217-A721-7289BBBE5147}"/>
                  </a:ext>
                </a:extLst>
              </p:cNvPr>
              <p:cNvGrpSpPr/>
              <p:nvPr/>
            </p:nvGrpSpPr>
            <p:grpSpPr>
              <a:xfrm>
                <a:off x="6129739" y="5192391"/>
                <a:ext cx="2325656" cy="373438"/>
                <a:chOff x="6129739" y="4403639"/>
                <a:chExt cx="2325656" cy="373438"/>
              </a:xfrm>
            </p:grpSpPr>
            <p:sp>
              <p:nvSpPr>
                <p:cNvPr id="61" name="TextBox 60">
                  <a:extLst>
                    <a:ext uri="{FF2B5EF4-FFF2-40B4-BE49-F238E27FC236}">
                      <a16:creationId xmlns:a16="http://schemas.microsoft.com/office/drawing/2014/main" id="{708DC331-3A6D-ECAC-12DF-162D89348BAF}"/>
                    </a:ext>
                  </a:extLst>
                </p:cNvPr>
                <p:cNvSpPr txBox="1"/>
                <p:nvPr/>
              </p:nvSpPr>
              <p:spPr>
                <a:xfrm>
                  <a:off x="6129739" y="4403639"/>
                  <a:ext cx="900029" cy="373438"/>
                </a:xfrm>
                <a:prstGeom prst="rect">
                  <a:avLst/>
                </a:prstGeom>
                <a:noFill/>
              </p:spPr>
              <p:txBody>
                <a:bodyPr wrap="square" rtlCol="0">
                  <a:spAutoFit/>
                </a:bodyPr>
                <a:lstStyle/>
                <a:p>
                  <a:r>
                    <a:rPr lang="en-US" sz="1200" dirty="0">
                      <a:solidFill>
                        <a:schemeClr val="bg2">
                          <a:lumMod val="50000"/>
                        </a:schemeClr>
                      </a:solidFill>
                    </a:rPr>
                    <a:t>0   0   0</a:t>
                  </a:r>
                  <a:endParaRPr lang="en-US" sz="1000" dirty="0">
                    <a:solidFill>
                      <a:schemeClr val="bg2">
                        <a:lumMod val="50000"/>
                      </a:schemeClr>
                    </a:solidFill>
                  </a:endParaRPr>
                </a:p>
              </p:txBody>
            </p:sp>
            <p:sp>
              <p:nvSpPr>
                <p:cNvPr id="62" name="TextBox 61">
                  <a:extLst>
                    <a:ext uri="{FF2B5EF4-FFF2-40B4-BE49-F238E27FC236}">
                      <a16:creationId xmlns:a16="http://schemas.microsoft.com/office/drawing/2014/main" id="{CEBF3EA6-A35A-CCC9-911A-FE52B9648926}"/>
                    </a:ext>
                  </a:extLst>
                </p:cNvPr>
                <p:cNvSpPr txBox="1"/>
                <p:nvPr/>
              </p:nvSpPr>
              <p:spPr>
                <a:xfrm>
                  <a:off x="7555366" y="4403639"/>
                  <a:ext cx="900029" cy="373437"/>
                </a:xfrm>
                <a:prstGeom prst="rect">
                  <a:avLst/>
                </a:prstGeom>
                <a:noFill/>
              </p:spPr>
              <p:txBody>
                <a:bodyPr wrap="square" rtlCol="0">
                  <a:spAutoFit/>
                </a:bodyPr>
                <a:lstStyle/>
                <a:p>
                  <a:r>
                    <a:rPr lang="en-US" sz="1200" dirty="0">
                      <a:solidFill>
                        <a:schemeClr val="bg2">
                          <a:lumMod val="50000"/>
                        </a:schemeClr>
                      </a:solidFill>
                    </a:rPr>
                    <a:t>0  0  0</a:t>
                  </a:r>
                  <a:endParaRPr lang="en-US" sz="1000" dirty="0">
                    <a:solidFill>
                      <a:schemeClr val="bg2">
                        <a:lumMod val="50000"/>
                      </a:schemeClr>
                    </a:solidFill>
                  </a:endParaRPr>
                </a:p>
              </p:txBody>
            </p:sp>
          </p:grpSp>
          <p:sp>
            <p:nvSpPr>
              <p:cNvPr id="64" name="TextBox 63">
                <a:extLst>
                  <a:ext uri="{FF2B5EF4-FFF2-40B4-BE49-F238E27FC236}">
                    <a16:creationId xmlns:a16="http://schemas.microsoft.com/office/drawing/2014/main" id="{A0706E28-6CF3-014E-931D-0558266017B7}"/>
                  </a:ext>
                </a:extLst>
              </p:cNvPr>
              <p:cNvSpPr txBox="1"/>
              <p:nvPr/>
            </p:nvSpPr>
            <p:spPr>
              <a:xfrm>
                <a:off x="7052795" y="5111326"/>
                <a:ext cx="416449" cy="373438"/>
              </a:xfrm>
              <a:prstGeom prst="rect">
                <a:avLst/>
              </a:prstGeom>
              <a:noFill/>
            </p:spPr>
            <p:txBody>
              <a:bodyPr wrap="square" rtlCol="0">
                <a:spAutoFit/>
              </a:bodyPr>
              <a:lstStyle/>
              <a:p>
                <a:r>
                  <a:rPr lang="en-US" sz="1200" dirty="0">
                    <a:solidFill>
                      <a:schemeClr val="bg2">
                        <a:lumMod val="50000"/>
                      </a:schemeClr>
                    </a:solidFill>
                  </a:rPr>
                  <a:t>…</a:t>
                </a:r>
                <a:endParaRPr lang="en-US" sz="1000" dirty="0">
                  <a:solidFill>
                    <a:schemeClr val="bg2">
                      <a:lumMod val="50000"/>
                    </a:schemeClr>
                  </a:solidFill>
                </a:endParaRPr>
              </a:p>
            </p:txBody>
          </p:sp>
          <p:sp>
            <p:nvSpPr>
              <p:cNvPr id="65" name="TextBox 64">
                <a:extLst>
                  <a:ext uri="{FF2B5EF4-FFF2-40B4-BE49-F238E27FC236}">
                    <a16:creationId xmlns:a16="http://schemas.microsoft.com/office/drawing/2014/main" id="{5CE3C8CC-245F-E84C-0DCD-7C621AF94E59}"/>
                  </a:ext>
                </a:extLst>
              </p:cNvPr>
              <p:cNvSpPr txBox="1"/>
              <p:nvPr/>
            </p:nvSpPr>
            <p:spPr>
              <a:xfrm rot="5400000">
                <a:off x="6130911" y="4931471"/>
                <a:ext cx="427856" cy="373438"/>
              </a:xfrm>
              <a:prstGeom prst="rect">
                <a:avLst/>
              </a:prstGeom>
              <a:noFill/>
            </p:spPr>
            <p:txBody>
              <a:bodyPr wrap="square" rtlCol="0">
                <a:spAutoFit/>
              </a:bodyPr>
              <a:lstStyle/>
              <a:p>
                <a:r>
                  <a:rPr lang="en-US" sz="1200" dirty="0">
                    <a:solidFill>
                      <a:schemeClr val="bg2">
                        <a:lumMod val="50000"/>
                      </a:schemeClr>
                    </a:solidFill>
                  </a:rPr>
                  <a:t>…</a:t>
                </a:r>
                <a:endParaRPr lang="en-US" sz="1000" dirty="0">
                  <a:solidFill>
                    <a:schemeClr val="bg2">
                      <a:lumMod val="50000"/>
                    </a:schemeClr>
                  </a:solidFill>
                </a:endParaRPr>
              </a:p>
            </p:txBody>
          </p:sp>
          <p:sp>
            <p:nvSpPr>
              <p:cNvPr id="66" name="TextBox 65">
                <a:extLst>
                  <a:ext uri="{FF2B5EF4-FFF2-40B4-BE49-F238E27FC236}">
                    <a16:creationId xmlns:a16="http://schemas.microsoft.com/office/drawing/2014/main" id="{142B777E-4709-223A-07C8-28993E42E3BE}"/>
                  </a:ext>
                </a:extLst>
              </p:cNvPr>
              <p:cNvSpPr txBox="1"/>
              <p:nvPr/>
            </p:nvSpPr>
            <p:spPr>
              <a:xfrm rot="5400000">
                <a:off x="7889802" y="4966290"/>
                <a:ext cx="427856" cy="373438"/>
              </a:xfrm>
              <a:prstGeom prst="rect">
                <a:avLst/>
              </a:prstGeom>
              <a:noFill/>
            </p:spPr>
            <p:txBody>
              <a:bodyPr wrap="square" rtlCol="0">
                <a:spAutoFit/>
              </a:bodyPr>
              <a:lstStyle/>
              <a:p>
                <a:r>
                  <a:rPr lang="en-US" sz="1200" dirty="0">
                    <a:solidFill>
                      <a:schemeClr val="bg2">
                        <a:lumMod val="50000"/>
                      </a:schemeClr>
                    </a:solidFill>
                  </a:rPr>
                  <a:t>…</a:t>
                </a:r>
                <a:endParaRPr lang="en-US" sz="1000" dirty="0">
                  <a:solidFill>
                    <a:schemeClr val="bg2">
                      <a:lumMod val="50000"/>
                    </a:schemeClr>
                  </a:solidFill>
                </a:endParaRPr>
              </a:p>
            </p:txBody>
          </p:sp>
          <p:sp>
            <p:nvSpPr>
              <p:cNvPr id="67" name="TextBox 66">
                <a:extLst>
                  <a:ext uri="{FF2B5EF4-FFF2-40B4-BE49-F238E27FC236}">
                    <a16:creationId xmlns:a16="http://schemas.microsoft.com/office/drawing/2014/main" id="{85E06D16-228E-AF08-E762-F474C023A24E}"/>
                  </a:ext>
                </a:extLst>
              </p:cNvPr>
              <p:cNvSpPr txBox="1"/>
              <p:nvPr/>
            </p:nvSpPr>
            <p:spPr>
              <a:xfrm>
                <a:off x="7334295" y="5459614"/>
                <a:ext cx="416449" cy="373438"/>
              </a:xfrm>
              <a:prstGeom prst="rect">
                <a:avLst/>
              </a:prstGeom>
              <a:noFill/>
            </p:spPr>
            <p:txBody>
              <a:bodyPr wrap="square" rtlCol="0">
                <a:spAutoFit/>
              </a:bodyPr>
              <a:lstStyle/>
              <a:p>
                <a:r>
                  <a:rPr lang="en-US" sz="1200" dirty="0">
                    <a:solidFill>
                      <a:schemeClr val="accent2"/>
                    </a:solidFill>
                  </a:rPr>
                  <a:t>…</a:t>
                </a:r>
                <a:endParaRPr lang="en-US" sz="1000" dirty="0">
                  <a:solidFill>
                    <a:schemeClr val="accent2"/>
                  </a:solidFill>
                </a:endParaRPr>
              </a:p>
            </p:txBody>
          </p:sp>
          <p:sp>
            <p:nvSpPr>
              <p:cNvPr id="68" name="TextBox 67">
                <a:extLst>
                  <a:ext uri="{FF2B5EF4-FFF2-40B4-BE49-F238E27FC236}">
                    <a16:creationId xmlns:a16="http://schemas.microsoft.com/office/drawing/2014/main" id="{048E7807-9D97-20AB-EEB5-6F1A950C3511}"/>
                  </a:ext>
                </a:extLst>
              </p:cNvPr>
              <p:cNvSpPr txBox="1"/>
              <p:nvPr/>
            </p:nvSpPr>
            <p:spPr>
              <a:xfrm>
                <a:off x="6141251" y="5514811"/>
                <a:ext cx="900029" cy="373438"/>
              </a:xfrm>
              <a:prstGeom prst="rect">
                <a:avLst/>
              </a:prstGeom>
              <a:noFill/>
            </p:spPr>
            <p:txBody>
              <a:bodyPr wrap="square" rtlCol="0">
                <a:spAutoFit/>
              </a:bodyPr>
              <a:lstStyle/>
              <a:p>
                <a:r>
                  <a:rPr lang="en-US" sz="1200" dirty="0">
                    <a:solidFill>
                      <a:schemeClr val="bg2">
                        <a:lumMod val="50000"/>
                      </a:schemeClr>
                    </a:solidFill>
                  </a:rPr>
                  <a:t>0   0   0</a:t>
                </a:r>
                <a:endParaRPr lang="en-US" sz="1000" dirty="0">
                  <a:solidFill>
                    <a:schemeClr val="bg2">
                      <a:lumMod val="50000"/>
                    </a:schemeClr>
                  </a:solidFill>
                </a:endParaRPr>
              </a:p>
            </p:txBody>
          </p:sp>
        </p:grpSp>
        <p:sp>
          <p:nvSpPr>
            <p:cNvPr id="11" name="TextBox 10">
              <a:extLst>
                <a:ext uri="{FF2B5EF4-FFF2-40B4-BE49-F238E27FC236}">
                  <a16:creationId xmlns:a16="http://schemas.microsoft.com/office/drawing/2014/main" id="{D81E86A2-D31A-9FED-022D-E7647A8936A1}"/>
                </a:ext>
              </a:extLst>
            </p:cNvPr>
            <p:cNvSpPr txBox="1"/>
            <p:nvPr/>
          </p:nvSpPr>
          <p:spPr>
            <a:xfrm>
              <a:off x="6496637" y="6367502"/>
              <a:ext cx="348172" cy="246221"/>
            </a:xfrm>
            <a:prstGeom prst="rect">
              <a:avLst/>
            </a:prstGeom>
            <a:noFill/>
          </p:spPr>
          <p:txBody>
            <a:bodyPr wrap="none" rtlCol="0">
              <a:spAutoFit/>
            </a:bodyPr>
            <a:lstStyle/>
            <a:p>
              <a:r>
                <a:rPr lang="en-US" sz="1000" dirty="0"/>
                <a:t>CA</a:t>
              </a:r>
            </a:p>
          </p:txBody>
        </p:sp>
      </p:grpSp>
    </p:spTree>
    <p:extLst>
      <p:ext uri="{BB962C8B-B14F-4D97-AF65-F5344CB8AC3E}">
        <p14:creationId xmlns:p14="http://schemas.microsoft.com/office/powerpoint/2010/main" val="26297702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2">
                                            <p:txEl>
                                              <p:pRg st="3" end="3"/>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7"/>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2">
                                            <p:txEl>
                                              <p:pRg st="4" end="4"/>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2">
                                            <p:txEl>
                                              <p:pRg st="5" end="5"/>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12" grpId="0" uiExpand="1" build="p" bldLvl="2"/>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E51415-CBB8-363D-7DDB-82976C335D12}"/>
              </a:ext>
            </a:extLst>
          </p:cNvPr>
          <p:cNvSpPr>
            <a:spLocks noGrp="1"/>
          </p:cNvSpPr>
          <p:nvPr>
            <p:ph type="title"/>
          </p:nvPr>
        </p:nvSpPr>
        <p:spPr/>
        <p:txBody>
          <a:bodyPr/>
          <a:lstStyle/>
          <a:p>
            <a:r>
              <a:rPr lang="en-US" dirty="0"/>
              <a:t>What do we get?</a:t>
            </a:r>
          </a:p>
        </p:txBody>
      </p:sp>
      <p:sp>
        <p:nvSpPr>
          <p:cNvPr id="3" name="Content Placeholder 2">
            <a:extLst>
              <a:ext uri="{FF2B5EF4-FFF2-40B4-BE49-F238E27FC236}">
                <a16:creationId xmlns:a16="http://schemas.microsoft.com/office/drawing/2014/main" id="{0B46CF75-E181-750F-74BC-186573330B27}"/>
              </a:ext>
            </a:extLst>
          </p:cNvPr>
          <p:cNvSpPr>
            <a:spLocks noGrp="1"/>
          </p:cNvSpPr>
          <p:nvPr>
            <p:ph idx="1"/>
          </p:nvPr>
        </p:nvSpPr>
        <p:spPr>
          <a:xfrm>
            <a:off x="811549" y="1899331"/>
            <a:ext cx="4690451" cy="751318"/>
          </a:xfrm>
        </p:spPr>
        <p:txBody>
          <a:bodyPr/>
          <a:lstStyle/>
          <a:p>
            <a:pPr marL="0" indent="0">
              <a:buNone/>
            </a:pPr>
            <a:r>
              <a:rPr lang="en-US" dirty="0">
                <a:solidFill>
                  <a:schemeClr val="accent1"/>
                </a:solidFill>
              </a:rPr>
              <a:t>California vs. U.S. Average</a:t>
            </a:r>
          </a:p>
        </p:txBody>
      </p:sp>
      <p:pic>
        <p:nvPicPr>
          <p:cNvPr id="4" name="Picture 3">
            <a:extLst>
              <a:ext uri="{FF2B5EF4-FFF2-40B4-BE49-F238E27FC236}">
                <a16:creationId xmlns:a16="http://schemas.microsoft.com/office/drawing/2014/main" id="{3D22359D-F4F7-B01F-5C4C-0A4ADFF630FD}"/>
              </a:ext>
            </a:extLst>
          </p:cNvPr>
          <p:cNvPicPr>
            <a:picLocks noChangeAspect="1"/>
          </p:cNvPicPr>
          <p:nvPr/>
        </p:nvPicPr>
        <p:blipFill>
          <a:blip r:embed="rId3"/>
          <a:stretch>
            <a:fillRect/>
          </a:stretch>
        </p:blipFill>
        <p:spPr>
          <a:xfrm>
            <a:off x="647205" y="2576943"/>
            <a:ext cx="4690451" cy="4096327"/>
          </a:xfrm>
          <a:prstGeom prst="rect">
            <a:avLst/>
          </a:prstGeom>
        </p:spPr>
      </p:pic>
      <p:pic>
        <p:nvPicPr>
          <p:cNvPr id="6" name="Picture 5">
            <a:extLst>
              <a:ext uri="{FF2B5EF4-FFF2-40B4-BE49-F238E27FC236}">
                <a16:creationId xmlns:a16="http://schemas.microsoft.com/office/drawing/2014/main" id="{6FAE9731-687C-2EA2-2712-E866408A5E2C}"/>
              </a:ext>
            </a:extLst>
          </p:cNvPr>
          <p:cNvPicPr>
            <a:picLocks noChangeAspect="1"/>
          </p:cNvPicPr>
          <p:nvPr/>
        </p:nvPicPr>
        <p:blipFill>
          <a:blip r:embed="rId4"/>
          <a:stretch>
            <a:fillRect/>
          </a:stretch>
        </p:blipFill>
        <p:spPr>
          <a:xfrm>
            <a:off x="5666344" y="2650647"/>
            <a:ext cx="4605811" cy="3948917"/>
          </a:xfrm>
          <a:prstGeom prst="rect">
            <a:avLst/>
          </a:prstGeom>
        </p:spPr>
      </p:pic>
      <p:sp>
        <p:nvSpPr>
          <p:cNvPr id="7" name="Content Placeholder 2">
            <a:extLst>
              <a:ext uri="{FF2B5EF4-FFF2-40B4-BE49-F238E27FC236}">
                <a16:creationId xmlns:a16="http://schemas.microsoft.com/office/drawing/2014/main" id="{0E7CE72A-46AD-4A2F-2CC5-7800CA66ECEA}"/>
              </a:ext>
            </a:extLst>
          </p:cNvPr>
          <p:cNvSpPr txBox="1">
            <a:spLocks/>
          </p:cNvSpPr>
          <p:nvPr/>
        </p:nvSpPr>
        <p:spPr>
          <a:xfrm>
            <a:off x="5878189" y="1944171"/>
            <a:ext cx="4690451" cy="75131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solidFill>
                  <a:schemeClr val="accent1"/>
                </a:solidFill>
              </a:rPr>
              <a:t>California vs “Synthetic CA”</a:t>
            </a:r>
          </a:p>
        </p:txBody>
      </p:sp>
      <p:grpSp>
        <p:nvGrpSpPr>
          <p:cNvPr id="10" name="Group 9">
            <a:extLst>
              <a:ext uri="{FF2B5EF4-FFF2-40B4-BE49-F238E27FC236}">
                <a16:creationId xmlns:a16="http://schemas.microsoft.com/office/drawing/2014/main" id="{9981EE9A-A041-7E93-A1F7-F562E6F87C11}"/>
              </a:ext>
            </a:extLst>
          </p:cNvPr>
          <p:cNvGrpSpPr/>
          <p:nvPr/>
        </p:nvGrpSpPr>
        <p:grpSpPr>
          <a:xfrm>
            <a:off x="9880269" y="4434643"/>
            <a:ext cx="2101932" cy="646331"/>
            <a:chOff x="9951521" y="4474464"/>
            <a:chExt cx="2101932" cy="646331"/>
          </a:xfrm>
        </p:grpSpPr>
        <p:sp>
          <p:nvSpPr>
            <p:cNvPr id="8" name="Up-Down Arrow 7">
              <a:extLst>
                <a:ext uri="{FF2B5EF4-FFF2-40B4-BE49-F238E27FC236}">
                  <a16:creationId xmlns:a16="http://schemas.microsoft.com/office/drawing/2014/main" id="{9BA5BE67-3AA8-24FB-C090-0EF98D96BF71}"/>
                </a:ext>
              </a:extLst>
            </p:cNvPr>
            <p:cNvSpPr/>
            <p:nvPr/>
          </p:nvSpPr>
          <p:spPr>
            <a:xfrm>
              <a:off x="9951521" y="4571999"/>
              <a:ext cx="118753" cy="451263"/>
            </a:xfrm>
            <a:prstGeom prst="upDownArrow">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FCAB5382-1DA7-3733-603D-488693849480}"/>
                </a:ext>
              </a:extLst>
            </p:cNvPr>
            <p:cNvSpPr txBox="1"/>
            <p:nvPr/>
          </p:nvSpPr>
          <p:spPr>
            <a:xfrm>
              <a:off x="10070274" y="4474464"/>
              <a:ext cx="1983179" cy="646331"/>
            </a:xfrm>
            <a:prstGeom prst="rect">
              <a:avLst/>
            </a:prstGeom>
            <a:noFill/>
          </p:spPr>
          <p:txBody>
            <a:bodyPr wrap="square" rtlCol="0">
              <a:spAutoFit/>
            </a:bodyPr>
            <a:lstStyle/>
            <a:p>
              <a:r>
                <a:rPr lang="en-US" dirty="0">
                  <a:solidFill>
                    <a:schemeClr val="accent2"/>
                  </a:solidFill>
                </a:rPr>
                <a:t>This is the implied “causal” effect.</a:t>
              </a:r>
            </a:p>
          </p:txBody>
        </p:sp>
      </p:grpSp>
      <p:sp>
        <p:nvSpPr>
          <p:cNvPr id="13" name="TextBox 12">
            <a:extLst>
              <a:ext uri="{FF2B5EF4-FFF2-40B4-BE49-F238E27FC236}">
                <a16:creationId xmlns:a16="http://schemas.microsoft.com/office/drawing/2014/main" id="{F2410F27-992D-14B1-6614-D200C6F709DF}"/>
              </a:ext>
            </a:extLst>
          </p:cNvPr>
          <p:cNvSpPr txBox="1"/>
          <p:nvPr/>
        </p:nvSpPr>
        <p:spPr>
          <a:xfrm>
            <a:off x="5878189" y="448528"/>
            <a:ext cx="5585361" cy="1015663"/>
          </a:xfrm>
          <a:prstGeom prst="rect">
            <a:avLst/>
          </a:prstGeom>
          <a:noFill/>
        </p:spPr>
        <p:txBody>
          <a:bodyPr wrap="square" rtlCol="0">
            <a:spAutoFit/>
          </a:bodyPr>
          <a:lstStyle/>
          <a:p>
            <a:r>
              <a:rPr lang="en-US" sz="2000" dirty="0">
                <a:solidFill>
                  <a:srgbClr val="8C1516"/>
                </a:solidFill>
              </a:rPr>
              <a:t>The paper’s conclusion: The average person in CA in 2000 bought </a:t>
            </a:r>
            <a:r>
              <a:rPr lang="en-US" sz="2000" b="1" dirty="0">
                <a:solidFill>
                  <a:srgbClr val="8C1516"/>
                </a:solidFill>
              </a:rPr>
              <a:t>26 packs fewer per year </a:t>
            </a:r>
            <a:r>
              <a:rPr lang="en-US" sz="2000" dirty="0">
                <a:solidFill>
                  <a:srgbClr val="8C1516"/>
                </a:solidFill>
              </a:rPr>
              <a:t>than they would have without Prop. 99.</a:t>
            </a:r>
          </a:p>
        </p:txBody>
      </p:sp>
    </p:spTree>
    <p:extLst>
      <p:ext uri="{BB962C8B-B14F-4D97-AF65-F5344CB8AC3E}">
        <p14:creationId xmlns:p14="http://schemas.microsoft.com/office/powerpoint/2010/main" val="28071986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7" grpId="0"/>
      <p:bldP spid="13"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390A84-2731-498C-B2D5-4A573D7D46E1}"/>
              </a:ext>
            </a:extLst>
          </p:cNvPr>
          <p:cNvSpPr>
            <a:spLocks noGrp="1"/>
          </p:cNvSpPr>
          <p:nvPr>
            <p:ph type="title"/>
          </p:nvPr>
        </p:nvSpPr>
        <p:spPr>
          <a:xfrm>
            <a:off x="838200" y="232805"/>
            <a:ext cx="10515600" cy="1325563"/>
          </a:xfrm>
        </p:spPr>
        <p:txBody>
          <a:bodyPr/>
          <a:lstStyle/>
          <a:p>
            <a:r>
              <a:rPr lang="en-US" dirty="0"/>
              <a:t>How do we make “synthetic CA”?</a:t>
            </a:r>
          </a:p>
        </p:txBody>
      </p:sp>
      <p:sp>
        <p:nvSpPr>
          <p:cNvPr id="3" name="Content Placeholder 2">
            <a:extLst>
              <a:ext uri="{FF2B5EF4-FFF2-40B4-BE49-F238E27FC236}">
                <a16:creationId xmlns:a16="http://schemas.microsoft.com/office/drawing/2014/main" id="{ADFE047A-BE9C-B306-3CDD-B114DBFA0F10}"/>
              </a:ext>
            </a:extLst>
          </p:cNvPr>
          <p:cNvSpPr>
            <a:spLocks noGrp="1"/>
          </p:cNvSpPr>
          <p:nvPr>
            <p:ph idx="1"/>
          </p:nvPr>
        </p:nvSpPr>
        <p:spPr>
          <a:xfrm>
            <a:off x="745435" y="1481069"/>
            <a:ext cx="10515600" cy="4351338"/>
          </a:xfrm>
        </p:spPr>
        <p:txBody>
          <a:bodyPr/>
          <a:lstStyle/>
          <a:p>
            <a:r>
              <a:rPr lang="en-US" dirty="0"/>
              <a:t>Your suggestions:</a:t>
            </a:r>
          </a:p>
        </p:txBody>
      </p:sp>
      <p:grpSp>
        <p:nvGrpSpPr>
          <p:cNvPr id="7" name="Group 6">
            <a:extLst>
              <a:ext uri="{FF2B5EF4-FFF2-40B4-BE49-F238E27FC236}">
                <a16:creationId xmlns:a16="http://schemas.microsoft.com/office/drawing/2014/main" id="{BFF25D7E-D5E2-233C-5E81-9823B9B64C07}"/>
              </a:ext>
            </a:extLst>
          </p:cNvPr>
          <p:cNvGrpSpPr/>
          <p:nvPr/>
        </p:nvGrpSpPr>
        <p:grpSpPr>
          <a:xfrm>
            <a:off x="9041832" y="1896803"/>
            <a:ext cx="2812283" cy="3682498"/>
            <a:chOff x="9041832" y="1896803"/>
            <a:chExt cx="2812283" cy="3682498"/>
          </a:xfrm>
        </p:grpSpPr>
        <p:pic>
          <p:nvPicPr>
            <p:cNvPr id="5" name="Picture 4">
              <a:extLst>
                <a:ext uri="{FF2B5EF4-FFF2-40B4-BE49-F238E27FC236}">
                  <a16:creationId xmlns:a16="http://schemas.microsoft.com/office/drawing/2014/main" id="{A48F9979-36C5-249A-6317-149F7847F36D}"/>
                </a:ext>
              </a:extLst>
            </p:cNvPr>
            <p:cNvPicPr>
              <a:picLocks noChangeAspect="1"/>
            </p:cNvPicPr>
            <p:nvPr/>
          </p:nvPicPr>
          <p:blipFill>
            <a:blip r:embed="rId3"/>
            <a:stretch>
              <a:fillRect/>
            </a:stretch>
          </p:blipFill>
          <p:spPr>
            <a:xfrm>
              <a:off x="11007896" y="3928128"/>
              <a:ext cx="691807" cy="1651173"/>
            </a:xfrm>
            <a:prstGeom prst="rect">
              <a:avLst/>
            </a:prstGeom>
          </p:spPr>
        </p:pic>
        <p:sp>
          <p:nvSpPr>
            <p:cNvPr id="6" name="TextBox 5">
              <a:extLst>
                <a:ext uri="{FF2B5EF4-FFF2-40B4-BE49-F238E27FC236}">
                  <a16:creationId xmlns:a16="http://schemas.microsoft.com/office/drawing/2014/main" id="{E3307640-3078-D036-569E-F2C77E228310}"/>
                </a:ext>
              </a:extLst>
            </p:cNvPr>
            <p:cNvSpPr txBox="1"/>
            <p:nvPr/>
          </p:nvSpPr>
          <p:spPr>
            <a:xfrm>
              <a:off x="9041832" y="1896803"/>
              <a:ext cx="2812283" cy="2031325"/>
            </a:xfrm>
            <a:prstGeom prst="rect">
              <a:avLst/>
            </a:prstGeom>
            <a:noFill/>
          </p:spPr>
          <p:txBody>
            <a:bodyPr wrap="square" rtlCol="0">
              <a:spAutoFit/>
            </a:bodyPr>
            <a:lstStyle/>
            <a:p>
              <a:pPr algn="r"/>
              <a:r>
                <a:rPr lang="en-US" dirty="0">
                  <a:solidFill>
                    <a:srgbClr val="0070C0"/>
                  </a:solidFill>
                </a:rPr>
                <a:t>Folks also suggested NY, MA, NJ, WA, OR, AZ, which are states that were omitted from the paper’s dataset since they had also passed smoking-related legislation.</a:t>
              </a:r>
            </a:p>
          </p:txBody>
        </p:sp>
      </p:grpSp>
      <p:pic>
        <p:nvPicPr>
          <p:cNvPr id="4" name="Picture 3">
            <a:extLst>
              <a:ext uri="{FF2B5EF4-FFF2-40B4-BE49-F238E27FC236}">
                <a16:creationId xmlns:a16="http://schemas.microsoft.com/office/drawing/2014/main" id="{51792A0B-2A39-D361-EF4A-9FDE9266F732}"/>
              </a:ext>
            </a:extLst>
          </p:cNvPr>
          <p:cNvPicPr>
            <a:picLocks noChangeAspect="1"/>
          </p:cNvPicPr>
          <p:nvPr/>
        </p:nvPicPr>
        <p:blipFill>
          <a:blip r:embed="rId4"/>
          <a:stretch>
            <a:fillRect/>
          </a:stretch>
        </p:blipFill>
        <p:spPr>
          <a:xfrm>
            <a:off x="745435" y="2089906"/>
            <a:ext cx="7772400" cy="4394099"/>
          </a:xfrm>
          <a:prstGeom prst="rect">
            <a:avLst/>
          </a:prstGeom>
        </p:spPr>
      </p:pic>
    </p:spTree>
    <p:extLst>
      <p:ext uri="{BB962C8B-B14F-4D97-AF65-F5344CB8AC3E}">
        <p14:creationId xmlns:p14="http://schemas.microsoft.com/office/powerpoint/2010/main" val="10770540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390A84-2731-498C-B2D5-4A573D7D46E1}"/>
              </a:ext>
            </a:extLst>
          </p:cNvPr>
          <p:cNvSpPr>
            <a:spLocks noGrp="1"/>
          </p:cNvSpPr>
          <p:nvPr>
            <p:ph type="title"/>
          </p:nvPr>
        </p:nvSpPr>
        <p:spPr>
          <a:xfrm>
            <a:off x="838200" y="26639"/>
            <a:ext cx="10515600" cy="1325563"/>
          </a:xfrm>
        </p:spPr>
        <p:txBody>
          <a:bodyPr/>
          <a:lstStyle/>
          <a:p>
            <a:r>
              <a:rPr lang="en-US" dirty="0"/>
              <a:t>How did </a:t>
            </a:r>
            <a:r>
              <a:rPr lang="en-US" b="1" dirty="0"/>
              <a:t>they</a:t>
            </a:r>
            <a:r>
              <a:rPr lang="en-US" dirty="0"/>
              <a:t> make “synthetic CA”?</a:t>
            </a:r>
          </a:p>
        </p:txBody>
      </p:sp>
      <p:grpSp>
        <p:nvGrpSpPr>
          <p:cNvPr id="15" name="Group 14">
            <a:extLst>
              <a:ext uri="{FF2B5EF4-FFF2-40B4-BE49-F238E27FC236}">
                <a16:creationId xmlns:a16="http://schemas.microsoft.com/office/drawing/2014/main" id="{3D438359-E033-395A-AF17-AE385C6C8C48}"/>
              </a:ext>
            </a:extLst>
          </p:cNvPr>
          <p:cNvGrpSpPr/>
          <p:nvPr/>
        </p:nvGrpSpPr>
        <p:grpSpPr>
          <a:xfrm>
            <a:off x="710376" y="2106623"/>
            <a:ext cx="5385624" cy="3713886"/>
            <a:chOff x="1221015" y="2441151"/>
            <a:chExt cx="5996379" cy="3713886"/>
          </a:xfrm>
        </p:grpSpPr>
        <p:pic>
          <p:nvPicPr>
            <p:cNvPr id="1026" name="Picture 2">
              <a:extLst>
                <a:ext uri="{FF2B5EF4-FFF2-40B4-BE49-F238E27FC236}">
                  <a16:creationId xmlns:a16="http://schemas.microsoft.com/office/drawing/2014/main" id="{5386E684-B502-C787-692B-D6A90822745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21015" y="2441151"/>
              <a:ext cx="5996379" cy="3713886"/>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B43410D8-0C0A-0C22-42C7-E32679098B81}"/>
                </a:ext>
              </a:extLst>
            </p:cNvPr>
            <p:cNvSpPr txBox="1"/>
            <p:nvPr/>
          </p:nvSpPr>
          <p:spPr>
            <a:xfrm>
              <a:off x="6043113" y="3244334"/>
              <a:ext cx="622286" cy="369332"/>
            </a:xfrm>
            <a:prstGeom prst="rect">
              <a:avLst/>
            </a:prstGeom>
            <a:noFill/>
          </p:spPr>
          <p:txBody>
            <a:bodyPr wrap="none" rtlCol="0">
              <a:spAutoFit/>
            </a:bodyPr>
            <a:lstStyle/>
            <a:p>
              <a:r>
                <a:rPr lang="en-US" b="1" dirty="0">
                  <a:solidFill>
                    <a:schemeClr val="bg1"/>
                  </a:solidFill>
                </a:rPr>
                <a:t>33%</a:t>
              </a:r>
            </a:p>
          </p:txBody>
        </p:sp>
        <p:sp>
          <p:nvSpPr>
            <p:cNvPr id="11" name="TextBox 10">
              <a:extLst>
                <a:ext uri="{FF2B5EF4-FFF2-40B4-BE49-F238E27FC236}">
                  <a16:creationId xmlns:a16="http://schemas.microsoft.com/office/drawing/2014/main" id="{43996714-9A1E-B8D0-15FC-8BBFEEAB6123}"/>
                </a:ext>
              </a:extLst>
            </p:cNvPr>
            <p:cNvSpPr txBox="1"/>
            <p:nvPr/>
          </p:nvSpPr>
          <p:spPr>
            <a:xfrm>
              <a:off x="5019856" y="4089678"/>
              <a:ext cx="622286" cy="369332"/>
            </a:xfrm>
            <a:prstGeom prst="rect">
              <a:avLst/>
            </a:prstGeom>
            <a:noFill/>
          </p:spPr>
          <p:txBody>
            <a:bodyPr wrap="none" rtlCol="0">
              <a:spAutoFit/>
            </a:bodyPr>
            <a:lstStyle/>
            <a:p>
              <a:r>
                <a:rPr lang="en-US" b="1" dirty="0">
                  <a:solidFill>
                    <a:schemeClr val="bg1"/>
                  </a:solidFill>
                </a:rPr>
                <a:t>23%</a:t>
              </a:r>
            </a:p>
          </p:txBody>
        </p:sp>
        <p:sp>
          <p:nvSpPr>
            <p:cNvPr id="12" name="TextBox 11">
              <a:extLst>
                <a:ext uri="{FF2B5EF4-FFF2-40B4-BE49-F238E27FC236}">
                  <a16:creationId xmlns:a16="http://schemas.microsoft.com/office/drawing/2014/main" id="{9DB1D157-9A2D-4C4D-4AE0-A3879343F38C}"/>
                </a:ext>
              </a:extLst>
            </p:cNvPr>
            <p:cNvSpPr txBox="1"/>
            <p:nvPr/>
          </p:nvSpPr>
          <p:spPr>
            <a:xfrm>
              <a:off x="4014757" y="4298094"/>
              <a:ext cx="622286" cy="369332"/>
            </a:xfrm>
            <a:prstGeom prst="rect">
              <a:avLst/>
            </a:prstGeom>
            <a:noFill/>
          </p:spPr>
          <p:txBody>
            <a:bodyPr wrap="none" rtlCol="0">
              <a:spAutoFit/>
            </a:bodyPr>
            <a:lstStyle/>
            <a:p>
              <a:r>
                <a:rPr lang="en-US" b="1" dirty="0">
                  <a:solidFill>
                    <a:schemeClr val="bg1"/>
                  </a:solidFill>
                </a:rPr>
                <a:t>19%</a:t>
              </a:r>
            </a:p>
          </p:txBody>
        </p:sp>
        <p:sp>
          <p:nvSpPr>
            <p:cNvPr id="13" name="TextBox 12">
              <a:extLst>
                <a:ext uri="{FF2B5EF4-FFF2-40B4-BE49-F238E27FC236}">
                  <a16:creationId xmlns:a16="http://schemas.microsoft.com/office/drawing/2014/main" id="{EB2C3B87-C773-0CBF-9855-24D3E29FA1D9}"/>
                </a:ext>
              </a:extLst>
            </p:cNvPr>
            <p:cNvSpPr txBox="1"/>
            <p:nvPr/>
          </p:nvSpPr>
          <p:spPr>
            <a:xfrm>
              <a:off x="3080009" y="5258017"/>
              <a:ext cx="498855" cy="369332"/>
            </a:xfrm>
            <a:prstGeom prst="rect">
              <a:avLst/>
            </a:prstGeom>
            <a:noFill/>
          </p:spPr>
          <p:txBody>
            <a:bodyPr wrap="none" rtlCol="0">
              <a:spAutoFit/>
            </a:bodyPr>
            <a:lstStyle/>
            <a:p>
              <a:r>
                <a:rPr lang="en-US" b="1" dirty="0">
                  <a:solidFill>
                    <a:schemeClr val="bg1"/>
                  </a:solidFill>
                </a:rPr>
                <a:t>7%</a:t>
              </a:r>
            </a:p>
          </p:txBody>
        </p:sp>
        <p:sp>
          <p:nvSpPr>
            <p:cNvPr id="14" name="TextBox 13">
              <a:extLst>
                <a:ext uri="{FF2B5EF4-FFF2-40B4-BE49-F238E27FC236}">
                  <a16:creationId xmlns:a16="http://schemas.microsoft.com/office/drawing/2014/main" id="{25A832CB-3D0F-0E4D-5066-22B25745D4B3}"/>
                </a:ext>
              </a:extLst>
            </p:cNvPr>
            <p:cNvSpPr txBox="1"/>
            <p:nvPr/>
          </p:nvSpPr>
          <p:spPr>
            <a:xfrm>
              <a:off x="1997587" y="4608051"/>
              <a:ext cx="622286" cy="369332"/>
            </a:xfrm>
            <a:prstGeom prst="rect">
              <a:avLst/>
            </a:prstGeom>
            <a:noFill/>
          </p:spPr>
          <p:txBody>
            <a:bodyPr wrap="none" rtlCol="0">
              <a:spAutoFit/>
            </a:bodyPr>
            <a:lstStyle/>
            <a:p>
              <a:r>
                <a:rPr lang="en-US" b="1" dirty="0">
                  <a:solidFill>
                    <a:schemeClr val="bg1"/>
                  </a:solidFill>
                </a:rPr>
                <a:t>16%</a:t>
              </a:r>
            </a:p>
          </p:txBody>
        </p:sp>
      </p:grpSp>
      <p:pic>
        <p:nvPicPr>
          <p:cNvPr id="17" name="Picture 16">
            <a:extLst>
              <a:ext uri="{FF2B5EF4-FFF2-40B4-BE49-F238E27FC236}">
                <a16:creationId xmlns:a16="http://schemas.microsoft.com/office/drawing/2014/main" id="{63DE14FB-3EC7-9389-D54A-D3353B74A6EC}"/>
              </a:ext>
            </a:extLst>
          </p:cNvPr>
          <p:cNvPicPr>
            <a:picLocks noChangeAspect="1"/>
          </p:cNvPicPr>
          <p:nvPr/>
        </p:nvPicPr>
        <p:blipFill>
          <a:blip r:embed="rId4"/>
          <a:stretch>
            <a:fillRect/>
          </a:stretch>
        </p:blipFill>
        <p:spPr>
          <a:xfrm>
            <a:off x="6152833" y="1815548"/>
            <a:ext cx="5779689" cy="4213140"/>
          </a:xfrm>
          <a:prstGeom prst="rect">
            <a:avLst/>
          </a:prstGeom>
        </p:spPr>
      </p:pic>
    </p:spTree>
    <p:extLst>
      <p:ext uri="{BB962C8B-B14F-4D97-AF65-F5344CB8AC3E}">
        <p14:creationId xmlns:p14="http://schemas.microsoft.com/office/powerpoint/2010/main" val="5558912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390A84-2731-498C-B2D5-4A573D7D46E1}"/>
              </a:ext>
            </a:extLst>
          </p:cNvPr>
          <p:cNvSpPr>
            <a:spLocks noGrp="1"/>
          </p:cNvSpPr>
          <p:nvPr>
            <p:ph type="title"/>
          </p:nvPr>
        </p:nvSpPr>
        <p:spPr>
          <a:xfrm>
            <a:off x="838200" y="26639"/>
            <a:ext cx="10515600" cy="1325563"/>
          </a:xfrm>
        </p:spPr>
        <p:txBody>
          <a:bodyPr/>
          <a:lstStyle/>
          <a:p>
            <a:r>
              <a:rPr lang="en-US" dirty="0"/>
              <a:t>How did they make “synthetic CA”?</a:t>
            </a:r>
          </a:p>
        </p:txBody>
      </p:sp>
      <p:pic>
        <p:nvPicPr>
          <p:cNvPr id="7" name="Picture 6">
            <a:extLst>
              <a:ext uri="{FF2B5EF4-FFF2-40B4-BE49-F238E27FC236}">
                <a16:creationId xmlns:a16="http://schemas.microsoft.com/office/drawing/2014/main" id="{3ADC70AC-1408-9D68-00C4-BC1135488652}"/>
              </a:ext>
            </a:extLst>
          </p:cNvPr>
          <p:cNvPicPr>
            <a:picLocks noChangeAspect="1"/>
          </p:cNvPicPr>
          <p:nvPr/>
        </p:nvPicPr>
        <p:blipFill>
          <a:blip r:embed="rId2"/>
          <a:stretch>
            <a:fillRect/>
          </a:stretch>
        </p:blipFill>
        <p:spPr>
          <a:xfrm>
            <a:off x="759031" y="1067194"/>
            <a:ext cx="4714504" cy="5652936"/>
          </a:xfrm>
          <a:prstGeom prst="rect">
            <a:avLst/>
          </a:prstGeom>
        </p:spPr>
      </p:pic>
    </p:spTree>
    <p:extLst>
      <p:ext uri="{BB962C8B-B14F-4D97-AF65-F5344CB8AC3E}">
        <p14:creationId xmlns:p14="http://schemas.microsoft.com/office/powerpoint/2010/main" val="2128105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E23982-5973-31DF-2660-86D945C6BD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23C7FA-F9E1-6A49-429D-94BDC12CDC9B}"/>
              </a:ext>
            </a:extLst>
          </p:cNvPr>
          <p:cNvSpPr>
            <a:spLocks noGrp="1"/>
          </p:cNvSpPr>
          <p:nvPr>
            <p:ph type="title"/>
          </p:nvPr>
        </p:nvSpPr>
        <p:spPr/>
        <p:txBody>
          <a:bodyPr/>
          <a:lstStyle/>
          <a:p>
            <a:r>
              <a:rPr lang="en-US" dirty="0"/>
              <a:t>That’s how they got this result</a:t>
            </a:r>
          </a:p>
        </p:txBody>
      </p:sp>
      <p:grpSp>
        <p:nvGrpSpPr>
          <p:cNvPr id="12" name="Group 11">
            <a:extLst>
              <a:ext uri="{FF2B5EF4-FFF2-40B4-BE49-F238E27FC236}">
                <a16:creationId xmlns:a16="http://schemas.microsoft.com/office/drawing/2014/main" id="{A729C088-9B59-418C-C364-F612678E5DFD}"/>
              </a:ext>
            </a:extLst>
          </p:cNvPr>
          <p:cNvGrpSpPr/>
          <p:nvPr/>
        </p:nvGrpSpPr>
        <p:grpSpPr>
          <a:xfrm>
            <a:off x="1581040" y="1973667"/>
            <a:ext cx="6315857" cy="4655393"/>
            <a:chOff x="5666344" y="1944171"/>
            <a:chExt cx="6315857" cy="4655393"/>
          </a:xfrm>
        </p:grpSpPr>
        <p:pic>
          <p:nvPicPr>
            <p:cNvPr id="6" name="Picture 5">
              <a:extLst>
                <a:ext uri="{FF2B5EF4-FFF2-40B4-BE49-F238E27FC236}">
                  <a16:creationId xmlns:a16="http://schemas.microsoft.com/office/drawing/2014/main" id="{0BA11421-8151-0653-EED4-23C0313E172B}"/>
                </a:ext>
              </a:extLst>
            </p:cNvPr>
            <p:cNvPicPr>
              <a:picLocks noChangeAspect="1"/>
            </p:cNvPicPr>
            <p:nvPr/>
          </p:nvPicPr>
          <p:blipFill>
            <a:blip r:embed="rId3"/>
            <a:stretch>
              <a:fillRect/>
            </a:stretch>
          </p:blipFill>
          <p:spPr>
            <a:xfrm>
              <a:off x="5666344" y="2650647"/>
              <a:ext cx="4605811" cy="3948917"/>
            </a:xfrm>
            <a:prstGeom prst="rect">
              <a:avLst/>
            </a:prstGeom>
          </p:spPr>
        </p:pic>
        <p:sp>
          <p:nvSpPr>
            <p:cNvPr id="7" name="Content Placeholder 2">
              <a:extLst>
                <a:ext uri="{FF2B5EF4-FFF2-40B4-BE49-F238E27FC236}">
                  <a16:creationId xmlns:a16="http://schemas.microsoft.com/office/drawing/2014/main" id="{FF34CCDC-82FD-6223-7803-7087ABC04F05}"/>
                </a:ext>
              </a:extLst>
            </p:cNvPr>
            <p:cNvSpPr txBox="1">
              <a:spLocks/>
            </p:cNvSpPr>
            <p:nvPr/>
          </p:nvSpPr>
          <p:spPr>
            <a:xfrm>
              <a:off x="5878189" y="1944171"/>
              <a:ext cx="4690451" cy="75131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solidFill>
                    <a:schemeClr val="accent1"/>
                  </a:solidFill>
                </a:rPr>
                <a:t>California vs “Synthetic CA”</a:t>
              </a:r>
            </a:p>
          </p:txBody>
        </p:sp>
        <p:grpSp>
          <p:nvGrpSpPr>
            <p:cNvPr id="10" name="Group 9">
              <a:extLst>
                <a:ext uri="{FF2B5EF4-FFF2-40B4-BE49-F238E27FC236}">
                  <a16:creationId xmlns:a16="http://schemas.microsoft.com/office/drawing/2014/main" id="{C808E344-B58A-2878-8A84-F8EE25D1E7D5}"/>
                </a:ext>
              </a:extLst>
            </p:cNvPr>
            <p:cNvGrpSpPr/>
            <p:nvPr/>
          </p:nvGrpSpPr>
          <p:grpSpPr>
            <a:xfrm>
              <a:off x="9880269" y="4434643"/>
              <a:ext cx="2101932" cy="646331"/>
              <a:chOff x="9951521" y="4474464"/>
              <a:chExt cx="2101932" cy="646331"/>
            </a:xfrm>
          </p:grpSpPr>
          <p:sp>
            <p:nvSpPr>
              <p:cNvPr id="8" name="Up-Down Arrow 7">
                <a:extLst>
                  <a:ext uri="{FF2B5EF4-FFF2-40B4-BE49-F238E27FC236}">
                    <a16:creationId xmlns:a16="http://schemas.microsoft.com/office/drawing/2014/main" id="{55BBA318-73CB-9B5D-CE8D-2E63D225C2BC}"/>
                  </a:ext>
                </a:extLst>
              </p:cNvPr>
              <p:cNvSpPr/>
              <p:nvPr/>
            </p:nvSpPr>
            <p:spPr>
              <a:xfrm>
                <a:off x="9951521" y="4571999"/>
                <a:ext cx="118753" cy="451263"/>
              </a:xfrm>
              <a:prstGeom prst="upDownArrow">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AD277134-44D6-8992-642A-442FF6FFCB60}"/>
                  </a:ext>
                </a:extLst>
              </p:cNvPr>
              <p:cNvSpPr txBox="1"/>
              <p:nvPr/>
            </p:nvSpPr>
            <p:spPr>
              <a:xfrm>
                <a:off x="10070274" y="4474464"/>
                <a:ext cx="1983179" cy="646331"/>
              </a:xfrm>
              <a:prstGeom prst="rect">
                <a:avLst/>
              </a:prstGeom>
              <a:noFill/>
            </p:spPr>
            <p:txBody>
              <a:bodyPr wrap="square" rtlCol="0">
                <a:spAutoFit/>
              </a:bodyPr>
              <a:lstStyle/>
              <a:p>
                <a:r>
                  <a:rPr lang="en-US" dirty="0">
                    <a:solidFill>
                      <a:schemeClr val="accent2"/>
                    </a:solidFill>
                  </a:rPr>
                  <a:t>This is the implied “causal” effect.</a:t>
                </a:r>
              </a:p>
            </p:txBody>
          </p:sp>
        </p:grpSp>
      </p:grpSp>
      <p:sp>
        <p:nvSpPr>
          <p:cNvPr id="13" name="TextBox 12">
            <a:extLst>
              <a:ext uri="{FF2B5EF4-FFF2-40B4-BE49-F238E27FC236}">
                <a16:creationId xmlns:a16="http://schemas.microsoft.com/office/drawing/2014/main" id="{07B8129E-F976-2CEF-ADCC-016EBAB064D1}"/>
              </a:ext>
            </a:extLst>
          </p:cNvPr>
          <p:cNvSpPr txBox="1"/>
          <p:nvPr/>
        </p:nvSpPr>
        <p:spPr>
          <a:xfrm>
            <a:off x="8356382" y="2724985"/>
            <a:ext cx="3634058" cy="1631216"/>
          </a:xfrm>
          <a:prstGeom prst="rect">
            <a:avLst/>
          </a:prstGeom>
          <a:noFill/>
        </p:spPr>
        <p:txBody>
          <a:bodyPr wrap="square" rtlCol="0">
            <a:spAutoFit/>
          </a:bodyPr>
          <a:lstStyle/>
          <a:p>
            <a:r>
              <a:rPr lang="en-US" sz="2000" dirty="0">
                <a:solidFill>
                  <a:srgbClr val="8C1516"/>
                </a:solidFill>
              </a:rPr>
              <a:t>The paper’s conclusion: The average person in CA in 2000 bought </a:t>
            </a:r>
            <a:r>
              <a:rPr lang="en-US" sz="2000" b="1" dirty="0">
                <a:solidFill>
                  <a:srgbClr val="8C1516"/>
                </a:solidFill>
              </a:rPr>
              <a:t>26 packs fewer per year </a:t>
            </a:r>
            <a:r>
              <a:rPr lang="en-US" sz="2000" dirty="0">
                <a:solidFill>
                  <a:srgbClr val="8C1516"/>
                </a:solidFill>
              </a:rPr>
              <a:t>than they would have without Prop. 99.</a:t>
            </a:r>
          </a:p>
        </p:txBody>
      </p:sp>
    </p:spTree>
    <p:extLst>
      <p:ext uri="{BB962C8B-B14F-4D97-AF65-F5344CB8AC3E}">
        <p14:creationId xmlns:p14="http://schemas.microsoft.com/office/powerpoint/2010/main" val="7919576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19AAE1-EDE7-71FD-E916-5FF0807429DF}"/>
              </a:ext>
            </a:extLst>
          </p:cNvPr>
          <p:cNvSpPr>
            <a:spLocks noGrp="1"/>
          </p:cNvSpPr>
          <p:nvPr>
            <p:ph type="title"/>
          </p:nvPr>
        </p:nvSpPr>
        <p:spPr/>
        <p:txBody>
          <a:bodyPr/>
          <a:lstStyle/>
          <a:p>
            <a:r>
              <a:rPr lang="en-US" dirty="0"/>
              <a:t>Do we believe the results?</a:t>
            </a:r>
          </a:p>
        </p:txBody>
      </p:sp>
      <p:sp>
        <p:nvSpPr>
          <p:cNvPr id="3" name="Content Placeholder 2">
            <a:extLst>
              <a:ext uri="{FF2B5EF4-FFF2-40B4-BE49-F238E27FC236}">
                <a16:creationId xmlns:a16="http://schemas.microsoft.com/office/drawing/2014/main" id="{E1BEA894-C437-820D-B090-2C3EEB24F9B2}"/>
              </a:ext>
            </a:extLst>
          </p:cNvPr>
          <p:cNvSpPr>
            <a:spLocks noGrp="1"/>
          </p:cNvSpPr>
          <p:nvPr>
            <p:ph idx="1"/>
          </p:nvPr>
        </p:nvSpPr>
        <p:spPr/>
        <p:txBody>
          <a:bodyPr/>
          <a:lstStyle/>
          <a:p>
            <a:r>
              <a:rPr lang="en-US" dirty="0"/>
              <a:t>Placebo analysis!</a:t>
            </a:r>
          </a:p>
        </p:txBody>
      </p:sp>
      <p:grpSp>
        <p:nvGrpSpPr>
          <p:cNvPr id="12" name="Group 11">
            <a:extLst>
              <a:ext uri="{FF2B5EF4-FFF2-40B4-BE49-F238E27FC236}">
                <a16:creationId xmlns:a16="http://schemas.microsoft.com/office/drawing/2014/main" id="{743EC7BF-F7E0-83F5-056B-62D889CD8665}"/>
              </a:ext>
            </a:extLst>
          </p:cNvPr>
          <p:cNvGrpSpPr/>
          <p:nvPr/>
        </p:nvGrpSpPr>
        <p:grpSpPr>
          <a:xfrm>
            <a:off x="965305" y="1825625"/>
            <a:ext cx="6542637" cy="2571243"/>
            <a:chOff x="3139451" y="3826446"/>
            <a:chExt cx="6560849" cy="2578401"/>
          </a:xfrm>
        </p:grpSpPr>
        <p:grpSp>
          <p:nvGrpSpPr>
            <p:cNvPr id="5" name="Group 4">
              <a:extLst>
                <a:ext uri="{FF2B5EF4-FFF2-40B4-BE49-F238E27FC236}">
                  <a16:creationId xmlns:a16="http://schemas.microsoft.com/office/drawing/2014/main" id="{CB27576E-3794-886A-65BE-807B100E0ADD}"/>
                </a:ext>
              </a:extLst>
            </p:cNvPr>
            <p:cNvGrpSpPr/>
            <p:nvPr/>
          </p:nvGrpSpPr>
          <p:grpSpPr>
            <a:xfrm>
              <a:off x="3977890" y="4581124"/>
              <a:ext cx="4037758" cy="1823723"/>
              <a:chOff x="5891105" y="3700424"/>
              <a:chExt cx="4037758" cy="1823723"/>
            </a:xfrm>
          </p:grpSpPr>
          <p:sp>
            <p:nvSpPr>
              <p:cNvPr id="6" name="Cloud 5">
                <a:extLst>
                  <a:ext uri="{FF2B5EF4-FFF2-40B4-BE49-F238E27FC236}">
                    <a16:creationId xmlns:a16="http://schemas.microsoft.com/office/drawing/2014/main" id="{F27F3C52-1FD6-89B7-9312-B24847B6C4B5}"/>
                  </a:ext>
                </a:extLst>
              </p:cNvPr>
              <p:cNvSpPr/>
              <p:nvPr/>
            </p:nvSpPr>
            <p:spPr>
              <a:xfrm>
                <a:off x="6403940" y="3700424"/>
                <a:ext cx="3524923" cy="1823723"/>
              </a:xfrm>
              <a:prstGeom prst="cloud">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Complicated </a:t>
                </a:r>
              </a:p>
              <a:p>
                <a:pPr algn="ctr"/>
                <a:r>
                  <a:rPr lang="en-US" sz="2800" dirty="0"/>
                  <a:t>Statistics!</a:t>
                </a:r>
              </a:p>
            </p:txBody>
          </p:sp>
          <p:sp>
            <p:nvSpPr>
              <p:cNvPr id="7" name="Right Arrow 6">
                <a:extLst>
                  <a:ext uri="{FF2B5EF4-FFF2-40B4-BE49-F238E27FC236}">
                    <a16:creationId xmlns:a16="http://schemas.microsoft.com/office/drawing/2014/main" id="{D9EEEDCE-FCBA-24FE-5D39-B306F4659B77}"/>
                  </a:ext>
                </a:extLst>
              </p:cNvPr>
              <p:cNvSpPr/>
              <p:nvPr/>
            </p:nvSpPr>
            <p:spPr>
              <a:xfrm>
                <a:off x="5891105" y="4327590"/>
                <a:ext cx="873247" cy="890195"/>
              </a:xfrm>
              <a:prstGeom prst="rightArrow">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gr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FB65E548-A424-2C78-14BA-20D7619B265E}"/>
                    </a:ext>
                  </a:extLst>
                </p:cNvPr>
                <p:cNvSpPr txBox="1"/>
                <p:nvPr/>
              </p:nvSpPr>
              <p:spPr>
                <a:xfrm>
                  <a:off x="7660784" y="3826446"/>
                  <a:ext cx="2039516" cy="785373"/>
                </a:xfrm>
                <a:prstGeom prst="wedgeRoundRectCallout">
                  <a:avLst>
                    <a:gd name="adj1" fmla="val -63420"/>
                    <a:gd name="adj2" fmla="val 88191"/>
                    <a:gd name="adj3" fmla="val 16667"/>
                  </a:avLst>
                </a:prstGeom>
                <a:solidFill>
                  <a:schemeClr val="accent1">
                    <a:lumMod val="20000"/>
                    <a:lumOff val="80000"/>
                  </a:schemeClr>
                </a:solidFill>
                <a:ln>
                  <a:solidFill>
                    <a:schemeClr val="tx1"/>
                  </a:solidFill>
                </a:ln>
              </p:spPr>
              <p:txBody>
                <a:bodyPr wrap="square" rtlCol="0">
                  <a:spAutoFit/>
                </a:bodyPr>
                <a:lstStyle/>
                <a:p>
                  <a:pPr algn="ctr"/>
                  <a:r>
                    <a:rPr lang="en-US" sz="2000" dirty="0">
                      <a:solidFill>
                        <a:schemeClr val="tx1"/>
                      </a:solidFill>
                    </a:rPr>
                    <a:t>The effect of </a:t>
                  </a:r>
                  <a:r>
                    <a:rPr lang="en-US" sz="2000" dirty="0"/>
                    <a:t>X </a:t>
                  </a:r>
                  <a:r>
                    <a:rPr lang="en-US" sz="2000" dirty="0">
                      <a:solidFill>
                        <a:schemeClr val="tx1"/>
                      </a:solidFill>
                    </a:rPr>
                    <a:t>on Y is </a:t>
                  </a:r>
                  <a14:m>
                    <m:oMath xmlns:m="http://schemas.openxmlformats.org/officeDocument/2006/math">
                      <m:r>
                        <a:rPr lang="en-US" sz="2000" b="0" i="1" smtClean="0">
                          <a:solidFill>
                            <a:schemeClr val="tx1"/>
                          </a:solidFill>
                          <a:latin typeface="Cambria Math" panose="02040503050406030204" pitchFamily="18" charset="0"/>
                        </a:rPr>
                        <m:t>𝜏</m:t>
                      </m:r>
                    </m:oMath>
                  </a14:m>
                  <a:r>
                    <a:rPr lang="en-US" sz="2000" dirty="0">
                      <a:solidFill>
                        <a:schemeClr val="tx1"/>
                      </a:solidFill>
                    </a:rPr>
                    <a:t>! </a:t>
                  </a:r>
                </a:p>
              </p:txBody>
            </p:sp>
          </mc:Choice>
          <mc:Fallback xmlns="">
            <p:sp>
              <p:nvSpPr>
                <p:cNvPr id="8" name="TextBox 7">
                  <a:extLst>
                    <a:ext uri="{FF2B5EF4-FFF2-40B4-BE49-F238E27FC236}">
                      <a16:creationId xmlns:a16="http://schemas.microsoft.com/office/drawing/2014/main" id="{FB65E548-A424-2C78-14BA-20D7619B265E}"/>
                    </a:ext>
                  </a:extLst>
                </p:cNvPr>
                <p:cNvSpPr txBox="1">
                  <a:spLocks noRot="1" noChangeAspect="1" noMove="1" noResize="1" noEditPoints="1" noAdjustHandles="1" noChangeArrowheads="1" noChangeShapeType="1" noTextEdit="1"/>
                </p:cNvSpPr>
                <p:nvPr/>
              </p:nvSpPr>
              <p:spPr>
                <a:xfrm>
                  <a:off x="7660784" y="3826446"/>
                  <a:ext cx="2039516" cy="785373"/>
                </a:xfrm>
                <a:prstGeom prst="wedgeRoundRectCallout">
                  <a:avLst>
                    <a:gd name="adj1" fmla="val -63420"/>
                    <a:gd name="adj2" fmla="val 88191"/>
                    <a:gd name="adj3" fmla="val 16667"/>
                  </a:avLst>
                </a:prstGeom>
                <a:blipFill>
                  <a:blip r:embed="rId3"/>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AD77948E-4997-DC58-8C7A-7D97E35A1D13}"/>
                    </a:ext>
                  </a:extLst>
                </p:cNvPr>
                <p:cNvSpPr txBox="1"/>
                <p:nvPr/>
              </p:nvSpPr>
              <p:spPr>
                <a:xfrm>
                  <a:off x="3139451" y="5399411"/>
                  <a:ext cx="858709" cy="474395"/>
                </a:xfrm>
                <a:prstGeom prst="rect">
                  <a:avLst/>
                </a:prstGeom>
                <a:noFill/>
              </p:spPr>
              <p:txBody>
                <a:bodyPr wrap="none" rtlCol="0">
                  <a:spAutoFit/>
                </a:bodyPr>
                <a:lstStyle/>
                <a:p>
                  <a:pPr algn="r"/>
                  <a14:m>
                    <m:oMathPara xmlns:m="http://schemas.openxmlformats.org/officeDocument/2006/math">
                      <m:oMathParaPr>
                        <m:jc m:val="centerGroup"/>
                      </m:oMathParaPr>
                      <m:oMath xmlns:m="http://schemas.openxmlformats.org/officeDocument/2006/math">
                        <m:acc>
                          <m:accPr>
                            <m:chr m:val="̃"/>
                            <m:ctrlPr>
                              <a:rPr lang="en-US" sz="2400" b="0" i="1" dirty="0" smtClean="0">
                                <a:solidFill>
                                  <a:schemeClr val="accent1"/>
                                </a:solidFill>
                                <a:latin typeface="Cambria Math" panose="02040503050406030204" pitchFamily="18" charset="0"/>
                              </a:rPr>
                            </m:ctrlPr>
                          </m:accPr>
                          <m:e>
                            <m:r>
                              <m:rPr>
                                <m:sty m:val="p"/>
                              </m:rPr>
                              <a:rPr lang="en-US" sz="2400" b="0" i="0" dirty="0" smtClean="0">
                                <a:solidFill>
                                  <a:schemeClr val="accent1"/>
                                </a:solidFill>
                                <a:latin typeface="Cambria Math" panose="02040503050406030204" pitchFamily="18" charset="0"/>
                              </a:rPr>
                              <m:t>Data</m:t>
                            </m:r>
                          </m:e>
                        </m:acc>
                      </m:oMath>
                    </m:oMathPara>
                  </a14:m>
                  <a:endParaRPr lang="en-US" sz="2400" b="0" dirty="0">
                    <a:solidFill>
                      <a:schemeClr val="accent1"/>
                    </a:solidFill>
                  </a:endParaRPr>
                </a:p>
              </p:txBody>
            </p:sp>
          </mc:Choice>
          <mc:Fallback xmlns="">
            <p:sp>
              <p:nvSpPr>
                <p:cNvPr id="10" name="TextBox 9">
                  <a:extLst>
                    <a:ext uri="{FF2B5EF4-FFF2-40B4-BE49-F238E27FC236}">
                      <a16:creationId xmlns:a16="http://schemas.microsoft.com/office/drawing/2014/main" id="{AD77948E-4997-DC58-8C7A-7D97E35A1D13}"/>
                    </a:ext>
                  </a:extLst>
                </p:cNvPr>
                <p:cNvSpPr txBox="1">
                  <a:spLocks noRot="1" noChangeAspect="1" noMove="1" noResize="1" noEditPoints="1" noAdjustHandles="1" noChangeArrowheads="1" noChangeShapeType="1" noTextEdit="1"/>
                </p:cNvSpPr>
                <p:nvPr/>
              </p:nvSpPr>
              <p:spPr>
                <a:xfrm>
                  <a:off x="3139451" y="5399411"/>
                  <a:ext cx="858709" cy="474395"/>
                </a:xfrm>
                <a:prstGeom prst="rect">
                  <a:avLst/>
                </a:prstGeom>
                <a:blipFill>
                  <a:blip r:embed="rId4"/>
                  <a:stretch>
                    <a:fillRect t="-5263"/>
                  </a:stretch>
                </a:blipFill>
              </p:spPr>
              <p:txBody>
                <a:bodyPr/>
                <a:lstStyle/>
                <a:p>
                  <a:r>
                    <a:rPr lang="en-US">
                      <a:noFill/>
                    </a:rPr>
                    <a:t> </a:t>
                  </a:r>
                </a:p>
              </p:txBody>
            </p:sp>
          </mc:Fallback>
        </mc:AlternateContent>
      </p:grpSp>
      <p:grpSp>
        <p:nvGrpSpPr>
          <p:cNvPr id="27" name="Group 26">
            <a:extLst>
              <a:ext uri="{FF2B5EF4-FFF2-40B4-BE49-F238E27FC236}">
                <a16:creationId xmlns:a16="http://schemas.microsoft.com/office/drawing/2014/main" id="{D776807A-35BF-1F5C-EF48-628AAC9D1730}"/>
              </a:ext>
            </a:extLst>
          </p:cNvPr>
          <p:cNvGrpSpPr/>
          <p:nvPr/>
        </p:nvGrpSpPr>
        <p:grpSpPr>
          <a:xfrm>
            <a:off x="8106381" y="1901565"/>
            <a:ext cx="3617960" cy="3721811"/>
            <a:chOff x="8106381" y="1901565"/>
            <a:chExt cx="3617960" cy="3721811"/>
          </a:xfrm>
        </p:grpSpPr>
        <p:pic>
          <p:nvPicPr>
            <p:cNvPr id="9" name="Picture 8">
              <a:extLst>
                <a:ext uri="{FF2B5EF4-FFF2-40B4-BE49-F238E27FC236}">
                  <a16:creationId xmlns:a16="http://schemas.microsoft.com/office/drawing/2014/main" id="{A7089D11-42AD-56AF-864C-E35D003790B7}"/>
                </a:ext>
              </a:extLst>
            </p:cNvPr>
            <p:cNvPicPr>
              <a:picLocks noChangeAspect="1"/>
            </p:cNvPicPr>
            <p:nvPr/>
          </p:nvPicPr>
          <p:blipFill>
            <a:blip r:embed="rId5"/>
            <a:stretch>
              <a:fillRect/>
            </a:stretch>
          </p:blipFill>
          <p:spPr>
            <a:xfrm>
              <a:off x="8324814" y="2994172"/>
              <a:ext cx="2965496" cy="2629204"/>
            </a:xfrm>
            <a:prstGeom prst="rect">
              <a:avLst/>
            </a:prstGeom>
          </p:spPr>
        </p:pic>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82F03354-F178-34D2-FB70-ED95152BD4D6}"/>
                    </a:ext>
                  </a:extLst>
                </p:cNvPr>
                <p:cNvSpPr txBox="1"/>
                <p:nvPr/>
              </p:nvSpPr>
              <p:spPr>
                <a:xfrm>
                  <a:off x="8106381" y="1901565"/>
                  <a:ext cx="3617960" cy="1092607"/>
                </a:xfrm>
                <a:prstGeom prst="rect">
                  <a:avLst/>
                </a:prstGeom>
                <a:noFill/>
              </p:spPr>
              <p:txBody>
                <a:bodyPr wrap="square" rtlCol="0">
                  <a:spAutoFit/>
                </a:bodyPr>
                <a:lstStyle/>
                <a:p>
                  <a:pPr algn="ctr"/>
                  <a:r>
                    <a:rPr lang="en-US" sz="3200" dirty="0">
                      <a:solidFill>
                        <a:srgbClr val="0070C0"/>
                      </a:solidFill>
                    </a:rPr>
                    <a:t>What should our </a:t>
                  </a:r>
                  <a14:m>
                    <m:oMath xmlns:m="http://schemas.openxmlformats.org/officeDocument/2006/math">
                      <m:acc>
                        <m:accPr>
                          <m:chr m:val="̃"/>
                          <m:ctrlPr>
                            <a:rPr lang="en-US" sz="3200" i="1" smtClean="0">
                              <a:solidFill>
                                <a:srgbClr val="0070C0"/>
                              </a:solidFill>
                              <a:latin typeface="Cambria Math" panose="02040503050406030204" pitchFamily="18" charset="0"/>
                            </a:rPr>
                          </m:ctrlPr>
                        </m:accPr>
                        <m:e>
                          <m:r>
                            <m:rPr>
                              <m:sty m:val="p"/>
                            </m:rPr>
                            <a:rPr lang="en-US" sz="3200" b="0" i="0" smtClean="0">
                              <a:solidFill>
                                <a:srgbClr val="0070C0"/>
                              </a:solidFill>
                              <a:latin typeface="Cambria Math" panose="02040503050406030204" pitchFamily="18" charset="0"/>
                            </a:rPr>
                            <m:t>Data</m:t>
                          </m:r>
                        </m:e>
                      </m:acc>
                    </m:oMath>
                  </a14:m>
                  <a:r>
                    <a:rPr lang="en-US" sz="3200" dirty="0">
                      <a:solidFill>
                        <a:srgbClr val="0070C0"/>
                      </a:solidFill>
                    </a:rPr>
                    <a:t> be?</a:t>
                  </a:r>
                </a:p>
              </p:txBody>
            </p:sp>
          </mc:Choice>
          <mc:Fallback xmlns="">
            <p:sp>
              <p:nvSpPr>
                <p:cNvPr id="11" name="TextBox 10">
                  <a:extLst>
                    <a:ext uri="{FF2B5EF4-FFF2-40B4-BE49-F238E27FC236}">
                      <a16:creationId xmlns:a16="http://schemas.microsoft.com/office/drawing/2014/main" id="{82F03354-F178-34D2-FB70-ED95152BD4D6}"/>
                    </a:ext>
                  </a:extLst>
                </p:cNvPr>
                <p:cNvSpPr txBox="1">
                  <a:spLocks noRot="1" noChangeAspect="1" noMove="1" noResize="1" noEditPoints="1" noAdjustHandles="1" noChangeArrowheads="1" noChangeShapeType="1" noTextEdit="1"/>
                </p:cNvSpPr>
                <p:nvPr/>
              </p:nvSpPr>
              <p:spPr>
                <a:xfrm>
                  <a:off x="8106381" y="1901565"/>
                  <a:ext cx="3617960" cy="1092607"/>
                </a:xfrm>
                <a:prstGeom prst="rect">
                  <a:avLst/>
                </a:prstGeom>
                <a:blipFill>
                  <a:blip r:embed="rId6"/>
                  <a:stretch>
                    <a:fillRect t="-6897" b="-18391"/>
                  </a:stretch>
                </a:blipFill>
              </p:spPr>
              <p:txBody>
                <a:bodyPr/>
                <a:lstStyle/>
                <a:p>
                  <a:r>
                    <a:rPr lang="en-US">
                      <a:noFill/>
                    </a:rPr>
                    <a:t> </a:t>
                  </a:r>
                </a:p>
              </p:txBody>
            </p:sp>
          </mc:Fallback>
        </mc:AlternateContent>
      </p:grpSp>
      <p:grpSp>
        <p:nvGrpSpPr>
          <p:cNvPr id="26" name="Group 25">
            <a:extLst>
              <a:ext uri="{FF2B5EF4-FFF2-40B4-BE49-F238E27FC236}">
                <a16:creationId xmlns:a16="http://schemas.microsoft.com/office/drawing/2014/main" id="{23074288-0EB6-CBC6-D7CE-D99606D4F498}"/>
              </a:ext>
            </a:extLst>
          </p:cNvPr>
          <p:cNvGrpSpPr/>
          <p:nvPr/>
        </p:nvGrpSpPr>
        <p:grpSpPr>
          <a:xfrm>
            <a:off x="262530" y="3900766"/>
            <a:ext cx="2750554" cy="2599773"/>
            <a:chOff x="262530" y="3900766"/>
            <a:chExt cx="2750554" cy="2599773"/>
          </a:xfrm>
        </p:grpSpPr>
        <p:sp>
          <p:nvSpPr>
            <p:cNvPr id="15" name="TextBox 14">
              <a:extLst>
                <a:ext uri="{FF2B5EF4-FFF2-40B4-BE49-F238E27FC236}">
                  <a16:creationId xmlns:a16="http://schemas.microsoft.com/office/drawing/2014/main" id="{9667A21E-5AFC-5CE9-2C8E-D7674C6E22A6}"/>
                </a:ext>
              </a:extLst>
            </p:cNvPr>
            <p:cNvSpPr txBox="1"/>
            <p:nvPr/>
          </p:nvSpPr>
          <p:spPr>
            <a:xfrm>
              <a:off x="262530" y="4746213"/>
              <a:ext cx="2750554" cy="1754326"/>
            </a:xfrm>
            <a:prstGeom prst="rect">
              <a:avLst/>
            </a:prstGeom>
            <a:noFill/>
          </p:spPr>
          <p:txBody>
            <a:bodyPr wrap="square" rtlCol="0">
              <a:spAutoFit/>
            </a:bodyPr>
            <a:lstStyle/>
            <a:p>
              <a:pPr algn="ctr"/>
              <a:r>
                <a:rPr lang="en-US" sz="2000" dirty="0">
                  <a:solidFill>
                    <a:schemeClr val="accent2"/>
                  </a:solidFill>
                </a:rPr>
                <a:t>Slightly fudged data where we think we know the answer.</a:t>
              </a:r>
            </a:p>
            <a:p>
              <a:pPr algn="ctr"/>
              <a:r>
                <a:rPr lang="en-US" sz="1600" dirty="0">
                  <a:solidFill>
                    <a:schemeClr val="accent2">
                      <a:lumMod val="75000"/>
                    </a:schemeClr>
                  </a:solidFill>
                </a:rPr>
                <a:t>(Can  fudge with Y, or with treated/non-treated assignment, or…)</a:t>
              </a:r>
            </a:p>
          </p:txBody>
        </p:sp>
        <p:cxnSp>
          <p:nvCxnSpPr>
            <p:cNvPr id="17" name="Straight Arrow Connector 16">
              <a:extLst>
                <a:ext uri="{FF2B5EF4-FFF2-40B4-BE49-F238E27FC236}">
                  <a16:creationId xmlns:a16="http://schemas.microsoft.com/office/drawing/2014/main" id="{4F9BA2BE-6334-26D7-5DC9-88CE1F706E05}"/>
                </a:ext>
              </a:extLst>
            </p:cNvPr>
            <p:cNvCxnSpPr>
              <a:cxnSpLocks/>
              <a:stCxn id="15" idx="0"/>
            </p:cNvCxnSpPr>
            <p:nvPr/>
          </p:nvCxnSpPr>
          <p:spPr>
            <a:xfrm flipH="1" flipV="1">
              <a:off x="1486171" y="3900766"/>
              <a:ext cx="151636" cy="845447"/>
            </a:xfrm>
            <a:prstGeom prst="straightConnector1">
              <a:avLst/>
            </a:prstGeom>
            <a:ln>
              <a:solidFill>
                <a:schemeClr val="accent2"/>
              </a:solidFill>
              <a:tailEnd type="triangle"/>
            </a:ln>
          </p:spPr>
          <p:style>
            <a:lnRef idx="2">
              <a:schemeClr val="accent1"/>
            </a:lnRef>
            <a:fillRef idx="0">
              <a:schemeClr val="accent1"/>
            </a:fillRef>
            <a:effectRef idx="1">
              <a:schemeClr val="accent1"/>
            </a:effectRef>
            <a:fontRef idx="minor">
              <a:schemeClr val="tx1"/>
            </a:fontRef>
          </p:style>
        </p:cxnSp>
      </p:grpSp>
      <p:grpSp>
        <p:nvGrpSpPr>
          <p:cNvPr id="21" name="Group 20">
            <a:extLst>
              <a:ext uri="{FF2B5EF4-FFF2-40B4-BE49-F238E27FC236}">
                <a16:creationId xmlns:a16="http://schemas.microsoft.com/office/drawing/2014/main" id="{6275ECF0-C6CF-2A8E-0D46-FEE9AD159C8D}"/>
              </a:ext>
            </a:extLst>
          </p:cNvPr>
          <p:cNvGrpSpPr/>
          <p:nvPr/>
        </p:nvGrpSpPr>
        <p:grpSpPr>
          <a:xfrm>
            <a:off x="3460084" y="4457991"/>
            <a:ext cx="2014003" cy="2139455"/>
            <a:chOff x="3365519" y="4081904"/>
            <a:chExt cx="2014003" cy="2139455"/>
          </a:xfrm>
        </p:grpSpPr>
        <p:sp>
          <p:nvSpPr>
            <p:cNvPr id="18" name="TextBox 17">
              <a:extLst>
                <a:ext uri="{FF2B5EF4-FFF2-40B4-BE49-F238E27FC236}">
                  <a16:creationId xmlns:a16="http://schemas.microsoft.com/office/drawing/2014/main" id="{EF757AA9-957C-740C-EA20-D6189BBF9A77}"/>
                </a:ext>
              </a:extLst>
            </p:cNvPr>
            <p:cNvSpPr txBox="1"/>
            <p:nvPr/>
          </p:nvSpPr>
          <p:spPr>
            <a:xfrm>
              <a:off x="3365519" y="4897920"/>
              <a:ext cx="2014003" cy="1323439"/>
            </a:xfrm>
            <a:prstGeom prst="rect">
              <a:avLst/>
            </a:prstGeom>
            <a:noFill/>
          </p:spPr>
          <p:txBody>
            <a:bodyPr wrap="square" rtlCol="0">
              <a:spAutoFit/>
            </a:bodyPr>
            <a:lstStyle/>
            <a:p>
              <a:pPr algn="ctr"/>
              <a:r>
                <a:rPr lang="en-US" sz="2000" dirty="0">
                  <a:solidFill>
                    <a:schemeClr val="accent2"/>
                  </a:solidFill>
                </a:rPr>
                <a:t>Whatever process we have to do synthetic controls</a:t>
              </a:r>
            </a:p>
          </p:txBody>
        </p:sp>
        <p:cxnSp>
          <p:nvCxnSpPr>
            <p:cNvPr id="19" name="Straight Arrow Connector 18">
              <a:extLst>
                <a:ext uri="{FF2B5EF4-FFF2-40B4-BE49-F238E27FC236}">
                  <a16:creationId xmlns:a16="http://schemas.microsoft.com/office/drawing/2014/main" id="{FA961D83-E0A5-28CD-3112-77EC15E53F29}"/>
                </a:ext>
              </a:extLst>
            </p:cNvPr>
            <p:cNvCxnSpPr>
              <a:cxnSpLocks/>
              <a:stCxn id="18" idx="0"/>
            </p:cNvCxnSpPr>
            <p:nvPr/>
          </p:nvCxnSpPr>
          <p:spPr>
            <a:xfrm flipH="1" flipV="1">
              <a:off x="4259520" y="4081904"/>
              <a:ext cx="113001" cy="816016"/>
            </a:xfrm>
            <a:prstGeom prst="straightConnector1">
              <a:avLst/>
            </a:prstGeom>
            <a:ln>
              <a:solidFill>
                <a:schemeClr val="accent2"/>
              </a:solidFill>
              <a:tailEnd type="triangle"/>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30059619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19AAE1-EDE7-71FD-E916-5FF0807429DF}"/>
              </a:ext>
            </a:extLst>
          </p:cNvPr>
          <p:cNvSpPr>
            <a:spLocks noGrp="1"/>
          </p:cNvSpPr>
          <p:nvPr>
            <p:ph type="title"/>
          </p:nvPr>
        </p:nvSpPr>
        <p:spPr/>
        <p:txBody>
          <a:bodyPr/>
          <a:lstStyle/>
          <a:p>
            <a:r>
              <a:rPr lang="en-US" dirty="0"/>
              <a:t>Do we believe it?</a:t>
            </a:r>
          </a:p>
        </p:txBody>
      </p:sp>
      <p:sp>
        <p:nvSpPr>
          <p:cNvPr id="3" name="Content Placeholder 2">
            <a:extLst>
              <a:ext uri="{FF2B5EF4-FFF2-40B4-BE49-F238E27FC236}">
                <a16:creationId xmlns:a16="http://schemas.microsoft.com/office/drawing/2014/main" id="{E1BEA894-C437-820D-B090-2C3EEB24F9B2}"/>
              </a:ext>
            </a:extLst>
          </p:cNvPr>
          <p:cNvSpPr>
            <a:spLocks noGrp="1"/>
          </p:cNvSpPr>
          <p:nvPr>
            <p:ph idx="1"/>
          </p:nvPr>
        </p:nvSpPr>
        <p:spPr/>
        <p:txBody>
          <a:bodyPr/>
          <a:lstStyle/>
          <a:p>
            <a:r>
              <a:rPr lang="en-US" dirty="0"/>
              <a:t>Placebo analysis!</a:t>
            </a:r>
          </a:p>
        </p:txBody>
      </p:sp>
      <p:pic>
        <p:nvPicPr>
          <p:cNvPr id="4" name="Picture 3">
            <a:extLst>
              <a:ext uri="{FF2B5EF4-FFF2-40B4-BE49-F238E27FC236}">
                <a16:creationId xmlns:a16="http://schemas.microsoft.com/office/drawing/2014/main" id="{D4EECA9D-E6B7-F2ED-D49C-DAAD3F20B275}"/>
              </a:ext>
            </a:extLst>
          </p:cNvPr>
          <p:cNvPicPr>
            <a:picLocks noChangeAspect="1"/>
          </p:cNvPicPr>
          <p:nvPr/>
        </p:nvPicPr>
        <p:blipFill>
          <a:blip r:embed="rId3"/>
          <a:stretch>
            <a:fillRect/>
          </a:stretch>
        </p:blipFill>
        <p:spPr>
          <a:xfrm>
            <a:off x="6096000" y="365124"/>
            <a:ext cx="5777485" cy="5785421"/>
          </a:xfrm>
          <a:prstGeom prst="rect">
            <a:avLst/>
          </a:prstGeom>
        </p:spPr>
      </p:pic>
      <p:grpSp>
        <p:nvGrpSpPr>
          <p:cNvPr id="12" name="Group 11">
            <a:extLst>
              <a:ext uri="{FF2B5EF4-FFF2-40B4-BE49-F238E27FC236}">
                <a16:creationId xmlns:a16="http://schemas.microsoft.com/office/drawing/2014/main" id="{743EC7BF-F7E0-83F5-056B-62D889CD8665}"/>
              </a:ext>
            </a:extLst>
          </p:cNvPr>
          <p:cNvGrpSpPr/>
          <p:nvPr/>
        </p:nvGrpSpPr>
        <p:grpSpPr>
          <a:xfrm>
            <a:off x="658977" y="2361281"/>
            <a:ext cx="5444940" cy="2306888"/>
            <a:chOff x="3075659" y="3544921"/>
            <a:chExt cx="6750273" cy="2859926"/>
          </a:xfrm>
        </p:grpSpPr>
        <p:grpSp>
          <p:nvGrpSpPr>
            <p:cNvPr id="5" name="Group 4">
              <a:extLst>
                <a:ext uri="{FF2B5EF4-FFF2-40B4-BE49-F238E27FC236}">
                  <a16:creationId xmlns:a16="http://schemas.microsoft.com/office/drawing/2014/main" id="{CB27576E-3794-886A-65BE-807B100E0ADD}"/>
                </a:ext>
              </a:extLst>
            </p:cNvPr>
            <p:cNvGrpSpPr/>
            <p:nvPr/>
          </p:nvGrpSpPr>
          <p:grpSpPr>
            <a:xfrm>
              <a:off x="3977890" y="4581124"/>
              <a:ext cx="4037758" cy="1823723"/>
              <a:chOff x="5891105" y="3700424"/>
              <a:chExt cx="4037758" cy="1823723"/>
            </a:xfrm>
          </p:grpSpPr>
          <p:sp>
            <p:nvSpPr>
              <p:cNvPr id="6" name="Cloud 5">
                <a:extLst>
                  <a:ext uri="{FF2B5EF4-FFF2-40B4-BE49-F238E27FC236}">
                    <a16:creationId xmlns:a16="http://schemas.microsoft.com/office/drawing/2014/main" id="{F27F3C52-1FD6-89B7-9312-B24847B6C4B5}"/>
                  </a:ext>
                </a:extLst>
              </p:cNvPr>
              <p:cNvSpPr/>
              <p:nvPr/>
            </p:nvSpPr>
            <p:spPr>
              <a:xfrm>
                <a:off x="6403940" y="3700424"/>
                <a:ext cx="3524923" cy="1823723"/>
              </a:xfrm>
              <a:prstGeom prst="cloud">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t>Complicated </a:t>
                </a:r>
              </a:p>
              <a:p>
                <a:pPr algn="ctr"/>
                <a:r>
                  <a:rPr lang="en-US" sz="2000" dirty="0"/>
                  <a:t>Statistics!</a:t>
                </a:r>
              </a:p>
            </p:txBody>
          </p:sp>
          <p:sp>
            <p:nvSpPr>
              <p:cNvPr id="7" name="Right Arrow 6">
                <a:extLst>
                  <a:ext uri="{FF2B5EF4-FFF2-40B4-BE49-F238E27FC236}">
                    <a16:creationId xmlns:a16="http://schemas.microsoft.com/office/drawing/2014/main" id="{D9EEEDCE-FCBA-24FE-5D39-B306F4659B77}"/>
                  </a:ext>
                </a:extLst>
              </p:cNvPr>
              <p:cNvSpPr/>
              <p:nvPr/>
            </p:nvSpPr>
            <p:spPr>
              <a:xfrm>
                <a:off x="5891105" y="4327590"/>
                <a:ext cx="873247" cy="890195"/>
              </a:xfrm>
              <a:prstGeom prst="rightArrow">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gr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FB65E548-A424-2C78-14BA-20D7619B265E}"/>
                    </a:ext>
                  </a:extLst>
                </p:cNvPr>
                <p:cNvSpPr txBox="1"/>
                <p:nvPr/>
              </p:nvSpPr>
              <p:spPr>
                <a:xfrm>
                  <a:off x="7786416" y="3544921"/>
                  <a:ext cx="2039516" cy="1266457"/>
                </a:xfrm>
                <a:prstGeom prst="wedgeRoundRectCallout">
                  <a:avLst>
                    <a:gd name="adj1" fmla="val -91117"/>
                    <a:gd name="adj2" fmla="val 69657"/>
                    <a:gd name="adj3" fmla="val 16667"/>
                  </a:avLst>
                </a:prstGeom>
                <a:solidFill>
                  <a:schemeClr val="accent1">
                    <a:lumMod val="20000"/>
                    <a:lumOff val="80000"/>
                  </a:schemeClr>
                </a:solidFill>
                <a:ln>
                  <a:solidFill>
                    <a:schemeClr val="tx1"/>
                  </a:solidFill>
                </a:ln>
              </p:spPr>
              <p:txBody>
                <a:bodyPr wrap="square" rtlCol="0">
                  <a:spAutoFit/>
                </a:bodyPr>
                <a:lstStyle/>
                <a:p>
                  <a:pPr algn="ctr"/>
                  <a:r>
                    <a:rPr lang="en-US" dirty="0">
                      <a:solidFill>
                        <a:schemeClr val="tx1"/>
                      </a:solidFill>
                    </a:rPr>
                    <a:t>The effect of </a:t>
                  </a:r>
                  <a:r>
                    <a:rPr lang="en-US" dirty="0"/>
                    <a:t>Prop 99 </a:t>
                  </a:r>
                  <a:r>
                    <a:rPr lang="en-US" dirty="0">
                      <a:solidFill>
                        <a:schemeClr val="tx1"/>
                      </a:solidFill>
                    </a:rPr>
                    <a:t>on </a:t>
                  </a:r>
                  <a:r>
                    <a:rPr lang="en-US" dirty="0"/>
                    <a:t>Nevada</a:t>
                  </a:r>
                  <a:r>
                    <a:rPr lang="en-US" dirty="0">
                      <a:solidFill>
                        <a:schemeClr val="tx1"/>
                      </a:solidFill>
                    </a:rPr>
                    <a:t> is </a:t>
                  </a:r>
                  <a14:m>
                    <m:oMath xmlns:m="http://schemas.openxmlformats.org/officeDocument/2006/math">
                      <m:r>
                        <a:rPr lang="en-US" b="0" i="1" smtClean="0">
                          <a:solidFill>
                            <a:schemeClr val="tx1"/>
                          </a:solidFill>
                          <a:latin typeface="Cambria Math" panose="02040503050406030204" pitchFamily="18" charset="0"/>
                        </a:rPr>
                        <m:t>𝜏</m:t>
                      </m:r>
                    </m:oMath>
                  </a14:m>
                  <a:r>
                    <a:rPr lang="en-US" dirty="0">
                      <a:solidFill>
                        <a:schemeClr val="tx1"/>
                      </a:solidFill>
                    </a:rPr>
                    <a:t>! </a:t>
                  </a:r>
                </a:p>
              </p:txBody>
            </p:sp>
          </mc:Choice>
          <mc:Fallback xmlns="">
            <p:sp>
              <p:nvSpPr>
                <p:cNvPr id="8" name="TextBox 7">
                  <a:extLst>
                    <a:ext uri="{FF2B5EF4-FFF2-40B4-BE49-F238E27FC236}">
                      <a16:creationId xmlns:a16="http://schemas.microsoft.com/office/drawing/2014/main" id="{FB65E548-A424-2C78-14BA-20D7619B265E}"/>
                    </a:ext>
                  </a:extLst>
                </p:cNvPr>
                <p:cNvSpPr txBox="1">
                  <a:spLocks noRot="1" noChangeAspect="1" noMove="1" noResize="1" noEditPoints="1" noAdjustHandles="1" noChangeArrowheads="1" noChangeShapeType="1" noTextEdit="1"/>
                </p:cNvSpPr>
                <p:nvPr/>
              </p:nvSpPr>
              <p:spPr>
                <a:xfrm>
                  <a:off x="7786416" y="3544921"/>
                  <a:ext cx="2039516" cy="1266457"/>
                </a:xfrm>
                <a:prstGeom prst="wedgeRoundRectCallout">
                  <a:avLst>
                    <a:gd name="adj1" fmla="val -91117"/>
                    <a:gd name="adj2" fmla="val 69657"/>
                    <a:gd name="adj3" fmla="val 16667"/>
                  </a:avLst>
                </a:prstGeom>
                <a:blipFill>
                  <a:blip r:embed="rId4"/>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AD77948E-4997-DC58-8C7A-7D97E35A1D13}"/>
                    </a:ext>
                  </a:extLst>
                </p:cNvPr>
                <p:cNvSpPr txBox="1"/>
                <p:nvPr/>
              </p:nvSpPr>
              <p:spPr>
                <a:xfrm>
                  <a:off x="3075659" y="5399411"/>
                  <a:ext cx="922501" cy="507953"/>
                </a:xfrm>
                <a:prstGeom prst="rect">
                  <a:avLst/>
                </a:prstGeom>
                <a:noFill/>
              </p:spPr>
              <p:txBody>
                <a:bodyPr wrap="none" rtlCol="0">
                  <a:spAutoFit/>
                </a:bodyPr>
                <a:lstStyle/>
                <a:p>
                  <a:pPr algn="r"/>
                  <a14:m>
                    <m:oMathPara xmlns:m="http://schemas.openxmlformats.org/officeDocument/2006/math">
                      <m:oMathParaPr>
                        <m:jc m:val="centerGroup"/>
                      </m:oMathParaPr>
                      <m:oMath xmlns:m="http://schemas.openxmlformats.org/officeDocument/2006/math">
                        <m:acc>
                          <m:accPr>
                            <m:chr m:val="̃"/>
                            <m:ctrlPr>
                              <a:rPr lang="en-US" sz="2000" b="0" i="1" dirty="0" smtClean="0">
                                <a:solidFill>
                                  <a:schemeClr val="accent1"/>
                                </a:solidFill>
                                <a:latin typeface="Cambria Math" panose="02040503050406030204" pitchFamily="18" charset="0"/>
                              </a:rPr>
                            </m:ctrlPr>
                          </m:accPr>
                          <m:e>
                            <m:r>
                              <m:rPr>
                                <m:sty m:val="p"/>
                              </m:rPr>
                              <a:rPr lang="en-US" sz="2000" b="0" i="0" dirty="0" smtClean="0">
                                <a:solidFill>
                                  <a:schemeClr val="accent1"/>
                                </a:solidFill>
                                <a:latin typeface="Cambria Math" panose="02040503050406030204" pitchFamily="18" charset="0"/>
                              </a:rPr>
                              <m:t>Data</m:t>
                            </m:r>
                          </m:e>
                        </m:acc>
                      </m:oMath>
                    </m:oMathPara>
                  </a14:m>
                  <a:endParaRPr lang="en-US" sz="2000" b="0" dirty="0">
                    <a:solidFill>
                      <a:schemeClr val="accent1"/>
                    </a:solidFill>
                  </a:endParaRPr>
                </a:p>
              </p:txBody>
            </p:sp>
          </mc:Choice>
          <mc:Fallback xmlns="">
            <p:sp>
              <p:nvSpPr>
                <p:cNvPr id="10" name="TextBox 9">
                  <a:extLst>
                    <a:ext uri="{FF2B5EF4-FFF2-40B4-BE49-F238E27FC236}">
                      <a16:creationId xmlns:a16="http://schemas.microsoft.com/office/drawing/2014/main" id="{AD77948E-4997-DC58-8C7A-7D97E35A1D13}"/>
                    </a:ext>
                  </a:extLst>
                </p:cNvPr>
                <p:cNvSpPr txBox="1">
                  <a:spLocks noRot="1" noChangeAspect="1" noMove="1" noResize="1" noEditPoints="1" noAdjustHandles="1" noChangeArrowheads="1" noChangeShapeType="1" noTextEdit="1"/>
                </p:cNvSpPr>
                <p:nvPr/>
              </p:nvSpPr>
              <p:spPr>
                <a:xfrm>
                  <a:off x="3075659" y="5399411"/>
                  <a:ext cx="922501" cy="507953"/>
                </a:xfrm>
                <a:prstGeom prst="rect">
                  <a:avLst/>
                </a:prstGeom>
                <a:blipFill>
                  <a:blip r:embed="rId5"/>
                  <a:stretch>
                    <a:fillRect t="-6061"/>
                  </a:stretch>
                </a:blipFill>
              </p:spPr>
              <p:txBody>
                <a:bodyPr/>
                <a:lstStyle/>
                <a:p>
                  <a:r>
                    <a:rPr lang="en-US">
                      <a:noFill/>
                    </a:rPr>
                    <a:t> </a:t>
                  </a:r>
                </a:p>
              </p:txBody>
            </p:sp>
          </mc:Fallback>
        </mc:AlternateContent>
      </p:grpSp>
      <p:sp>
        <p:nvSpPr>
          <p:cNvPr id="13" name="TextBox 12">
            <a:extLst>
              <a:ext uri="{FF2B5EF4-FFF2-40B4-BE49-F238E27FC236}">
                <a16:creationId xmlns:a16="http://schemas.microsoft.com/office/drawing/2014/main" id="{5DE1939A-16ED-E2CF-A71C-7629994DA129}"/>
              </a:ext>
            </a:extLst>
          </p:cNvPr>
          <p:cNvSpPr txBox="1"/>
          <p:nvPr/>
        </p:nvSpPr>
        <p:spPr>
          <a:xfrm>
            <a:off x="968689" y="4803106"/>
            <a:ext cx="4607626" cy="1200329"/>
          </a:xfrm>
          <a:prstGeom prst="rect">
            <a:avLst/>
          </a:prstGeom>
          <a:noFill/>
        </p:spPr>
        <p:txBody>
          <a:bodyPr wrap="square" rtlCol="0">
            <a:spAutoFit/>
          </a:bodyPr>
          <a:lstStyle/>
          <a:p>
            <a:r>
              <a:rPr lang="en-US" sz="2400" dirty="0">
                <a:solidFill>
                  <a:schemeClr val="accent2"/>
                </a:solidFill>
              </a:rPr>
              <a:t>Suppose that we treat, say, Nevada, as the “treated” state.  Do we get results as extreme?</a:t>
            </a:r>
          </a:p>
        </p:txBody>
      </p:sp>
      <p:sp>
        <p:nvSpPr>
          <p:cNvPr id="14" name="Rectangle 13">
            <a:extLst>
              <a:ext uri="{FF2B5EF4-FFF2-40B4-BE49-F238E27FC236}">
                <a16:creationId xmlns:a16="http://schemas.microsoft.com/office/drawing/2014/main" id="{A994D1B0-2B2A-A495-CE69-518C665C067E}"/>
              </a:ext>
            </a:extLst>
          </p:cNvPr>
          <p:cNvSpPr/>
          <p:nvPr/>
        </p:nvSpPr>
        <p:spPr>
          <a:xfrm>
            <a:off x="6289963" y="5084433"/>
            <a:ext cx="5777485" cy="109165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What we would get if we did the same analysis for the 19 other states that can be “</a:t>
            </a:r>
            <a:r>
              <a:rPr lang="en-US" sz="1600" dirty="0" err="1">
                <a:solidFill>
                  <a:schemeClr val="tx1"/>
                </a:solidFill>
              </a:rPr>
              <a:t>syntheticified</a:t>
            </a:r>
            <a:r>
              <a:rPr lang="en-US" sz="1600" dirty="0">
                <a:solidFill>
                  <a:schemeClr val="tx1"/>
                </a:solidFill>
              </a:rPr>
              <a:t>” about as well as CA can be.</a:t>
            </a:r>
          </a:p>
        </p:txBody>
      </p:sp>
    </p:spTree>
    <p:extLst>
      <p:ext uri="{BB962C8B-B14F-4D97-AF65-F5344CB8AC3E}">
        <p14:creationId xmlns:p14="http://schemas.microsoft.com/office/powerpoint/2010/main" val="15235574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19AAE1-EDE7-71FD-E916-5FF0807429DF}"/>
              </a:ext>
            </a:extLst>
          </p:cNvPr>
          <p:cNvSpPr>
            <a:spLocks noGrp="1"/>
          </p:cNvSpPr>
          <p:nvPr>
            <p:ph type="title"/>
          </p:nvPr>
        </p:nvSpPr>
        <p:spPr/>
        <p:txBody>
          <a:bodyPr/>
          <a:lstStyle/>
          <a:p>
            <a:r>
              <a:rPr lang="en-US" dirty="0"/>
              <a:t>Do we believe it?</a:t>
            </a:r>
          </a:p>
        </p:txBody>
      </p:sp>
      <p:sp>
        <p:nvSpPr>
          <p:cNvPr id="3" name="Content Placeholder 2">
            <a:extLst>
              <a:ext uri="{FF2B5EF4-FFF2-40B4-BE49-F238E27FC236}">
                <a16:creationId xmlns:a16="http://schemas.microsoft.com/office/drawing/2014/main" id="{E1BEA894-C437-820D-B090-2C3EEB24F9B2}"/>
              </a:ext>
            </a:extLst>
          </p:cNvPr>
          <p:cNvSpPr>
            <a:spLocks noGrp="1"/>
          </p:cNvSpPr>
          <p:nvPr>
            <p:ph idx="1"/>
          </p:nvPr>
        </p:nvSpPr>
        <p:spPr/>
        <p:txBody>
          <a:bodyPr/>
          <a:lstStyle/>
          <a:p>
            <a:r>
              <a:rPr lang="en-US" dirty="0"/>
              <a:t>Placebo analysis!</a:t>
            </a:r>
          </a:p>
        </p:txBody>
      </p:sp>
      <p:grpSp>
        <p:nvGrpSpPr>
          <p:cNvPr id="12" name="Group 11">
            <a:extLst>
              <a:ext uri="{FF2B5EF4-FFF2-40B4-BE49-F238E27FC236}">
                <a16:creationId xmlns:a16="http://schemas.microsoft.com/office/drawing/2014/main" id="{743EC7BF-F7E0-83F5-056B-62D889CD8665}"/>
              </a:ext>
            </a:extLst>
          </p:cNvPr>
          <p:cNvGrpSpPr/>
          <p:nvPr/>
        </p:nvGrpSpPr>
        <p:grpSpPr>
          <a:xfrm>
            <a:off x="658977" y="2361281"/>
            <a:ext cx="5444940" cy="2306888"/>
            <a:chOff x="3075659" y="3544921"/>
            <a:chExt cx="6750273" cy="2859926"/>
          </a:xfrm>
        </p:grpSpPr>
        <p:grpSp>
          <p:nvGrpSpPr>
            <p:cNvPr id="5" name="Group 4">
              <a:extLst>
                <a:ext uri="{FF2B5EF4-FFF2-40B4-BE49-F238E27FC236}">
                  <a16:creationId xmlns:a16="http://schemas.microsoft.com/office/drawing/2014/main" id="{CB27576E-3794-886A-65BE-807B100E0ADD}"/>
                </a:ext>
              </a:extLst>
            </p:cNvPr>
            <p:cNvGrpSpPr/>
            <p:nvPr/>
          </p:nvGrpSpPr>
          <p:grpSpPr>
            <a:xfrm>
              <a:off x="3977890" y="4581124"/>
              <a:ext cx="4037758" cy="1823723"/>
              <a:chOff x="5891105" y="3700424"/>
              <a:chExt cx="4037758" cy="1823723"/>
            </a:xfrm>
          </p:grpSpPr>
          <p:sp>
            <p:nvSpPr>
              <p:cNvPr id="6" name="Cloud 5">
                <a:extLst>
                  <a:ext uri="{FF2B5EF4-FFF2-40B4-BE49-F238E27FC236}">
                    <a16:creationId xmlns:a16="http://schemas.microsoft.com/office/drawing/2014/main" id="{F27F3C52-1FD6-89B7-9312-B24847B6C4B5}"/>
                  </a:ext>
                </a:extLst>
              </p:cNvPr>
              <p:cNvSpPr/>
              <p:nvPr/>
            </p:nvSpPr>
            <p:spPr>
              <a:xfrm>
                <a:off x="6403940" y="3700424"/>
                <a:ext cx="3524923" cy="1823723"/>
              </a:xfrm>
              <a:prstGeom prst="cloud">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t>Complicated </a:t>
                </a:r>
              </a:p>
              <a:p>
                <a:pPr algn="ctr"/>
                <a:r>
                  <a:rPr lang="en-US" sz="2000" dirty="0"/>
                  <a:t>Statistics!</a:t>
                </a:r>
              </a:p>
            </p:txBody>
          </p:sp>
          <p:sp>
            <p:nvSpPr>
              <p:cNvPr id="7" name="Right Arrow 6">
                <a:extLst>
                  <a:ext uri="{FF2B5EF4-FFF2-40B4-BE49-F238E27FC236}">
                    <a16:creationId xmlns:a16="http://schemas.microsoft.com/office/drawing/2014/main" id="{D9EEEDCE-FCBA-24FE-5D39-B306F4659B77}"/>
                  </a:ext>
                </a:extLst>
              </p:cNvPr>
              <p:cNvSpPr/>
              <p:nvPr/>
            </p:nvSpPr>
            <p:spPr>
              <a:xfrm>
                <a:off x="5891105" y="4327590"/>
                <a:ext cx="873247" cy="890195"/>
              </a:xfrm>
              <a:prstGeom prst="rightArrow">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gr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FB65E548-A424-2C78-14BA-20D7619B265E}"/>
                    </a:ext>
                  </a:extLst>
                </p:cNvPr>
                <p:cNvSpPr txBox="1"/>
                <p:nvPr/>
              </p:nvSpPr>
              <p:spPr>
                <a:xfrm>
                  <a:off x="7786416" y="3544921"/>
                  <a:ext cx="2039516" cy="1266457"/>
                </a:xfrm>
                <a:prstGeom prst="wedgeRoundRectCallout">
                  <a:avLst>
                    <a:gd name="adj1" fmla="val -91117"/>
                    <a:gd name="adj2" fmla="val 69657"/>
                    <a:gd name="adj3" fmla="val 16667"/>
                  </a:avLst>
                </a:prstGeom>
                <a:solidFill>
                  <a:schemeClr val="accent1">
                    <a:lumMod val="20000"/>
                    <a:lumOff val="80000"/>
                  </a:schemeClr>
                </a:solidFill>
                <a:ln>
                  <a:solidFill>
                    <a:schemeClr val="tx1"/>
                  </a:solidFill>
                </a:ln>
              </p:spPr>
              <p:txBody>
                <a:bodyPr wrap="square" rtlCol="0">
                  <a:spAutoFit/>
                </a:bodyPr>
                <a:lstStyle/>
                <a:p>
                  <a:pPr algn="ctr"/>
                  <a:r>
                    <a:rPr lang="en-US" dirty="0">
                      <a:solidFill>
                        <a:schemeClr val="tx1"/>
                      </a:solidFill>
                    </a:rPr>
                    <a:t>The effect of </a:t>
                  </a:r>
                  <a:r>
                    <a:rPr lang="en-US" dirty="0"/>
                    <a:t>Prop 99 </a:t>
                  </a:r>
                  <a:r>
                    <a:rPr lang="en-US" dirty="0">
                      <a:solidFill>
                        <a:schemeClr val="tx1"/>
                      </a:solidFill>
                    </a:rPr>
                    <a:t>on </a:t>
                  </a:r>
                  <a:r>
                    <a:rPr lang="en-US" dirty="0"/>
                    <a:t>Nevada</a:t>
                  </a:r>
                  <a:r>
                    <a:rPr lang="en-US" dirty="0">
                      <a:solidFill>
                        <a:schemeClr val="tx1"/>
                      </a:solidFill>
                    </a:rPr>
                    <a:t> is </a:t>
                  </a:r>
                  <a14:m>
                    <m:oMath xmlns:m="http://schemas.openxmlformats.org/officeDocument/2006/math">
                      <m:r>
                        <a:rPr lang="en-US" b="0" i="1" smtClean="0">
                          <a:solidFill>
                            <a:schemeClr val="tx1"/>
                          </a:solidFill>
                          <a:latin typeface="Cambria Math" panose="02040503050406030204" pitchFamily="18" charset="0"/>
                        </a:rPr>
                        <m:t>𝜏</m:t>
                      </m:r>
                    </m:oMath>
                  </a14:m>
                  <a:r>
                    <a:rPr lang="en-US" dirty="0">
                      <a:solidFill>
                        <a:schemeClr val="tx1"/>
                      </a:solidFill>
                    </a:rPr>
                    <a:t>! </a:t>
                  </a:r>
                </a:p>
              </p:txBody>
            </p:sp>
          </mc:Choice>
          <mc:Fallback xmlns="">
            <p:sp>
              <p:nvSpPr>
                <p:cNvPr id="8" name="TextBox 7">
                  <a:extLst>
                    <a:ext uri="{FF2B5EF4-FFF2-40B4-BE49-F238E27FC236}">
                      <a16:creationId xmlns:a16="http://schemas.microsoft.com/office/drawing/2014/main" id="{FB65E548-A424-2C78-14BA-20D7619B265E}"/>
                    </a:ext>
                  </a:extLst>
                </p:cNvPr>
                <p:cNvSpPr txBox="1">
                  <a:spLocks noRot="1" noChangeAspect="1" noMove="1" noResize="1" noEditPoints="1" noAdjustHandles="1" noChangeArrowheads="1" noChangeShapeType="1" noTextEdit="1"/>
                </p:cNvSpPr>
                <p:nvPr/>
              </p:nvSpPr>
              <p:spPr>
                <a:xfrm>
                  <a:off x="7786416" y="3544921"/>
                  <a:ext cx="2039516" cy="1266457"/>
                </a:xfrm>
                <a:prstGeom prst="wedgeRoundRectCallout">
                  <a:avLst>
                    <a:gd name="adj1" fmla="val -91117"/>
                    <a:gd name="adj2" fmla="val 69657"/>
                    <a:gd name="adj3" fmla="val 16667"/>
                  </a:avLst>
                </a:prstGeom>
                <a:blipFill>
                  <a:blip r:embed="rId3"/>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AD77948E-4997-DC58-8C7A-7D97E35A1D13}"/>
                    </a:ext>
                  </a:extLst>
                </p:cNvPr>
                <p:cNvSpPr txBox="1"/>
                <p:nvPr/>
              </p:nvSpPr>
              <p:spPr>
                <a:xfrm>
                  <a:off x="3075659" y="5399411"/>
                  <a:ext cx="922501" cy="507953"/>
                </a:xfrm>
                <a:prstGeom prst="rect">
                  <a:avLst/>
                </a:prstGeom>
                <a:noFill/>
              </p:spPr>
              <p:txBody>
                <a:bodyPr wrap="none" rtlCol="0">
                  <a:spAutoFit/>
                </a:bodyPr>
                <a:lstStyle/>
                <a:p>
                  <a:pPr algn="r"/>
                  <a14:m>
                    <m:oMathPara xmlns:m="http://schemas.openxmlformats.org/officeDocument/2006/math">
                      <m:oMathParaPr>
                        <m:jc m:val="centerGroup"/>
                      </m:oMathParaPr>
                      <m:oMath xmlns:m="http://schemas.openxmlformats.org/officeDocument/2006/math">
                        <m:acc>
                          <m:accPr>
                            <m:chr m:val="̃"/>
                            <m:ctrlPr>
                              <a:rPr lang="en-US" sz="2000" b="0" i="1" dirty="0" smtClean="0">
                                <a:solidFill>
                                  <a:schemeClr val="accent1"/>
                                </a:solidFill>
                                <a:latin typeface="Cambria Math" panose="02040503050406030204" pitchFamily="18" charset="0"/>
                              </a:rPr>
                            </m:ctrlPr>
                          </m:accPr>
                          <m:e>
                            <m:r>
                              <m:rPr>
                                <m:sty m:val="p"/>
                              </m:rPr>
                              <a:rPr lang="en-US" sz="2000" b="0" i="0" dirty="0" smtClean="0">
                                <a:solidFill>
                                  <a:schemeClr val="accent1"/>
                                </a:solidFill>
                                <a:latin typeface="Cambria Math" panose="02040503050406030204" pitchFamily="18" charset="0"/>
                              </a:rPr>
                              <m:t>Data</m:t>
                            </m:r>
                          </m:e>
                        </m:acc>
                      </m:oMath>
                    </m:oMathPara>
                  </a14:m>
                  <a:endParaRPr lang="en-US" sz="2000" b="0" dirty="0">
                    <a:solidFill>
                      <a:schemeClr val="accent1"/>
                    </a:solidFill>
                  </a:endParaRPr>
                </a:p>
              </p:txBody>
            </p:sp>
          </mc:Choice>
          <mc:Fallback xmlns="">
            <p:sp>
              <p:nvSpPr>
                <p:cNvPr id="10" name="TextBox 9">
                  <a:extLst>
                    <a:ext uri="{FF2B5EF4-FFF2-40B4-BE49-F238E27FC236}">
                      <a16:creationId xmlns:a16="http://schemas.microsoft.com/office/drawing/2014/main" id="{AD77948E-4997-DC58-8C7A-7D97E35A1D13}"/>
                    </a:ext>
                  </a:extLst>
                </p:cNvPr>
                <p:cNvSpPr txBox="1">
                  <a:spLocks noRot="1" noChangeAspect="1" noMove="1" noResize="1" noEditPoints="1" noAdjustHandles="1" noChangeArrowheads="1" noChangeShapeType="1" noTextEdit="1"/>
                </p:cNvSpPr>
                <p:nvPr/>
              </p:nvSpPr>
              <p:spPr>
                <a:xfrm>
                  <a:off x="3075659" y="5399411"/>
                  <a:ext cx="922501" cy="507953"/>
                </a:xfrm>
                <a:prstGeom prst="rect">
                  <a:avLst/>
                </a:prstGeom>
                <a:blipFill>
                  <a:blip r:embed="rId4"/>
                  <a:stretch>
                    <a:fillRect t="-6061"/>
                  </a:stretch>
                </a:blipFill>
              </p:spPr>
              <p:txBody>
                <a:bodyPr/>
                <a:lstStyle/>
                <a:p>
                  <a:r>
                    <a:rPr lang="en-US">
                      <a:noFill/>
                    </a:rPr>
                    <a:t> </a:t>
                  </a:r>
                </a:p>
              </p:txBody>
            </p:sp>
          </mc:Fallback>
        </mc:AlternateContent>
      </p:grpSp>
      <p:sp>
        <p:nvSpPr>
          <p:cNvPr id="13" name="TextBox 12">
            <a:extLst>
              <a:ext uri="{FF2B5EF4-FFF2-40B4-BE49-F238E27FC236}">
                <a16:creationId xmlns:a16="http://schemas.microsoft.com/office/drawing/2014/main" id="{5DE1939A-16ED-E2CF-A71C-7629994DA129}"/>
              </a:ext>
            </a:extLst>
          </p:cNvPr>
          <p:cNvSpPr txBox="1"/>
          <p:nvPr/>
        </p:nvSpPr>
        <p:spPr>
          <a:xfrm>
            <a:off x="968689" y="4803106"/>
            <a:ext cx="4607626" cy="1200329"/>
          </a:xfrm>
          <a:prstGeom prst="rect">
            <a:avLst/>
          </a:prstGeom>
          <a:noFill/>
        </p:spPr>
        <p:txBody>
          <a:bodyPr wrap="square" rtlCol="0">
            <a:spAutoFit/>
          </a:bodyPr>
          <a:lstStyle/>
          <a:p>
            <a:r>
              <a:rPr lang="en-US" sz="2400" dirty="0">
                <a:solidFill>
                  <a:schemeClr val="accent2"/>
                </a:solidFill>
              </a:rPr>
              <a:t>Suppose that we treat, say, Nevada, as the “treated” state.  Do we get results as extreme?</a:t>
            </a:r>
          </a:p>
        </p:txBody>
      </p:sp>
      <p:sp>
        <p:nvSpPr>
          <p:cNvPr id="14" name="Rectangle 13">
            <a:extLst>
              <a:ext uri="{FF2B5EF4-FFF2-40B4-BE49-F238E27FC236}">
                <a16:creationId xmlns:a16="http://schemas.microsoft.com/office/drawing/2014/main" id="{A994D1B0-2B2A-A495-CE69-518C665C067E}"/>
              </a:ext>
            </a:extLst>
          </p:cNvPr>
          <p:cNvSpPr/>
          <p:nvPr/>
        </p:nvSpPr>
        <p:spPr>
          <a:xfrm>
            <a:off x="6833936" y="5085306"/>
            <a:ext cx="4933348" cy="109165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What we would get if we did the same analysis for </a:t>
            </a:r>
            <a:r>
              <a:rPr lang="en-US" b="1" dirty="0">
                <a:solidFill>
                  <a:schemeClr val="tx1"/>
                </a:solidFill>
              </a:rPr>
              <a:t>all</a:t>
            </a:r>
            <a:r>
              <a:rPr lang="en-US" dirty="0">
                <a:solidFill>
                  <a:schemeClr val="tx1"/>
                </a:solidFill>
              </a:rPr>
              <a:t> the 38 other states.</a:t>
            </a:r>
          </a:p>
        </p:txBody>
      </p:sp>
      <p:pic>
        <p:nvPicPr>
          <p:cNvPr id="15" name="Picture 14">
            <a:extLst>
              <a:ext uri="{FF2B5EF4-FFF2-40B4-BE49-F238E27FC236}">
                <a16:creationId xmlns:a16="http://schemas.microsoft.com/office/drawing/2014/main" id="{96B36027-58C7-E57D-2728-38539A96C874}"/>
              </a:ext>
            </a:extLst>
          </p:cNvPr>
          <p:cNvPicPr>
            <a:picLocks noChangeAspect="1"/>
          </p:cNvPicPr>
          <p:nvPr/>
        </p:nvPicPr>
        <p:blipFill>
          <a:blip r:embed="rId5"/>
          <a:stretch>
            <a:fillRect/>
          </a:stretch>
        </p:blipFill>
        <p:spPr>
          <a:xfrm>
            <a:off x="6195184" y="525177"/>
            <a:ext cx="6258352" cy="4693764"/>
          </a:xfrm>
          <a:prstGeom prst="rect">
            <a:avLst/>
          </a:prstGeom>
        </p:spPr>
      </p:pic>
    </p:spTree>
    <p:extLst>
      <p:ext uri="{BB962C8B-B14F-4D97-AF65-F5344CB8AC3E}">
        <p14:creationId xmlns:p14="http://schemas.microsoft.com/office/powerpoint/2010/main" val="17810652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ED15E9-AC38-2785-95FE-A017518F3FC1}"/>
              </a:ext>
            </a:extLst>
          </p:cNvPr>
          <p:cNvSpPr>
            <a:spLocks noGrp="1"/>
          </p:cNvSpPr>
          <p:nvPr>
            <p:ph type="title"/>
          </p:nvPr>
        </p:nvSpPr>
        <p:spPr/>
        <p:txBody>
          <a:bodyPr/>
          <a:lstStyle/>
          <a:p>
            <a:r>
              <a:rPr lang="en-US" dirty="0"/>
              <a:t>Questions about this idea</a:t>
            </a:r>
          </a:p>
        </p:txBody>
      </p:sp>
      <p:sp>
        <p:nvSpPr>
          <p:cNvPr id="3" name="Content Placeholder 2">
            <a:extLst>
              <a:ext uri="{FF2B5EF4-FFF2-40B4-BE49-F238E27FC236}">
                <a16:creationId xmlns:a16="http://schemas.microsoft.com/office/drawing/2014/main" id="{99E25692-3303-9420-0593-3ABE7E124015}"/>
              </a:ext>
            </a:extLst>
          </p:cNvPr>
          <p:cNvSpPr>
            <a:spLocks noGrp="1"/>
          </p:cNvSpPr>
          <p:nvPr>
            <p:ph idx="1"/>
          </p:nvPr>
        </p:nvSpPr>
        <p:spPr>
          <a:xfrm>
            <a:off x="838200" y="1825625"/>
            <a:ext cx="10515600" cy="4836432"/>
          </a:xfrm>
        </p:spPr>
        <p:txBody>
          <a:bodyPr>
            <a:normAutofit/>
          </a:bodyPr>
          <a:lstStyle/>
          <a:p>
            <a:r>
              <a:rPr lang="en-US" dirty="0"/>
              <a:t>How do we implement it?</a:t>
            </a:r>
          </a:p>
          <a:p>
            <a:pPr lvl="1"/>
            <a:r>
              <a:rPr lang="en-US" dirty="0">
                <a:solidFill>
                  <a:schemeClr val="accent1"/>
                </a:solidFill>
              </a:rPr>
              <a:t>How can we find which countries to average?</a:t>
            </a:r>
          </a:p>
          <a:p>
            <a:pPr lvl="1"/>
            <a:r>
              <a:rPr lang="en-US" dirty="0">
                <a:solidFill>
                  <a:schemeClr val="accent1"/>
                </a:solidFill>
              </a:rPr>
              <a:t>With what weights?</a:t>
            </a:r>
          </a:p>
          <a:p>
            <a:endParaRPr lang="en-US" dirty="0"/>
          </a:p>
          <a:p>
            <a:r>
              <a:rPr lang="en-US" dirty="0"/>
              <a:t>Can we take into account covariates?</a:t>
            </a:r>
          </a:p>
          <a:p>
            <a:pPr lvl="1"/>
            <a:r>
              <a:rPr lang="en-US" dirty="0">
                <a:solidFill>
                  <a:schemeClr val="accent1"/>
                </a:solidFill>
              </a:rPr>
              <a:t>Does it matter that </a:t>
            </a:r>
            <a:r>
              <a:rPr lang="en-US" dirty="0" err="1">
                <a:solidFill>
                  <a:schemeClr val="accent1"/>
                </a:solidFill>
              </a:rPr>
              <a:t>Lothlorian</a:t>
            </a:r>
            <a:r>
              <a:rPr lang="en-US" dirty="0">
                <a:solidFill>
                  <a:schemeClr val="accent1"/>
                </a:solidFill>
              </a:rPr>
              <a:t> has a population of mostly elves, while the UK has a population of mostly humans?</a:t>
            </a:r>
          </a:p>
          <a:p>
            <a:endParaRPr lang="en-US" dirty="0"/>
          </a:p>
          <a:p>
            <a:r>
              <a:rPr lang="en-US" dirty="0"/>
              <a:t>How does this compare to other approaches we’ve seen?</a:t>
            </a:r>
          </a:p>
          <a:p>
            <a:pPr lvl="1"/>
            <a:r>
              <a:rPr lang="en-US" dirty="0">
                <a:solidFill>
                  <a:schemeClr val="accent1"/>
                </a:solidFill>
              </a:rPr>
              <a:t>Difference-in-differences; Matrix completion</a:t>
            </a:r>
          </a:p>
        </p:txBody>
      </p:sp>
      <p:sp>
        <p:nvSpPr>
          <p:cNvPr id="4" name="Left Arrow 3">
            <a:extLst>
              <a:ext uri="{FF2B5EF4-FFF2-40B4-BE49-F238E27FC236}">
                <a16:creationId xmlns:a16="http://schemas.microsoft.com/office/drawing/2014/main" id="{0403F8FF-7998-C238-6F59-8C46BAC10579}"/>
              </a:ext>
            </a:extLst>
          </p:cNvPr>
          <p:cNvSpPr/>
          <p:nvPr/>
        </p:nvSpPr>
        <p:spPr>
          <a:xfrm rot="20221347">
            <a:off x="5248732" y="1081088"/>
            <a:ext cx="1694534" cy="1219200"/>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909049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6F8548-41BA-2974-35BB-DBEAABBE47CC}"/>
              </a:ext>
            </a:extLst>
          </p:cNvPr>
          <p:cNvSpPr>
            <a:spLocks noGrp="1"/>
          </p:cNvSpPr>
          <p:nvPr>
            <p:ph type="title"/>
          </p:nvPr>
        </p:nvSpPr>
        <p:spPr/>
        <p:txBody>
          <a:bodyPr>
            <a:normAutofit/>
          </a:bodyPr>
          <a:lstStyle/>
          <a:p>
            <a:r>
              <a:rPr lang="en-US" sz="5400" dirty="0"/>
              <a:t>How do we find the best weights?</a:t>
            </a:r>
          </a:p>
        </p:txBody>
      </p:sp>
      <p:sp>
        <p:nvSpPr>
          <p:cNvPr id="3" name="Text Placeholder 2">
            <a:extLst>
              <a:ext uri="{FF2B5EF4-FFF2-40B4-BE49-F238E27FC236}">
                <a16:creationId xmlns:a16="http://schemas.microsoft.com/office/drawing/2014/main" id="{992F7DEC-30CB-DFD7-8467-35AF15B466A7}"/>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33058865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924AC9-FA2A-4691-A294-947F52337A9B}"/>
              </a:ext>
            </a:extLst>
          </p:cNvPr>
          <p:cNvSpPr>
            <a:spLocks noGrp="1"/>
          </p:cNvSpPr>
          <p:nvPr>
            <p:ph type="title"/>
          </p:nvPr>
        </p:nvSpPr>
        <p:spPr>
          <a:xfrm>
            <a:off x="879986" y="197854"/>
            <a:ext cx="10515600" cy="1325563"/>
          </a:xfrm>
        </p:spPr>
        <p:txBody>
          <a:bodyPr/>
          <a:lstStyle/>
          <a:p>
            <a:r>
              <a:rPr lang="en-US" dirty="0"/>
              <a:t>Suppose there are no covariates</a:t>
            </a:r>
          </a:p>
        </p:txBody>
      </p:sp>
      <p:sp>
        <p:nvSpPr>
          <p:cNvPr id="3" name="Content Placeholder 2">
            <a:extLst>
              <a:ext uri="{FF2B5EF4-FFF2-40B4-BE49-F238E27FC236}">
                <a16:creationId xmlns:a16="http://schemas.microsoft.com/office/drawing/2014/main" id="{AAD64206-134C-B6AD-7529-A417AA374618}"/>
              </a:ext>
            </a:extLst>
          </p:cNvPr>
          <p:cNvSpPr>
            <a:spLocks noGrp="1"/>
          </p:cNvSpPr>
          <p:nvPr>
            <p:ph idx="1"/>
          </p:nvPr>
        </p:nvSpPr>
        <p:spPr>
          <a:xfrm>
            <a:off x="796414" y="1509232"/>
            <a:ext cx="10515600" cy="4351338"/>
          </a:xfrm>
        </p:spPr>
        <p:txBody>
          <a:bodyPr/>
          <a:lstStyle/>
          <a:p>
            <a:r>
              <a:rPr lang="en-US" dirty="0"/>
              <a:t>All you have is cigarette sales</a:t>
            </a:r>
          </a:p>
        </p:txBody>
      </p:sp>
      <p:grpSp>
        <p:nvGrpSpPr>
          <p:cNvPr id="4" name="Group 3">
            <a:extLst>
              <a:ext uri="{FF2B5EF4-FFF2-40B4-BE49-F238E27FC236}">
                <a16:creationId xmlns:a16="http://schemas.microsoft.com/office/drawing/2014/main" id="{A197C34C-8867-8789-52C4-FC7993F2982B}"/>
              </a:ext>
            </a:extLst>
          </p:cNvPr>
          <p:cNvGrpSpPr/>
          <p:nvPr/>
        </p:nvGrpSpPr>
        <p:grpSpPr>
          <a:xfrm>
            <a:off x="846067" y="2140109"/>
            <a:ext cx="5796198" cy="3792249"/>
            <a:chOff x="728589" y="1944290"/>
            <a:chExt cx="5796198" cy="3792249"/>
          </a:xfrm>
        </p:grpSpPr>
        <p:sp>
          <p:nvSpPr>
            <p:cNvPr id="5" name="Rectangle 4">
              <a:extLst>
                <a:ext uri="{FF2B5EF4-FFF2-40B4-BE49-F238E27FC236}">
                  <a16:creationId xmlns:a16="http://schemas.microsoft.com/office/drawing/2014/main" id="{4A035A00-7322-6797-8010-5B94A9BFEA1A}"/>
                </a:ext>
              </a:extLst>
            </p:cNvPr>
            <p:cNvSpPr/>
            <p:nvPr/>
          </p:nvSpPr>
          <p:spPr>
            <a:xfrm>
              <a:off x="2275669" y="3043251"/>
              <a:ext cx="4249118" cy="2693288"/>
            </a:xfrm>
            <a:prstGeom prst="rect">
              <a:avLst/>
            </a:prstGeom>
            <a:solidFill>
              <a:schemeClr val="bg1">
                <a:lumMod val="9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78B49EF3-05C4-F31C-5462-8A01C09D3FCD}"/>
                </a:ext>
              </a:extLst>
            </p:cNvPr>
            <p:cNvSpPr txBox="1"/>
            <p:nvPr/>
          </p:nvSpPr>
          <p:spPr>
            <a:xfrm rot="16200000">
              <a:off x="445787" y="4177938"/>
              <a:ext cx="1027269" cy="461665"/>
            </a:xfrm>
            <a:prstGeom prst="rect">
              <a:avLst/>
            </a:prstGeom>
            <a:noFill/>
          </p:spPr>
          <p:txBody>
            <a:bodyPr wrap="none" rtlCol="0">
              <a:spAutoFit/>
            </a:bodyPr>
            <a:lstStyle/>
            <a:p>
              <a:r>
                <a:rPr lang="en-US" sz="2400" dirty="0">
                  <a:solidFill>
                    <a:schemeClr val="accent1"/>
                  </a:solidFill>
                </a:rPr>
                <a:t>States</a:t>
              </a:r>
            </a:p>
          </p:txBody>
        </p:sp>
        <p:sp>
          <p:nvSpPr>
            <p:cNvPr id="7" name="TextBox 6">
              <a:extLst>
                <a:ext uri="{FF2B5EF4-FFF2-40B4-BE49-F238E27FC236}">
                  <a16:creationId xmlns:a16="http://schemas.microsoft.com/office/drawing/2014/main" id="{818BC190-82A4-E18A-BD5F-1F84156BBEFE}"/>
                </a:ext>
              </a:extLst>
            </p:cNvPr>
            <p:cNvSpPr txBox="1"/>
            <p:nvPr/>
          </p:nvSpPr>
          <p:spPr>
            <a:xfrm>
              <a:off x="1856429" y="3011000"/>
              <a:ext cx="349776" cy="1701043"/>
            </a:xfrm>
            <a:prstGeom prst="rect">
              <a:avLst/>
            </a:prstGeom>
            <a:noFill/>
          </p:spPr>
          <p:txBody>
            <a:bodyPr wrap="none" rtlCol="0">
              <a:spAutoFit/>
            </a:bodyPr>
            <a:lstStyle/>
            <a:p>
              <a:pPr>
                <a:lnSpc>
                  <a:spcPct val="150000"/>
                </a:lnSpc>
              </a:pPr>
              <a:r>
                <a:rPr lang="en-US" sz="2400" b="1" dirty="0"/>
                <a:t>1</a:t>
              </a:r>
            </a:p>
            <a:p>
              <a:pPr>
                <a:lnSpc>
                  <a:spcPct val="150000"/>
                </a:lnSpc>
              </a:pPr>
              <a:r>
                <a:rPr lang="en-US" sz="2400" b="1" dirty="0"/>
                <a:t>2</a:t>
              </a:r>
            </a:p>
            <a:p>
              <a:pPr>
                <a:lnSpc>
                  <a:spcPct val="150000"/>
                </a:lnSpc>
              </a:pPr>
              <a:r>
                <a:rPr lang="en-US" sz="2400" b="1" dirty="0"/>
                <a:t>3</a:t>
              </a:r>
            </a:p>
          </p:txBody>
        </p:sp>
        <p:sp>
          <p:nvSpPr>
            <p:cNvPr id="8" name="TextBox 7">
              <a:extLst>
                <a:ext uri="{FF2B5EF4-FFF2-40B4-BE49-F238E27FC236}">
                  <a16:creationId xmlns:a16="http://schemas.microsoft.com/office/drawing/2014/main" id="{6F100453-7861-58A2-4AD9-A5C021353633}"/>
                </a:ext>
              </a:extLst>
            </p:cNvPr>
            <p:cNvSpPr txBox="1"/>
            <p:nvPr/>
          </p:nvSpPr>
          <p:spPr>
            <a:xfrm>
              <a:off x="1843605" y="5274874"/>
              <a:ext cx="362600" cy="461665"/>
            </a:xfrm>
            <a:prstGeom prst="rect">
              <a:avLst/>
            </a:prstGeom>
            <a:noFill/>
          </p:spPr>
          <p:txBody>
            <a:bodyPr wrap="none" rtlCol="0">
              <a:spAutoFit/>
            </a:bodyPr>
            <a:lstStyle/>
            <a:p>
              <a:r>
                <a:rPr lang="en-US" sz="2400" b="1" dirty="0"/>
                <a:t>n</a:t>
              </a: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29A1D84D-97B7-885F-B105-74BA957D0FF3}"/>
                    </a:ext>
                  </a:extLst>
                </p:cNvPr>
                <p:cNvSpPr txBox="1"/>
                <p:nvPr/>
              </p:nvSpPr>
              <p:spPr>
                <a:xfrm>
                  <a:off x="1856429" y="4808792"/>
                  <a:ext cx="30328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oMath>
                    </m:oMathPara>
                  </a14:m>
                  <a:endParaRPr lang="en-US" dirty="0"/>
                </a:p>
              </p:txBody>
            </p:sp>
          </mc:Choice>
          <mc:Fallback xmlns="">
            <p:sp>
              <p:nvSpPr>
                <p:cNvPr id="8" name="TextBox 7">
                  <a:extLst>
                    <a:ext uri="{FF2B5EF4-FFF2-40B4-BE49-F238E27FC236}">
                      <a16:creationId xmlns:a16="http://schemas.microsoft.com/office/drawing/2014/main" id="{AD4B4CA7-2506-8D36-A7D4-A17D86914AF3}"/>
                    </a:ext>
                  </a:extLst>
                </p:cNvPr>
                <p:cNvSpPr txBox="1">
                  <a:spLocks noRot="1" noChangeAspect="1" noMove="1" noResize="1" noEditPoints="1" noAdjustHandles="1" noChangeArrowheads="1" noChangeShapeType="1" noTextEdit="1"/>
                </p:cNvSpPr>
                <p:nvPr/>
              </p:nvSpPr>
              <p:spPr>
                <a:xfrm>
                  <a:off x="1856429" y="4808792"/>
                  <a:ext cx="303288" cy="369332"/>
                </a:xfrm>
                <a:prstGeom prst="rect">
                  <a:avLst/>
                </a:prstGeom>
                <a:blipFill>
                  <a:blip r:embed="rId3"/>
                  <a:stretch>
                    <a:fillRect/>
                  </a:stretch>
                </a:blipFill>
              </p:spPr>
              <p:txBody>
                <a:bodyPr/>
                <a:lstStyle/>
                <a:p>
                  <a:r>
                    <a:rPr lang="en-US">
                      <a:noFill/>
                    </a:rPr>
                    <a:t> </a:t>
                  </a:r>
                </a:p>
              </p:txBody>
            </p:sp>
          </mc:Fallback>
        </mc:AlternateContent>
        <p:sp>
          <p:nvSpPr>
            <p:cNvPr id="10" name="TextBox 9">
              <a:extLst>
                <a:ext uri="{FF2B5EF4-FFF2-40B4-BE49-F238E27FC236}">
                  <a16:creationId xmlns:a16="http://schemas.microsoft.com/office/drawing/2014/main" id="{C5E8DF0C-1E2A-A46D-9A11-748691FCE842}"/>
                </a:ext>
              </a:extLst>
            </p:cNvPr>
            <p:cNvSpPr txBox="1"/>
            <p:nvPr/>
          </p:nvSpPr>
          <p:spPr>
            <a:xfrm>
              <a:off x="4144695" y="1944290"/>
              <a:ext cx="903965" cy="461665"/>
            </a:xfrm>
            <a:prstGeom prst="rect">
              <a:avLst/>
            </a:prstGeom>
            <a:noFill/>
          </p:spPr>
          <p:txBody>
            <a:bodyPr wrap="none" rtlCol="0">
              <a:spAutoFit/>
            </a:bodyPr>
            <a:lstStyle/>
            <a:p>
              <a:r>
                <a:rPr lang="en-US" sz="2400" dirty="0">
                  <a:solidFill>
                    <a:schemeClr val="accent1"/>
                  </a:solidFill>
                </a:rPr>
                <a:t>Years</a:t>
              </a:r>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36DAF456-B5AD-0C94-6C04-8AB24CEE7770}"/>
                    </a:ext>
                  </a:extLst>
                </p:cNvPr>
                <p:cNvSpPr txBox="1"/>
                <p:nvPr/>
              </p:nvSpPr>
              <p:spPr>
                <a:xfrm>
                  <a:off x="2332572" y="2514117"/>
                  <a:ext cx="721672"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1" i="1" smtClean="0">
                            <a:latin typeface="Cambria Math" panose="02040503050406030204" pitchFamily="18" charset="0"/>
                          </a:rPr>
                          <m:t>𝟏</m:t>
                        </m:r>
                      </m:oMath>
                    </m:oMathPara>
                  </a14:m>
                  <a:endParaRPr lang="en-US" sz="2400" b="1" dirty="0"/>
                </a:p>
              </p:txBody>
            </p:sp>
          </mc:Choice>
          <mc:Fallback xmlns="">
            <p:sp>
              <p:nvSpPr>
                <p:cNvPr id="11" name="TextBox 10">
                  <a:extLst>
                    <a:ext uri="{FF2B5EF4-FFF2-40B4-BE49-F238E27FC236}">
                      <a16:creationId xmlns:a16="http://schemas.microsoft.com/office/drawing/2014/main" id="{36DAF456-B5AD-0C94-6C04-8AB24CEE7770}"/>
                    </a:ext>
                  </a:extLst>
                </p:cNvPr>
                <p:cNvSpPr txBox="1">
                  <a:spLocks noRot="1" noChangeAspect="1" noMove="1" noResize="1" noEditPoints="1" noAdjustHandles="1" noChangeArrowheads="1" noChangeShapeType="1" noTextEdit="1"/>
                </p:cNvSpPr>
                <p:nvPr/>
              </p:nvSpPr>
              <p:spPr>
                <a:xfrm>
                  <a:off x="2332572" y="2514117"/>
                  <a:ext cx="721672" cy="461665"/>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8B17BD04-7BCD-472F-009C-3403BF3AEDFC}"/>
                    </a:ext>
                  </a:extLst>
                </p:cNvPr>
                <p:cNvSpPr txBox="1"/>
                <p:nvPr/>
              </p:nvSpPr>
              <p:spPr>
                <a:xfrm>
                  <a:off x="3071461" y="2508867"/>
                  <a:ext cx="721672"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1" i="1" smtClean="0">
                            <a:latin typeface="Cambria Math" panose="02040503050406030204" pitchFamily="18" charset="0"/>
                          </a:rPr>
                          <m:t>𝟐</m:t>
                        </m:r>
                      </m:oMath>
                    </m:oMathPara>
                  </a14:m>
                  <a:endParaRPr lang="en-US" sz="2400" b="1" dirty="0"/>
                </a:p>
              </p:txBody>
            </p:sp>
          </mc:Choice>
          <mc:Fallback xmlns="">
            <p:sp>
              <p:nvSpPr>
                <p:cNvPr id="11" name="TextBox 10">
                  <a:extLst>
                    <a:ext uri="{FF2B5EF4-FFF2-40B4-BE49-F238E27FC236}">
                      <a16:creationId xmlns:a16="http://schemas.microsoft.com/office/drawing/2014/main" id="{2E01818D-6793-543E-7A78-071D0E11D510}"/>
                    </a:ext>
                  </a:extLst>
                </p:cNvPr>
                <p:cNvSpPr txBox="1">
                  <a:spLocks noRot="1" noChangeAspect="1" noMove="1" noResize="1" noEditPoints="1" noAdjustHandles="1" noChangeArrowheads="1" noChangeShapeType="1" noTextEdit="1"/>
                </p:cNvSpPr>
                <p:nvPr/>
              </p:nvSpPr>
              <p:spPr>
                <a:xfrm>
                  <a:off x="3071461" y="2508867"/>
                  <a:ext cx="721672" cy="461665"/>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02C92B79-1ED7-B1CF-1498-FFC15206247B}"/>
                    </a:ext>
                  </a:extLst>
                </p:cNvPr>
                <p:cNvSpPr txBox="1"/>
                <p:nvPr/>
              </p:nvSpPr>
              <p:spPr>
                <a:xfrm>
                  <a:off x="5575900" y="2494059"/>
                  <a:ext cx="721672"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1" i="1" smtClean="0">
                            <a:latin typeface="Cambria Math" panose="02040503050406030204" pitchFamily="18" charset="0"/>
                          </a:rPr>
                          <m:t>𝑻</m:t>
                        </m:r>
                      </m:oMath>
                    </m:oMathPara>
                  </a14:m>
                  <a:endParaRPr lang="en-US" sz="2400" b="1" dirty="0"/>
                </a:p>
              </p:txBody>
            </p:sp>
          </mc:Choice>
          <mc:Fallback xmlns="">
            <p:sp>
              <p:nvSpPr>
                <p:cNvPr id="13" name="TextBox 12">
                  <a:extLst>
                    <a:ext uri="{FF2B5EF4-FFF2-40B4-BE49-F238E27FC236}">
                      <a16:creationId xmlns:a16="http://schemas.microsoft.com/office/drawing/2014/main" id="{02C92B79-1ED7-B1CF-1498-FFC15206247B}"/>
                    </a:ext>
                  </a:extLst>
                </p:cNvPr>
                <p:cNvSpPr txBox="1">
                  <a:spLocks noRot="1" noChangeAspect="1" noMove="1" noResize="1" noEditPoints="1" noAdjustHandles="1" noChangeArrowheads="1" noChangeShapeType="1" noTextEdit="1"/>
                </p:cNvSpPr>
                <p:nvPr/>
              </p:nvSpPr>
              <p:spPr>
                <a:xfrm>
                  <a:off x="5575900" y="2494059"/>
                  <a:ext cx="721672" cy="461665"/>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0A415911-DE57-9FFC-74A9-6C0856781418}"/>
                    </a:ext>
                  </a:extLst>
                </p:cNvPr>
                <p:cNvSpPr txBox="1"/>
                <p:nvPr/>
              </p:nvSpPr>
              <p:spPr>
                <a:xfrm>
                  <a:off x="2368565" y="3233674"/>
                  <a:ext cx="656856" cy="32117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𝑌</m:t>
                            </m:r>
                          </m:e>
                          <m:sub>
                            <m:r>
                              <a:rPr lang="en-US" sz="2000" b="0" i="1" smtClean="0">
                                <a:latin typeface="Cambria Math" panose="02040503050406030204" pitchFamily="18" charset="0"/>
                              </a:rPr>
                              <m:t>1,1</m:t>
                            </m:r>
                          </m:sub>
                        </m:sSub>
                      </m:oMath>
                    </m:oMathPara>
                  </a14:m>
                  <a:endParaRPr lang="en-US" sz="2000" dirty="0"/>
                </a:p>
              </p:txBody>
            </p:sp>
          </mc:Choice>
          <mc:Fallback xmlns="">
            <p:sp>
              <p:nvSpPr>
                <p:cNvPr id="13" name="TextBox 12">
                  <a:extLst>
                    <a:ext uri="{FF2B5EF4-FFF2-40B4-BE49-F238E27FC236}">
                      <a16:creationId xmlns:a16="http://schemas.microsoft.com/office/drawing/2014/main" id="{10DEDCDF-74FC-279D-F838-F7E3EFBDE257}"/>
                    </a:ext>
                  </a:extLst>
                </p:cNvPr>
                <p:cNvSpPr txBox="1">
                  <a:spLocks noRot="1" noChangeAspect="1" noMove="1" noResize="1" noEditPoints="1" noAdjustHandles="1" noChangeArrowheads="1" noChangeShapeType="1" noTextEdit="1"/>
                </p:cNvSpPr>
                <p:nvPr/>
              </p:nvSpPr>
              <p:spPr>
                <a:xfrm>
                  <a:off x="2368565" y="3233674"/>
                  <a:ext cx="656856" cy="321178"/>
                </a:xfrm>
                <a:prstGeom prst="rect">
                  <a:avLst/>
                </a:prstGeom>
                <a:blipFill>
                  <a:blip r:embed="rId7"/>
                  <a:stretch>
                    <a:fillRect b="-11538"/>
                  </a:stretch>
                </a:blipFill>
              </p:spPr>
              <p:txBody>
                <a:bodyPr/>
                <a:lstStyle/>
                <a:p>
                  <a:r>
                    <a:rPr lang="en-US">
                      <a:noFill/>
                    </a:rPr>
                    <a:t> </a:t>
                  </a:r>
                </a:p>
              </p:txBody>
            </p:sp>
          </mc:Fallback>
        </mc:AlternateContent>
        <p:sp>
          <p:nvSpPr>
            <p:cNvPr id="15" name="TextBox 14">
              <a:extLst>
                <a:ext uri="{FF2B5EF4-FFF2-40B4-BE49-F238E27FC236}">
                  <a16:creationId xmlns:a16="http://schemas.microsoft.com/office/drawing/2014/main" id="{8DA8390A-9636-0F78-6C27-E30B323A66A4}"/>
                </a:ext>
              </a:extLst>
            </p:cNvPr>
            <p:cNvSpPr txBox="1"/>
            <p:nvPr/>
          </p:nvSpPr>
          <p:spPr>
            <a:xfrm>
              <a:off x="6096000" y="3338190"/>
              <a:ext cx="258305" cy="369332"/>
            </a:xfrm>
            <a:prstGeom prst="rect">
              <a:avLst/>
            </a:prstGeom>
            <a:noFill/>
          </p:spPr>
          <p:txBody>
            <a:bodyPr wrap="square" rtlCol="0">
              <a:spAutoFit/>
            </a:bodyPr>
            <a:lstStyle/>
            <a:p>
              <a:endParaRPr lang="en-US" dirty="0"/>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C5AEE881-497A-0798-EFBE-C947B8AF1DE6}"/>
                    </a:ext>
                  </a:extLst>
                </p:cNvPr>
                <p:cNvSpPr txBox="1"/>
                <p:nvPr/>
              </p:nvSpPr>
              <p:spPr>
                <a:xfrm>
                  <a:off x="3121570" y="3233674"/>
                  <a:ext cx="656856" cy="32117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𝑌</m:t>
                            </m:r>
                          </m:e>
                          <m:sub>
                            <m:r>
                              <a:rPr lang="en-US" sz="2000" b="0" i="1" smtClean="0">
                                <a:latin typeface="Cambria Math" panose="02040503050406030204" pitchFamily="18" charset="0"/>
                              </a:rPr>
                              <m:t>1,2</m:t>
                            </m:r>
                          </m:sub>
                        </m:sSub>
                      </m:oMath>
                    </m:oMathPara>
                  </a14:m>
                  <a:endParaRPr lang="en-US" sz="2000" dirty="0"/>
                </a:p>
              </p:txBody>
            </p:sp>
          </mc:Choice>
          <mc:Fallback xmlns="">
            <p:sp>
              <p:nvSpPr>
                <p:cNvPr id="15" name="TextBox 14">
                  <a:extLst>
                    <a:ext uri="{FF2B5EF4-FFF2-40B4-BE49-F238E27FC236}">
                      <a16:creationId xmlns:a16="http://schemas.microsoft.com/office/drawing/2014/main" id="{4EB745A5-71B9-7B34-1295-CAFDA7203080}"/>
                    </a:ext>
                  </a:extLst>
                </p:cNvPr>
                <p:cNvSpPr txBox="1">
                  <a:spLocks noRot="1" noChangeAspect="1" noMove="1" noResize="1" noEditPoints="1" noAdjustHandles="1" noChangeArrowheads="1" noChangeShapeType="1" noTextEdit="1"/>
                </p:cNvSpPr>
                <p:nvPr/>
              </p:nvSpPr>
              <p:spPr>
                <a:xfrm>
                  <a:off x="3121570" y="3233674"/>
                  <a:ext cx="656856" cy="321178"/>
                </a:xfrm>
                <a:prstGeom prst="rect">
                  <a:avLst/>
                </a:prstGeom>
                <a:blipFill>
                  <a:blip r:embed="rId8"/>
                  <a:stretch>
                    <a:fillRect b="-115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6A6AFCDA-CF55-6716-1805-6F39DAAF4ABE}"/>
                    </a:ext>
                  </a:extLst>
                </p:cNvPr>
                <p:cNvSpPr txBox="1"/>
                <p:nvPr/>
              </p:nvSpPr>
              <p:spPr>
                <a:xfrm>
                  <a:off x="5608308" y="3233674"/>
                  <a:ext cx="656856" cy="32117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𝑌</m:t>
                            </m:r>
                          </m:e>
                          <m:sub>
                            <m:r>
                              <a:rPr lang="en-US" sz="2000" b="0" i="1" smtClean="0">
                                <a:latin typeface="Cambria Math" panose="02040503050406030204" pitchFamily="18" charset="0"/>
                              </a:rPr>
                              <m:t>1,</m:t>
                            </m:r>
                            <m:r>
                              <a:rPr lang="en-US" sz="2000" b="0" i="1" smtClean="0">
                                <a:latin typeface="Cambria Math" panose="02040503050406030204" pitchFamily="18" charset="0"/>
                              </a:rPr>
                              <m:t>𝑇</m:t>
                            </m:r>
                          </m:sub>
                        </m:sSub>
                      </m:oMath>
                    </m:oMathPara>
                  </a14:m>
                  <a:endParaRPr lang="en-US" sz="2000" dirty="0"/>
                </a:p>
              </p:txBody>
            </p:sp>
          </mc:Choice>
          <mc:Fallback xmlns="">
            <p:sp>
              <p:nvSpPr>
                <p:cNvPr id="16" name="TextBox 15">
                  <a:extLst>
                    <a:ext uri="{FF2B5EF4-FFF2-40B4-BE49-F238E27FC236}">
                      <a16:creationId xmlns:a16="http://schemas.microsoft.com/office/drawing/2014/main" id="{3891E03A-DBAE-0412-9A3E-DAACD3D09C3B}"/>
                    </a:ext>
                  </a:extLst>
                </p:cNvPr>
                <p:cNvSpPr txBox="1">
                  <a:spLocks noRot="1" noChangeAspect="1" noMove="1" noResize="1" noEditPoints="1" noAdjustHandles="1" noChangeArrowheads="1" noChangeShapeType="1" noTextEdit="1"/>
                </p:cNvSpPr>
                <p:nvPr/>
              </p:nvSpPr>
              <p:spPr>
                <a:xfrm>
                  <a:off x="5608308" y="3233674"/>
                  <a:ext cx="656856" cy="321178"/>
                </a:xfrm>
                <a:prstGeom prst="rect">
                  <a:avLst/>
                </a:prstGeom>
                <a:blipFill>
                  <a:blip r:embed="rId9"/>
                  <a:stretch>
                    <a:fillRect b="-115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003B55B6-5259-BA80-82CD-2784A4C11D8A}"/>
                    </a:ext>
                  </a:extLst>
                </p:cNvPr>
                <p:cNvSpPr txBox="1"/>
                <p:nvPr/>
              </p:nvSpPr>
              <p:spPr>
                <a:xfrm>
                  <a:off x="2400973" y="3710679"/>
                  <a:ext cx="656856" cy="32117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𝑌</m:t>
                            </m:r>
                          </m:e>
                          <m:sub>
                            <m:r>
                              <a:rPr lang="en-US" sz="2000" b="0" i="1" smtClean="0">
                                <a:latin typeface="Cambria Math" panose="02040503050406030204" pitchFamily="18" charset="0"/>
                              </a:rPr>
                              <m:t>2,1</m:t>
                            </m:r>
                          </m:sub>
                        </m:sSub>
                      </m:oMath>
                    </m:oMathPara>
                  </a14:m>
                  <a:endParaRPr lang="en-US" sz="2000" dirty="0"/>
                </a:p>
              </p:txBody>
            </p:sp>
          </mc:Choice>
          <mc:Fallback xmlns="">
            <p:sp>
              <p:nvSpPr>
                <p:cNvPr id="17" name="TextBox 16">
                  <a:extLst>
                    <a:ext uri="{FF2B5EF4-FFF2-40B4-BE49-F238E27FC236}">
                      <a16:creationId xmlns:a16="http://schemas.microsoft.com/office/drawing/2014/main" id="{5E9AFE05-6455-00A3-F90B-1A32E1401CC2}"/>
                    </a:ext>
                  </a:extLst>
                </p:cNvPr>
                <p:cNvSpPr txBox="1">
                  <a:spLocks noRot="1" noChangeAspect="1" noMove="1" noResize="1" noEditPoints="1" noAdjustHandles="1" noChangeArrowheads="1" noChangeShapeType="1" noTextEdit="1"/>
                </p:cNvSpPr>
                <p:nvPr/>
              </p:nvSpPr>
              <p:spPr>
                <a:xfrm>
                  <a:off x="2400973" y="3710679"/>
                  <a:ext cx="656856" cy="321178"/>
                </a:xfrm>
                <a:prstGeom prst="rect">
                  <a:avLst/>
                </a:prstGeom>
                <a:blipFill>
                  <a:blip r:embed="rId10"/>
                  <a:stretch>
                    <a:fillRect b="-115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86BF6B6B-D074-0FCF-FC15-7118439D47A2}"/>
                    </a:ext>
                  </a:extLst>
                </p:cNvPr>
                <p:cNvSpPr txBox="1"/>
                <p:nvPr/>
              </p:nvSpPr>
              <p:spPr>
                <a:xfrm>
                  <a:off x="3153978" y="3710679"/>
                  <a:ext cx="656856" cy="32117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𝑌</m:t>
                            </m:r>
                          </m:e>
                          <m:sub>
                            <m:r>
                              <a:rPr lang="en-US" sz="2000" b="0" i="1" smtClean="0">
                                <a:latin typeface="Cambria Math" panose="02040503050406030204" pitchFamily="18" charset="0"/>
                              </a:rPr>
                              <m:t>2,2</m:t>
                            </m:r>
                          </m:sub>
                        </m:sSub>
                      </m:oMath>
                    </m:oMathPara>
                  </a14:m>
                  <a:endParaRPr lang="en-US" sz="2000" dirty="0"/>
                </a:p>
              </p:txBody>
            </p:sp>
          </mc:Choice>
          <mc:Fallback xmlns="">
            <p:sp>
              <p:nvSpPr>
                <p:cNvPr id="18" name="TextBox 17">
                  <a:extLst>
                    <a:ext uri="{FF2B5EF4-FFF2-40B4-BE49-F238E27FC236}">
                      <a16:creationId xmlns:a16="http://schemas.microsoft.com/office/drawing/2014/main" id="{28BF8A6B-712A-B537-DEE5-6D979B0F537A}"/>
                    </a:ext>
                  </a:extLst>
                </p:cNvPr>
                <p:cNvSpPr txBox="1">
                  <a:spLocks noRot="1" noChangeAspect="1" noMove="1" noResize="1" noEditPoints="1" noAdjustHandles="1" noChangeArrowheads="1" noChangeShapeType="1" noTextEdit="1"/>
                </p:cNvSpPr>
                <p:nvPr/>
              </p:nvSpPr>
              <p:spPr>
                <a:xfrm>
                  <a:off x="3153978" y="3710679"/>
                  <a:ext cx="656856" cy="321178"/>
                </a:xfrm>
                <a:prstGeom prst="rect">
                  <a:avLst/>
                </a:prstGeom>
                <a:blipFill>
                  <a:blip r:embed="rId11"/>
                  <a:stretch>
                    <a:fillRect b="-115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189C41B7-6D39-949D-79C7-B17185E1C6E5}"/>
                    </a:ext>
                  </a:extLst>
                </p:cNvPr>
                <p:cNvSpPr txBox="1"/>
                <p:nvPr/>
              </p:nvSpPr>
              <p:spPr>
                <a:xfrm>
                  <a:off x="5640716" y="3710679"/>
                  <a:ext cx="656856" cy="32117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𝑌</m:t>
                            </m:r>
                          </m:e>
                          <m:sub>
                            <m:r>
                              <a:rPr lang="en-US" sz="2000" b="0" i="1" smtClean="0">
                                <a:latin typeface="Cambria Math" panose="02040503050406030204" pitchFamily="18" charset="0"/>
                              </a:rPr>
                              <m:t>2,</m:t>
                            </m:r>
                            <m:r>
                              <a:rPr lang="en-US" sz="2000" b="0" i="1" smtClean="0">
                                <a:latin typeface="Cambria Math" panose="02040503050406030204" pitchFamily="18" charset="0"/>
                              </a:rPr>
                              <m:t>𝑇</m:t>
                            </m:r>
                          </m:sub>
                        </m:sSub>
                      </m:oMath>
                    </m:oMathPara>
                  </a14:m>
                  <a:endParaRPr lang="en-US" sz="2000" dirty="0"/>
                </a:p>
              </p:txBody>
            </p:sp>
          </mc:Choice>
          <mc:Fallback xmlns="">
            <p:sp>
              <p:nvSpPr>
                <p:cNvPr id="19" name="TextBox 18">
                  <a:extLst>
                    <a:ext uri="{FF2B5EF4-FFF2-40B4-BE49-F238E27FC236}">
                      <a16:creationId xmlns:a16="http://schemas.microsoft.com/office/drawing/2014/main" id="{3DB5D180-A0A8-3B1C-BC43-E0D8134497A9}"/>
                    </a:ext>
                  </a:extLst>
                </p:cNvPr>
                <p:cNvSpPr txBox="1">
                  <a:spLocks noRot="1" noChangeAspect="1" noMove="1" noResize="1" noEditPoints="1" noAdjustHandles="1" noChangeArrowheads="1" noChangeShapeType="1" noTextEdit="1"/>
                </p:cNvSpPr>
                <p:nvPr/>
              </p:nvSpPr>
              <p:spPr>
                <a:xfrm>
                  <a:off x="5640716" y="3710679"/>
                  <a:ext cx="656856" cy="321178"/>
                </a:xfrm>
                <a:prstGeom prst="rect">
                  <a:avLst/>
                </a:prstGeom>
                <a:blipFill>
                  <a:blip r:embed="rId12"/>
                  <a:stretch>
                    <a:fillRect b="-115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01A48ED1-8681-D4C3-3DF3-A0DF9DDAE61D}"/>
                    </a:ext>
                  </a:extLst>
                </p:cNvPr>
                <p:cNvSpPr txBox="1"/>
                <p:nvPr/>
              </p:nvSpPr>
              <p:spPr>
                <a:xfrm>
                  <a:off x="2400973" y="4248182"/>
                  <a:ext cx="656856" cy="32117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𝑌</m:t>
                            </m:r>
                          </m:e>
                          <m:sub>
                            <m:r>
                              <a:rPr lang="en-US" sz="2000" b="0" i="1" smtClean="0">
                                <a:latin typeface="Cambria Math" panose="02040503050406030204" pitchFamily="18" charset="0"/>
                              </a:rPr>
                              <m:t>3,1</m:t>
                            </m:r>
                          </m:sub>
                        </m:sSub>
                      </m:oMath>
                    </m:oMathPara>
                  </a14:m>
                  <a:endParaRPr lang="en-US" sz="2000" dirty="0"/>
                </a:p>
              </p:txBody>
            </p:sp>
          </mc:Choice>
          <mc:Fallback xmlns="">
            <p:sp>
              <p:nvSpPr>
                <p:cNvPr id="23" name="TextBox 22">
                  <a:extLst>
                    <a:ext uri="{FF2B5EF4-FFF2-40B4-BE49-F238E27FC236}">
                      <a16:creationId xmlns:a16="http://schemas.microsoft.com/office/drawing/2014/main" id="{C5A10575-5973-325F-EB30-DB1E186846F2}"/>
                    </a:ext>
                  </a:extLst>
                </p:cNvPr>
                <p:cNvSpPr txBox="1">
                  <a:spLocks noRot="1" noChangeAspect="1" noMove="1" noResize="1" noEditPoints="1" noAdjustHandles="1" noChangeArrowheads="1" noChangeShapeType="1" noTextEdit="1"/>
                </p:cNvSpPr>
                <p:nvPr/>
              </p:nvSpPr>
              <p:spPr>
                <a:xfrm>
                  <a:off x="2400973" y="4248182"/>
                  <a:ext cx="656856" cy="321178"/>
                </a:xfrm>
                <a:prstGeom prst="rect">
                  <a:avLst/>
                </a:prstGeom>
                <a:blipFill>
                  <a:blip r:embed="rId13"/>
                  <a:stretch>
                    <a:fillRect b="-115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C2060EB6-F950-5EC9-404A-04537ACF8F76}"/>
                    </a:ext>
                  </a:extLst>
                </p:cNvPr>
                <p:cNvSpPr txBox="1"/>
                <p:nvPr/>
              </p:nvSpPr>
              <p:spPr>
                <a:xfrm>
                  <a:off x="3153978" y="4248182"/>
                  <a:ext cx="656856" cy="32117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𝑌</m:t>
                            </m:r>
                          </m:e>
                          <m:sub>
                            <m:r>
                              <a:rPr lang="en-US" sz="2000" b="0" i="1" smtClean="0">
                                <a:latin typeface="Cambria Math" panose="02040503050406030204" pitchFamily="18" charset="0"/>
                              </a:rPr>
                              <m:t>3,2</m:t>
                            </m:r>
                          </m:sub>
                        </m:sSub>
                      </m:oMath>
                    </m:oMathPara>
                  </a14:m>
                  <a:endParaRPr lang="en-US" sz="2000" dirty="0"/>
                </a:p>
              </p:txBody>
            </p:sp>
          </mc:Choice>
          <mc:Fallback xmlns="">
            <p:sp>
              <p:nvSpPr>
                <p:cNvPr id="24" name="TextBox 23">
                  <a:extLst>
                    <a:ext uri="{FF2B5EF4-FFF2-40B4-BE49-F238E27FC236}">
                      <a16:creationId xmlns:a16="http://schemas.microsoft.com/office/drawing/2014/main" id="{49129A42-F687-4C7A-82B6-1493A7F9B78E}"/>
                    </a:ext>
                  </a:extLst>
                </p:cNvPr>
                <p:cNvSpPr txBox="1">
                  <a:spLocks noRot="1" noChangeAspect="1" noMove="1" noResize="1" noEditPoints="1" noAdjustHandles="1" noChangeArrowheads="1" noChangeShapeType="1" noTextEdit="1"/>
                </p:cNvSpPr>
                <p:nvPr/>
              </p:nvSpPr>
              <p:spPr>
                <a:xfrm>
                  <a:off x="3153978" y="4248182"/>
                  <a:ext cx="656856" cy="321178"/>
                </a:xfrm>
                <a:prstGeom prst="rect">
                  <a:avLst/>
                </a:prstGeom>
                <a:blipFill>
                  <a:blip r:embed="rId14"/>
                  <a:stretch>
                    <a:fillRect b="-115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C7345002-8356-1A75-6403-35827D691F5F}"/>
                    </a:ext>
                  </a:extLst>
                </p:cNvPr>
                <p:cNvSpPr txBox="1"/>
                <p:nvPr/>
              </p:nvSpPr>
              <p:spPr>
                <a:xfrm>
                  <a:off x="5640716" y="4248182"/>
                  <a:ext cx="656856" cy="32117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𝑌</m:t>
                            </m:r>
                          </m:e>
                          <m:sub>
                            <m:r>
                              <a:rPr lang="en-US" sz="2000" b="0" i="1" smtClean="0">
                                <a:latin typeface="Cambria Math" panose="02040503050406030204" pitchFamily="18" charset="0"/>
                              </a:rPr>
                              <m:t>3,</m:t>
                            </m:r>
                            <m:r>
                              <a:rPr lang="en-US" sz="2000" b="0" i="1" smtClean="0">
                                <a:latin typeface="Cambria Math" panose="02040503050406030204" pitchFamily="18" charset="0"/>
                              </a:rPr>
                              <m:t>𝑇</m:t>
                            </m:r>
                          </m:sub>
                        </m:sSub>
                      </m:oMath>
                    </m:oMathPara>
                  </a14:m>
                  <a:endParaRPr lang="en-US" sz="2000" dirty="0"/>
                </a:p>
              </p:txBody>
            </p:sp>
          </mc:Choice>
          <mc:Fallback xmlns="">
            <p:sp>
              <p:nvSpPr>
                <p:cNvPr id="25" name="TextBox 24">
                  <a:extLst>
                    <a:ext uri="{FF2B5EF4-FFF2-40B4-BE49-F238E27FC236}">
                      <a16:creationId xmlns:a16="http://schemas.microsoft.com/office/drawing/2014/main" id="{E392FEE0-6FD3-DA79-64BF-E497C668B8A0}"/>
                    </a:ext>
                  </a:extLst>
                </p:cNvPr>
                <p:cNvSpPr txBox="1">
                  <a:spLocks noRot="1" noChangeAspect="1" noMove="1" noResize="1" noEditPoints="1" noAdjustHandles="1" noChangeArrowheads="1" noChangeShapeType="1" noTextEdit="1"/>
                </p:cNvSpPr>
                <p:nvPr/>
              </p:nvSpPr>
              <p:spPr>
                <a:xfrm>
                  <a:off x="5640716" y="4248182"/>
                  <a:ext cx="656856" cy="321178"/>
                </a:xfrm>
                <a:prstGeom prst="rect">
                  <a:avLst/>
                </a:prstGeom>
                <a:blipFill>
                  <a:blip r:embed="rId15"/>
                  <a:stretch>
                    <a:fillRect b="-115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FBD10259-1993-2E79-9416-24B8327988B3}"/>
                    </a:ext>
                  </a:extLst>
                </p:cNvPr>
                <p:cNvSpPr txBox="1"/>
                <p:nvPr/>
              </p:nvSpPr>
              <p:spPr>
                <a:xfrm>
                  <a:off x="2406233" y="5256351"/>
                  <a:ext cx="656856" cy="32117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𝑌</m:t>
                            </m:r>
                          </m:e>
                          <m:sub>
                            <m:r>
                              <a:rPr lang="en-US" sz="2000" b="0" i="1" smtClean="0">
                                <a:latin typeface="Cambria Math" panose="02040503050406030204" pitchFamily="18" charset="0"/>
                              </a:rPr>
                              <m:t>𝑛</m:t>
                            </m:r>
                            <m:r>
                              <a:rPr lang="en-US" sz="2000" b="0" i="1" smtClean="0">
                                <a:latin typeface="Cambria Math" panose="02040503050406030204" pitchFamily="18" charset="0"/>
                              </a:rPr>
                              <m:t>,1</m:t>
                            </m:r>
                          </m:sub>
                        </m:sSub>
                      </m:oMath>
                    </m:oMathPara>
                  </a14:m>
                  <a:endParaRPr lang="en-US" sz="2000" dirty="0"/>
                </a:p>
              </p:txBody>
            </p:sp>
          </mc:Choice>
          <mc:Fallback xmlns="">
            <p:sp>
              <p:nvSpPr>
                <p:cNvPr id="26" name="TextBox 25">
                  <a:extLst>
                    <a:ext uri="{FF2B5EF4-FFF2-40B4-BE49-F238E27FC236}">
                      <a16:creationId xmlns:a16="http://schemas.microsoft.com/office/drawing/2014/main" id="{181B426B-E52C-2D67-2F57-0A637B1FF016}"/>
                    </a:ext>
                  </a:extLst>
                </p:cNvPr>
                <p:cNvSpPr txBox="1">
                  <a:spLocks noRot="1" noChangeAspect="1" noMove="1" noResize="1" noEditPoints="1" noAdjustHandles="1" noChangeArrowheads="1" noChangeShapeType="1" noTextEdit="1"/>
                </p:cNvSpPr>
                <p:nvPr/>
              </p:nvSpPr>
              <p:spPr>
                <a:xfrm>
                  <a:off x="2406233" y="5256351"/>
                  <a:ext cx="656856" cy="321178"/>
                </a:xfrm>
                <a:prstGeom prst="rect">
                  <a:avLst/>
                </a:prstGeom>
                <a:blipFill>
                  <a:blip r:embed="rId16"/>
                  <a:stretch>
                    <a:fillRect b="-740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1877CC21-3F38-3B34-0E30-4AE1CFFC134C}"/>
                    </a:ext>
                  </a:extLst>
                </p:cNvPr>
                <p:cNvSpPr txBox="1"/>
                <p:nvPr/>
              </p:nvSpPr>
              <p:spPr>
                <a:xfrm>
                  <a:off x="3159238" y="5256351"/>
                  <a:ext cx="656856" cy="32117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𝑌</m:t>
                            </m:r>
                          </m:e>
                          <m:sub>
                            <m:r>
                              <a:rPr lang="en-US" sz="2000" b="0" i="1" smtClean="0">
                                <a:latin typeface="Cambria Math" panose="02040503050406030204" pitchFamily="18" charset="0"/>
                              </a:rPr>
                              <m:t>𝑛</m:t>
                            </m:r>
                            <m:r>
                              <a:rPr lang="en-US" sz="2000" b="0" i="1" smtClean="0">
                                <a:latin typeface="Cambria Math" panose="02040503050406030204" pitchFamily="18" charset="0"/>
                              </a:rPr>
                              <m:t>,2</m:t>
                            </m:r>
                          </m:sub>
                        </m:sSub>
                      </m:oMath>
                    </m:oMathPara>
                  </a14:m>
                  <a:endParaRPr lang="en-US" sz="2000" dirty="0"/>
                </a:p>
              </p:txBody>
            </p:sp>
          </mc:Choice>
          <mc:Fallback xmlns="">
            <p:sp>
              <p:nvSpPr>
                <p:cNvPr id="27" name="TextBox 26">
                  <a:extLst>
                    <a:ext uri="{FF2B5EF4-FFF2-40B4-BE49-F238E27FC236}">
                      <a16:creationId xmlns:a16="http://schemas.microsoft.com/office/drawing/2014/main" id="{D90945A1-8A27-8BC2-3DF2-189F2FBE85AC}"/>
                    </a:ext>
                  </a:extLst>
                </p:cNvPr>
                <p:cNvSpPr txBox="1">
                  <a:spLocks noRot="1" noChangeAspect="1" noMove="1" noResize="1" noEditPoints="1" noAdjustHandles="1" noChangeArrowheads="1" noChangeShapeType="1" noTextEdit="1"/>
                </p:cNvSpPr>
                <p:nvPr/>
              </p:nvSpPr>
              <p:spPr>
                <a:xfrm>
                  <a:off x="3159238" y="5256351"/>
                  <a:ext cx="656856" cy="321178"/>
                </a:xfrm>
                <a:prstGeom prst="rect">
                  <a:avLst/>
                </a:prstGeom>
                <a:blipFill>
                  <a:blip r:embed="rId17"/>
                  <a:stretch>
                    <a:fillRect b="-740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5AD6EE34-9B07-8E7F-A3AD-399D698767E0}"/>
                    </a:ext>
                  </a:extLst>
                </p:cNvPr>
                <p:cNvSpPr txBox="1"/>
                <p:nvPr/>
              </p:nvSpPr>
              <p:spPr>
                <a:xfrm>
                  <a:off x="5645976" y="5256351"/>
                  <a:ext cx="656856" cy="32117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𝑌</m:t>
                            </m:r>
                          </m:e>
                          <m:sub>
                            <m:r>
                              <a:rPr lang="en-US" sz="2000" b="0" i="1" smtClean="0">
                                <a:latin typeface="Cambria Math" panose="02040503050406030204" pitchFamily="18" charset="0"/>
                              </a:rPr>
                              <m:t>𝑛</m:t>
                            </m:r>
                            <m:r>
                              <a:rPr lang="en-US" sz="2000" b="0" i="1" smtClean="0">
                                <a:latin typeface="Cambria Math" panose="02040503050406030204" pitchFamily="18" charset="0"/>
                              </a:rPr>
                              <m:t>,</m:t>
                            </m:r>
                            <m:r>
                              <a:rPr lang="en-US" sz="2000" b="0" i="1" smtClean="0">
                                <a:latin typeface="Cambria Math" panose="02040503050406030204" pitchFamily="18" charset="0"/>
                              </a:rPr>
                              <m:t>𝑇</m:t>
                            </m:r>
                          </m:sub>
                        </m:sSub>
                      </m:oMath>
                    </m:oMathPara>
                  </a14:m>
                  <a:endParaRPr lang="en-US" sz="2000" dirty="0"/>
                </a:p>
              </p:txBody>
            </p:sp>
          </mc:Choice>
          <mc:Fallback xmlns="">
            <p:sp>
              <p:nvSpPr>
                <p:cNvPr id="28" name="TextBox 27">
                  <a:extLst>
                    <a:ext uri="{FF2B5EF4-FFF2-40B4-BE49-F238E27FC236}">
                      <a16:creationId xmlns:a16="http://schemas.microsoft.com/office/drawing/2014/main" id="{27AE072A-2444-0D35-D429-B7D3CA241DA8}"/>
                    </a:ext>
                  </a:extLst>
                </p:cNvPr>
                <p:cNvSpPr txBox="1">
                  <a:spLocks noRot="1" noChangeAspect="1" noMove="1" noResize="1" noEditPoints="1" noAdjustHandles="1" noChangeArrowheads="1" noChangeShapeType="1" noTextEdit="1"/>
                </p:cNvSpPr>
                <p:nvPr/>
              </p:nvSpPr>
              <p:spPr>
                <a:xfrm>
                  <a:off x="5645976" y="5256351"/>
                  <a:ext cx="656856" cy="321178"/>
                </a:xfrm>
                <a:prstGeom prst="rect">
                  <a:avLst/>
                </a:prstGeom>
                <a:blipFill>
                  <a:blip r:embed="rId18"/>
                  <a:stretch>
                    <a:fillRect b="-740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1F3CD84B-6B27-C888-54F9-F258E3FC3FE7}"/>
                    </a:ext>
                  </a:extLst>
                </p:cNvPr>
                <p:cNvSpPr txBox="1"/>
                <p:nvPr/>
              </p:nvSpPr>
              <p:spPr>
                <a:xfrm>
                  <a:off x="2545349" y="4808792"/>
                  <a:ext cx="30328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oMath>
                    </m:oMathPara>
                  </a14:m>
                  <a:endParaRPr lang="en-US" dirty="0"/>
                </a:p>
              </p:txBody>
            </p:sp>
          </mc:Choice>
          <mc:Fallback xmlns="">
            <p:sp>
              <p:nvSpPr>
                <p:cNvPr id="29" name="TextBox 28">
                  <a:extLst>
                    <a:ext uri="{FF2B5EF4-FFF2-40B4-BE49-F238E27FC236}">
                      <a16:creationId xmlns:a16="http://schemas.microsoft.com/office/drawing/2014/main" id="{FDB80DEE-43A3-64FB-8F9E-EF17303B8683}"/>
                    </a:ext>
                  </a:extLst>
                </p:cNvPr>
                <p:cNvSpPr txBox="1">
                  <a:spLocks noRot="1" noChangeAspect="1" noMove="1" noResize="1" noEditPoints="1" noAdjustHandles="1" noChangeArrowheads="1" noChangeShapeType="1" noTextEdit="1"/>
                </p:cNvSpPr>
                <p:nvPr/>
              </p:nvSpPr>
              <p:spPr>
                <a:xfrm>
                  <a:off x="2545349" y="4808792"/>
                  <a:ext cx="303288" cy="369332"/>
                </a:xfrm>
                <a:prstGeom prst="rect">
                  <a:avLst/>
                </a:prstGeom>
                <a:blipFill>
                  <a:blip r:embed="rId1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4254FEFC-468E-3B96-B5B3-01D542C48EED}"/>
                    </a:ext>
                  </a:extLst>
                </p:cNvPr>
                <p:cNvSpPr txBox="1"/>
                <p:nvPr/>
              </p:nvSpPr>
              <p:spPr>
                <a:xfrm>
                  <a:off x="5785092" y="4783617"/>
                  <a:ext cx="30328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oMath>
                    </m:oMathPara>
                  </a14:m>
                  <a:endParaRPr lang="en-US" dirty="0"/>
                </a:p>
              </p:txBody>
            </p:sp>
          </mc:Choice>
          <mc:Fallback xmlns="">
            <p:sp>
              <p:nvSpPr>
                <p:cNvPr id="30" name="TextBox 29">
                  <a:extLst>
                    <a:ext uri="{FF2B5EF4-FFF2-40B4-BE49-F238E27FC236}">
                      <a16:creationId xmlns:a16="http://schemas.microsoft.com/office/drawing/2014/main" id="{E54BE226-85BE-F8A6-6150-0559ACEF24AD}"/>
                    </a:ext>
                  </a:extLst>
                </p:cNvPr>
                <p:cNvSpPr txBox="1">
                  <a:spLocks noRot="1" noChangeAspect="1" noMove="1" noResize="1" noEditPoints="1" noAdjustHandles="1" noChangeArrowheads="1" noChangeShapeType="1" noTextEdit="1"/>
                </p:cNvSpPr>
                <p:nvPr/>
              </p:nvSpPr>
              <p:spPr>
                <a:xfrm>
                  <a:off x="5785092" y="4783617"/>
                  <a:ext cx="303288" cy="369332"/>
                </a:xfrm>
                <a:prstGeom prst="rect">
                  <a:avLst/>
                </a:prstGeom>
                <a:blipFill>
                  <a:blip r:embed="rId1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481C9A13-8BD0-B380-79A5-7344A88FF5A3}"/>
                    </a:ext>
                  </a:extLst>
                </p:cNvPr>
                <p:cNvSpPr txBox="1"/>
                <p:nvPr/>
              </p:nvSpPr>
              <p:spPr>
                <a:xfrm>
                  <a:off x="4233710" y="3244334"/>
                  <a:ext cx="850773"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m:t>
                        </m:r>
                      </m:oMath>
                    </m:oMathPara>
                  </a14:m>
                  <a:endParaRPr lang="en-US" dirty="0"/>
                </a:p>
              </p:txBody>
            </p:sp>
          </mc:Choice>
          <mc:Fallback xmlns="">
            <p:sp>
              <p:nvSpPr>
                <p:cNvPr id="31" name="TextBox 30">
                  <a:extLst>
                    <a:ext uri="{FF2B5EF4-FFF2-40B4-BE49-F238E27FC236}">
                      <a16:creationId xmlns:a16="http://schemas.microsoft.com/office/drawing/2014/main" id="{0B095639-913D-4B4A-071F-03916B9C26A4}"/>
                    </a:ext>
                  </a:extLst>
                </p:cNvPr>
                <p:cNvSpPr txBox="1">
                  <a:spLocks noRot="1" noChangeAspect="1" noMove="1" noResize="1" noEditPoints="1" noAdjustHandles="1" noChangeArrowheads="1" noChangeShapeType="1" noTextEdit="1"/>
                </p:cNvSpPr>
                <p:nvPr/>
              </p:nvSpPr>
              <p:spPr>
                <a:xfrm>
                  <a:off x="4233710" y="3244334"/>
                  <a:ext cx="850773" cy="369332"/>
                </a:xfrm>
                <a:prstGeom prst="rect">
                  <a:avLst/>
                </a:prstGeom>
                <a:blipFill>
                  <a:blip r:embed="rId2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2BB90071-BE5F-22D0-3A1F-2CB0D1EA6178}"/>
                    </a:ext>
                  </a:extLst>
                </p:cNvPr>
                <p:cNvSpPr txBox="1"/>
                <p:nvPr/>
              </p:nvSpPr>
              <p:spPr>
                <a:xfrm>
                  <a:off x="4228129" y="5274874"/>
                  <a:ext cx="850773"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m:t>
                        </m:r>
                      </m:oMath>
                    </m:oMathPara>
                  </a14:m>
                  <a:endParaRPr lang="en-US" dirty="0"/>
                </a:p>
              </p:txBody>
            </p:sp>
          </mc:Choice>
          <mc:Fallback xmlns="">
            <p:sp>
              <p:nvSpPr>
                <p:cNvPr id="32" name="TextBox 31">
                  <a:extLst>
                    <a:ext uri="{FF2B5EF4-FFF2-40B4-BE49-F238E27FC236}">
                      <a16:creationId xmlns:a16="http://schemas.microsoft.com/office/drawing/2014/main" id="{45767CE5-AD72-C03D-64AB-064AD618AF8F}"/>
                    </a:ext>
                  </a:extLst>
                </p:cNvPr>
                <p:cNvSpPr txBox="1">
                  <a:spLocks noRot="1" noChangeAspect="1" noMove="1" noResize="1" noEditPoints="1" noAdjustHandles="1" noChangeArrowheads="1" noChangeShapeType="1" noTextEdit="1"/>
                </p:cNvSpPr>
                <p:nvPr/>
              </p:nvSpPr>
              <p:spPr>
                <a:xfrm>
                  <a:off x="4228129" y="5274874"/>
                  <a:ext cx="850773" cy="369332"/>
                </a:xfrm>
                <a:prstGeom prst="rect">
                  <a:avLst/>
                </a:prstGeom>
                <a:blipFill>
                  <a:blip r:embed="rId21"/>
                  <a:stretch>
                    <a:fillRect/>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580233E0-88C0-738A-97B0-B80D425B53C8}"/>
                  </a:ext>
                </a:extLst>
              </p:cNvPr>
              <p:cNvSpPr txBox="1"/>
              <p:nvPr/>
            </p:nvSpPr>
            <p:spPr>
              <a:xfrm>
                <a:off x="3094456" y="6195554"/>
                <a:ext cx="2992166" cy="461665"/>
              </a:xfrm>
              <a:prstGeom prst="rect">
                <a:avLst/>
              </a:prstGeom>
              <a:noFill/>
            </p:spPr>
            <p:txBody>
              <a:bodyPr wrap="none" rtlCol="0">
                <a:spAutoFit/>
              </a:bodyPr>
              <a:lstStyle/>
              <a:p>
                <a:r>
                  <a:rPr lang="en-US" sz="2400" dirty="0">
                    <a:solidFill>
                      <a:schemeClr val="accent1"/>
                    </a:solidFill>
                  </a:rPr>
                  <a:t>Matrix </a:t>
                </a:r>
                <a14:m>
                  <m:oMath xmlns:m="http://schemas.openxmlformats.org/officeDocument/2006/math">
                    <m:r>
                      <a:rPr lang="en-US" sz="2400" b="1" i="1" smtClean="0">
                        <a:solidFill>
                          <a:schemeClr val="accent1"/>
                        </a:solidFill>
                        <a:latin typeface="Cambria Math" panose="02040503050406030204" pitchFamily="18" charset="0"/>
                      </a:rPr>
                      <m:t>𝒀</m:t>
                    </m:r>
                  </m:oMath>
                </a14:m>
                <a:r>
                  <a:rPr lang="en-US" sz="2400" b="1" dirty="0">
                    <a:solidFill>
                      <a:schemeClr val="accent1"/>
                    </a:solidFill>
                  </a:rPr>
                  <a:t> </a:t>
                </a:r>
                <a:r>
                  <a:rPr lang="en-US" sz="2400" dirty="0">
                    <a:solidFill>
                      <a:schemeClr val="accent1"/>
                    </a:solidFill>
                  </a:rPr>
                  <a:t>of outcomes</a:t>
                </a:r>
              </a:p>
            </p:txBody>
          </p:sp>
        </mc:Choice>
        <mc:Fallback xmlns="">
          <p:sp>
            <p:nvSpPr>
              <p:cNvPr id="31" name="TextBox 30">
                <a:extLst>
                  <a:ext uri="{FF2B5EF4-FFF2-40B4-BE49-F238E27FC236}">
                    <a16:creationId xmlns:a16="http://schemas.microsoft.com/office/drawing/2014/main" id="{580233E0-88C0-738A-97B0-B80D425B53C8}"/>
                  </a:ext>
                </a:extLst>
              </p:cNvPr>
              <p:cNvSpPr txBox="1">
                <a:spLocks noRot="1" noChangeAspect="1" noMove="1" noResize="1" noEditPoints="1" noAdjustHandles="1" noChangeArrowheads="1" noChangeShapeType="1" noTextEdit="1"/>
              </p:cNvSpPr>
              <p:nvPr/>
            </p:nvSpPr>
            <p:spPr>
              <a:xfrm>
                <a:off x="3094456" y="6195554"/>
                <a:ext cx="2992166" cy="461665"/>
              </a:xfrm>
              <a:prstGeom prst="rect">
                <a:avLst/>
              </a:prstGeom>
              <a:blipFill>
                <a:blip r:embed="rId22"/>
                <a:stretch>
                  <a:fillRect l="-2954" t="-10526" r="-2110" b="-28947"/>
                </a:stretch>
              </a:blipFill>
            </p:spPr>
            <p:txBody>
              <a:bodyPr/>
              <a:lstStyle/>
              <a:p>
                <a:r>
                  <a:rPr lang="en-US">
                    <a:noFill/>
                  </a:rPr>
                  <a:t> </a:t>
                </a:r>
              </a:p>
            </p:txBody>
          </p:sp>
        </mc:Fallback>
      </mc:AlternateContent>
      <p:sp>
        <p:nvSpPr>
          <p:cNvPr id="32" name="TextBox 31">
            <a:extLst>
              <a:ext uri="{FF2B5EF4-FFF2-40B4-BE49-F238E27FC236}">
                <a16:creationId xmlns:a16="http://schemas.microsoft.com/office/drawing/2014/main" id="{CB0C396F-7FDA-619F-C306-804267F7A781}"/>
              </a:ext>
            </a:extLst>
          </p:cNvPr>
          <p:cNvSpPr txBox="1"/>
          <p:nvPr/>
        </p:nvSpPr>
        <p:spPr>
          <a:xfrm>
            <a:off x="2463269" y="2417108"/>
            <a:ext cx="678391" cy="369332"/>
          </a:xfrm>
          <a:prstGeom prst="rect">
            <a:avLst/>
          </a:prstGeom>
          <a:noFill/>
        </p:spPr>
        <p:txBody>
          <a:bodyPr wrap="none" rtlCol="0">
            <a:spAutoFit/>
          </a:bodyPr>
          <a:lstStyle/>
          <a:p>
            <a:r>
              <a:rPr lang="en-US" dirty="0">
                <a:solidFill>
                  <a:schemeClr val="accent5"/>
                </a:solidFill>
              </a:rPr>
              <a:t>1970</a:t>
            </a:r>
          </a:p>
        </p:txBody>
      </p:sp>
      <p:sp>
        <p:nvSpPr>
          <p:cNvPr id="33" name="TextBox 32">
            <a:extLst>
              <a:ext uri="{FF2B5EF4-FFF2-40B4-BE49-F238E27FC236}">
                <a16:creationId xmlns:a16="http://schemas.microsoft.com/office/drawing/2014/main" id="{B28500C2-66C0-2369-59F8-F1639CABB54F}"/>
              </a:ext>
            </a:extLst>
          </p:cNvPr>
          <p:cNvSpPr txBox="1"/>
          <p:nvPr/>
        </p:nvSpPr>
        <p:spPr>
          <a:xfrm>
            <a:off x="3210579" y="2424809"/>
            <a:ext cx="678391" cy="369332"/>
          </a:xfrm>
          <a:prstGeom prst="rect">
            <a:avLst/>
          </a:prstGeom>
          <a:noFill/>
        </p:spPr>
        <p:txBody>
          <a:bodyPr wrap="none" rtlCol="0">
            <a:spAutoFit/>
          </a:bodyPr>
          <a:lstStyle/>
          <a:p>
            <a:r>
              <a:rPr lang="en-US" dirty="0">
                <a:solidFill>
                  <a:schemeClr val="accent5"/>
                </a:solidFill>
              </a:rPr>
              <a:t>1971</a:t>
            </a:r>
          </a:p>
        </p:txBody>
      </p:sp>
      <p:sp>
        <p:nvSpPr>
          <p:cNvPr id="34" name="TextBox 33">
            <a:extLst>
              <a:ext uri="{FF2B5EF4-FFF2-40B4-BE49-F238E27FC236}">
                <a16:creationId xmlns:a16="http://schemas.microsoft.com/office/drawing/2014/main" id="{5845749D-5FBC-018C-C19C-2EED42249D60}"/>
              </a:ext>
            </a:extLst>
          </p:cNvPr>
          <p:cNvSpPr txBox="1"/>
          <p:nvPr/>
        </p:nvSpPr>
        <p:spPr>
          <a:xfrm>
            <a:off x="5680701" y="2375272"/>
            <a:ext cx="678391" cy="369332"/>
          </a:xfrm>
          <a:prstGeom prst="rect">
            <a:avLst/>
          </a:prstGeom>
          <a:noFill/>
        </p:spPr>
        <p:txBody>
          <a:bodyPr wrap="none" rtlCol="0">
            <a:spAutoFit/>
          </a:bodyPr>
          <a:lstStyle/>
          <a:p>
            <a:r>
              <a:rPr lang="en-US" dirty="0">
                <a:solidFill>
                  <a:schemeClr val="accent5"/>
                </a:solidFill>
              </a:rPr>
              <a:t>2000</a:t>
            </a:r>
          </a:p>
        </p:txBody>
      </p:sp>
      <p:sp>
        <p:nvSpPr>
          <p:cNvPr id="35" name="TextBox 34">
            <a:extLst>
              <a:ext uri="{FF2B5EF4-FFF2-40B4-BE49-F238E27FC236}">
                <a16:creationId xmlns:a16="http://schemas.microsoft.com/office/drawing/2014/main" id="{67876637-24CB-179A-7766-33F70D20E97A}"/>
              </a:ext>
            </a:extLst>
          </p:cNvPr>
          <p:cNvSpPr txBox="1"/>
          <p:nvPr/>
        </p:nvSpPr>
        <p:spPr>
          <a:xfrm>
            <a:off x="1553407" y="3381339"/>
            <a:ext cx="702072" cy="369332"/>
          </a:xfrm>
          <a:prstGeom prst="rect">
            <a:avLst/>
          </a:prstGeom>
          <a:noFill/>
        </p:spPr>
        <p:txBody>
          <a:bodyPr wrap="square" rtlCol="0">
            <a:spAutoFit/>
          </a:bodyPr>
          <a:lstStyle/>
          <a:p>
            <a:r>
              <a:rPr lang="en-US" dirty="0">
                <a:solidFill>
                  <a:schemeClr val="accent5"/>
                </a:solidFill>
              </a:rPr>
              <a:t>AL</a:t>
            </a:r>
          </a:p>
        </p:txBody>
      </p:sp>
      <p:sp>
        <p:nvSpPr>
          <p:cNvPr id="36" name="TextBox 35">
            <a:extLst>
              <a:ext uri="{FF2B5EF4-FFF2-40B4-BE49-F238E27FC236}">
                <a16:creationId xmlns:a16="http://schemas.microsoft.com/office/drawing/2014/main" id="{65F6DDF8-BAA6-8EA2-CA18-EB5ADFA4353B}"/>
              </a:ext>
            </a:extLst>
          </p:cNvPr>
          <p:cNvSpPr txBox="1"/>
          <p:nvPr/>
        </p:nvSpPr>
        <p:spPr>
          <a:xfrm>
            <a:off x="1535782" y="3915910"/>
            <a:ext cx="702072" cy="369332"/>
          </a:xfrm>
          <a:prstGeom prst="rect">
            <a:avLst/>
          </a:prstGeom>
          <a:noFill/>
        </p:spPr>
        <p:txBody>
          <a:bodyPr wrap="square" rtlCol="0">
            <a:spAutoFit/>
          </a:bodyPr>
          <a:lstStyle/>
          <a:p>
            <a:r>
              <a:rPr lang="en-US" dirty="0">
                <a:solidFill>
                  <a:schemeClr val="accent5"/>
                </a:solidFill>
              </a:rPr>
              <a:t>AK</a:t>
            </a:r>
          </a:p>
        </p:txBody>
      </p:sp>
      <p:sp>
        <p:nvSpPr>
          <p:cNvPr id="37" name="TextBox 36">
            <a:extLst>
              <a:ext uri="{FF2B5EF4-FFF2-40B4-BE49-F238E27FC236}">
                <a16:creationId xmlns:a16="http://schemas.microsoft.com/office/drawing/2014/main" id="{D0EE577E-4D6D-90BF-8975-4CC8724B55D3}"/>
              </a:ext>
            </a:extLst>
          </p:cNvPr>
          <p:cNvSpPr txBox="1"/>
          <p:nvPr/>
        </p:nvSpPr>
        <p:spPr>
          <a:xfrm>
            <a:off x="1493473" y="5506766"/>
            <a:ext cx="702072" cy="369332"/>
          </a:xfrm>
          <a:prstGeom prst="rect">
            <a:avLst/>
          </a:prstGeom>
          <a:noFill/>
        </p:spPr>
        <p:txBody>
          <a:bodyPr wrap="square" rtlCol="0">
            <a:spAutoFit/>
          </a:bodyPr>
          <a:lstStyle/>
          <a:p>
            <a:r>
              <a:rPr lang="en-US" dirty="0">
                <a:solidFill>
                  <a:schemeClr val="accent5"/>
                </a:solidFill>
              </a:rPr>
              <a:t>WY</a:t>
            </a:r>
          </a:p>
        </p:txBody>
      </p:sp>
      <p:sp>
        <p:nvSpPr>
          <p:cNvPr id="38" name="TextBox 37">
            <a:extLst>
              <a:ext uri="{FF2B5EF4-FFF2-40B4-BE49-F238E27FC236}">
                <a16:creationId xmlns:a16="http://schemas.microsoft.com/office/drawing/2014/main" id="{53DBA1C2-CF77-2A0C-18FC-8DCD03DB2DA5}"/>
              </a:ext>
            </a:extLst>
          </p:cNvPr>
          <p:cNvSpPr txBox="1"/>
          <p:nvPr/>
        </p:nvSpPr>
        <p:spPr>
          <a:xfrm>
            <a:off x="1506297" y="4850500"/>
            <a:ext cx="702072" cy="369332"/>
          </a:xfrm>
          <a:prstGeom prst="rect">
            <a:avLst/>
          </a:prstGeom>
          <a:noFill/>
        </p:spPr>
        <p:txBody>
          <a:bodyPr wrap="square" rtlCol="0">
            <a:spAutoFit/>
          </a:bodyPr>
          <a:lstStyle/>
          <a:p>
            <a:r>
              <a:rPr lang="en-US" dirty="0">
                <a:solidFill>
                  <a:schemeClr val="accent5"/>
                </a:solidFill>
              </a:rPr>
              <a:t>CA</a:t>
            </a:r>
          </a:p>
        </p:txBody>
      </p:sp>
      <p:grpSp>
        <p:nvGrpSpPr>
          <p:cNvPr id="41" name="Group 40">
            <a:extLst>
              <a:ext uri="{FF2B5EF4-FFF2-40B4-BE49-F238E27FC236}">
                <a16:creationId xmlns:a16="http://schemas.microsoft.com/office/drawing/2014/main" id="{B761CBC8-9E52-55AF-3C7D-E5D8FC1A03C5}"/>
              </a:ext>
            </a:extLst>
          </p:cNvPr>
          <p:cNvGrpSpPr/>
          <p:nvPr/>
        </p:nvGrpSpPr>
        <p:grpSpPr>
          <a:xfrm>
            <a:off x="7919751" y="2718401"/>
            <a:ext cx="3617960" cy="3319560"/>
            <a:chOff x="7919751" y="2718401"/>
            <a:chExt cx="3617960" cy="3319560"/>
          </a:xfrm>
        </p:grpSpPr>
        <p:pic>
          <p:nvPicPr>
            <p:cNvPr id="39" name="Picture 38">
              <a:extLst>
                <a:ext uri="{FF2B5EF4-FFF2-40B4-BE49-F238E27FC236}">
                  <a16:creationId xmlns:a16="http://schemas.microsoft.com/office/drawing/2014/main" id="{ADE46FCC-5EF5-CC87-0A73-0222C58B5D2C}"/>
                </a:ext>
              </a:extLst>
            </p:cNvPr>
            <p:cNvPicPr>
              <a:picLocks noChangeAspect="1"/>
            </p:cNvPicPr>
            <p:nvPr/>
          </p:nvPicPr>
          <p:blipFill>
            <a:blip r:embed="rId23"/>
            <a:stretch>
              <a:fillRect/>
            </a:stretch>
          </p:blipFill>
          <p:spPr>
            <a:xfrm>
              <a:off x="8630197" y="4285242"/>
              <a:ext cx="1976903" cy="1752719"/>
            </a:xfrm>
            <a:prstGeom prst="rect">
              <a:avLst/>
            </a:prstGeom>
          </p:spPr>
        </p:pic>
        <p:sp>
          <p:nvSpPr>
            <p:cNvPr id="40" name="TextBox 39">
              <a:extLst>
                <a:ext uri="{FF2B5EF4-FFF2-40B4-BE49-F238E27FC236}">
                  <a16:creationId xmlns:a16="http://schemas.microsoft.com/office/drawing/2014/main" id="{DB3F191E-AC5B-38BF-125E-B5F154E93D98}"/>
                </a:ext>
              </a:extLst>
            </p:cNvPr>
            <p:cNvSpPr txBox="1"/>
            <p:nvPr/>
          </p:nvSpPr>
          <p:spPr>
            <a:xfrm>
              <a:off x="7919751" y="2718401"/>
              <a:ext cx="3617960" cy="1631216"/>
            </a:xfrm>
            <a:prstGeom prst="rect">
              <a:avLst/>
            </a:prstGeom>
            <a:noFill/>
          </p:spPr>
          <p:txBody>
            <a:bodyPr wrap="square" rtlCol="0">
              <a:spAutoFit/>
            </a:bodyPr>
            <a:lstStyle/>
            <a:p>
              <a:pPr algn="ctr"/>
              <a:r>
                <a:rPr lang="en-US" sz="2800" b="1" dirty="0">
                  <a:solidFill>
                    <a:srgbClr val="0070C0"/>
                  </a:solidFill>
                </a:rPr>
                <a:t>What would you do?</a:t>
              </a:r>
            </a:p>
            <a:p>
              <a:pPr algn="ctr"/>
              <a:r>
                <a:rPr lang="en-US" sz="2400" dirty="0">
                  <a:solidFill>
                    <a:srgbClr val="0070C0"/>
                  </a:solidFill>
                </a:rPr>
                <a:t>Or, what optimization problem would you ask a computer to solve?</a:t>
              </a:r>
              <a:r>
                <a:rPr lang="en-US" sz="2400" b="1" dirty="0">
                  <a:solidFill>
                    <a:srgbClr val="0070C0"/>
                  </a:solidFill>
                </a:rPr>
                <a:t>  </a:t>
              </a:r>
            </a:p>
          </p:txBody>
        </p:sp>
      </p:grpSp>
    </p:spTree>
    <p:extLst>
      <p:ext uri="{BB962C8B-B14F-4D97-AF65-F5344CB8AC3E}">
        <p14:creationId xmlns:p14="http://schemas.microsoft.com/office/powerpoint/2010/main" val="11730988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DBBF0D-68D8-751E-A564-E4FCCE272F57}"/>
              </a:ext>
            </a:extLst>
          </p:cNvPr>
          <p:cNvSpPr>
            <a:spLocks noGrp="1"/>
          </p:cNvSpPr>
          <p:nvPr>
            <p:ph type="title"/>
          </p:nvPr>
        </p:nvSpPr>
        <p:spPr/>
        <p:txBody>
          <a:bodyPr/>
          <a:lstStyle/>
          <a:p>
            <a:r>
              <a:rPr lang="en-US" dirty="0"/>
              <a:t>Minimize MSE!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13C2F46-FD34-126A-78C1-9991D108A687}"/>
                  </a:ext>
                </a:extLst>
              </p:cNvPr>
              <p:cNvSpPr>
                <a:spLocks noGrp="1"/>
              </p:cNvSpPr>
              <p:nvPr>
                <p:ph idx="1"/>
              </p:nvPr>
            </p:nvSpPr>
            <p:spPr>
              <a:xfrm>
                <a:off x="838200" y="1825625"/>
                <a:ext cx="10515600" cy="1834206"/>
              </a:xfrm>
            </p:spPr>
            <p:txBody>
              <a:bodyPr/>
              <a:lstStyle/>
              <a:p>
                <a:r>
                  <a:rPr lang="en-US" dirty="0"/>
                  <a:t>Choose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𝑖</m:t>
                        </m:r>
                      </m:sub>
                    </m:sSub>
                  </m:oMath>
                </a14:m>
                <a:r>
                  <a:rPr lang="en-US" dirty="0"/>
                  <a:t> for each state </a:t>
                </a:r>
                <a14:m>
                  <m:oMath xmlns:m="http://schemas.openxmlformats.org/officeDocument/2006/math">
                    <m:r>
                      <a:rPr lang="en-US" b="0" i="1" smtClean="0">
                        <a:latin typeface="Cambria Math" panose="02040503050406030204" pitchFamily="18" charset="0"/>
                      </a:rPr>
                      <m:t>𝑖</m:t>
                    </m:r>
                  </m:oMath>
                </a14:m>
                <a:r>
                  <a:rPr lang="en-US" dirty="0"/>
                  <a:t> so that:</a:t>
                </a:r>
              </a:p>
              <a:p>
                <a:pPr lvl="1"/>
                <a:r>
                  <a:rPr lang="en-US" dirty="0">
                    <a:solidFill>
                      <a:schemeClr val="accent1"/>
                    </a:solidFill>
                  </a:rPr>
                  <a:t>The </a:t>
                </a:r>
                <a14:m>
                  <m:oMath xmlns:m="http://schemas.openxmlformats.org/officeDocument/2006/math">
                    <m:sSub>
                      <m:sSubPr>
                        <m:ctrlPr>
                          <a:rPr lang="en-US" b="0" i="1" smtClean="0">
                            <a:solidFill>
                              <a:schemeClr val="accent1"/>
                            </a:solidFill>
                            <a:latin typeface="Cambria Math" panose="02040503050406030204" pitchFamily="18" charset="0"/>
                          </a:rPr>
                        </m:ctrlPr>
                      </m:sSubPr>
                      <m:e>
                        <m:r>
                          <a:rPr lang="en-US" b="0" i="1" smtClean="0">
                            <a:solidFill>
                              <a:schemeClr val="accent1"/>
                            </a:solidFill>
                            <a:latin typeface="Cambria Math" panose="02040503050406030204" pitchFamily="18" charset="0"/>
                          </a:rPr>
                          <m:t>𝑤</m:t>
                        </m:r>
                      </m:e>
                      <m:sub>
                        <m:r>
                          <a:rPr lang="en-US" b="0" i="1" smtClean="0">
                            <a:solidFill>
                              <a:schemeClr val="accent1"/>
                            </a:solidFill>
                            <a:latin typeface="Cambria Math" panose="02040503050406030204" pitchFamily="18" charset="0"/>
                          </a:rPr>
                          <m:t>𝑖</m:t>
                        </m:r>
                      </m:sub>
                    </m:sSub>
                  </m:oMath>
                </a14:m>
                <a:r>
                  <a:rPr lang="en-US" dirty="0">
                    <a:solidFill>
                      <a:schemeClr val="accent1"/>
                    </a:solidFill>
                  </a:rPr>
                  <a:t> are all positive and sum to 1</a:t>
                </a:r>
              </a:p>
              <a:p>
                <a:pPr lvl="1"/>
                <a:endParaRPr lang="en-US" sz="1600" dirty="0"/>
              </a:p>
              <a:p>
                <a:pPr marL="457200" lvl="1" indent="0">
                  <a:buNone/>
                </a:pPr>
                <a:endParaRPr lang="en-US" dirty="0"/>
              </a:p>
            </p:txBody>
          </p:sp>
        </mc:Choice>
        <mc:Fallback xmlns="">
          <p:sp>
            <p:nvSpPr>
              <p:cNvPr id="3" name="Content Placeholder 2">
                <a:extLst>
                  <a:ext uri="{FF2B5EF4-FFF2-40B4-BE49-F238E27FC236}">
                    <a16:creationId xmlns:a16="http://schemas.microsoft.com/office/drawing/2014/main" id="{713C2F46-FD34-126A-78C1-9991D108A687}"/>
                  </a:ext>
                </a:extLst>
              </p:cNvPr>
              <p:cNvSpPr>
                <a:spLocks noGrp="1" noRot="1" noChangeAspect="1" noMove="1" noResize="1" noEditPoints="1" noAdjustHandles="1" noChangeArrowheads="1" noChangeShapeType="1" noTextEdit="1"/>
              </p:cNvSpPr>
              <p:nvPr>
                <p:ph idx="1"/>
              </p:nvPr>
            </p:nvSpPr>
            <p:spPr>
              <a:xfrm>
                <a:off x="838200" y="1825625"/>
                <a:ext cx="10515600" cy="1834206"/>
              </a:xfrm>
              <a:blipFill>
                <a:blip r:embed="rId3"/>
                <a:stretch>
                  <a:fillRect l="-1086" t="-5517"/>
                </a:stretch>
              </a:blipFill>
            </p:spPr>
            <p:txBody>
              <a:bodyPr/>
              <a:lstStyle/>
              <a:p>
                <a:r>
                  <a:rPr lang="en-US">
                    <a:noFill/>
                  </a:rPr>
                  <a:t> </a:t>
                </a:r>
              </a:p>
            </p:txBody>
          </p:sp>
        </mc:Fallback>
      </mc:AlternateContent>
      <p:grpSp>
        <p:nvGrpSpPr>
          <p:cNvPr id="22" name="Group 21">
            <a:extLst>
              <a:ext uri="{FF2B5EF4-FFF2-40B4-BE49-F238E27FC236}">
                <a16:creationId xmlns:a16="http://schemas.microsoft.com/office/drawing/2014/main" id="{44EAB5C0-9DCF-3E1C-9BE6-83D8668B1E8B}"/>
              </a:ext>
            </a:extLst>
          </p:cNvPr>
          <p:cNvGrpSpPr/>
          <p:nvPr/>
        </p:nvGrpSpPr>
        <p:grpSpPr>
          <a:xfrm>
            <a:off x="838200" y="2853672"/>
            <a:ext cx="9349839" cy="1147622"/>
            <a:chOff x="838200" y="2853672"/>
            <a:chExt cx="9349839" cy="1147622"/>
          </a:xfrm>
        </p:grpSpPr>
        <p:sp>
          <p:nvSpPr>
            <p:cNvPr id="6" name="TextBox 5">
              <a:extLst>
                <a:ext uri="{FF2B5EF4-FFF2-40B4-BE49-F238E27FC236}">
                  <a16:creationId xmlns:a16="http://schemas.microsoft.com/office/drawing/2014/main" id="{949D70F9-9652-1353-3135-9AD982DE9195}"/>
                </a:ext>
              </a:extLst>
            </p:cNvPr>
            <p:cNvSpPr txBox="1"/>
            <p:nvPr/>
          </p:nvSpPr>
          <p:spPr>
            <a:xfrm>
              <a:off x="838200" y="3198167"/>
              <a:ext cx="2736273" cy="461665"/>
            </a:xfrm>
            <a:prstGeom prst="rect">
              <a:avLst/>
            </a:prstGeom>
            <a:noFill/>
          </p:spPr>
          <p:txBody>
            <a:bodyPr wrap="square">
              <a:spAutoFit/>
            </a:bodyPr>
            <a:lstStyle/>
            <a:p>
              <a:pPr marL="742950" lvl="1" indent="-285750">
                <a:buFont typeface="Arial" panose="020B0604020202020204" pitchFamily="34" charset="0"/>
                <a:buChar char="•"/>
              </a:pPr>
              <a:r>
                <a:rPr lang="en-US" sz="2400" dirty="0">
                  <a:solidFill>
                    <a:schemeClr val="accent1"/>
                  </a:solidFill>
                </a:rPr>
                <a:t>The error       </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102969D8-4049-831D-2C0B-14A4FEEFB61E}"/>
                    </a:ext>
                  </a:extLst>
                </p:cNvPr>
                <p:cNvSpPr txBox="1"/>
                <p:nvPr/>
              </p:nvSpPr>
              <p:spPr>
                <a:xfrm>
                  <a:off x="2897582" y="2853672"/>
                  <a:ext cx="3983674" cy="114762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nary>
                          <m:naryPr>
                            <m:chr m:val="∑"/>
                            <m:ctrlPr>
                              <a:rPr lang="en-US" sz="2400" i="1" smtClean="0">
                                <a:solidFill>
                                  <a:schemeClr val="accent1"/>
                                </a:solidFill>
                                <a:latin typeface="Cambria Math" panose="02040503050406030204" pitchFamily="18" charset="0"/>
                              </a:rPr>
                            </m:ctrlPr>
                          </m:naryPr>
                          <m:sub>
                            <m:r>
                              <a:rPr lang="en-US" sz="2400" b="0" i="1" smtClean="0">
                                <a:solidFill>
                                  <a:schemeClr val="accent1"/>
                                </a:solidFill>
                                <a:latin typeface="Cambria Math" panose="02040503050406030204" pitchFamily="18" charset="0"/>
                              </a:rPr>
                              <m:t>𝑡</m:t>
                            </m:r>
                            <m:r>
                              <a:rPr lang="en-US" sz="2400" b="0" i="1" smtClean="0">
                                <a:solidFill>
                                  <a:schemeClr val="accent1"/>
                                </a:solidFill>
                                <a:latin typeface="Cambria Math" panose="02040503050406030204" pitchFamily="18" charset="0"/>
                              </a:rPr>
                              <m:t>=1</m:t>
                            </m:r>
                          </m:sub>
                          <m:sup>
                            <m:sSub>
                              <m:sSubPr>
                                <m:ctrlPr>
                                  <a:rPr lang="en-US" sz="2400" b="0" i="1" smtClean="0">
                                    <a:solidFill>
                                      <a:schemeClr val="accent1"/>
                                    </a:solidFill>
                                    <a:latin typeface="Cambria Math" panose="02040503050406030204" pitchFamily="18" charset="0"/>
                                  </a:rPr>
                                </m:ctrlPr>
                              </m:sSubPr>
                              <m:e>
                                <m:r>
                                  <a:rPr lang="en-US" sz="2400" b="0" i="1" smtClean="0">
                                    <a:solidFill>
                                      <a:schemeClr val="accent1"/>
                                    </a:solidFill>
                                    <a:latin typeface="Cambria Math" panose="02040503050406030204" pitchFamily="18" charset="0"/>
                                  </a:rPr>
                                  <m:t>𝑇</m:t>
                                </m:r>
                              </m:e>
                              <m:sub>
                                <m:r>
                                  <a:rPr lang="en-US" sz="2400" b="0" i="1" smtClean="0">
                                    <a:solidFill>
                                      <a:schemeClr val="accent1"/>
                                    </a:solidFill>
                                    <a:latin typeface="Cambria Math" panose="02040503050406030204" pitchFamily="18" charset="0"/>
                                  </a:rPr>
                                  <m:t>0</m:t>
                                </m:r>
                              </m:sub>
                            </m:sSub>
                          </m:sup>
                          <m:e>
                            <m:sSup>
                              <m:sSupPr>
                                <m:ctrlPr>
                                  <a:rPr lang="en-US" sz="2400" b="0" i="1" smtClean="0">
                                    <a:solidFill>
                                      <a:schemeClr val="accent1"/>
                                    </a:solidFill>
                                    <a:latin typeface="Cambria Math" panose="02040503050406030204" pitchFamily="18" charset="0"/>
                                  </a:rPr>
                                </m:ctrlPr>
                              </m:sSupPr>
                              <m:e>
                                <m:d>
                                  <m:dPr>
                                    <m:ctrlPr>
                                      <a:rPr lang="en-US" sz="2400" b="0" i="1" smtClean="0">
                                        <a:solidFill>
                                          <a:schemeClr val="accent1"/>
                                        </a:solidFill>
                                        <a:latin typeface="Cambria Math" panose="02040503050406030204" pitchFamily="18" charset="0"/>
                                      </a:rPr>
                                    </m:ctrlPr>
                                  </m:dPr>
                                  <m:e>
                                    <m:sSub>
                                      <m:sSubPr>
                                        <m:ctrlPr>
                                          <a:rPr lang="en-US" sz="2400" i="1" smtClean="0">
                                            <a:solidFill>
                                              <a:schemeClr val="accent5"/>
                                            </a:solidFill>
                                            <a:latin typeface="Cambria Math" panose="02040503050406030204" pitchFamily="18" charset="0"/>
                                          </a:rPr>
                                        </m:ctrlPr>
                                      </m:sSubPr>
                                      <m:e>
                                        <m:r>
                                          <a:rPr lang="en-US" sz="2400" i="1">
                                            <a:solidFill>
                                              <a:schemeClr val="accent5"/>
                                            </a:solidFill>
                                            <a:latin typeface="Cambria Math" panose="02040503050406030204" pitchFamily="18" charset="0"/>
                                          </a:rPr>
                                          <m:t>𝑌</m:t>
                                        </m:r>
                                      </m:e>
                                      <m:sub>
                                        <m:r>
                                          <m:rPr>
                                            <m:sty m:val="p"/>
                                          </m:rPr>
                                          <a:rPr lang="en-US" sz="2400" b="0" i="0" smtClean="0">
                                            <a:solidFill>
                                              <a:schemeClr val="accent5"/>
                                            </a:solidFill>
                                            <a:latin typeface="Cambria Math" panose="02040503050406030204" pitchFamily="18" charset="0"/>
                                          </a:rPr>
                                          <m:t>CA</m:t>
                                        </m:r>
                                        <m:r>
                                          <a:rPr lang="en-US" sz="2400" i="1">
                                            <a:solidFill>
                                              <a:schemeClr val="accent5"/>
                                            </a:solidFill>
                                            <a:latin typeface="Cambria Math" panose="02040503050406030204" pitchFamily="18" charset="0"/>
                                          </a:rPr>
                                          <m:t>,</m:t>
                                        </m:r>
                                        <m:r>
                                          <a:rPr lang="en-US" sz="2400" i="1">
                                            <a:solidFill>
                                              <a:schemeClr val="accent5"/>
                                            </a:solidFill>
                                            <a:latin typeface="Cambria Math" panose="02040503050406030204" pitchFamily="18" charset="0"/>
                                          </a:rPr>
                                          <m:t>𝑡</m:t>
                                        </m:r>
                                      </m:sub>
                                    </m:sSub>
                                    <m:r>
                                      <a:rPr lang="en-US" sz="2400" i="1">
                                        <a:solidFill>
                                          <a:schemeClr val="accent1"/>
                                        </a:solidFill>
                                        <a:latin typeface="Cambria Math" panose="02040503050406030204" pitchFamily="18" charset="0"/>
                                      </a:rPr>
                                      <m:t>−</m:t>
                                    </m:r>
                                    <m:nary>
                                      <m:naryPr>
                                        <m:chr m:val="∑"/>
                                        <m:supHide m:val="on"/>
                                        <m:ctrlPr>
                                          <a:rPr lang="en-US" sz="2400" i="1" smtClean="0">
                                            <a:solidFill>
                                              <a:schemeClr val="accent6"/>
                                            </a:solidFill>
                                            <a:latin typeface="Cambria Math" panose="02040503050406030204" pitchFamily="18" charset="0"/>
                                          </a:rPr>
                                        </m:ctrlPr>
                                      </m:naryPr>
                                      <m:sub>
                                        <m:r>
                                          <a:rPr lang="en-US" sz="2400" i="1">
                                            <a:solidFill>
                                              <a:schemeClr val="accent6"/>
                                            </a:solidFill>
                                            <a:latin typeface="Cambria Math" panose="02040503050406030204" pitchFamily="18" charset="0"/>
                                          </a:rPr>
                                          <m:t>𝑖</m:t>
                                        </m:r>
                                        <m:r>
                                          <a:rPr lang="en-US" sz="2400" i="1">
                                            <a:solidFill>
                                              <a:schemeClr val="accent6"/>
                                            </a:solidFill>
                                            <a:latin typeface="Cambria Math" panose="02040503050406030204" pitchFamily="18" charset="0"/>
                                          </a:rPr>
                                          <m:t>≠</m:t>
                                        </m:r>
                                        <m:r>
                                          <m:rPr>
                                            <m:sty m:val="p"/>
                                          </m:rPr>
                                          <a:rPr lang="en-US" sz="2400" i="0">
                                            <a:solidFill>
                                              <a:schemeClr val="accent6"/>
                                            </a:solidFill>
                                            <a:latin typeface="Cambria Math" panose="02040503050406030204" pitchFamily="18" charset="0"/>
                                          </a:rPr>
                                          <m:t>CA</m:t>
                                        </m:r>
                                      </m:sub>
                                      <m:sup/>
                                      <m:e>
                                        <m:sSub>
                                          <m:sSubPr>
                                            <m:ctrlPr>
                                              <a:rPr lang="en-US" sz="2400" i="1">
                                                <a:solidFill>
                                                  <a:schemeClr val="accent6"/>
                                                </a:solidFill>
                                                <a:latin typeface="Cambria Math" panose="02040503050406030204" pitchFamily="18" charset="0"/>
                                              </a:rPr>
                                            </m:ctrlPr>
                                          </m:sSubPr>
                                          <m:e>
                                            <m:r>
                                              <a:rPr lang="en-US" sz="2400" i="1">
                                                <a:solidFill>
                                                  <a:schemeClr val="accent6"/>
                                                </a:solidFill>
                                                <a:latin typeface="Cambria Math" panose="02040503050406030204" pitchFamily="18" charset="0"/>
                                              </a:rPr>
                                              <m:t>𝑤</m:t>
                                            </m:r>
                                          </m:e>
                                          <m:sub>
                                            <m:r>
                                              <a:rPr lang="en-US" sz="2400" i="1">
                                                <a:solidFill>
                                                  <a:schemeClr val="accent6"/>
                                                </a:solidFill>
                                                <a:latin typeface="Cambria Math" panose="02040503050406030204" pitchFamily="18" charset="0"/>
                                              </a:rPr>
                                              <m:t>𝑖</m:t>
                                            </m:r>
                                          </m:sub>
                                        </m:sSub>
                                        <m:sSub>
                                          <m:sSubPr>
                                            <m:ctrlPr>
                                              <a:rPr lang="en-US" sz="2400" i="1">
                                                <a:solidFill>
                                                  <a:schemeClr val="accent6"/>
                                                </a:solidFill>
                                                <a:latin typeface="Cambria Math" panose="02040503050406030204" pitchFamily="18" charset="0"/>
                                              </a:rPr>
                                            </m:ctrlPr>
                                          </m:sSubPr>
                                          <m:e>
                                            <m:r>
                                              <a:rPr lang="en-US" sz="2400" i="1">
                                                <a:solidFill>
                                                  <a:schemeClr val="accent6"/>
                                                </a:solidFill>
                                                <a:latin typeface="Cambria Math" panose="02040503050406030204" pitchFamily="18" charset="0"/>
                                              </a:rPr>
                                              <m:t>𝑌</m:t>
                                            </m:r>
                                          </m:e>
                                          <m:sub>
                                            <m:r>
                                              <a:rPr lang="en-US" sz="2400" i="1">
                                                <a:solidFill>
                                                  <a:schemeClr val="accent6"/>
                                                </a:solidFill>
                                                <a:latin typeface="Cambria Math" panose="02040503050406030204" pitchFamily="18" charset="0"/>
                                              </a:rPr>
                                              <m:t>𝑖𝑡</m:t>
                                            </m:r>
                                          </m:sub>
                                        </m:sSub>
                                      </m:e>
                                    </m:nary>
                                  </m:e>
                                </m:d>
                              </m:e>
                              <m:sup>
                                <m:r>
                                  <a:rPr lang="en-US" sz="2400" b="0" i="1" smtClean="0">
                                    <a:solidFill>
                                      <a:schemeClr val="accent1"/>
                                    </a:solidFill>
                                    <a:latin typeface="Cambria Math" panose="02040503050406030204" pitchFamily="18" charset="0"/>
                                  </a:rPr>
                                  <m:t>2</m:t>
                                </m:r>
                              </m:sup>
                            </m:sSup>
                            <m:r>
                              <a:rPr lang="en-US" sz="2400" b="0" i="1" smtClean="0">
                                <a:solidFill>
                                  <a:schemeClr val="accent1"/>
                                </a:solidFill>
                                <a:latin typeface="Cambria Math" panose="02040503050406030204" pitchFamily="18" charset="0"/>
                              </a:rPr>
                              <m:t> </m:t>
                            </m:r>
                          </m:e>
                        </m:nary>
                      </m:oMath>
                    </m:oMathPara>
                  </a14:m>
                  <a:endParaRPr lang="en-US" sz="2400" dirty="0">
                    <a:solidFill>
                      <a:schemeClr val="accent1"/>
                    </a:solidFill>
                  </a:endParaRPr>
                </a:p>
              </p:txBody>
            </p:sp>
          </mc:Choice>
          <mc:Fallback xmlns="">
            <p:sp>
              <p:nvSpPr>
                <p:cNvPr id="8" name="TextBox 7">
                  <a:extLst>
                    <a:ext uri="{FF2B5EF4-FFF2-40B4-BE49-F238E27FC236}">
                      <a16:creationId xmlns:a16="http://schemas.microsoft.com/office/drawing/2014/main" id="{102969D8-4049-831D-2C0B-14A4FEEFB61E}"/>
                    </a:ext>
                  </a:extLst>
                </p:cNvPr>
                <p:cNvSpPr txBox="1">
                  <a:spLocks noRot="1" noChangeAspect="1" noMove="1" noResize="1" noEditPoints="1" noAdjustHandles="1" noChangeArrowheads="1" noChangeShapeType="1" noTextEdit="1"/>
                </p:cNvSpPr>
                <p:nvPr/>
              </p:nvSpPr>
              <p:spPr>
                <a:xfrm>
                  <a:off x="2897582" y="2853672"/>
                  <a:ext cx="3983674" cy="1147622"/>
                </a:xfrm>
                <a:prstGeom prst="rect">
                  <a:avLst/>
                </a:prstGeom>
                <a:blipFill>
                  <a:blip r:embed="rId4"/>
                  <a:stretch>
                    <a:fillRect l="-20064" t="-98901" b="-157143"/>
                  </a:stretch>
                </a:blipFill>
              </p:spPr>
              <p:txBody>
                <a:bodyPr/>
                <a:lstStyle/>
                <a:p>
                  <a:r>
                    <a:rPr lang="en-US">
                      <a:noFill/>
                    </a:rPr>
                    <a:t> </a:t>
                  </a:r>
                </a:p>
              </p:txBody>
            </p:sp>
          </mc:Fallback>
        </mc:AlternateContent>
        <p:sp>
          <p:nvSpPr>
            <p:cNvPr id="9" name="TextBox 8">
              <a:extLst>
                <a:ext uri="{FF2B5EF4-FFF2-40B4-BE49-F238E27FC236}">
                  <a16:creationId xmlns:a16="http://schemas.microsoft.com/office/drawing/2014/main" id="{ADD9B407-DBB0-7660-28D4-ED0E33077C98}"/>
                </a:ext>
              </a:extLst>
            </p:cNvPr>
            <p:cNvSpPr txBox="1"/>
            <p:nvPr/>
          </p:nvSpPr>
          <p:spPr>
            <a:xfrm>
              <a:off x="6204364" y="3198166"/>
              <a:ext cx="3983675" cy="461665"/>
            </a:xfrm>
            <a:prstGeom prst="rect">
              <a:avLst/>
            </a:prstGeom>
            <a:noFill/>
          </p:spPr>
          <p:txBody>
            <a:bodyPr wrap="square">
              <a:spAutoFit/>
            </a:bodyPr>
            <a:lstStyle/>
            <a:p>
              <a:pPr lvl="1"/>
              <a:r>
                <a:rPr lang="en-US" sz="2400" dirty="0">
                  <a:solidFill>
                    <a:schemeClr val="accent1"/>
                  </a:solidFill>
                </a:rPr>
                <a:t>is as small as possible</a:t>
              </a:r>
            </a:p>
          </p:txBody>
        </p:sp>
      </p:gr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03C2539E-F100-5133-4FFE-0F36D3E0381F}"/>
                  </a:ext>
                </a:extLst>
              </p:cNvPr>
              <p:cNvSpPr txBox="1"/>
              <p:nvPr/>
            </p:nvSpPr>
            <p:spPr>
              <a:xfrm>
                <a:off x="5403273" y="4567675"/>
                <a:ext cx="1769422" cy="923330"/>
              </a:xfrm>
              <a:prstGeom prst="rect">
                <a:avLst/>
              </a:prstGeom>
              <a:noFill/>
            </p:spPr>
            <p:txBody>
              <a:bodyPr wrap="square" rtlCol="0">
                <a:spAutoFit/>
              </a:bodyPr>
              <a:lstStyle/>
              <a:p>
                <a:pPr algn="ctr"/>
                <a:r>
                  <a:rPr lang="en-US" dirty="0">
                    <a:solidFill>
                      <a:schemeClr val="accent6"/>
                    </a:solidFill>
                  </a:rPr>
                  <a:t>Synthetic-CA’s outcome at time </a:t>
                </a:r>
                <a14:m>
                  <m:oMath xmlns:m="http://schemas.openxmlformats.org/officeDocument/2006/math">
                    <m:r>
                      <a:rPr lang="en-US" i="1" dirty="0" smtClean="0">
                        <a:solidFill>
                          <a:schemeClr val="accent6"/>
                        </a:solidFill>
                        <a:latin typeface="Cambria Math" panose="02040503050406030204" pitchFamily="18" charset="0"/>
                      </a:rPr>
                      <m:t>𝑡</m:t>
                    </m:r>
                  </m:oMath>
                </a14:m>
                <a:endParaRPr lang="en-US" dirty="0">
                  <a:solidFill>
                    <a:schemeClr val="accent6"/>
                  </a:solidFill>
                </a:endParaRPr>
              </a:p>
            </p:txBody>
          </p:sp>
        </mc:Choice>
        <mc:Fallback xmlns="">
          <p:sp>
            <p:nvSpPr>
              <p:cNvPr id="12" name="TextBox 11">
                <a:extLst>
                  <a:ext uri="{FF2B5EF4-FFF2-40B4-BE49-F238E27FC236}">
                    <a16:creationId xmlns:a16="http://schemas.microsoft.com/office/drawing/2014/main" id="{03C2539E-F100-5133-4FFE-0F36D3E0381F}"/>
                  </a:ext>
                </a:extLst>
              </p:cNvPr>
              <p:cNvSpPr txBox="1">
                <a:spLocks noRot="1" noChangeAspect="1" noMove="1" noResize="1" noEditPoints="1" noAdjustHandles="1" noChangeArrowheads="1" noChangeShapeType="1" noTextEdit="1"/>
              </p:cNvSpPr>
              <p:nvPr/>
            </p:nvSpPr>
            <p:spPr>
              <a:xfrm>
                <a:off x="5403273" y="4567675"/>
                <a:ext cx="1769422" cy="923330"/>
              </a:xfrm>
              <a:prstGeom prst="rect">
                <a:avLst/>
              </a:prstGeom>
              <a:blipFill>
                <a:blip r:embed="rId5"/>
                <a:stretch>
                  <a:fillRect t="-2703" r="-1429" b="-9459"/>
                </a:stretch>
              </a:blipFill>
            </p:spPr>
            <p:txBody>
              <a:bodyPr/>
              <a:lstStyle/>
              <a:p>
                <a:r>
                  <a:rPr lang="en-US">
                    <a:noFill/>
                  </a:rPr>
                  <a:t> </a:t>
                </a:r>
              </a:p>
            </p:txBody>
          </p:sp>
        </mc:Fallback>
      </mc:AlternateContent>
      <p:grpSp>
        <p:nvGrpSpPr>
          <p:cNvPr id="23" name="Group 22">
            <a:extLst>
              <a:ext uri="{FF2B5EF4-FFF2-40B4-BE49-F238E27FC236}">
                <a16:creationId xmlns:a16="http://schemas.microsoft.com/office/drawing/2014/main" id="{C625B7EA-6DFA-3857-5C71-2038119DEA12}"/>
              </a:ext>
            </a:extLst>
          </p:cNvPr>
          <p:cNvGrpSpPr/>
          <p:nvPr/>
        </p:nvGrpSpPr>
        <p:grpSpPr>
          <a:xfrm>
            <a:off x="1710048" y="4096987"/>
            <a:ext cx="1769423" cy="1532517"/>
            <a:chOff x="1710048" y="4096987"/>
            <a:chExt cx="1769423" cy="1532517"/>
          </a:xfrm>
        </p:grpSpPr>
        <p:sp>
          <p:nvSpPr>
            <p:cNvPr id="10" name="TextBox 9">
              <a:extLst>
                <a:ext uri="{FF2B5EF4-FFF2-40B4-BE49-F238E27FC236}">
                  <a16:creationId xmlns:a16="http://schemas.microsoft.com/office/drawing/2014/main" id="{F8068A10-1D58-2E74-C05A-2018B737D547}"/>
                </a:ext>
              </a:extLst>
            </p:cNvPr>
            <p:cNvSpPr txBox="1"/>
            <p:nvPr/>
          </p:nvSpPr>
          <p:spPr>
            <a:xfrm>
              <a:off x="1710048" y="4429175"/>
              <a:ext cx="1769423" cy="1200329"/>
            </a:xfrm>
            <a:prstGeom prst="rect">
              <a:avLst/>
            </a:prstGeom>
            <a:noFill/>
          </p:spPr>
          <p:txBody>
            <a:bodyPr wrap="square" rtlCol="0">
              <a:spAutoFit/>
            </a:bodyPr>
            <a:lstStyle/>
            <a:p>
              <a:pPr algn="ctr"/>
              <a:r>
                <a:rPr lang="en-US" dirty="0">
                  <a:solidFill>
                    <a:schemeClr val="accent2"/>
                  </a:solidFill>
                </a:rPr>
                <a:t>Sum over all time periods before the treatment</a:t>
              </a:r>
            </a:p>
          </p:txBody>
        </p:sp>
        <p:cxnSp>
          <p:nvCxnSpPr>
            <p:cNvPr id="14" name="Straight Arrow Connector 13">
              <a:extLst>
                <a:ext uri="{FF2B5EF4-FFF2-40B4-BE49-F238E27FC236}">
                  <a16:creationId xmlns:a16="http://schemas.microsoft.com/office/drawing/2014/main" id="{9AF577F1-8F99-8DF6-DADF-737C0CC9DA89}"/>
                </a:ext>
              </a:extLst>
            </p:cNvPr>
            <p:cNvCxnSpPr>
              <a:cxnSpLocks/>
              <a:stCxn id="10" idx="0"/>
            </p:cNvCxnSpPr>
            <p:nvPr/>
          </p:nvCxnSpPr>
          <p:spPr>
            <a:xfrm flipV="1">
              <a:off x="2594760" y="4096987"/>
              <a:ext cx="730331" cy="332188"/>
            </a:xfrm>
            <a:prstGeom prst="straightConnector1">
              <a:avLst/>
            </a:prstGeom>
            <a:ln>
              <a:solidFill>
                <a:schemeClr val="accent2"/>
              </a:solidFill>
              <a:tailEnd type="triangle"/>
            </a:ln>
          </p:spPr>
          <p:style>
            <a:lnRef idx="2">
              <a:schemeClr val="accent1"/>
            </a:lnRef>
            <a:fillRef idx="0">
              <a:schemeClr val="accent1"/>
            </a:fillRef>
            <a:effectRef idx="1">
              <a:schemeClr val="accent1"/>
            </a:effectRef>
            <a:fontRef idx="minor">
              <a:schemeClr val="tx1"/>
            </a:fontRef>
          </p:style>
        </p:cxnSp>
      </p:grpSp>
      <p:grpSp>
        <p:nvGrpSpPr>
          <p:cNvPr id="24" name="Group 23">
            <a:extLst>
              <a:ext uri="{FF2B5EF4-FFF2-40B4-BE49-F238E27FC236}">
                <a16:creationId xmlns:a16="http://schemas.microsoft.com/office/drawing/2014/main" id="{4DD6A4C5-DC05-DD80-C659-296E5C37412D}"/>
              </a:ext>
            </a:extLst>
          </p:cNvPr>
          <p:cNvGrpSpPr/>
          <p:nvPr/>
        </p:nvGrpSpPr>
        <p:grpSpPr>
          <a:xfrm>
            <a:off x="3633850" y="3794768"/>
            <a:ext cx="1615044" cy="1441564"/>
            <a:chOff x="3633850" y="3794768"/>
            <a:chExt cx="1615044" cy="1441564"/>
          </a:xfrm>
        </p:grpSpPr>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6C7F46A5-B511-F1DC-D2A1-BD7445F7EA8E}"/>
                    </a:ext>
                  </a:extLst>
                </p:cNvPr>
                <p:cNvSpPr txBox="1"/>
                <p:nvPr/>
              </p:nvSpPr>
              <p:spPr>
                <a:xfrm>
                  <a:off x="3633850" y="4590001"/>
                  <a:ext cx="1615044" cy="646331"/>
                </a:xfrm>
                <a:prstGeom prst="rect">
                  <a:avLst/>
                </a:prstGeom>
                <a:noFill/>
              </p:spPr>
              <p:txBody>
                <a:bodyPr wrap="square" rtlCol="0">
                  <a:spAutoFit/>
                </a:bodyPr>
                <a:lstStyle/>
                <a:p>
                  <a:pPr algn="ctr"/>
                  <a:r>
                    <a:rPr lang="en-US" dirty="0">
                      <a:solidFill>
                        <a:schemeClr val="accent5"/>
                      </a:solidFill>
                    </a:rPr>
                    <a:t>CA’s outcome at time </a:t>
                  </a:r>
                  <a14:m>
                    <m:oMath xmlns:m="http://schemas.openxmlformats.org/officeDocument/2006/math">
                      <m:r>
                        <a:rPr lang="en-US" i="1" dirty="0" smtClean="0">
                          <a:solidFill>
                            <a:schemeClr val="accent5"/>
                          </a:solidFill>
                          <a:latin typeface="Cambria Math" panose="02040503050406030204" pitchFamily="18" charset="0"/>
                        </a:rPr>
                        <m:t>𝑡</m:t>
                      </m:r>
                    </m:oMath>
                  </a14:m>
                  <a:endParaRPr lang="en-US" dirty="0">
                    <a:solidFill>
                      <a:schemeClr val="accent5"/>
                    </a:solidFill>
                  </a:endParaRPr>
                </a:p>
              </p:txBody>
            </p:sp>
          </mc:Choice>
          <mc:Fallback xmlns="">
            <p:sp>
              <p:nvSpPr>
                <p:cNvPr id="11" name="TextBox 10">
                  <a:extLst>
                    <a:ext uri="{FF2B5EF4-FFF2-40B4-BE49-F238E27FC236}">
                      <a16:creationId xmlns:a16="http://schemas.microsoft.com/office/drawing/2014/main" id="{6C7F46A5-B511-F1DC-D2A1-BD7445F7EA8E}"/>
                    </a:ext>
                  </a:extLst>
                </p:cNvPr>
                <p:cNvSpPr txBox="1">
                  <a:spLocks noRot="1" noChangeAspect="1" noMove="1" noResize="1" noEditPoints="1" noAdjustHandles="1" noChangeArrowheads="1" noChangeShapeType="1" noTextEdit="1"/>
                </p:cNvSpPr>
                <p:nvPr/>
              </p:nvSpPr>
              <p:spPr>
                <a:xfrm>
                  <a:off x="3633850" y="4590001"/>
                  <a:ext cx="1615044" cy="646331"/>
                </a:xfrm>
                <a:prstGeom prst="rect">
                  <a:avLst/>
                </a:prstGeom>
                <a:blipFill>
                  <a:blip r:embed="rId6"/>
                  <a:stretch>
                    <a:fillRect l="-1563" t="-3846" r="-3906" b="-13462"/>
                  </a:stretch>
                </a:blipFill>
              </p:spPr>
              <p:txBody>
                <a:bodyPr/>
                <a:lstStyle/>
                <a:p>
                  <a:r>
                    <a:rPr lang="en-US">
                      <a:noFill/>
                    </a:rPr>
                    <a:t> </a:t>
                  </a:r>
                </a:p>
              </p:txBody>
            </p:sp>
          </mc:Fallback>
        </mc:AlternateContent>
        <p:cxnSp>
          <p:nvCxnSpPr>
            <p:cNvPr id="16" name="Straight Arrow Connector 15">
              <a:extLst>
                <a:ext uri="{FF2B5EF4-FFF2-40B4-BE49-F238E27FC236}">
                  <a16:creationId xmlns:a16="http://schemas.microsoft.com/office/drawing/2014/main" id="{C53C16A7-5433-102F-D932-8808F9DC94B9}"/>
                </a:ext>
              </a:extLst>
            </p:cNvPr>
            <p:cNvCxnSpPr>
              <a:cxnSpLocks/>
              <a:stCxn id="11" idx="0"/>
            </p:cNvCxnSpPr>
            <p:nvPr/>
          </p:nvCxnSpPr>
          <p:spPr>
            <a:xfrm flipH="1" flipV="1">
              <a:off x="4364183" y="3794768"/>
              <a:ext cx="77189" cy="795233"/>
            </a:xfrm>
            <a:prstGeom prst="straightConnector1">
              <a:avLst/>
            </a:prstGeom>
            <a:ln>
              <a:solidFill>
                <a:schemeClr val="accent5"/>
              </a:solidFill>
              <a:tailEnd type="triangle"/>
            </a:ln>
          </p:spPr>
          <p:style>
            <a:lnRef idx="2">
              <a:schemeClr val="accent1"/>
            </a:lnRef>
            <a:fillRef idx="0">
              <a:schemeClr val="accent1"/>
            </a:fillRef>
            <a:effectRef idx="1">
              <a:schemeClr val="accent1"/>
            </a:effectRef>
            <a:fontRef idx="minor">
              <a:schemeClr val="tx1"/>
            </a:fontRef>
          </p:style>
        </p:cxnSp>
      </p:grpSp>
      <p:cxnSp>
        <p:nvCxnSpPr>
          <p:cNvPr id="19" name="Straight Arrow Connector 18">
            <a:extLst>
              <a:ext uri="{FF2B5EF4-FFF2-40B4-BE49-F238E27FC236}">
                <a16:creationId xmlns:a16="http://schemas.microsoft.com/office/drawing/2014/main" id="{B698B0EE-363F-4048-CCF2-72BE1CDFFFD1}"/>
              </a:ext>
            </a:extLst>
          </p:cNvPr>
          <p:cNvCxnSpPr>
            <a:cxnSpLocks/>
            <a:stCxn id="12" idx="0"/>
          </p:cNvCxnSpPr>
          <p:nvPr/>
        </p:nvCxnSpPr>
        <p:spPr>
          <a:xfrm flipH="1" flipV="1">
            <a:off x="5700156" y="3974231"/>
            <a:ext cx="587828" cy="593444"/>
          </a:xfrm>
          <a:prstGeom prst="straightConnector1">
            <a:avLst/>
          </a:prstGeom>
          <a:ln>
            <a:solidFill>
              <a:schemeClr val="accent6"/>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885329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9"/>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2"/>
      <p:bldP spid="12"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924AC9-FA2A-4691-A294-947F52337A9B}"/>
              </a:ext>
            </a:extLst>
          </p:cNvPr>
          <p:cNvSpPr>
            <a:spLocks noGrp="1"/>
          </p:cNvSpPr>
          <p:nvPr>
            <p:ph type="title"/>
          </p:nvPr>
        </p:nvSpPr>
        <p:spPr>
          <a:xfrm>
            <a:off x="879986" y="197854"/>
            <a:ext cx="10515600" cy="1325563"/>
          </a:xfrm>
        </p:spPr>
        <p:txBody>
          <a:bodyPr/>
          <a:lstStyle/>
          <a:p>
            <a:r>
              <a:rPr lang="en-US" dirty="0"/>
              <a:t>What if you had covariates?</a:t>
            </a:r>
          </a:p>
        </p:txBody>
      </p:sp>
      <p:grpSp>
        <p:nvGrpSpPr>
          <p:cNvPr id="43" name="Group 42">
            <a:extLst>
              <a:ext uri="{FF2B5EF4-FFF2-40B4-BE49-F238E27FC236}">
                <a16:creationId xmlns:a16="http://schemas.microsoft.com/office/drawing/2014/main" id="{EC2A7EDE-643A-7591-45DC-796506B52062}"/>
              </a:ext>
            </a:extLst>
          </p:cNvPr>
          <p:cNvGrpSpPr/>
          <p:nvPr/>
        </p:nvGrpSpPr>
        <p:grpSpPr>
          <a:xfrm>
            <a:off x="395046" y="1496254"/>
            <a:ext cx="4782837" cy="3129242"/>
            <a:chOff x="846067" y="2140109"/>
            <a:chExt cx="5796198" cy="3792249"/>
          </a:xfrm>
        </p:grpSpPr>
        <p:grpSp>
          <p:nvGrpSpPr>
            <p:cNvPr id="4" name="Group 3">
              <a:extLst>
                <a:ext uri="{FF2B5EF4-FFF2-40B4-BE49-F238E27FC236}">
                  <a16:creationId xmlns:a16="http://schemas.microsoft.com/office/drawing/2014/main" id="{A197C34C-8867-8789-52C4-FC7993F2982B}"/>
                </a:ext>
              </a:extLst>
            </p:cNvPr>
            <p:cNvGrpSpPr/>
            <p:nvPr/>
          </p:nvGrpSpPr>
          <p:grpSpPr>
            <a:xfrm>
              <a:off x="846067" y="2140109"/>
              <a:ext cx="5796198" cy="3792249"/>
              <a:chOff x="728589" y="1944290"/>
              <a:chExt cx="5796198" cy="3792249"/>
            </a:xfrm>
          </p:grpSpPr>
          <p:sp>
            <p:nvSpPr>
              <p:cNvPr id="5" name="Rectangle 4">
                <a:extLst>
                  <a:ext uri="{FF2B5EF4-FFF2-40B4-BE49-F238E27FC236}">
                    <a16:creationId xmlns:a16="http://schemas.microsoft.com/office/drawing/2014/main" id="{4A035A00-7322-6797-8010-5B94A9BFEA1A}"/>
                  </a:ext>
                </a:extLst>
              </p:cNvPr>
              <p:cNvSpPr/>
              <p:nvPr/>
            </p:nvSpPr>
            <p:spPr>
              <a:xfrm>
                <a:off x="2275669" y="3043251"/>
                <a:ext cx="4249118" cy="2693288"/>
              </a:xfrm>
              <a:prstGeom prst="rect">
                <a:avLst/>
              </a:prstGeom>
              <a:solidFill>
                <a:schemeClr val="bg1">
                  <a:lumMod val="9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78B49EF3-05C4-F31C-5462-8A01C09D3FCD}"/>
                  </a:ext>
                </a:extLst>
              </p:cNvPr>
              <p:cNvSpPr txBox="1"/>
              <p:nvPr/>
            </p:nvSpPr>
            <p:spPr>
              <a:xfrm rot="16200000">
                <a:off x="445787" y="4177938"/>
                <a:ext cx="1027269" cy="461665"/>
              </a:xfrm>
              <a:prstGeom prst="rect">
                <a:avLst/>
              </a:prstGeom>
              <a:noFill/>
            </p:spPr>
            <p:txBody>
              <a:bodyPr wrap="none" rtlCol="0">
                <a:spAutoFit/>
              </a:bodyPr>
              <a:lstStyle/>
              <a:p>
                <a:r>
                  <a:rPr lang="en-US" sz="2400" dirty="0">
                    <a:solidFill>
                      <a:schemeClr val="accent1"/>
                    </a:solidFill>
                  </a:rPr>
                  <a:t>States</a:t>
                </a:r>
              </a:p>
            </p:txBody>
          </p:sp>
          <p:sp>
            <p:nvSpPr>
              <p:cNvPr id="7" name="TextBox 6">
                <a:extLst>
                  <a:ext uri="{FF2B5EF4-FFF2-40B4-BE49-F238E27FC236}">
                    <a16:creationId xmlns:a16="http://schemas.microsoft.com/office/drawing/2014/main" id="{818BC190-82A4-E18A-BD5F-1F84156BBEFE}"/>
                  </a:ext>
                </a:extLst>
              </p:cNvPr>
              <p:cNvSpPr txBox="1"/>
              <p:nvPr/>
            </p:nvSpPr>
            <p:spPr>
              <a:xfrm>
                <a:off x="1957166" y="2982218"/>
                <a:ext cx="388917" cy="1736487"/>
              </a:xfrm>
              <a:prstGeom prst="rect">
                <a:avLst/>
              </a:prstGeom>
              <a:noFill/>
            </p:spPr>
            <p:txBody>
              <a:bodyPr wrap="none" rtlCol="0">
                <a:spAutoFit/>
              </a:bodyPr>
              <a:lstStyle/>
              <a:p>
                <a:pPr>
                  <a:lnSpc>
                    <a:spcPct val="150000"/>
                  </a:lnSpc>
                </a:pPr>
                <a:r>
                  <a:rPr lang="en-US" sz="2000" b="1" dirty="0"/>
                  <a:t>1</a:t>
                </a:r>
              </a:p>
              <a:p>
                <a:pPr>
                  <a:lnSpc>
                    <a:spcPct val="150000"/>
                  </a:lnSpc>
                </a:pPr>
                <a:r>
                  <a:rPr lang="en-US" sz="2000" b="1" dirty="0"/>
                  <a:t>2</a:t>
                </a:r>
              </a:p>
              <a:p>
                <a:pPr>
                  <a:lnSpc>
                    <a:spcPct val="150000"/>
                  </a:lnSpc>
                </a:pPr>
                <a:r>
                  <a:rPr lang="en-US" sz="2000" b="1" dirty="0"/>
                  <a:t>3</a:t>
                </a:r>
              </a:p>
            </p:txBody>
          </p:sp>
          <p:sp>
            <p:nvSpPr>
              <p:cNvPr id="8" name="TextBox 7">
                <a:extLst>
                  <a:ext uri="{FF2B5EF4-FFF2-40B4-BE49-F238E27FC236}">
                    <a16:creationId xmlns:a16="http://schemas.microsoft.com/office/drawing/2014/main" id="{6F100453-7861-58A2-4AD9-A5C021353633}"/>
                  </a:ext>
                </a:extLst>
              </p:cNvPr>
              <p:cNvSpPr txBox="1"/>
              <p:nvPr/>
            </p:nvSpPr>
            <p:spPr>
              <a:xfrm>
                <a:off x="1944343" y="5246092"/>
                <a:ext cx="404458" cy="484883"/>
              </a:xfrm>
              <a:prstGeom prst="rect">
                <a:avLst/>
              </a:prstGeom>
              <a:noFill/>
            </p:spPr>
            <p:txBody>
              <a:bodyPr wrap="none" rtlCol="0">
                <a:spAutoFit/>
              </a:bodyPr>
              <a:lstStyle/>
              <a:p>
                <a:r>
                  <a:rPr lang="en-US" sz="2000" b="1" dirty="0"/>
                  <a:t>n</a:t>
                </a: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29A1D84D-97B7-885F-B105-74BA957D0FF3}"/>
                      </a:ext>
                    </a:extLst>
                  </p:cNvPr>
                  <p:cNvSpPr txBox="1"/>
                  <p:nvPr/>
                </p:nvSpPr>
                <p:spPr>
                  <a:xfrm>
                    <a:off x="1856429" y="4808792"/>
                    <a:ext cx="30328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oMath>
                      </m:oMathPara>
                    </a14:m>
                    <a:endParaRPr lang="en-US" dirty="0"/>
                  </a:p>
                </p:txBody>
              </p:sp>
            </mc:Choice>
            <mc:Fallback xmlns="">
              <p:sp>
                <p:nvSpPr>
                  <p:cNvPr id="8" name="TextBox 7">
                    <a:extLst>
                      <a:ext uri="{FF2B5EF4-FFF2-40B4-BE49-F238E27FC236}">
                        <a16:creationId xmlns:a16="http://schemas.microsoft.com/office/drawing/2014/main" id="{AD4B4CA7-2506-8D36-A7D4-A17D86914AF3}"/>
                      </a:ext>
                    </a:extLst>
                  </p:cNvPr>
                  <p:cNvSpPr txBox="1">
                    <a:spLocks noRot="1" noChangeAspect="1" noMove="1" noResize="1" noEditPoints="1" noAdjustHandles="1" noChangeArrowheads="1" noChangeShapeType="1" noTextEdit="1"/>
                  </p:cNvSpPr>
                  <p:nvPr/>
                </p:nvSpPr>
                <p:spPr>
                  <a:xfrm>
                    <a:off x="1856429" y="4808792"/>
                    <a:ext cx="303288" cy="369332"/>
                  </a:xfrm>
                  <a:prstGeom prst="rect">
                    <a:avLst/>
                  </a:prstGeom>
                  <a:blipFill>
                    <a:blip r:embed="rId3"/>
                    <a:stretch>
                      <a:fillRect/>
                    </a:stretch>
                  </a:blipFill>
                </p:spPr>
                <p:txBody>
                  <a:bodyPr/>
                  <a:lstStyle/>
                  <a:p>
                    <a:r>
                      <a:rPr lang="en-US">
                        <a:noFill/>
                      </a:rPr>
                      <a:t> </a:t>
                    </a:r>
                  </a:p>
                </p:txBody>
              </p:sp>
            </mc:Fallback>
          </mc:AlternateContent>
          <p:sp>
            <p:nvSpPr>
              <p:cNvPr id="10" name="TextBox 9">
                <a:extLst>
                  <a:ext uri="{FF2B5EF4-FFF2-40B4-BE49-F238E27FC236}">
                    <a16:creationId xmlns:a16="http://schemas.microsoft.com/office/drawing/2014/main" id="{C5E8DF0C-1E2A-A46D-9A11-748691FCE842}"/>
                  </a:ext>
                </a:extLst>
              </p:cNvPr>
              <p:cNvSpPr txBox="1"/>
              <p:nvPr/>
            </p:nvSpPr>
            <p:spPr>
              <a:xfrm>
                <a:off x="4144695" y="1944290"/>
                <a:ext cx="903965" cy="461665"/>
              </a:xfrm>
              <a:prstGeom prst="rect">
                <a:avLst/>
              </a:prstGeom>
              <a:noFill/>
            </p:spPr>
            <p:txBody>
              <a:bodyPr wrap="none" rtlCol="0">
                <a:spAutoFit/>
              </a:bodyPr>
              <a:lstStyle/>
              <a:p>
                <a:r>
                  <a:rPr lang="en-US" sz="2400" dirty="0">
                    <a:solidFill>
                      <a:schemeClr val="accent1"/>
                    </a:solidFill>
                  </a:rPr>
                  <a:t>Years</a:t>
                </a:r>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36DAF456-B5AD-0C94-6C04-8AB24CEE7770}"/>
                      </a:ext>
                    </a:extLst>
                  </p:cNvPr>
                  <p:cNvSpPr txBox="1"/>
                  <p:nvPr/>
                </p:nvSpPr>
                <p:spPr>
                  <a:xfrm>
                    <a:off x="2332572" y="2514117"/>
                    <a:ext cx="721672"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1" i="1" smtClean="0">
                              <a:latin typeface="Cambria Math" panose="02040503050406030204" pitchFamily="18" charset="0"/>
                            </a:rPr>
                            <m:t>𝟏</m:t>
                          </m:r>
                        </m:oMath>
                      </m:oMathPara>
                    </a14:m>
                    <a:endParaRPr lang="en-US" sz="2400" b="1" dirty="0"/>
                  </a:p>
                </p:txBody>
              </p:sp>
            </mc:Choice>
            <mc:Fallback xmlns="">
              <p:sp>
                <p:nvSpPr>
                  <p:cNvPr id="11" name="TextBox 10">
                    <a:extLst>
                      <a:ext uri="{FF2B5EF4-FFF2-40B4-BE49-F238E27FC236}">
                        <a16:creationId xmlns:a16="http://schemas.microsoft.com/office/drawing/2014/main" id="{36DAF456-B5AD-0C94-6C04-8AB24CEE7770}"/>
                      </a:ext>
                    </a:extLst>
                  </p:cNvPr>
                  <p:cNvSpPr txBox="1">
                    <a:spLocks noRot="1" noChangeAspect="1" noMove="1" noResize="1" noEditPoints="1" noAdjustHandles="1" noChangeArrowheads="1" noChangeShapeType="1" noTextEdit="1"/>
                  </p:cNvSpPr>
                  <p:nvPr/>
                </p:nvSpPr>
                <p:spPr>
                  <a:xfrm>
                    <a:off x="2332572" y="2514117"/>
                    <a:ext cx="721672" cy="461665"/>
                  </a:xfrm>
                  <a:prstGeom prst="rect">
                    <a:avLst/>
                  </a:prstGeom>
                  <a:blipFill>
                    <a:blip r:embed="rId4"/>
                    <a:stretch>
                      <a:fillRect b="-1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8B17BD04-7BCD-472F-009C-3403BF3AEDFC}"/>
                      </a:ext>
                    </a:extLst>
                  </p:cNvPr>
                  <p:cNvSpPr txBox="1"/>
                  <p:nvPr/>
                </p:nvSpPr>
                <p:spPr>
                  <a:xfrm>
                    <a:off x="3071461" y="2508867"/>
                    <a:ext cx="721672"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1" i="1" smtClean="0">
                              <a:latin typeface="Cambria Math" panose="02040503050406030204" pitchFamily="18" charset="0"/>
                            </a:rPr>
                            <m:t>𝟐</m:t>
                          </m:r>
                        </m:oMath>
                      </m:oMathPara>
                    </a14:m>
                    <a:endParaRPr lang="en-US" sz="2400" b="1" dirty="0"/>
                  </a:p>
                </p:txBody>
              </p:sp>
            </mc:Choice>
            <mc:Fallback xmlns="">
              <p:sp>
                <p:nvSpPr>
                  <p:cNvPr id="11" name="TextBox 10">
                    <a:extLst>
                      <a:ext uri="{FF2B5EF4-FFF2-40B4-BE49-F238E27FC236}">
                        <a16:creationId xmlns:a16="http://schemas.microsoft.com/office/drawing/2014/main" id="{2E01818D-6793-543E-7A78-071D0E11D510}"/>
                      </a:ext>
                    </a:extLst>
                  </p:cNvPr>
                  <p:cNvSpPr txBox="1">
                    <a:spLocks noRot="1" noChangeAspect="1" noMove="1" noResize="1" noEditPoints="1" noAdjustHandles="1" noChangeArrowheads="1" noChangeShapeType="1" noTextEdit="1"/>
                  </p:cNvSpPr>
                  <p:nvPr/>
                </p:nvSpPr>
                <p:spPr>
                  <a:xfrm>
                    <a:off x="3071461" y="2508867"/>
                    <a:ext cx="721672" cy="461665"/>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02C92B79-1ED7-B1CF-1498-FFC15206247B}"/>
                      </a:ext>
                    </a:extLst>
                  </p:cNvPr>
                  <p:cNvSpPr txBox="1"/>
                  <p:nvPr/>
                </p:nvSpPr>
                <p:spPr>
                  <a:xfrm>
                    <a:off x="5575900" y="2494059"/>
                    <a:ext cx="721672"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1" i="1" smtClean="0">
                              <a:latin typeface="Cambria Math" panose="02040503050406030204" pitchFamily="18" charset="0"/>
                            </a:rPr>
                            <m:t>𝑻</m:t>
                          </m:r>
                        </m:oMath>
                      </m:oMathPara>
                    </a14:m>
                    <a:endParaRPr lang="en-US" sz="2400" b="1" dirty="0"/>
                  </a:p>
                </p:txBody>
              </p:sp>
            </mc:Choice>
            <mc:Fallback xmlns="">
              <p:sp>
                <p:nvSpPr>
                  <p:cNvPr id="13" name="TextBox 12">
                    <a:extLst>
                      <a:ext uri="{FF2B5EF4-FFF2-40B4-BE49-F238E27FC236}">
                        <a16:creationId xmlns:a16="http://schemas.microsoft.com/office/drawing/2014/main" id="{02C92B79-1ED7-B1CF-1498-FFC15206247B}"/>
                      </a:ext>
                    </a:extLst>
                  </p:cNvPr>
                  <p:cNvSpPr txBox="1">
                    <a:spLocks noRot="1" noChangeAspect="1" noMove="1" noResize="1" noEditPoints="1" noAdjustHandles="1" noChangeArrowheads="1" noChangeShapeType="1" noTextEdit="1"/>
                  </p:cNvSpPr>
                  <p:nvPr/>
                </p:nvSpPr>
                <p:spPr>
                  <a:xfrm>
                    <a:off x="5575900" y="2494059"/>
                    <a:ext cx="721672" cy="461665"/>
                  </a:xfrm>
                  <a:prstGeom prst="rect">
                    <a:avLst/>
                  </a:prstGeom>
                  <a:blipFill>
                    <a:blip r:embed="rId6"/>
                    <a:stretch>
                      <a:fillRect b="-1290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0A415911-DE57-9FFC-74A9-6C0856781418}"/>
                      </a:ext>
                    </a:extLst>
                  </p:cNvPr>
                  <p:cNvSpPr txBox="1"/>
                  <p:nvPr/>
                </p:nvSpPr>
                <p:spPr>
                  <a:xfrm>
                    <a:off x="2368565" y="3233674"/>
                    <a:ext cx="656856" cy="32117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𝑌</m:t>
                              </m:r>
                            </m:e>
                            <m:sub>
                              <m:r>
                                <a:rPr lang="en-US" sz="2000" b="0" i="1" smtClean="0">
                                  <a:latin typeface="Cambria Math" panose="02040503050406030204" pitchFamily="18" charset="0"/>
                                </a:rPr>
                                <m:t>1,1</m:t>
                              </m:r>
                            </m:sub>
                          </m:sSub>
                        </m:oMath>
                      </m:oMathPara>
                    </a14:m>
                    <a:endParaRPr lang="en-US" sz="2000" dirty="0"/>
                  </a:p>
                </p:txBody>
              </p:sp>
            </mc:Choice>
            <mc:Fallback xmlns="">
              <p:sp>
                <p:nvSpPr>
                  <p:cNvPr id="13" name="TextBox 12">
                    <a:extLst>
                      <a:ext uri="{FF2B5EF4-FFF2-40B4-BE49-F238E27FC236}">
                        <a16:creationId xmlns:a16="http://schemas.microsoft.com/office/drawing/2014/main" id="{10DEDCDF-74FC-279D-F838-F7E3EFBDE257}"/>
                      </a:ext>
                    </a:extLst>
                  </p:cNvPr>
                  <p:cNvSpPr txBox="1">
                    <a:spLocks noRot="1" noChangeAspect="1" noMove="1" noResize="1" noEditPoints="1" noAdjustHandles="1" noChangeArrowheads="1" noChangeShapeType="1" noTextEdit="1"/>
                  </p:cNvSpPr>
                  <p:nvPr/>
                </p:nvSpPr>
                <p:spPr>
                  <a:xfrm>
                    <a:off x="2368565" y="3233674"/>
                    <a:ext cx="656856" cy="321178"/>
                  </a:xfrm>
                  <a:prstGeom prst="rect">
                    <a:avLst/>
                  </a:prstGeom>
                  <a:blipFill>
                    <a:blip r:embed="rId7"/>
                    <a:stretch>
                      <a:fillRect b="-11538"/>
                    </a:stretch>
                  </a:blipFill>
                </p:spPr>
                <p:txBody>
                  <a:bodyPr/>
                  <a:lstStyle/>
                  <a:p>
                    <a:r>
                      <a:rPr lang="en-US">
                        <a:noFill/>
                      </a:rPr>
                      <a:t> </a:t>
                    </a:r>
                  </a:p>
                </p:txBody>
              </p:sp>
            </mc:Fallback>
          </mc:AlternateContent>
          <p:sp>
            <p:nvSpPr>
              <p:cNvPr id="15" name="TextBox 14">
                <a:extLst>
                  <a:ext uri="{FF2B5EF4-FFF2-40B4-BE49-F238E27FC236}">
                    <a16:creationId xmlns:a16="http://schemas.microsoft.com/office/drawing/2014/main" id="{8DA8390A-9636-0F78-6C27-E30B323A66A4}"/>
                  </a:ext>
                </a:extLst>
              </p:cNvPr>
              <p:cNvSpPr txBox="1"/>
              <p:nvPr/>
            </p:nvSpPr>
            <p:spPr>
              <a:xfrm>
                <a:off x="6096000" y="3338190"/>
                <a:ext cx="258305" cy="369332"/>
              </a:xfrm>
              <a:prstGeom prst="rect">
                <a:avLst/>
              </a:prstGeom>
              <a:noFill/>
            </p:spPr>
            <p:txBody>
              <a:bodyPr wrap="square" rtlCol="0">
                <a:spAutoFit/>
              </a:bodyPr>
              <a:lstStyle/>
              <a:p>
                <a:endParaRPr lang="en-US" dirty="0"/>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C5AEE881-497A-0798-EFBE-C947B8AF1DE6}"/>
                      </a:ext>
                    </a:extLst>
                  </p:cNvPr>
                  <p:cNvSpPr txBox="1"/>
                  <p:nvPr/>
                </p:nvSpPr>
                <p:spPr>
                  <a:xfrm>
                    <a:off x="3121570" y="3233674"/>
                    <a:ext cx="656856" cy="32117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𝑌</m:t>
                              </m:r>
                            </m:e>
                            <m:sub>
                              <m:r>
                                <a:rPr lang="en-US" sz="2000" b="0" i="1" smtClean="0">
                                  <a:latin typeface="Cambria Math" panose="02040503050406030204" pitchFamily="18" charset="0"/>
                                </a:rPr>
                                <m:t>1,2</m:t>
                              </m:r>
                            </m:sub>
                          </m:sSub>
                        </m:oMath>
                      </m:oMathPara>
                    </a14:m>
                    <a:endParaRPr lang="en-US" sz="2000" dirty="0"/>
                  </a:p>
                </p:txBody>
              </p:sp>
            </mc:Choice>
            <mc:Fallback xmlns="">
              <p:sp>
                <p:nvSpPr>
                  <p:cNvPr id="15" name="TextBox 14">
                    <a:extLst>
                      <a:ext uri="{FF2B5EF4-FFF2-40B4-BE49-F238E27FC236}">
                        <a16:creationId xmlns:a16="http://schemas.microsoft.com/office/drawing/2014/main" id="{4EB745A5-71B9-7B34-1295-CAFDA7203080}"/>
                      </a:ext>
                    </a:extLst>
                  </p:cNvPr>
                  <p:cNvSpPr txBox="1">
                    <a:spLocks noRot="1" noChangeAspect="1" noMove="1" noResize="1" noEditPoints="1" noAdjustHandles="1" noChangeArrowheads="1" noChangeShapeType="1" noTextEdit="1"/>
                  </p:cNvSpPr>
                  <p:nvPr/>
                </p:nvSpPr>
                <p:spPr>
                  <a:xfrm>
                    <a:off x="3121570" y="3233674"/>
                    <a:ext cx="656856" cy="321178"/>
                  </a:xfrm>
                  <a:prstGeom prst="rect">
                    <a:avLst/>
                  </a:prstGeom>
                  <a:blipFill>
                    <a:blip r:embed="rId8"/>
                    <a:stretch>
                      <a:fillRect b="-115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6A6AFCDA-CF55-6716-1805-6F39DAAF4ABE}"/>
                      </a:ext>
                    </a:extLst>
                  </p:cNvPr>
                  <p:cNvSpPr txBox="1"/>
                  <p:nvPr/>
                </p:nvSpPr>
                <p:spPr>
                  <a:xfrm>
                    <a:off x="5608308" y="3233674"/>
                    <a:ext cx="656856" cy="32117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𝑌</m:t>
                              </m:r>
                            </m:e>
                            <m:sub>
                              <m:r>
                                <a:rPr lang="en-US" sz="2000" b="0" i="1" smtClean="0">
                                  <a:latin typeface="Cambria Math" panose="02040503050406030204" pitchFamily="18" charset="0"/>
                                </a:rPr>
                                <m:t>1,</m:t>
                              </m:r>
                              <m:r>
                                <a:rPr lang="en-US" sz="2000" b="0" i="1" smtClean="0">
                                  <a:latin typeface="Cambria Math" panose="02040503050406030204" pitchFamily="18" charset="0"/>
                                </a:rPr>
                                <m:t>𝑇</m:t>
                              </m:r>
                            </m:sub>
                          </m:sSub>
                        </m:oMath>
                      </m:oMathPara>
                    </a14:m>
                    <a:endParaRPr lang="en-US" sz="2000" dirty="0"/>
                  </a:p>
                </p:txBody>
              </p:sp>
            </mc:Choice>
            <mc:Fallback xmlns="">
              <p:sp>
                <p:nvSpPr>
                  <p:cNvPr id="16" name="TextBox 15">
                    <a:extLst>
                      <a:ext uri="{FF2B5EF4-FFF2-40B4-BE49-F238E27FC236}">
                        <a16:creationId xmlns:a16="http://schemas.microsoft.com/office/drawing/2014/main" id="{3891E03A-DBAE-0412-9A3E-DAACD3D09C3B}"/>
                      </a:ext>
                    </a:extLst>
                  </p:cNvPr>
                  <p:cNvSpPr txBox="1">
                    <a:spLocks noRot="1" noChangeAspect="1" noMove="1" noResize="1" noEditPoints="1" noAdjustHandles="1" noChangeArrowheads="1" noChangeShapeType="1" noTextEdit="1"/>
                  </p:cNvSpPr>
                  <p:nvPr/>
                </p:nvSpPr>
                <p:spPr>
                  <a:xfrm>
                    <a:off x="5608308" y="3233674"/>
                    <a:ext cx="656856" cy="321178"/>
                  </a:xfrm>
                  <a:prstGeom prst="rect">
                    <a:avLst/>
                  </a:prstGeom>
                  <a:blipFill>
                    <a:blip r:embed="rId9"/>
                    <a:stretch>
                      <a:fillRect b="-115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003B55B6-5259-BA80-82CD-2784A4C11D8A}"/>
                      </a:ext>
                    </a:extLst>
                  </p:cNvPr>
                  <p:cNvSpPr txBox="1"/>
                  <p:nvPr/>
                </p:nvSpPr>
                <p:spPr>
                  <a:xfrm>
                    <a:off x="2400973" y="3710679"/>
                    <a:ext cx="656856" cy="32117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𝑌</m:t>
                              </m:r>
                            </m:e>
                            <m:sub>
                              <m:r>
                                <a:rPr lang="en-US" sz="2000" b="0" i="1" smtClean="0">
                                  <a:latin typeface="Cambria Math" panose="02040503050406030204" pitchFamily="18" charset="0"/>
                                </a:rPr>
                                <m:t>2,1</m:t>
                              </m:r>
                            </m:sub>
                          </m:sSub>
                        </m:oMath>
                      </m:oMathPara>
                    </a14:m>
                    <a:endParaRPr lang="en-US" sz="2000" dirty="0"/>
                  </a:p>
                </p:txBody>
              </p:sp>
            </mc:Choice>
            <mc:Fallback xmlns="">
              <p:sp>
                <p:nvSpPr>
                  <p:cNvPr id="17" name="TextBox 16">
                    <a:extLst>
                      <a:ext uri="{FF2B5EF4-FFF2-40B4-BE49-F238E27FC236}">
                        <a16:creationId xmlns:a16="http://schemas.microsoft.com/office/drawing/2014/main" id="{5E9AFE05-6455-00A3-F90B-1A32E1401CC2}"/>
                      </a:ext>
                    </a:extLst>
                  </p:cNvPr>
                  <p:cNvSpPr txBox="1">
                    <a:spLocks noRot="1" noChangeAspect="1" noMove="1" noResize="1" noEditPoints="1" noAdjustHandles="1" noChangeArrowheads="1" noChangeShapeType="1" noTextEdit="1"/>
                  </p:cNvSpPr>
                  <p:nvPr/>
                </p:nvSpPr>
                <p:spPr>
                  <a:xfrm>
                    <a:off x="2400973" y="3710679"/>
                    <a:ext cx="656856" cy="321178"/>
                  </a:xfrm>
                  <a:prstGeom prst="rect">
                    <a:avLst/>
                  </a:prstGeom>
                  <a:blipFill>
                    <a:blip r:embed="rId10"/>
                    <a:stretch>
                      <a:fillRect b="-115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86BF6B6B-D074-0FCF-FC15-7118439D47A2}"/>
                      </a:ext>
                    </a:extLst>
                  </p:cNvPr>
                  <p:cNvSpPr txBox="1"/>
                  <p:nvPr/>
                </p:nvSpPr>
                <p:spPr>
                  <a:xfrm>
                    <a:off x="3153978" y="3710679"/>
                    <a:ext cx="656856" cy="32117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𝑌</m:t>
                              </m:r>
                            </m:e>
                            <m:sub>
                              <m:r>
                                <a:rPr lang="en-US" sz="2000" b="0" i="1" smtClean="0">
                                  <a:latin typeface="Cambria Math" panose="02040503050406030204" pitchFamily="18" charset="0"/>
                                </a:rPr>
                                <m:t>2,2</m:t>
                              </m:r>
                            </m:sub>
                          </m:sSub>
                        </m:oMath>
                      </m:oMathPara>
                    </a14:m>
                    <a:endParaRPr lang="en-US" sz="2000" dirty="0"/>
                  </a:p>
                </p:txBody>
              </p:sp>
            </mc:Choice>
            <mc:Fallback xmlns="">
              <p:sp>
                <p:nvSpPr>
                  <p:cNvPr id="18" name="TextBox 17">
                    <a:extLst>
                      <a:ext uri="{FF2B5EF4-FFF2-40B4-BE49-F238E27FC236}">
                        <a16:creationId xmlns:a16="http://schemas.microsoft.com/office/drawing/2014/main" id="{28BF8A6B-712A-B537-DEE5-6D979B0F537A}"/>
                      </a:ext>
                    </a:extLst>
                  </p:cNvPr>
                  <p:cNvSpPr txBox="1">
                    <a:spLocks noRot="1" noChangeAspect="1" noMove="1" noResize="1" noEditPoints="1" noAdjustHandles="1" noChangeArrowheads="1" noChangeShapeType="1" noTextEdit="1"/>
                  </p:cNvSpPr>
                  <p:nvPr/>
                </p:nvSpPr>
                <p:spPr>
                  <a:xfrm>
                    <a:off x="3153978" y="3710679"/>
                    <a:ext cx="656856" cy="321178"/>
                  </a:xfrm>
                  <a:prstGeom prst="rect">
                    <a:avLst/>
                  </a:prstGeom>
                  <a:blipFill>
                    <a:blip r:embed="rId11"/>
                    <a:stretch>
                      <a:fillRect b="-115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189C41B7-6D39-949D-79C7-B17185E1C6E5}"/>
                      </a:ext>
                    </a:extLst>
                  </p:cNvPr>
                  <p:cNvSpPr txBox="1"/>
                  <p:nvPr/>
                </p:nvSpPr>
                <p:spPr>
                  <a:xfrm>
                    <a:off x="5640716" y="3710679"/>
                    <a:ext cx="656856" cy="32117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𝑌</m:t>
                              </m:r>
                            </m:e>
                            <m:sub>
                              <m:r>
                                <a:rPr lang="en-US" sz="2000" b="0" i="1" smtClean="0">
                                  <a:latin typeface="Cambria Math" panose="02040503050406030204" pitchFamily="18" charset="0"/>
                                </a:rPr>
                                <m:t>2,</m:t>
                              </m:r>
                              <m:r>
                                <a:rPr lang="en-US" sz="2000" b="0" i="1" smtClean="0">
                                  <a:latin typeface="Cambria Math" panose="02040503050406030204" pitchFamily="18" charset="0"/>
                                </a:rPr>
                                <m:t>𝑇</m:t>
                              </m:r>
                            </m:sub>
                          </m:sSub>
                        </m:oMath>
                      </m:oMathPara>
                    </a14:m>
                    <a:endParaRPr lang="en-US" sz="2000" dirty="0"/>
                  </a:p>
                </p:txBody>
              </p:sp>
            </mc:Choice>
            <mc:Fallback xmlns="">
              <p:sp>
                <p:nvSpPr>
                  <p:cNvPr id="19" name="TextBox 18">
                    <a:extLst>
                      <a:ext uri="{FF2B5EF4-FFF2-40B4-BE49-F238E27FC236}">
                        <a16:creationId xmlns:a16="http://schemas.microsoft.com/office/drawing/2014/main" id="{3DB5D180-A0A8-3B1C-BC43-E0D8134497A9}"/>
                      </a:ext>
                    </a:extLst>
                  </p:cNvPr>
                  <p:cNvSpPr txBox="1">
                    <a:spLocks noRot="1" noChangeAspect="1" noMove="1" noResize="1" noEditPoints="1" noAdjustHandles="1" noChangeArrowheads="1" noChangeShapeType="1" noTextEdit="1"/>
                  </p:cNvSpPr>
                  <p:nvPr/>
                </p:nvSpPr>
                <p:spPr>
                  <a:xfrm>
                    <a:off x="5640716" y="3710679"/>
                    <a:ext cx="656856" cy="321178"/>
                  </a:xfrm>
                  <a:prstGeom prst="rect">
                    <a:avLst/>
                  </a:prstGeom>
                  <a:blipFill>
                    <a:blip r:embed="rId12"/>
                    <a:stretch>
                      <a:fillRect b="-115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01A48ED1-8681-D4C3-3DF3-A0DF9DDAE61D}"/>
                      </a:ext>
                    </a:extLst>
                  </p:cNvPr>
                  <p:cNvSpPr txBox="1"/>
                  <p:nvPr/>
                </p:nvSpPr>
                <p:spPr>
                  <a:xfrm>
                    <a:off x="2400973" y="4248182"/>
                    <a:ext cx="656856" cy="32117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𝑌</m:t>
                              </m:r>
                            </m:e>
                            <m:sub>
                              <m:r>
                                <a:rPr lang="en-US" sz="2000" b="0" i="1" smtClean="0">
                                  <a:latin typeface="Cambria Math" panose="02040503050406030204" pitchFamily="18" charset="0"/>
                                </a:rPr>
                                <m:t>3,1</m:t>
                              </m:r>
                            </m:sub>
                          </m:sSub>
                        </m:oMath>
                      </m:oMathPara>
                    </a14:m>
                    <a:endParaRPr lang="en-US" sz="2000" dirty="0"/>
                  </a:p>
                </p:txBody>
              </p:sp>
            </mc:Choice>
            <mc:Fallback xmlns="">
              <p:sp>
                <p:nvSpPr>
                  <p:cNvPr id="23" name="TextBox 22">
                    <a:extLst>
                      <a:ext uri="{FF2B5EF4-FFF2-40B4-BE49-F238E27FC236}">
                        <a16:creationId xmlns:a16="http://schemas.microsoft.com/office/drawing/2014/main" id="{C5A10575-5973-325F-EB30-DB1E186846F2}"/>
                      </a:ext>
                    </a:extLst>
                  </p:cNvPr>
                  <p:cNvSpPr txBox="1">
                    <a:spLocks noRot="1" noChangeAspect="1" noMove="1" noResize="1" noEditPoints="1" noAdjustHandles="1" noChangeArrowheads="1" noChangeShapeType="1" noTextEdit="1"/>
                  </p:cNvSpPr>
                  <p:nvPr/>
                </p:nvSpPr>
                <p:spPr>
                  <a:xfrm>
                    <a:off x="2400973" y="4248182"/>
                    <a:ext cx="656856" cy="321178"/>
                  </a:xfrm>
                  <a:prstGeom prst="rect">
                    <a:avLst/>
                  </a:prstGeom>
                  <a:blipFill>
                    <a:blip r:embed="rId13"/>
                    <a:stretch>
                      <a:fillRect b="-115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C2060EB6-F950-5EC9-404A-04537ACF8F76}"/>
                      </a:ext>
                    </a:extLst>
                  </p:cNvPr>
                  <p:cNvSpPr txBox="1"/>
                  <p:nvPr/>
                </p:nvSpPr>
                <p:spPr>
                  <a:xfrm>
                    <a:off x="3153978" y="4248182"/>
                    <a:ext cx="656856" cy="32117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𝑌</m:t>
                              </m:r>
                            </m:e>
                            <m:sub>
                              <m:r>
                                <a:rPr lang="en-US" sz="2000" b="0" i="1" smtClean="0">
                                  <a:latin typeface="Cambria Math" panose="02040503050406030204" pitchFamily="18" charset="0"/>
                                </a:rPr>
                                <m:t>3,2</m:t>
                              </m:r>
                            </m:sub>
                          </m:sSub>
                        </m:oMath>
                      </m:oMathPara>
                    </a14:m>
                    <a:endParaRPr lang="en-US" sz="2000" dirty="0"/>
                  </a:p>
                </p:txBody>
              </p:sp>
            </mc:Choice>
            <mc:Fallback xmlns="">
              <p:sp>
                <p:nvSpPr>
                  <p:cNvPr id="24" name="TextBox 23">
                    <a:extLst>
                      <a:ext uri="{FF2B5EF4-FFF2-40B4-BE49-F238E27FC236}">
                        <a16:creationId xmlns:a16="http://schemas.microsoft.com/office/drawing/2014/main" id="{49129A42-F687-4C7A-82B6-1493A7F9B78E}"/>
                      </a:ext>
                    </a:extLst>
                  </p:cNvPr>
                  <p:cNvSpPr txBox="1">
                    <a:spLocks noRot="1" noChangeAspect="1" noMove="1" noResize="1" noEditPoints="1" noAdjustHandles="1" noChangeArrowheads="1" noChangeShapeType="1" noTextEdit="1"/>
                  </p:cNvSpPr>
                  <p:nvPr/>
                </p:nvSpPr>
                <p:spPr>
                  <a:xfrm>
                    <a:off x="3153978" y="4248182"/>
                    <a:ext cx="656856" cy="321178"/>
                  </a:xfrm>
                  <a:prstGeom prst="rect">
                    <a:avLst/>
                  </a:prstGeom>
                  <a:blipFill>
                    <a:blip r:embed="rId14"/>
                    <a:stretch>
                      <a:fillRect b="-115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C7345002-8356-1A75-6403-35827D691F5F}"/>
                      </a:ext>
                    </a:extLst>
                  </p:cNvPr>
                  <p:cNvSpPr txBox="1"/>
                  <p:nvPr/>
                </p:nvSpPr>
                <p:spPr>
                  <a:xfrm>
                    <a:off x="5640716" y="4248182"/>
                    <a:ext cx="656856" cy="32117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𝑌</m:t>
                              </m:r>
                            </m:e>
                            <m:sub>
                              <m:r>
                                <a:rPr lang="en-US" sz="2000" b="0" i="1" smtClean="0">
                                  <a:latin typeface="Cambria Math" panose="02040503050406030204" pitchFamily="18" charset="0"/>
                                </a:rPr>
                                <m:t>3,</m:t>
                              </m:r>
                              <m:r>
                                <a:rPr lang="en-US" sz="2000" b="0" i="1" smtClean="0">
                                  <a:latin typeface="Cambria Math" panose="02040503050406030204" pitchFamily="18" charset="0"/>
                                </a:rPr>
                                <m:t>𝑇</m:t>
                              </m:r>
                            </m:sub>
                          </m:sSub>
                        </m:oMath>
                      </m:oMathPara>
                    </a14:m>
                    <a:endParaRPr lang="en-US" sz="2000" dirty="0"/>
                  </a:p>
                </p:txBody>
              </p:sp>
            </mc:Choice>
            <mc:Fallback xmlns="">
              <p:sp>
                <p:nvSpPr>
                  <p:cNvPr id="25" name="TextBox 24">
                    <a:extLst>
                      <a:ext uri="{FF2B5EF4-FFF2-40B4-BE49-F238E27FC236}">
                        <a16:creationId xmlns:a16="http://schemas.microsoft.com/office/drawing/2014/main" id="{E392FEE0-6FD3-DA79-64BF-E497C668B8A0}"/>
                      </a:ext>
                    </a:extLst>
                  </p:cNvPr>
                  <p:cNvSpPr txBox="1">
                    <a:spLocks noRot="1" noChangeAspect="1" noMove="1" noResize="1" noEditPoints="1" noAdjustHandles="1" noChangeArrowheads="1" noChangeShapeType="1" noTextEdit="1"/>
                  </p:cNvSpPr>
                  <p:nvPr/>
                </p:nvSpPr>
                <p:spPr>
                  <a:xfrm>
                    <a:off x="5640716" y="4248182"/>
                    <a:ext cx="656856" cy="321178"/>
                  </a:xfrm>
                  <a:prstGeom prst="rect">
                    <a:avLst/>
                  </a:prstGeom>
                  <a:blipFill>
                    <a:blip r:embed="rId15"/>
                    <a:stretch>
                      <a:fillRect b="-115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FBD10259-1993-2E79-9416-24B8327988B3}"/>
                      </a:ext>
                    </a:extLst>
                  </p:cNvPr>
                  <p:cNvSpPr txBox="1"/>
                  <p:nvPr/>
                </p:nvSpPr>
                <p:spPr>
                  <a:xfrm>
                    <a:off x="2406233" y="5256351"/>
                    <a:ext cx="656856" cy="32117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𝑌</m:t>
                              </m:r>
                            </m:e>
                            <m:sub>
                              <m:r>
                                <a:rPr lang="en-US" sz="2000" b="0" i="1" smtClean="0">
                                  <a:latin typeface="Cambria Math" panose="02040503050406030204" pitchFamily="18" charset="0"/>
                                </a:rPr>
                                <m:t>𝑛</m:t>
                              </m:r>
                              <m:r>
                                <a:rPr lang="en-US" sz="2000" b="0" i="1" smtClean="0">
                                  <a:latin typeface="Cambria Math" panose="02040503050406030204" pitchFamily="18" charset="0"/>
                                </a:rPr>
                                <m:t>,1</m:t>
                              </m:r>
                            </m:sub>
                          </m:sSub>
                        </m:oMath>
                      </m:oMathPara>
                    </a14:m>
                    <a:endParaRPr lang="en-US" sz="2000" dirty="0"/>
                  </a:p>
                </p:txBody>
              </p:sp>
            </mc:Choice>
            <mc:Fallback xmlns="">
              <p:sp>
                <p:nvSpPr>
                  <p:cNvPr id="26" name="TextBox 25">
                    <a:extLst>
                      <a:ext uri="{FF2B5EF4-FFF2-40B4-BE49-F238E27FC236}">
                        <a16:creationId xmlns:a16="http://schemas.microsoft.com/office/drawing/2014/main" id="{181B426B-E52C-2D67-2F57-0A637B1FF016}"/>
                      </a:ext>
                    </a:extLst>
                  </p:cNvPr>
                  <p:cNvSpPr txBox="1">
                    <a:spLocks noRot="1" noChangeAspect="1" noMove="1" noResize="1" noEditPoints="1" noAdjustHandles="1" noChangeArrowheads="1" noChangeShapeType="1" noTextEdit="1"/>
                  </p:cNvSpPr>
                  <p:nvPr/>
                </p:nvSpPr>
                <p:spPr>
                  <a:xfrm>
                    <a:off x="2406233" y="5256351"/>
                    <a:ext cx="656856" cy="321178"/>
                  </a:xfrm>
                  <a:prstGeom prst="rect">
                    <a:avLst/>
                  </a:prstGeom>
                  <a:blipFill>
                    <a:blip r:embed="rId16"/>
                    <a:stretch>
                      <a:fillRect b="-740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1877CC21-3F38-3B34-0E30-4AE1CFFC134C}"/>
                      </a:ext>
                    </a:extLst>
                  </p:cNvPr>
                  <p:cNvSpPr txBox="1"/>
                  <p:nvPr/>
                </p:nvSpPr>
                <p:spPr>
                  <a:xfrm>
                    <a:off x="3159238" y="5256351"/>
                    <a:ext cx="656856" cy="32117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𝑌</m:t>
                              </m:r>
                            </m:e>
                            <m:sub>
                              <m:r>
                                <a:rPr lang="en-US" sz="2000" b="0" i="1" smtClean="0">
                                  <a:latin typeface="Cambria Math" panose="02040503050406030204" pitchFamily="18" charset="0"/>
                                </a:rPr>
                                <m:t>𝑛</m:t>
                              </m:r>
                              <m:r>
                                <a:rPr lang="en-US" sz="2000" b="0" i="1" smtClean="0">
                                  <a:latin typeface="Cambria Math" panose="02040503050406030204" pitchFamily="18" charset="0"/>
                                </a:rPr>
                                <m:t>,2</m:t>
                              </m:r>
                            </m:sub>
                          </m:sSub>
                        </m:oMath>
                      </m:oMathPara>
                    </a14:m>
                    <a:endParaRPr lang="en-US" sz="2000" dirty="0"/>
                  </a:p>
                </p:txBody>
              </p:sp>
            </mc:Choice>
            <mc:Fallback xmlns="">
              <p:sp>
                <p:nvSpPr>
                  <p:cNvPr id="27" name="TextBox 26">
                    <a:extLst>
                      <a:ext uri="{FF2B5EF4-FFF2-40B4-BE49-F238E27FC236}">
                        <a16:creationId xmlns:a16="http://schemas.microsoft.com/office/drawing/2014/main" id="{D90945A1-8A27-8BC2-3DF2-189F2FBE85AC}"/>
                      </a:ext>
                    </a:extLst>
                  </p:cNvPr>
                  <p:cNvSpPr txBox="1">
                    <a:spLocks noRot="1" noChangeAspect="1" noMove="1" noResize="1" noEditPoints="1" noAdjustHandles="1" noChangeArrowheads="1" noChangeShapeType="1" noTextEdit="1"/>
                  </p:cNvSpPr>
                  <p:nvPr/>
                </p:nvSpPr>
                <p:spPr>
                  <a:xfrm>
                    <a:off x="3159238" y="5256351"/>
                    <a:ext cx="656856" cy="321178"/>
                  </a:xfrm>
                  <a:prstGeom prst="rect">
                    <a:avLst/>
                  </a:prstGeom>
                  <a:blipFill>
                    <a:blip r:embed="rId17"/>
                    <a:stretch>
                      <a:fillRect b="-740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5AD6EE34-9B07-8E7F-A3AD-399D698767E0}"/>
                      </a:ext>
                    </a:extLst>
                  </p:cNvPr>
                  <p:cNvSpPr txBox="1"/>
                  <p:nvPr/>
                </p:nvSpPr>
                <p:spPr>
                  <a:xfrm>
                    <a:off x="5645976" y="5256351"/>
                    <a:ext cx="656856" cy="32117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𝑌</m:t>
                              </m:r>
                            </m:e>
                            <m:sub>
                              <m:r>
                                <a:rPr lang="en-US" sz="2000" b="0" i="1" smtClean="0">
                                  <a:latin typeface="Cambria Math" panose="02040503050406030204" pitchFamily="18" charset="0"/>
                                </a:rPr>
                                <m:t>𝑛</m:t>
                              </m:r>
                              <m:r>
                                <a:rPr lang="en-US" sz="2000" b="0" i="1" smtClean="0">
                                  <a:latin typeface="Cambria Math" panose="02040503050406030204" pitchFamily="18" charset="0"/>
                                </a:rPr>
                                <m:t>,</m:t>
                              </m:r>
                              <m:r>
                                <a:rPr lang="en-US" sz="2000" b="0" i="1" smtClean="0">
                                  <a:latin typeface="Cambria Math" panose="02040503050406030204" pitchFamily="18" charset="0"/>
                                </a:rPr>
                                <m:t>𝑇</m:t>
                              </m:r>
                            </m:sub>
                          </m:sSub>
                        </m:oMath>
                      </m:oMathPara>
                    </a14:m>
                    <a:endParaRPr lang="en-US" sz="2000" dirty="0"/>
                  </a:p>
                </p:txBody>
              </p:sp>
            </mc:Choice>
            <mc:Fallback xmlns="">
              <p:sp>
                <p:nvSpPr>
                  <p:cNvPr id="28" name="TextBox 27">
                    <a:extLst>
                      <a:ext uri="{FF2B5EF4-FFF2-40B4-BE49-F238E27FC236}">
                        <a16:creationId xmlns:a16="http://schemas.microsoft.com/office/drawing/2014/main" id="{27AE072A-2444-0D35-D429-B7D3CA241DA8}"/>
                      </a:ext>
                    </a:extLst>
                  </p:cNvPr>
                  <p:cNvSpPr txBox="1">
                    <a:spLocks noRot="1" noChangeAspect="1" noMove="1" noResize="1" noEditPoints="1" noAdjustHandles="1" noChangeArrowheads="1" noChangeShapeType="1" noTextEdit="1"/>
                  </p:cNvSpPr>
                  <p:nvPr/>
                </p:nvSpPr>
                <p:spPr>
                  <a:xfrm>
                    <a:off x="5645976" y="5256351"/>
                    <a:ext cx="656856" cy="321178"/>
                  </a:xfrm>
                  <a:prstGeom prst="rect">
                    <a:avLst/>
                  </a:prstGeom>
                  <a:blipFill>
                    <a:blip r:embed="rId18"/>
                    <a:stretch>
                      <a:fillRect b="-740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1F3CD84B-6B27-C888-54F9-F258E3FC3FE7}"/>
                      </a:ext>
                    </a:extLst>
                  </p:cNvPr>
                  <p:cNvSpPr txBox="1"/>
                  <p:nvPr/>
                </p:nvSpPr>
                <p:spPr>
                  <a:xfrm>
                    <a:off x="2545349" y="4808792"/>
                    <a:ext cx="30328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oMath>
                      </m:oMathPara>
                    </a14:m>
                    <a:endParaRPr lang="en-US" dirty="0"/>
                  </a:p>
                </p:txBody>
              </p:sp>
            </mc:Choice>
            <mc:Fallback xmlns="">
              <p:sp>
                <p:nvSpPr>
                  <p:cNvPr id="29" name="TextBox 28">
                    <a:extLst>
                      <a:ext uri="{FF2B5EF4-FFF2-40B4-BE49-F238E27FC236}">
                        <a16:creationId xmlns:a16="http://schemas.microsoft.com/office/drawing/2014/main" id="{FDB80DEE-43A3-64FB-8F9E-EF17303B8683}"/>
                      </a:ext>
                    </a:extLst>
                  </p:cNvPr>
                  <p:cNvSpPr txBox="1">
                    <a:spLocks noRot="1" noChangeAspect="1" noMove="1" noResize="1" noEditPoints="1" noAdjustHandles="1" noChangeArrowheads="1" noChangeShapeType="1" noTextEdit="1"/>
                  </p:cNvSpPr>
                  <p:nvPr/>
                </p:nvSpPr>
                <p:spPr>
                  <a:xfrm>
                    <a:off x="2545349" y="4808792"/>
                    <a:ext cx="303288" cy="369332"/>
                  </a:xfrm>
                  <a:prstGeom prst="rect">
                    <a:avLst/>
                  </a:prstGeom>
                  <a:blipFill>
                    <a:blip r:embed="rId1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4254FEFC-468E-3B96-B5B3-01D542C48EED}"/>
                      </a:ext>
                    </a:extLst>
                  </p:cNvPr>
                  <p:cNvSpPr txBox="1"/>
                  <p:nvPr/>
                </p:nvSpPr>
                <p:spPr>
                  <a:xfrm>
                    <a:off x="5785092" y="4783617"/>
                    <a:ext cx="30328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oMath>
                      </m:oMathPara>
                    </a14:m>
                    <a:endParaRPr lang="en-US" dirty="0"/>
                  </a:p>
                </p:txBody>
              </p:sp>
            </mc:Choice>
            <mc:Fallback xmlns="">
              <p:sp>
                <p:nvSpPr>
                  <p:cNvPr id="30" name="TextBox 29">
                    <a:extLst>
                      <a:ext uri="{FF2B5EF4-FFF2-40B4-BE49-F238E27FC236}">
                        <a16:creationId xmlns:a16="http://schemas.microsoft.com/office/drawing/2014/main" id="{E54BE226-85BE-F8A6-6150-0559ACEF24AD}"/>
                      </a:ext>
                    </a:extLst>
                  </p:cNvPr>
                  <p:cNvSpPr txBox="1">
                    <a:spLocks noRot="1" noChangeAspect="1" noMove="1" noResize="1" noEditPoints="1" noAdjustHandles="1" noChangeArrowheads="1" noChangeShapeType="1" noTextEdit="1"/>
                  </p:cNvSpPr>
                  <p:nvPr/>
                </p:nvSpPr>
                <p:spPr>
                  <a:xfrm>
                    <a:off x="5785092" y="4783617"/>
                    <a:ext cx="303288" cy="369332"/>
                  </a:xfrm>
                  <a:prstGeom prst="rect">
                    <a:avLst/>
                  </a:prstGeom>
                  <a:blipFill>
                    <a:blip r:embed="rId1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481C9A13-8BD0-B380-79A5-7344A88FF5A3}"/>
                      </a:ext>
                    </a:extLst>
                  </p:cNvPr>
                  <p:cNvSpPr txBox="1"/>
                  <p:nvPr/>
                </p:nvSpPr>
                <p:spPr>
                  <a:xfrm>
                    <a:off x="4233710" y="3244334"/>
                    <a:ext cx="850773"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m:t>
                          </m:r>
                        </m:oMath>
                      </m:oMathPara>
                    </a14:m>
                    <a:endParaRPr lang="en-US" dirty="0"/>
                  </a:p>
                </p:txBody>
              </p:sp>
            </mc:Choice>
            <mc:Fallback xmlns="">
              <p:sp>
                <p:nvSpPr>
                  <p:cNvPr id="31" name="TextBox 30">
                    <a:extLst>
                      <a:ext uri="{FF2B5EF4-FFF2-40B4-BE49-F238E27FC236}">
                        <a16:creationId xmlns:a16="http://schemas.microsoft.com/office/drawing/2014/main" id="{0B095639-913D-4B4A-071F-03916B9C26A4}"/>
                      </a:ext>
                    </a:extLst>
                  </p:cNvPr>
                  <p:cNvSpPr txBox="1">
                    <a:spLocks noRot="1" noChangeAspect="1" noMove="1" noResize="1" noEditPoints="1" noAdjustHandles="1" noChangeArrowheads="1" noChangeShapeType="1" noTextEdit="1"/>
                  </p:cNvSpPr>
                  <p:nvPr/>
                </p:nvSpPr>
                <p:spPr>
                  <a:xfrm>
                    <a:off x="4233710" y="3244334"/>
                    <a:ext cx="850773" cy="369332"/>
                  </a:xfrm>
                  <a:prstGeom prst="rect">
                    <a:avLst/>
                  </a:prstGeom>
                  <a:blipFill>
                    <a:blip r:embed="rId2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2BB90071-BE5F-22D0-3A1F-2CB0D1EA6178}"/>
                      </a:ext>
                    </a:extLst>
                  </p:cNvPr>
                  <p:cNvSpPr txBox="1"/>
                  <p:nvPr/>
                </p:nvSpPr>
                <p:spPr>
                  <a:xfrm>
                    <a:off x="4228129" y="5274874"/>
                    <a:ext cx="850773"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m:t>
                          </m:r>
                        </m:oMath>
                      </m:oMathPara>
                    </a14:m>
                    <a:endParaRPr lang="en-US" dirty="0"/>
                  </a:p>
                </p:txBody>
              </p:sp>
            </mc:Choice>
            <mc:Fallback xmlns="">
              <p:sp>
                <p:nvSpPr>
                  <p:cNvPr id="32" name="TextBox 31">
                    <a:extLst>
                      <a:ext uri="{FF2B5EF4-FFF2-40B4-BE49-F238E27FC236}">
                        <a16:creationId xmlns:a16="http://schemas.microsoft.com/office/drawing/2014/main" id="{45767CE5-AD72-C03D-64AB-064AD618AF8F}"/>
                      </a:ext>
                    </a:extLst>
                  </p:cNvPr>
                  <p:cNvSpPr txBox="1">
                    <a:spLocks noRot="1" noChangeAspect="1" noMove="1" noResize="1" noEditPoints="1" noAdjustHandles="1" noChangeArrowheads="1" noChangeShapeType="1" noTextEdit="1"/>
                  </p:cNvSpPr>
                  <p:nvPr/>
                </p:nvSpPr>
                <p:spPr>
                  <a:xfrm>
                    <a:off x="4228129" y="5274874"/>
                    <a:ext cx="850773" cy="369332"/>
                  </a:xfrm>
                  <a:prstGeom prst="rect">
                    <a:avLst/>
                  </a:prstGeom>
                  <a:blipFill>
                    <a:blip r:embed="rId21"/>
                    <a:stretch>
                      <a:fillRect/>
                    </a:stretch>
                  </a:blipFill>
                </p:spPr>
                <p:txBody>
                  <a:bodyPr/>
                  <a:lstStyle/>
                  <a:p>
                    <a:r>
                      <a:rPr lang="en-US">
                        <a:noFill/>
                      </a:rPr>
                      <a:t> </a:t>
                    </a:r>
                  </a:p>
                </p:txBody>
              </p:sp>
            </mc:Fallback>
          </mc:AlternateContent>
        </p:grpSp>
        <p:sp>
          <p:nvSpPr>
            <p:cNvPr id="32" name="TextBox 31">
              <a:extLst>
                <a:ext uri="{FF2B5EF4-FFF2-40B4-BE49-F238E27FC236}">
                  <a16:creationId xmlns:a16="http://schemas.microsoft.com/office/drawing/2014/main" id="{CB0C396F-7FDA-619F-C306-804267F7A781}"/>
                </a:ext>
              </a:extLst>
            </p:cNvPr>
            <p:cNvSpPr txBox="1"/>
            <p:nvPr/>
          </p:nvSpPr>
          <p:spPr>
            <a:xfrm>
              <a:off x="2463269" y="2417108"/>
              <a:ext cx="678391" cy="369332"/>
            </a:xfrm>
            <a:prstGeom prst="rect">
              <a:avLst/>
            </a:prstGeom>
            <a:noFill/>
          </p:spPr>
          <p:txBody>
            <a:bodyPr wrap="none" rtlCol="0">
              <a:spAutoFit/>
            </a:bodyPr>
            <a:lstStyle/>
            <a:p>
              <a:r>
                <a:rPr lang="en-US" dirty="0">
                  <a:solidFill>
                    <a:schemeClr val="accent5"/>
                  </a:solidFill>
                </a:rPr>
                <a:t>1970</a:t>
              </a:r>
            </a:p>
          </p:txBody>
        </p:sp>
        <p:sp>
          <p:nvSpPr>
            <p:cNvPr id="33" name="TextBox 32">
              <a:extLst>
                <a:ext uri="{FF2B5EF4-FFF2-40B4-BE49-F238E27FC236}">
                  <a16:creationId xmlns:a16="http://schemas.microsoft.com/office/drawing/2014/main" id="{B28500C2-66C0-2369-59F8-F1639CABB54F}"/>
                </a:ext>
              </a:extLst>
            </p:cNvPr>
            <p:cNvSpPr txBox="1"/>
            <p:nvPr/>
          </p:nvSpPr>
          <p:spPr>
            <a:xfrm>
              <a:off x="3210579" y="2424809"/>
              <a:ext cx="678391" cy="369332"/>
            </a:xfrm>
            <a:prstGeom prst="rect">
              <a:avLst/>
            </a:prstGeom>
            <a:noFill/>
          </p:spPr>
          <p:txBody>
            <a:bodyPr wrap="none" rtlCol="0">
              <a:spAutoFit/>
            </a:bodyPr>
            <a:lstStyle/>
            <a:p>
              <a:r>
                <a:rPr lang="en-US" dirty="0">
                  <a:solidFill>
                    <a:schemeClr val="accent5"/>
                  </a:solidFill>
                </a:rPr>
                <a:t>1971</a:t>
              </a:r>
            </a:p>
          </p:txBody>
        </p:sp>
        <p:sp>
          <p:nvSpPr>
            <p:cNvPr id="34" name="TextBox 33">
              <a:extLst>
                <a:ext uri="{FF2B5EF4-FFF2-40B4-BE49-F238E27FC236}">
                  <a16:creationId xmlns:a16="http://schemas.microsoft.com/office/drawing/2014/main" id="{5845749D-5FBC-018C-C19C-2EED42249D60}"/>
                </a:ext>
              </a:extLst>
            </p:cNvPr>
            <p:cNvSpPr txBox="1"/>
            <p:nvPr/>
          </p:nvSpPr>
          <p:spPr>
            <a:xfrm>
              <a:off x="5680701" y="2375272"/>
              <a:ext cx="678391" cy="369332"/>
            </a:xfrm>
            <a:prstGeom prst="rect">
              <a:avLst/>
            </a:prstGeom>
            <a:noFill/>
          </p:spPr>
          <p:txBody>
            <a:bodyPr wrap="none" rtlCol="0">
              <a:spAutoFit/>
            </a:bodyPr>
            <a:lstStyle/>
            <a:p>
              <a:r>
                <a:rPr lang="en-US" dirty="0">
                  <a:solidFill>
                    <a:schemeClr val="accent5"/>
                  </a:solidFill>
                </a:rPr>
                <a:t>2000</a:t>
              </a:r>
            </a:p>
          </p:txBody>
        </p:sp>
        <p:sp>
          <p:nvSpPr>
            <p:cNvPr id="35" name="TextBox 34">
              <a:extLst>
                <a:ext uri="{FF2B5EF4-FFF2-40B4-BE49-F238E27FC236}">
                  <a16:creationId xmlns:a16="http://schemas.microsoft.com/office/drawing/2014/main" id="{67876637-24CB-179A-7766-33F70D20E97A}"/>
                </a:ext>
              </a:extLst>
            </p:cNvPr>
            <p:cNvSpPr txBox="1"/>
            <p:nvPr/>
          </p:nvSpPr>
          <p:spPr>
            <a:xfrm>
              <a:off x="1596581" y="3309377"/>
              <a:ext cx="702072" cy="369332"/>
            </a:xfrm>
            <a:prstGeom prst="rect">
              <a:avLst/>
            </a:prstGeom>
            <a:noFill/>
          </p:spPr>
          <p:txBody>
            <a:bodyPr wrap="square" rtlCol="0">
              <a:spAutoFit/>
            </a:bodyPr>
            <a:lstStyle/>
            <a:p>
              <a:r>
                <a:rPr lang="en-US" dirty="0">
                  <a:solidFill>
                    <a:schemeClr val="accent5"/>
                  </a:solidFill>
                </a:rPr>
                <a:t>AL</a:t>
              </a:r>
            </a:p>
          </p:txBody>
        </p:sp>
        <p:sp>
          <p:nvSpPr>
            <p:cNvPr id="36" name="TextBox 35">
              <a:extLst>
                <a:ext uri="{FF2B5EF4-FFF2-40B4-BE49-F238E27FC236}">
                  <a16:creationId xmlns:a16="http://schemas.microsoft.com/office/drawing/2014/main" id="{65F6DDF8-BAA6-8EA2-CA18-EB5ADFA4353B}"/>
                </a:ext>
              </a:extLst>
            </p:cNvPr>
            <p:cNvSpPr txBox="1"/>
            <p:nvPr/>
          </p:nvSpPr>
          <p:spPr>
            <a:xfrm>
              <a:off x="1578957" y="3843948"/>
              <a:ext cx="702072" cy="369332"/>
            </a:xfrm>
            <a:prstGeom prst="rect">
              <a:avLst/>
            </a:prstGeom>
            <a:noFill/>
          </p:spPr>
          <p:txBody>
            <a:bodyPr wrap="square" rtlCol="0">
              <a:spAutoFit/>
            </a:bodyPr>
            <a:lstStyle/>
            <a:p>
              <a:r>
                <a:rPr lang="en-US" dirty="0">
                  <a:solidFill>
                    <a:schemeClr val="accent5"/>
                  </a:solidFill>
                </a:rPr>
                <a:t>AK</a:t>
              </a:r>
            </a:p>
          </p:txBody>
        </p:sp>
        <p:sp>
          <p:nvSpPr>
            <p:cNvPr id="37" name="TextBox 36">
              <a:extLst>
                <a:ext uri="{FF2B5EF4-FFF2-40B4-BE49-F238E27FC236}">
                  <a16:creationId xmlns:a16="http://schemas.microsoft.com/office/drawing/2014/main" id="{D0EE577E-4D6D-90BF-8975-4CC8724B55D3}"/>
                </a:ext>
              </a:extLst>
            </p:cNvPr>
            <p:cNvSpPr txBox="1"/>
            <p:nvPr/>
          </p:nvSpPr>
          <p:spPr>
            <a:xfrm>
              <a:off x="1463004" y="5509255"/>
              <a:ext cx="702072" cy="369332"/>
            </a:xfrm>
            <a:prstGeom prst="rect">
              <a:avLst/>
            </a:prstGeom>
            <a:noFill/>
          </p:spPr>
          <p:txBody>
            <a:bodyPr wrap="square" rtlCol="0">
              <a:spAutoFit/>
            </a:bodyPr>
            <a:lstStyle/>
            <a:p>
              <a:r>
                <a:rPr lang="en-US" dirty="0">
                  <a:solidFill>
                    <a:schemeClr val="accent5"/>
                  </a:solidFill>
                </a:rPr>
                <a:t>WY</a:t>
              </a:r>
            </a:p>
          </p:txBody>
        </p:sp>
      </p:grpSp>
      <p:grpSp>
        <p:nvGrpSpPr>
          <p:cNvPr id="76" name="Group 75">
            <a:extLst>
              <a:ext uri="{FF2B5EF4-FFF2-40B4-BE49-F238E27FC236}">
                <a16:creationId xmlns:a16="http://schemas.microsoft.com/office/drawing/2014/main" id="{DBA290D2-1AD4-39C0-9F5A-28B443CCC1BE}"/>
              </a:ext>
            </a:extLst>
          </p:cNvPr>
          <p:cNvGrpSpPr/>
          <p:nvPr/>
        </p:nvGrpSpPr>
        <p:grpSpPr>
          <a:xfrm>
            <a:off x="2369657" y="5111298"/>
            <a:ext cx="9080054" cy="1325563"/>
            <a:chOff x="2369657" y="5111298"/>
            <a:chExt cx="9080054" cy="1325563"/>
          </a:xfrm>
        </p:grpSpPr>
        <p:pic>
          <p:nvPicPr>
            <p:cNvPr id="39" name="Picture 38">
              <a:extLst>
                <a:ext uri="{FF2B5EF4-FFF2-40B4-BE49-F238E27FC236}">
                  <a16:creationId xmlns:a16="http://schemas.microsoft.com/office/drawing/2014/main" id="{ADE46FCC-5EF5-CC87-0A73-0222C58B5D2C}"/>
                </a:ext>
              </a:extLst>
            </p:cNvPr>
            <p:cNvPicPr>
              <a:picLocks noChangeAspect="1"/>
            </p:cNvPicPr>
            <p:nvPr/>
          </p:nvPicPr>
          <p:blipFill>
            <a:blip r:embed="rId22"/>
            <a:stretch>
              <a:fillRect/>
            </a:stretch>
          </p:blipFill>
          <p:spPr>
            <a:xfrm>
              <a:off x="2369657" y="5111298"/>
              <a:ext cx="1495111" cy="1325563"/>
            </a:xfrm>
            <a:prstGeom prst="rect">
              <a:avLst/>
            </a:prstGeom>
          </p:spPr>
        </p:pic>
        <p:sp>
          <p:nvSpPr>
            <p:cNvPr id="40" name="TextBox 39">
              <a:extLst>
                <a:ext uri="{FF2B5EF4-FFF2-40B4-BE49-F238E27FC236}">
                  <a16:creationId xmlns:a16="http://schemas.microsoft.com/office/drawing/2014/main" id="{DB3F191E-AC5B-38BF-125E-B5F154E93D98}"/>
                </a:ext>
              </a:extLst>
            </p:cNvPr>
            <p:cNvSpPr txBox="1"/>
            <p:nvPr/>
          </p:nvSpPr>
          <p:spPr>
            <a:xfrm>
              <a:off x="3824818" y="5321574"/>
              <a:ext cx="7624893" cy="769441"/>
            </a:xfrm>
            <a:prstGeom prst="rect">
              <a:avLst/>
            </a:prstGeom>
            <a:noFill/>
          </p:spPr>
          <p:txBody>
            <a:bodyPr wrap="square" rtlCol="0">
              <a:spAutoFit/>
            </a:bodyPr>
            <a:lstStyle/>
            <a:p>
              <a:pPr algn="ctr"/>
              <a:r>
                <a:rPr lang="en-US" sz="2400" b="1" dirty="0">
                  <a:solidFill>
                    <a:srgbClr val="0070C0"/>
                  </a:solidFill>
                </a:rPr>
                <a:t>What would you do to find the weights?</a:t>
              </a:r>
            </a:p>
            <a:p>
              <a:pPr algn="ctr"/>
              <a:r>
                <a:rPr lang="en-US" sz="2000" dirty="0">
                  <a:solidFill>
                    <a:srgbClr val="0070C0"/>
                  </a:solidFill>
                </a:rPr>
                <a:t>Or, what optimization problem would you ask a computer to solve?</a:t>
              </a:r>
              <a:r>
                <a:rPr lang="en-US" sz="2000" b="1" dirty="0">
                  <a:solidFill>
                    <a:srgbClr val="0070C0"/>
                  </a:solidFill>
                </a:rPr>
                <a:t>  </a:t>
              </a:r>
            </a:p>
          </p:txBody>
        </p:sp>
      </p:grpSp>
      <p:grpSp>
        <p:nvGrpSpPr>
          <p:cNvPr id="72" name="Group 71">
            <a:extLst>
              <a:ext uri="{FF2B5EF4-FFF2-40B4-BE49-F238E27FC236}">
                <a16:creationId xmlns:a16="http://schemas.microsoft.com/office/drawing/2014/main" id="{7CCF5F89-25D0-45C1-4691-877A39EF53B4}"/>
              </a:ext>
            </a:extLst>
          </p:cNvPr>
          <p:cNvGrpSpPr/>
          <p:nvPr/>
        </p:nvGrpSpPr>
        <p:grpSpPr>
          <a:xfrm>
            <a:off x="5368819" y="1731179"/>
            <a:ext cx="1587275" cy="2889726"/>
            <a:chOff x="5368819" y="1731179"/>
            <a:chExt cx="1587275" cy="2889726"/>
          </a:xfrm>
        </p:grpSpPr>
        <p:sp>
          <p:nvSpPr>
            <p:cNvPr id="45" name="TextBox 44">
              <a:extLst>
                <a:ext uri="{FF2B5EF4-FFF2-40B4-BE49-F238E27FC236}">
                  <a16:creationId xmlns:a16="http://schemas.microsoft.com/office/drawing/2014/main" id="{DDEDEF83-1592-972A-9D58-5010A2AD5DBC}"/>
                </a:ext>
              </a:extLst>
            </p:cNvPr>
            <p:cNvSpPr txBox="1"/>
            <p:nvPr/>
          </p:nvSpPr>
          <p:spPr>
            <a:xfrm>
              <a:off x="5368819" y="1731179"/>
              <a:ext cx="1587275" cy="646331"/>
            </a:xfrm>
            <a:prstGeom prst="rect">
              <a:avLst/>
            </a:prstGeom>
            <a:noFill/>
          </p:spPr>
          <p:txBody>
            <a:bodyPr wrap="square" rtlCol="0">
              <a:spAutoFit/>
            </a:bodyPr>
            <a:lstStyle/>
            <a:p>
              <a:pPr algn="ctr"/>
              <a:r>
                <a:rPr lang="en-US" dirty="0">
                  <a:solidFill>
                    <a:schemeClr val="accent5"/>
                  </a:solidFill>
                </a:rPr>
                <a:t>GDP per capita</a:t>
              </a:r>
            </a:p>
          </p:txBody>
        </p:sp>
        <p:grpSp>
          <p:nvGrpSpPr>
            <p:cNvPr id="53" name="Group 52">
              <a:extLst>
                <a:ext uri="{FF2B5EF4-FFF2-40B4-BE49-F238E27FC236}">
                  <a16:creationId xmlns:a16="http://schemas.microsoft.com/office/drawing/2014/main" id="{8E0A2BA3-7DB1-DC80-AC8E-20E4655CEE20}"/>
                </a:ext>
              </a:extLst>
            </p:cNvPr>
            <p:cNvGrpSpPr/>
            <p:nvPr/>
          </p:nvGrpSpPr>
          <p:grpSpPr>
            <a:xfrm>
              <a:off x="5706249" y="2418656"/>
              <a:ext cx="870205" cy="2202249"/>
              <a:chOff x="5706249" y="2786781"/>
              <a:chExt cx="870205" cy="2202249"/>
            </a:xfrm>
          </p:grpSpPr>
          <p:sp>
            <p:nvSpPr>
              <p:cNvPr id="48" name="Rectangle 47">
                <a:extLst>
                  <a:ext uri="{FF2B5EF4-FFF2-40B4-BE49-F238E27FC236}">
                    <a16:creationId xmlns:a16="http://schemas.microsoft.com/office/drawing/2014/main" id="{F832325B-7351-6647-410D-4FDE9FB86C59}"/>
                  </a:ext>
                </a:extLst>
              </p:cNvPr>
              <p:cNvSpPr/>
              <p:nvPr/>
            </p:nvSpPr>
            <p:spPr>
              <a:xfrm>
                <a:off x="5706249" y="2786781"/>
                <a:ext cx="870205" cy="2202249"/>
              </a:xfrm>
              <a:prstGeom prst="rect">
                <a:avLst/>
              </a:prstGeom>
              <a:solidFill>
                <a:schemeClr val="bg1">
                  <a:lumMod val="9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2BDB0F64-A94A-5411-53F4-580A87C9F64B}"/>
                      </a:ext>
                    </a:extLst>
                  </p:cNvPr>
                  <p:cNvSpPr txBox="1"/>
                  <p:nvPr/>
                </p:nvSpPr>
                <p:spPr>
                  <a:xfrm>
                    <a:off x="5882549" y="2882067"/>
                    <a:ext cx="542017" cy="32117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𝑍</m:t>
                              </m:r>
                            </m:e>
                            <m:sub>
                              <m:r>
                                <a:rPr lang="en-US" sz="2000" b="0" i="1" smtClean="0">
                                  <a:latin typeface="Cambria Math" panose="02040503050406030204" pitchFamily="18" charset="0"/>
                                </a:rPr>
                                <m:t>1,</m:t>
                              </m:r>
                              <m:r>
                                <m:rPr>
                                  <m:sty m:val="p"/>
                                </m:rPr>
                                <a:rPr lang="en-US" sz="2000" b="0" i="0" smtClean="0">
                                  <a:latin typeface="Cambria Math" panose="02040503050406030204" pitchFamily="18" charset="0"/>
                                </a:rPr>
                                <m:t>GDP</m:t>
                              </m:r>
                            </m:sub>
                          </m:sSub>
                        </m:oMath>
                      </m:oMathPara>
                    </a14:m>
                    <a:endParaRPr lang="en-US" sz="2000" dirty="0"/>
                  </a:p>
                </p:txBody>
              </p:sp>
            </mc:Choice>
            <mc:Fallback xmlns="">
              <p:sp>
                <p:nvSpPr>
                  <p:cNvPr id="49" name="TextBox 48">
                    <a:extLst>
                      <a:ext uri="{FF2B5EF4-FFF2-40B4-BE49-F238E27FC236}">
                        <a16:creationId xmlns:a16="http://schemas.microsoft.com/office/drawing/2014/main" id="{2BDB0F64-A94A-5411-53F4-580A87C9F64B}"/>
                      </a:ext>
                    </a:extLst>
                  </p:cNvPr>
                  <p:cNvSpPr txBox="1">
                    <a:spLocks noRot="1" noChangeAspect="1" noMove="1" noResize="1" noEditPoints="1" noAdjustHandles="1" noChangeArrowheads="1" noChangeShapeType="1" noTextEdit="1"/>
                  </p:cNvSpPr>
                  <p:nvPr/>
                </p:nvSpPr>
                <p:spPr>
                  <a:xfrm>
                    <a:off x="5882549" y="2882067"/>
                    <a:ext cx="542017" cy="321178"/>
                  </a:xfrm>
                  <a:prstGeom prst="rect">
                    <a:avLst/>
                  </a:prstGeom>
                  <a:blipFill>
                    <a:blip r:embed="rId23"/>
                    <a:stretch>
                      <a:fillRect l="-16279" r="-34884" b="-111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D6BE4A32-A127-906A-6E13-331309984D58}"/>
                      </a:ext>
                    </a:extLst>
                  </p:cNvPr>
                  <p:cNvSpPr txBox="1"/>
                  <p:nvPr/>
                </p:nvSpPr>
                <p:spPr>
                  <a:xfrm>
                    <a:off x="5839311" y="3333578"/>
                    <a:ext cx="542017" cy="32117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𝑍</m:t>
                              </m:r>
                            </m:e>
                            <m:sub>
                              <m:r>
                                <a:rPr lang="en-US" sz="2000" b="0" i="1" smtClean="0">
                                  <a:latin typeface="Cambria Math" panose="02040503050406030204" pitchFamily="18" charset="0"/>
                                </a:rPr>
                                <m:t>2,</m:t>
                              </m:r>
                              <m:r>
                                <m:rPr>
                                  <m:sty m:val="p"/>
                                </m:rPr>
                                <a:rPr lang="en-US" sz="2000">
                                  <a:latin typeface="Cambria Math" panose="02040503050406030204" pitchFamily="18" charset="0"/>
                                </a:rPr>
                                <m:t>GDP</m:t>
                              </m:r>
                            </m:sub>
                          </m:sSub>
                        </m:oMath>
                      </m:oMathPara>
                    </a14:m>
                    <a:endParaRPr lang="en-US" sz="2000" dirty="0"/>
                  </a:p>
                </p:txBody>
              </p:sp>
            </mc:Choice>
            <mc:Fallback xmlns="">
              <p:sp>
                <p:nvSpPr>
                  <p:cNvPr id="50" name="TextBox 49">
                    <a:extLst>
                      <a:ext uri="{FF2B5EF4-FFF2-40B4-BE49-F238E27FC236}">
                        <a16:creationId xmlns:a16="http://schemas.microsoft.com/office/drawing/2014/main" id="{D6BE4A32-A127-906A-6E13-331309984D58}"/>
                      </a:ext>
                    </a:extLst>
                  </p:cNvPr>
                  <p:cNvSpPr txBox="1">
                    <a:spLocks noRot="1" noChangeAspect="1" noMove="1" noResize="1" noEditPoints="1" noAdjustHandles="1" noChangeArrowheads="1" noChangeShapeType="1" noTextEdit="1"/>
                  </p:cNvSpPr>
                  <p:nvPr/>
                </p:nvSpPr>
                <p:spPr>
                  <a:xfrm>
                    <a:off x="5839311" y="3333578"/>
                    <a:ext cx="542017" cy="321178"/>
                  </a:xfrm>
                  <a:prstGeom prst="rect">
                    <a:avLst/>
                  </a:prstGeom>
                  <a:blipFill>
                    <a:blip r:embed="rId24"/>
                    <a:stretch>
                      <a:fillRect l="-13636" r="-34091" b="-115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1" name="TextBox 50">
                    <a:extLst>
                      <a:ext uri="{FF2B5EF4-FFF2-40B4-BE49-F238E27FC236}">
                        <a16:creationId xmlns:a16="http://schemas.microsoft.com/office/drawing/2014/main" id="{BEF10E99-6757-7C3C-B8DD-9F1D6316A6EF}"/>
                      </a:ext>
                    </a:extLst>
                  </p:cNvPr>
                  <p:cNvSpPr txBox="1"/>
                  <p:nvPr/>
                </p:nvSpPr>
                <p:spPr>
                  <a:xfrm>
                    <a:off x="5824991" y="4557415"/>
                    <a:ext cx="542017" cy="32117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𝑍</m:t>
                              </m:r>
                            </m:e>
                            <m:sub>
                              <m:r>
                                <a:rPr lang="en-US" sz="2000" b="0" i="1" smtClean="0">
                                  <a:latin typeface="Cambria Math" panose="02040503050406030204" pitchFamily="18" charset="0"/>
                                </a:rPr>
                                <m:t>𝑛</m:t>
                              </m:r>
                              <m:r>
                                <a:rPr lang="en-US" sz="2000" b="0" i="1" smtClean="0">
                                  <a:latin typeface="Cambria Math" panose="02040503050406030204" pitchFamily="18" charset="0"/>
                                </a:rPr>
                                <m:t>,</m:t>
                              </m:r>
                              <m:r>
                                <m:rPr>
                                  <m:sty m:val="p"/>
                                </m:rPr>
                                <a:rPr lang="en-US" sz="2000">
                                  <a:latin typeface="Cambria Math" panose="02040503050406030204" pitchFamily="18" charset="0"/>
                                </a:rPr>
                                <m:t>GDP</m:t>
                              </m:r>
                            </m:sub>
                          </m:sSub>
                        </m:oMath>
                      </m:oMathPara>
                    </a14:m>
                    <a:endParaRPr lang="en-US" sz="2000" dirty="0"/>
                  </a:p>
                </p:txBody>
              </p:sp>
            </mc:Choice>
            <mc:Fallback xmlns="">
              <p:sp>
                <p:nvSpPr>
                  <p:cNvPr id="51" name="TextBox 50">
                    <a:extLst>
                      <a:ext uri="{FF2B5EF4-FFF2-40B4-BE49-F238E27FC236}">
                        <a16:creationId xmlns:a16="http://schemas.microsoft.com/office/drawing/2014/main" id="{BEF10E99-6757-7C3C-B8DD-9F1D6316A6EF}"/>
                      </a:ext>
                    </a:extLst>
                  </p:cNvPr>
                  <p:cNvSpPr txBox="1">
                    <a:spLocks noRot="1" noChangeAspect="1" noMove="1" noResize="1" noEditPoints="1" noAdjustHandles="1" noChangeArrowheads="1" noChangeShapeType="1" noTextEdit="1"/>
                  </p:cNvSpPr>
                  <p:nvPr/>
                </p:nvSpPr>
                <p:spPr>
                  <a:xfrm>
                    <a:off x="5824991" y="4557415"/>
                    <a:ext cx="542017" cy="321178"/>
                  </a:xfrm>
                  <a:prstGeom prst="rect">
                    <a:avLst/>
                  </a:prstGeom>
                  <a:blipFill>
                    <a:blip r:embed="rId25"/>
                    <a:stretch>
                      <a:fillRect l="-13636" r="-36364" b="-111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2" name="TextBox 51">
                    <a:extLst>
                      <a:ext uri="{FF2B5EF4-FFF2-40B4-BE49-F238E27FC236}">
                        <a16:creationId xmlns:a16="http://schemas.microsoft.com/office/drawing/2014/main" id="{A1A01599-DCF7-B107-E9E5-3C17A7919AC9}"/>
                      </a:ext>
                    </a:extLst>
                  </p:cNvPr>
                  <p:cNvSpPr txBox="1"/>
                  <p:nvPr/>
                </p:nvSpPr>
                <p:spPr>
                  <a:xfrm>
                    <a:off x="5985187" y="3985139"/>
                    <a:ext cx="250264" cy="30476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oMath>
                      </m:oMathPara>
                    </a14:m>
                    <a:endParaRPr lang="en-US" dirty="0"/>
                  </a:p>
                </p:txBody>
              </p:sp>
            </mc:Choice>
            <mc:Fallback xmlns="">
              <p:sp>
                <p:nvSpPr>
                  <p:cNvPr id="52" name="TextBox 51">
                    <a:extLst>
                      <a:ext uri="{FF2B5EF4-FFF2-40B4-BE49-F238E27FC236}">
                        <a16:creationId xmlns:a16="http://schemas.microsoft.com/office/drawing/2014/main" id="{A1A01599-DCF7-B107-E9E5-3C17A7919AC9}"/>
                      </a:ext>
                    </a:extLst>
                  </p:cNvPr>
                  <p:cNvSpPr txBox="1">
                    <a:spLocks noRot="1" noChangeAspect="1" noMove="1" noResize="1" noEditPoints="1" noAdjustHandles="1" noChangeArrowheads="1" noChangeShapeType="1" noTextEdit="1"/>
                  </p:cNvSpPr>
                  <p:nvPr/>
                </p:nvSpPr>
                <p:spPr>
                  <a:xfrm>
                    <a:off x="5985187" y="3985139"/>
                    <a:ext cx="250264" cy="304761"/>
                  </a:xfrm>
                  <a:prstGeom prst="rect">
                    <a:avLst/>
                  </a:prstGeom>
                  <a:blipFill>
                    <a:blip r:embed="rId26"/>
                    <a:stretch>
                      <a:fillRect b="-12000"/>
                    </a:stretch>
                  </a:blipFill>
                </p:spPr>
                <p:txBody>
                  <a:bodyPr/>
                  <a:lstStyle/>
                  <a:p>
                    <a:r>
                      <a:rPr lang="en-US">
                        <a:noFill/>
                      </a:rPr>
                      <a:t> </a:t>
                    </a:r>
                  </a:p>
                </p:txBody>
              </p:sp>
            </mc:Fallback>
          </mc:AlternateContent>
        </p:grpSp>
      </p:grpSp>
      <p:grpSp>
        <p:nvGrpSpPr>
          <p:cNvPr id="73" name="Group 72">
            <a:extLst>
              <a:ext uri="{FF2B5EF4-FFF2-40B4-BE49-F238E27FC236}">
                <a16:creationId xmlns:a16="http://schemas.microsoft.com/office/drawing/2014/main" id="{9E3BED16-E4CD-3DE7-8567-C3C59C3D9002}"/>
              </a:ext>
            </a:extLst>
          </p:cNvPr>
          <p:cNvGrpSpPr/>
          <p:nvPr/>
        </p:nvGrpSpPr>
        <p:grpSpPr>
          <a:xfrm>
            <a:off x="6829254" y="1500460"/>
            <a:ext cx="1587275" cy="3130528"/>
            <a:chOff x="6829254" y="1500460"/>
            <a:chExt cx="1587275" cy="3130528"/>
          </a:xfrm>
        </p:grpSpPr>
        <p:sp>
          <p:nvSpPr>
            <p:cNvPr id="44" name="TextBox 43">
              <a:extLst>
                <a:ext uri="{FF2B5EF4-FFF2-40B4-BE49-F238E27FC236}">
                  <a16:creationId xmlns:a16="http://schemas.microsoft.com/office/drawing/2014/main" id="{8E2CC3A3-76CA-9637-A0C9-39F39DECC747}"/>
                </a:ext>
              </a:extLst>
            </p:cNvPr>
            <p:cNvSpPr txBox="1"/>
            <p:nvPr/>
          </p:nvSpPr>
          <p:spPr>
            <a:xfrm>
              <a:off x="6829254" y="1500460"/>
              <a:ext cx="1587275" cy="923330"/>
            </a:xfrm>
            <a:prstGeom prst="rect">
              <a:avLst/>
            </a:prstGeom>
            <a:noFill/>
          </p:spPr>
          <p:txBody>
            <a:bodyPr wrap="square" rtlCol="0">
              <a:spAutoFit/>
            </a:bodyPr>
            <a:lstStyle/>
            <a:p>
              <a:pPr algn="ctr"/>
              <a:r>
                <a:rPr lang="en-US" dirty="0">
                  <a:solidFill>
                    <a:schemeClr val="accent5"/>
                  </a:solidFill>
                </a:rPr>
                <a:t>Beer consumption per capita</a:t>
              </a:r>
            </a:p>
          </p:txBody>
        </p:sp>
        <p:grpSp>
          <p:nvGrpSpPr>
            <p:cNvPr id="54" name="Group 53">
              <a:extLst>
                <a:ext uri="{FF2B5EF4-FFF2-40B4-BE49-F238E27FC236}">
                  <a16:creationId xmlns:a16="http://schemas.microsoft.com/office/drawing/2014/main" id="{0E485DE5-C737-EDFD-FD80-4842D1473320}"/>
                </a:ext>
              </a:extLst>
            </p:cNvPr>
            <p:cNvGrpSpPr/>
            <p:nvPr/>
          </p:nvGrpSpPr>
          <p:grpSpPr>
            <a:xfrm>
              <a:off x="7202163" y="2428739"/>
              <a:ext cx="870205" cy="2202249"/>
              <a:chOff x="5706249" y="2786781"/>
              <a:chExt cx="870205" cy="2202249"/>
            </a:xfrm>
          </p:grpSpPr>
          <p:sp>
            <p:nvSpPr>
              <p:cNvPr id="55" name="Rectangle 54">
                <a:extLst>
                  <a:ext uri="{FF2B5EF4-FFF2-40B4-BE49-F238E27FC236}">
                    <a16:creationId xmlns:a16="http://schemas.microsoft.com/office/drawing/2014/main" id="{FEDA768A-186B-180B-F04F-6F7A0EE122E8}"/>
                  </a:ext>
                </a:extLst>
              </p:cNvPr>
              <p:cNvSpPr/>
              <p:nvPr/>
            </p:nvSpPr>
            <p:spPr>
              <a:xfrm>
                <a:off x="5706249" y="2786781"/>
                <a:ext cx="870205" cy="2202249"/>
              </a:xfrm>
              <a:prstGeom prst="rect">
                <a:avLst/>
              </a:prstGeom>
              <a:solidFill>
                <a:schemeClr val="bg1">
                  <a:lumMod val="9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56" name="TextBox 55">
                    <a:extLst>
                      <a:ext uri="{FF2B5EF4-FFF2-40B4-BE49-F238E27FC236}">
                        <a16:creationId xmlns:a16="http://schemas.microsoft.com/office/drawing/2014/main" id="{A770E8EB-9C05-82AE-7FC1-9E1CC7D48630}"/>
                      </a:ext>
                    </a:extLst>
                  </p:cNvPr>
                  <p:cNvSpPr txBox="1"/>
                  <p:nvPr/>
                </p:nvSpPr>
                <p:spPr>
                  <a:xfrm>
                    <a:off x="5882549" y="2882067"/>
                    <a:ext cx="542017" cy="32117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𝑍</m:t>
                              </m:r>
                            </m:e>
                            <m:sub>
                              <m:r>
                                <a:rPr lang="en-US" sz="2000" b="0" i="1" smtClean="0">
                                  <a:latin typeface="Cambria Math" panose="02040503050406030204" pitchFamily="18" charset="0"/>
                                </a:rPr>
                                <m:t>1,</m:t>
                              </m:r>
                              <m:r>
                                <m:rPr>
                                  <m:sty m:val="p"/>
                                </m:rPr>
                                <a:rPr lang="en-US" sz="2000" b="0" i="0" smtClean="0">
                                  <a:latin typeface="Cambria Math" panose="02040503050406030204" pitchFamily="18" charset="0"/>
                                </a:rPr>
                                <m:t>beer</m:t>
                              </m:r>
                            </m:sub>
                          </m:sSub>
                        </m:oMath>
                      </m:oMathPara>
                    </a14:m>
                    <a:endParaRPr lang="en-US" sz="2000" dirty="0"/>
                  </a:p>
                </p:txBody>
              </p:sp>
            </mc:Choice>
            <mc:Fallback xmlns="">
              <p:sp>
                <p:nvSpPr>
                  <p:cNvPr id="56" name="TextBox 55">
                    <a:extLst>
                      <a:ext uri="{FF2B5EF4-FFF2-40B4-BE49-F238E27FC236}">
                        <a16:creationId xmlns:a16="http://schemas.microsoft.com/office/drawing/2014/main" id="{A770E8EB-9C05-82AE-7FC1-9E1CC7D48630}"/>
                      </a:ext>
                    </a:extLst>
                  </p:cNvPr>
                  <p:cNvSpPr txBox="1">
                    <a:spLocks noRot="1" noChangeAspect="1" noMove="1" noResize="1" noEditPoints="1" noAdjustHandles="1" noChangeArrowheads="1" noChangeShapeType="1" noTextEdit="1"/>
                  </p:cNvSpPr>
                  <p:nvPr/>
                </p:nvSpPr>
                <p:spPr>
                  <a:xfrm>
                    <a:off x="5882549" y="2882067"/>
                    <a:ext cx="542017" cy="321178"/>
                  </a:xfrm>
                  <a:prstGeom prst="rect">
                    <a:avLst/>
                  </a:prstGeom>
                  <a:blipFill>
                    <a:blip r:embed="rId27"/>
                    <a:stretch>
                      <a:fillRect l="-13636" r="-38636" b="-111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7" name="TextBox 56">
                    <a:extLst>
                      <a:ext uri="{FF2B5EF4-FFF2-40B4-BE49-F238E27FC236}">
                        <a16:creationId xmlns:a16="http://schemas.microsoft.com/office/drawing/2014/main" id="{9181EECC-0A7F-0463-4F20-207BAD775D49}"/>
                      </a:ext>
                    </a:extLst>
                  </p:cNvPr>
                  <p:cNvSpPr txBox="1"/>
                  <p:nvPr/>
                </p:nvSpPr>
                <p:spPr>
                  <a:xfrm>
                    <a:off x="5839311" y="3333578"/>
                    <a:ext cx="542017" cy="32117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𝑍</m:t>
                              </m:r>
                            </m:e>
                            <m:sub>
                              <m:r>
                                <a:rPr lang="en-US" sz="2000" b="0" i="1" smtClean="0">
                                  <a:latin typeface="Cambria Math" panose="02040503050406030204" pitchFamily="18" charset="0"/>
                                </a:rPr>
                                <m:t>2,</m:t>
                              </m:r>
                              <m:r>
                                <m:rPr>
                                  <m:sty m:val="p"/>
                                </m:rPr>
                                <a:rPr lang="en-US" sz="2000">
                                  <a:latin typeface="Cambria Math" panose="02040503050406030204" pitchFamily="18" charset="0"/>
                                </a:rPr>
                                <m:t>beer</m:t>
                              </m:r>
                            </m:sub>
                          </m:sSub>
                        </m:oMath>
                      </m:oMathPara>
                    </a14:m>
                    <a:endParaRPr lang="en-US" sz="2000" dirty="0"/>
                  </a:p>
                </p:txBody>
              </p:sp>
            </mc:Choice>
            <mc:Fallback xmlns="">
              <p:sp>
                <p:nvSpPr>
                  <p:cNvPr id="57" name="TextBox 56">
                    <a:extLst>
                      <a:ext uri="{FF2B5EF4-FFF2-40B4-BE49-F238E27FC236}">
                        <a16:creationId xmlns:a16="http://schemas.microsoft.com/office/drawing/2014/main" id="{9181EECC-0A7F-0463-4F20-207BAD775D49}"/>
                      </a:ext>
                    </a:extLst>
                  </p:cNvPr>
                  <p:cNvSpPr txBox="1">
                    <a:spLocks noRot="1" noChangeAspect="1" noMove="1" noResize="1" noEditPoints="1" noAdjustHandles="1" noChangeArrowheads="1" noChangeShapeType="1" noTextEdit="1"/>
                  </p:cNvSpPr>
                  <p:nvPr/>
                </p:nvSpPr>
                <p:spPr>
                  <a:xfrm>
                    <a:off x="5839311" y="3333578"/>
                    <a:ext cx="542017" cy="321178"/>
                  </a:xfrm>
                  <a:prstGeom prst="rect">
                    <a:avLst/>
                  </a:prstGeom>
                  <a:blipFill>
                    <a:blip r:embed="rId28"/>
                    <a:stretch>
                      <a:fillRect l="-15909" r="-38636" b="-115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94290CD8-B2CA-B60A-0578-917070BD67F0}"/>
                      </a:ext>
                    </a:extLst>
                  </p:cNvPr>
                  <p:cNvSpPr txBox="1"/>
                  <p:nvPr/>
                </p:nvSpPr>
                <p:spPr>
                  <a:xfrm>
                    <a:off x="5824991" y="4557415"/>
                    <a:ext cx="542017" cy="32117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𝑍</m:t>
                              </m:r>
                            </m:e>
                            <m:sub>
                              <m:r>
                                <a:rPr lang="en-US" sz="2000" b="0" i="1" smtClean="0">
                                  <a:latin typeface="Cambria Math" panose="02040503050406030204" pitchFamily="18" charset="0"/>
                                </a:rPr>
                                <m:t>𝑛</m:t>
                              </m:r>
                              <m:r>
                                <a:rPr lang="en-US" sz="2000" b="0" i="1" smtClean="0">
                                  <a:latin typeface="Cambria Math" panose="02040503050406030204" pitchFamily="18" charset="0"/>
                                </a:rPr>
                                <m:t>,</m:t>
                              </m:r>
                              <m:r>
                                <m:rPr>
                                  <m:sty m:val="p"/>
                                </m:rPr>
                                <a:rPr lang="en-US" sz="2000">
                                  <a:latin typeface="Cambria Math" panose="02040503050406030204" pitchFamily="18" charset="0"/>
                                </a:rPr>
                                <m:t>beer</m:t>
                              </m:r>
                            </m:sub>
                          </m:sSub>
                        </m:oMath>
                      </m:oMathPara>
                    </a14:m>
                    <a:endParaRPr lang="en-US" sz="2000" dirty="0"/>
                  </a:p>
                </p:txBody>
              </p:sp>
            </mc:Choice>
            <mc:Fallback xmlns="">
              <p:sp>
                <p:nvSpPr>
                  <p:cNvPr id="58" name="TextBox 57">
                    <a:extLst>
                      <a:ext uri="{FF2B5EF4-FFF2-40B4-BE49-F238E27FC236}">
                        <a16:creationId xmlns:a16="http://schemas.microsoft.com/office/drawing/2014/main" id="{94290CD8-B2CA-B60A-0578-917070BD67F0}"/>
                      </a:ext>
                    </a:extLst>
                  </p:cNvPr>
                  <p:cNvSpPr txBox="1">
                    <a:spLocks noRot="1" noChangeAspect="1" noMove="1" noResize="1" noEditPoints="1" noAdjustHandles="1" noChangeArrowheads="1" noChangeShapeType="1" noTextEdit="1"/>
                  </p:cNvSpPr>
                  <p:nvPr/>
                </p:nvSpPr>
                <p:spPr>
                  <a:xfrm>
                    <a:off x="5824991" y="4557415"/>
                    <a:ext cx="542017" cy="321178"/>
                  </a:xfrm>
                  <a:prstGeom prst="rect">
                    <a:avLst/>
                  </a:prstGeom>
                  <a:blipFill>
                    <a:blip r:embed="rId29"/>
                    <a:stretch>
                      <a:fillRect l="-15909" r="-40909" b="-111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9" name="TextBox 58">
                    <a:extLst>
                      <a:ext uri="{FF2B5EF4-FFF2-40B4-BE49-F238E27FC236}">
                        <a16:creationId xmlns:a16="http://schemas.microsoft.com/office/drawing/2014/main" id="{985FC854-F1FB-1C69-B009-FC6602ED8F33}"/>
                      </a:ext>
                    </a:extLst>
                  </p:cNvPr>
                  <p:cNvSpPr txBox="1"/>
                  <p:nvPr/>
                </p:nvSpPr>
                <p:spPr>
                  <a:xfrm>
                    <a:off x="5985187" y="3985139"/>
                    <a:ext cx="250264" cy="30476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oMath>
                      </m:oMathPara>
                    </a14:m>
                    <a:endParaRPr lang="en-US" dirty="0"/>
                  </a:p>
                </p:txBody>
              </p:sp>
            </mc:Choice>
            <mc:Fallback xmlns="">
              <p:sp>
                <p:nvSpPr>
                  <p:cNvPr id="59" name="TextBox 58">
                    <a:extLst>
                      <a:ext uri="{FF2B5EF4-FFF2-40B4-BE49-F238E27FC236}">
                        <a16:creationId xmlns:a16="http://schemas.microsoft.com/office/drawing/2014/main" id="{985FC854-F1FB-1C69-B009-FC6602ED8F33}"/>
                      </a:ext>
                    </a:extLst>
                  </p:cNvPr>
                  <p:cNvSpPr txBox="1">
                    <a:spLocks noRot="1" noChangeAspect="1" noMove="1" noResize="1" noEditPoints="1" noAdjustHandles="1" noChangeArrowheads="1" noChangeShapeType="1" noTextEdit="1"/>
                  </p:cNvSpPr>
                  <p:nvPr/>
                </p:nvSpPr>
                <p:spPr>
                  <a:xfrm>
                    <a:off x="5985187" y="3985139"/>
                    <a:ext cx="250264" cy="304761"/>
                  </a:xfrm>
                  <a:prstGeom prst="rect">
                    <a:avLst/>
                  </a:prstGeom>
                  <a:blipFill>
                    <a:blip r:embed="rId30"/>
                    <a:stretch>
                      <a:fillRect b="-8000"/>
                    </a:stretch>
                  </a:blipFill>
                </p:spPr>
                <p:txBody>
                  <a:bodyPr/>
                  <a:lstStyle/>
                  <a:p>
                    <a:r>
                      <a:rPr lang="en-US">
                        <a:noFill/>
                      </a:rPr>
                      <a:t> </a:t>
                    </a:r>
                  </a:p>
                </p:txBody>
              </p:sp>
            </mc:Fallback>
          </mc:AlternateContent>
        </p:grpSp>
      </p:grpSp>
      <p:grpSp>
        <p:nvGrpSpPr>
          <p:cNvPr id="74" name="Group 73">
            <a:extLst>
              <a:ext uri="{FF2B5EF4-FFF2-40B4-BE49-F238E27FC236}">
                <a16:creationId xmlns:a16="http://schemas.microsoft.com/office/drawing/2014/main" id="{EF4C54FA-C493-68F5-A245-A5F655D8A14D}"/>
              </a:ext>
            </a:extLst>
          </p:cNvPr>
          <p:cNvGrpSpPr/>
          <p:nvPr/>
        </p:nvGrpSpPr>
        <p:grpSpPr>
          <a:xfrm>
            <a:off x="8503812" y="1746332"/>
            <a:ext cx="1587275" cy="2903597"/>
            <a:chOff x="8503812" y="1746332"/>
            <a:chExt cx="1587275" cy="2903597"/>
          </a:xfrm>
        </p:grpSpPr>
        <p:sp>
          <p:nvSpPr>
            <p:cNvPr id="46" name="TextBox 45">
              <a:extLst>
                <a:ext uri="{FF2B5EF4-FFF2-40B4-BE49-F238E27FC236}">
                  <a16:creationId xmlns:a16="http://schemas.microsoft.com/office/drawing/2014/main" id="{AD4D766C-8967-A1E7-221B-722F8BF509D8}"/>
                </a:ext>
              </a:extLst>
            </p:cNvPr>
            <p:cNvSpPr txBox="1"/>
            <p:nvPr/>
          </p:nvSpPr>
          <p:spPr>
            <a:xfrm>
              <a:off x="8503812" y="1746332"/>
              <a:ext cx="1587275" cy="646331"/>
            </a:xfrm>
            <a:prstGeom prst="rect">
              <a:avLst/>
            </a:prstGeom>
            <a:noFill/>
          </p:spPr>
          <p:txBody>
            <a:bodyPr wrap="square" rtlCol="0">
              <a:spAutoFit/>
            </a:bodyPr>
            <a:lstStyle/>
            <a:p>
              <a:pPr algn="ctr"/>
              <a:r>
                <a:rPr lang="en-US" dirty="0">
                  <a:solidFill>
                    <a:schemeClr val="accent5"/>
                  </a:solidFill>
                </a:rPr>
                <a:t>Retail price of cigarettes</a:t>
              </a:r>
            </a:p>
          </p:txBody>
        </p:sp>
        <p:grpSp>
          <p:nvGrpSpPr>
            <p:cNvPr id="60" name="Group 59">
              <a:extLst>
                <a:ext uri="{FF2B5EF4-FFF2-40B4-BE49-F238E27FC236}">
                  <a16:creationId xmlns:a16="http://schemas.microsoft.com/office/drawing/2014/main" id="{FBB5B0A3-3D51-70B2-2455-FAF98C802280}"/>
                </a:ext>
              </a:extLst>
            </p:cNvPr>
            <p:cNvGrpSpPr/>
            <p:nvPr/>
          </p:nvGrpSpPr>
          <p:grpSpPr>
            <a:xfrm>
              <a:off x="8862346" y="2447680"/>
              <a:ext cx="870205" cy="2202249"/>
              <a:chOff x="5706249" y="2786781"/>
              <a:chExt cx="870205" cy="2202249"/>
            </a:xfrm>
          </p:grpSpPr>
          <p:sp>
            <p:nvSpPr>
              <p:cNvPr id="61" name="Rectangle 60">
                <a:extLst>
                  <a:ext uri="{FF2B5EF4-FFF2-40B4-BE49-F238E27FC236}">
                    <a16:creationId xmlns:a16="http://schemas.microsoft.com/office/drawing/2014/main" id="{BA77C59F-9889-B019-65B7-7CD43262BFBD}"/>
                  </a:ext>
                </a:extLst>
              </p:cNvPr>
              <p:cNvSpPr/>
              <p:nvPr/>
            </p:nvSpPr>
            <p:spPr>
              <a:xfrm>
                <a:off x="5706249" y="2786781"/>
                <a:ext cx="870205" cy="2202249"/>
              </a:xfrm>
              <a:prstGeom prst="rect">
                <a:avLst/>
              </a:prstGeom>
              <a:solidFill>
                <a:schemeClr val="bg1">
                  <a:lumMod val="9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id="{460338D5-00E8-DEE3-7B3C-0DA84AB1F6F0}"/>
                      </a:ext>
                    </a:extLst>
                  </p:cNvPr>
                  <p:cNvSpPr txBox="1"/>
                  <p:nvPr/>
                </p:nvSpPr>
                <p:spPr>
                  <a:xfrm>
                    <a:off x="5882549" y="2882067"/>
                    <a:ext cx="542017" cy="32117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𝑍</m:t>
                              </m:r>
                            </m:e>
                            <m:sub>
                              <m:r>
                                <a:rPr lang="en-US" sz="2000" b="0" i="1" smtClean="0">
                                  <a:latin typeface="Cambria Math" panose="02040503050406030204" pitchFamily="18" charset="0"/>
                                </a:rPr>
                                <m:t>1,$</m:t>
                              </m:r>
                            </m:sub>
                          </m:sSub>
                        </m:oMath>
                      </m:oMathPara>
                    </a14:m>
                    <a:endParaRPr lang="en-US" sz="2000" dirty="0"/>
                  </a:p>
                </p:txBody>
              </p:sp>
            </mc:Choice>
            <mc:Fallback xmlns="">
              <p:sp>
                <p:nvSpPr>
                  <p:cNvPr id="62" name="TextBox 61">
                    <a:extLst>
                      <a:ext uri="{FF2B5EF4-FFF2-40B4-BE49-F238E27FC236}">
                        <a16:creationId xmlns:a16="http://schemas.microsoft.com/office/drawing/2014/main" id="{460338D5-00E8-DEE3-7B3C-0DA84AB1F6F0}"/>
                      </a:ext>
                    </a:extLst>
                  </p:cNvPr>
                  <p:cNvSpPr txBox="1">
                    <a:spLocks noRot="1" noChangeAspect="1" noMove="1" noResize="1" noEditPoints="1" noAdjustHandles="1" noChangeArrowheads="1" noChangeShapeType="1" noTextEdit="1"/>
                  </p:cNvSpPr>
                  <p:nvPr/>
                </p:nvSpPr>
                <p:spPr>
                  <a:xfrm>
                    <a:off x="5882549" y="2882067"/>
                    <a:ext cx="542017" cy="321178"/>
                  </a:xfrm>
                  <a:prstGeom prst="rect">
                    <a:avLst/>
                  </a:prstGeom>
                  <a:blipFill>
                    <a:blip r:embed="rId31"/>
                    <a:stretch>
                      <a:fillRect l="-2273" b="-1923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3" name="TextBox 62">
                    <a:extLst>
                      <a:ext uri="{FF2B5EF4-FFF2-40B4-BE49-F238E27FC236}">
                        <a16:creationId xmlns:a16="http://schemas.microsoft.com/office/drawing/2014/main" id="{9268194B-810C-CF5E-AF94-B3E29E4B7C28}"/>
                      </a:ext>
                    </a:extLst>
                  </p:cNvPr>
                  <p:cNvSpPr txBox="1"/>
                  <p:nvPr/>
                </p:nvSpPr>
                <p:spPr>
                  <a:xfrm>
                    <a:off x="5839311" y="3333578"/>
                    <a:ext cx="542017" cy="32117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𝑍</m:t>
                              </m:r>
                            </m:e>
                            <m:sub>
                              <m:r>
                                <a:rPr lang="en-US" sz="2000" b="0" i="1" smtClean="0">
                                  <a:latin typeface="Cambria Math" panose="02040503050406030204" pitchFamily="18" charset="0"/>
                                </a:rPr>
                                <m:t>2,$</m:t>
                              </m:r>
                            </m:sub>
                          </m:sSub>
                        </m:oMath>
                      </m:oMathPara>
                    </a14:m>
                    <a:endParaRPr lang="en-US" sz="2000" dirty="0"/>
                  </a:p>
                </p:txBody>
              </p:sp>
            </mc:Choice>
            <mc:Fallback xmlns="">
              <p:sp>
                <p:nvSpPr>
                  <p:cNvPr id="63" name="TextBox 62">
                    <a:extLst>
                      <a:ext uri="{FF2B5EF4-FFF2-40B4-BE49-F238E27FC236}">
                        <a16:creationId xmlns:a16="http://schemas.microsoft.com/office/drawing/2014/main" id="{9268194B-810C-CF5E-AF94-B3E29E4B7C28}"/>
                      </a:ext>
                    </a:extLst>
                  </p:cNvPr>
                  <p:cNvSpPr txBox="1">
                    <a:spLocks noRot="1" noChangeAspect="1" noMove="1" noResize="1" noEditPoints="1" noAdjustHandles="1" noChangeArrowheads="1" noChangeShapeType="1" noTextEdit="1"/>
                  </p:cNvSpPr>
                  <p:nvPr/>
                </p:nvSpPr>
                <p:spPr>
                  <a:xfrm>
                    <a:off x="5839311" y="3333578"/>
                    <a:ext cx="542017" cy="321178"/>
                  </a:xfrm>
                  <a:prstGeom prst="rect">
                    <a:avLst/>
                  </a:prstGeom>
                  <a:blipFill>
                    <a:blip r:embed="rId32"/>
                    <a:stretch>
                      <a:fillRect l="-2273" b="-1481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4" name="TextBox 63">
                    <a:extLst>
                      <a:ext uri="{FF2B5EF4-FFF2-40B4-BE49-F238E27FC236}">
                        <a16:creationId xmlns:a16="http://schemas.microsoft.com/office/drawing/2014/main" id="{082B99DD-D2B3-25C1-7673-0C23FB0C15FA}"/>
                      </a:ext>
                    </a:extLst>
                  </p:cNvPr>
                  <p:cNvSpPr txBox="1"/>
                  <p:nvPr/>
                </p:nvSpPr>
                <p:spPr>
                  <a:xfrm>
                    <a:off x="5824991" y="4557415"/>
                    <a:ext cx="542017" cy="32117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𝑍</m:t>
                              </m:r>
                            </m:e>
                            <m:sub>
                              <m:r>
                                <a:rPr lang="en-US" sz="2000" b="0" i="1" smtClean="0">
                                  <a:latin typeface="Cambria Math" panose="02040503050406030204" pitchFamily="18" charset="0"/>
                                </a:rPr>
                                <m:t>𝑛</m:t>
                              </m:r>
                              <m:r>
                                <a:rPr lang="en-US" sz="2000" b="0" i="1" smtClean="0">
                                  <a:latin typeface="Cambria Math" panose="02040503050406030204" pitchFamily="18" charset="0"/>
                                </a:rPr>
                                <m:t>,$</m:t>
                              </m:r>
                            </m:sub>
                          </m:sSub>
                        </m:oMath>
                      </m:oMathPara>
                    </a14:m>
                    <a:endParaRPr lang="en-US" sz="2000" dirty="0"/>
                  </a:p>
                </p:txBody>
              </p:sp>
            </mc:Choice>
            <mc:Fallback xmlns="">
              <p:sp>
                <p:nvSpPr>
                  <p:cNvPr id="64" name="TextBox 63">
                    <a:extLst>
                      <a:ext uri="{FF2B5EF4-FFF2-40B4-BE49-F238E27FC236}">
                        <a16:creationId xmlns:a16="http://schemas.microsoft.com/office/drawing/2014/main" id="{082B99DD-D2B3-25C1-7673-0C23FB0C15FA}"/>
                      </a:ext>
                    </a:extLst>
                  </p:cNvPr>
                  <p:cNvSpPr txBox="1">
                    <a:spLocks noRot="1" noChangeAspect="1" noMove="1" noResize="1" noEditPoints="1" noAdjustHandles="1" noChangeArrowheads="1" noChangeShapeType="1" noTextEdit="1"/>
                  </p:cNvSpPr>
                  <p:nvPr/>
                </p:nvSpPr>
                <p:spPr>
                  <a:xfrm>
                    <a:off x="5824991" y="4557415"/>
                    <a:ext cx="542017" cy="321178"/>
                  </a:xfrm>
                  <a:prstGeom prst="rect">
                    <a:avLst/>
                  </a:prstGeom>
                  <a:blipFill>
                    <a:blip r:embed="rId33"/>
                    <a:stretch>
                      <a:fillRect l="-4651" r="-2326" b="-1923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5" name="TextBox 64">
                    <a:extLst>
                      <a:ext uri="{FF2B5EF4-FFF2-40B4-BE49-F238E27FC236}">
                        <a16:creationId xmlns:a16="http://schemas.microsoft.com/office/drawing/2014/main" id="{A1FAD1D5-B854-05A0-D684-58530366169D}"/>
                      </a:ext>
                    </a:extLst>
                  </p:cNvPr>
                  <p:cNvSpPr txBox="1"/>
                  <p:nvPr/>
                </p:nvSpPr>
                <p:spPr>
                  <a:xfrm>
                    <a:off x="5985187" y="3985139"/>
                    <a:ext cx="250264" cy="30476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oMath>
                      </m:oMathPara>
                    </a14:m>
                    <a:endParaRPr lang="en-US" dirty="0"/>
                  </a:p>
                </p:txBody>
              </p:sp>
            </mc:Choice>
            <mc:Fallback xmlns="">
              <p:sp>
                <p:nvSpPr>
                  <p:cNvPr id="65" name="TextBox 64">
                    <a:extLst>
                      <a:ext uri="{FF2B5EF4-FFF2-40B4-BE49-F238E27FC236}">
                        <a16:creationId xmlns:a16="http://schemas.microsoft.com/office/drawing/2014/main" id="{A1FAD1D5-B854-05A0-D684-58530366169D}"/>
                      </a:ext>
                    </a:extLst>
                  </p:cNvPr>
                  <p:cNvSpPr txBox="1">
                    <a:spLocks noRot="1" noChangeAspect="1" noMove="1" noResize="1" noEditPoints="1" noAdjustHandles="1" noChangeArrowheads="1" noChangeShapeType="1" noTextEdit="1"/>
                  </p:cNvSpPr>
                  <p:nvPr/>
                </p:nvSpPr>
                <p:spPr>
                  <a:xfrm>
                    <a:off x="5985187" y="3985139"/>
                    <a:ext cx="250264" cy="304761"/>
                  </a:xfrm>
                  <a:prstGeom prst="rect">
                    <a:avLst/>
                  </a:prstGeom>
                  <a:blipFill>
                    <a:blip r:embed="rId34"/>
                    <a:stretch>
                      <a:fillRect b="-8000"/>
                    </a:stretch>
                  </a:blipFill>
                </p:spPr>
                <p:txBody>
                  <a:bodyPr/>
                  <a:lstStyle/>
                  <a:p>
                    <a:r>
                      <a:rPr lang="en-US">
                        <a:noFill/>
                      </a:rPr>
                      <a:t> </a:t>
                    </a:r>
                  </a:p>
                </p:txBody>
              </p:sp>
            </mc:Fallback>
          </mc:AlternateContent>
        </p:grpSp>
      </p:grpSp>
      <p:grpSp>
        <p:nvGrpSpPr>
          <p:cNvPr id="75" name="Group 74">
            <a:extLst>
              <a:ext uri="{FF2B5EF4-FFF2-40B4-BE49-F238E27FC236}">
                <a16:creationId xmlns:a16="http://schemas.microsoft.com/office/drawing/2014/main" id="{90314548-99CF-8B21-8608-4C209FB0CF68}"/>
              </a:ext>
            </a:extLst>
          </p:cNvPr>
          <p:cNvGrpSpPr/>
          <p:nvPr/>
        </p:nvGrpSpPr>
        <p:grpSpPr>
          <a:xfrm>
            <a:off x="10178370" y="1501674"/>
            <a:ext cx="1587275" cy="3161671"/>
            <a:chOff x="10178370" y="1501674"/>
            <a:chExt cx="1587275" cy="3161671"/>
          </a:xfrm>
        </p:grpSpPr>
        <p:sp>
          <p:nvSpPr>
            <p:cNvPr id="47" name="TextBox 46">
              <a:extLst>
                <a:ext uri="{FF2B5EF4-FFF2-40B4-BE49-F238E27FC236}">
                  <a16:creationId xmlns:a16="http://schemas.microsoft.com/office/drawing/2014/main" id="{11EEA710-0666-04C9-2595-CC04BAF2F8A4}"/>
                </a:ext>
              </a:extLst>
            </p:cNvPr>
            <p:cNvSpPr txBox="1"/>
            <p:nvPr/>
          </p:nvSpPr>
          <p:spPr>
            <a:xfrm>
              <a:off x="10178370" y="1501674"/>
              <a:ext cx="1587275" cy="923330"/>
            </a:xfrm>
            <a:prstGeom prst="rect">
              <a:avLst/>
            </a:prstGeom>
            <a:noFill/>
          </p:spPr>
          <p:txBody>
            <a:bodyPr wrap="square" rtlCol="0">
              <a:spAutoFit/>
            </a:bodyPr>
            <a:lstStyle/>
            <a:p>
              <a:pPr algn="ctr"/>
              <a:r>
                <a:rPr lang="en-US" dirty="0">
                  <a:solidFill>
                    <a:schemeClr val="accent5"/>
                  </a:solidFill>
                </a:rPr>
                <a:t>Percent of population aged 15-24</a:t>
              </a:r>
            </a:p>
          </p:txBody>
        </p:sp>
        <p:grpSp>
          <p:nvGrpSpPr>
            <p:cNvPr id="66" name="Group 65">
              <a:extLst>
                <a:ext uri="{FF2B5EF4-FFF2-40B4-BE49-F238E27FC236}">
                  <a16:creationId xmlns:a16="http://schemas.microsoft.com/office/drawing/2014/main" id="{87C4FD26-49B2-4137-BFEE-075CC1555646}"/>
                </a:ext>
              </a:extLst>
            </p:cNvPr>
            <p:cNvGrpSpPr/>
            <p:nvPr/>
          </p:nvGrpSpPr>
          <p:grpSpPr>
            <a:xfrm>
              <a:off x="10548751" y="2461096"/>
              <a:ext cx="870205" cy="2202249"/>
              <a:chOff x="5706249" y="2786781"/>
              <a:chExt cx="870205" cy="2202249"/>
            </a:xfrm>
          </p:grpSpPr>
          <p:sp>
            <p:nvSpPr>
              <p:cNvPr id="67" name="Rectangle 66">
                <a:extLst>
                  <a:ext uri="{FF2B5EF4-FFF2-40B4-BE49-F238E27FC236}">
                    <a16:creationId xmlns:a16="http://schemas.microsoft.com/office/drawing/2014/main" id="{817BA522-9F1A-4210-49F6-FF5095E54F3E}"/>
                  </a:ext>
                </a:extLst>
              </p:cNvPr>
              <p:cNvSpPr/>
              <p:nvPr/>
            </p:nvSpPr>
            <p:spPr>
              <a:xfrm>
                <a:off x="5706249" y="2786781"/>
                <a:ext cx="870205" cy="2202249"/>
              </a:xfrm>
              <a:prstGeom prst="rect">
                <a:avLst/>
              </a:prstGeom>
              <a:solidFill>
                <a:schemeClr val="bg1">
                  <a:lumMod val="9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68" name="TextBox 67">
                    <a:extLst>
                      <a:ext uri="{FF2B5EF4-FFF2-40B4-BE49-F238E27FC236}">
                        <a16:creationId xmlns:a16="http://schemas.microsoft.com/office/drawing/2014/main" id="{3D3A69C3-65FE-EA28-E910-C760FA9F8695}"/>
                      </a:ext>
                    </a:extLst>
                  </p:cNvPr>
                  <p:cNvSpPr txBox="1"/>
                  <p:nvPr/>
                </p:nvSpPr>
                <p:spPr>
                  <a:xfrm>
                    <a:off x="5882549" y="2882067"/>
                    <a:ext cx="542017" cy="33675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𝑍</m:t>
                              </m:r>
                            </m:e>
                            <m:sub>
                              <m:r>
                                <a:rPr lang="en-US" sz="2000" b="0" i="1" smtClean="0">
                                  <a:latin typeface="Cambria Math" panose="02040503050406030204" pitchFamily="18" charset="0"/>
                                </a:rPr>
                                <m:t>1,</m:t>
                              </m:r>
                              <m:r>
                                <m:rPr>
                                  <m:sty m:val="p"/>
                                </m:rPr>
                                <a:rPr lang="en-US" sz="2000" b="0" i="0" smtClean="0">
                                  <a:latin typeface="Cambria Math" panose="02040503050406030204" pitchFamily="18" charset="0"/>
                                </a:rPr>
                                <m:t>age</m:t>
                              </m:r>
                            </m:sub>
                          </m:sSub>
                        </m:oMath>
                      </m:oMathPara>
                    </a14:m>
                    <a:endParaRPr lang="en-US" sz="2000" dirty="0"/>
                  </a:p>
                </p:txBody>
              </p:sp>
            </mc:Choice>
            <mc:Fallback xmlns="">
              <p:sp>
                <p:nvSpPr>
                  <p:cNvPr id="68" name="TextBox 67">
                    <a:extLst>
                      <a:ext uri="{FF2B5EF4-FFF2-40B4-BE49-F238E27FC236}">
                        <a16:creationId xmlns:a16="http://schemas.microsoft.com/office/drawing/2014/main" id="{3D3A69C3-65FE-EA28-E910-C760FA9F8695}"/>
                      </a:ext>
                    </a:extLst>
                  </p:cNvPr>
                  <p:cNvSpPr txBox="1">
                    <a:spLocks noRot="1" noChangeAspect="1" noMove="1" noResize="1" noEditPoints="1" noAdjustHandles="1" noChangeArrowheads="1" noChangeShapeType="1" noTextEdit="1"/>
                  </p:cNvSpPr>
                  <p:nvPr/>
                </p:nvSpPr>
                <p:spPr>
                  <a:xfrm>
                    <a:off x="5882549" y="2882067"/>
                    <a:ext cx="542017" cy="336759"/>
                  </a:xfrm>
                  <a:prstGeom prst="rect">
                    <a:avLst/>
                  </a:prstGeom>
                  <a:blipFill>
                    <a:blip r:embed="rId35"/>
                    <a:stretch>
                      <a:fillRect l="-15909" r="-20455" b="-1428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9" name="TextBox 68">
                    <a:extLst>
                      <a:ext uri="{FF2B5EF4-FFF2-40B4-BE49-F238E27FC236}">
                        <a16:creationId xmlns:a16="http://schemas.microsoft.com/office/drawing/2014/main" id="{B40A7E51-27DC-F54E-B6AC-8065AD573359}"/>
                      </a:ext>
                    </a:extLst>
                  </p:cNvPr>
                  <p:cNvSpPr txBox="1"/>
                  <p:nvPr/>
                </p:nvSpPr>
                <p:spPr>
                  <a:xfrm>
                    <a:off x="5839311" y="3333578"/>
                    <a:ext cx="542017" cy="33675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𝑍</m:t>
                              </m:r>
                            </m:e>
                            <m:sub>
                              <m:r>
                                <a:rPr lang="en-US" sz="2000" b="0" i="1" smtClean="0">
                                  <a:latin typeface="Cambria Math" panose="02040503050406030204" pitchFamily="18" charset="0"/>
                                </a:rPr>
                                <m:t>2,</m:t>
                              </m:r>
                              <m:r>
                                <m:rPr>
                                  <m:sty m:val="p"/>
                                </m:rPr>
                                <a:rPr lang="en-US" sz="2000" b="0" i="0" smtClean="0">
                                  <a:latin typeface="Cambria Math" panose="02040503050406030204" pitchFamily="18" charset="0"/>
                                </a:rPr>
                                <m:t>age</m:t>
                              </m:r>
                            </m:sub>
                          </m:sSub>
                        </m:oMath>
                      </m:oMathPara>
                    </a14:m>
                    <a:endParaRPr lang="en-US" sz="2000" dirty="0"/>
                  </a:p>
                </p:txBody>
              </p:sp>
            </mc:Choice>
            <mc:Fallback xmlns="">
              <p:sp>
                <p:nvSpPr>
                  <p:cNvPr id="69" name="TextBox 68">
                    <a:extLst>
                      <a:ext uri="{FF2B5EF4-FFF2-40B4-BE49-F238E27FC236}">
                        <a16:creationId xmlns:a16="http://schemas.microsoft.com/office/drawing/2014/main" id="{B40A7E51-27DC-F54E-B6AC-8065AD573359}"/>
                      </a:ext>
                    </a:extLst>
                  </p:cNvPr>
                  <p:cNvSpPr txBox="1">
                    <a:spLocks noRot="1" noChangeAspect="1" noMove="1" noResize="1" noEditPoints="1" noAdjustHandles="1" noChangeArrowheads="1" noChangeShapeType="1" noTextEdit="1"/>
                  </p:cNvSpPr>
                  <p:nvPr/>
                </p:nvSpPr>
                <p:spPr>
                  <a:xfrm>
                    <a:off x="5839311" y="3333578"/>
                    <a:ext cx="542017" cy="336759"/>
                  </a:xfrm>
                  <a:prstGeom prst="rect">
                    <a:avLst/>
                  </a:prstGeom>
                  <a:blipFill>
                    <a:blip r:embed="rId36"/>
                    <a:stretch>
                      <a:fillRect l="-13636" r="-22727" b="-1785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0" name="TextBox 69">
                    <a:extLst>
                      <a:ext uri="{FF2B5EF4-FFF2-40B4-BE49-F238E27FC236}">
                        <a16:creationId xmlns:a16="http://schemas.microsoft.com/office/drawing/2014/main" id="{E1E95DA7-A7F4-C528-8565-1D82AEF5BE82}"/>
                      </a:ext>
                    </a:extLst>
                  </p:cNvPr>
                  <p:cNvSpPr txBox="1"/>
                  <p:nvPr/>
                </p:nvSpPr>
                <p:spPr>
                  <a:xfrm>
                    <a:off x="5824991" y="4557415"/>
                    <a:ext cx="542017" cy="33675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𝑍</m:t>
                              </m:r>
                            </m:e>
                            <m:sub>
                              <m:r>
                                <a:rPr lang="en-US" sz="2000" b="0" i="1" smtClean="0">
                                  <a:latin typeface="Cambria Math" panose="02040503050406030204" pitchFamily="18" charset="0"/>
                                </a:rPr>
                                <m:t>𝑛</m:t>
                              </m:r>
                              <m:r>
                                <a:rPr lang="en-US" sz="2000" b="0" i="1" smtClean="0">
                                  <a:latin typeface="Cambria Math" panose="02040503050406030204" pitchFamily="18" charset="0"/>
                                </a:rPr>
                                <m:t>,</m:t>
                              </m:r>
                              <m:r>
                                <m:rPr>
                                  <m:sty m:val="p"/>
                                </m:rPr>
                                <a:rPr lang="en-US" sz="2000" b="0" i="0" smtClean="0">
                                  <a:latin typeface="Cambria Math" panose="02040503050406030204" pitchFamily="18" charset="0"/>
                                </a:rPr>
                                <m:t>age</m:t>
                              </m:r>
                            </m:sub>
                          </m:sSub>
                        </m:oMath>
                      </m:oMathPara>
                    </a14:m>
                    <a:endParaRPr lang="en-US" sz="2000" dirty="0"/>
                  </a:p>
                </p:txBody>
              </p:sp>
            </mc:Choice>
            <mc:Fallback xmlns="">
              <p:sp>
                <p:nvSpPr>
                  <p:cNvPr id="70" name="TextBox 69">
                    <a:extLst>
                      <a:ext uri="{FF2B5EF4-FFF2-40B4-BE49-F238E27FC236}">
                        <a16:creationId xmlns:a16="http://schemas.microsoft.com/office/drawing/2014/main" id="{E1E95DA7-A7F4-C528-8565-1D82AEF5BE82}"/>
                      </a:ext>
                    </a:extLst>
                  </p:cNvPr>
                  <p:cNvSpPr txBox="1">
                    <a:spLocks noRot="1" noChangeAspect="1" noMove="1" noResize="1" noEditPoints="1" noAdjustHandles="1" noChangeArrowheads="1" noChangeShapeType="1" noTextEdit="1"/>
                  </p:cNvSpPr>
                  <p:nvPr/>
                </p:nvSpPr>
                <p:spPr>
                  <a:xfrm>
                    <a:off x="5824991" y="4557415"/>
                    <a:ext cx="542017" cy="336759"/>
                  </a:xfrm>
                  <a:prstGeom prst="rect">
                    <a:avLst/>
                  </a:prstGeom>
                  <a:blipFill>
                    <a:blip r:embed="rId37"/>
                    <a:stretch>
                      <a:fillRect l="-16279" r="-25581" b="-1851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1" name="TextBox 70">
                    <a:extLst>
                      <a:ext uri="{FF2B5EF4-FFF2-40B4-BE49-F238E27FC236}">
                        <a16:creationId xmlns:a16="http://schemas.microsoft.com/office/drawing/2014/main" id="{3A2A02FD-8A10-4CF4-BF26-009DF7E1E956}"/>
                      </a:ext>
                    </a:extLst>
                  </p:cNvPr>
                  <p:cNvSpPr txBox="1"/>
                  <p:nvPr/>
                </p:nvSpPr>
                <p:spPr>
                  <a:xfrm>
                    <a:off x="5985187" y="3985139"/>
                    <a:ext cx="250264" cy="30476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oMath>
                      </m:oMathPara>
                    </a14:m>
                    <a:endParaRPr lang="en-US" dirty="0"/>
                  </a:p>
                </p:txBody>
              </p:sp>
            </mc:Choice>
            <mc:Fallback xmlns="">
              <p:sp>
                <p:nvSpPr>
                  <p:cNvPr id="71" name="TextBox 70">
                    <a:extLst>
                      <a:ext uri="{FF2B5EF4-FFF2-40B4-BE49-F238E27FC236}">
                        <a16:creationId xmlns:a16="http://schemas.microsoft.com/office/drawing/2014/main" id="{3A2A02FD-8A10-4CF4-BF26-009DF7E1E956}"/>
                      </a:ext>
                    </a:extLst>
                  </p:cNvPr>
                  <p:cNvSpPr txBox="1">
                    <a:spLocks noRot="1" noChangeAspect="1" noMove="1" noResize="1" noEditPoints="1" noAdjustHandles="1" noChangeArrowheads="1" noChangeShapeType="1" noTextEdit="1"/>
                  </p:cNvSpPr>
                  <p:nvPr/>
                </p:nvSpPr>
                <p:spPr>
                  <a:xfrm>
                    <a:off x="5985187" y="3985139"/>
                    <a:ext cx="250264" cy="304761"/>
                  </a:xfrm>
                  <a:prstGeom prst="rect">
                    <a:avLst/>
                  </a:prstGeom>
                  <a:blipFill>
                    <a:blip r:embed="rId38"/>
                    <a:stretch>
                      <a:fillRect b="-12500"/>
                    </a:stretch>
                  </a:blipFill>
                </p:spPr>
                <p:txBody>
                  <a:bodyPr/>
                  <a:lstStyle/>
                  <a:p>
                    <a:r>
                      <a:rPr lang="en-US">
                        <a:noFill/>
                      </a:rPr>
                      <a:t> </a:t>
                    </a:r>
                  </a:p>
                </p:txBody>
              </p:sp>
            </mc:Fallback>
          </mc:AlternateContent>
        </p:grpSp>
      </p:grpSp>
    </p:spTree>
    <p:extLst>
      <p:ext uri="{BB962C8B-B14F-4D97-AF65-F5344CB8AC3E}">
        <p14:creationId xmlns:p14="http://schemas.microsoft.com/office/powerpoint/2010/main" val="78715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DBBF0D-68D8-751E-A564-E4FCCE272F57}"/>
              </a:ext>
            </a:extLst>
          </p:cNvPr>
          <p:cNvSpPr>
            <a:spLocks noGrp="1"/>
          </p:cNvSpPr>
          <p:nvPr>
            <p:ph type="title"/>
          </p:nvPr>
        </p:nvSpPr>
        <p:spPr/>
        <p:txBody>
          <a:bodyPr/>
          <a:lstStyle/>
          <a:p>
            <a:r>
              <a:rPr lang="en-US" dirty="0"/>
              <a:t>Minimize MSE!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13C2F46-FD34-126A-78C1-9991D108A687}"/>
                  </a:ext>
                </a:extLst>
              </p:cNvPr>
              <p:cNvSpPr>
                <a:spLocks noGrp="1"/>
              </p:cNvSpPr>
              <p:nvPr>
                <p:ph idx="1"/>
              </p:nvPr>
            </p:nvSpPr>
            <p:spPr>
              <a:xfrm>
                <a:off x="838200" y="1825625"/>
                <a:ext cx="10515600" cy="1834206"/>
              </a:xfrm>
            </p:spPr>
            <p:txBody>
              <a:bodyPr/>
              <a:lstStyle/>
              <a:p>
                <a:r>
                  <a:rPr lang="en-US" dirty="0"/>
                  <a:t>Choose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𝑖</m:t>
                        </m:r>
                      </m:sub>
                    </m:sSub>
                  </m:oMath>
                </a14:m>
                <a:r>
                  <a:rPr lang="en-US" dirty="0"/>
                  <a:t> for each state </a:t>
                </a:r>
                <a14:m>
                  <m:oMath xmlns:m="http://schemas.openxmlformats.org/officeDocument/2006/math">
                    <m:r>
                      <a:rPr lang="en-US" b="0" i="1" smtClean="0">
                        <a:latin typeface="Cambria Math" panose="02040503050406030204" pitchFamily="18" charset="0"/>
                      </a:rPr>
                      <m:t>𝑖</m:t>
                    </m:r>
                  </m:oMath>
                </a14:m>
                <a:r>
                  <a:rPr lang="en-US" dirty="0"/>
                  <a:t> so that:</a:t>
                </a:r>
              </a:p>
              <a:p>
                <a:pPr lvl="1"/>
                <a:r>
                  <a:rPr lang="en-US" dirty="0">
                    <a:solidFill>
                      <a:schemeClr val="accent1"/>
                    </a:solidFill>
                  </a:rPr>
                  <a:t>The </a:t>
                </a:r>
                <a14:m>
                  <m:oMath xmlns:m="http://schemas.openxmlformats.org/officeDocument/2006/math">
                    <m:sSub>
                      <m:sSubPr>
                        <m:ctrlPr>
                          <a:rPr lang="en-US" b="0" i="1" smtClean="0">
                            <a:solidFill>
                              <a:schemeClr val="accent1"/>
                            </a:solidFill>
                            <a:latin typeface="Cambria Math" panose="02040503050406030204" pitchFamily="18" charset="0"/>
                          </a:rPr>
                        </m:ctrlPr>
                      </m:sSubPr>
                      <m:e>
                        <m:r>
                          <a:rPr lang="en-US" b="0" i="1" smtClean="0">
                            <a:solidFill>
                              <a:schemeClr val="accent1"/>
                            </a:solidFill>
                            <a:latin typeface="Cambria Math" panose="02040503050406030204" pitchFamily="18" charset="0"/>
                          </a:rPr>
                          <m:t>𝑤</m:t>
                        </m:r>
                      </m:e>
                      <m:sub>
                        <m:r>
                          <a:rPr lang="en-US" b="0" i="1" smtClean="0">
                            <a:solidFill>
                              <a:schemeClr val="accent1"/>
                            </a:solidFill>
                            <a:latin typeface="Cambria Math" panose="02040503050406030204" pitchFamily="18" charset="0"/>
                          </a:rPr>
                          <m:t>𝑖</m:t>
                        </m:r>
                      </m:sub>
                    </m:sSub>
                  </m:oMath>
                </a14:m>
                <a:r>
                  <a:rPr lang="en-US" dirty="0">
                    <a:solidFill>
                      <a:schemeClr val="accent1"/>
                    </a:solidFill>
                  </a:rPr>
                  <a:t> are all positive and sum to 1</a:t>
                </a:r>
              </a:p>
              <a:p>
                <a:pPr lvl="1"/>
                <a:endParaRPr lang="en-US" sz="1600" dirty="0"/>
              </a:p>
              <a:p>
                <a:pPr marL="457200" lvl="1" indent="0">
                  <a:buNone/>
                </a:pPr>
                <a:endParaRPr lang="en-US" dirty="0"/>
              </a:p>
            </p:txBody>
          </p:sp>
        </mc:Choice>
        <mc:Fallback xmlns="">
          <p:sp>
            <p:nvSpPr>
              <p:cNvPr id="3" name="Content Placeholder 2">
                <a:extLst>
                  <a:ext uri="{FF2B5EF4-FFF2-40B4-BE49-F238E27FC236}">
                    <a16:creationId xmlns:a16="http://schemas.microsoft.com/office/drawing/2014/main" id="{713C2F46-FD34-126A-78C1-9991D108A687}"/>
                  </a:ext>
                </a:extLst>
              </p:cNvPr>
              <p:cNvSpPr>
                <a:spLocks noGrp="1" noRot="1" noChangeAspect="1" noMove="1" noResize="1" noEditPoints="1" noAdjustHandles="1" noChangeArrowheads="1" noChangeShapeType="1" noTextEdit="1"/>
              </p:cNvSpPr>
              <p:nvPr>
                <p:ph idx="1"/>
              </p:nvPr>
            </p:nvSpPr>
            <p:spPr>
              <a:xfrm>
                <a:off x="838200" y="1825625"/>
                <a:ext cx="10515600" cy="1834206"/>
              </a:xfrm>
              <a:blipFill>
                <a:blip r:embed="rId3"/>
                <a:stretch>
                  <a:fillRect l="-1086" t="-5517"/>
                </a:stretch>
              </a:blipFill>
            </p:spPr>
            <p:txBody>
              <a:bodyPr/>
              <a:lstStyle/>
              <a:p>
                <a:r>
                  <a:rPr lang="en-US">
                    <a:noFill/>
                  </a:rPr>
                  <a:t> </a:t>
                </a:r>
              </a:p>
            </p:txBody>
          </p:sp>
        </mc:Fallback>
      </mc:AlternateContent>
      <p:sp>
        <p:nvSpPr>
          <p:cNvPr id="6" name="TextBox 5">
            <a:extLst>
              <a:ext uri="{FF2B5EF4-FFF2-40B4-BE49-F238E27FC236}">
                <a16:creationId xmlns:a16="http://schemas.microsoft.com/office/drawing/2014/main" id="{949D70F9-9652-1353-3135-9AD982DE9195}"/>
              </a:ext>
            </a:extLst>
          </p:cNvPr>
          <p:cNvSpPr txBox="1"/>
          <p:nvPr/>
        </p:nvSpPr>
        <p:spPr>
          <a:xfrm>
            <a:off x="838200" y="3198167"/>
            <a:ext cx="2736273" cy="461665"/>
          </a:xfrm>
          <a:prstGeom prst="rect">
            <a:avLst/>
          </a:prstGeom>
          <a:noFill/>
        </p:spPr>
        <p:txBody>
          <a:bodyPr wrap="square">
            <a:spAutoFit/>
          </a:bodyPr>
          <a:lstStyle/>
          <a:p>
            <a:pPr marL="742950" lvl="1" indent="-285750">
              <a:buFont typeface="Arial" panose="020B0604020202020204" pitchFamily="34" charset="0"/>
              <a:buChar char="•"/>
            </a:pPr>
            <a:r>
              <a:rPr lang="en-US" sz="2400" dirty="0">
                <a:solidFill>
                  <a:schemeClr val="accent1"/>
                </a:solidFill>
              </a:rPr>
              <a:t>The error       </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102969D8-4049-831D-2C0B-14A4FEEFB61E}"/>
                  </a:ext>
                </a:extLst>
              </p:cNvPr>
              <p:cNvSpPr txBox="1"/>
              <p:nvPr/>
            </p:nvSpPr>
            <p:spPr>
              <a:xfrm>
                <a:off x="2897582" y="2853672"/>
                <a:ext cx="3983674" cy="114762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nary>
                        <m:naryPr>
                          <m:chr m:val="∑"/>
                          <m:ctrlPr>
                            <a:rPr lang="en-US" sz="2400" i="1" smtClean="0">
                              <a:solidFill>
                                <a:schemeClr val="accent1"/>
                              </a:solidFill>
                              <a:latin typeface="Cambria Math" panose="02040503050406030204" pitchFamily="18" charset="0"/>
                            </a:rPr>
                          </m:ctrlPr>
                        </m:naryPr>
                        <m:sub>
                          <m:r>
                            <a:rPr lang="en-US" sz="2400" b="0" i="1" smtClean="0">
                              <a:solidFill>
                                <a:schemeClr val="accent1"/>
                              </a:solidFill>
                              <a:latin typeface="Cambria Math" panose="02040503050406030204" pitchFamily="18" charset="0"/>
                            </a:rPr>
                            <m:t>𝑡</m:t>
                          </m:r>
                          <m:r>
                            <a:rPr lang="en-US" sz="2400" b="0" i="1" smtClean="0">
                              <a:solidFill>
                                <a:schemeClr val="accent1"/>
                              </a:solidFill>
                              <a:latin typeface="Cambria Math" panose="02040503050406030204" pitchFamily="18" charset="0"/>
                            </a:rPr>
                            <m:t>=1</m:t>
                          </m:r>
                        </m:sub>
                        <m:sup>
                          <m:sSub>
                            <m:sSubPr>
                              <m:ctrlPr>
                                <a:rPr lang="en-US" sz="2400" b="0" i="1" smtClean="0">
                                  <a:solidFill>
                                    <a:schemeClr val="accent1"/>
                                  </a:solidFill>
                                  <a:latin typeface="Cambria Math" panose="02040503050406030204" pitchFamily="18" charset="0"/>
                                </a:rPr>
                              </m:ctrlPr>
                            </m:sSubPr>
                            <m:e>
                              <m:r>
                                <a:rPr lang="en-US" sz="2400" b="0" i="1" smtClean="0">
                                  <a:solidFill>
                                    <a:schemeClr val="accent1"/>
                                  </a:solidFill>
                                  <a:latin typeface="Cambria Math" panose="02040503050406030204" pitchFamily="18" charset="0"/>
                                </a:rPr>
                                <m:t>𝑇</m:t>
                              </m:r>
                            </m:e>
                            <m:sub>
                              <m:r>
                                <a:rPr lang="en-US" sz="2400" b="0" i="1" smtClean="0">
                                  <a:solidFill>
                                    <a:schemeClr val="accent1"/>
                                  </a:solidFill>
                                  <a:latin typeface="Cambria Math" panose="02040503050406030204" pitchFamily="18" charset="0"/>
                                </a:rPr>
                                <m:t>0</m:t>
                              </m:r>
                            </m:sub>
                          </m:sSub>
                        </m:sup>
                        <m:e>
                          <m:sSup>
                            <m:sSupPr>
                              <m:ctrlPr>
                                <a:rPr lang="en-US" sz="2400" b="0" i="1" smtClean="0">
                                  <a:solidFill>
                                    <a:schemeClr val="accent1"/>
                                  </a:solidFill>
                                  <a:latin typeface="Cambria Math" panose="02040503050406030204" pitchFamily="18" charset="0"/>
                                </a:rPr>
                              </m:ctrlPr>
                            </m:sSupPr>
                            <m:e>
                              <m:d>
                                <m:dPr>
                                  <m:ctrlPr>
                                    <a:rPr lang="en-US" sz="2400" b="0" i="1" smtClean="0">
                                      <a:solidFill>
                                        <a:schemeClr val="accent1"/>
                                      </a:solidFill>
                                      <a:latin typeface="Cambria Math" panose="02040503050406030204" pitchFamily="18" charset="0"/>
                                    </a:rPr>
                                  </m:ctrlPr>
                                </m:dPr>
                                <m:e>
                                  <m:sSub>
                                    <m:sSubPr>
                                      <m:ctrlPr>
                                        <a:rPr lang="en-US" sz="2400" i="1" smtClean="0">
                                          <a:solidFill>
                                            <a:schemeClr val="accent5"/>
                                          </a:solidFill>
                                          <a:latin typeface="Cambria Math" panose="02040503050406030204" pitchFamily="18" charset="0"/>
                                        </a:rPr>
                                      </m:ctrlPr>
                                    </m:sSubPr>
                                    <m:e>
                                      <m:r>
                                        <a:rPr lang="en-US" sz="2400" i="1">
                                          <a:solidFill>
                                            <a:schemeClr val="accent5"/>
                                          </a:solidFill>
                                          <a:latin typeface="Cambria Math" panose="02040503050406030204" pitchFamily="18" charset="0"/>
                                        </a:rPr>
                                        <m:t>𝑌</m:t>
                                      </m:r>
                                    </m:e>
                                    <m:sub>
                                      <m:r>
                                        <m:rPr>
                                          <m:sty m:val="p"/>
                                        </m:rPr>
                                        <a:rPr lang="en-US" sz="2400" b="0" i="0" smtClean="0">
                                          <a:solidFill>
                                            <a:schemeClr val="accent5"/>
                                          </a:solidFill>
                                          <a:latin typeface="Cambria Math" panose="02040503050406030204" pitchFamily="18" charset="0"/>
                                        </a:rPr>
                                        <m:t>CA</m:t>
                                      </m:r>
                                      <m:r>
                                        <a:rPr lang="en-US" sz="2400" i="1">
                                          <a:solidFill>
                                            <a:schemeClr val="accent5"/>
                                          </a:solidFill>
                                          <a:latin typeface="Cambria Math" panose="02040503050406030204" pitchFamily="18" charset="0"/>
                                        </a:rPr>
                                        <m:t>,</m:t>
                                      </m:r>
                                      <m:r>
                                        <a:rPr lang="en-US" sz="2400" i="1">
                                          <a:solidFill>
                                            <a:schemeClr val="accent5"/>
                                          </a:solidFill>
                                          <a:latin typeface="Cambria Math" panose="02040503050406030204" pitchFamily="18" charset="0"/>
                                        </a:rPr>
                                        <m:t>𝑡</m:t>
                                      </m:r>
                                    </m:sub>
                                  </m:sSub>
                                  <m:r>
                                    <a:rPr lang="en-US" sz="2400" i="1">
                                      <a:solidFill>
                                        <a:schemeClr val="accent1"/>
                                      </a:solidFill>
                                      <a:latin typeface="Cambria Math" panose="02040503050406030204" pitchFamily="18" charset="0"/>
                                    </a:rPr>
                                    <m:t>−</m:t>
                                  </m:r>
                                  <m:nary>
                                    <m:naryPr>
                                      <m:chr m:val="∑"/>
                                      <m:supHide m:val="on"/>
                                      <m:ctrlPr>
                                        <a:rPr lang="en-US" sz="2400" i="1" smtClean="0">
                                          <a:solidFill>
                                            <a:schemeClr val="accent6"/>
                                          </a:solidFill>
                                          <a:latin typeface="Cambria Math" panose="02040503050406030204" pitchFamily="18" charset="0"/>
                                        </a:rPr>
                                      </m:ctrlPr>
                                    </m:naryPr>
                                    <m:sub>
                                      <m:r>
                                        <a:rPr lang="en-US" sz="2400" i="1">
                                          <a:solidFill>
                                            <a:schemeClr val="accent6"/>
                                          </a:solidFill>
                                          <a:latin typeface="Cambria Math" panose="02040503050406030204" pitchFamily="18" charset="0"/>
                                        </a:rPr>
                                        <m:t>𝑖</m:t>
                                      </m:r>
                                      <m:r>
                                        <a:rPr lang="en-US" sz="2400" i="1">
                                          <a:solidFill>
                                            <a:schemeClr val="accent6"/>
                                          </a:solidFill>
                                          <a:latin typeface="Cambria Math" panose="02040503050406030204" pitchFamily="18" charset="0"/>
                                        </a:rPr>
                                        <m:t>≠</m:t>
                                      </m:r>
                                      <m:r>
                                        <m:rPr>
                                          <m:sty m:val="p"/>
                                        </m:rPr>
                                        <a:rPr lang="en-US" sz="2400" i="0">
                                          <a:solidFill>
                                            <a:schemeClr val="accent6"/>
                                          </a:solidFill>
                                          <a:latin typeface="Cambria Math" panose="02040503050406030204" pitchFamily="18" charset="0"/>
                                        </a:rPr>
                                        <m:t>CA</m:t>
                                      </m:r>
                                    </m:sub>
                                    <m:sup/>
                                    <m:e>
                                      <m:sSub>
                                        <m:sSubPr>
                                          <m:ctrlPr>
                                            <a:rPr lang="en-US" sz="2400" i="1">
                                              <a:solidFill>
                                                <a:schemeClr val="accent6"/>
                                              </a:solidFill>
                                              <a:latin typeface="Cambria Math" panose="02040503050406030204" pitchFamily="18" charset="0"/>
                                            </a:rPr>
                                          </m:ctrlPr>
                                        </m:sSubPr>
                                        <m:e>
                                          <m:r>
                                            <a:rPr lang="en-US" sz="2400" i="1">
                                              <a:solidFill>
                                                <a:schemeClr val="accent6"/>
                                              </a:solidFill>
                                              <a:latin typeface="Cambria Math" panose="02040503050406030204" pitchFamily="18" charset="0"/>
                                            </a:rPr>
                                            <m:t>𝑤</m:t>
                                          </m:r>
                                        </m:e>
                                        <m:sub>
                                          <m:r>
                                            <a:rPr lang="en-US" sz="2400" i="1">
                                              <a:solidFill>
                                                <a:schemeClr val="accent6"/>
                                              </a:solidFill>
                                              <a:latin typeface="Cambria Math" panose="02040503050406030204" pitchFamily="18" charset="0"/>
                                            </a:rPr>
                                            <m:t>𝑖</m:t>
                                          </m:r>
                                        </m:sub>
                                      </m:sSub>
                                      <m:sSub>
                                        <m:sSubPr>
                                          <m:ctrlPr>
                                            <a:rPr lang="en-US" sz="2400" i="1">
                                              <a:solidFill>
                                                <a:schemeClr val="accent6"/>
                                              </a:solidFill>
                                              <a:latin typeface="Cambria Math" panose="02040503050406030204" pitchFamily="18" charset="0"/>
                                            </a:rPr>
                                          </m:ctrlPr>
                                        </m:sSubPr>
                                        <m:e>
                                          <m:r>
                                            <a:rPr lang="en-US" sz="2400" i="1">
                                              <a:solidFill>
                                                <a:schemeClr val="accent6"/>
                                              </a:solidFill>
                                              <a:latin typeface="Cambria Math" panose="02040503050406030204" pitchFamily="18" charset="0"/>
                                            </a:rPr>
                                            <m:t>𝑌</m:t>
                                          </m:r>
                                        </m:e>
                                        <m:sub>
                                          <m:r>
                                            <a:rPr lang="en-US" sz="2400" i="1">
                                              <a:solidFill>
                                                <a:schemeClr val="accent6"/>
                                              </a:solidFill>
                                              <a:latin typeface="Cambria Math" panose="02040503050406030204" pitchFamily="18" charset="0"/>
                                            </a:rPr>
                                            <m:t>𝑖𝑡</m:t>
                                          </m:r>
                                        </m:sub>
                                      </m:sSub>
                                    </m:e>
                                  </m:nary>
                                </m:e>
                              </m:d>
                            </m:e>
                            <m:sup>
                              <m:r>
                                <a:rPr lang="en-US" sz="2400" b="0" i="1" smtClean="0">
                                  <a:solidFill>
                                    <a:schemeClr val="accent1"/>
                                  </a:solidFill>
                                  <a:latin typeface="Cambria Math" panose="02040503050406030204" pitchFamily="18" charset="0"/>
                                </a:rPr>
                                <m:t>2</m:t>
                              </m:r>
                            </m:sup>
                          </m:sSup>
                          <m:r>
                            <a:rPr lang="en-US" sz="2400" b="0" i="1" smtClean="0">
                              <a:solidFill>
                                <a:schemeClr val="accent1"/>
                              </a:solidFill>
                              <a:latin typeface="Cambria Math" panose="02040503050406030204" pitchFamily="18" charset="0"/>
                            </a:rPr>
                            <m:t> </m:t>
                          </m:r>
                        </m:e>
                      </m:nary>
                    </m:oMath>
                  </m:oMathPara>
                </a14:m>
                <a:endParaRPr lang="en-US" sz="2400" dirty="0">
                  <a:solidFill>
                    <a:schemeClr val="accent1"/>
                  </a:solidFill>
                </a:endParaRPr>
              </a:p>
            </p:txBody>
          </p:sp>
        </mc:Choice>
        <mc:Fallback xmlns="">
          <p:sp>
            <p:nvSpPr>
              <p:cNvPr id="8" name="TextBox 7">
                <a:extLst>
                  <a:ext uri="{FF2B5EF4-FFF2-40B4-BE49-F238E27FC236}">
                    <a16:creationId xmlns:a16="http://schemas.microsoft.com/office/drawing/2014/main" id="{102969D8-4049-831D-2C0B-14A4FEEFB61E}"/>
                  </a:ext>
                </a:extLst>
              </p:cNvPr>
              <p:cNvSpPr txBox="1">
                <a:spLocks noRot="1" noChangeAspect="1" noMove="1" noResize="1" noEditPoints="1" noAdjustHandles="1" noChangeArrowheads="1" noChangeShapeType="1" noTextEdit="1"/>
              </p:cNvSpPr>
              <p:nvPr/>
            </p:nvSpPr>
            <p:spPr>
              <a:xfrm>
                <a:off x="2897582" y="2853672"/>
                <a:ext cx="3983674" cy="1147622"/>
              </a:xfrm>
              <a:prstGeom prst="rect">
                <a:avLst/>
              </a:prstGeom>
              <a:blipFill>
                <a:blip r:embed="rId4"/>
                <a:stretch>
                  <a:fillRect l="-20064" t="-98901" b="-15714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ADD9B407-DBB0-7660-28D4-ED0E33077C98}"/>
                  </a:ext>
                </a:extLst>
              </p:cNvPr>
              <p:cNvSpPr txBox="1"/>
              <p:nvPr/>
            </p:nvSpPr>
            <p:spPr>
              <a:xfrm>
                <a:off x="6162058" y="2850232"/>
                <a:ext cx="4910941" cy="1147750"/>
              </a:xfrm>
              <a:prstGeom prst="rect">
                <a:avLst/>
              </a:prstGeom>
              <a:noFill/>
            </p:spPr>
            <p:txBody>
              <a:bodyPr wrap="square">
                <a:spAutoFit/>
              </a:bodyPr>
              <a:lstStyle/>
              <a:p>
                <a:pPr lvl="1"/>
                <a14:m>
                  <m:oMathPara xmlns:m="http://schemas.openxmlformats.org/officeDocument/2006/math">
                    <m:oMathParaPr>
                      <m:jc m:val="centerGroup"/>
                    </m:oMathParaPr>
                    <m:oMath xmlns:m="http://schemas.openxmlformats.org/officeDocument/2006/math">
                      <m:r>
                        <a:rPr lang="en-US" sz="2400" b="0" i="1" smtClean="0">
                          <a:solidFill>
                            <a:schemeClr val="accent1"/>
                          </a:solidFill>
                          <a:latin typeface="Cambria Math" panose="02040503050406030204" pitchFamily="18" charset="0"/>
                        </a:rPr>
                        <m:t>+</m:t>
                      </m:r>
                      <m:nary>
                        <m:naryPr>
                          <m:chr m:val="∑"/>
                          <m:ctrlPr>
                            <a:rPr lang="en-US" sz="2400" i="1" smtClean="0">
                              <a:solidFill>
                                <a:schemeClr val="accent1"/>
                              </a:solidFill>
                              <a:latin typeface="Cambria Math" panose="02040503050406030204" pitchFamily="18" charset="0"/>
                            </a:rPr>
                          </m:ctrlPr>
                        </m:naryPr>
                        <m:sub>
                          <m:r>
                            <a:rPr lang="en-US" sz="2400" b="0" i="1" smtClean="0">
                              <a:solidFill>
                                <a:schemeClr val="accent1"/>
                              </a:solidFill>
                              <a:latin typeface="Cambria Math" panose="02040503050406030204" pitchFamily="18" charset="0"/>
                            </a:rPr>
                            <m:t>𝑧</m:t>
                          </m:r>
                          <m:r>
                            <a:rPr lang="en-US" sz="2400" b="0" i="1" smtClean="0">
                              <a:solidFill>
                                <a:schemeClr val="accent1"/>
                              </a:solidFill>
                              <a:latin typeface="Cambria Math" panose="02040503050406030204" pitchFamily="18" charset="0"/>
                            </a:rPr>
                            <m:t>=1</m:t>
                          </m:r>
                        </m:sub>
                        <m:sup>
                          <m:sSub>
                            <m:sSubPr>
                              <m:ctrlPr>
                                <a:rPr lang="en-US" sz="2400" b="0" i="1" smtClean="0">
                                  <a:solidFill>
                                    <a:schemeClr val="accent1"/>
                                  </a:solidFill>
                                  <a:latin typeface="Cambria Math" panose="02040503050406030204" pitchFamily="18" charset="0"/>
                                </a:rPr>
                              </m:ctrlPr>
                            </m:sSubPr>
                            <m:e>
                              <m:r>
                                <a:rPr lang="en-US" sz="2400" b="0" i="1" smtClean="0">
                                  <a:solidFill>
                                    <a:schemeClr val="accent1"/>
                                  </a:solidFill>
                                  <a:latin typeface="Cambria Math" panose="02040503050406030204" pitchFamily="18" charset="0"/>
                                </a:rPr>
                                <m:t>𝑍</m:t>
                              </m:r>
                            </m:e>
                            <m:sub>
                              <m:r>
                                <a:rPr lang="en-US" sz="2400" b="0" i="1" smtClean="0">
                                  <a:solidFill>
                                    <a:schemeClr val="accent1"/>
                                  </a:solidFill>
                                  <a:latin typeface="Cambria Math" panose="02040503050406030204" pitchFamily="18" charset="0"/>
                                </a:rPr>
                                <m:t>0</m:t>
                              </m:r>
                            </m:sub>
                          </m:sSub>
                        </m:sup>
                        <m:e>
                          <m:sSup>
                            <m:sSupPr>
                              <m:ctrlPr>
                                <a:rPr lang="en-US" sz="2400" b="0" i="1" smtClean="0">
                                  <a:solidFill>
                                    <a:schemeClr val="accent1"/>
                                  </a:solidFill>
                                  <a:latin typeface="Cambria Math" panose="02040503050406030204" pitchFamily="18" charset="0"/>
                                </a:rPr>
                              </m:ctrlPr>
                            </m:sSupPr>
                            <m:e>
                              <m:d>
                                <m:dPr>
                                  <m:ctrlPr>
                                    <a:rPr lang="en-US" sz="2400" b="0" i="1" smtClean="0">
                                      <a:solidFill>
                                        <a:schemeClr val="accent1"/>
                                      </a:solidFill>
                                      <a:latin typeface="Cambria Math" panose="02040503050406030204" pitchFamily="18" charset="0"/>
                                    </a:rPr>
                                  </m:ctrlPr>
                                </m:dPr>
                                <m:e>
                                  <m:sSub>
                                    <m:sSubPr>
                                      <m:ctrlPr>
                                        <a:rPr lang="en-US" sz="2400" i="1" smtClean="0">
                                          <a:solidFill>
                                            <a:schemeClr val="accent5"/>
                                          </a:solidFill>
                                          <a:latin typeface="Cambria Math" panose="02040503050406030204" pitchFamily="18" charset="0"/>
                                        </a:rPr>
                                      </m:ctrlPr>
                                    </m:sSubPr>
                                    <m:e>
                                      <m:r>
                                        <a:rPr lang="en-US" sz="2400" b="0" i="1" smtClean="0">
                                          <a:solidFill>
                                            <a:schemeClr val="accent5"/>
                                          </a:solidFill>
                                          <a:latin typeface="Cambria Math" panose="02040503050406030204" pitchFamily="18" charset="0"/>
                                        </a:rPr>
                                        <m:t>𝑍</m:t>
                                      </m:r>
                                    </m:e>
                                    <m:sub>
                                      <m:r>
                                        <m:rPr>
                                          <m:sty m:val="p"/>
                                        </m:rPr>
                                        <a:rPr lang="en-US" sz="2400" b="0" i="0" smtClean="0">
                                          <a:solidFill>
                                            <a:schemeClr val="accent5"/>
                                          </a:solidFill>
                                          <a:latin typeface="Cambria Math" panose="02040503050406030204" pitchFamily="18" charset="0"/>
                                        </a:rPr>
                                        <m:t>CA</m:t>
                                      </m:r>
                                      <m:r>
                                        <a:rPr lang="en-US" sz="2400" i="1">
                                          <a:solidFill>
                                            <a:schemeClr val="accent5"/>
                                          </a:solidFill>
                                          <a:latin typeface="Cambria Math" panose="02040503050406030204" pitchFamily="18" charset="0"/>
                                        </a:rPr>
                                        <m:t>,</m:t>
                                      </m:r>
                                      <m:r>
                                        <a:rPr lang="en-US" sz="2400" b="0" i="1" smtClean="0">
                                          <a:solidFill>
                                            <a:schemeClr val="accent5"/>
                                          </a:solidFill>
                                          <a:latin typeface="Cambria Math" panose="02040503050406030204" pitchFamily="18" charset="0"/>
                                        </a:rPr>
                                        <m:t>𝑧</m:t>
                                      </m:r>
                                    </m:sub>
                                  </m:sSub>
                                  <m:r>
                                    <a:rPr lang="en-US" sz="2400" i="1">
                                      <a:solidFill>
                                        <a:schemeClr val="accent1"/>
                                      </a:solidFill>
                                      <a:latin typeface="Cambria Math" panose="02040503050406030204" pitchFamily="18" charset="0"/>
                                    </a:rPr>
                                    <m:t>−</m:t>
                                  </m:r>
                                  <m:nary>
                                    <m:naryPr>
                                      <m:chr m:val="∑"/>
                                      <m:supHide m:val="on"/>
                                      <m:ctrlPr>
                                        <a:rPr lang="en-US" sz="2400" i="1" smtClean="0">
                                          <a:solidFill>
                                            <a:schemeClr val="accent6"/>
                                          </a:solidFill>
                                          <a:latin typeface="Cambria Math" panose="02040503050406030204" pitchFamily="18" charset="0"/>
                                        </a:rPr>
                                      </m:ctrlPr>
                                    </m:naryPr>
                                    <m:sub>
                                      <m:r>
                                        <a:rPr lang="en-US" sz="2400" i="1">
                                          <a:solidFill>
                                            <a:schemeClr val="accent6"/>
                                          </a:solidFill>
                                          <a:latin typeface="Cambria Math" panose="02040503050406030204" pitchFamily="18" charset="0"/>
                                        </a:rPr>
                                        <m:t>𝑖</m:t>
                                      </m:r>
                                      <m:r>
                                        <a:rPr lang="en-US" sz="2400" i="1">
                                          <a:solidFill>
                                            <a:schemeClr val="accent6"/>
                                          </a:solidFill>
                                          <a:latin typeface="Cambria Math" panose="02040503050406030204" pitchFamily="18" charset="0"/>
                                        </a:rPr>
                                        <m:t>≠</m:t>
                                      </m:r>
                                      <m:r>
                                        <m:rPr>
                                          <m:sty m:val="p"/>
                                        </m:rPr>
                                        <a:rPr lang="en-US" sz="2400" i="0">
                                          <a:solidFill>
                                            <a:schemeClr val="accent6"/>
                                          </a:solidFill>
                                          <a:latin typeface="Cambria Math" panose="02040503050406030204" pitchFamily="18" charset="0"/>
                                        </a:rPr>
                                        <m:t>CA</m:t>
                                      </m:r>
                                    </m:sub>
                                    <m:sup/>
                                    <m:e>
                                      <m:sSub>
                                        <m:sSubPr>
                                          <m:ctrlPr>
                                            <a:rPr lang="en-US" sz="2400" i="1">
                                              <a:solidFill>
                                                <a:schemeClr val="accent6"/>
                                              </a:solidFill>
                                              <a:latin typeface="Cambria Math" panose="02040503050406030204" pitchFamily="18" charset="0"/>
                                            </a:rPr>
                                          </m:ctrlPr>
                                        </m:sSubPr>
                                        <m:e>
                                          <m:r>
                                            <a:rPr lang="en-US" sz="2400" i="1">
                                              <a:solidFill>
                                                <a:schemeClr val="accent6"/>
                                              </a:solidFill>
                                              <a:latin typeface="Cambria Math" panose="02040503050406030204" pitchFamily="18" charset="0"/>
                                            </a:rPr>
                                            <m:t>𝑤</m:t>
                                          </m:r>
                                        </m:e>
                                        <m:sub>
                                          <m:r>
                                            <a:rPr lang="en-US" sz="2400" i="1">
                                              <a:solidFill>
                                                <a:schemeClr val="accent6"/>
                                              </a:solidFill>
                                              <a:latin typeface="Cambria Math" panose="02040503050406030204" pitchFamily="18" charset="0"/>
                                            </a:rPr>
                                            <m:t>𝑖</m:t>
                                          </m:r>
                                        </m:sub>
                                      </m:sSub>
                                      <m:sSub>
                                        <m:sSubPr>
                                          <m:ctrlPr>
                                            <a:rPr lang="en-US" sz="2400" i="1">
                                              <a:solidFill>
                                                <a:schemeClr val="accent6"/>
                                              </a:solidFill>
                                              <a:latin typeface="Cambria Math" panose="02040503050406030204" pitchFamily="18" charset="0"/>
                                            </a:rPr>
                                          </m:ctrlPr>
                                        </m:sSubPr>
                                        <m:e>
                                          <m:r>
                                            <a:rPr lang="en-US" sz="2400" b="0" i="1" smtClean="0">
                                              <a:solidFill>
                                                <a:schemeClr val="accent6"/>
                                              </a:solidFill>
                                              <a:latin typeface="Cambria Math" panose="02040503050406030204" pitchFamily="18" charset="0"/>
                                            </a:rPr>
                                            <m:t>𝑍</m:t>
                                          </m:r>
                                        </m:e>
                                        <m:sub>
                                          <m:r>
                                            <a:rPr lang="en-US" sz="2400" i="1">
                                              <a:solidFill>
                                                <a:schemeClr val="accent6"/>
                                              </a:solidFill>
                                              <a:latin typeface="Cambria Math" panose="02040503050406030204" pitchFamily="18" charset="0"/>
                                            </a:rPr>
                                            <m:t>𝑖</m:t>
                                          </m:r>
                                          <m:r>
                                            <a:rPr lang="en-US" sz="2400" b="0" i="1" smtClean="0">
                                              <a:solidFill>
                                                <a:schemeClr val="accent6"/>
                                              </a:solidFill>
                                              <a:latin typeface="Cambria Math" panose="02040503050406030204" pitchFamily="18" charset="0"/>
                                            </a:rPr>
                                            <m:t>𝑧</m:t>
                                          </m:r>
                                        </m:sub>
                                      </m:sSub>
                                    </m:e>
                                  </m:nary>
                                </m:e>
                              </m:d>
                            </m:e>
                            <m:sup>
                              <m:r>
                                <a:rPr lang="en-US" sz="2400" b="0" i="1" smtClean="0">
                                  <a:solidFill>
                                    <a:schemeClr val="accent1"/>
                                  </a:solidFill>
                                  <a:latin typeface="Cambria Math" panose="02040503050406030204" pitchFamily="18" charset="0"/>
                                </a:rPr>
                                <m:t>2</m:t>
                              </m:r>
                            </m:sup>
                          </m:sSup>
                          <m:r>
                            <a:rPr lang="en-US" sz="2400" b="0" i="1" smtClean="0">
                              <a:solidFill>
                                <a:schemeClr val="accent1"/>
                              </a:solidFill>
                              <a:latin typeface="Cambria Math" panose="02040503050406030204" pitchFamily="18" charset="0"/>
                            </a:rPr>
                            <m:t> </m:t>
                          </m:r>
                        </m:e>
                      </m:nary>
                    </m:oMath>
                  </m:oMathPara>
                </a14:m>
                <a:endParaRPr lang="en-US" sz="2400" dirty="0">
                  <a:solidFill>
                    <a:schemeClr val="accent1"/>
                  </a:solidFill>
                </a:endParaRPr>
              </a:p>
            </p:txBody>
          </p:sp>
        </mc:Choice>
        <mc:Fallback xmlns="">
          <p:sp>
            <p:nvSpPr>
              <p:cNvPr id="9" name="TextBox 8">
                <a:extLst>
                  <a:ext uri="{FF2B5EF4-FFF2-40B4-BE49-F238E27FC236}">
                    <a16:creationId xmlns:a16="http://schemas.microsoft.com/office/drawing/2014/main" id="{ADD9B407-DBB0-7660-28D4-ED0E33077C98}"/>
                  </a:ext>
                </a:extLst>
              </p:cNvPr>
              <p:cNvSpPr txBox="1">
                <a:spLocks noRot="1" noChangeAspect="1" noMove="1" noResize="1" noEditPoints="1" noAdjustHandles="1" noChangeArrowheads="1" noChangeShapeType="1" noTextEdit="1"/>
              </p:cNvSpPr>
              <p:nvPr/>
            </p:nvSpPr>
            <p:spPr>
              <a:xfrm>
                <a:off x="6162058" y="2850232"/>
                <a:ext cx="4910941" cy="1147750"/>
              </a:xfrm>
              <a:prstGeom prst="rect">
                <a:avLst/>
              </a:prstGeom>
              <a:blipFill>
                <a:blip r:embed="rId5"/>
                <a:stretch>
                  <a:fillRect l="-6977" t="-98901" b="-157143"/>
                </a:stretch>
              </a:blipFill>
            </p:spPr>
            <p:txBody>
              <a:bodyPr/>
              <a:lstStyle/>
              <a:p>
                <a:r>
                  <a:rPr lang="en-US">
                    <a:noFill/>
                  </a:rPr>
                  <a:t> </a:t>
                </a:r>
              </a:p>
            </p:txBody>
          </p:sp>
        </mc:Fallback>
      </mc:AlternateContent>
      <p:sp>
        <p:nvSpPr>
          <p:cNvPr id="10" name="TextBox 9">
            <a:extLst>
              <a:ext uri="{FF2B5EF4-FFF2-40B4-BE49-F238E27FC236}">
                <a16:creationId xmlns:a16="http://schemas.microsoft.com/office/drawing/2014/main" id="{F8068A10-1D58-2E74-C05A-2018B737D547}"/>
              </a:ext>
            </a:extLst>
          </p:cNvPr>
          <p:cNvSpPr txBox="1"/>
          <p:nvPr/>
        </p:nvSpPr>
        <p:spPr>
          <a:xfrm>
            <a:off x="1710048" y="4429175"/>
            <a:ext cx="1769423" cy="1200329"/>
          </a:xfrm>
          <a:prstGeom prst="rect">
            <a:avLst/>
          </a:prstGeom>
          <a:noFill/>
        </p:spPr>
        <p:txBody>
          <a:bodyPr wrap="square" rtlCol="0">
            <a:spAutoFit/>
          </a:bodyPr>
          <a:lstStyle/>
          <a:p>
            <a:pPr algn="ctr"/>
            <a:r>
              <a:rPr lang="en-US" dirty="0">
                <a:solidFill>
                  <a:schemeClr val="accent2"/>
                </a:solidFill>
              </a:rPr>
              <a:t>Sum over all time periods before the treatment</a:t>
            </a:r>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6C7F46A5-B511-F1DC-D2A1-BD7445F7EA8E}"/>
                  </a:ext>
                </a:extLst>
              </p:cNvPr>
              <p:cNvSpPr txBox="1"/>
              <p:nvPr/>
            </p:nvSpPr>
            <p:spPr>
              <a:xfrm>
                <a:off x="3633850" y="4590001"/>
                <a:ext cx="1615044" cy="646331"/>
              </a:xfrm>
              <a:prstGeom prst="rect">
                <a:avLst/>
              </a:prstGeom>
              <a:noFill/>
            </p:spPr>
            <p:txBody>
              <a:bodyPr wrap="square" rtlCol="0">
                <a:spAutoFit/>
              </a:bodyPr>
              <a:lstStyle/>
              <a:p>
                <a:pPr algn="ctr"/>
                <a:r>
                  <a:rPr lang="en-US" dirty="0">
                    <a:solidFill>
                      <a:schemeClr val="accent5"/>
                    </a:solidFill>
                  </a:rPr>
                  <a:t>CA’s outcome at time </a:t>
                </a:r>
                <a14:m>
                  <m:oMath xmlns:m="http://schemas.openxmlformats.org/officeDocument/2006/math">
                    <m:r>
                      <a:rPr lang="en-US" i="1" dirty="0" smtClean="0">
                        <a:solidFill>
                          <a:schemeClr val="accent5"/>
                        </a:solidFill>
                        <a:latin typeface="Cambria Math" panose="02040503050406030204" pitchFamily="18" charset="0"/>
                      </a:rPr>
                      <m:t>𝑡</m:t>
                    </m:r>
                  </m:oMath>
                </a14:m>
                <a:endParaRPr lang="en-US" dirty="0">
                  <a:solidFill>
                    <a:schemeClr val="accent5"/>
                  </a:solidFill>
                </a:endParaRPr>
              </a:p>
            </p:txBody>
          </p:sp>
        </mc:Choice>
        <mc:Fallback xmlns="">
          <p:sp>
            <p:nvSpPr>
              <p:cNvPr id="11" name="TextBox 10">
                <a:extLst>
                  <a:ext uri="{FF2B5EF4-FFF2-40B4-BE49-F238E27FC236}">
                    <a16:creationId xmlns:a16="http://schemas.microsoft.com/office/drawing/2014/main" id="{6C7F46A5-B511-F1DC-D2A1-BD7445F7EA8E}"/>
                  </a:ext>
                </a:extLst>
              </p:cNvPr>
              <p:cNvSpPr txBox="1">
                <a:spLocks noRot="1" noChangeAspect="1" noMove="1" noResize="1" noEditPoints="1" noAdjustHandles="1" noChangeArrowheads="1" noChangeShapeType="1" noTextEdit="1"/>
              </p:cNvSpPr>
              <p:nvPr/>
            </p:nvSpPr>
            <p:spPr>
              <a:xfrm>
                <a:off x="3633850" y="4590001"/>
                <a:ext cx="1615044" cy="646331"/>
              </a:xfrm>
              <a:prstGeom prst="rect">
                <a:avLst/>
              </a:prstGeom>
              <a:blipFill>
                <a:blip r:embed="rId6"/>
                <a:stretch>
                  <a:fillRect l="-1563" t="-3846" r="-3906" b="-1346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03C2539E-F100-5133-4FFE-0F36D3E0381F}"/>
                  </a:ext>
                </a:extLst>
              </p:cNvPr>
              <p:cNvSpPr txBox="1"/>
              <p:nvPr/>
            </p:nvSpPr>
            <p:spPr>
              <a:xfrm>
                <a:off x="5403273" y="4567675"/>
                <a:ext cx="1769422" cy="923330"/>
              </a:xfrm>
              <a:prstGeom prst="rect">
                <a:avLst/>
              </a:prstGeom>
              <a:noFill/>
            </p:spPr>
            <p:txBody>
              <a:bodyPr wrap="square" rtlCol="0">
                <a:spAutoFit/>
              </a:bodyPr>
              <a:lstStyle/>
              <a:p>
                <a:pPr algn="ctr"/>
                <a:r>
                  <a:rPr lang="en-US" dirty="0">
                    <a:solidFill>
                      <a:schemeClr val="accent6"/>
                    </a:solidFill>
                  </a:rPr>
                  <a:t>Synthetic-CA’s outcome at time </a:t>
                </a:r>
                <a14:m>
                  <m:oMath xmlns:m="http://schemas.openxmlformats.org/officeDocument/2006/math">
                    <m:r>
                      <a:rPr lang="en-US" i="1" dirty="0" smtClean="0">
                        <a:solidFill>
                          <a:schemeClr val="accent6"/>
                        </a:solidFill>
                        <a:latin typeface="Cambria Math" panose="02040503050406030204" pitchFamily="18" charset="0"/>
                      </a:rPr>
                      <m:t>𝑡</m:t>
                    </m:r>
                  </m:oMath>
                </a14:m>
                <a:endParaRPr lang="en-US" dirty="0">
                  <a:solidFill>
                    <a:schemeClr val="accent6"/>
                  </a:solidFill>
                </a:endParaRPr>
              </a:p>
            </p:txBody>
          </p:sp>
        </mc:Choice>
        <mc:Fallback xmlns="">
          <p:sp>
            <p:nvSpPr>
              <p:cNvPr id="12" name="TextBox 11">
                <a:extLst>
                  <a:ext uri="{FF2B5EF4-FFF2-40B4-BE49-F238E27FC236}">
                    <a16:creationId xmlns:a16="http://schemas.microsoft.com/office/drawing/2014/main" id="{03C2539E-F100-5133-4FFE-0F36D3E0381F}"/>
                  </a:ext>
                </a:extLst>
              </p:cNvPr>
              <p:cNvSpPr txBox="1">
                <a:spLocks noRot="1" noChangeAspect="1" noMove="1" noResize="1" noEditPoints="1" noAdjustHandles="1" noChangeArrowheads="1" noChangeShapeType="1" noTextEdit="1"/>
              </p:cNvSpPr>
              <p:nvPr/>
            </p:nvSpPr>
            <p:spPr>
              <a:xfrm>
                <a:off x="5403273" y="4567675"/>
                <a:ext cx="1769422" cy="923330"/>
              </a:xfrm>
              <a:prstGeom prst="rect">
                <a:avLst/>
              </a:prstGeom>
              <a:blipFill>
                <a:blip r:embed="rId7"/>
                <a:stretch>
                  <a:fillRect t="-2703" r="-1429" b="-9459"/>
                </a:stretch>
              </a:blipFill>
            </p:spPr>
            <p:txBody>
              <a:bodyPr/>
              <a:lstStyle/>
              <a:p>
                <a:r>
                  <a:rPr lang="en-US">
                    <a:noFill/>
                  </a:rPr>
                  <a:t> </a:t>
                </a:r>
              </a:p>
            </p:txBody>
          </p:sp>
        </mc:Fallback>
      </mc:AlternateContent>
      <p:cxnSp>
        <p:nvCxnSpPr>
          <p:cNvPr id="14" name="Straight Arrow Connector 13">
            <a:extLst>
              <a:ext uri="{FF2B5EF4-FFF2-40B4-BE49-F238E27FC236}">
                <a16:creationId xmlns:a16="http://schemas.microsoft.com/office/drawing/2014/main" id="{9AF577F1-8F99-8DF6-DADF-737C0CC9DA89}"/>
              </a:ext>
            </a:extLst>
          </p:cNvPr>
          <p:cNvCxnSpPr>
            <a:cxnSpLocks/>
            <a:stCxn id="10" idx="0"/>
          </p:cNvCxnSpPr>
          <p:nvPr/>
        </p:nvCxnSpPr>
        <p:spPr>
          <a:xfrm flipV="1">
            <a:off x="2594760" y="4096987"/>
            <a:ext cx="730331" cy="332188"/>
          </a:xfrm>
          <a:prstGeom prst="straightConnector1">
            <a:avLst/>
          </a:prstGeom>
          <a:ln>
            <a:solidFill>
              <a:schemeClr val="accent2"/>
            </a:solidFill>
            <a:tailEnd type="triangle"/>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C53C16A7-5433-102F-D932-8808F9DC94B9}"/>
              </a:ext>
            </a:extLst>
          </p:cNvPr>
          <p:cNvCxnSpPr>
            <a:cxnSpLocks/>
            <a:stCxn id="11" idx="0"/>
          </p:cNvCxnSpPr>
          <p:nvPr/>
        </p:nvCxnSpPr>
        <p:spPr>
          <a:xfrm flipH="1" flipV="1">
            <a:off x="4364183" y="3794768"/>
            <a:ext cx="77189" cy="795233"/>
          </a:xfrm>
          <a:prstGeom prst="straightConnector1">
            <a:avLst/>
          </a:prstGeom>
          <a:ln>
            <a:solidFill>
              <a:schemeClr val="accent5"/>
            </a:solidFill>
            <a:tailEnd type="triangle"/>
          </a:ln>
        </p:spPr>
        <p:style>
          <a:lnRef idx="2">
            <a:schemeClr val="accent1"/>
          </a:lnRef>
          <a:fillRef idx="0">
            <a:schemeClr val="accent1"/>
          </a:fillRef>
          <a:effectRef idx="1">
            <a:schemeClr val="accent1"/>
          </a:effectRef>
          <a:fontRef idx="minor">
            <a:schemeClr val="tx1"/>
          </a:fontRef>
        </p:style>
      </p:cxnSp>
      <p:cxnSp>
        <p:nvCxnSpPr>
          <p:cNvPr id="19" name="Straight Arrow Connector 18">
            <a:extLst>
              <a:ext uri="{FF2B5EF4-FFF2-40B4-BE49-F238E27FC236}">
                <a16:creationId xmlns:a16="http://schemas.microsoft.com/office/drawing/2014/main" id="{B698B0EE-363F-4048-CCF2-72BE1CDFFFD1}"/>
              </a:ext>
            </a:extLst>
          </p:cNvPr>
          <p:cNvCxnSpPr>
            <a:cxnSpLocks/>
            <a:stCxn id="12" idx="0"/>
          </p:cNvCxnSpPr>
          <p:nvPr/>
        </p:nvCxnSpPr>
        <p:spPr>
          <a:xfrm flipH="1" flipV="1">
            <a:off x="5700156" y="3974231"/>
            <a:ext cx="587828" cy="593444"/>
          </a:xfrm>
          <a:prstGeom prst="straightConnector1">
            <a:avLst/>
          </a:prstGeom>
          <a:ln>
            <a:solidFill>
              <a:schemeClr val="accent6"/>
            </a:solidFill>
            <a:tailEnd type="triangle"/>
          </a:ln>
        </p:spPr>
        <p:style>
          <a:lnRef idx="2">
            <a:schemeClr val="accent1"/>
          </a:lnRef>
          <a:fillRef idx="0">
            <a:schemeClr val="accent1"/>
          </a:fillRef>
          <a:effectRef idx="1">
            <a:schemeClr val="accent1"/>
          </a:effectRef>
          <a:fontRef idx="minor">
            <a:schemeClr val="tx1"/>
          </a:fontRef>
        </p:style>
      </p:cxnSp>
      <p:sp>
        <p:nvSpPr>
          <p:cNvPr id="4" name="TextBox 3">
            <a:extLst>
              <a:ext uri="{FF2B5EF4-FFF2-40B4-BE49-F238E27FC236}">
                <a16:creationId xmlns:a16="http://schemas.microsoft.com/office/drawing/2014/main" id="{B3F8C820-EF8D-1F21-FE73-4168DE4B7A33}"/>
              </a:ext>
            </a:extLst>
          </p:cNvPr>
          <p:cNvSpPr txBox="1"/>
          <p:nvPr/>
        </p:nvSpPr>
        <p:spPr>
          <a:xfrm>
            <a:off x="9999523" y="3139231"/>
            <a:ext cx="2143493" cy="830997"/>
          </a:xfrm>
          <a:prstGeom prst="rect">
            <a:avLst/>
          </a:prstGeom>
          <a:noFill/>
        </p:spPr>
        <p:txBody>
          <a:bodyPr wrap="square">
            <a:spAutoFit/>
          </a:bodyPr>
          <a:lstStyle/>
          <a:p>
            <a:pPr lvl="1"/>
            <a:r>
              <a:rPr lang="en-US" sz="2400" dirty="0">
                <a:solidFill>
                  <a:schemeClr val="accent1"/>
                </a:solidFill>
              </a:rPr>
              <a:t>is as small as possible</a:t>
            </a:r>
          </a:p>
        </p:txBody>
      </p:sp>
      <p:grpSp>
        <p:nvGrpSpPr>
          <p:cNvPr id="24" name="Group 23">
            <a:extLst>
              <a:ext uri="{FF2B5EF4-FFF2-40B4-BE49-F238E27FC236}">
                <a16:creationId xmlns:a16="http://schemas.microsoft.com/office/drawing/2014/main" id="{8C585A51-4375-4553-2971-656BC1AAE6D0}"/>
              </a:ext>
            </a:extLst>
          </p:cNvPr>
          <p:cNvGrpSpPr/>
          <p:nvPr/>
        </p:nvGrpSpPr>
        <p:grpSpPr>
          <a:xfrm>
            <a:off x="6624453" y="4116734"/>
            <a:ext cx="1769423" cy="1891126"/>
            <a:chOff x="6624453" y="4116734"/>
            <a:chExt cx="1769423" cy="1891126"/>
          </a:xfrm>
        </p:grpSpPr>
        <p:sp>
          <p:nvSpPr>
            <p:cNvPr id="5" name="TextBox 4">
              <a:extLst>
                <a:ext uri="{FF2B5EF4-FFF2-40B4-BE49-F238E27FC236}">
                  <a16:creationId xmlns:a16="http://schemas.microsoft.com/office/drawing/2014/main" id="{7F2A560D-2D4F-89F4-F8CB-FF221E5D289D}"/>
                </a:ext>
              </a:extLst>
            </p:cNvPr>
            <p:cNvSpPr txBox="1"/>
            <p:nvPr/>
          </p:nvSpPr>
          <p:spPr>
            <a:xfrm>
              <a:off x="6624453" y="5361529"/>
              <a:ext cx="1769423" cy="646331"/>
            </a:xfrm>
            <a:prstGeom prst="rect">
              <a:avLst/>
            </a:prstGeom>
            <a:noFill/>
          </p:spPr>
          <p:txBody>
            <a:bodyPr wrap="square" rtlCol="0">
              <a:spAutoFit/>
            </a:bodyPr>
            <a:lstStyle/>
            <a:p>
              <a:pPr algn="ctr"/>
              <a:r>
                <a:rPr lang="en-US" dirty="0">
                  <a:solidFill>
                    <a:schemeClr val="accent2"/>
                  </a:solidFill>
                </a:rPr>
                <a:t>Sum over all covariates</a:t>
              </a:r>
            </a:p>
          </p:txBody>
        </p:sp>
        <p:cxnSp>
          <p:nvCxnSpPr>
            <p:cNvPr id="7" name="Straight Arrow Connector 6">
              <a:extLst>
                <a:ext uri="{FF2B5EF4-FFF2-40B4-BE49-F238E27FC236}">
                  <a16:creationId xmlns:a16="http://schemas.microsoft.com/office/drawing/2014/main" id="{3A776966-0F38-2179-8ACD-F5986B914AD1}"/>
                </a:ext>
              </a:extLst>
            </p:cNvPr>
            <p:cNvCxnSpPr>
              <a:cxnSpLocks/>
              <a:stCxn id="5" idx="0"/>
            </p:cNvCxnSpPr>
            <p:nvPr/>
          </p:nvCxnSpPr>
          <p:spPr>
            <a:xfrm flipH="1" flipV="1">
              <a:off x="7327074" y="4116734"/>
              <a:ext cx="182091" cy="1244795"/>
            </a:xfrm>
            <a:prstGeom prst="straightConnector1">
              <a:avLst/>
            </a:prstGeom>
            <a:ln>
              <a:solidFill>
                <a:schemeClr val="accent2"/>
              </a:solidFill>
              <a:tailEnd type="triangle"/>
            </a:ln>
          </p:spPr>
          <p:style>
            <a:lnRef idx="2">
              <a:schemeClr val="accent1"/>
            </a:lnRef>
            <a:fillRef idx="0">
              <a:schemeClr val="accent1"/>
            </a:fillRef>
            <a:effectRef idx="1">
              <a:schemeClr val="accent1"/>
            </a:effectRef>
            <a:fontRef idx="minor">
              <a:schemeClr val="tx1"/>
            </a:fontRef>
          </p:style>
        </p:cxnSp>
      </p:grpSp>
      <p:grpSp>
        <p:nvGrpSpPr>
          <p:cNvPr id="25" name="Group 24">
            <a:extLst>
              <a:ext uri="{FF2B5EF4-FFF2-40B4-BE49-F238E27FC236}">
                <a16:creationId xmlns:a16="http://schemas.microsoft.com/office/drawing/2014/main" id="{D7D3AAD4-568C-7B8A-4B12-D07ACB11A9F0}"/>
              </a:ext>
            </a:extLst>
          </p:cNvPr>
          <p:cNvGrpSpPr/>
          <p:nvPr/>
        </p:nvGrpSpPr>
        <p:grpSpPr>
          <a:xfrm>
            <a:off x="7510403" y="3794768"/>
            <a:ext cx="1419103" cy="1402141"/>
            <a:chOff x="7510403" y="3794768"/>
            <a:chExt cx="1419103" cy="1402141"/>
          </a:xfrm>
        </p:grpSpPr>
        <p:sp>
          <p:nvSpPr>
            <p:cNvPr id="15" name="TextBox 14">
              <a:extLst>
                <a:ext uri="{FF2B5EF4-FFF2-40B4-BE49-F238E27FC236}">
                  <a16:creationId xmlns:a16="http://schemas.microsoft.com/office/drawing/2014/main" id="{B6D44355-86C4-C9F8-AF62-69C10D6CA05F}"/>
                </a:ext>
              </a:extLst>
            </p:cNvPr>
            <p:cNvSpPr txBox="1"/>
            <p:nvPr/>
          </p:nvSpPr>
          <p:spPr>
            <a:xfrm>
              <a:off x="7510403" y="4273579"/>
              <a:ext cx="1419103" cy="923330"/>
            </a:xfrm>
            <a:prstGeom prst="rect">
              <a:avLst/>
            </a:prstGeom>
            <a:noFill/>
          </p:spPr>
          <p:txBody>
            <a:bodyPr wrap="square" rtlCol="0">
              <a:spAutoFit/>
            </a:bodyPr>
            <a:lstStyle/>
            <a:p>
              <a:pPr algn="ctr"/>
              <a:r>
                <a:rPr lang="en-US" dirty="0">
                  <a:solidFill>
                    <a:schemeClr val="accent5"/>
                  </a:solidFill>
                </a:rPr>
                <a:t>CA’s covariate value</a:t>
              </a:r>
            </a:p>
          </p:txBody>
        </p:sp>
        <p:cxnSp>
          <p:nvCxnSpPr>
            <p:cNvPr id="17" name="Straight Arrow Connector 16">
              <a:extLst>
                <a:ext uri="{FF2B5EF4-FFF2-40B4-BE49-F238E27FC236}">
                  <a16:creationId xmlns:a16="http://schemas.microsoft.com/office/drawing/2014/main" id="{161D16BE-EE0D-786E-C106-DC7F2E622DCC}"/>
                </a:ext>
              </a:extLst>
            </p:cNvPr>
            <p:cNvCxnSpPr>
              <a:cxnSpLocks/>
              <a:stCxn id="15" idx="0"/>
            </p:cNvCxnSpPr>
            <p:nvPr/>
          </p:nvCxnSpPr>
          <p:spPr>
            <a:xfrm flipH="1" flipV="1">
              <a:off x="8140040" y="3794768"/>
              <a:ext cx="79915" cy="478811"/>
            </a:xfrm>
            <a:prstGeom prst="straightConnector1">
              <a:avLst/>
            </a:prstGeom>
            <a:ln>
              <a:solidFill>
                <a:schemeClr val="accent5"/>
              </a:solidFill>
              <a:tailEnd type="triangle"/>
            </a:ln>
          </p:spPr>
          <p:style>
            <a:lnRef idx="2">
              <a:schemeClr val="accent1"/>
            </a:lnRef>
            <a:fillRef idx="0">
              <a:schemeClr val="accent1"/>
            </a:fillRef>
            <a:effectRef idx="1">
              <a:schemeClr val="accent1"/>
            </a:effectRef>
            <a:fontRef idx="minor">
              <a:schemeClr val="tx1"/>
            </a:fontRef>
          </p:style>
        </p:cxnSp>
      </p:grpSp>
      <p:grpSp>
        <p:nvGrpSpPr>
          <p:cNvPr id="26" name="Group 25">
            <a:extLst>
              <a:ext uri="{FF2B5EF4-FFF2-40B4-BE49-F238E27FC236}">
                <a16:creationId xmlns:a16="http://schemas.microsoft.com/office/drawing/2014/main" id="{E68ADC84-BE92-6A77-213C-E0146462CAD7}"/>
              </a:ext>
            </a:extLst>
          </p:cNvPr>
          <p:cNvGrpSpPr/>
          <p:nvPr/>
        </p:nvGrpSpPr>
        <p:grpSpPr>
          <a:xfrm>
            <a:off x="9096497" y="3986107"/>
            <a:ext cx="1769422" cy="1305048"/>
            <a:chOff x="9096497" y="3986107"/>
            <a:chExt cx="1769422" cy="1305048"/>
          </a:xfrm>
        </p:grpSpPr>
        <p:sp>
          <p:nvSpPr>
            <p:cNvPr id="21" name="TextBox 20">
              <a:extLst>
                <a:ext uri="{FF2B5EF4-FFF2-40B4-BE49-F238E27FC236}">
                  <a16:creationId xmlns:a16="http://schemas.microsoft.com/office/drawing/2014/main" id="{25323356-55DF-4172-B465-64B4587E1726}"/>
                </a:ext>
              </a:extLst>
            </p:cNvPr>
            <p:cNvSpPr txBox="1"/>
            <p:nvPr/>
          </p:nvSpPr>
          <p:spPr>
            <a:xfrm>
              <a:off x="9096497" y="4644824"/>
              <a:ext cx="1769422" cy="646331"/>
            </a:xfrm>
            <a:prstGeom prst="rect">
              <a:avLst/>
            </a:prstGeom>
            <a:noFill/>
          </p:spPr>
          <p:txBody>
            <a:bodyPr wrap="square" rtlCol="0">
              <a:spAutoFit/>
            </a:bodyPr>
            <a:lstStyle/>
            <a:p>
              <a:pPr algn="ctr"/>
              <a:r>
                <a:rPr lang="en-US" dirty="0">
                  <a:solidFill>
                    <a:schemeClr val="accent6"/>
                  </a:solidFill>
                </a:rPr>
                <a:t>Synthetic-CA’s covariate value</a:t>
              </a:r>
            </a:p>
          </p:txBody>
        </p:sp>
        <p:cxnSp>
          <p:nvCxnSpPr>
            <p:cNvPr id="22" name="Straight Arrow Connector 21">
              <a:extLst>
                <a:ext uri="{FF2B5EF4-FFF2-40B4-BE49-F238E27FC236}">
                  <a16:creationId xmlns:a16="http://schemas.microsoft.com/office/drawing/2014/main" id="{3F73FAC1-4BE4-878E-212A-E0EF4AEB6C80}"/>
                </a:ext>
              </a:extLst>
            </p:cNvPr>
            <p:cNvCxnSpPr>
              <a:cxnSpLocks/>
              <a:stCxn id="21" idx="0"/>
            </p:cNvCxnSpPr>
            <p:nvPr/>
          </p:nvCxnSpPr>
          <p:spPr>
            <a:xfrm flipH="1" flipV="1">
              <a:off x="9597240" y="3986107"/>
              <a:ext cx="383968" cy="658717"/>
            </a:xfrm>
            <a:prstGeom prst="straightConnector1">
              <a:avLst/>
            </a:prstGeom>
            <a:ln>
              <a:solidFill>
                <a:schemeClr val="accent6"/>
              </a:solidFill>
              <a:tailEnd type="triangle"/>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37287389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341D97-D046-BA16-9361-BAB8790A8C9A}"/>
              </a:ext>
            </a:extLst>
          </p:cNvPr>
          <p:cNvSpPr>
            <a:spLocks noGrp="1"/>
          </p:cNvSpPr>
          <p:nvPr>
            <p:ph type="title"/>
          </p:nvPr>
        </p:nvSpPr>
        <p:spPr/>
        <p:txBody>
          <a:bodyPr/>
          <a:lstStyle/>
          <a:p>
            <a:r>
              <a:rPr lang="en-US" dirty="0"/>
              <a:t>In this example…</a:t>
            </a:r>
          </a:p>
        </p:txBody>
      </p:sp>
      <p:pic>
        <p:nvPicPr>
          <p:cNvPr id="4" name="Picture 3">
            <a:extLst>
              <a:ext uri="{FF2B5EF4-FFF2-40B4-BE49-F238E27FC236}">
                <a16:creationId xmlns:a16="http://schemas.microsoft.com/office/drawing/2014/main" id="{21D53001-A8E6-3ABC-FAEA-039F16D08ED5}"/>
              </a:ext>
            </a:extLst>
          </p:cNvPr>
          <p:cNvPicPr>
            <a:picLocks noChangeAspect="1"/>
          </p:cNvPicPr>
          <p:nvPr/>
        </p:nvPicPr>
        <p:blipFill>
          <a:blip r:embed="rId3"/>
          <a:stretch>
            <a:fillRect/>
          </a:stretch>
        </p:blipFill>
        <p:spPr>
          <a:xfrm>
            <a:off x="838200" y="1867141"/>
            <a:ext cx="7772400" cy="3123717"/>
          </a:xfrm>
          <a:prstGeom prst="rect">
            <a:avLst/>
          </a:prstGeom>
        </p:spPr>
      </p:pic>
      <p:pic>
        <p:nvPicPr>
          <p:cNvPr id="5" name="Picture 4">
            <a:extLst>
              <a:ext uri="{FF2B5EF4-FFF2-40B4-BE49-F238E27FC236}">
                <a16:creationId xmlns:a16="http://schemas.microsoft.com/office/drawing/2014/main" id="{D4126703-9931-26C8-0FEF-6D2B271A9909}"/>
              </a:ext>
            </a:extLst>
          </p:cNvPr>
          <p:cNvPicPr>
            <a:picLocks noChangeAspect="1"/>
          </p:cNvPicPr>
          <p:nvPr/>
        </p:nvPicPr>
        <p:blipFill>
          <a:blip r:embed="rId4"/>
          <a:stretch>
            <a:fillRect/>
          </a:stretch>
        </p:blipFill>
        <p:spPr>
          <a:xfrm>
            <a:off x="939140" y="5274938"/>
            <a:ext cx="5639790" cy="875140"/>
          </a:xfrm>
          <a:prstGeom prst="rect">
            <a:avLst/>
          </a:prstGeom>
        </p:spPr>
      </p:pic>
      <p:pic>
        <p:nvPicPr>
          <p:cNvPr id="7" name="Picture 6">
            <a:extLst>
              <a:ext uri="{FF2B5EF4-FFF2-40B4-BE49-F238E27FC236}">
                <a16:creationId xmlns:a16="http://schemas.microsoft.com/office/drawing/2014/main" id="{34A33BF8-BB16-A8F7-5162-E1CF3E86EA83}"/>
              </a:ext>
            </a:extLst>
          </p:cNvPr>
          <p:cNvPicPr>
            <a:picLocks noChangeAspect="1"/>
          </p:cNvPicPr>
          <p:nvPr/>
        </p:nvPicPr>
        <p:blipFill>
          <a:blip r:embed="rId5"/>
          <a:stretch>
            <a:fillRect/>
          </a:stretch>
        </p:blipFill>
        <p:spPr>
          <a:xfrm>
            <a:off x="10819114" y="4061335"/>
            <a:ext cx="788410" cy="1651173"/>
          </a:xfrm>
          <a:prstGeom prst="rect">
            <a:avLst/>
          </a:prstGeom>
        </p:spPr>
      </p:pic>
      <p:sp>
        <p:nvSpPr>
          <p:cNvPr id="9" name="TextBox 8">
            <a:extLst>
              <a:ext uri="{FF2B5EF4-FFF2-40B4-BE49-F238E27FC236}">
                <a16:creationId xmlns:a16="http://schemas.microsoft.com/office/drawing/2014/main" id="{164BEF78-8760-3391-F6C8-FB5A920FCE87}"/>
              </a:ext>
            </a:extLst>
          </p:cNvPr>
          <p:cNvSpPr txBox="1"/>
          <p:nvPr/>
        </p:nvSpPr>
        <p:spPr>
          <a:xfrm>
            <a:off x="9269384" y="2297910"/>
            <a:ext cx="2600696" cy="1631216"/>
          </a:xfrm>
          <a:prstGeom prst="rect">
            <a:avLst/>
          </a:prstGeom>
          <a:noFill/>
        </p:spPr>
        <p:txBody>
          <a:bodyPr wrap="square" rtlCol="0">
            <a:spAutoFit/>
          </a:bodyPr>
          <a:lstStyle/>
          <a:p>
            <a:pPr algn="r"/>
            <a:r>
              <a:rPr lang="en-US" sz="2000" dirty="0">
                <a:solidFill>
                  <a:srgbClr val="0070C0"/>
                </a:solidFill>
              </a:rPr>
              <a:t>Synthetic CA has lower GDP per capita than real CA, but otherwise it matches pretty well.</a:t>
            </a:r>
          </a:p>
        </p:txBody>
      </p:sp>
    </p:spTree>
    <p:extLst>
      <p:ext uri="{BB962C8B-B14F-4D97-AF65-F5344CB8AC3E}">
        <p14:creationId xmlns:p14="http://schemas.microsoft.com/office/powerpoint/2010/main" val="317214202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ED15E9-AC38-2785-95FE-A017518F3FC1}"/>
              </a:ext>
            </a:extLst>
          </p:cNvPr>
          <p:cNvSpPr>
            <a:spLocks noGrp="1"/>
          </p:cNvSpPr>
          <p:nvPr>
            <p:ph type="title"/>
          </p:nvPr>
        </p:nvSpPr>
        <p:spPr/>
        <p:txBody>
          <a:bodyPr/>
          <a:lstStyle/>
          <a:p>
            <a:r>
              <a:rPr lang="en-US" dirty="0"/>
              <a:t>Questions about this idea</a:t>
            </a:r>
          </a:p>
        </p:txBody>
      </p:sp>
      <p:sp>
        <p:nvSpPr>
          <p:cNvPr id="3" name="Content Placeholder 2">
            <a:extLst>
              <a:ext uri="{FF2B5EF4-FFF2-40B4-BE49-F238E27FC236}">
                <a16:creationId xmlns:a16="http://schemas.microsoft.com/office/drawing/2014/main" id="{99E25692-3303-9420-0593-3ABE7E124015}"/>
              </a:ext>
            </a:extLst>
          </p:cNvPr>
          <p:cNvSpPr>
            <a:spLocks noGrp="1"/>
          </p:cNvSpPr>
          <p:nvPr>
            <p:ph idx="1"/>
          </p:nvPr>
        </p:nvSpPr>
        <p:spPr>
          <a:xfrm>
            <a:off x="838200" y="1825625"/>
            <a:ext cx="10515600" cy="4836432"/>
          </a:xfrm>
        </p:spPr>
        <p:txBody>
          <a:bodyPr>
            <a:normAutofit/>
          </a:bodyPr>
          <a:lstStyle/>
          <a:p>
            <a:r>
              <a:rPr lang="en-US" dirty="0"/>
              <a:t>How do we implement it?</a:t>
            </a:r>
          </a:p>
          <a:p>
            <a:pPr lvl="1"/>
            <a:r>
              <a:rPr lang="en-US" dirty="0">
                <a:solidFill>
                  <a:schemeClr val="accent1"/>
                </a:solidFill>
              </a:rPr>
              <a:t>How can we find which countries to average?</a:t>
            </a:r>
          </a:p>
          <a:p>
            <a:pPr lvl="1"/>
            <a:r>
              <a:rPr lang="en-US" dirty="0">
                <a:solidFill>
                  <a:schemeClr val="accent1"/>
                </a:solidFill>
              </a:rPr>
              <a:t>With what weights?</a:t>
            </a:r>
          </a:p>
          <a:p>
            <a:endParaRPr lang="en-US" dirty="0"/>
          </a:p>
          <a:p>
            <a:r>
              <a:rPr lang="en-US" dirty="0"/>
              <a:t>Can we take into account covariates?</a:t>
            </a:r>
          </a:p>
          <a:p>
            <a:pPr lvl="1"/>
            <a:r>
              <a:rPr lang="en-US" dirty="0">
                <a:solidFill>
                  <a:schemeClr val="accent1"/>
                </a:solidFill>
              </a:rPr>
              <a:t>Does it matter that </a:t>
            </a:r>
            <a:r>
              <a:rPr lang="en-US" dirty="0" err="1">
                <a:solidFill>
                  <a:schemeClr val="accent1"/>
                </a:solidFill>
              </a:rPr>
              <a:t>Lothlorian</a:t>
            </a:r>
            <a:r>
              <a:rPr lang="en-US" dirty="0">
                <a:solidFill>
                  <a:schemeClr val="accent1"/>
                </a:solidFill>
              </a:rPr>
              <a:t> has a population of mostly elves, while the UK has a population of mostly humans?</a:t>
            </a:r>
          </a:p>
          <a:p>
            <a:endParaRPr lang="en-US" dirty="0"/>
          </a:p>
          <a:p>
            <a:r>
              <a:rPr lang="en-US" dirty="0"/>
              <a:t>How does this compare to other approaches we’ve seen?</a:t>
            </a:r>
          </a:p>
          <a:p>
            <a:pPr lvl="1"/>
            <a:r>
              <a:rPr lang="en-US" dirty="0">
                <a:solidFill>
                  <a:schemeClr val="accent1"/>
                </a:solidFill>
              </a:rPr>
              <a:t>Difference-in-differences; Matrix completion</a:t>
            </a:r>
          </a:p>
        </p:txBody>
      </p:sp>
      <p:pic>
        <p:nvPicPr>
          <p:cNvPr id="4" name="Picture 3">
            <a:extLst>
              <a:ext uri="{FF2B5EF4-FFF2-40B4-BE49-F238E27FC236}">
                <a16:creationId xmlns:a16="http://schemas.microsoft.com/office/drawing/2014/main" id="{4E5BA672-7309-7E9B-ED3C-11D19C93C097}"/>
              </a:ext>
            </a:extLst>
          </p:cNvPr>
          <p:cNvPicPr>
            <a:picLocks noChangeAspect="1"/>
          </p:cNvPicPr>
          <p:nvPr/>
        </p:nvPicPr>
        <p:blipFill>
          <a:blip r:embed="rId3"/>
          <a:stretch>
            <a:fillRect/>
          </a:stretch>
        </p:blipFill>
        <p:spPr>
          <a:xfrm>
            <a:off x="7844807" y="1817915"/>
            <a:ext cx="1287318" cy="1287318"/>
          </a:xfrm>
          <a:prstGeom prst="rect">
            <a:avLst/>
          </a:prstGeom>
        </p:spPr>
      </p:pic>
      <p:pic>
        <p:nvPicPr>
          <p:cNvPr id="5" name="Picture 4">
            <a:extLst>
              <a:ext uri="{FF2B5EF4-FFF2-40B4-BE49-F238E27FC236}">
                <a16:creationId xmlns:a16="http://schemas.microsoft.com/office/drawing/2014/main" id="{76671CD4-5730-9BCA-13A0-548967555AFB}"/>
              </a:ext>
            </a:extLst>
          </p:cNvPr>
          <p:cNvPicPr>
            <a:picLocks noChangeAspect="1"/>
          </p:cNvPicPr>
          <p:nvPr/>
        </p:nvPicPr>
        <p:blipFill>
          <a:blip r:embed="rId3"/>
          <a:stretch>
            <a:fillRect/>
          </a:stretch>
        </p:blipFill>
        <p:spPr>
          <a:xfrm>
            <a:off x="10904682" y="3600182"/>
            <a:ext cx="1287318" cy="1287318"/>
          </a:xfrm>
          <a:prstGeom prst="rect">
            <a:avLst/>
          </a:prstGeom>
        </p:spPr>
      </p:pic>
    </p:spTree>
    <p:extLst>
      <p:ext uri="{BB962C8B-B14F-4D97-AF65-F5344CB8AC3E}">
        <p14:creationId xmlns:p14="http://schemas.microsoft.com/office/powerpoint/2010/main" val="9055415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058B45-0756-CEF6-FEC3-85CF438DF3A5}"/>
              </a:ext>
            </a:extLst>
          </p:cNvPr>
          <p:cNvSpPr>
            <a:spLocks noGrp="1"/>
          </p:cNvSpPr>
          <p:nvPr>
            <p:ph type="title"/>
          </p:nvPr>
        </p:nvSpPr>
        <p:spPr/>
        <p:txBody>
          <a:bodyPr/>
          <a:lstStyle/>
          <a:p>
            <a:r>
              <a:rPr lang="en-US" dirty="0"/>
              <a:t>Seems like a good time for a break</a:t>
            </a:r>
          </a:p>
        </p:txBody>
      </p:sp>
      <p:sp>
        <p:nvSpPr>
          <p:cNvPr id="3" name="Content Placeholder 2">
            <a:extLst>
              <a:ext uri="{FF2B5EF4-FFF2-40B4-BE49-F238E27FC236}">
                <a16:creationId xmlns:a16="http://schemas.microsoft.com/office/drawing/2014/main" id="{A68D0F7E-BABD-C7EF-69C0-2F19104D718B}"/>
              </a:ext>
            </a:extLst>
          </p:cNvPr>
          <p:cNvSpPr>
            <a:spLocks noGrp="1"/>
          </p:cNvSpPr>
          <p:nvPr>
            <p:ph idx="1"/>
          </p:nvPr>
        </p:nvSpPr>
        <p:spPr/>
        <p:txBody>
          <a:bodyPr/>
          <a:lstStyle/>
          <a:p>
            <a:r>
              <a:rPr lang="en-US" dirty="0"/>
              <a:t>During the break, think about how </a:t>
            </a:r>
            <a:r>
              <a:rPr lang="en-US" dirty="0" err="1"/>
              <a:t>DiD</a:t>
            </a:r>
            <a:r>
              <a:rPr lang="en-US" dirty="0"/>
              <a:t>, Matrix Completion, and Synthetic controls compare!</a:t>
            </a:r>
          </a:p>
          <a:p>
            <a:endParaRPr lang="en-US" dirty="0"/>
          </a:p>
          <a:p>
            <a:r>
              <a:rPr lang="en-US" dirty="0"/>
              <a:t>(Or just stretch)</a:t>
            </a:r>
          </a:p>
        </p:txBody>
      </p:sp>
    </p:spTree>
    <p:extLst>
      <p:ext uri="{BB962C8B-B14F-4D97-AF65-F5344CB8AC3E}">
        <p14:creationId xmlns:p14="http://schemas.microsoft.com/office/powerpoint/2010/main" val="204998825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D42544-065D-5736-204D-F3DA8900F02C}"/>
              </a:ext>
            </a:extLst>
          </p:cNvPr>
          <p:cNvSpPr>
            <a:spLocks noGrp="1"/>
          </p:cNvSpPr>
          <p:nvPr>
            <p:ph type="title"/>
          </p:nvPr>
        </p:nvSpPr>
        <p:spPr/>
        <p:txBody>
          <a:bodyPr/>
          <a:lstStyle/>
          <a:p>
            <a:r>
              <a:rPr lang="en-US" dirty="0"/>
              <a:t>So far we’ve seen three methods</a:t>
            </a:r>
            <a:br>
              <a:rPr lang="en-US" dirty="0"/>
            </a:br>
            <a:r>
              <a:rPr lang="en-US" sz="2800" dirty="0"/>
              <a:t>for dealing with panel data</a:t>
            </a:r>
            <a:endParaRPr lang="en-US" dirty="0"/>
          </a:p>
        </p:txBody>
      </p:sp>
      <p:sp>
        <p:nvSpPr>
          <p:cNvPr id="3" name="Content Placeholder 2">
            <a:extLst>
              <a:ext uri="{FF2B5EF4-FFF2-40B4-BE49-F238E27FC236}">
                <a16:creationId xmlns:a16="http://schemas.microsoft.com/office/drawing/2014/main" id="{BD6F3CB6-6281-FD94-A923-710256E39593}"/>
              </a:ext>
            </a:extLst>
          </p:cNvPr>
          <p:cNvSpPr>
            <a:spLocks noGrp="1"/>
          </p:cNvSpPr>
          <p:nvPr>
            <p:ph idx="1"/>
          </p:nvPr>
        </p:nvSpPr>
        <p:spPr/>
        <p:txBody>
          <a:bodyPr/>
          <a:lstStyle/>
          <a:p>
            <a:r>
              <a:rPr lang="en-US" dirty="0"/>
              <a:t>Difference-in-differences</a:t>
            </a:r>
          </a:p>
          <a:p>
            <a:endParaRPr lang="en-US" dirty="0"/>
          </a:p>
          <a:p>
            <a:r>
              <a:rPr lang="en-US" dirty="0"/>
              <a:t>Matrix Completion</a:t>
            </a:r>
          </a:p>
          <a:p>
            <a:endParaRPr lang="en-US" dirty="0"/>
          </a:p>
          <a:p>
            <a:r>
              <a:rPr lang="en-US" dirty="0"/>
              <a:t>Synthetic Controls</a:t>
            </a:r>
          </a:p>
        </p:txBody>
      </p:sp>
    </p:spTree>
    <p:extLst>
      <p:ext uri="{BB962C8B-B14F-4D97-AF65-F5344CB8AC3E}">
        <p14:creationId xmlns:p14="http://schemas.microsoft.com/office/powerpoint/2010/main" val="332905917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2E740E-6D01-84FC-9AEA-2AAAF25F2638}"/>
              </a:ext>
            </a:extLst>
          </p:cNvPr>
          <p:cNvSpPr>
            <a:spLocks noGrp="1"/>
          </p:cNvSpPr>
          <p:nvPr>
            <p:ph type="title"/>
          </p:nvPr>
        </p:nvSpPr>
        <p:spPr/>
        <p:txBody>
          <a:bodyPr/>
          <a:lstStyle/>
          <a:p>
            <a:r>
              <a:rPr lang="en-US" dirty="0" err="1"/>
              <a:t>DiD</a:t>
            </a:r>
            <a:r>
              <a:rPr lang="en-US" dirty="0"/>
              <a:t> vs Synthetic Controls</a:t>
            </a:r>
          </a:p>
        </p:txBody>
      </p:sp>
      <p:sp>
        <p:nvSpPr>
          <p:cNvPr id="3" name="Content Placeholder 2">
            <a:extLst>
              <a:ext uri="{FF2B5EF4-FFF2-40B4-BE49-F238E27FC236}">
                <a16:creationId xmlns:a16="http://schemas.microsoft.com/office/drawing/2014/main" id="{18079133-A88B-DDAD-9694-3D038557B06A}"/>
              </a:ext>
            </a:extLst>
          </p:cNvPr>
          <p:cNvSpPr>
            <a:spLocks noGrp="1"/>
          </p:cNvSpPr>
          <p:nvPr>
            <p:ph idx="1"/>
          </p:nvPr>
        </p:nvSpPr>
        <p:spPr>
          <a:xfrm>
            <a:off x="838200" y="1825625"/>
            <a:ext cx="11013374" cy="4351338"/>
          </a:xfrm>
        </p:spPr>
        <p:txBody>
          <a:bodyPr/>
          <a:lstStyle/>
          <a:p>
            <a:r>
              <a:rPr lang="en-US" dirty="0"/>
              <a:t>Big assumption in </a:t>
            </a:r>
            <a:r>
              <a:rPr lang="en-US" dirty="0" err="1"/>
              <a:t>DiD</a:t>
            </a:r>
            <a:r>
              <a:rPr lang="en-US" dirty="0"/>
              <a:t>: Parallel Trends</a:t>
            </a:r>
          </a:p>
          <a:p>
            <a:pPr lvl="1"/>
            <a:r>
              <a:rPr lang="en-US" dirty="0">
                <a:solidFill>
                  <a:schemeClr val="accent1"/>
                </a:solidFill>
              </a:rPr>
              <a:t>Most of you said in your pre-class response that you didn’t think this holds.</a:t>
            </a:r>
          </a:p>
        </p:txBody>
      </p:sp>
      <p:grpSp>
        <p:nvGrpSpPr>
          <p:cNvPr id="6" name="Group 5">
            <a:extLst>
              <a:ext uri="{FF2B5EF4-FFF2-40B4-BE49-F238E27FC236}">
                <a16:creationId xmlns:a16="http://schemas.microsoft.com/office/drawing/2014/main" id="{D97280D1-EF97-9AB9-F7B7-4036DC3FC1AD}"/>
              </a:ext>
            </a:extLst>
          </p:cNvPr>
          <p:cNvGrpSpPr/>
          <p:nvPr/>
        </p:nvGrpSpPr>
        <p:grpSpPr>
          <a:xfrm>
            <a:off x="2004456" y="2882627"/>
            <a:ext cx="8715603" cy="3790643"/>
            <a:chOff x="2004456" y="2882627"/>
            <a:chExt cx="8715603" cy="3790643"/>
          </a:xfrm>
        </p:grpSpPr>
        <p:pic>
          <p:nvPicPr>
            <p:cNvPr id="4" name="Picture 3">
              <a:extLst>
                <a:ext uri="{FF2B5EF4-FFF2-40B4-BE49-F238E27FC236}">
                  <a16:creationId xmlns:a16="http://schemas.microsoft.com/office/drawing/2014/main" id="{EDC26B79-FC19-6FDF-5926-18130AACB579}"/>
                </a:ext>
              </a:extLst>
            </p:cNvPr>
            <p:cNvPicPr>
              <a:picLocks noChangeAspect="1"/>
            </p:cNvPicPr>
            <p:nvPr/>
          </p:nvPicPr>
          <p:blipFill>
            <a:blip r:embed="rId3"/>
            <a:stretch>
              <a:fillRect/>
            </a:stretch>
          </p:blipFill>
          <p:spPr>
            <a:xfrm>
              <a:off x="2004456" y="2882627"/>
              <a:ext cx="4340431" cy="3790643"/>
            </a:xfrm>
            <a:prstGeom prst="rect">
              <a:avLst/>
            </a:prstGeom>
          </p:spPr>
        </p:pic>
        <p:sp>
          <p:nvSpPr>
            <p:cNvPr id="5" name="TextBox 4">
              <a:extLst>
                <a:ext uri="{FF2B5EF4-FFF2-40B4-BE49-F238E27FC236}">
                  <a16:creationId xmlns:a16="http://schemas.microsoft.com/office/drawing/2014/main" id="{137456E3-07EC-2EEB-E101-86CF70E0300B}"/>
                </a:ext>
              </a:extLst>
            </p:cNvPr>
            <p:cNvSpPr txBox="1"/>
            <p:nvPr/>
          </p:nvSpPr>
          <p:spPr>
            <a:xfrm>
              <a:off x="6344887" y="4254728"/>
              <a:ext cx="4375172" cy="523220"/>
            </a:xfrm>
            <a:prstGeom prst="rect">
              <a:avLst/>
            </a:prstGeom>
            <a:noFill/>
          </p:spPr>
          <p:txBody>
            <a:bodyPr wrap="none" rtlCol="0">
              <a:spAutoFit/>
            </a:bodyPr>
            <a:lstStyle/>
            <a:p>
              <a:r>
                <a:rPr lang="en-US" sz="2800" dirty="0">
                  <a:solidFill>
                    <a:schemeClr val="accent2"/>
                  </a:solidFill>
                </a:rPr>
                <a:t>Doesn’t seem very parallel!</a:t>
              </a:r>
            </a:p>
          </p:txBody>
        </p:sp>
      </p:grpSp>
    </p:spTree>
    <p:extLst>
      <p:ext uri="{BB962C8B-B14F-4D97-AF65-F5344CB8AC3E}">
        <p14:creationId xmlns:p14="http://schemas.microsoft.com/office/powerpoint/2010/main" val="3659794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2"/>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D4D3C8-670D-CAE0-4F5B-1BA62B6135AD}"/>
              </a:ext>
            </a:extLst>
          </p:cNvPr>
          <p:cNvSpPr>
            <a:spLocks noGrp="1"/>
          </p:cNvSpPr>
          <p:nvPr>
            <p:ph type="title"/>
          </p:nvPr>
        </p:nvSpPr>
        <p:spPr/>
        <p:txBody>
          <a:bodyPr/>
          <a:lstStyle/>
          <a:p>
            <a:r>
              <a:rPr lang="en-US" dirty="0"/>
              <a:t>Synthetic controls generalizes </a:t>
            </a:r>
            <a:r>
              <a:rPr lang="en-US" dirty="0" err="1"/>
              <a:t>DiD</a:t>
            </a:r>
            <a:endParaRPr lang="en-US" dirty="0"/>
          </a:p>
        </p:txBody>
      </p:sp>
      <p:sp>
        <p:nvSpPr>
          <p:cNvPr id="3" name="Content Placeholder 2">
            <a:extLst>
              <a:ext uri="{FF2B5EF4-FFF2-40B4-BE49-F238E27FC236}">
                <a16:creationId xmlns:a16="http://schemas.microsoft.com/office/drawing/2014/main" id="{E5284291-9ED7-6956-07EE-FBDEC8718E50}"/>
              </a:ext>
            </a:extLst>
          </p:cNvPr>
          <p:cNvSpPr>
            <a:spLocks noGrp="1"/>
          </p:cNvSpPr>
          <p:nvPr>
            <p:ph idx="1"/>
          </p:nvPr>
        </p:nvSpPr>
        <p:spPr>
          <a:xfrm>
            <a:off x="838200" y="1594479"/>
            <a:ext cx="10515600" cy="4351338"/>
          </a:xfrm>
        </p:spPr>
        <p:txBody>
          <a:bodyPr/>
          <a:lstStyle/>
          <a:p>
            <a:r>
              <a:rPr lang="en-US" dirty="0"/>
              <a:t>Suppose parallel trends did hold:</a:t>
            </a:r>
            <a:endParaRPr lang="en-US" b="1" dirty="0"/>
          </a:p>
        </p:txBody>
      </p:sp>
      <p:grpSp>
        <p:nvGrpSpPr>
          <p:cNvPr id="26" name="Group 25">
            <a:extLst>
              <a:ext uri="{FF2B5EF4-FFF2-40B4-BE49-F238E27FC236}">
                <a16:creationId xmlns:a16="http://schemas.microsoft.com/office/drawing/2014/main" id="{1FFE8438-D050-CB4A-31A1-EC847F607540}"/>
              </a:ext>
            </a:extLst>
          </p:cNvPr>
          <p:cNvGrpSpPr/>
          <p:nvPr/>
        </p:nvGrpSpPr>
        <p:grpSpPr>
          <a:xfrm>
            <a:off x="355053" y="2515681"/>
            <a:ext cx="9180122" cy="3725810"/>
            <a:chOff x="355053" y="2515681"/>
            <a:chExt cx="9180122" cy="3725810"/>
          </a:xfrm>
        </p:grpSpPr>
        <p:grpSp>
          <p:nvGrpSpPr>
            <p:cNvPr id="4" name="Group 3">
              <a:extLst>
                <a:ext uri="{FF2B5EF4-FFF2-40B4-BE49-F238E27FC236}">
                  <a16:creationId xmlns:a16="http://schemas.microsoft.com/office/drawing/2014/main" id="{649878BD-D2E8-6CE0-8BDE-4FE76DA67C93}"/>
                </a:ext>
              </a:extLst>
            </p:cNvPr>
            <p:cNvGrpSpPr/>
            <p:nvPr/>
          </p:nvGrpSpPr>
          <p:grpSpPr>
            <a:xfrm>
              <a:off x="355053" y="2515681"/>
              <a:ext cx="9180122" cy="3725810"/>
              <a:chOff x="140987" y="2444038"/>
              <a:chExt cx="10818830" cy="4390890"/>
            </a:xfrm>
          </p:grpSpPr>
          <p:cxnSp>
            <p:nvCxnSpPr>
              <p:cNvPr id="5" name="Straight Arrow Connector 4">
                <a:extLst>
                  <a:ext uri="{FF2B5EF4-FFF2-40B4-BE49-F238E27FC236}">
                    <a16:creationId xmlns:a16="http://schemas.microsoft.com/office/drawing/2014/main" id="{2DC72836-9BA8-6566-37EC-C8B7FC35E3EA}"/>
                  </a:ext>
                </a:extLst>
              </p:cNvPr>
              <p:cNvCxnSpPr/>
              <p:nvPr/>
            </p:nvCxnSpPr>
            <p:spPr>
              <a:xfrm>
                <a:off x="1917354" y="5841995"/>
                <a:ext cx="7030399" cy="0"/>
              </a:xfrm>
              <a:prstGeom prst="straightConnector1">
                <a:avLst/>
              </a:prstGeom>
              <a:ln w="38100">
                <a:tailEnd type="triangle"/>
              </a:ln>
            </p:spPr>
            <p:style>
              <a:lnRef idx="2">
                <a:schemeClr val="accent1"/>
              </a:lnRef>
              <a:fillRef idx="0">
                <a:schemeClr val="accent1"/>
              </a:fillRef>
              <a:effectRef idx="1">
                <a:schemeClr val="accent1"/>
              </a:effectRef>
              <a:fontRef idx="minor">
                <a:schemeClr val="tx1"/>
              </a:fontRef>
            </p:style>
          </p:cxnSp>
          <p:cxnSp>
            <p:nvCxnSpPr>
              <p:cNvPr id="6" name="Straight Arrow Connector 5">
                <a:extLst>
                  <a:ext uri="{FF2B5EF4-FFF2-40B4-BE49-F238E27FC236}">
                    <a16:creationId xmlns:a16="http://schemas.microsoft.com/office/drawing/2014/main" id="{F5BC8EC4-9B36-2437-4B89-4E0A3893D10E}"/>
                  </a:ext>
                </a:extLst>
              </p:cNvPr>
              <p:cNvCxnSpPr>
                <a:cxnSpLocks/>
              </p:cNvCxnSpPr>
              <p:nvPr/>
            </p:nvCxnSpPr>
            <p:spPr>
              <a:xfrm flipV="1">
                <a:off x="1917354" y="2716306"/>
                <a:ext cx="0" cy="3125689"/>
              </a:xfrm>
              <a:prstGeom prst="straightConnector1">
                <a:avLst/>
              </a:prstGeom>
              <a:ln w="38100">
                <a:tailEnd type="triangle"/>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F5EBB77C-9CC8-1843-D063-A5841F9D504D}"/>
                  </a:ext>
                </a:extLst>
              </p:cNvPr>
              <p:cNvSpPr txBox="1"/>
              <p:nvPr/>
            </p:nvSpPr>
            <p:spPr>
              <a:xfrm>
                <a:off x="8305017" y="5888041"/>
                <a:ext cx="642736" cy="354953"/>
              </a:xfrm>
              <a:prstGeom prst="rect">
                <a:avLst/>
              </a:prstGeom>
              <a:noFill/>
            </p:spPr>
            <p:txBody>
              <a:bodyPr wrap="none" rtlCol="0">
                <a:spAutoFit/>
              </a:bodyPr>
              <a:lstStyle/>
              <a:p>
                <a:r>
                  <a:rPr lang="en-US" dirty="0">
                    <a:solidFill>
                      <a:schemeClr val="accent1"/>
                    </a:solidFill>
                  </a:rPr>
                  <a:t>Time</a:t>
                </a:r>
              </a:p>
            </p:txBody>
          </p:sp>
          <p:sp>
            <p:nvSpPr>
              <p:cNvPr id="8" name="TextBox 7">
                <a:extLst>
                  <a:ext uri="{FF2B5EF4-FFF2-40B4-BE49-F238E27FC236}">
                    <a16:creationId xmlns:a16="http://schemas.microsoft.com/office/drawing/2014/main" id="{DAD5D569-0078-0257-8A84-58543165D34A}"/>
                  </a:ext>
                </a:extLst>
              </p:cNvPr>
              <p:cNvSpPr txBox="1"/>
              <p:nvPr/>
            </p:nvSpPr>
            <p:spPr>
              <a:xfrm>
                <a:off x="140987" y="2829410"/>
                <a:ext cx="1774912" cy="761705"/>
              </a:xfrm>
              <a:prstGeom prst="rect">
                <a:avLst/>
              </a:prstGeom>
              <a:noFill/>
            </p:spPr>
            <p:txBody>
              <a:bodyPr wrap="square" rtlCol="0">
                <a:spAutoFit/>
              </a:bodyPr>
              <a:lstStyle/>
              <a:p>
                <a:pPr algn="r"/>
                <a:r>
                  <a:rPr lang="en-US" dirty="0">
                    <a:solidFill>
                      <a:schemeClr val="accent1"/>
                    </a:solidFill>
                  </a:rPr>
                  <a:t>Cigarette sales</a:t>
                </a:r>
              </a:p>
            </p:txBody>
          </p:sp>
          <p:sp>
            <p:nvSpPr>
              <p:cNvPr id="9" name="TextBox 8">
                <a:extLst>
                  <a:ext uri="{FF2B5EF4-FFF2-40B4-BE49-F238E27FC236}">
                    <a16:creationId xmlns:a16="http://schemas.microsoft.com/office/drawing/2014/main" id="{9034F616-CB7A-67AA-0D93-701C87CD87FA}"/>
                  </a:ext>
                </a:extLst>
              </p:cNvPr>
              <p:cNvSpPr txBox="1"/>
              <p:nvPr/>
            </p:nvSpPr>
            <p:spPr>
              <a:xfrm>
                <a:off x="4422778" y="6073223"/>
                <a:ext cx="1981506" cy="761705"/>
              </a:xfrm>
              <a:prstGeom prst="rect">
                <a:avLst/>
              </a:prstGeom>
              <a:noFill/>
            </p:spPr>
            <p:txBody>
              <a:bodyPr wrap="square" rtlCol="0">
                <a:spAutoFit/>
              </a:bodyPr>
              <a:lstStyle/>
              <a:p>
                <a:pPr algn="ctr"/>
                <a:r>
                  <a:rPr lang="en-US" dirty="0">
                    <a:solidFill>
                      <a:schemeClr val="accent1"/>
                    </a:solidFill>
                  </a:rPr>
                  <a:t>Prop. 99 enacted</a:t>
                </a:r>
              </a:p>
            </p:txBody>
          </p:sp>
          <p:cxnSp>
            <p:nvCxnSpPr>
              <p:cNvPr id="10" name="Straight Connector 9">
                <a:extLst>
                  <a:ext uri="{FF2B5EF4-FFF2-40B4-BE49-F238E27FC236}">
                    <a16:creationId xmlns:a16="http://schemas.microsoft.com/office/drawing/2014/main" id="{6A61747D-941D-75E5-7B3E-62E6A60F90F6}"/>
                  </a:ext>
                </a:extLst>
              </p:cNvPr>
              <p:cNvCxnSpPr>
                <a:cxnSpLocks/>
                <a:stCxn id="9" idx="0"/>
              </p:cNvCxnSpPr>
              <p:nvPr/>
            </p:nvCxnSpPr>
            <p:spPr>
              <a:xfrm flipV="1">
                <a:off x="5413531" y="2444038"/>
                <a:ext cx="48199" cy="3629185"/>
              </a:xfrm>
              <a:prstGeom prst="line">
                <a:avLst/>
              </a:prstGeom>
              <a:ln>
                <a:solidFill>
                  <a:schemeClr val="accent1"/>
                </a:solidFill>
                <a:prstDash val="sysDash"/>
              </a:ln>
            </p:spPr>
            <p:style>
              <a:lnRef idx="2">
                <a:schemeClr val="accent1"/>
              </a:lnRef>
              <a:fillRef idx="0">
                <a:schemeClr val="accent1"/>
              </a:fillRef>
              <a:effectRef idx="1">
                <a:schemeClr val="accent1"/>
              </a:effectRef>
              <a:fontRef idx="minor">
                <a:schemeClr val="tx1"/>
              </a:fontRef>
            </p:style>
          </p:cxnSp>
          <p:sp>
            <p:nvSpPr>
              <p:cNvPr id="11" name="Freeform 10">
                <a:extLst>
                  <a:ext uri="{FF2B5EF4-FFF2-40B4-BE49-F238E27FC236}">
                    <a16:creationId xmlns:a16="http://schemas.microsoft.com/office/drawing/2014/main" id="{6337BD84-7A07-96B4-00EB-17D5D994C482}"/>
                  </a:ext>
                </a:extLst>
              </p:cNvPr>
              <p:cNvSpPr/>
              <p:nvPr/>
            </p:nvSpPr>
            <p:spPr>
              <a:xfrm>
                <a:off x="1882588" y="2771996"/>
                <a:ext cx="3563471" cy="955073"/>
              </a:xfrm>
              <a:custGeom>
                <a:avLst/>
                <a:gdLst>
                  <a:gd name="connsiteX0" fmla="*/ 0 w 3563471"/>
                  <a:gd name="connsiteY0" fmla="*/ 955073 h 955073"/>
                  <a:gd name="connsiteX1" fmla="*/ 564777 w 3563471"/>
                  <a:gd name="connsiteY1" fmla="*/ 457532 h 955073"/>
                  <a:gd name="connsiteX2" fmla="*/ 927847 w 3563471"/>
                  <a:gd name="connsiteY2" fmla="*/ 726473 h 955073"/>
                  <a:gd name="connsiteX3" fmla="*/ 1815353 w 3563471"/>
                  <a:gd name="connsiteY3" fmla="*/ 332 h 955073"/>
                  <a:gd name="connsiteX4" fmla="*/ 2622177 w 3563471"/>
                  <a:gd name="connsiteY4" fmla="*/ 632343 h 955073"/>
                  <a:gd name="connsiteX5" fmla="*/ 3065930 w 3563471"/>
                  <a:gd name="connsiteY5" fmla="*/ 618896 h 955073"/>
                  <a:gd name="connsiteX6" fmla="*/ 3348318 w 3563471"/>
                  <a:gd name="connsiteY6" fmla="*/ 107908 h 955073"/>
                  <a:gd name="connsiteX7" fmla="*/ 3563471 w 3563471"/>
                  <a:gd name="connsiteY7" fmla="*/ 309614 h 9550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63471" h="955073">
                    <a:moveTo>
                      <a:pt x="0" y="955073"/>
                    </a:moveTo>
                    <a:cubicBezTo>
                      <a:pt x="205068" y="725352"/>
                      <a:pt x="410136" y="495632"/>
                      <a:pt x="564777" y="457532"/>
                    </a:cubicBezTo>
                    <a:cubicBezTo>
                      <a:pt x="719418" y="419432"/>
                      <a:pt x="719418" y="802673"/>
                      <a:pt x="927847" y="726473"/>
                    </a:cubicBezTo>
                    <a:cubicBezTo>
                      <a:pt x="1136276" y="650273"/>
                      <a:pt x="1532965" y="16020"/>
                      <a:pt x="1815353" y="332"/>
                    </a:cubicBezTo>
                    <a:cubicBezTo>
                      <a:pt x="2097741" y="-15356"/>
                      <a:pt x="2413748" y="529249"/>
                      <a:pt x="2622177" y="632343"/>
                    </a:cubicBezTo>
                    <a:cubicBezTo>
                      <a:pt x="2830606" y="735437"/>
                      <a:pt x="2944907" y="706302"/>
                      <a:pt x="3065930" y="618896"/>
                    </a:cubicBezTo>
                    <a:cubicBezTo>
                      <a:pt x="3186953" y="531490"/>
                      <a:pt x="3265395" y="159455"/>
                      <a:pt x="3348318" y="107908"/>
                    </a:cubicBezTo>
                    <a:cubicBezTo>
                      <a:pt x="3431242" y="56361"/>
                      <a:pt x="3497356" y="182987"/>
                      <a:pt x="3563471" y="309614"/>
                    </a:cubicBezTo>
                  </a:path>
                </a:pathLst>
              </a:custGeom>
              <a:noFill/>
              <a:ln w="3810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11">
                <a:extLst>
                  <a:ext uri="{FF2B5EF4-FFF2-40B4-BE49-F238E27FC236}">
                    <a16:creationId xmlns:a16="http://schemas.microsoft.com/office/drawing/2014/main" id="{240F20DB-2DD8-95B3-95F5-2E2F61DA74EC}"/>
                  </a:ext>
                </a:extLst>
              </p:cNvPr>
              <p:cNvSpPr/>
              <p:nvPr/>
            </p:nvSpPr>
            <p:spPr>
              <a:xfrm>
                <a:off x="1882588" y="3301632"/>
                <a:ext cx="3563471" cy="955073"/>
              </a:xfrm>
              <a:custGeom>
                <a:avLst/>
                <a:gdLst>
                  <a:gd name="connsiteX0" fmla="*/ 0 w 3563471"/>
                  <a:gd name="connsiteY0" fmla="*/ 955073 h 955073"/>
                  <a:gd name="connsiteX1" fmla="*/ 564777 w 3563471"/>
                  <a:gd name="connsiteY1" fmla="*/ 457532 h 955073"/>
                  <a:gd name="connsiteX2" fmla="*/ 927847 w 3563471"/>
                  <a:gd name="connsiteY2" fmla="*/ 726473 h 955073"/>
                  <a:gd name="connsiteX3" fmla="*/ 1815353 w 3563471"/>
                  <a:gd name="connsiteY3" fmla="*/ 332 h 955073"/>
                  <a:gd name="connsiteX4" fmla="*/ 2622177 w 3563471"/>
                  <a:gd name="connsiteY4" fmla="*/ 632343 h 955073"/>
                  <a:gd name="connsiteX5" fmla="*/ 3065930 w 3563471"/>
                  <a:gd name="connsiteY5" fmla="*/ 618896 h 955073"/>
                  <a:gd name="connsiteX6" fmla="*/ 3348318 w 3563471"/>
                  <a:gd name="connsiteY6" fmla="*/ 107908 h 955073"/>
                  <a:gd name="connsiteX7" fmla="*/ 3563471 w 3563471"/>
                  <a:gd name="connsiteY7" fmla="*/ 309614 h 9550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63471" h="955073">
                    <a:moveTo>
                      <a:pt x="0" y="955073"/>
                    </a:moveTo>
                    <a:cubicBezTo>
                      <a:pt x="205068" y="725352"/>
                      <a:pt x="410136" y="495632"/>
                      <a:pt x="564777" y="457532"/>
                    </a:cubicBezTo>
                    <a:cubicBezTo>
                      <a:pt x="719418" y="419432"/>
                      <a:pt x="719418" y="802673"/>
                      <a:pt x="927847" y="726473"/>
                    </a:cubicBezTo>
                    <a:cubicBezTo>
                      <a:pt x="1136276" y="650273"/>
                      <a:pt x="1532965" y="16020"/>
                      <a:pt x="1815353" y="332"/>
                    </a:cubicBezTo>
                    <a:cubicBezTo>
                      <a:pt x="2097741" y="-15356"/>
                      <a:pt x="2413748" y="529249"/>
                      <a:pt x="2622177" y="632343"/>
                    </a:cubicBezTo>
                    <a:cubicBezTo>
                      <a:pt x="2830606" y="735437"/>
                      <a:pt x="2944907" y="706302"/>
                      <a:pt x="3065930" y="618896"/>
                    </a:cubicBezTo>
                    <a:cubicBezTo>
                      <a:pt x="3186953" y="531490"/>
                      <a:pt x="3265395" y="159455"/>
                      <a:pt x="3348318" y="107908"/>
                    </a:cubicBezTo>
                    <a:cubicBezTo>
                      <a:pt x="3431242" y="56361"/>
                      <a:pt x="3497356" y="182987"/>
                      <a:pt x="3563471" y="309614"/>
                    </a:cubicBezTo>
                  </a:path>
                </a:pathLst>
              </a:custGeom>
              <a:noFill/>
              <a:ln w="3810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12">
                <a:extLst>
                  <a:ext uri="{FF2B5EF4-FFF2-40B4-BE49-F238E27FC236}">
                    <a16:creationId xmlns:a16="http://schemas.microsoft.com/office/drawing/2014/main" id="{13FD8554-6E2F-1866-8C5B-B39956EF9728}"/>
                  </a:ext>
                </a:extLst>
              </p:cNvPr>
              <p:cNvSpPr/>
              <p:nvPr/>
            </p:nvSpPr>
            <p:spPr>
              <a:xfrm>
                <a:off x="5432611" y="3619491"/>
                <a:ext cx="3684495" cy="1362889"/>
              </a:xfrm>
              <a:custGeom>
                <a:avLst/>
                <a:gdLst>
                  <a:gd name="connsiteX0" fmla="*/ 0 w 3684494"/>
                  <a:gd name="connsiteY0" fmla="*/ 0 h 1362889"/>
                  <a:gd name="connsiteX1" fmla="*/ 242047 w 3684494"/>
                  <a:gd name="connsiteY1" fmla="*/ 1210235 h 1362889"/>
                  <a:gd name="connsiteX2" fmla="*/ 591670 w 3684494"/>
                  <a:gd name="connsiteY2" fmla="*/ 1317811 h 1362889"/>
                  <a:gd name="connsiteX3" fmla="*/ 995082 w 3684494"/>
                  <a:gd name="connsiteY3" fmla="*/ 954741 h 1362889"/>
                  <a:gd name="connsiteX4" fmla="*/ 1936376 w 3684494"/>
                  <a:gd name="connsiteY4" fmla="*/ 1169894 h 1362889"/>
                  <a:gd name="connsiteX5" fmla="*/ 2756647 w 3684494"/>
                  <a:gd name="connsiteY5" fmla="*/ 685800 h 1362889"/>
                  <a:gd name="connsiteX6" fmla="*/ 3684494 w 3684494"/>
                  <a:gd name="connsiteY6" fmla="*/ 1250576 h 1362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84494" h="1362889">
                    <a:moveTo>
                      <a:pt x="0" y="0"/>
                    </a:moveTo>
                    <a:cubicBezTo>
                      <a:pt x="71717" y="495300"/>
                      <a:pt x="143435" y="990600"/>
                      <a:pt x="242047" y="1210235"/>
                    </a:cubicBezTo>
                    <a:cubicBezTo>
                      <a:pt x="340659" y="1429870"/>
                      <a:pt x="466164" y="1360393"/>
                      <a:pt x="591670" y="1317811"/>
                    </a:cubicBezTo>
                    <a:cubicBezTo>
                      <a:pt x="717176" y="1275229"/>
                      <a:pt x="770964" y="979394"/>
                      <a:pt x="995082" y="954741"/>
                    </a:cubicBezTo>
                    <a:cubicBezTo>
                      <a:pt x="1219200" y="930088"/>
                      <a:pt x="1642782" y="1214718"/>
                      <a:pt x="1936376" y="1169894"/>
                    </a:cubicBezTo>
                    <a:cubicBezTo>
                      <a:pt x="2229970" y="1125071"/>
                      <a:pt x="2465294" y="672353"/>
                      <a:pt x="2756647" y="685800"/>
                    </a:cubicBezTo>
                    <a:cubicBezTo>
                      <a:pt x="3048000" y="699247"/>
                      <a:pt x="3366247" y="974911"/>
                      <a:pt x="3684494" y="1250576"/>
                    </a:cubicBezTo>
                  </a:path>
                </a:pathLst>
              </a:custGeom>
              <a:noFill/>
              <a:ln w="3810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13">
                <a:extLst>
                  <a:ext uri="{FF2B5EF4-FFF2-40B4-BE49-F238E27FC236}">
                    <a16:creationId xmlns:a16="http://schemas.microsoft.com/office/drawing/2014/main" id="{2CDBA767-74FE-D188-FF1C-8B7C4739B2BB}"/>
                  </a:ext>
                </a:extLst>
              </p:cNvPr>
              <p:cNvSpPr/>
              <p:nvPr/>
            </p:nvSpPr>
            <p:spPr>
              <a:xfrm>
                <a:off x="5438072" y="2729991"/>
                <a:ext cx="3509682" cy="668598"/>
              </a:xfrm>
              <a:custGeom>
                <a:avLst/>
                <a:gdLst>
                  <a:gd name="connsiteX0" fmla="*/ 0 w 3684494"/>
                  <a:gd name="connsiteY0" fmla="*/ 0 h 1362889"/>
                  <a:gd name="connsiteX1" fmla="*/ 242047 w 3684494"/>
                  <a:gd name="connsiteY1" fmla="*/ 1210235 h 1362889"/>
                  <a:gd name="connsiteX2" fmla="*/ 591670 w 3684494"/>
                  <a:gd name="connsiteY2" fmla="*/ 1317811 h 1362889"/>
                  <a:gd name="connsiteX3" fmla="*/ 995082 w 3684494"/>
                  <a:gd name="connsiteY3" fmla="*/ 954741 h 1362889"/>
                  <a:gd name="connsiteX4" fmla="*/ 1936376 w 3684494"/>
                  <a:gd name="connsiteY4" fmla="*/ 1169894 h 1362889"/>
                  <a:gd name="connsiteX5" fmla="*/ 2756647 w 3684494"/>
                  <a:gd name="connsiteY5" fmla="*/ 685800 h 1362889"/>
                  <a:gd name="connsiteX6" fmla="*/ 3684494 w 3684494"/>
                  <a:gd name="connsiteY6" fmla="*/ 1250576 h 1362889"/>
                  <a:gd name="connsiteX0" fmla="*/ 0 w 3509682"/>
                  <a:gd name="connsiteY0" fmla="*/ 329030 h 642634"/>
                  <a:gd name="connsiteX1" fmla="*/ 67235 w 3509682"/>
                  <a:gd name="connsiteY1" fmla="*/ 524729 h 642634"/>
                  <a:gd name="connsiteX2" fmla="*/ 416858 w 3509682"/>
                  <a:gd name="connsiteY2" fmla="*/ 632305 h 642634"/>
                  <a:gd name="connsiteX3" fmla="*/ 820270 w 3509682"/>
                  <a:gd name="connsiteY3" fmla="*/ 269235 h 642634"/>
                  <a:gd name="connsiteX4" fmla="*/ 1761564 w 3509682"/>
                  <a:gd name="connsiteY4" fmla="*/ 484388 h 642634"/>
                  <a:gd name="connsiteX5" fmla="*/ 2581835 w 3509682"/>
                  <a:gd name="connsiteY5" fmla="*/ 294 h 642634"/>
                  <a:gd name="connsiteX6" fmla="*/ 3509682 w 3509682"/>
                  <a:gd name="connsiteY6" fmla="*/ 565070 h 642634"/>
                  <a:gd name="connsiteX0" fmla="*/ 0 w 3509682"/>
                  <a:gd name="connsiteY0" fmla="*/ 329030 h 649534"/>
                  <a:gd name="connsiteX1" fmla="*/ 155725 w 3509682"/>
                  <a:gd name="connsiteY1" fmla="*/ 564292 h 649534"/>
                  <a:gd name="connsiteX2" fmla="*/ 416858 w 3509682"/>
                  <a:gd name="connsiteY2" fmla="*/ 632305 h 649534"/>
                  <a:gd name="connsiteX3" fmla="*/ 820270 w 3509682"/>
                  <a:gd name="connsiteY3" fmla="*/ 269235 h 649534"/>
                  <a:gd name="connsiteX4" fmla="*/ 1761564 w 3509682"/>
                  <a:gd name="connsiteY4" fmla="*/ 484388 h 649534"/>
                  <a:gd name="connsiteX5" fmla="*/ 2581835 w 3509682"/>
                  <a:gd name="connsiteY5" fmla="*/ 294 h 649534"/>
                  <a:gd name="connsiteX6" fmla="*/ 3509682 w 3509682"/>
                  <a:gd name="connsiteY6" fmla="*/ 565070 h 649534"/>
                  <a:gd name="connsiteX0" fmla="*/ 23604 w 3533286"/>
                  <a:gd name="connsiteY0" fmla="*/ 329030 h 658850"/>
                  <a:gd name="connsiteX1" fmla="*/ 179329 w 3533286"/>
                  <a:gd name="connsiteY1" fmla="*/ 564292 h 658850"/>
                  <a:gd name="connsiteX2" fmla="*/ 440462 w 3533286"/>
                  <a:gd name="connsiteY2" fmla="*/ 632305 h 658850"/>
                  <a:gd name="connsiteX3" fmla="*/ 843874 w 3533286"/>
                  <a:gd name="connsiteY3" fmla="*/ 269235 h 658850"/>
                  <a:gd name="connsiteX4" fmla="*/ 1785168 w 3533286"/>
                  <a:gd name="connsiteY4" fmla="*/ 484388 h 658850"/>
                  <a:gd name="connsiteX5" fmla="*/ 2605439 w 3533286"/>
                  <a:gd name="connsiteY5" fmla="*/ 294 h 658850"/>
                  <a:gd name="connsiteX6" fmla="*/ 3533286 w 3533286"/>
                  <a:gd name="connsiteY6" fmla="*/ 565070 h 658850"/>
                  <a:gd name="connsiteX0" fmla="*/ 0 w 3509682"/>
                  <a:gd name="connsiteY0" fmla="*/ 329030 h 654436"/>
                  <a:gd name="connsiteX1" fmla="*/ 155725 w 3509682"/>
                  <a:gd name="connsiteY1" fmla="*/ 564292 h 654436"/>
                  <a:gd name="connsiteX2" fmla="*/ 416858 w 3509682"/>
                  <a:gd name="connsiteY2" fmla="*/ 632305 h 654436"/>
                  <a:gd name="connsiteX3" fmla="*/ 820270 w 3509682"/>
                  <a:gd name="connsiteY3" fmla="*/ 269235 h 654436"/>
                  <a:gd name="connsiteX4" fmla="*/ 1761564 w 3509682"/>
                  <a:gd name="connsiteY4" fmla="*/ 484388 h 654436"/>
                  <a:gd name="connsiteX5" fmla="*/ 2581835 w 3509682"/>
                  <a:gd name="connsiteY5" fmla="*/ 294 h 654436"/>
                  <a:gd name="connsiteX6" fmla="*/ 3509682 w 3509682"/>
                  <a:gd name="connsiteY6" fmla="*/ 565070 h 654436"/>
                  <a:gd name="connsiteX0" fmla="*/ 0 w 3509682"/>
                  <a:gd name="connsiteY0" fmla="*/ 329030 h 644884"/>
                  <a:gd name="connsiteX1" fmla="*/ 155725 w 3509682"/>
                  <a:gd name="connsiteY1" fmla="*/ 564292 h 644884"/>
                  <a:gd name="connsiteX2" fmla="*/ 416858 w 3509682"/>
                  <a:gd name="connsiteY2" fmla="*/ 632305 h 644884"/>
                  <a:gd name="connsiteX3" fmla="*/ 820270 w 3509682"/>
                  <a:gd name="connsiteY3" fmla="*/ 269235 h 644884"/>
                  <a:gd name="connsiteX4" fmla="*/ 1761564 w 3509682"/>
                  <a:gd name="connsiteY4" fmla="*/ 484388 h 644884"/>
                  <a:gd name="connsiteX5" fmla="*/ 2581835 w 3509682"/>
                  <a:gd name="connsiteY5" fmla="*/ 294 h 644884"/>
                  <a:gd name="connsiteX6" fmla="*/ 3509682 w 3509682"/>
                  <a:gd name="connsiteY6" fmla="*/ 565070 h 644884"/>
                  <a:gd name="connsiteX0" fmla="*/ 0 w 3509682"/>
                  <a:gd name="connsiteY0" fmla="*/ 329030 h 667105"/>
                  <a:gd name="connsiteX1" fmla="*/ 160343 w 3509682"/>
                  <a:gd name="connsiteY1" fmla="*/ 633976 h 667105"/>
                  <a:gd name="connsiteX2" fmla="*/ 416858 w 3509682"/>
                  <a:gd name="connsiteY2" fmla="*/ 632305 h 667105"/>
                  <a:gd name="connsiteX3" fmla="*/ 820270 w 3509682"/>
                  <a:gd name="connsiteY3" fmla="*/ 269235 h 667105"/>
                  <a:gd name="connsiteX4" fmla="*/ 1761564 w 3509682"/>
                  <a:gd name="connsiteY4" fmla="*/ 484388 h 667105"/>
                  <a:gd name="connsiteX5" fmla="*/ 2581835 w 3509682"/>
                  <a:gd name="connsiteY5" fmla="*/ 294 h 667105"/>
                  <a:gd name="connsiteX6" fmla="*/ 3509682 w 3509682"/>
                  <a:gd name="connsiteY6" fmla="*/ 565070 h 667105"/>
                  <a:gd name="connsiteX0" fmla="*/ 0 w 3509682"/>
                  <a:gd name="connsiteY0" fmla="*/ 329030 h 672580"/>
                  <a:gd name="connsiteX1" fmla="*/ 160343 w 3509682"/>
                  <a:gd name="connsiteY1" fmla="*/ 633976 h 672580"/>
                  <a:gd name="connsiteX2" fmla="*/ 416858 w 3509682"/>
                  <a:gd name="connsiteY2" fmla="*/ 632305 h 672580"/>
                  <a:gd name="connsiteX3" fmla="*/ 820270 w 3509682"/>
                  <a:gd name="connsiteY3" fmla="*/ 269235 h 672580"/>
                  <a:gd name="connsiteX4" fmla="*/ 1761564 w 3509682"/>
                  <a:gd name="connsiteY4" fmla="*/ 484388 h 672580"/>
                  <a:gd name="connsiteX5" fmla="*/ 2581835 w 3509682"/>
                  <a:gd name="connsiteY5" fmla="*/ 294 h 672580"/>
                  <a:gd name="connsiteX6" fmla="*/ 3509682 w 3509682"/>
                  <a:gd name="connsiteY6" fmla="*/ 565070 h 672580"/>
                  <a:gd name="connsiteX0" fmla="*/ 0 w 3509682"/>
                  <a:gd name="connsiteY0" fmla="*/ 329030 h 672580"/>
                  <a:gd name="connsiteX1" fmla="*/ 160343 w 3509682"/>
                  <a:gd name="connsiteY1" fmla="*/ 633976 h 672580"/>
                  <a:gd name="connsiteX2" fmla="*/ 416858 w 3509682"/>
                  <a:gd name="connsiteY2" fmla="*/ 632305 h 672580"/>
                  <a:gd name="connsiteX3" fmla="*/ 820270 w 3509682"/>
                  <a:gd name="connsiteY3" fmla="*/ 269235 h 672580"/>
                  <a:gd name="connsiteX4" fmla="*/ 1761564 w 3509682"/>
                  <a:gd name="connsiteY4" fmla="*/ 484388 h 672580"/>
                  <a:gd name="connsiteX5" fmla="*/ 2581835 w 3509682"/>
                  <a:gd name="connsiteY5" fmla="*/ 294 h 672580"/>
                  <a:gd name="connsiteX6" fmla="*/ 3509682 w 3509682"/>
                  <a:gd name="connsiteY6" fmla="*/ 565070 h 672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9682" h="672580">
                    <a:moveTo>
                      <a:pt x="0" y="329030"/>
                    </a:moveTo>
                    <a:cubicBezTo>
                      <a:pt x="117899" y="601337"/>
                      <a:pt x="69862" y="590023"/>
                      <a:pt x="160343" y="633976"/>
                    </a:cubicBezTo>
                    <a:cubicBezTo>
                      <a:pt x="250824" y="677929"/>
                      <a:pt x="306870" y="693095"/>
                      <a:pt x="416858" y="632305"/>
                    </a:cubicBezTo>
                    <a:cubicBezTo>
                      <a:pt x="526846" y="571515"/>
                      <a:pt x="596152" y="293888"/>
                      <a:pt x="820270" y="269235"/>
                    </a:cubicBezTo>
                    <a:cubicBezTo>
                      <a:pt x="1044388" y="244582"/>
                      <a:pt x="1467970" y="529212"/>
                      <a:pt x="1761564" y="484388"/>
                    </a:cubicBezTo>
                    <a:cubicBezTo>
                      <a:pt x="2055158" y="439565"/>
                      <a:pt x="2290482" y="-13153"/>
                      <a:pt x="2581835" y="294"/>
                    </a:cubicBezTo>
                    <a:cubicBezTo>
                      <a:pt x="2873188" y="13741"/>
                      <a:pt x="3191435" y="289405"/>
                      <a:pt x="3509682" y="565070"/>
                    </a:cubicBezTo>
                  </a:path>
                </a:pathLst>
              </a:custGeom>
              <a:noFill/>
              <a:ln w="3810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TextBox 16">
                <a:extLst>
                  <a:ext uri="{FF2B5EF4-FFF2-40B4-BE49-F238E27FC236}">
                    <a16:creationId xmlns:a16="http://schemas.microsoft.com/office/drawing/2014/main" id="{63710CA7-4DC2-E68E-EBF4-68776A168B01}"/>
                  </a:ext>
                </a:extLst>
              </p:cNvPr>
              <p:cNvSpPr txBox="1"/>
              <p:nvPr/>
            </p:nvSpPr>
            <p:spPr>
              <a:xfrm>
                <a:off x="9117106" y="4727964"/>
                <a:ext cx="1842711" cy="588557"/>
              </a:xfrm>
              <a:prstGeom prst="rect">
                <a:avLst/>
              </a:prstGeom>
              <a:noFill/>
            </p:spPr>
            <p:txBody>
              <a:bodyPr wrap="none" rtlCol="0">
                <a:spAutoFit/>
              </a:bodyPr>
              <a:lstStyle/>
              <a:p>
                <a:r>
                  <a:rPr lang="en-US" dirty="0">
                    <a:solidFill>
                      <a:schemeClr val="accent4"/>
                    </a:solidFill>
                  </a:rPr>
                  <a:t>California</a:t>
                </a:r>
              </a:p>
            </p:txBody>
          </p:sp>
          <p:sp>
            <p:nvSpPr>
              <p:cNvPr id="18" name="TextBox 17">
                <a:extLst>
                  <a:ext uri="{FF2B5EF4-FFF2-40B4-BE49-F238E27FC236}">
                    <a16:creationId xmlns:a16="http://schemas.microsoft.com/office/drawing/2014/main" id="{623D12ED-233B-FD86-0C1F-3163D1456EFF}"/>
                  </a:ext>
                </a:extLst>
              </p:cNvPr>
              <p:cNvSpPr txBox="1"/>
              <p:nvPr/>
            </p:nvSpPr>
            <p:spPr>
              <a:xfrm>
                <a:off x="8947752" y="3085591"/>
                <a:ext cx="1764953" cy="588557"/>
              </a:xfrm>
              <a:prstGeom prst="rect">
                <a:avLst/>
              </a:prstGeom>
              <a:noFill/>
            </p:spPr>
            <p:txBody>
              <a:bodyPr wrap="none" rtlCol="0">
                <a:spAutoFit/>
              </a:bodyPr>
              <a:lstStyle/>
              <a:p>
                <a:r>
                  <a:rPr lang="en-US" dirty="0">
                    <a:solidFill>
                      <a:schemeClr val="accent5"/>
                    </a:solidFill>
                  </a:rPr>
                  <a:t>Colorado</a:t>
                </a:r>
              </a:p>
            </p:txBody>
          </p:sp>
        </p:grpSp>
        <p:sp>
          <p:nvSpPr>
            <p:cNvPr id="21" name="Freeform 20">
              <a:extLst>
                <a:ext uri="{FF2B5EF4-FFF2-40B4-BE49-F238E27FC236}">
                  <a16:creationId xmlns:a16="http://schemas.microsoft.com/office/drawing/2014/main" id="{67A135F9-9614-E460-25E0-B6EF55A67FB8}"/>
                </a:ext>
              </a:extLst>
            </p:cNvPr>
            <p:cNvSpPr/>
            <p:nvPr/>
          </p:nvSpPr>
          <p:spPr>
            <a:xfrm>
              <a:off x="1832856" y="4573207"/>
              <a:ext cx="3023719" cy="810410"/>
            </a:xfrm>
            <a:custGeom>
              <a:avLst/>
              <a:gdLst>
                <a:gd name="connsiteX0" fmla="*/ 0 w 3563471"/>
                <a:gd name="connsiteY0" fmla="*/ 955073 h 955073"/>
                <a:gd name="connsiteX1" fmla="*/ 564777 w 3563471"/>
                <a:gd name="connsiteY1" fmla="*/ 457532 h 955073"/>
                <a:gd name="connsiteX2" fmla="*/ 927847 w 3563471"/>
                <a:gd name="connsiteY2" fmla="*/ 726473 h 955073"/>
                <a:gd name="connsiteX3" fmla="*/ 1815353 w 3563471"/>
                <a:gd name="connsiteY3" fmla="*/ 332 h 955073"/>
                <a:gd name="connsiteX4" fmla="*/ 2622177 w 3563471"/>
                <a:gd name="connsiteY4" fmla="*/ 632343 h 955073"/>
                <a:gd name="connsiteX5" fmla="*/ 3065930 w 3563471"/>
                <a:gd name="connsiteY5" fmla="*/ 618896 h 955073"/>
                <a:gd name="connsiteX6" fmla="*/ 3348318 w 3563471"/>
                <a:gd name="connsiteY6" fmla="*/ 107908 h 955073"/>
                <a:gd name="connsiteX7" fmla="*/ 3563471 w 3563471"/>
                <a:gd name="connsiteY7" fmla="*/ 309614 h 9550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63471" h="955073">
                  <a:moveTo>
                    <a:pt x="0" y="955073"/>
                  </a:moveTo>
                  <a:cubicBezTo>
                    <a:pt x="205068" y="725352"/>
                    <a:pt x="410136" y="495632"/>
                    <a:pt x="564777" y="457532"/>
                  </a:cubicBezTo>
                  <a:cubicBezTo>
                    <a:pt x="719418" y="419432"/>
                    <a:pt x="719418" y="802673"/>
                    <a:pt x="927847" y="726473"/>
                  </a:cubicBezTo>
                  <a:cubicBezTo>
                    <a:pt x="1136276" y="650273"/>
                    <a:pt x="1532965" y="16020"/>
                    <a:pt x="1815353" y="332"/>
                  </a:cubicBezTo>
                  <a:cubicBezTo>
                    <a:pt x="2097741" y="-15356"/>
                    <a:pt x="2413748" y="529249"/>
                    <a:pt x="2622177" y="632343"/>
                  </a:cubicBezTo>
                  <a:cubicBezTo>
                    <a:pt x="2830606" y="735437"/>
                    <a:pt x="2944907" y="706302"/>
                    <a:pt x="3065930" y="618896"/>
                  </a:cubicBezTo>
                  <a:cubicBezTo>
                    <a:pt x="3186953" y="531490"/>
                    <a:pt x="3265395" y="159455"/>
                    <a:pt x="3348318" y="107908"/>
                  </a:cubicBezTo>
                  <a:cubicBezTo>
                    <a:pt x="3431242" y="56361"/>
                    <a:pt x="3497356" y="182987"/>
                    <a:pt x="3563471" y="309614"/>
                  </a:cubicBezTo>
                </a:path>
              </a:pathLst>
            </a:cu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21">
              <a:extLst>
                <a:ext uri="{FF2B5EF4-FFF2-40B4-BE49-F238E27FC236}">
                  <a16:creationId xmlns:a16="http://schemas.microsoft.com/office/drawing/2014/main" id="{6685EF44-C509-BEB3-DCB9-4D75FB1436C0}"/>
                </a:ext>
              </a:extLst>
            </p:cNvPr>
            <p:cNvSpPr/>
            <p:nvPr/>
          </p:nvSpPr>
          <p:spPr>
            <a:xfrm>
              <a:off x="4828974" y="4527646"/>
              <a:ext cx="2978077" cy="567327"/>
            </a:xfrm>
            <a:custGeom>
              <a:avLst/>
              <a:gdLst>
                <a:gd name="connsiteX0" fmla="*/ 0 w 3684494"/>
                <a:gd name="connsiteY0" fmla="*/ 0 h 1362889"/>
                <a:gd name="connsiteX1" fmla="*/ 242047 w 3684494"/>
                <a:gd name="connsiteY1" fmla="*/ 1210235 h 1362889"/>
                <a:gd name="connsiteX2" fmla="*/ 591670 w 3684494"/>
                <a:gd name="connsiteY2" fmla="*/ 1317811 h 1362889"/>
                <a:gd name="connsiteX3" fmla="*/ 995082 w 3684494"/>
                <a:gd name="connsiteY3" fmla="*/ 954741 h 1362889"/>
                <a:gd name="connsiteX4" fmla="*/ 1936376 w 3684494"/>
                <a:gd name="connsiteY4" fmla="*/ 1169894 h 1362889"/>
                <a:gd name="connsiteX5" fmla="*/ 2756647 w 3684494"/>
                <a:gd name="connsiteY5" fmla="*/ 685800 h 1362889"/>
                <a:gd name="connsiteX6" fmla="*/ 3684494 w 3684494"/>
                <a:gd name="connsiteY6" fmla="*/ 1250576 h 1362889"/>
                <a:gd name="connsiteX0" fmla="*/ 0 w 3509682"/>
                <a:gd name="connsiteY0" fmla="*/ 329030 h 642634"/>
                <a:gd name="connsiteX1" fmla="*/ 67235 w 3509682"/>
                <a:gd name="connsiteY1" fmla="*/ 524729 h 642634"/>
                <a:gd name="connsiteX2" fmla="*/ 416858 w 3509682"/>
                <a:gd name="connsiteY2" fmla="*/ 632305 h 642634"/>
                <a:gd name="connsiteX3" fmla="*/ 820270 w 3509682"/>
                <a:gd name="connsiteY3" fmla="*/ 269235 h 642634"/>
                <a:gd name="connsiteX4" fmla="*/ 1761564 w 3509682"/>
                <a:gd name="connsiteY4" fmla="*/ 484388 h 642634"/>
                <a:gd name="connsiteX5" fmla="*/ 2581835 w 3509682"/>
                <a:gd name="connsiteY5" fmla="*/ 294 h 642634"/>
                <a:gd name="connsiteX6" fmla="*/ 3509682 w 3509682"/>
                <a:gd name="connsiteY6" fmla="*/ 565070 h 642634"/>
                <a:gd name="connsiteX0" fmla="*/ 0 w 3509682"/>
                <a:gd name="connsiteY0" fmla="*/ 329030 h 649534"/>
                <a:gd name="connsiteX1" fmla="*/ 155725 w 3509682"/>
                <a:gd name="connsiteY1" fmla="*/ 564292 h 649534"/>
                <a:gd name="connsiteX2" fmla="*/ 416858 w 3509682"/>
                <a:gd name="connsiteY2" fmla="*/ 632305 h 649534"/>
                <a:gd name="connsiteX3" fmla="*/ 820270 w 3509682"/>
                <a:gd name="connsiteY3" fmla="*/ 269235 h 649534"/>
                <a:gd name="connsiteX4" fmla="*/ 1761564 w 3509682"/>
                <a:gd name="connsiteY4" fmla="*/ 484388 h 649534"/>
                <a:gd name="connsiteX5" fmla="*/ 2581835 w 3509682"/>
                <a:gd name="connsiteY5" fmla="*/ 294 h 649534"/>
                <a:gd name="connsiteX6" fmla="*/ 3509682 w 3509682"/>
                <a:gd name="connsiteY6" fmla="*/ 565070 h 649534"/>
                <a:gd name="connsiteX0" fmla="*/ 23604 w 3533286"/>
                <a:gd name="connsiteY0" fmla="*/ 329030 h 658850"/>
                <a:gd name="connsiteX1" fmla="*/ 179329 w 3533286"/>
                <a:gd name="connsiteY1" fmla="*/ 564292 h 658850"/>
                <a:gd name="connsiteX2" fmla="*/ 440462 w 3533286"/>
                <a:gd name="connsiteY2" fmla="*/ 632305 h 658850"/>
                <a:gd name="connsiteX3" fmla="*/ 843874 w 3533286"/>
                <a:gd name="connsiteY3" fmla="*/ 269235 h 658850"/>
                <a:gd name="connsiteX4" fmla="*/ 1785168 w 3533286"/>
                <a:gd name="connsiteY4" fmla="*/ 484388 h 658850"/>
                <a:gd name="connsiteX5" fmla="*/ 2605439 w 3533286"/>
                <a:gd name="connsiteY5" fmla="*/ 294 h 658850"/>
                <a:gd name="connsiteX6" fmla="*/ 3533286 w 3533286"/>
                <a:gd name="connsiteY6" fmla="*/ 565070 h 658850"/>
                <a:gd name="connsiteX0" fmla="*/ 0 w 3509682"/>
                <a:gd name="connsiteY0" fmla="*/ 329030 h 654436"/>
                <a:gd name="connsiteX1" fmla="*/ 155725 w 3509682"/>
                <a:gd name="connsiteY1" fmla="*/ 564292 h 654436"/>
                <a:gd name="connsiteX2" fmla="*/ 416858 w 3509682"/>
                <a:gd name="connsiteY2" fmla="*/ 632305 h 654436"/>
                <a:gd name="connsiteX3" fmla="*/ 820270 w 3509682"/>
                <a:gd name="connsiteY3" fmla="*/ 269235 h 654436"/>
                <a:gd name="connsiteX4" fmla="*/ 1761564 w 3509682"/>
                <a:gd name="connsiteY4" fmla="*/ 484388 h 654436"/>
                <a:gd name="connsiteX5" fmla="*/ 2581835 w 3509682"/>
                <a:gd name="connsiteY5" fmla="*/ 294 h 654436"/>
                <a:gd name="connsiteX6" fmla="*/ 3509682 w 3509682"/>
                <a:gd name="connsiteY6" fmla="*/ 565070 h 654436"/>
                <a:gd name="connsiteX0" fmla="*/ 0 w 3509682"/>
                <a:gd name="connsiteY0" fmla="*/ 329030 h 644884"/>
                <a:gd name="connsiteX1" fmla="*/ 155725 w 3509682"/>
                <a:gd name="connsiteY1" fmla="*/ 564292 h 644884"/>
                <a:gd name="connsiteX2" fmla="*/ 416858 w 3509682"/>
                <a:gd name="connsiteY2" fmla="*/ 632305 h 644884"/>
                <a:gd name="connsiteX3" fmla="*/ 820270 w 3509682"/>
                <a:gd name="connsiteY3" fmla="*/ 269235 h 644884"/>
                <a:gd name="connsiteX4" fmla="*/ 1761564 w 3509682"/>
                <a:gd name="connsiteY4" fmla="*/ 484388 h 644884"/>
                <a:gd name="connsiteX5" fmla="*/ 2581835 w 3509682"/>
                <a:gd name="connsiteY5" fmla="*/ 294 h 644884"/>
                <a:gd name="connsiteX6" fmla="*/ 3509682 w 3509682"/>
                <a:gd name="connsiteY6" fmla="*/ 565070 h 644884"/>
                <a:gd name="connsiteX0" fmla="*/ 0 w 3509682"/>
                <a:gd name="connsiteY0" fmla="*/ 329030 h 667105"/>
                <a:gd name="connsiteX1" fmla="*/ 160343 w 3509682"/>
                <a:gd name="connsiteY1" fmla="*/ 633976 h 667105"/>
                <a:gd name="connsiteX2" fmla="*/ 416858 w 3509682"/>
                <a:gd name="connsiteY2" fmla="*/ 632305 h 667105"/>
                <a:gd name="connsiteX3" fmla="*/ 820270 w 3509682"/>
                <a:gd name="connsiteY3" fmla="*/ 269235 h 667105"/>
                <a:gd name="connsiteX4" fmla="*/ 1761564 w 3509682"/>
                <a:gd name="connsiteY4" fmla="*/ 484388 h 667105"/>
                <a:gd name="connsiteX5" fmla="*/ 2581835 w 3509682"/>
                <a:gd name="connsiteY5" fmla="*/ 294 h 667105"/>
                <a:gd name="connsiteX6" fmla="*/ 3509682 w 3509682"/>
                <a:gd name="connsiteY6" fmla="*/ 565070 h 667105"/>
                <a:gd name="connsiteX0" fmla="*/ 0 w 3509682"/>
                <a:gd name="connsiteY0" fmla="*/ 329030 h 672580"/>
                <a:gd name="connsiteX1" fmla="*/ 160343 w 3509682"/>
                <a:gd name="connsiteY1" fmla="*/ 633976 h 672580"/>
                <a:gd name="connsiteX2" fmla="*/ 416858 w 3509682"/>
                <a:gd name="connsiteY2" fmla="*/ 632305 h 672580"/>
                <a:gd name="connsiteX3" fmla="*/ 820270 w 3509682"/>
                <a:gd name="connsiteY3" fmla="*/ 269235 h 672580"/>
                <a:gd name="connsiteX4" fmla="*/ 1761564 w 3509682"/>
                <a:gd name="connsiteY4" fmla="*/ 484388 h 672580"/>
                <a:gd name="connsiteX5" fmla="*/ 2581835 w 3509682"/>
                <a:gd name="connsiteY5" fmla="*/ 294 h 672580"/>
                <a:gd name="connsiteX6" fmla="*/ 3509682 w 3509682"/>
                <a:gd name="connsiteY6" fmla="*/ 565070 h 672580"/>
                <a:gd name="connsiteX0" fmla="*/ 0 w 3509682"/>
                <a:gd name="connsiteY0" fmla="*/ 329030 h 672580"/>
                <a:gd name="connsiteX1" fmla="*/ 160343 w 3509682"/>
                <a:gd name="connsiteY1" fmla="*/ 633976 h 672580"/>
                <a:gd name="connsiteX2" fmla="*/ 416858 w 3509682"/>
                <a:gd name="connsiteY2" fmla="*/ 632305 h 672580"/>
                <a:gd name="connsiteX3" fmla="*/ 820270 w 3509682"/>
                <a:gd name="connsiteY3" fmla="*/ 269235 h 672580"/>
                <a:gd name="connsiteX4" fmla="*/ 1761564 w 3509682"/>
                <a:gd name="connsiteY4" fmla="*/ 484388 h 672580"/>
                <a:gd name="connsiteX5" fmla="*/ 2581835 w 3509682"/>
                <a:gd name="connsiteY5" fmla="*/ 294 h 672580"/>
                <a:gd name="connsiteX6" fmla="*/ 3509682 w 3509682"/>
                <a:gd name="connsiteY6" fmla="*/ 565070 h 672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9682" h="672580">
                  <a:moveTo>
                    <a:pt x="0" y="329030"/>
                  </a:moveTo>
                  <a:cubicBezTo>
                    <a:pt x="117899" y="601337"/>
                    <a:pt x="69862" y="590023"/>
                    <a:pt x="160343" y="633976"/>
                  </a:cubicBezTo>
                  <a:cubicBezTo>
                    <a:pt x="250824" y="677929"/>
                    <a:pt x="306870" y="693095"/>
                    <a:pt x="416858" y="632305"/>
                  </a:cubicBezTo>
                  <a:cubicBezTo>
                    <a:pt x="526846" y="571515"/>
                    <a:pt x="596152" y="293888"/>
                    <a:pt x="820270" y="269235"/>
                  </a:cubicBezTo>
                  <a:cubicBezTo>
                    <a:pt x="1044388" y="244582"/>
                    <a:pt x="1467970" y="529212"/>
                    <a:pt x="1761564" y="484388"/>
                  </a:cubicBezTo>
                  <a:cubicBezTo>
                    <a:pt x="2055158" y="439565"/>
                    <a:pt x="2290482" y="-13153"/>
                    <a:pt x="2581835" y="294"/>
                  </a:cubicBezTo>
                  <a:cubicBezTo>
                    <a:pt x="2873188" y="13741"/>
                    <a:pt x="3191435" y="289405"/>
                    <a:pt x="3509682" y="565070"/>
                  </a:cubicBezTo>
                </a:path>
              </a:pathLst>
            </a:cu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Box 22">
              <a:extLst>
                <a:ext uri="{FF2B5EF4-FFF2-40B4-BE49-F238E27FC236}">
                  <a16:creationId xmlns:a16="http://schemas.microsoft.com/office/drawing/2014/main" id="{B7FAD046-4C73-C9C2-9215-148C44A430F3}"/>
                </a:ext>
              </a:extLst>
            </p:cNvPr>
            <p:cNvSpPr txBox="1"/>
            <p:nvPr/>
          </p:nvSpPr>
          <p:spPr>
            <a:xfrm>
              <a:off x="7827313" y="4883572"/>
              <a:ext cx="949875" cy="369332"/>
            </a:xfrm>
            <a:prstGeom prst="rect">
              <a:avLst/>
            </a:prstGeom>
            <a:noFill/>
          </p:spPr>
          <p:txBody>
            <a:bodyPr wrap="none" rtlCol="0">
              <a:spAutoFit/>
            </a:bodyPr>
            <a:lstStyle/>
            <a:p>
              <a:r>
                <a:rPr lang="en-US" dirty="0">
                  <a:solidFill>
                    <a:schemeClr val="accent2"/>
                  </a:solidFill>
                </a:rPr>
                <a:t>Nevada</a:t>
              </a:r>
            </a:p>
          </p:txBody>
        </p:sp>
      </p:grpSp>
      <p:grpSp>
        <p:nvGrpSpPr>
          <p:cNvPr id="27" name="Group 26">
            <a:extLst>
              <a:ext uri="{FF2B5EF4-FFF2-40B4-BE49-F238E27FC236}">
                <a16:creationId xmlns:a16="http://schemas.microsoft.com/office/drawing/2014/main" id="{4AD31E40-9140-27C4-E63F-C3F717CE5E27}"/>
              </a:ext>
            </a:extLst>
          </p:cNvPr>
          <p:cNvGrpSpPr/>
          <p:nvPr/>
        </p:nvGrpSpPr>
        <p:grpSpPr>
          <a:xfrm>
            <a:off x="9939297" y="2360697"/>
            <a:ext cx="2219484" cy="3162170"/>
            <a:chOff x="9939297" y="2360697"/>
            <a:chExt cx="2219484" cy="3162170"/>
          </a:xfrm>
        </p:grpSpPr>
        <p:pic>
          <p:nvPicPr>
            <p:cNvPr id="24" name="Picture 23">
              <a:extLst>
                <a:ext uri="{FF2B5EF4-FFF2-40B4-BE49-F238E27FC236}">
                  <a16:creationId xmlns:a16="http://schemas.microsoft.com/office/drawing/2014/main" id="{1E515CE9-CCDF-57BC-91F2-70660C012DAA}"/>
                </a:ext>
              </a:extLst>
            </p:cNvPr>
            <p:cNvPicPr>
              <a:picLocks noChangeAspect="1"/>
            </p:cNvPicPr>
            <p:nvPr/>
          </p:nvPicPr>
          <p:blipFill>
            <a:blip r:embed="rId3"/>
            <a:stretch>
              <a:fillRect/>
            </a:stretch>
          </p:blipFill>
          <p:spPr>
            <a:xfrm>
              <a:off x="9939297" y="3770148"/>
              <a:ext cx="1976903" cy="1752719"/>
            </a:xfrm>
            <a:prstGeom prst="rect">
              <a:avLst/>
            </a:prstGeom>
          </p:spPr>
        </p:pic>
        <p:sp>
          <p:nvSpPr>
            <p:cNvPr id="25" name="TextBox 24">
              <a:extLst>
                <a:ext uri="{FF2B5EF4-FFF2-40B4-BE49-F238E27FC236}">
                  <a16:creationId xmlns:a16="http://schemas.microsoft.com/office/drawing/2014/main" id="{729EBBD0-F785-B8A2-800C-72261D17BA90}"/>
                </a:ext>
              </a:extLst>
            </p:cNvPr>
            <p:cNvSpPr txBox="1"/>
            <p:nvPr/>
          </p:nvSpPr>
          <p:spPr>
            <a:xfrm>
              <a:off x="9982850" y="2360697"/>
              <a:ext cx="2175931" cy="1569660"/>
            </a:xfrm>
            <a:prstGeom prst="rect">
              <a:avLst/>
            </a:prstGeom>
            <a:noFill/>
          </p:spPr>
          <p:txBody>
            <a:bodyPr wrap="square" rtlCol="0">
              <a:spAutoFit/>
            </a:bodyPr>
            <a:lstStyle/>
            <a:p>
              <a:pPr algn="ctr"/>
              <a:r>
                <a:rPr lang="en-US" sz="2400" dirty="0">
                  <a:solidFill>
                    <a:srgbClr val="0070C0"/>
                  </a:solidFill>
                </a:rPr>
                <a:t>What would synthetic controls do here?</a:t>
              </a:r>
              <a:endParaRPr lang="en-US" sz="2400" b="1" dirty="0">
                <a:solidFill>
                  <a:srgbClr val="0070C0"/>
                </a:solidFill>
              </a:endParaRPr>
            </a:p>
          </p:txBody>
        </p:sp>
      </p:grpSp>
    </p:spTree>
    <p:extLst>
      <p:ext uri="{BB962C8B-B14F-4D97-AF65-F5344CB8AC3E}">
        <p14:creationId xmlns:p14="http://schemas.microsoft.com/office/powerpoint/2010/main" val="23618070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D4D3C8-670D-CAE0-4F5B-1BA62B6135AD}"/>
              </a:ext>
            </a:extLst>
          </p:cNvPr>
          <p:cNvSpPr>
            <a:spLocks noGrp="1"/>
          </p:cNvSpPr>
          <p:nvPr>
            <p:ph type="title"/>
          </p:nvPr>
        </p:nvSpPr>
        <p:spPr/>
        <p:txBody>
          <a:bodyPr/>
          <a:lstStyle/>
          <a:p>
            <a:r>
              <a:rPr lang="en-US" dirty="0"/>
              <a:t>Synthetic controls generalizes </a:t>
            </a:r>
            <a:r>
              <a:rPr lang="en-US" dirty="0" err="1"/>
              <a:t>DiD</a:t>
            </a:r>
            <a:endParaRPr lang="en-US" dirty="0"/>
          </a:p>
        </p:txBody>
      </p:sp>
      <p:sp>
        <p:nvSpPr>
          <p:cNvPr id="3" name="Content Placeholder 2">
            <a:extLst>
              <a:ext uri="{FF2B5EF4-FFF2-40B4-BE49-F238E27FC236}">
                <a16:creationId xmlns:a16="http://schemas.microsoft.com/office/drawing/2014/main" id="{E5284291-9ED7-6956-07EE-FBDEC8718E50}"/>
              </a:ext>
            </a:extLst>
          </p:cNvPr>
          <p:cNvSpPr>
            <a:spLocks noGrp="1"/>
          </p:cNvSpPr>
          <p:nvPr>
            <p:ph idx="1"/>
          </p:nvPr>
        </p:nvSpPr>
        <p:spPr>
          <a:xfrm>
            <a:off x="838200" y="1594479"/>
            <a:ext cx="10515600" cy="4351338"/>
          </a:xfrm>
        </p:spPr>
        <p:txBody>
          <a:bodyPr/>
          <a:lstStyle/>
          <a:p>
            <a:r>
              <a:rPr lang="en-US" dirty="0"/>
              <a:t>Suppose parallel trends did hold:</a:t>
            </a:r>
            <a:endParaRPr lang="en-US" b="1" dirty="0"/>
          </a:p>
        </p:txBody>
      </p:sp>
      <p:cxnSp>
        <p:nvCxnSpPr>
          <p:cNvPr id="5" name="Straight Arrow Connector 4">
            <a:extLst>
              <a:ext uri="{FF2B5EF4-FFF2-40B4-BE49-F238E27FC236}">
                <a16:creationId xmlns:a16="http://schemas.microsoft.com/office/drawing/2014/main" id="{2DC72836-9BA8-6566-37EC-C8B7FC35E3EA}"/>
              </a:ext>
            </a:extLst>
          </p:cNvPr>
          <p:cNvCxnSpPr/>
          <p:nvPr/>
        </p:nvCxnSpPr>
        <p:spPr>
          <a:xfrm>
            <a:off x="1862357" y="5398956"/>
            <a:ext cx="5965518" cy="0"/>
          </a:xfrm>
          <a:prstGeom prst="straightConnector1">
            <a:avLst/>
          </a:prstGeom>
          <a:ln w="38100">
            <a:tailEnd type="triangle"/>
          </a:ln>
        </p:spPr>
        <p:style>
          <a:lnRef idx="2">
            <a:schemeClr val="accent1"/>
          </a:lnRef>
          <a:fillRef idx="0">
            <a:schemeClr val="accent1"/>
          </a:fillRef>
          <a:effectRef idx="1">
            <a:schemeClr val="accent1"/>
          </a:effectRef>
          <a:fontRef idx="minor">
            <a:schemeClr val="tx1"/>
          </a:fontRef>
        </p:style>
      </p:cxnSp>
      <p:cxnSp>
        <p:nvCxnSpPr>
          <p:cNvPr id="6" name="Straight Arrow Connector 5">
            <a:extLst>
              <a:ext uri="{FF2B5EF4-FFF2-40B4-BE49-F238E27FC236}">
                <a16:creationId xmlns:a16="http://schemas.microsoft.com/office/drawing/2014/main" id="{F5BC8EC4-9B36-2437-4B89-4E0A3893D10E}"/>
              </a:ext>
            </a:extLst>
          </p:cNvPr>
          <p:cNvCxnSpPr>
            <a:cxnSpLocks/>
          </p:cNvCxnSpPr>
          <p:nvPr/>
        </p:nvCxnSpPr>
        <p:spPr>
          <a:xfrm flipV="1">
            <a:off x="1862357" y="2746709"/>
            <a:ext cx="0" cy="2652247"/>
          </a:xfrm>
          <a:prstGeom prst="straightConnector1">
            <a:avLst/>
          </a:prstGeom>
          <a:ln w="38100">
            <a:tailEnd type="triangle"/>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F5EBB77C-9CC8-1843-D063-A5841F9D504D}"/>
              </a:ext>
            </a:extLst>
          </p:cNvPr>
          <p:cNvSpPr txBox="1"/>
          <p:nvPr/>
        </p:nvSpPr>
        <p:spPr>
          <a:xfrm>
            <a:off x="7282493" y="5438027"/>
            <a:ext cx="545382" cy="301189"/>
          </a:xfrm>
          <a:prstGeom prst="rect">
            <a:avLst/>
          </a:prstGeom>
          <a:noFill/>
        </p:spPr>
        <p:txBody>
          <a:bodyPr wrap="none" rtlCol="0">
            <a:spAutoFit/>
          </a:bodyPr>
          <a:lstStyle/>
          <a:p>
            <a:r>
              <a:rPr lang="en-US" dirty="0">
                <a:solidFill>
                  <a:schemeClr val="accent1"/>
                </a:solidFill>
              </a:rPr>
              <a:t>Time</a:t>
            </a:r>
          </a:p>
        </p:txBody>
      </p:sp>
      <p:sp>
        <p:nvSpPr>
          <p:cNvPr id="8" name="TextBox 7">
            <a:extLst>
              <a:ext uri="{FF2B5EF4-FFF2-40B4-BE49-F238E27FC236}">
                <a16:creationId xmlns:a16="http://schemas.microsoft.com/office/drawing/2014/main" id="{DAD5D569-0078-0257-8A84-58543165D34A}"/>
              </a:ext>
            </a:extLst>
          </p:cNvPr>
          <p:cNvSpPr txBox="1"/>
          <p:nvPr/>
        </p:nvSpPr>
        <p:spPr>
          <a:xfrm>
            <a:off x="280035" y="2597046"/>
            <a:ext cx="1506069" cy="646331"/>
          </a:xfrm>
          <a:prstGeom prst="rect">
            <a:avLst/>
          </a:prstGeom>
          <a:noFill/>
        </p:spPr>
        <p:txBody>
          <a:bodyPr wrap="square" rtlCol="0">
            <a:spAutoFit/>
          </a:bodyPr>
          <a:lstStyle/>
          <a:p>
            <a:pPr algn="r"/>
            <a:r>
              <a:rPr lang="en-US" dirty="0">
                <a:solidFill>
                  <a:schemeClr val="accent1"/>
                </a:solidFill>
              </a:rPr>
              <a:t>Cigarette sales</a:t>
            </a:r>
          </a:p>
        </p:txBody>
      </p:sp>
      <p:sp>
        <p:nvSpPr>
          <p:cNvPr id="9" name="TextBox 8">
            <a:extLst>
              <a:ext uri="{FF2B5EF4-FFF2-40B4-BE49-F238E27FC236}">
                <a16:creationId xmlns:a16="http://schemas.microsoft.com/office/drawing/2014/main" id="{9034F616-CB7A-67AA-0D93-701C87CD87FA}"/>
              </a:ext>
            </a:extLst>
          </p:cNvPr>
          <p:cNvSpPr txBox="1"/>
          <p:nvPr/>
        </p:nvSpPr>
        <p:spPr>
          <a:xfrm>
            <a:off x="3988289" y="5595160"/>
            <a:ext cx="1681371" cy="646331"/>
          </a:xfrm>
          <a:prstGeom prst="rect">
            <a:avLst/>
          </a:prstGeom>
          <a:noFill/>
        </p:spPr>
        <p:txBody>
          <a:bodyPr wrap="square" rtlCol="0">
            <a:spAutoFit/>
          </a:bodyPr>
          <a:lstStyle/>
          <a:p>
            <a:pPr algn="ctr"/>
            <a:r>
              <a:rPr lang="en-US" dirty="0">
                <a:solidFill>
                  <a:schemeClr val="accent1"/>
                </a:solidFill>
              </a:rPr>
              <a:t>Prop. 99 enacted</a:t>
            </a:r>
          </a:p>
        </p:txBody>
      </p:sp>
      <p:cxnSp>
        <p:nvCxnSpPr>
          <p:cNvPr id="10" name="Straight Connector 9">
            <a:extLst>
              <a:ext uri="{FF2B5EF4-FFF2-40B4-BE49-F238E27FC236}">
                <a16:creationId xmlns:a16="http://schemas.microsoft.com/office/drawing/2014/main" id="{6A61747D-941D-75E5-7B3E-62E6A60F90F6}"/>
              </a:ext>
            </a:extLst>
          </p:cNvPr>
          <p:cNvCxnSpPr>
            <a:cxnSpLocks/>
            <a:stCxn id="9" idx="0"/>
          </p:cNvCxnSpPr>
          <p:nvPr/>
        </p:nvCxnSpPr>
        <p:spPr>
          <a:xfrm flipV="1">
            <a:off x="4828975" y="2515681"/>
            <a:ext cx="40898" cy="3079479"/>
          </a:xfrm>
          <a:prstGeom prst="line">
            <a:avLst/>
          </a:prstGeom>
          <a:ln>
            <a:solidFill>
              <a:schemeClr val="accent1"/>
            </a:solidFill>
            <a:prstDash val="sysDash"/>
          </a:ln>
        </p:spPr>
        <p:style>
          <a:lnRef idx="2">
            <a:schemeClr val="accent1"/>
          </a:lnRef>
          <a:fillRef idx="0">
            <a:schemeClr val="accent1"/>
          </a:fillRef>
          <a:effectRef idx="1">
            <a:schemeClr val="accent1"/>
          </a:effectRef>
          <a:fontRef idx="minor">
            <a:schemeClr val="tx1"/>
          </a:fontRef>
        </p:style>
      </p:cxnSp>
      <p:sp>
        <p:nvSpPr>
          <p:cNvPr id="11" name="Freeform 10">
            <a:extLst>
              <a:ext uri="{FF2B5EF4-FFF2-40B4-BE49-F238E27FC236}">
                <a16:creationId xmlns:a16="http://schemas.microsoft.com/office/drawing/2014/main" id="{6337BD84-7A07-96B4-00EB-17D5D994C482}"/>
              </a:ext>
            </a:extLst>
          </p:cNvPr>
          <p:cNvSpPr/>
          <p:nvPr/>
        </p:nvSpPr>
        <p:spPr>
          <a:xfrm>
            <a:off x="1832857" y="2793964"/>
            <a:ext cx="3023719" cy="810410"/>
          </a:xfrm>
          <a:custGeom>
            <a:avLst/>
            <a:gdLst>
              <a:gd name="connsiteX0" fmla="*/ 0 w 3563471"/>
              <a:gd name="connsiteY0" fmla="*/ 955073 h 955073"/>
              <a:gd name="connsiteX1" fmla="*/ 564777 w 3563471"/>
              <a:gd name="connsiteY1" fmla="*/ 457532 h 955073"/>
              <a:gd name="connsiteX2" fmla="*/ 927847 w 3563471"/>
              <a:gd name="connsiteY2" fmla="*/ 726473 h 955073"/>
              <a:gd name="connsiteX3" fmla="*/ 1815353 w 3563471"/>
              <a:gd name="connsiteY3" fmla="*/ 332 h 955073"/>
              <a:gd name="connsiteX4" fmla="*/ 2622177 w 3563471"/>
              <a:gd name="connsiteY4" fmla="*/ 632343 h 955073"/>
              <a:gd name="connsiteX5" fmla="*/ 3065930 w 3563471"/>
              <a:gd name="connsiteY5" fmla="*/ 618896 h 955073"/>
              <a:gd name="connsiteX6" fmla="*/ 3348318 w 3563471"/>
              <a:gd name="connsiteY6" fmla="*/ 107908 h 955073"/>
              <a:gd name="connsiteX7" fmla="*/ 3563471 w 3563471"/>
              <a:gd name="connsiteY7" fmla="*/ 309614 h 9550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63471" h="955073">
                <a:moveTo>
                  <a:pt x="0" y="955073"/>
                </a:moveTo>
                <a:cubicBezTo>
                  <a:pt x="205068" y="725352"/>
                  <a:pt x="410136" y="495632"/>
                  <a:pt x="564777" y="457532"/>
                </a:cubicBezTo>
                <a:cubicBezTo>
                  <a:pt x="719418" y="419432"/>
                  <a:pt x="719418" y="802673"/>
                  <a:pt x="927847" y="726473"/>
                </a:cubicBezTo>
                <a:cubicBezTo>
                  <a:pt x="1136276" y="650273"/>
                  <a:pt x="1532965" y="16020"/>
                  <a:pt x="1815353" y="332"/>
                </a:cubicBezTo>
                <a:cubicBezTo>
                  <a:pt x="2097741" y="-15356"/>
                  <a:pt x="2413748" y="529249"/>
                  <a:pt x="2622177" y="632343"/>
                </a:cubicBezTo>
                <a:cubicBezTo>
                  <a:pt x="2830606" y="735437"/>
                  <a:pt x="2944907" y="706302"/>
                  <a:pt x="3065930" y="618896"/>
                </a:cubicBezTo>
                <a:cubicBezTo>
                  <a:pt x="3186953" y="531490"/>
                  <a:pt x="3265395" y="159455"/>
                  <a:pt x="3348318" y="107908"/>
                </a:cubicBezTo>
                <a:cubicBezTo>
                  <a:pt x="3431242" y="56361"/>
                  <a:pt x="3497356" y="182987"/>
                  <a:pt x="3563471" y="309614"/>
                </a:cubicBezTo>
              </a:path>
            </a:pathLst>
          </a:custGeom>
          <a:noFill/>
          <a:ln w="3810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11">
            <a:extLst>
              <a:ext uri="{FF2B5EF4-FFF2-40B4-BE49-F238E27FC236}">
                <a16:creationId xmlns:a16="http://schemas.microsoft.com/office/drawing/2014/main" id="{240F20DB-2DD8-95B3-95F5-2E2F61DA74EC}"/>
              </a:ext>
            </a:extLst>
          </p:cNvPr>
          <p:cNvSpPr/>
          <p:nvPr/>
        </p:nvSpPr>
        <p:spPr>
          <a:xfrm>
            <a:off x="1832857" y="3243377"/>
            <a:ext cx="3023719" cy="810410"/>
          </a:xfrm>
          <a:custGeom>
            <a:avLst/>
            <a:gdLst>
              <a:gd name="connsiteX0" fmla="*/ 0 w 3563471"/>
              <a:gd name="connsiteY0" fmla="*/ 955073 h 955073"/>
              <a:gd name="connsiteX1" fmla="*/ 564777 w 3563471"/>
              <a:gd name="connsiteY1" fmla="*/ 457532 h 955073"/>
              <a:gd name="connsiteX2" fmla="*/ 927847 w 3563471"/>
              <a:gd name="connsiteY2" fmla="*/ 726473 h 955073"/>
              <a:gd name="connsiteX3" fmla="*/ 1815353 w 3563471"/>
              <a:gd name="connsiteY3" fmla="*/ 332 h 955073"/>
              <a:gd name="connsiteX4" fmla="*/ 2622177 w 3563471"/>
              <a:gd name="connsiteY4" fmla="*/ 632343 h 955073"/>
              <a:gd name="connsiteX5" fmla="*/ 3065930 w 3563471"/>
              <a:gd name="connsiteY5" fmla="*/ 618896 h 955073"/>
              <a:gd name="connsiteX6" fmla="*/ 3348318 w 3563471"/>
              <a:gd name="connsiteY6" fmla="*/ 107908 h 955073"/>
              <a:gd name="connsiteX7" fmla="*/ 3563471 w 3563471"/>
              <a:gd name="connsiteY7" fmla="*/ 309614 h 9550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63471" h="955073">
                <a:moveTo>
                  <a:pt x="0" y="955073"/>
                </a:moveTo>
                <a:cubicBezTo>
                  <a:pt x="205068" y="725352"/>
                  <a:pt x="410136" y="495632"/>
                  <a:pt x="564777" y="457532"/>
                </a:cubicBezTo>
                <a:cubicBezTo>
                  <a:pt x="719418" y="419432"/>
                  <a:pt x="719418" y="802673"/>
                  <a:pt x="927847" y="726473"/>
                </a:cubicBezTo>
                <a:cubicBezTo>
                  <a:pt x="1136276" y="650273"/>
                  <a:pt x="1532965" y="16020"/>
                  <a:pt x="1815353" y="332"/>
                </a:cubicBezTo>
                <a:cubicBezTo>
                  <a:pt x="2097741" y="-15356"/>
                  <a:pt x="2413748" y="529249"/>
                  <a:pt x="2622177" y="632343"/>
                </a:cubicBezTo>
                <a:cubicBezTo>
                  <a:pt x="2830606" y="735437"/>
                  <a:pt x="2944907" y="706302"/>
                  <a:pt x="3065930" y="618896"/>
                </a:cubicBezTo>
                <a:cubicBezTo>
                  <a:pt x="3186953" y="531490"/>
                  <a:pt x="3265395" y="159455"/>
                  <a:pt x="3348318" y="107908"/>
                </a:cubicBezTo>
                <a:cubicBezTo>
                  <a:pt x="3431242" y="56361"/>
                  <a:pt x="3497356" y="182987"/>
                  <a:pt x="3563471" y="309614"/>
                </a:cubicBezTo>
              </a:path>
            </a:pathLst>
          </a:custGeom>
          <a:noFill/>
          <a:ln w="3810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12">
            <a:extLst>
              <a:ext uri="{FF2B5EF4-FFF2-40B4-BE49-F238E27FC236}">
                <a16:creationId xmlns:a16="http://schemas.microsoft.com/office/drawing/2014/main" id="{13FD8554-6E2F-1866-8C5B-B39956EF9728}"/>
              </a:ext>
            </a:extLst>
          </p:cNvPr>
          <p:cNvSpPr/>
          <p:nvPr/>
        </p:nvSpPr>
        <p:spPr>
          <a:xfrm>
            <a:off x="4845165" y="3513090"/>
            <a:ext cx="3126411" cy="1156455"/>
          </a:xfrm>
          <a:custGeom>
            <a:avLst/>
            <a:gdLst>
              <a:gd name="connsiteX0" fmla="*/ 0 w 3684494"/>
              <a:gd name="connsiteY0" fmla="*/ 0 h 1362889"/>
              <a:gd name="connsiteX1" fmla="*/ 242047 w 3684494"/>
              <a:gd name="connsiteY1" fmla="*/ 1210235 h 1362889"/>
              <a:gd name="connsiteX2" fmla="*/ 591670 w 3684494"/>
              <a:gd name="connsiteY2" fmla="*/ 1317811 h 1362889"/>
              <a:gd name="connsiteX3" fmla="*/ 995082 w 3684494"/>
              <a:gd name="connsiteY3" fmla="*/ 954741 h 1362889"/>
              <a:gd name="connsiteX4" fmla="*/ 1936376 w 3684494"/>
              <a:gd name="connsiteY4" fmla="*/ 1169894 h 1362889"/>
              <a:gd name="connsiteX5" fmla="*/ 2756647 w 3684494"/>
              <a:gd name="connsiteY5" fmla="*/ 685800 h 1362889"/>
              <a:gd name="connsiteX6" fmla="*/ 3684494 w 3684494"/>
              <a:gd name="connsiteY6" fmla="*/ 1250576 h 1362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84494" h="1362889">
                <a:moveTo>
                  <a:pt x="0" y="0"/>
                </a:moveTo>
                <a:cubicBezTo>
                  <a:pt x="71717" y="495300"/>
                  <a:pt x="143435" y="990600"/>
                  <a:pt x="242047" y="1210235"/>
                </a:cubicBezTo>
                <a:cubicBezTo>
                  <a:pt x="340659" y="1429870"/>
                  <a:pt x="466164" y="1360393"/>
                  <a:pt x="591670" y="1317811"/>
                </a:cubicBezTo>
                <a:cubicBezTo>
                  <a:pt x="717176" y="1275229"/>
                  <a:pt x="770964" y="979394"/>
                  <a:pt x="995082" y="954741"/>
                </a:cubicBezTo>
                <a:cubicBezTo>
                  <a:pt x="1219200" y="930088"/>
                  <a:pt x="1642782" y="1214718"/>
                  <a:pt x="1936376" y="1169894"/>
                </a:cubicBezTo>
                <a:cubicBezTo>
                  <a:pt x="2229970" y="1125071"/>
                  <a:pt x="2465294" y="672353"/>
                  <a:pt x="2756647" y="685800"/>
                </a:cubicBezTo>
                <a:cubicBezTo>
                  <a:pt x="3048000" y="699247"/>
                  <a:pt x="3366247" y="974911"/>
                  <a:pt x="3684494" y="1250576"/>
                </a:cubicBezTo>
              </a:path>
            </a:pathLst>
          </a:custGeom>
          <a:noFill/>
          <a:ln w="38100">
            <a:solidFill>
              <a:schemeClr val="accent4">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13">
            <a:extLst>
              <a:ext uri="{FF2B5EF4-FFF2-40B4-BE49-F238E27FC236}">
                <a16:creationId xmlns:a16="http://schemas.microsoft.com/office/drawing/2014/main" id="{2CDBA767-74FE-D188-FF1C-8B7C4739B2BB}"/>
              </a:ext>
            </a:extLst>
          </p:cNvPr>
          <p:cNvSpPr/>
          <p:nvPr/>
        </p:nvSpPr>
        <p:spPr>
          <a:xfrm>
            <a:off x="4849798" y="2758321"/>
            <a:ext cx="2978077" cy="567327"/>
          </a:xfrm>
          <a:custGeom>
            <a:avLst/>
            <a:gdLst>
              <a:gd name="connsiteX0" fmla="*/ 0 w 3684494"/>
              <a:gd name="connsiteY0" fmla="*/ 0 h 1362889"/>
              <a:gd name="connsiteX1" fmla="*/ 242047 w 3684494"/>
              <a:gd name="connsiteY1" fmla="*/ 1210235 h 1362889"/>
              <a:gd name="connsiteX2" fmla="*/ 591670 w 3684494"/>
              <a:gd name="connsiteY2" fmla="*/ 1317811 h 1362889"/>
              <a:gd name="connsiteX3" fmla="*/ 995082 w 3684494"/>
              <a:gd name="connsiteY3" fmla="*/ 954741 h 1362889"/>
              <a:gd name="connsiteX4" fmla="*/ 1936376 w 3684494"/>
              <a:gd name="connsiteY4" fmla="*/ 1169894 h 1362889"/>
              <a:gd name="connsiteX5" fmla="*/ 2756647 w 3684494"/>
              <a:gd name="connsiteY5" fmla="*/ 685800 h 1362889"/>
              <a:gd name="connsiteX6" fmla="*/ 3684494 w 3684494"/>
              <a:gd name="connsiteY6" fmla="*/ 1250576 h 1362889"/>
              <a:gd name="connsiteX0" fmla="*/ 0 w 3509682"/>
              <a:gd name="connsiteY0" fmla="*/ 329030 h 642634"/>
              <a:gd name="connsiteX1" fmla="*/ 67235 w 3509682"/>
              <a:gd name="connsiteY1" fmla="*/ 524729 h 642634"/>
              <a:gd name="connsiteX2" fmla="*/ 416858 w 3509682"/>
              <a:gd name="connsiteY2" fmla="*/ 632305 h 642634"/>
              <a:gd name="connsiteX3" fmla="*/ 820270 w 3509682"/>
              <a:gd name="connsiteY3" fmla="*/ 269235 h 642634"/>
              <a:gd name="connsiteX4" fmla="*/ 1761564 w 3509682"/>
              <a:gd name="connsiteY4" fmla="*/ 484388 h 642634"/>
              <a:gd name="connsiteX5" fmla="*/ 2581835 w 3509682"/>
              <a:gd name="connsiteY5" fmla="*/ 294 h 642634"/>
              <a:gd name="connsiteX6" fmla="*/ 3509682 w 3509682"/>
              <a:gd name="connsiteY6" fmla="*/ 565070 h 642634"/>
              <a:gd name="connsiteX0" fmla="*/ 0 w 3509682"/>
              <a:gd name="connsiteY0" fmla="*/ 329030 h 649534"/>
              <a:gd name="connsiteX1" fmla="*/ 155725 w 3509682"/>
              <a:gd name="connsiteY1" fmla="*/ 564292 h 649534"/>
              <a:gd name="connsiteX2" fmla="*/ 416858 w 3509682"/>
              <a:gd name="connsiteY2" fmla="*/ 632305 h 649534"/>
              <a:gd name="connsiteX3" fmla="*/ 820270 w 3509682"/>
              <a:gd name="connsiteY3" fmla="*/ 269235 h 649534"/>
              <a:gd name="connsiteX4" fmla="*/ 1761564 w 3509682"/>
              <a:gd name="connsiteY4" fmla="*/ 484388 h 649534"/>
              <a:gd name="connsiteX5" fmla="*/ 2581835 w 3509682"/>
              <a:gd name="connsiteY5" fmla="*/ 294 h 649534"/>
              <a:gd name="connsiteX6" fmla="*/ 3509682 w 3509682"/>
              <a:gd name="connsiteY6" fmla="*/ 565070 h 649534"/>
              <a:gd name="connsiteX0" fmla="*/ 23604 w 3533286"/>
              <a:gd name="connsiteY0" fmla="*/ 329030 h 658850"/>
              <a:gd name="connsiteX1" fmla="*/ 179329 w 3533286"/>
              <a:gd name="connsiteY1" fmla="*/ 564292 h 658850"/>
              <a:gd name="connsiteX2" fmla="*/ 440462 w 3533286"/>
              <a:gd name="connsiteY2" fmla="*/ 632305 h 658850"/>
              <a:gd name="connsiteX3" fmla="*/ 843874 w 3533286"/>
              <a:gd name="connsiteY3" fmla="*/ 269235 h 658850"/>
              <a:gd name="connsiteX4" fmla="*/ 1785168 w 3533286"/>
              <a:gd name="connsiteY4" fmla="*/ 484388 h 658850"/>
              <a:gd name="connsiteX5" fmla="*/ 2605439 w 3533286"/>
              <a:gd name="connsiteY5" fmla="*/ 294 h 658850"/>
              <a:gd name="connsiteX6" fmla="*/ 3533286 w 3533286"/>
              <a:gd name="connsiteY6" fmla="*/ 565070 h 658850"/>
              <a:gd name="connsiteX0" fmla="*/ 0 w 3509682"/>
              <a:gd name="connsiteY0" fmla="*/ 329030 h 654436"/>
              <a:gd name="connsiteX1" fmla="*/ 155725 w 3509682"/>
              <a:gd name="connsiteY1" fmla="*/ 564292 h 654436"/>
              <a:gd name="connsiteX2" fmla="*/ 416858 w 3509682"/>
              <a:gd name="connsiteY2" fmla="*/ 632305 h 654436"/>
              <a:gd name="connsiteX3" fmla="*/ 820270 w 3509682"/>
              <a:gd name="connsiteY3" fmla="*/ 269235 h 654436"/>
              <a:gd name="connsiteX4" fmla="*/ 1761564 w 3509682"/>
              <a:gd name="connsiteY4" fmla="*/ 484388 h 654436"/>
              <a:gd name="connsiteX5" fmla="*/ 2581835 w 3509682"/>
              <a:gd name="connsiteY5" fmla="*/ 294 h 654436"/>
              <a:gd name="connsiteX6" fmla="*/ 3509682 w 3509682"/>
              <a:gd name="connsiteY6" fmla="*/ 565070 h 654436"/>
              <a:gd name="connsiteX0" fmla="*/ 0 w 3509682"/>
              <a:gd name="connsiteY0" fmla="*/ 329030 h 644884"/>
              <a:gd name="connsiteX1" fmla="*/ 155725 w 3509682"/>
              <a:gd name="connsiteY1" fmla="*/ 564292 h 644884"/>
              <a:gd name="connsiteX2" fmla="*/ 416858 w 3509682"/>
              <a:gd name="connsiteY2" fmla="*/ 632305 h 644884"/>
              <a:gd name="connsiteX3" fmla="*/ 820270 w 3509682"/>
              <a:gd name="connsiteY3" fmla="*/ 269235 h 644884"/>
              <a:gd name="connsiteX4" fmla="*/ 1761564 w 3509682"/>
              <a:gd name="connsiteY4" fmla="*/ 484388 h 644884"/>
              <a:gd name="connsiteX5" fmla="*/ 2581835 w 3509682"/>
              <a:gd name="connsiteY5" fmla="*/ 294 h 644884"/>
              <a:gd name="connsiteX6" fmla="*/ 3509682 w 3509682"/>
              <a:gd name="connsiteY6" fmla="*/ 565070 h 644884"/>
              <a:gd name="connsiteX0" fmla="*/ 0 w 3509682"/>
              <a:gd name="connsiteY0" fmla="*/ 329030 h 667105"/>
              <a:gd name="connsiteX1" fmla="*/ 160343 w 3509682"/>
              <a:gd name="connsiteY1" fmla="*/ 633976 h 667105"/>
              <a:gd name="connsiteX2" fmla="*/ 416858 w 3509682"/>
              <a:gd name="connsiteY2" fmla="*/ 632305 h 667105"/>
              <a:gd name="connsiteX3" fmla="*/ 820270 w 3509682"/>
              <a:gd name="connsiteY3" fmla="*/ 269235 h 667105"/>
              <a:gd name="connsiteX4" fmla="*/ 1761564 w 3509682"/>
              <a:gd name="connsiteY4" fmla="*/ 484388 h 667105"/>
              <a:gd name="connsiteX5" fmla="*/ 2581835 w 3509682"/>
              <a:gd name="connsiteY5" fmla="*/ 294 h 667105"/>
              <a:gd name="connsiteX6" fmla="*/ 3509682 w 3509682"/>
              <a:gd name="connsiteY6" fmla="*/ 565070 h 667105"/>
              <a:gd name="connsiteX0" fmla="*/ 0 w 3509682"/>
              <a:gd name="connsiteY0" fmla="*/ 329030 h 672580"/>
              <a:gd name="connsiteX1" fmla="*/ 160343 w 3509682"/>
              <a:gd name="connsiteY1" fmla="*/ 633976 h 672580"/>
              <a:gd name="connsiteX2" fmla="*/ 416858 w 3509682"/>
              <a:gd name="connsiteY2" fmla="*/ 632305 h 672580"/>
              <a:gd name="connsiteX3" fmla="*/ 820270 w 3509682"/>
              <a:gd name="connsiteY3" fmla="*/ 269235 h 672580"/>
              <a:gd name="connsiteX4" fmla="*/ 1761564 w 3509682"/>
              <a:gd name="connsiteY4" fmla="*/ 484388 h 672580"/>
              <a:gd name="connsiteX5" fmla="*/ 2581835 w 3509682"/>
              <a:gd name="connsiteY5" fmla="*/ 294 h 672580"/>
              <a:gd name="connsiteX6" fmla="*/ 3509682 w 3509682"/>
              <a:gd name="connsiteY6" fmla="*/ 565070 h 672580"/>
              <a:gd name="connsiteX0" fmla="*/ 0 w 3509682"/>
              <a:gd name="connsiteY0" fmla="*/ 329030 h 672580"/>
              <a:gd name="connsiteX1" fmla="*/ 160343 w 3509682"/>
              <a:gd name="connsiteY1" fmla="*/ 633976 h 672580"/>
              <a:gd name="connsiteX2" fmla="*/ 416858 w 3509682"/>
              <a:gd name="connsiteY2" fmla="*/ 632305 h 672580"/>
              <a:gd name="connsiteX3" fmla="*/ 820270 w 3509682"/>
              <a:gd name="connsiteY3" fmla="*/ 269235 h 672580"/>
              <a:gd name="connsiteX4" fmla="*/ 1761564 w 3509682"/>
              <a:gd name="connsiteY4" fmla="*/ 484388 h 672580"/>
              <a:gd name="connsiteX5" fmla="*/ 2581835 w 3509682"/>
              <a:gd name="connsiteY5" fmla="*/ 294 h 672580"/>
              <a:gd name="connsiteX6" fmla="*/ 3509682 w 3509682"/>
              <a:gd name="connsiteY6" fmla="*/ 565070 h 672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9682" h="672580">
                <a:moveTo>
                  <a:pt x="0" y="329030"/>
                </a:moveTo>
                <a:cubicBezTo>
                  <a:pt x="117899" y="601337"/>
                  <a:pt x="69862" y="590023"/>
                  <a:pt x="160343" y="633976"/>
                </a:cubicBezTo>
                <a:cubicBezTo>
                  <a:pt x="250824" y="677929"/>
                  <a:pt x="306870" y="693095"/>
                  <a:pt x="416858" y="632305"/>
                </a:cubicBezTo>
                <a:cubicBezTo>
                  <a:pt x="526846" y="571515"/>
                  <a:pt x="596152" y="293888"/>
                  <a:pt x="820270" y="269235"/>
                </a:cubicBezTo>
                <a:cubicBezTo>
                  <a:pt x="1044388" y="244582"/>
                  <a:pt x="1467970" y="529212"/>
                  <a:pt x="1761564" y="484388"/>
                </a:cubicBezTo>
                <a:cubicBezTo>
                  <a:pt x="2055158" y="439565"/>
                  <a:pt x="2290482" y="-13153"/>
                  <a:pt x="2581835" y="294"/>
                </a:cubicBezTo>
                <a:cubicBezTo>
                  <a:pt x="2873188" y="13741"/>
                  <a:pt x="3191435" y="289405"/>
                  <a:pt x="3509682" y="565070"/>
                </a:cubicBezTo>
              </a:path>
            </a:pathLst>
          </a:custGeom>
          <a:noFill/>
          <a:ln w="38100">
            <a:solidFill>
              <a:schemeClr val="accent5">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TextBox 16">
            <a:extLst>
              <a:ext uri="{FF2B5EF4-FFF2-40B4-BE49-F238E27FC236}">
                <a16:creationId xmlns:a16="http://schemas.microsoft.com/office/drawing/2014/main" id="{63710CA7-4DC2-E68E-EBF4-68776A168B01}"/>
              </a:ext>
            </a:extLst>
          </p:cNvPr>
          <p:cNvSpPr txBox="1"/>
          <p:nvPr/>
        </p:nvSpPr>
        <p:spPr>
          <a:xfrm>
            <a:off x="7971576" y="4453665"/>
            <a:ext cx="1563599" cy="499409"/>
          </a:xfrm>
          <a:prstGeom prst="rect">
            <a:avLst/>
          </a:prstGeom>
          <a:noFill/>
        </p:spPr>
        <p:txBody>
          <a:bodyPr wrap="none" rtlCol="0">
            <a:spAutoFit/>
          </a:bodyPr>
          <a:lstStyle/>
          <a:p>
            <a:r>
              <a:rPr lang="en-US" dirty="0">
                <a:solidFill>
                  <a:schemeClr val="accent4"/>
                </a:solidFill>
              </a:rPr>
              <a:t>California</a:t>
            </a:r>
          </a:p>
        </p:txBody>
      </p:sp>
      <p:sp>
        <p:nvSpPr>
          <p:cNvPr id="18" name="TextBox 17">
            <a:extLst>
              <a:ext uri="{FF2B5EF4-FFF2-40B4-BE49-F238E27FC236}">
                <a16:creationId xmlns:a16="http://schemas.microsoft.com/office/drawing/2014/main" id="{623D12ED-233B-FD86-0C1F-3163D1456EFF}"/>
              </a:ext>
            </a:extLst>
          </p:cNvPr>
          <p:cNvSpPr txBox="1"/>
          <p:nvPr/>
        </p:nvSpPr>
        <p:spPr>
          <a:xfrm>
            <a:off x="7827874" y="3060059"/>
            <a:ext cx="1497619" cy="499409"/>
          </a:xfrm>
          <a:prstGeom prst="rect">
            <a:avLst/>
          </a:prstGeom>
          <a:noFill/>
        </p:spPr>
        <p:txBody>
          <a:bodyPr wrap="none" rtlCol="0">
            <a:spAutoFit/>
          </a:bodyPr>
          <a:lstStyle/>
          <a:p>
            <a:r>
              <a:rPr lang="en-US" dirty="0">
                <a:solidFill>
                  <a:schemeClr val="accent5"/>
                </a:solidFill>
              </a:rPr>
              <a:t>Colorado</a:t>
            </a:r>
          </a:p>
        </p:txBody>
      </p:sp>
      <p:sp>
        <p:nvSpPr>
          <p:cNvPr id="21" name="Freeform 20">
            <a:extLst>
              <a:ext uri="{FF2B5EF4-FFF2-40B4-BE49-F238E27FC236}">
                <a16:creationId xmlns:a16="http://schemas.microsoft.com/office/drawing/2014/main" id="{67A135F9-9614-E460-25E0-B6EF55A67FB8}"/>
              </a:ext>
            </a:extLst>
          </p:cNvPr>
          <p:cNvSpPr/>
          <p:nvPr/>
        </p:nvSpPr>
        <p:spPr>
          <a:xfrm>
            <a:off x="1832856" y="4573207"/>
            <a:ext cx="3023719" cy="810410"/>
          </a:xfrm>
          <a:custGeom>
            <a:avLst/>
            <a:gdLst>
              <a:gd name="connsiteX0" fmla="*/ 0 w 3563471"/>
              <a:gd name="connsiteY0" fmla="*/ 955073 h 955073"/>
              <a:gd name="connsiteX1" fmla="*/ 564777 w 3563471"/>
              <a:gd name="connsiteY1" fmla="*/ 457532 h 955073"/>
              <a:gd name="connsiteX2" fmla="*/ 927847 w 3563471"/>
              <a:gd name="connsiteY2" fmla="*/ 726473 h 955073"/>
              <a:gd name="connsiteX3" fmla="*/ 1815353 w 3563471"/>
              <a:gd name="connsiteY3" fmla="*/ 332 h 955073"/>
              <a:gd name="connsiteX4" fmla="*/ 2622177 w 3563471"/>
              <a:gd name="connsiteY4" fmla="*/ 632343 h 955073"/>
              <a:gd name="connsiteX5" fmla="*/ 3065930 w 3563471"/>
              <a:gd name="connsiteY5" fmla="*/ 618896 h 955073"/>
              <a:gd name="connsiteX6" fmla="*/ 3348318 w 3563471"/>
              <a:gd name="connsiteY6" fmla="*/ 107908 h 955073"/>
              <a:gd name="connsiteX7" fmla="*/ 3563471 w 3563471"/>
              <a:gd name="connsiteY7" fmla="*/ 309614 h 9550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63471" h="955073">
                <a:moveTo>
                  <a:pt x="0" y="955073"/>
                </a:moveTo>
                <a:cubicBezTo>
                  <a:pt x="205068" y="725352"/>
                  <a:pt x="410136" y="495632"/>
                  <a:pt x="564777" y="457532"/>
                </a:cubicBezTo>
                <a:cubicBezTo>
                  <a:pt x="719418" y="419432"/>
                  <a:pt x="719418" y="802673"/>
                  <a:pt x="927847" y="726473"/>
                </a:cubicBezTo>
                <a:cubicBezTo>
                  <a:pt x="1136276" y="650273"/>
                  <a:pt x="1532965" y="16020"/>
                  <a:pt x="1815353" y="332"/>
                </a:cubicBezTo>
                <a:cubicBezTo>
                  <a:pt x="2097741" y="-15356"/>
                  <a:pt x="2413748" y="529249"/>
                  <a:pt x="2622177" y="632343"/>
                </a:cubicBezTo>
                <a:cubicBezTo>
                  <a:pt x="2830606" y="735437"/>
                  <a:pt x="2944907" y="706302"/>
                  <a:pt x="3065930" y="618896"/>
                </a:cubicBezTo>
                <a:cubicBezTo>
                  <a:pt x="3186953" y="531490"/>
                  <a:pt x="3265395" y="159455"/>
                  <a:pt x="3348318" y="107908"/>
                </a:cubicBezTo>
                <a:cubicBezTo>
                  <a:pt x="3431242" y="56361"/>
                  <a:pt x="3497356" y="182987"/>
                  <a:pt x="3563471" y="309614"/>
                </a:cubicBezTo>
              </a:path>
            </a:pathLst>
          </a:cu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21">
            <a:extLst>
              <a:ext uri="{FF2B5EF4-FFF2-40B4-BE49-F238E27FC236}">
                <a16:creationId xmlns:a16="http://schemas.microsoft.com/office/drawing/2014/main" id="{6685EF44-C509-BEB3-DCB9-4D75FB1436C0}"/>
              </a:ext>
            </a:extLst>
          </p:cNvPr>
          <p:cNvSpPr/>
          <p:nvPr/>
        </p:nvSpPr>
        <p:spPr>
          <a:xfrm>
            <a:off x="4828974" y="4527646"/>
            <a:ext cx="2978077" cy="567327"/>
          </a:xfrm>
          <a:custGeom>
            <a:avLst/>
            <a:gdLst>
              <a:gd name="connsiteX0" fmla="*/ 0 w 3684494"/>
              <a:gd name="connsiteY0" fmla="*/ 0 h 1362889"/>
              <a:gd name="connsiteX1" fmla="*/ 242047 w 3684494"/>
              <a:gd name="connsiteY1" fmla="*/ 1210235 h 1362889"/>
              <a:gd name="connsiteX2" fmla="*/ 591670 w 3684494"/>
              <a:gd name="connsiteY2" fmla="*/ 1317811 h 1362889"/>
              <a:gd name="connsiteX3" fmla="*/ 995082 w 3684494"/>
              <a:gd name="connsiteY3" fmla="*/ 954741 h 1362889"/>
              <a:gd name="connsiteX4" fmla="*/ 1936376 w 3684494"/>
              <a:gd name="connsiteY4" fmla="*/ 1169894 h 1362889"/>
              <a:gd name="connsiteX5" fmla="*/ 2756647 w 3684494"/>
              <a:gd name="connsiteY5" fmla="*/ 685800 h 1362889"/>
              <a:gd name="connsiteX6" fmla="*/ 3684494 w 3684494"/>
              <a:gd name="connsiteY6" fmla="*/ 1250576 h 1362889"/>
              <a:gd name="connsiteX0" fmla="*/ 0 w 3509682"/>
              <a:gd name="connsiteY0" fmla="*/ 329030 h 642634"/>
              <a:gd name="connsiteX1" fmla="*/ 67235 w 3509682"/>
              <a:gd name="connsiteY1" fmla="*/ 524729 h 642634"/>
              <a:gd name="connsiteX2" fmla="*/ 416858 w 3509682"/>
              <a:gd name="connsiteY2" fmla="*/ 632305 h 642634"/>
              <a:gd name="connsiteX3" fmla="*/ 820270 w 3509682"/>
              <a:gd name="connsiteY3" fmla="*/ 269235 h 642634"/>
              <a:gd name="connsiteX4" fmla="*/ 1761564 w 3509682"/>
              <a:gd name="connsiteY4" fmla="*/ 484388 h 642634"/>
              <a:gd name="connsiteX5" fmla="*/ 2581835 w 3509682"/>
              <a:gd name="connsiteY5" fmla="*/ 294 h 642634"/>
              <a:gd name="connsiteX6" fmla="*/ 3509682 w 3509682"/>
              <a:gd name="connsiteY6" fmla="*/ 565070 h 642634"/>
              <a:gd name="connsiteX0" fmla="*/ 0 w 3509682"/>
              <a:gd name="connsiteY0" fmla="*/ 329030 h 649534"/>
              <a:gd name="connsiteX1" fmla="*/ 155725 w 3509682"/>
              <a:gd name="connsiteY1" fmla="*/ 564292 h 649534"/>
              <a:gd name="connsiteX2" fmla="*/ 416858 w 3509682"/>
              <a:gd name="connsiteY2" fmla="*/ 632305 h 649534"/>
              <a:gd name="connsiteX3" fmla="*/ 820270 w 3509682"/>
              <a:gd name="connsiteY3" fmla="*/ 269235 h 649534"/>
              <a:gd name="connsiteX4" fmla="*/ 1761564 w 3509682"/>
              <a:gd name="connsiteY4" fmla="*/ 484388 h 649534"/>
              <a:gd name="connsiteX5" fmla="*/ 2581835 w 3509682"/>
              <a:gd name="connsiteY5" fmla="*/ 294 h 649534"/>
              <a:gd name="connsiteX6" fmla="*/ 3509682 w 3509682"/>
              <a:gd name="connsiteY6" fmla="*/ 565070 h 649534"/>
              <a:gd name="connsiteX0" fmla="*/ 23604 w 3533286"/>
              <a:gd name="connsiteY0" fmla="*/ 329030 h 658850"/>
              <a:gd name="connsiteX1" fmla="*/ 179329 w 3533286"/>
              <a:gd name="connsiteY1" fmla="*/ 564292 h 658850"/>
              <a:gd name="connsiteX2" fmla="*/ 440462 w 3533286"/>
              <a:gd name="connsiteY2" fmla="*/ 632305 h 658850"/>
              <a:gd name="connsiteX3" fmla="*/ 843874 w 3533286"/>
              <a:gd name="connsiteY3" fmla="*/ 269235 h 658850"/>
              <a:gd name="connsiteX4" fmla="*/ 1785168 w 3533286"/>
              <a:gd name="connsiteY4" fmla="*/ 484388 h 658850"/>
              <a:gd name="connsiteX5" fmla="*/ 2605439 w 3533286"/>
              <a:gd name="connsiteY5" fmla="*/ 294 h 658850"/>
              <a:gd name="connsiteX6" fmla="*/ 3533286 w 3533286"/>
              <a:gd name="connsiteY6" fmla="*/ 565070 h 658850"/>
              <a:gd name="connsiteX0" fmla="*/ 0 w 3509682"/>
              <a:gd name="connsiteY0" fmla="*/ 329030 h 654436"/>
              <a:gd name="connsiteX1" fmla="*/ 155725 w 3509682"/>
              <a:gd name="connsiteY1" fmla="*/ 564292 h 654436"/>
              <a:gd name="connsiteX2" fmla="*/ 416858 w 3509682"/>
              <a:gd name="connsiteY2" fmla="*/ 632305 h 654436"/>
              <a:gd name="connsiteX3" fmla="*/ 820270 w 3509682"/>
              <a:gd name="connsiteY3" fmla="*/ 269235 h 654436"/>
              <a:gd name="connsiteX4" fmla="*/ 1761564 w 3509682"/>
              <a:gd name="connsiteY4" fmla="*/ 484388 h 654436"/>
              <a:gd name="connsiteX5" fmla="*/ 2581835 w 3509682"/>
              <a:gd name="connsiteY5" fmla="*/ 294 h 654436"/>
              <a:gd name="connsiteX6" fmla="*/ 3509682 w 3509682"/>
              <a:gd name="connsiteY6" fmla="*/ 565070 h 654436"/>
              <a:gd name="connsiteX0" fmla="*/ 0 w 3509682"/>
              <a:gd name="connsiteY0" fmla="*/ 329030 h 644884"/>
              <a:gd name="connsiteX1" fmla="*/ 155725 w 3509682"/>
              <a:gd name="connsiteY1" fmla="*/ 564292 h 644884"/>
              <a:gd name="connsiteX2" fmla="*/ 416858 w 3509682"/>
              <a:gd name="connsiteY2" fmla="*/ 632305 h 644884"/>
              <a:gd name="connsiteX3" fmla="*/ 820270 w 3509682"/>
              <a:gd name="connsiteY3" fmla="*/ 269235 h 644884"/>
              <a:gd name="connsiteX4" fmla="*/ 1761564 w 3509682"/>
              <a:gd name="connsiteY4" fmla="*/ 484388 h 644884"/>
              <a:gd name="connsiteX5" fmla="*/ 2581835 w 3509682"/>
              <a:gd name="connsiteY5" fmla="*/ 294 h 644884"/>
              <a:gd name="connsiteX6" fmla="*/ 3509682 w 3509682"/>
              <a:gd name="connsiteY6" fmla="*/ 565070 h 644884"/>
              <a:gd name="connsiteX0" fmla="*/ 0 w 3509682"/>
              <a:gd name="connsiteY0" fmla="*/ 329030 h 667105"/>
              <a:gd name="connsiteX1" fmla="*/ 160343 w 3509682"/>
              <a:gd name="connsiteY1" fmla="*/ 633976 h 667105"/>
              <a:gd name="connsiteX2" fmla="*/ 416858 w 3509682"/>
              <a:gd name="connsiteY2" fmla="*/ 632305 h 667105"/>
              <a:gd name="connsiteX3" fmla="*/ 820270 w 3509682"/>
              <a:gd name="connsiteY3" fmla="*/ 269235 h 667105"/>
              <a:gd name="connsiteX4" fmla="*/ 1761564 w 3509682"/>
              <a:gd name="connsiteY4" fmla="*/ 484388 h 667105"/>
              <a:gd name="connsiteX5" fmla="*/ 2581835 w 3509682"/>
              <a:gd name="connsiteY5" fmla="*/ 294 h 667105"/>
              <a:gd name="connsiteX6" fmla="*/ 3509682 w 3509682"/>
              <a:gd name="connsiteY6" fmla="*/ 565070 h 667105"/>
              <a:gd name="connsiteX0" fmla="*/ 0 w 3509682"/>
              <a:gd name="connsiteY0" fmla="*/ 329030 h 672580"/>
              <a:gd name="connsiteX1" fmla="*/ 160343 w 3509682"/>
              <a:gd name="connsiteY1" fmla="*/ 633976 h 672580"/>
              <a:gd name="connsiteX2" fmla="*/ 416858 w 3509682"/>
              <a:gd name="connsiteY2" fmla="*/ 632305 h 672580"/>
              <a:gd name="connsiteX3" fmla="*/ 820270 w 3509682"/>
              <a:gd name="connsiteY3" fmla="*/ 269235 h 672580"/>
              <a:gd name="connsiteX4" fmla="*/ 1761564 w 3509682"/>
              <a:gd name="connsiteY4" fmla="*/ 484388 h 672580"/>
              <a:gd name="connsiteX5" fmla="*/ 2581835 w 3509682"/>
              <a:gd name="connsiteY5" fmla="*/ 294 h 672580"/>
              <a:gd name="connsiteX6" fmla="*/ 3509682 w 3509682"/>
              <a:gd name="connsiteY6" fmla="*/ 565070 h 672580"/>
              <a:gd name="connsiteX0" fmla="*/ 0 w 3509682"/>
              <a:gd name="connsiteY0" fmla="*/ 329030 h 672580"/>
              <a:gd name="connsiteX1" fmla="*/ 160343 w 3509682"/>
              <a:gd name="connsiteY1" fmla="*/ 633976 h 672580"/>
              <a:gd name="connsiteX2" fmla="*/ 416858 w 3509682"/>
              <a:gd name="connsiteY2" fmla="*/ 632305 h 672580"/>
              <a:gd name="connsiteX3" fmla="*/ 820270 w 3509682"/>
              <a:gd name="connsiteY3" fmla="*/ 269235 h 672580"/>
              <a:gd name="connsiteX4" fmla="*/ 1761564 w 3509682"/>
              <a:gd name="connsiteY4" fmla="*/ 484388 h 672580"/>
              <a:gd name="connsiteX5" fmla="*/ 2581835 w 3509682"/>
              <a:gd name="connsiteY5" fmla="*/ 294 h 672580"/>
              <a:gd name="connsiteX6" fmla="*/ 3509682 w 3509682"/>
              <a:gd name="connsiteY6" fmla="*/ 565070 h 672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9682" h="672580">
                <a:moveTo>
                  <a:pt x="0" y="329030"/>
                </a:moveTo>
                <a:cubicBezTo>
                  <a:pt x="117899" y="601337"/>
                  <a:pt x="69862" y="590023"/>
                  <a:pt x="160343" y="633976"/>
                </a:cubicBezTo>
                <a:cubicBezTo>
                  <a:pt x="250824" y="677929"/>
                  <a:pt x="306870" y="693095"/>
                  <a:pt x="416858" y="632305"/>
                </a:cubicBezTo>
                <a:cubicBezTo>
                  <a:pt x="526846" y="571515"/>
                  <a:pt x="596152" y="293888"/>
                  <a:pt x="820270" y="269235"/>
                </a:cubicBezTo>
                <a:cubicBezTo>
                  <a:pt x="1044388" y="244582"/>
                  <a:pt x="1467970" y="529212"/>
                  <a:pt x="1761564" y="484388"/>
                </a:cubicBezTo>
                <a:cubicBezTo>
                  <a:pt x="2055158" y="439565"/>
                  <a:pt x="2290482" y="-13153"/>
                  <a:pt x="2581835" y="294"/>
                </a:cubicBezTo>
                <a:cubicBezTo>
                  <a:pt x="2873188" y="13741"/>
                  <a:pt x="3191435" y="289405"/>
                  <a:pt x="3509682" y="565070"/>
                </a:cubicBezTo>
              </a:path>
            </a:pathLst>
          </a:custGeom>
          <a:noFill/>
          <a:ln w="38100">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Box 22">
            <a:extLst>
              <a:ext uri="{FF2B5EF4-FFF2-40B4-BE49-F238E27FC236}">
                <a16:creationId xmlns:a16="http://schemas.microsoft.com/office/drawing/2014/main" id="{B7FAD046-4C73-C9C2-9215-148C44A430F3}"/>
              </a:ext>
            </a:extLst>
          </p:cNvPr>
          <p:cNvSpPr txBox="1"/>
          <p:nvPr/>
        </p:nvSpPr>
        <p:spPr>
          <a:xfrm>
            <a:off x="7827313" y="4883572"/>
            <a:ext cx="949875" cy="369332"/>
          </a:xfrm>
          <a:prstGeom prst="rect">
            <a:avLst/>
          </a:prstGeom>
          <a:noFill/>
        </p:spPr>
        <p:txBody>
          <a:bodyPr wrap="none" rtlCol="0">
            <a:spAutoFit/>
          </a:bodyPr>
          <a:lstStyle/>
          <a:p>
            <a:r>
              <a:rPr lang="en-US" dirty="0">
                <a:solidFill>
                  <a:schemeClr val="accent2"/>
                </a:solidFill>
              </a:rPr>
              <a:t>Nevada</a:t>
            </a:r>
          </a:p>
        </p:txBody>
      </p:sp>
      <p:grpSp>
        <p:nvGrpSpPr>
          <p:cNvPr id="30" name="Group 29">
            <a:extLst>
              <a:ext uri="{FF2B5EF4-FFF2-40B4-BE49-F238E27FC236}">
                <a16:creationId xmlns:a16="http://schemas.microsoft.com/office/drawing/2014/main" id="{E891D331-1BE0-B85D-AEAE-62D163A5A282}"/>
              </a:ext>
            </a:extLst>
          </p:cNvPr>
          <p:cNvGrpSpPr/>
          <p:nvPr/>
        </p:nvGrpSpPr>
        <p:grpSpPr>
          <a:xfrm>
            <a:off x="586748" y="5574844"/>
            <a:ext cx="3292773" cy="1184847"/>
            <a:chOff x="586748" y="5574844"/>
            <a:chExt cx="3292773" cy="1184847"/>
          </a:xfrm>
        </p:grpSpPr>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C219ED08-28C0-E386-E9FD-B7FD39B135F0}"/>
                    </a:ext>
                  </a:extLst>
                </p:cNvPr>
                <p:cNvSpPr txBox="1"/>
                <p:nvPr/>
              </p:nvSpPr>
              <p:spPr>
                <a:xfrm>
                  <a:off x="871390" y="5975887"/>
                  <a:ext cx="3008131" cy="78380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sty m:val="p"/>
                          </m:rPr>
                          <a:rPr lang="en-US" sz="2400" b="0" i="0" smtClean="0">
                            <a:latin typeface="Cambria Math" panose="02040503050406030204" pitchFamily="18" charset="0"/>
                          </a:rPr>
                          <m:t>CA</m:t>
                        </m:r>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3</m:t>
                            </m:r>
                          </m:num>
                          <m:den>
                            <m:r>
                              <a:rPr lang="en-US" sz="2400" b="0" i="1" smtClean="0">
                                <a:latin typeface="Cambria Math" panose="02040503050406030204" pitchFamily="18" charset="0"/>
                              </a:rPr>
                              <m:t>4</m:t>
                            </m:r>
                          </m:den>
                        </m:f>
                        <m:r>
                          <a:rPr lang="en-US" sz="2400" b="0" i="1" smtClean="0">
                            <a:latin typeface="Cambria Math" panose="02040503050406030204" pitchFamily="18" charset="0"/>
                          </a:rPr>
                          <m:t>⋅</m:t>
                        </m:r>
                        <m:r>
                          <m:rPr>
                            <m:sty m:val="p"/>
                          </m:rPr>
                          <a:rPr lang="en-US" sz="2400" b="0" i="0" smtClean="0">
                            <a:latin typeface="Cambria Math" panose="02040503050406030204" pitchFamily="18" charset="0"/>
                          </a:rPr>
                          <m:t>CO</m:t>
                        </m:r>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1</m:t>
                            </m:r>
                          </m:num>
                          <m:den>
                            <m:r>
                              <a:rPr lang="en-US" sz="2400" b="0" i="1" smtClean="0">
                                <a:latin typeface="Cambria Math" panose="02040503050406030204" pitchFamily="18" charset="0"/>
                              </a:rPr>
                              <m:t>4</m:t>
                            </m:r>
                          </m:den>
                        </m:f>
                        <m:r>
                          <a:rPr lang="en-US" sz="2400" b="0" i="1" smtClean="0">
                            <a:latin typeface="Cambria Math" panose="02040503050406030204" pitchFamily="18" charset="0"/>
                          </a:rPr>
                          <m:t>⋅</m:t>
                        </m:r>
                        <m:r>
                          <m:rPr>
                            <m:sty m:val="p"/>
                          </m:rPr>
                          <a:rPr lang="en-US" sz="2400" b="0" i="0" smtClean="0">
                            <a:latin typeface="Cambria Math" panose="02040503050406030204" pitchFamily="18" charset="0"/>
                          </a:rPr>
                          <m:t>NV</m:t>
                        </m:r>
                      </m:oMath>
                    </m:oMathPara>
                  </a14:m>
                  <a:endParaRPr lang="en-US" sz="2400" dirty="0"/>
                </a:p>
              </p:txBody>
            </p:sp>
          </mc:Choice>
          <mc:Fallback xmlns="">
            <p:sp>
              <p:nvSpPr>
                <p:cNvPr id="15" name="TextBox 14">
                  <a:extLst>
                    <a:ext uri="{FF2B5EF4-FFF2-40B4-BE49-F238E27FC236}">
                      <a16:creationId xmlns:a16="http://schemas.microsoft.com/office/drawing/2014/main" id="{C219ED08-28C0-E386-E9FD-B7FD39B135F0}"/>
                    </a:ext>
                  </a:extLst>
                </p:cNvPr>
                <p:cNvSpPr txBox="1">
                  <a:spLocks noRot="1" noChangeAspect="1" noMove="1" noResize="1" noEditPoints="1" noAdjustHandles="1" noChangeArrowheads="1" noChangeShapeType="1" noTextEdit="1"/>
                </p:cNvSpPr>
                <p:nvPr/>
              </p:nvSpPr>
              <p:spPr>
                <a:xfrm>
                  <a:off x="871390" y="5975887"/>
                  <a:ext cx="3008131" cy="783804"/>
                </a:xfrm>
                <a:prstGeom prst="rect">
                  <a:avLst/>
                </a:prstGeom>
                <a:blipFill>
                  <a:blip r:embed="rId3"/>
                  <a:stretch>
                    <a:fillRect b="-6349"/>
                  </a:stretch>
                </a:blipFill>
              </p:spPr>
              <p:txBody>
                <a:bodyPr/>
                <a:lstStyle/>
                <a:p>
                  <a:r>
                    <a:rPr lang="en-US">
                      <a:noFill/>
                    </a:rPr>
                    <a:t> </a:t>
                  </a:r>
                </a:p>
              </p:txBody>
            </p:sp>
          </mc:Fallback>
        </mc:AlternateContent>
        <p:sp>
          <p:nvSpPr>
            <p:cNvPr id="29" name="TextBox 28">
              <a:extLst>
                <a:ext uri="{FF2B5EF4-FFF2-40B4-BE49-F238E27FC236}">
                  <a16:creationId xmlns:a16="http://schemas.microsoft.com/office/drawing/2014/main" id="{A0044935-ACDA-8178-C5B2-25CD40B22D1F}"/>
                </a:ext>
              </a:extLst>
            </p:cNvPr>
            <p:cNvSpPr txBox="1"/>
            <p:nvPr/>
          </p:nvSpPr>
          <p:spPr>
            <a:xfrm>
              <a:off x="586748" y="5574844"/>
              <a:ext cx="2547923" cy="369332"/>
            </a:xfrm>
            <a:prstGeom prst="rect">
              <a:avLst/>
            </a:prstGeom>
            <a:noFill/>
          </p:spPr>
          <p:txBody>
            <a:bodyPr wrap="square" rtlCol="0">
              <a:spAutoFit/>
            </a:bodyPr>
            <a:lstStyle/>
            <a:p>
              <a:r>
                <a:rPr lang="en-US" dirty="0"/>
                <a:t>In pre-treatment data,</a:t>
              </a:r>
            </a:p>
          </p:txBody>
        </p:sp>
      </p:grpSp>
    </p:spTree>
    <p:extLst>
      <p:ext uri="{BB962C8B-B14F-4D97-AF65-F5344CB8AC3E}">
        <p14:creationId xmlns:p14="http://schemas.microsoft.com/office/powerpoint/2010/main" val="96081205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D4D3C8-670D-CAE0-4F5B-1BA62B6135AD}"/>
              </a:ext>
            </a:extLst>
          </p:cNvPr>
          <p:cNvSpPr>
            <a:spLocks noGrp="1"/>
          </p:cNvSpPr>
          <p:nvPr>
            <p:ph type="title"/>
          </p:nvPr>
        </p:nvSpPr>
        <p:spPr/>
        <p:txBody>
          <a:bodyPr/>
          <a:lstStyle/>
          <a:p>
            <a:r>
              <a:rPr lang="en-US" dirty="0"/>
              <a:t>Synthetic controls generalizes </a:t>
            </a:r>
            <a:r>
              <a:rPr lang="en-US" dirty="0" err="1"/>
              <a:t>DiD</a:t>
            </a:r>
            <a:endParaRPr lang="en-US" dirty="0"/>
          </a:p>
        </p:txBody>
      </p:sp>
      <p:sp>
        <p:nvSpPr>
          <p:cNvPr id="3" name="Content Placeholder 2">
            <a:extLst>
              <a:ext uri="{FF2B5EF4-FFF2-40B4-BE49-F238E27FC236}">
                <a16:creationId xmlns:a16="http://schemas.microsoft.com/office/drawing/2014/main" id="{E5284291-9ED7-6956-07EE-FBDEC8718E50}"/>
              </a:ext>
            </a:extLst>
          </p:cNvPr>
          <p:cNvSpPr>
            <a:spLocks noGrp="1"/>
          </p:cNvSpPr>
          <p:nvPr>
            <p:ph idx="1"/>
          </p:nvPr>
        </p:nvSpPr>
        <p:spPr>
          <a:xfrm>
            <a:off x="838200" y="1594479"/>
            <a:ext cx="10515600" cy="4351338"/>
          </a:xfrm>
        </p:spPr>
        <p:txBody>
          <a:bodyPr/>
          <a:lstStyle/>
          <a:p>
            <a:r>
              <a:rPr lang="en-US" dirty="0"/>
              <a:t>Suppose parallel trends did hold:</a:t>
            </a:r>
            <a:endParaRPr lang="en-US" b="1" dirty="0"/>
          </a:p>
        </p:txBody>
      </p:sp>
      <p:cxnSp>
        <p:nvCxnSpPr>
          <p:cNvPr id="5" name="Straight Arrow Connector 4">
            <a:extLst>
              <a:ext uri="{FF2B5EF4-FFF2-40B4-BE49-F238E27FC236}">
                <a16:creationId xmlns:a16="http://schemas.microsoft.com/office/drawing/2014/main" id="{2DC72836-9BA8-6566-37EC-C8B7FC35E3EA}"/>
              </a:ext>
            </a:extLst>
          </p:cNvPr>
          <p:cNvCxnSpPr/>
          <p:nvPr/>
        </p:nvCxnSpPr>
        <p:spPr>
          <a:xfrm>
            <a:off x="1862357" y="5398956"/>
            <a:ext cx="5965518" cy="0"/>
          </a:xfrm>
          <a:prstGeom prst="straightConnector1">
            <a:avLst/>
          </a:prstGeom>
          <a:ln w="38100">
            <a:tailEnd type="triangle"/>
          </a:ln>
        </p:spPr>
        <p:style>
          <a:lnRef idx="2">
            <a:schemeClr val="accent1"/>
          </a:lnRef>
          <a:fillRef idx="0">
            <a:schemeClr val="accent1"/>
          </a:fillRef>
          <a:effectRef idx="1">
            <a:schemeClr val="accent1"/>
          </a:effectRef>
          <a:fontRef idx="minor">
            <a:schemeClr val="tx1"/>
          </a:fontRef>
        </p:style>
      </p:cxnSp>
      <p:cxnSp>
        <p:nvCxnSpPr>
          <p:cNvPr id="6" name="Straight Arrow Connector 5">
            <a:extLst>
              <a:ext uri="{FF2B5EF4-FFF2-40B4-BE49-F238E27FC236}">
                <a16:creationId xmlns:a16="http://schemas.microsoft.com/office/drawing/2014/main" id="{F5BC8EC4-9B36-2437-4B89-4E0A3893D10E}"/>
              </a:ext>
            </a:extLst>
          </p:cNvPr>
          <p:cNvCxnSpPr>
            <a:cxnSpLocks/>
          </p:cNvCxnSpPr>
          <p:nvPr/>
        </p:nvCxnSpPr>
        <p:spPr>
          <a:xfrm flipV="1">
            <a:off x="1862357" y="2746709"/>
            <a:ext cx="0" cy="2652247"/>
          </a:xfrm>
          <a:prstGeom prst="straightConnector1">
            <a:avLst/>
          </a:prstGeom>
          <a:ln w="38100">
            <a:tailEnd type="triangle"/>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F5EBB77C-9CC8-1843-D063-A5841F9D504D}"/>
              </a:ext>
            </a:extLst>
          </p:cNvPr>
          <p:cNvSpPr txBox="1"/>
          <p:nvPr/>
        </p:nvSpPr>
        <p:spPr>
          <a:xfrm>
            <a:off x="7282493" y="5438027"/>
            <a:ext cx="545382" cy="301189"/>
          </a:xfrm>
          <a:prstGeom prst="rect">
            <a:avLst/>
          </a:prstGeom>
          <a:noFill/>
        </p:spPr>
        <p:txBody>
          <a:bodyPr wrap="none" rtlCol="0">
            <a:spAutoFit/>
          </a:bodyPr>
          <a:lstStyle/>
          <a:p>
            <a:r>
              <a:rPr lang="en-US" dirty="0">
                <a:solidFill>
                  <a:schemeClr val="accent1"/>
                </a:solidFill>
              </a:rPr>
              <a:t>Time</a:t>
            </a:r>
          </a:p>
        </p:txBody>
      </p:sp>
      <p:sp>
        <p:nvSpPr>
          <p:cNvPr id="8" name="TextBox 7">
            <a:extLst>
              <a:ext uri="{FF2B5EF4-FFF2-40B4-BE49-F238E27FC236}">
                <a16:creationId xmlns:a16="http://schemas.microsoft.com/office/drawing/2014/main" id="{DAD5D569-0078-0257-8A84-58543165D34A}"/>
              </a:ext>
            </a:extLst>
          </p:cNvPr>
          <p:cNvSpPr txBox="1"/>
          <p:nvPr/>
        </p:nvSpPr>
        <p:spPr>
          <a:xfrm>
            <a:off x="280035" y="2597046"/>
            <a:ext cx="1506069" cy="646331"/>
          </a:xfrm>
          <a:prstGeom prst="rect">
            <a:avLst/>
          </a:prstGeom>
          <a:noFill/>
        </p:spPr>
        <p:txBody>
          <a:bodyPr wrap="square" rtlCol="0">
            <a:spAutoFit/>
          </a:bodyPr>
          <a:lstStyle/>
          <a:p>
            <a:pPr algn="r"/>
            <a:r>
              <a:rPr lang="en-US" dirty="0">
                <a:solidFill>
                  <a:schemeClr val="accent1"/>
                </a:solidFill>
              </a:rPr>
              <a:t>Cigarette sales</a:t>
            </a:r>
          </a:p>
        </p:txBody>
      </p:sp>
      <p:sp>
        <p:nvSpPr>
          <p:cNvPr id="9" name="TextBox 8">
            <a:extLst>
              <a:ext uri="{FF2B5EF4-FFF2-40B4-BE49-F238E27FC236}">
                <a16:creationId xmlns:a16="http://schemas.microsoft.com/office/drawing/2014/main" id="{9034F616-CB7A-67AA-0D93-701C87CD87FA}"/>
              </a:ext>
            </a:extLst>
          </p:cNvPr>
          <p:cNvSpPr txBox="1"/>
          <p:nvPr/>
        </p:nvSpPr>
        <p:spPr>
          <a:xfrm>
            <a:off x="3988289" y="5595160"/>
            <a:ext cx="1681371" cy="646331"/>
          </a:xfrm>
          <a:prstGeom prst="rect">
            <a:avLst/>
          </a:prstGeom>
          <a:noFill/>
        </p:spPr>
        <p:txBody>
          <a:bodyPr wrap="square" rtlCol="0">
            <a:spAutoFit/>
          </a:bodyPr>
          <a:lstStyle/>
          <a:p>
            <a:pPr algn="ctr"/>
            <a:r>
              <a:rPr lang="en-US" dirty="0">
                <a:solidFill>
                  <a:schemeClr val="accent1"/>
                </a:solidFill>
              </a:rPr>
              <a:t>Prop. 99 enacted</a:t>
            </a:r>
          </a:p>
        </p:txBody>
      </p:sp>
      <p:cxnSp>
        <p:nvCxnSpPr>
          <p:cNvPr id="10" name="Straight Connector 9">
            <a:extLst>
              <a:ext uri="{FF2B5EF4-FFF2-40B4-BE49-F238E27FC236}">
                <a16:creationId xmlns:a16="http://schemas.microsoft.com/office/drawing/2014/main" id="{6A61747D-941D-75E5-7B3E-62E6A60F90F6}"/>
              </a:ext>
            </a:extLst>
          </p:cNvPr>
          <p:cNvCxnSpPr>
            <a:cxnSpLocks/>
            <a:stCxn id="9" idx="0"/>
          </p:cNvCxnSpPr>
          <p:nvPr/>
        </p:nvCxnSpPr>
        <p:spPr>
          <a:xfrm flipV="1">
            <a:off x="4828975" y="2515681"/>
            <a:ext cx="40898" cy="3079479"/>
          </a:xfrm>
          <a:prstGeom prst="line">
            <a:avLst/>
          </a:prstGeom>
          <a:ln>
            <a:solidFill>
              <a:schemeClr val="accent1"/>
            </a:solidFill>
            <a:prstDash val="sysDash"/>
          </a:ln>
        </p:spPr>
        <p:style>
          <a:lnRef idx="2">
            <a:schemeClr val="accent1"/>
          </a:lnRef>
          <a:fillRef idx="0">
            <a:schemeClr val="accent1"/>
          </a:fillRef>
          <a:effectRef idx="1">
            <a:schemeClr val="accent1"/>
          </a:effectRef>
          <a:fontRef idx="minor">
            <a:schemeClr val="tx1"/>
          </a:fontRef>
        </p:style>
      </p:cxnSp>
      <p:sp>
        <p:nvSpPr>
          <p:cNvPr id="11" name="Freeform 10">
            <a:extLst>
              <a:ext uri="{FF2B5EF4-FFF2-40B4-BE49-F238E27FC236}">
                <a16:creationId xmlns:a16="http://schemas.microsoft.com/office/drawing/2014/main" id="{6337BD84-7A07-96B4-00EB-17D5D994C482}"/>
              </a:ext>
            </a:extLst>
          </p:cNvPr>
          <p:cNvSpPr/>
          <p:nvPr/>
        </p:nvSpPr>
        <p:spPr>
          <a:xfrm>
            <a:off x="1832857" y="2793964"/>
            <a:ext cx="3023719" cy="810410"/>
          </a:xfrm>
          <a:custGeom>
            <a:avLst/>
            <a:gdLst>
              <a:gd name="connsiteX0" fmla="*/ 0 w 3563471"/>
              <a:gd name="connsiteY0" fmla="*/ 955073 h 955073"/>
              <a:gd name="connsiteX1" fmla="*/ 564777 w 3563471"/>
              <a:gd name="connsiteY1" fmla="*/ 457532 h 955073"/>
              <a:gd name="connsiteX2" fmla="*/ 927847 w 3563471"/>
              <a:gd name="connsiteY2" fmla="*/ 726473 h 955073"/>
              <a:gd name="connsiteX3" fmla="*/ 1815353 w 3563471"/>
              <a:gd name="connsiteY3" fmla="*/ 332 h 955073"/>
              <a:gd name="connsiteX4" fmla="*/ 2622177 w 3563471"/>
              <a:gd name="connsiteY4" fmla="*/ 632343 h 955073"/>
              <a:gd name="connsiteX5" fmla="*/ 3065930 w 3563471"/>
              <a:gd name="connsiteY5" fmla="*/ 618896 h 955073"/>
              <a:gd name="connsiteX6" fmla="*/ 3348318 w 3563471"/>
              <a:gd name="connsiteY6" fmla="*/ 107908 h 955073"/>
              <a:gd name="connsiteX7" fmla="*/ 3563471 w 3563471"/>
              <a:gd name="connsiteY7" fmla="*/ 309614 h 9550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63471" h="955073">
                <a:moveTo>
                  <a:pt x="0" y="955073"/>
                </a:moveTo>
                <a:cubicBezTo>
                  <a:pt x="205068" y="725352"/>
                  <a:pt x="410136" y="495632"/>
                  <a:pt x="564777" y="457532"/>
                </a:cubicBezTo>
                <a:cubicBezTo>
                  <a:pt x="719418" y="419432"/>
                  <a:pt x="719418" y="802673"/>
                  <a:pt x="927847" y="726473"/>
                </a:cubicBezTo>
                <a:cubicBezTo>
                  <a:pt x="1136276" y="650273"/>
                  <a:pt x="1532965" y="16020"/>
                  <a:pt x="1815353" y="332"/>
                </a:cubicBezTo>
                <a:cubicBezTo>
                  <a:pt x="2097741" y="-15356"/>
                  <a:pt x="2413748" y="529249"/>
                  <a:pt x="2622177" y="632343"/>
                </a:cubicBezTo>
                <a:cubicBezTo>
                  <a:pt x="2830606" y="735437"/>
                  <a:pt x="2944907" y="706302"/>
                  <a:pt x="3065930" y="618896"/>
                </a:cubicBezTo>
                <a:cubicBezTo>
                  <a:pt x="3186953" y="531490"/>
                  <a:pt x="3265395" y="159455"/>
                  <a:pt x="3348318" y="107908"/>
                </a:cubicBezTo>
                <a:cubicBezTo>
                  <a:pt x="3431242" y="56361"/>
                  <a:pt x="3497356" y="182987"/>
                  <a:pt x="3563471" y="309614"/>
                </a:cubicBezTo>
              </a:path>
            </a:pathLst>
          </a:custGeom>
          <a:noFill/>
          <a:ln w="3810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11">
            <a:extLst>
              <a:ext uri="{FF2B5EF4-FFF2-40B4-BE49-F238E27FC236}">
                <a16:creationId xmlns:a16="http://schemas.microsoft.com/office/drawing/2014/main" id="{240F20DB-2DD8-95B3-95F5-2E2F61DA74EC}"/>
              </a:ext>
            </a:extLst>
          </p:cNvPr>
          <p:cNvSpPr/>
          <p:nvPr/>
        </p:nvSpPr>
        <p:spPr>
          <a:xfrm>
            <a:off x="1832857" y="3243377"/>
            <a:ext cx="3023719" cy="810410"/>
          </a:xfrm>
          <a:custGeom>
            <a:avLst/>
            <a:gdLst>
              <a:gd name="connsiteX0" fmla="*/ 0 w 3563471"/>
              <a:gd name="connsiteY0" fmla="*/ 955073 h 955073"/>
              <a:gd name="connsiteX1" fmla="*/ 564777 w 3563471"/>
              <a:gd name="connsiteY1" fmla="*/ 457532 h 955073"/>
              <a:gd name="connsiteX2" fmla="*/ 927847 w 3563471"/>
              <a:gd name="connsiteY2" fmla="*/ 726473 h 955073"/>
              <a:gd name="connsiteX3" fmla="*/ 1815353 w 3563471"/>
              <a:gd name="connsiteY3" fmla="*/ 332 h 955073"/>
              <a:gd name="connsiteX4" fmla="*/ 2622177 w 3563471"/>
              <a:gd name="connsiteY4" fmla="*/ 632343 h 955073"/>
              <a:gd name="connsiteX5" fmla="*/ 3065930 w 3563471"/>
              <a:gd name="connsiteY5" fmla="*/ 618896 h 955073"/>
              <a:gd name="connsiteX6" fmla="*/ 3348318 w 3563471"/>
              <a:gd name="connsiteY6" fmla="*/ 107908 h 955073"/>
              <a:gd name="connsiteX7" fmla="*/ 3563471 w 3563471"/>
              <a:gd name="connsiteY7" fmla="*/ 309614 h 9550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63471" h="955073">
                <a:moveTo>
                  <a:pt x="0" y="955073"/>
                </a:moveTo>
                <a:cubicBezTo>
                  <a:pt x="205068" y="725352"/>
                  <a:pt x="410136" y="495632"/>
                  <a:pt x="564777" y="457532"/>
                </a:cubicBezTo>
                <a:cubicBezTo>
                  <a:pt x="719418" y="419432"/>
                  <a:pt x="719418" y="802673"/>
                  <a:pt x="927847" y="726473"/>
                </a:cubicBezTo>
                <a:cubicBezTo>
                  <a:pt x="1136276" y="650273"/>
                  <a:pt x="1532965" y="16020"/>
                  <a:pt x="1815353" y="332"/>
                </a:cubicBezTo>
                <a:cubicBezTo>
                  <a:pt x="2097741" y="-15356"/>
                  <a:pt x="2413748" y="529249"/>
                  <a:pt x="2622177" y="632343"/>
                </a:cubicBezTo>
                <a:cubicBezTo>
                  <a:pt x="2830606" y="735437"/>
                  <a:pt x="2944907" y="706302"/>
                  <a:pt x="3065930" y="618896"/>
                </a:cubicBezTo>
                <a:cubicBezTo>
                  <a:pt x="3186953" y="531490"/>
                  <a:pt x="3265395" y="159455"/>
                  <a:pt x="3348318" y="107908"/>
                </a:cubicBezTo>
                <a:cubicBezTo>
                  <a:pt x="3431242" y="56361"/>
                  <a:pt x="3497356" y="182987"/>
                  <a:pt x="3563471" y="309614"/>
                </a:cubicBezTo>
              </a:path>
            </a:pathLst>
          </a:custGeom>
          <a:noFill/>
          <a:ln w="3810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12">
            <a:extLst>
              <a:ext uri="{FF2B5EF4-FFF2-40B4-BE49-F238E27FC236}">
                <a16:creationId xmlns:a16="http://schemas.microsoft.com/office/drawing/2014/main" id="{13FD8554-6E2F-1866-8C5B-B39956EF9728}"/>
              </a:ext>
            </a:extLst>
          </p:cNvPr>
          <p:cNvSpPr/>
          <p:nvPr/>
        </p:nvSpPr>
        <p:spPr>
          <a:xfrm>
            <a:off x="4845165" y="3513090"/>
            <a:ext cx="3126411" cy="1156455"/>
          </a:xfrm>
          <a:custGeom>
            <a:avLst/>
            <a:gdLst>
              <a:gd name="connsiteX0" fmla="*/ 0 w 3684494"/>
              <a:gd name="connsiteY0" fmla="*/ 0 h 1362889"/>
              <a:gd name="connsiteX1" fmla="*/ 242047 w 3684494"/>
              <a:gd name="connsiteY1" fmla="*/ 1210235 h 1362889"/>
              <a:gd name="connsiteX2" fmla="*/ 591670 w 3684494"/>
              <a:gd name="connsiteY2" fmla="*/ 1317811 h 1362889"/>
              <a:gd name="connsiteX3" fmla="*/ 995082 w 3684494"/>
              <a:gd name="connsiteY3" fmla="*/ 954741 h 1362889"/>
              <a:gd name="connsiteX4" fmla="*/ 1936376 w 3684494"/>
              <a:gd name="connsiteY4" fmla="*/ 1169894 h 1362889"/>
              <a:gd name="connsiteX5" fmla="*/ 2756647 w 3684494"/>
              <a:gd name="connsiteY5" fmla="*/ 685800 h 1362889"/>
              <a:gd name="connsiteX6" fmla="*/ 3684494 w 3684494"/>
              <a:gd name="connsiteY6" fmla="*/ 1250576 h 1362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84494" h="1362889">
                <a:moveTo>
                  <a:pt x="0" y="0"/>
                </a:moveTo>
                <a:cubicBezTo>
                  <a:pt x="71717" y="495300"/>
                  <a:pt x="143435" y="990600"/>
                  <a:pt x="242047" y="1210235"/>
                </a:cubicBezTo>
                <a:cubicBezTo>
                  <a:pt x="340659" y="1429870"/>
                  <a:pt x="466164" y="1360393"/>
                  <a:pt x="591670" y="1317811"/>
                </a:cubicBezTo>
                <a:cubicBezTo>
                  <a:pt x="717176" y="1275229"/>
                  <a:pt x="770964" y="979394"/>
                  <a:pt x="995082" y="954741"/>
                </a:cubicBezTo>
                <a:cubicBezTo>
                  <a:pt x="1219200" y="930088"/>
                  <a:pt x="1642782" y="1214718"/>
                  <a:pt x="1936376" y="1169894"/>
                </a:cubicBezTo>
                <a:cubicBezTo>
                  <a:pt x="2229970" y="1125071"/>
                  <a:pt x="2465294" y="672353"/>
                  <a:pt x="2756647" y="685800"/>
                </a:cubicBezTo>
                <a:cubicBezTo>
                  <a:pt x="3048000" y="699247"/>
                  <a:pt x="3366247" y="974911"/>
                  <a:pt x="3684494" y="1250576"/>
                </a:cubicBezTo>
              </a:path>
            </a:pathLst>
          </a:custGeom>
          <a:noFill/>
          <a:ln w="38100">
            <a:solidFill>
              <a:schemeClr val="accent4">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13">
            <a:extLst>
              <a:ext uri="{FF2B5EF4-FFF2-40B4-BE49-F238E27FC236}">
                <a16:creationId xmlns:a16="http://schemas.microsoft.com/office/drawing/2014/main" id="{2CDBA767-74FE-D188-FF1C-8B7C4739B2BB}"/>
              </a:ext>
            </a:extLst>
          </p:cNvPr>
          <p:cNvSpPr/>
          <p:nvPr/>
        </p:nvSpPr>
        <p:spPr>
          <a:xfrm>
            <a:off x="4849798" y="2758321"/>
            <a:ext cx="2978077" cy="567327"/>
          </a:xfrm>
          <a:custGeom>
            <a:avLst/>
            <a:gdLst>
              <a:gd name="connsiteX0" fmla="*/ 0 w 3684494"/>
              <a:gd name="connsiteY0" fmla="*/ 0 h 1362889"/>
              <a:gd name="connsiteX1" fmla="*/ 242047 w 3684494"/>
              <a:gd name="connsiteY1" fmla="*/ 1210235 h 1362889"/>
              <a:gd name="connsiteX2" fmla="*/ 591670 w 3684494"/>
              <a:gd name="connsiteY2" fmla="*/ 1317811 h 1362889"/>
              <a:gd name="connsiteX3" fmla="*/ 995082 w 3684494"/>
              <a:gd name="connsiteY3" fmla="*/ 954741 h 1362889"/>
              <a:gd name="connsiteX4" fmla="*/ 1936376 w 3684494"/>
              <a:gd name="connsiteY4" fmla="*/ 1169894 h 1362889"/>
              <a:gd name="connsiteX5" fmla="*/ 2756647 w 3684494"/>
              <a:gd name="connsiteY5" fmla="*/ 685800 h 1362889"/>
              <a:gd name="connsiteX6" fmla="*/ 3684494 w 3684494"/>
              <a:gd name="connsiteY6" fmla="*/ 1250576 h 1362889"/>
              <a:gd name="connsiteX0" fmla="*/ 0 w 3509682"/>
              <a:gd name="connsiteY0" fmla="*/ 329030 h 642634"/>
              <a:gd name="connsiteX1" fmla="*/ 67235 w 3509682"/>
              <a:gd name="connsiteY1" fmla="*/ 524729 h 642634"/>
              <a:gd name="connsiteX2" fmla="*/ 416858 w 3509682"/>
              <a:gd name="connsiteY2" fmla="*/ 632305 h 642634"/>
              <a:gd name="connsiteX3" fmla="*/ 820270 w 3509682"/>
              <a:gd name="connsiteY3" fmla="*/ 269235 h 642634"/>
              <a:gd name="connsiteX4" fmla="*/ 1761564 w 3509682"/>
              <a:gd name="connsiteY4" fmla="*/ 484388 h 642634"/>
              <a:gd name="connsiteX5" fmla="*/ 2581835 w 3509682"/>
              <a:gd name="connsiteY5" fmla="*/ 294 h 642634"/>
              <a:gd name="connsiteX6" fmla="*/ 3509682 w 3509682"/>
              <a:gd name="connsiteY6" fmla="*/ 565070 h 642634"/>
              <a:gd name="connsiteX0" fmla="*/ 0 w 3509682"/>
              <a:gd name="connsiteY0" fmla="*/ 329030 h 649534"/>
              <a:gd name="connsiteX1" fmla="*/ 155725 w 3509682"/>
              <a:gd name="connsiteY1" fmla="*/ 564292 h 649534"/>
              <a:gd name="connsiteX2" fmla="*/ 416858 w 3509682"/>
              <a:gd name="connsiteY2" fmla="*/ 632305 h 649534"/>
              <a:gd name="connsiteX3" fmla="*/ 820270 w 3509682"/>
              <a:gd name="connsiteY3" fmla="*/ 269235 h 649534"/>
              <a:gd name="connsiteX4" fmla="*/ 1761564 w 3509682"/>
              <a:gd name="connsiteY4" fmla="*/ 484388 h 649534"/>
              <a:gd name="connsiteX5" fmla="*/ 2581835 w 3509682"/>
              <a:gd name="connsiteY5" fmla="*/ 294 h 649534"/>
              <a:gd name="connsiteX6" fmla="*/ 3509682 w 3509682"/>
              <a:gd name="connsiteY6" fmla="*/ 565070 h 649534"/>
              <a:gd name="connsiteX0" fmla="*/ 23604 w 3533286"/>
              <a:gd name="connsiteY0" fmla="*/ 329030 h 658850"/>
              <a:gd name="connsiteX1" fmla="*/ 179329 w 3533286"/>
              <a:gd name="connsiteY1" fmla="*/ 564292 h 658850"/>
              <a:gd name="connsiteX2" fmla="*/ 440462 w 3533286"/>
              <a:gd name="connsiteY2" fmla="*/ 632305 h 658850"/>
              <a:gd name="connsiteX3" fmla="*/ 843874 w 3533286"/>
              <a:gd name="connsiteY3" fmla="*/ 269235 h 658850"/>
              <a:gd name="connsiteX4" fmla="*/ 1785168 w 3533286"/>
              <a:gd name="connsiteY4" fmla="*/ 484388 h 658850"/>
              <a:gd name="connsiteX5" fmla="*/ 2605439 w 3533286"/>
              <a:gd name="connsiteY5" fmla="*/ 294 h 658850"/>
              <a:gd name="connsiteX6" fmla="*/ 3533286 w 3533286"/>
              <a:gd name="connsiteY6" fmla="*/ 565070 h 658850"/>
              <a:gd name="connsiteX0" fmla="*/ 0 w 3509682"/>
              <a:gd name="connsiteY0" fmla="*/ 329030 h 654436"/>
              <a:gd name="connsiteX1" fmla="*/ 155725 w 3509682"/>
              <a:gd name="connsiteY1" fmla="*/ 564292 h 654436"/>
              <a:gd name="connsiteX2" fmla="*/ 416858 w 3509682"/>
              <a:gd name="connsiteY2" fmla="*/ 632305 h 654436"/>
              <a:gd name="connsiteX3" fmla="*/ 820270 w 3509682"/>
              <a:gd name="connsiteY3" fmla="*/ 269235 h 654436"/>
              <a:gd name="connsiteX4" fmla="*/ 1761564 w 3509682"/>
              <a:gd name="connsiteY4" fmla="*/ 484388 h 654436"/>
              <a:gd name="connsiteX5" fmla="*/ 2581835 w 3509682"/>
              <a:gd name="connsiteY5" fmla="*/ 294 h 654436"/>
              <a:gd name="connsiteX6" fmla="*/ 3509682 w 3509682"/>
              <a:gd name="connsiteY6" fmla="*/ 565070 h 654436"/>
              <a:gd name="connsiteX0" fmla="*/ 0 w 3509682"/>
              <a:gd name="connsiteY0" fmla="*/ 329030 h 644884"/>
              <a:gd name="connsiteX1" fmla="*/ 155725 w 3509682"/>
              <a:gd name="connsiteY1" fmla="*/ 564292 h 644884"/>
              <a:gd name="connsiteX2" fmla="*/ 416858 w 3509682"/>
              <a:gd name="connsiteY2" fmla="*/ 632305 h 644884"/>
              <a:gd name="connsiteX3" fmla="*/ 820270 w 3509682"/>
              <a:gd name="connsiteY3" fmla="*/ 269235 h 644884"/>
              <a:gd name="connsiteX4" fmla="*/ 1761564 w 3509682"/>
              <a:gd name="connsiteY4" fmla="*/ 484388 h 644884"/>
              <a:gd name="connsiteX5" fmla="*/ 2581835 w 3509682"/>
              <a:gd name="connsiteY5" fmla="*/ 294 h 644884"/>
              <a:gd name="connsiteX6" fmla="*/ 3509682 w 3509682"/>
              <a:gd name="connsiteY6" fmla="*/ 565070 h 644884"/>
              <a:gd name="connsiteX0" fmla="*/ 0 w 3509682"/>
              <a:gd name="connsiteY0" fmla="*/ 329030 h 667105"/>
              <a:gd name="connsiteX1" fmla="*/ 160343 w 3509682"/>
              <a:gd name="connsiteY1" fmla="*/ 633976 h 667105"/>
              <a:gd name="connsiteX2" fmla="*/ 416858 w 3509682"/>
              <a:gd name="connsiteY2" fmla="*/ 632305 h 667105"/>
              <a:gd name="connsiteX3" fmla="*/ 820270 w 3509682"/>
              <a:gd name="connsiteY3" fmla="*/ 269235 h 667105"/>
              <a:gd name="connsiteX4" fmla="*/ 1761564 w 3509682"/>
              <a:gd name="connsiteY4" fmla="*/ 484388 h 667105"/>
              <a:gd name="connsiteX5" fmla="*/ 2581835 w 3509682"/>
              <a:gd name="connsiteY5" fmla="*/ 294 h 667105"/>
              <a:gd name="connsiteX6" fmla="*/ 3509682 w 3509682"/>
              <a:gd name="connsiteY6" fmla="*/ 565070 h 667105"/>
              <a:gd name="connsiteX0" fmla="*/ 0 w 3509682"/>
              <a:gd name="connsiteY0" fmla="*/ 329030 h 672580"/>
              <a:gd name="connsiteX1" fmla="*/ 160343 w 3509682"/>
              <a:gd name="connsiteY1" fmla="*/ 633976 h 672580"/>
              <a:gd name="connsiteX2" fmla="*/ 416858 w 3509682"/>
              <a:gd name="connsiteY2" fmla="*/ 632305 h 672580"/>
              <a:gd name="connsiteX3" fmla="*/ 820270 w 3509682"/>
              <a:gd name="connsiteY3" fmla="*/ 269235 h 672580"/>
              <a:gd name="connsiteX4" fmla="*/ 1761564 w 3509682"/>
              <a:gd name="connsiteY4" fmla="*/ 484388 h 672580"/>
              <a:gd name="connsiteX5" fmla="*/ 2581835 w 3509682"/>
              <a:gd name="connsiteY5" fmla="*/ 294 h 672580"/>
              <a:gd name="connsiteX6" fmla="*/ 3509682 w 3509682"/>
              <a:gd name="connsiteY6" fmla="*/ 565070 h 672580"/>
              <a:gd name="connsiteX0" fmla="*/ 0 w 3509682"/>
              <a:gd name="connsiteY0" fmla="*/ 329030 h 672580"/>
              <a:gd name="connsiteX1" fmla="*/ 160343 w 3509682"/>
              <a:gd name="connsiteY1" fmla="*/ 633976 h 672580"/>
              <a:gd name="connsiteX2" fmla="*/ 416858 w 3509682"/>
              <a:gd name="connsiteY2" fmla="*/ 632305 h 672580"/>
              <a:gd name="connsiteX3" fmla="*/ 820270 w 3509682"/>
              <a:gd name="connsiteY3" fmla="*/ 269235 h 672580"/>
              <a:gd name="connsiteX4" fmla="*/ 1761564 w 3509682"/>
              <a:gd name="connsiteY4" fmla="*/ 484388 h 672580"/>
              <a:gd name="connsiteX5" fmla="*/ 2581835 w 3509682"/>
              <a:gd name="connsiteY5" fmla="*/ 294 h 672580"/>
              <a:gd name="connsiteX6" fmla="*/ 3509682 w 3509682"/>
              <a:gd name="connsiteY6" fmla="*/ 565070 h 672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9682" h="672580">
                <a:moveTo>
                  <a:pt x="0" y="329030"/>
                </a:moveTo>
                <a:cubicBezTo>
                  <a:pt x="117899" y="601337"/>
                  <a:pt x="69862" y="590023"/>
                  <a:pt x="160343" y="633976"/>
                </a:cubicBezTo>
                <a:cubicBezTo>
                  <a:pt x="250824" y="677929"/>
                  <a:pt x="306870" y="693095"/>
                  <a:pt x="416858" y="632305"/>
                </a:cubicBezTo>
                <a:cubicBezTo>
                  <a:pt x="526846" y="571515"/>
                  <a:pt x="596152" y="293888"/>
                  <a:pt x="820270" y="269235"/>
                </a:cubicBezTo>
                <a:cubicBezTo>
                  <a:pt x="1044388" y="244582"/>
                  <a:pt x="1467970" y="529212"/>
                  <a:pt x="1761564" y="484388"/>
                </a:cubicBezTo>
                <a:cubicBezTo>
                  <a:pt x="2055158" y="439565"/>
                  <a:pt x="2290482" y="-13153"/>
                  <a:pt x="2581835" y="294"/>
                </a:cubicBezTo>
                <a:cubicBezTo>
                  <a:pt x="2873188" y="13741"/>
                  <a:pt x="3191435" y="289405"/>
                  <a:pt x="3509682" y="565070"/>
                </a:cubicBezTo>
              </a:path>
            </a:pathLst>
          </a:custGeom>
          <a:noFill/>
          <a:ln w="3810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TextBox 16">
            <a:extLst>
              <a:ext uri="{FF2B5EF4-FFF2-40B4-BE49-F238E27FC236}">
                <a16:creationId xmlns:a16="http://schemas.microsoft.com/office/drawing/2014/main" id="{63710CA7-4DC2-E68E-EBF4-68776A168B01}"/>
              </a:ext>
            </a:extLst>
          </p:cNvPr>
          <p:cNvSpPr txBox="1"/>
          <p:nvPr/>
        </p:nvSpPr>
        <p:spPr>
          <a:xfrm>
            <a:off x="7971576" y="4453665"/>
            <a:ext cx="1563599" cy="499409"/>
          </a:xfrm>
          <a:prstGeom prst="rect">
            <a:avLst/>
          </a:prstGeom>
          <a:noFill/>
        </p:spPr>
        <p:txBody>
          <a:bodyPr wrap="none" rtlCol="0">
            <a:spAutoFit/>
          </a:bodyPr>
          <a:lstStyle/>
          <a:p>
            <a:r>
              <a:rPr lang="en-US" dirty="0">
                <a:solidFill>
                  <a:schemeClr val="accent4"/>
                </a:solidFill>
              </a:rPr>
              <a:t>California</a:t>
            </a:r>
          </a:p>
        </p:txBody>
      </p:sp>
      <p:sp>
        <p:nvSpPr>
          <p:cNvPr id="18" name="TextBox 17">
            <a:extLst>
              <a:ext uri="{FF2B5EF4-FFF2-40B4-BE49-F238E27FC236}">
                <a16:creationId xmlns:a16="http://schemas.microsoft.com/office/drawing/2014/main" id="{623D12ED-233B-FD86-0C1F-3163D1456EFF}"/>
              </a:ext>
            </a:extLst>
          </p:cNvPr>
          <p:cNvSpPr txBox="1"/>
          <p:nvPr/>
        </p:nvSpPr>
        <p:spPr>
          <a:xfrm>
            <a:off x="7827874" y="3060059"/>
            <a:ext cx="1497619" cy="499409"/>
          </a:xfrm>
          <a:prstGeom prst="rect">
            <a:avLst/>
          </a:prstGeom>
          <a:noFill/>
        </p:spPr>
        <p:txBody>
          <a:bodyPr wrap="none" rtlCol="0">
            <a:spAutoFit/>
          </a:bodyPr>
          <a:lstStyle/>
          <a:p>
            <a:r>
              <a:rPr lang="en-US" dirty="0">
                <a:solidFill>
                  <a:schemeClr val="accent5"/>
                </a:solidFill>
              </a:rPr>
              <a:t>Colorado</a:t>
            </a:r>
          </a:p>
        </p:txBody>
      </p:sp>
      <p:sp>
        <p:nvSpPr>
          <p:cNvPr id="21" name="Freeform 20">
            <a:extLst>
              <a:ext uri="{FF2B5EF4-FFF2-40B4-BE49-F238E27FC236}">
                <a16:creationId xmlns:a16="http://schemas.microsoft.com/office/drawing/2014/main" id="{67A135F9-9614-E460-25E0-B6EF55A67FB8}"/>
              </a:ext>
            </a:extLst>
          </p:cNvPr>
          <p:cNvSpPr/>
          <p:nvPr/>
        </p:nvSpPr>
        <p:spPr>
          <a:xfrm>
            <a:off x="1832856" y="4573207"/>
            <a:ext cx="3023719" cy="810410"/>
          </a:xfrm>
          <a:custGeom>
            <a:avLst/>
            <a:gdLst>
              <a:gd name="connsiteX0" fmla="*/ 0 w 3563471"/>
              <a:gd name="connsiteY0" fmla="*/ 955073 h 955073"/>
              <a:gd name="connsiteX1" fmla="*/ 564777 w 3563471"/>
              <a:gd name="connsiteY1" fmla="*/ 457532 h 955073"/>
              <a:gd name="connsiteX2" fmla="*/ 927847 w 3563471"/>
              <a:gd name="connsiteY2" fmla="*/ 726473 h 955073"/>
              <a:gd name="connsiteX3" fmla="*/ 1815353 w 3563471"/>
              <a:gd name="connsiteY3" fmla="*/ 332 h 955073"/>
              <a:gd name="connsiteX4" fmla="*/ 2622177 w 3563471"/>
              <a:gd name="connsiteY4" fmla="*/ 632343 h 955073"/>
              <a:gd name="connsiteX5" fmla="*/ 3065930 w 3563471"/>
              <a:gd name="connsiteY5" fmla="*/ 618896 h 955073"/>
              <a:gd name="connsiteX6" fmla="*/ 3348318 w 3563471"/>
              <a:gd name="connsiteY6" fmla="*/ 107908 h 955073"/>
              <a:gd name="connsiteX7" fmla="*/ 3563471 w 3563471"/>
              <a:gd name="connsiteY7" fmla="*/ 309614 h 9550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63471" h="955073">
                <a:moveTo>
                  <a:pt x="0" y="955073"/>
                </a:moveTo>
                <a:cubicBezTo>
                  <a:pt x="205068" y="725352"/>
                  <a:pt x="410136" y="495632"/>
                  <a:pt x="564777" y="457532"/>
                </a:cubicBezTo>
                <a:cubicBezTo>
                  <a:pt x="719418" y="419432"/>
                  <a:pt x="719418" y="802673"/>
                  <a:pt x="927847" y="726473"/>
                </a:cubicBezTo>
                <a:cubicBezTo>
                  <a:pt x="1136276" y="650273"/>
                  <a:pt x="1532965" y="16020"/>
                  <a:pt x="1815353" y="332"/>
                </a:cubicBezTo>
                <a:cubicBezTo>
                  <a:pt x="2097741" y="-15356"/>
                  <a:pt x="2413748" y="529249"/>
                  <a:pt x="2622177" y="632343"/>
                </a:cubicBezTo>
                <a:cubicBezTo>
                  <a:pt x="2830606" y="735437"/>
                  <a:pt x="2944907" y="706302"/>
                  <a:pt x="3065930" y="618896"/>
                </a:cubicBezTo>
                <a:cubicBezTo>
                  <a:pt x="3186953" y="531490"/>
                  <a:pt x="3265395" y="159455"/>
                  <a:pt x="3348318" y="107908"/>
                </a:cubicBezTo>
                <a:cubicBezTo>
                  <a:pt x="3431242" y="56361"/>
                  <a:pt x="3497356" y="182987"/>
                  <a:pt x="3563471" y="309614"/>
                </a:cubicBezTo>
              </a:path>
            </a:pathLst>
          </a:cu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21">
            <a:extLst>
              <a:ext uri="{FF2B5EF4-FFF2-40B4-BE49-F238E27FC236}">
                <a16:creationId xmlns:a16="http://schemas.microsoft.com/office/drawing/2014/main" id="{6685EF44-C509-BEB3-DCB9-4D75FB1436C0}"/>
              </a:ext>
            </a:extLst>
          </p:cNvPr>
          <p:cNvSpPr/>
          <p:nvPr/>
        </p:nvSpPr>
        <p:spPr>
          <a:xfrm>
            <a:off x="4828974" y="4527646"/>
            <a:ext cx="2978077" cy="567327"/>
          </a:xfrm>
          <a:custGeom>
            <a:avLst/>
            <a:gdLst>
              <a:gd name="connsiteX0" fmla="*/ 0 w 3684494"/>
              <a:gd name="connsiteY0" fmla="*/ 0 h 1362889"/>
              <a:gd name="connsiteX1" fmla="*/ 242047 w 3684494"/>
              <a:gd name="connsiteY1" fmla="*/ 1210235 h 1362889"/>
              <a:gd name="connsiteX2" fmla="*/ 591670 w 3684494"/>
              <a:gd name="connsiteY2" fmla="*/ 1317811 h 1362889"/>
              <a:gd name="connsiteX3" fmla="*/ 995082 w 3684494"/>
              <a:gd name="connsiteY3" fmla="*/ 954741 h 1362889"/>
              <a:gd name="connsiteX4" fmla="*/ 1936376 w 3684494"/>
              <a:gd name="connsiteY4" fmla="*/ 1169894 h 1362889"/>
              <a:gd name="connsiteX5" fmla="*/ 2756647 w 3684494"/>
              <a:gd name="connsiteY5" fmla="*/ 685800 h 1362889"/>
              <a:gd name="connsiteX6" fmla="*/ 3684494 w 3684494"/>
              <a:gd name="connsiteY6" fmla="*/ 1250576 h 1362889"/>
              <a:gd name="connsiteX0" fmla="*/ 0 w 3509682"/>
              <a:gd name="connsiteY0" fmla="*/ 329030 h 642634"/>
              <a:gd name="connsiteX1" fmla="*/ 67235 w 3509682"/>
              <a:gd name="connsiteY1" fmla="*/ 524729 h 642634"/>
              <a:gd name="connsiteX2" fmla="*/ 416858 w 3509682"/>
              <a:gd name="connsiteY2" fmla="*/ 632305 h 642634"/>
              <a:gd name="connsiteX3" fmla="*/ 820270 w 3509682"/>
              <a:gd name="connsiteY3" fmla="*/ 269235 h 642634"/>
              <a:gd name="connsiteX4" fmla="*/ 1761564 w 3509682"/>
              <a:gd name="connsiteY4" fmla="*/ 484388 h 642634"/>
              <a:gd name="connsiteX5" fmla="*/ 2581835 w 3509682"/>
              <a:gd name="connsiteY5" fmla="*/ 294 h 642634"/>
              <a:gd name="connsiteX6" fmla="*/ 3509682 w 3509682"/>
              <a:gd name="connsiteY6" fmla="*/ 565070 h 642634"/>
              <a:gd name="connsiteX0" fmla="*/ 0 w 3509682"/>
              <a:gd name="connsiteY0" fmla="*/ 329030 h 649534"/>
              <a:gd name="connsiteX1" fmla="*/ 155725 w 3509682"/>
              <a:gd name="connsiteY1" fmla="*/ 564292 h 649534"/>
              <a:gd name="connsiteX2" fmla="*/ 416858 w 3509682"/>
              <a:gd name="connsiteY2" fmla="*/ 632305 h 649534"/>
              <a:gd name="connsiteX3" fmla="*/ 820270 w 3509682"/>
              <a:gd name="connsiteY3" fmla="*/ 269235 h 649534"/>
              <a:gd name="connsiteX4" fmla="*/ 1761564 w 3509682"/>
              <a:gd name="connsiteY4" fmla="*/ 484388 h 649534"/>
              <a:gd name="connsiteX5" fmla="*/ 2581835 w 3509682"/>
              <a:gd name="connsiteY5" fmla="*/ 294 h 649534"/>
              <a:gd name="connsiteX6" fmla="*/ 3509682 w 3509682"/>
              <a:gd name="connsiteY6" fmla="*/ 565070 h 649534"/>
              <a:gd name="connsiteX0" fmla="*/ 23604 w 3533286"/>
              <a:gd name="connsiteY0" fmla="*/ 329030 h 658850"/>
              <a:gd name="connsiteX1" fmla="*/ 179329 w 3533286"/>
              <a:gd name="connsiteY1" fmla="*/ 564292 h 658850"/>
              <a:gd name="connsiteX2" fmla="*/ 440462 w 3533286"/>
              <a:gd name="connsiteY2" fmla="*/ 632305 h 658850"/>
              <a:gd name="connsiteX3" fmla="*/ 843874 w 3533286"/>
              <a:gd name="connsiteY3" fmla="*/ 269235 h 658850"/>
              <a:gd name="connsiteX4" fmla="*/ 1785168 w 3533286"/>
              <a:gd name="connsiteY4" fmla="*/ 484388 h 658850"/>
              <a:gd name="connsiteX5" fmla="*/ 2605439 w 3533286"/>
              <a:gd name="connsiteY5" fmla="*/ 294 h 658850"/>
              <a:gd name="connsiteX6" fmla="*/ 3533286 w 3533286"/>
              <a:gd name="connsiteY6" fmla="*/ 565070 h 658850"/>
              <a:gd name="connsiteX0" fmla="*/ 0 w 3509682"/>
              <a:gd name="connsiteY0" fmla="*/ 329030 h 654436"/>
              <a:gd name="connsiteX1" fmla="*/ 155725 w 3509682"/>
              <a:gd name="connsiteY1" fmla="*/ 564292 h 654436"/>
              <a:gd name="connsiteX2" fmla="*/ 416858 w 3509682"/>
              <a:gd name="connsiteY2" fmla="*/ 632305 h 654436"/>
              <a:gd name="connsiteX3" fmla="*/ 820270 w 3509682"/>
              <a:gd name="connsiteY3" fmla="*/ 269235 h 654436"/>
              <a:gd name="connsiteX4" fmla="*/ 1761564 w 3509682"/>
              <a:gd name="connsiteY4" fmla="*/ 484388 h 654436"/>
              <a:gd name="connsiteX5" fmla="*/ 2581835 w 3509682"/>
              <a:gd name="connsiteY5" fmla="*/ 294 h 654436"/>
              <a:gd name="connsiteX6" fmla="*/ 3509682 w 3509682"/>
              <a:gd name="connsiteY6" fmla="*/ 565070 h 654436"/>
              <a:gd name="connsiteX0" fmla="*/ 0 w 3509682"/>
              <a:gd name="connsiteY0" fmla="*/ 329030 h 644884"/>
              <a:gd name="connsiteX1" fmla="*/ 155725 w 3509682"/>
              <a:gd name="connsiteY1" fmla="*/ 564292 h 644884"/>
              <a:gd name="connsiteX2" fmla="*/ 416858 w 3509682"/>
              <a:gd name="connsiteY2" fmla="*/ 632305 h 644884"/>
              <a:gd name="connsiteX3" fmla="*/ 820270 w 3509682"/>
              <a:gd name="connsiteY3" fmla="*/ 269235 h 644884"/>
              <a:gd name="connsiteX4" fmla="*/ 1761564 w 3509682"/>
              <a:gd name="connsiteY4" fmla="*/ 484388 h 644884"/>
              <a:gd name="connsiteX5" fmla="*/ 2581835 w 3509682"/>
              <a:gd name="connsiteY5" fmla="*/ 294 h 644884"/>
              <a:gd name="connsiteX6" fmla="*/ 3509682 w 3509682"/>
              <a:gd name="connsiteY6" fmla="*/ 565070 h 644884"/>
              <a:gd name="connsiteX0" fmla="*/ 0 w 3509682"/>
              <a:gd name="connsiteY0" fmla="*/ 329030 h 667105"/>
              <a:gd name="connsiteX1" fmla="*/ 160343 w 3509682"/>
              <a:gd name="connsiteY1" fmla="*/ 633976 h 667105"/>
              <a:gd name="connsiteX2" fmla="*/ 416858 w 3509682"/>
              <a:gd name="connsiteY2" fmla="*/ 632305 h 667105"/>
              <a:gd name="connsiteX3" fmla="*/ 820270 w 3509682"/>
              <a:gd name="connsiteY3" fmla="*/ 269235 h 667105"/>
              <a:gd name="connsiteX4" fmla="*/ 1761564 w 3509682"/>
              <a:gd name="connsiteY4" fmla="*/ 484388 h 667105"/>
              <a:gd name="connsiteX5" fmla="*/ 2581835 w 3509682"/>
              <a:gd name="connsiteY5" fmla="*/ 294 h 667105"/>
              <a:gd name="connsiteX6" fmla="*/ 3509682 w 3509682"/>
              <a:gd name="connsiteY6" fmla="*/ 565070 h 667105"/>
              <a:gd name="connsiteX0" fmla="*/ 0 w 3509682"/>
              <a:gd name="connsiteY0" fmla="*/ 329030 h 672580"/>
              <a:gd name="connsiteX1" fmla="*/ 160343 w 3509682"/>
              <a:gd name="connsiteY1" fmla="*/ 633976 h 672580"/>
              <a:gd name="connsiteX2" fmla="*/ 416858 w 3509682"/>
              <a:gd name="connsiteY2" fmla="*/ 632305 h 672580"/>
              <a:gd name="connsiteX3" fmla="*/ 820270 w 3509682"/>
              <a:gd name="connsiteY3" fmla="*/ 269235 h 672580"/>
              <a:gd name="connsiteX4" fmla="*/ 1761564 w 3509682"/>
              <a:gd name="connsiteY4" fmla="*/ 484388 h 672580"/>
              <a:gd name="connsiteX5" fmla="*/ 2581835 w 3509682"/>
              <a:gd name="connsiteY5" fmla="*/ 294 h 672580"/>
              <a:gd name="connsiteX6" fmla="*/ 3509682 w 3509682"/>
              <a:gd name="connsiteY6" fmla="*/ 565070 h 672580"/>
              <a:gd name="connsiteX0" fmla="*/ 0 w 3509682"/>
              <a:gd name="connsiteY0" fmla="*/ 329030 h 672580"/>
              <a:gd name="connsiteX1" fmla="*/ 160343 w 3509682"/>
              <a:gd name="connsiteY1" fmla="*/ 633976 h 672580"/>
              <a:gd name="connsiteX2" fmla="*/ 416858 w 3509682"/>
              <a:gd name="connsiteY2" fmla="*/ 632305 h 672580"/>
              <a:gd name="connsiteX3" fmla="*/ 820270 w 3509682"/>
              <a:gd name="connsiteY3" fmla="*/ 269235 h 672580"/>
              <a:gd name="connsiteX4" fmla="*/ 1761564 w 3509682"/>
              <a:gd name="connsiteY4" fmla="*/ 484388 h 672580"/>
              <a:gd name="connsiteX5" fmla="*/ 2581835 w 3509682"/>
              <a:gd name="connsiteY5" fmla="*/ 294 h 672580"/>
              <a:gd name="connsiteX6" fmla="*/ 3509682 w 3509682"/>
              <a:gd name="connsiteY6" fmla="*/ 565070 h 672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9682" h="672580">
                <a:moveTo>
                  <a:pt x="0" y="329030"/>
                </a:moveTo>
                <a:cubicBezTo>
                  <a:pt x="117899" y="601337"/>
                  <a:pt x="69862" y="590023"/>
                  <a:pt x="160343" y="633976"/>
                </a:cubicBezTo>
                <a:cubicBezTo>
                  <a:pt x="250824" y="677929"/>
                  <a:pt x="306870" y="693095"/>
                  <a:pt x="416858" y="632305"/>
                </a:cubicBezTo>
                <a:cubicBezTo>
                  <a:pt x="526846" y="571515"/>
                  <a:pt x="596152" y="293888"/>
                  <a:pt x="820270" y="269235"/>
                </a:cubicBezTo>
                <a:cubicBezTo>
                  <a:pt x="1044388" y="244582"/>
                  <a:pt x="1467970" y="529212"/>
                  <a:pt x="1761564" y="484388"/>
                </a:cubicBezTo>
                <a:cubicBezTo>
                  <a:pt x="2055158" y="439565"/>
                  <a:pt x="2290482" y="-13153"/>
                  <a:pt x="2581835" y="294"/>
                </a:cubicBezTo>
                <a:cubicBezTo>
                  <a:pt x="2873188" y="13741"/>
                  <a:pt x="3191435" y="289405"/>
                  <a:pt x="3509682" y="565070"/>
                </a:cubicBezTo>
              </a:path>
            </a:pathLst>
          </a:cu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Box 22">
            <a:extLst>
              <a:ext uri="{FF2B5EF4-FFF2-40B4-BE49-F238E27FC236}">
                <a16:creationId xmlns:a16="http://schemas.microsoft.com/office/drawing/2014/main" id="{B7FAD046-4C73-C9C2-9215-148C44A430F3}"/>
              </a:ext>
            </a:extLst>
          </p:cNvPr>
          <p:cNvSpPr txBox="1"/>
          <p:nvPr/>
        </p:nvSpPr>
        <p:spPr>
          <a:xfrm>
            <a:off x="7827313" y="4883572"/>
            <a:ext cx="949875" cy="369332"/>
          </a:xfrm>
          <a:prstGeom prst="rect">
            <a:avLst/>
          </a:prstGeom>
          <a:noFill/>
        </p:spPr>
        <p:txBody>
          <a:bodyPr wrap="none" rtlCol="0">
            <a:spAutoFit/>
          </a:bodyPr>
          <a:lstStyle/>
          <a:p>
            <a:r>
              <a:rPr lang="en-US" dirty="0">
                <a:solidFill>
                  <a:schemeClr val="accent2"/>
                </a:solidFill>
              </a:rPr>
              <a:t>Nevada</a:t>
            </a:r>
          </a:p>
        </p:txBody>
      </p:sp>
      <p:grpSp>
        <p:nvGrpSpPr>
          <p:cNvPr id="30" name="Group 29">
            <a:extLst>
              <a:ext uri="{FF2B5EF4-FFF2-40B4-BE49-F238E27FC236}">
                <a16:creationId xmlns:a16="http://schemas.microsoft.com/office/drawing/2014/main" id="{E891D331-1BE0-B85D-AEAE-62D163A5A282}"/>
              </a:ext>
            </a:extLst>
          </p:cNvPr>
          <p:cNvGrpSpPr/>
          <p:nvPr/>
        </p:nvGrpSpPr>
        <p:grpSpPr>
          <a:xfrm>
            <a:off x="586748" y="5574844"/>
            <a:ext cx="3292773" cy="1184847"/>
            <a:chOff x="586748" y="5574844"/>
            <a:chExt cx="3292773" cy="1184847"/>
          </a:xfrm>
        </p:grpSpPr>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C219ED08-28C0-E386-E9FD-B7FD39B135F0}"/>
                    </a:ext>
                  </a:extLst>
                </p:cNvPr>
                <p:cNvSpPr txBox="1"/>
                <p:nvPr/>
              </p:nvSpPr>
              <p:spPr>
                <a:xfrm>
                  <a:off x="871390" y="5975887"/>
                  <a:ext cx="3008131" cy="78380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sty m:val="p"/>
                          </m:rPr>
                          <a:rPr lang="en-US" sz="2400" b="0" i="0" smtClean="0">
                            <a:latin typeface="Cambria Math" panose="02040503050406030204" pitchFamily="18" charset="0"/>
                          </a:rPr>
                          <m:t>CA</m:t>
                        </m:r>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3</m:t>
                            </m:r>
                          </m:num>
                          <m:den>
                            <m:r>
                              <a:rPr lang="en-US" sz="2400" b="0" i="1" smtClean="0">
                                <a:latin typeface="Cambria Math" panose="02040503050406030204" pitchFamily="18" charset="0"/>
                              </a:rPr>
                              <m:t>4</m:t>
                            </m:r>
                          </m:den>
                        </m:f>
                        <m:r>
                          <a:rPr lang="en-US" sz="2400" b="0" i="1" smtClean="0">
                            <a:latin typeface="Cambria Math" panose="02040503050406030204" pitchFamily="18" charset="0"/>
                          </a:rPr>
                          <m:t>⋅</m:t>
                        </m:r>
                        <m:r>
                          <m:rPr>
                            <m:sty m:val="p"/>
                          </m:rPr>
                          <a:rPr lang="en-US" sz="2400" b="0" i="0" smtClean="0">
                            <a:latin typeface="Cambria Math" panose="02040503050406030204" pitchFamily="18" charset="0"/>
                          </a:rPr>
                          <m:t>CO</m:t>
                        </m:r>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1</m:t>
                            </m:r>
                          </m:num>
                          <m:den>
                            <m:r>
                              <a:rPr lang="en-US" sz="2400" b="0" i="1" smtClean="0">
                                <a:latin typeface="Cambria Math" panose="02040503050406030204" pitchFamily="18" charset="0"/>
                              </a:rPr>
                              <m:t>4</m:t>
                            </m:r>
                          </m:den>
                        </m:f>
                        <m:r>
                          <a:rPr lang="en-US" sz="2400" b="0" i="1" smtClean="0">
                            <a:latin typeface="Cambria Math" panose="02040503050406030204" pitchFamily="18" charset="0"/>
                          </a:rPr>
                          <m:t>⋅</m:t>
                        </m:r>
                        <m:r>
                          <m:rPr>
                            <m:sty m:val="p"/>
                          </m:rPr>
                          <a:rPr lang="en-US" sz="2400" b="0" i="0" smtClean="0">
                            <a:latin typeface="Cambria Math" panose="02040503050406030204" pitchFamily="18" charset="0"/>
                          </a:rPr>
                          <m:t>NV</m:t>
                        </m:r>
                      </m:oMath>
                    </m:oMathPara>
                  </a14:m>
                  <a:endParaRPr lang="en-US" sz="2400" dirty="0"/>
                </a:p>
              </p:txBody>
            </p:sp>
          </mc:Choice>
          <mc:Fallback xmlns="">
            <p:sp>
              <p:nvSpPr>
                <p:cNvPr id="15" name="TextBox 14">
                  <a:extLst>
                    <a:ext uri="{FF2B5EF4-FFF2-40B4-BE49-F238E27FC236}">
                      <a16:creationId xmlns:a16="http://schemas.microsoft.com/office/drawing/2014/main" id="{C219ED08-28C0-E386-E9FD-B7FD39B135F0}"/>
                    </a:ext>
                  </a:extLst>
                </p:cNvPr>
                <p:cNvSpPr txBox="1">
                  <a:spLocks noRot="1" noChangeAspect="1" noMove="1" noResize="1" noEditPoints="1" noAdjustHandles="1" noChangeArrowheads="1" noChangeShapeType="1" noTextEdit="1"/>
                </p:cNvSpPr>
                <p:nvPr/>
              </p:nvSpPr>
              <p:spPr>
                <a:xfrm>
                  <a:off x="871390" y="5975887"/>
                  <a:ext cx="3008131" cy="783804"/>
                </a:xfrm>
                <a:prstGeom prst="rect">
                  <a:avLst/>
                </a:prstGeom>
                <a:blipFill>
                  <a:blip r:embed="rId3"/>
                  <a:stretch>
                    <a:fillRect b="-6349"/>
                  </a:stretch>
                </a:blipFill>
              </p:spPr>
              <p:txBody>
                <a:bodyPr/>
                <a:lstStyle/>
                <a:p>
                  <a:r>
                    <a:rPr lang="en-US">
                      <a:noFill/>
                    </a:rPr>
                    <a:t> </a:t>
                  </a:r>
                </a:p>
              </p:txBody>
            </p:sp>
          </mc:Fallback>
        </mc:AlternateContent>
        <p:sp>
          <p:nvSpPr>
            <p:cNvPr id="29" name="TextBox 28">
              <a:extLst>
                <a:ext uri="{FF2B5EF4-FFF2-40B4-BE49-F238E27FC236}">
                  <a16:creationId xmlns:a16="http://schemas.microsoft.com/office/drawing/2014/main" id="{A0044935-ACDA-8178-C5B2-25CD40B22D1F}"/>
                </a:ext>
              </a:extLst>
            </p:cNvPr>
            <p:cNvSpPr txBox="1"/>
            <p:nvPr/>
          </p:nvSpPr>
          <p:spPr>
            <a:xfrm>
              <a:off x="586748" y="5574844"/>
              <a:ext cx="2547923" cy="369332"/>
            </a:xfrm>
            <a:prstGeom prst="rect">
              <a:avLst/>
            </a:prstGeom>
            <a:noFill/>
          </p:spPr>
          <p:txBody>
            <a:bodyPr wrap="square" rtlCol="0">
              <a:spAutoFit/>
            </a:bodyPr>
            <a:lstStyle/>
            <a:p>
              <a:r>
                <a:rPr lang="en-US" dirty="0"/>
                <a:t>In pre-treatment data,</a:t>
              </a:r>
            </a:p>
          </p:txBody>
        </p:sp>
      </p:grpSp>
      <p:grpSp>
        <p:nvGrpSpPr>
          <p:cNvPr id="4" name="Group 3">
            <a:extLst>
              <a:ext uri="{FF2B5EF4-FFF2-40B4-BE49-F238E27FC236}">
                <a16:creationId xmlns:a16="http://schemas.microsoft.com/office/drawing/2014/main" id="{C5101017-3BB7-2F4F-1DE8-75DEF43C3041}"/>
              </a:ext>
            </a:extLst>
          </p:cNvPr>
          <p:cNvGrpSpPr/>
          <p:nvPr/>
        </p:nvGrpSpPr>
        <p:grpSpPr>
          <a:xfrm>
            <a:off x="1829923" y="3243376"/>
            <a:ext cx="5974195" cy="855971"/>
            <a:chOff x="1832856" y="4527646"/>
            <a:chExt cx="5974195" cy="855971"/>
          </a:xfrm>
        </p:grpSpPr>
        <p:sp>
          <p:nvSpPr>
            <p:cNvPr id="16" name="Freeform 15">
              <a:extLst>
                <a:ext uri="{FF2B5EF4-FFF2-40B4-BE49-F238E27FC236}">
                  <a16:creationId xmlns:a16="http://schemas.microsoft.com/office/drawing/2014/main" id="{35A2C889-C449-A60E-51BA-8914A045E233}"/>
                </a:ext>
              </a:extLst>
            </p:cNvPr>
            <p:cNvSpPr/>
            <p:nvPr/>
          </p:nvSpPr>
          <p:spPr>
            <a:xfrm>
              <a:off x="1832856" y="4573207"/>
              <a:ext cx="3023719" cy="810410"/>
            </a:xfrm>
            <a:custGeom>
              <a:avLst/>
              <a:gdLst>
                <a:gd name="connsiteX0" fmla="*/ 0 w 3563471"/>
                <a:gd name="connsiteY0" fmla="*/ 955073 h 955073"/>
                <a:gd name="connsiteX1" fmla="*/ 564777 w 3563471"/>
                <a:gd name="connsiteY1" fmla="*/ 457532 h 955073"/>
                <a:gd name="connsiteX2" fmla="*/ 927847 w 3563471"/>
                <a:gd name="connsiteY2" fmla="*/ 726473 h 955073"/>
                <a:gd name="connsiteX3" fmla="*/ 1815353 w 3563471"/>
                <a:gd name="connsiteY3" fmla="*/ 332 h 955073"/>
                <a:gd name="connsiteX4" fmla="*/ 2622177 w 3563471"/>
                <a:gd name="connsiteY4" fmla="*/ 632343 h 955073"/>
                <a:gd name="connsiteX5" fmla="*/ 3065930 w 3563471"/>
                <a:gd name="connsiteY5" fmla="*/ 618896 h 955073"/>
                <a:gd name="connsiteX6" fmla="*/ 3348318 w 3563471"/>
                <a:gd name="connsiteY6" fmla="*/ 107908 h 955073"/>
                <a:gd name="connsiteX7" fmla="*/ 3563471 w 3563471"/>
                <a:gd name="connsiteY7" fmla="*/ 309614 h 9550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63471" h="955073">
                  <a:moveTo>
                    <a:pt x="0" y="955073"/>
                  </a:moveTo>
                  <a:cubicBezTo>
                    <a:pt x="205068" y="725352"/>
                    <a:pt x="410136" y="495632"/>
                    <a:pt x="564777" y="457532"/>
                  </a:cubicBezTo>
                  <a:cubicBezTo>
                    <a:pt x="719418" y="419432"/>
                    <a:pt x="719418" y="802673"/>
                    <a:pt x="927847" y="726473"/>
                  </a:cubicBezTo>
                  <a:cubicBezTo>
                    <a:pt x="1136276" y="650273"/>
                    <a:pt x="1532965" y="16020"/>
                    <a:pt x="1815353" y="332"/>
                  </a:cubicBezTo>
                  <a:cubicBezTo>
                    <a:pt x="2097741" y="-15356"/>
                    <a:pt x="2413748" y="529249"/>
                    <a:pt x="2622177" y="632343"/>
                  </a:cubicBezTo>
                  <a:cubicBezTo>
                    <a:pt x="2830606" y="735437"/>
                    <a:pt x="2944907" y="706302"/>
                    <a:pt x="3065930" y="618896"/>
                  </a:cubicBezTo>
                  <a:cubicBezTo>
                    <a:pt x="3186953" y="531490"/>
                    <a:pt x="3265395" y="159455"/>
                    <a:pt x="3348318" y="107908"/>
                  </a:cubicBezTo>
                  <a:cubicBezTo>
                    <a:pt x="3431242" y="56361"/>
                    <a:pt x="3497356" y="182987"/>
                    <a:pt x="3563471" y="309614"/>
                  </a:cubicBezTo>
                </a:path>
              </a:pathLst>
            </a:custGeom>
            <a:noFill/>
            <a:ln w="28575">
              <a:solidFill>
                <a:schemeClr val="accent6"/>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6"/>
                </a:solidFill>
              </a:endParaRPr>
            </a:p>
          </p:txBody>
        </p:sp>
        <p:sp>
          <p:nvSpPr>
            <p:cNvPr id="19" name="Freeform 18">
              <a:extLst>
                <a:ext uri="{FF2B5EF4-FFF2-40B4-BE49-F238E27FC236}">
                  <a16:creationId xmlns:a16="http://schemas.microsoft.com/office/drawing/2014/main" id="{2495D73C-2179-21BD-C59C-D0344B3080D3}"/>
                </a:ext>
              </a:extLst>
            </p:cNvPr>
            <p:cNvSpPr/>
            <p:nvPr/>
          </p:nvSpPr>
          <p:spPr>
            <a:xfrm>
              <a:off x="4828974" y="4527646"/>
              <a:ext cx="2978077" cy="567327"/>
            </a:xfrm>
            <a:custGeom>
              <a:avLst/>
              <a:gdLst>
                <a:gd name="connsiteX0" fmla="*/ 0 w 3684494"/>
                <a:gd name="connsiteY0" fmla="*/ 0 h 1362889"/>
                <a:gd name="connsiteX1" fmla="*/ 242047 w 3684494"/>
                <a:gd name="connsiteY1" fmla="*/ 1210235 h 1362889"/>
                <a:gd name="connsiteX2" fmla="*/ 591670 w 3684494"/>
                <a:gd name="connsiteY2" fmla="*/ 1317811 h 1362889"/>
                <a:gd name="connsiteX3" fmla="*/ 995082 w 3684494"/>
                <a:gd name="connsiteY3" fmla="*/ 954741 h 1362889"/>
                <a:gd name="connsiteX4" fmla="*/ 1936376 w 3684494"/>
                <a:gd name="connsiteY4" fmla="*/ 1169894 h 1362889"/>
                <a:gd name="connsiteX5" fmla="*/ 2756647 w 3684494"/>
                <a:gd name="connsiteY5" fmla="*/ 685800 h 1362889"/>
                <a:gd name="connsiteX6" fmla="*/ 3684494 w 3684494"/>
                <a:gd name="connsiteY6" fmla="*/ 1250576 h 1362889"/>
                <a:gd name="connsiteX0" fmla="*/ 0 w 3509682"/>
                <a:gd name="connsiteY0" fmla="*/ 329030 h 642634"/>
                <a:gd name="connsiteX1" fmla="*/ 67235 w 3509682"/>
                <a:gd name="connsiteY1" fmla="*/ 524729 h 642634"/>
                <a:gd name="connsiteX2" fmla="*/ 416858 w 3509682"/>
                <a:gd name="connsiteY2" fmla="*/ 632305 h 642634"/>
                <a:gd name="connsiteX3" fmla="*/ 820270 w 3509682"/>
                <a:gd name="connsiteY3" fmla="*/ 269235 h 642634"/>
                <a:gd name="connsiteX4" fmla="*/ 1761564 w 3509682"/>
                <a:gd name="connsiteY4" fmla="*/ 484388 h 642634"/>
                <a:gd name="connsiteX5" fmla="*/ 2581835 w 3509682"/>
                <a:gd name="connsiteY5" fmla="*/ 294 h 642634"/>
                <a:gd name="connsiteX6" fmla="*/ 3509682 w 3509682"/>
                <a:gd name="connsiteY6" fmla="*/ 565070 h 642634"/>
                <a:gd name="connsiteX0" fmla="*/ 0 w 3509682"/>
                <a:gd name="connsiteY0" fmla="*/ 329030 h 649534"/>
                <a:gd name="connsiteX1" fmla="*/ 155725 w 3509682"/>
                <a:gd name="connsiteY1" fmla="*/ 564292 h 649534"/>
                <a:gd name="connsiteX2" fmla="*/ 416858 w 3509682"/>
                <a:gd name="connsiteY2" fmla="*/ 632305 h 649534"/>
                <a:gd name="connsiteX3" fmla="*/ 820270 w 3509682"/>
                <a:gd name="connsiteY3" fmla="*/ 269235 h 649534"/>
                <a:gd name="connsiteX4" fmla="*/ 1761564 w 3509682"/>
                <a:gd name="connsiteY4" fmla="*/ 484388 h 649534"/>
                <a:gd name="connsiteX5" fmla="*/ 2581835 w 3509682"/>
                <a:gd name="connsiteY5" fmla="*/ 294 h 649534"/>
                <a:gd name="connsiteX6" fmla="*/ 3509682 w 3509682"/>
                <a:gd name="connsiteY6" fmla="*/ 565070 h 649534"/>
                <a:gd name="connsiteX0" fmla="*/ 23604 w 3533286"/>
                <a:gd name="connsiteY0" fmla="*/ 329030 h 658850"/>
                <a:gd name="connsiteX1" fmla="*/ 179329 w 3533286"/>
                <a:gd name="connsiteY1" fmla="*/ 564292 h 658850"/>
                <a:gd name="connsiteX2" fmla="*/ 440462 w 3533286"/>
                <a:gd name="connsiteY2" fmla="*/ 632305 h 658850"/>
                <a:gd name="connsiteX3" fmla="*/ 843874 w 3533286"/>
                <a:gd name="connsiteY3" fmla="*/ 269235 h 658850"/>
                <a:gd name="connsiteX4" fmla="*/ 1785168 w 3533286"/>
                <a:gd name="connsiteY4" fmla="*/ 484388 h 658850"/>
                <a:gd name="connsiteX5" fmla="*/ 2605439 w 3533286"/>
                <a:gd name="connsiteY5" fmla="*/ 294 h 658850"/>
                <a:gd name="connsiteX6" fmla="*/ 3533286 w 3533286"/>
                <a:gd name="connsiteY6" fmla="*/ 565070 h 658850"/>
                <a:gd name="connsiteX0" fmla="*/ 0 w 3509682"/>
                <a:gd name="connsiteY0" fmla="*/ 329030 h 654436"/>
                <a:gd name="connsiteX1" fmla="*/ 155725 w 3509682"/>
                <a:gd name="connsiteY1" fmla="*/ 564292 h 654436"/>
                <a:gd name="connsiteX2" fmla="*/ 416858 w 3509682"/>
                <a:gd name="connsiteY2" fmla="*/ 632305 h 654436"/>
                <a:gd name="connsiteX3" fmla="*/ 820270 w 3509682"/>
                <a:gd name="connsiteY3" fmla="*/ 269235 h 654436"/>
                <a:gd name="connsiteX4" fmla="*/ 1761564 w 3509682"/>
                <a:gd name="connsiteY4" fmla="*/ 484388 h 654436"/>
                <a:gd name="connsiteX5" fmla="*/ 2581835 w 3509682"/>
                <a:gd name="connsiteY5" fmla="*/ 294 h 654436"/>
                <a:gd name="connsiteX6" fmla="*/ 3509682 w 3509682"/>
                <a:gd name="connsiteY6" fmla="*/ 565070 h 654436"/>
                <a:gd name="connsiteX0" fmla="*/ 0 w 3509682"/>
                <a:gd name="connsiteY0" fmla="*/ 329030 h 644884"/>
                <a:gd name="connsiteX1" fmla="*/ 155725 w 3509682"/>
                <a:gd name="connsiteY1" fmla="*/ 564292 h 644884"/>
                <a:gd name="connsiteX2" fmla="*/ 416858 w 3509682"/>
                <a:gd name="connsiteY2" fmla="*/ 632305 h 644884"/>
                <a:gd name="connsiteX3" fmla="*/ 820270 w 3509682"/>
                <a:gd name="connsiteY3" fmla="*/ 269235 h 644884"/>
                <a:gd name="connsiteX4" fmla="*/ 1761564 w 3509682"/>
                <a:gd name="connsiteY4" fmla="*/ 484388 h 644884"/>
                <a:gd name="connsiteX5" fmla="*/ 2581835 w 3509682"/>
                <a:gd name="connsiteY5" fmla="*/ 294 h 644884"/>
                <a:gd name="connsiteX6" fmla="*/ 3509682 w 3509682"/>
                <a:gd name="connsiteY6" fmla="*/ 565070 h 644884"/>
                <a:gd name="connsiteX0" fmla="*/ 0 w 3509682"/>
                <a:gd name="connsiteY0" fmla="*/ 329030 h 667105"/>
                <a:gd name="connsiteX1" fmla="*/ 160343 w 3509682"/>
                <a:gd name="connsiteY1" fmla="*/ 633976 h 667105"/>
                <a:gd name="connsiteX2" fmla="*/ 416858 w 3509682"/>
                <a:gd name="connsiteY2" fmla="*/ 632305 h 667105"/>
                <a:gd name="connsiteX3" fmla="*/ 820270 w 3509682"/>
                <a:gd name="connsiteY3" fmla="*/ 269235 h 667105"/>
                <a:gd name="connsiteX4" fmla="*/ 1761564 w 3509682"/>
                <a:gd name="connsiteY4" fmla="*/ 484388 h 667105"/>
                <a:gd name="connsiteX5" fmla="*/ 2581835 w 3509682"/>
                <a:gd name="connsiteY5" fmla="*/ 294 h 667105"/>
                <a:gd name="connsiteX6" fmla="*/ 3509682 w 3509682"/>
                <a:gd name="connsiteY6" fmla="*/ 565070 h 667105"/>
                <a:gd name="connsiteX0" fmla="*/ 0 w 3509682"/>
                <a:gd name="connsiteY0" fmla="*/ 329030 h 672580"/>
                <a:gd name="connsiteX1" fmla="*/ 160343 w 3509682"/>
                <a:gd name="connsiteY1" fmla="*/ 633976 h 672580"/>
                <a:gd name="connsiteX2" fmla="*/ 416858 w 3509682"/>
                <a:gd name="connsiteY2" fmla="*/ 632305 h 672580"/>
                <a:gd name="connsiteX3" fmla="*/ 820270 w 3509682"/>
                <a:gd name="connsiteY3" fmla="*/ 269235 h 672580"/>
                <a:gd name="connsiteX4" fmla="*/ 1761564 w 3509682"/>
                <a:gd name="connsiteY4" fmla="*/ 484388 h 672580"/>
                <a:gd name="connsiteX5" fmla="*/ 2581835 w 3509682"/>
                <a:gd name="connsiteY5" fmla="*/ 294 h 672580"/>
                <a:gd name="connsiteX6" fmla="*/ 3509682 w 3509682"/>
                <a:gd name="connsiteY6" fmla="*/ 565070 h 672580"/>
                <a:gd name="connsiteX0" fmla="*/ 0 w 3509682"/>
                <a:gd name="connsiteY0" fmla="*/ 329030 h 672580"/>
                <a:gd name="connsiteX1" fmla="*/ 160343 w 3509682"/>
                <a:gd name="connsiteY1" fmla="*/ 633976 h 672580"/>
                <a:gd name="connsiteX2" fmla="*/ 416858 w 3509682"/>
                <a:gd name="connsiteY2" fmla="*/ 632305 h 672580"/>
                <a:gd name="connsiteX3" fmla="*/ 820270 w 3509682"/>
                <a:gd name="connsiteY3" fmla="*/ 269235 h 672580"/>
                <a:gd name="connsiteX4" fmla="*/ 1761564 w 3509682"/>
                <a:gd name="connsiteY4" fmla="*/ 484388 h 672580"/>
                <a:gd name="connsiteX5" fmla="*/ 2581835 w 3509682"/>
                <a:gd name="connsiteY5" fmla="*/ 294 h 672580"/>
                <a:gd name="connsiteX6" fmla="*/ 3509682 w 3509682"/>
                <a:gd name="connsiteY6" fmla="*/ 565070 h 672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9682" h="672580">
                  <a:moveTo>
                    <a:pt x="0" y="329030"/>
                  </a:moveTo>
                  <a:cubicBezTo>
                    <a:pt x="117899" y="601337"/>
                    <a:pt x="69862" y="590023"/>
                    <a:pt x="160343" y="633976"/>
                  </a:cubicBezTo>
                  <a:cubicBezTo>
                    <a:pt x="250824" y="677929"/>
                    <a:pt x="306870" y="693095"/>
                    <a:pt x="416858" y="632305"/>
                  </a:cubicBezTo>
                  <a:cubicBezTo>
                    <a:pt x="526846" y="571515"/>
                    <a:pt x="596152" y="293888"/>
                    <a:pt x="820270" y="269235"/>
                  </a:cubicBezTo>
                  <a:cubicBezTo>
                    <a:pt x="1044388" y="244582"/>
                    <a:pt x="1467970" y="529212"/>
                    <a:pt x="1761564" y="484388"/>
                  </a:cubicBezTo>
                  <a:cubicBezTo>
                    <a:pt x="2055158" y="439565"/>
                    <a:pt x="2290482" y="-13153"/>
                    <a:pt x="2581835" y="294"/>
                  </a:cubicBezTo>
                  <a:cubicBezTo>
                    <a:pt x="2873188" y="13741"/>
                    <a:pt x="3191435" y="289405"/>
                    <a:pt x="3509682" y="565070"/>
                  </a:cubicBezTo>
                </a:path>
              </a:pathLst>
            </a:custGeom>
            <a:noFill/>
            <a:ln w="28575">
              <a:solidFill>
                <a:schemeClr val="accent6"/>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6"/>
                </a:solidFill>
              </a:endParaRPr>
            </a:p>
          </p:txBody>
        </p:sp>
      </p:grpSp>
      <p:sp>
        <p:nvSpPr>
          <p:cNvPr id="20" name="TextBox 19">
            <a:extLst>
              <a:ext uri="{FF2B5EF4-FFF2-40B4-BE49-F238E27FC236}">
                <a16:creationId xmlns:a16="http://schemas.microsoft.com/office/drawing/2014/main" id="{0D824C14-18A6-DABE-C2AF-1690C0E44293}"/>
              </a:ext>
            </a:extLst>
          </p:cNvPr>
          <p:cNvSpPr txBox="1"/>
          <p:nvPr/>
        </p:nvSpPr>
        <p:spPr>
          <a:xfrm>
            <a:off x="7804118" y="3562244"/>
            <a:ext cx="1463093" cy="369332"/>
          </a:xfrm>
          <a:prstGeom prst="rect">
            <a:avLst/>
          </a:prstGeom>
          <a:noFill/>
        </p:spPr>
        <p:txBody>
          <a:bodyPr wrap="none" rtlCol="0">
            <a:spAutoFit/>
          </a:bodyPr>
          <a:lstStyle/>
          <a:p>
            <a:r>
              <a:rPr lang="en-US" dirty="0">
                <a:solidFill>
                  <a:schemeClr val="accent6"/>
                </a:solidFill>
              </a:rPr>
              <a:t>Synthetic CA</a:t>
            </a:r>
          </a:p>
        </p:txBody>
      </p:sp>
    </p:spTree>
    <p:extLst>
      <p:ext uri="{BB962C8B-B14F-4D97-AF65-F5344CB8AC3E}">
        <p14:creationId xmlns:p14="http://schemas.microsoft.com/office/powerpoint/2010/main" val="405414096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D4D3C8-670D-CAE0-4F5B-1BA62B6135AD}"/>
              </a:ext>
            </a:extLst>
          </p:cNvPr>
          <p:cNvSpPr>
            <a:spLocks noGrp="1"/>
          </p:cNvSpPr>
          <p:nvPr>
            <p:ph type="title"/>
          </p:nvPr>
        </p:nvSpPr>
        <p:spPr/>
        <p:txBody>
          <a:bodyPr/>
          <a:lstStyle/>
          <a:p>
            <a:r>
              <a:rPr lang="en-US" dirty="0"/>
              <a:t>Synthetic controls generalizes </a:t>
            </a:r>
            <a:r>
              <a:rPr lang="en-US" dirty="0" err="1"/>
              <a:t>DiD</a:t>
            </a:r>
            <a:endParaRPr lang="en-US" dirty="0"/>
          </a:p>
        </p:txBody>
      </p:sp>
      <p:sp>
        <p:nvSpPr>
          <p:cNvPr id="3" name="Content Placeholder 2">
            <a:extLst>
              <a:ext uri="{FF2B5EF4-FFF2-40B4-BE49-F238E27FC236}">
                <a16:creationId xmlns:a16="http://schemas.microsoft.com/office/drawing/2014/main" id="{E5284291-9ED7-6956-07EE-FBDEC8718E50}"/>
              </a:ext>
            </a:extLst>
          </p:cNvPr>
          <p:cNvSpPr>
            <a:spLocks noGrp="1"/>
          </p:cNvSpPr>
          <p:nvPr>
            <p:ph idx="1"/>
          </p:nvPr>
        </p:nvSpPr>
        <p:spPr>
          <a:xfrm>
            <a:off x="838200" y="1594479"/>
            <a:ext cx="10515600" cy="4351338"/>
          </a:xfrm>
        </p:spPr>
        <p:txBody>
          <a:bodyPr/>
          <a:lstStyle/>
          <a:p>
            <a:r>
              <a:rPr lang="en-US" dirty="0"/>
              <a:t>Suppose parallel trends did hold:</a:t>
            </a:r>
            <a:endParaRPr lang="en-US" b="1" dirty="0"/>
          </a:p>
        </p:txBody>
      </p:sp>
      <p:cxnSp>
        <p:nvCxnSpPr>
          <p:cNvPr id="5" name="Straight Arrow Connector 4">
            <a:extLst>
              <a:ext uri="{FF2B5EF4-FFF2-40B4-BE49-F238E27FC236}">
                <a16:creationId xmlns:a16="http://schemas.microsoft.com/office/drawing/2014/main" id="{2DC72836-9BA8-6566-37EC-C8B7FC35E3EA}"/>
              </a:ext>
            </a:extLst>
          </p:cNvPr>
          <p:cNvCxnSpPr/>
          <p:nvPr/>
        </p:nvCxnSpPr>
        <p:spPr>
          <a:xfrm>
            <a:off x="1862357" y="5398956"/>
            <a:ext cx="5965518" cy="0"/>
          </a:xfrm>
          <a:prstGeom prst="straightConnector1">
            <a:avLst/>
          </a:prstGeom>
          <a:ln w="38100">
            <a:tailEnd type="triangle"/>
          </a:ln>
        </p:spPr>
        <p:style>
          <a:lnRef idx="2">
            <a:schemeClr val="accent1"/>
          </a:lnRef>
          <a:fillRef idx="0">
            <a:schemeClr val="accent1"/>
          </a:fillRef>
          <a:effectRef idx="1">
            <a:schemeClr val="accent1"/>
          </a:effectRef>
          <a:fontRef idx="minor">
            <a:schemeClr val="tx1"/>
          </a:fontRef>
        </p:style>
      </p:cxnSp>
      <p:cxnSp>
        <p:nvCxnSpPr>
          <p:cNvPr id="6" name="Straight Arrow Connector 5">
            <a:extLst>
              <a:ext uri="{FF2B5EF4-FFF2-40B4-BE49-F238E27FC236}">
                <a16:creationId xmlns:a16="http://schemas.microsoft.com/office/drawing/2014/main" id="{F5BC8EC4-9B36-2437-4B89-4E0A3893D10E}"/>
              </a:ext>
            </a:extLst>
          </p:cNvPr>
          <p:cNvCxnSpPr>
            <a:cxnSpLocks/>
          </p:cNvCxnSpPr>
          <p:nvPr/>
        </p:nvCxnSpPr>
        <p:spPr>
          <a:xfrm flipV="1">
            <a:off x="1862357" y="2746709"/>
            <a:ext cx="0" cy="2652247"/>
          </a:xfrm>
          <a:prstGeom prst="straightConnector1">
            <a:avLst/>
          </a:prstGeom>
          <a:ln w="38100">
            <a:tailEnd type="triangle"/>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F5EBB77C-9CC8-1843-D063-A5841F9D504D}"/>
              </a:ext>
            </a:extLst>
          </p:cNvPr>
          <p:cNvSpPr txBox="1"/>
          <p:nvPr/>
        </p:nvSpPr>
        <p:spPr>
          <a:xfrm>
            <a:off x="7282493" y="5438027"/>
            <a:ext cx="545382" cy="301189"/>
          </a:xfrm>
          <a:prstGeom prst="rect">
            <a:avLst/>
          </a:prstGeom>
          <a:noFill/>
        </p:spPr>
        <p:txBody>
          <a:bodyPr wrap="none" rtlCol="0">
            <a:spAutoFit/>
          </a:bodyPr>
          <a:lstStyle/>
          <a:p>
            <a:r>
              <a:rPr lang="en-US" dirty="0">
                <a:solidFill>
                  <a:schemeClr val="accent1"/>
                </a:solidFill>
              </a:rPr>
              <a:t>Time</a:t>
            </a:r>
          </a:p>
        </p:txBody>
      </p:sp>
      <p:sp>
        <p:nvSpPr>
          <p:cNvPr id="8" name="TextBox 7">
            <a:extLst>
              <a:ext uri="{FF2B5EF4-FFF2-40B4-BE49-F238E27FC236}">
                <a16:creationId xmlns:a16="http://schemas.microsoft.com/office/drawing/2014/main" id="{DAD5D569-0078-0257-8A84-58543165D34A}"/>
              </a:ext>
            </a:extLst>
          </p:cNvPr>
          <p:cNvSpPr txBox="1"/>
          <p:nvPr/>
        </p:nvSpPr>
        <p:spPr>
          <a:xfrm>
            <a:off x="280035" y="2597046"/>
            <a:ext cx="1506069" cy="646331"/>
          </a:xfrm>
          <a:prstGeom prst="rect">
            <a:avLst/>
          </a:prstGeom>
          <a:noFill/>
        </p:spPr>
        <p:txBody>
          <a:bodyPr wrap="square" rtlCol="0">
            <a:spAutoFit/>
          </a:bodyPr>
          <a:lstStyle/>
          <a:p>
            <a:pPr algn="r"/>
            <a:r>
              <a:rPr lang="en-US" dirty="0">
                <a:solidFill>
                  <a:schemeClr val="accent1"/>
                </a:solidFill>
              </a:rPr>
              <a:t>Cigarette sales</a:t>
            </a:r>
          </a:p>
        </p:txBody>
      </p:sp>
      <p:sp>
        <p:nvSpPr>
          <p:cNvPr id="9" name="TextBox 8">
            <a:extLst>
              <a:ext uri="{FF2B5EF4-FFF2-40B4-BE49-F238E27FC236}">
                <a16:creationId xmlns:a16="http://schemas.microsoft.com/office/drawing/2014/main" id="{9034F616-CB7A-67AA-0D93-701C87CD87FA}"/>
              </a:ext>
            </a:extLst>
          </p:cNvPr>
          <p:cNvSpPr txBox="1"/>
          <p:nvPr/>
        </p:nvSpPr>
        <p:spPr>
          <a:xfrm>
            <a:off x="3988289" y="5595160"/>
            <a:ext cx="1681371" cy="646331"/>
          </a:xfrm>
          <a:prstGeom prst="rect">
            <a:avLst/>
          </a:prstGeom>
          <a:noFill/>
        </p:spPr>
        <p:txBody>
          <a:bodyPr wrap="square" rtlCol="0">
            <a:spAutoFit/>
          </a:bodyPr>
          <a:lstStyle/>
          <a:p>
            <a:pPr algn="ctr"/>
            <a:r>
              <a:rPr lang="en-US" dirty="0">
                <a:solidFill>
                  <a:schemeClr val="accent1"/>
                </a:solidFill>
              </a:rPr>
              <a:t>Prop. 99 enacted</a:t>
            </a:r>
          </a:p>
        </p:txBody>
      </p:sp>
      <p:cxnSp>
        <p:nvCxnSpPr>
          <p:cNvPr id="10" name="Straight Connector 9">
            <a:extLst>
              <a:ext uri="{FF2B5EF4-FFF2-40B4-BE49-F238E27FC236}">
                <a16:creationId xmlns:a16="http://schemas.microsoft.com/office/drawing/2014/main" id="{6A61747D-941D-75E5-7B3E-62E6A60F90F6}"/>
              </a:ext>
            </a:extLst>
          </p:cNvPr>
          <p:cNvCxnSpPr>
            <a:cxnSpLocks/>
            <a:stCxn id="9" idx="0"/>
          </p:cNvCxnSpPr>
          <p:nvPr/>
        </p:nvCxnSpPr>
        <p:spPr>
          <a:xfrm flipV="1">
            <a:off x="4828975" y="2515681"/>
            <a:ext cx="40898" cy="3079479"/>
          </a:xfrm>
          <a:prstGeom prst="line">
            <a:avLst/>
          </a:prstGeom>
          <a:ln>
            <a:solidFill>
              <a:schemeClr val="accent1"/>
            </a:solidFill>
            <a:prstDash val="sysDash"/>
          </a:ln>
        </p:spPr>
        <p:style>
          <a:lnRef idx="2">
            <a:schemeClr val="accent1"/>
          </a:lnRef>
          <a:fillRef idx="0">
            <a:schemeClr val="accent1"/>
          </a:fillRef>
          <a:effectRef idx="1">
            <a:schemeClr val="accent1"/>
          </a:effectRef>
          <a:fontRef idx="minor">
            <a:schemeClr val="tx1"/>
          </a:fontRef>
        </p:style>
      </p:cxnSp>
      <p:sp>
        <p:nvSpPr>
          <p:cNvPr id="11" name="Freeform 10">
            <a:extLst>
              <a:ext uri="{FF2B5EF4-FFF2-40B4-BE49-F238E27FC236}">
                <a16:creationId xmlns:a16="http://schemas.microsoft.com/office/drawing/2014/main" id="{6337BD84-7A07-96B4-00EB-17D5D994C482}"/>
              </a:ext>
            </a:extLst>
          </p:cNvPr>
          <p:cNvSpPr/>
          <p:nvPr/>
        </p:nvSpPr>
        <p:spPr>
          <a:xfrm>
            <a:off x="1832857" y="2793964"/>
            <a:ext cx="3023719" cy="810410"/>
          </a:xfrm>
          <a:custGeom>
            <a:avLst/>
            <a:gdLst>
              <a:gd name="connsiteX0" fmla="*/ 0 w 3563471"/>
              <a:gd name="connsiteY0" fmla="*/ 955073 h 955073"/>
              <a:gd name="connsiteX1" fmla="*/ 564777 w 3563471"/>
              <a:gd name="connsiteY1" fmla="*/ 457532 h 955073"/>
              <a:gd name="connsiteX2" fmla="*/ 927847 w 3563471"/>
              <a:gd name="connsiteY2" fmla="*/ 726473 h 955073"/>
              <a:gd name="connsiteX3" fmla="*/ 1815353 w 3563471"/>
              <a:gd name="connsiteY3" fmla="*/ 332 h 955073"/>
              <a:gd name="connsiteX4" fmla="*/ 2622177 w 3563471"/>
              <a:gd name="connsiteY4" fmla="*/ 632343 h 955073"/>
              <a:gd name="connsiteX5" fmla="*/ 3065930 w 3563471"/>
              <a:gd name="connsiteY5" fmla="*/ 618896 h 955073"/>
              <a:gd name="connsiteX6" fmla="*/ 3348318 w 3563471"/>
              <a:gd name="connsiteY6" fmla="*/ 107908 h 955073"/>
              <a:gd name="connsiteX7" fmla="*/ 3563471 w 3563471"/>
              <a:gd name="connsiteY7" fmla="*/ 309614 h 9550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63471" h="955073">
                <a:moveTo>
                  <a:pt x="0" y="955073"/>
                </a:moveTo>
                <a:cubicBezTo>
                  <a:pt x="205068" y="725352"/>
                  <a:pt x="410136" y="495632"/>
                  <a:pt x="564777" y="457532"/>
                </a:cubicBezTo>
                <a:cubicBezTo>
                  <a:pt x="719418" y="419432"/>
                  <a:pt x="719418" y="802673"/>
                  <a:pt x="927847" y="726473"/>
                </a:cubicBezTo>
                <a:cubicBezTo>
                  <a:pt x="1136276" y="650273"/>
                  <a:pt x="1532965" y="16020"/>
                  <a:pt x="1815353" y="332"/>
                </a:cubicBezTo>
                <a:cubicBezTo>
                  <a:pt x="2097741" y="-15356"/>
                  <a:pt x="2413748" y="529249"/>
                  <a:pt x="2622177" y="632343"/>
                </a:cubicBezTo>
                <a:cubicBezTo>
                  <a:pt x="2830606" y="735437"/>
                  <a:pt x="2944907" y="706302"/>
                  <a:pt x="3065930" y="618896"/>
                </a:cubicBezTo>
                <a:cubicBezTo>
                  <a:pt x="3186953" y="531490"/>
                  <a:pt x="3265395" y="159455"/>
                  <a:pt x="3348318" y="107908"/>
                </a:cubicBezTo>
                <a:cubicBezTo>
                  <a:pt x="3431242" y="56361"/>
                  <a:pt x="3497356" y="182987"/>
                  <a:pt x="3563471" y="309614"/>
                </a:cubicBezTo>
              </a:path>
            </a:pathLst>
          </a:custGeom>
          <a:noFill/>
          <a:ln w="38100">
            <a:solidFill>
              <a:schemeClr val="accent5">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11">
            <a:extLst>
              <a:ext uri="{FF2B5EF4-FFF2-40B4-BE49-F238E27FC236}">
                <a16:creationId xmlns:a16="http://schemas.microsoft.com/office/drawing/2014/main" id="{240F20DB-2DD8-95B3-95F5-2E2F61DA74EC}"/>
              </a:ext>
            </a:extLst>
          </p:cNvPr>
          <p:cNvSpPr/>
          <p:nvPr/>
        </p:nvSpPr>
        <p:spPr>
          <a:xfrm>
            <a:off x="1832857" y="3243377"/>
            <a:ext cx="3023719" cy="810410"/>
          </a:xfrm>
          <a:custGeom>
            <a:avLst/>
            <a:gdLst>
              <a:gd name="connsiteX0" fmla="*/ 0 w 3563471"/>
              <a:gd name="connsiteY0" fmla="*/ 955073 h 955073"/>
              <a:gd name="connsiteX1" fmla="*/ 564777 w 3563471"/>
              <a:gd name="connsiteY1" fmla="*/ 457532 h 955073"/>
              <a:gd name="connsiteX2" fmla="*/ 927847 w 3563471"/>
              <a:gd name="connsiteY2" fmla="*/ 726473 h 955073"/>
              <a:gd name="connsiteX3" fmla="*/ 1815353 w 3563471"/>
              <a:gd name="connsiteY3" fmla="*/ 332 h 955073"/>
              <a:gd name="connsiteX4" fmla="*/ 2622177 w 3563471"/>
              <a:gd name="connsiteY4" fmla="*/ 632343 h 955073"/>
              <a:gd name="connsiteX5" fmla="*/ 3065930 w 3563471"/>
              <a:gd name="connsiteY5" fmla="*/ 618896 h 955073"/>
              <a:gd name="connsiteX6" fmla="*/ 3348318 w 3563471"/>
              <a:gd name="connsiteY6" fmla="*/ 107908 h 955073"/>
              <a:gd name="connsiteX7" fmla="*/ 3563471 w 3563471"/>
              <a:gd name="connsiteY7" fmla="*/ 309614 h 9550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63471" h="955073">
                <a:moveTo>
                  <a:pt x="0" y="955073"/>
                </a:moveTo>
                <a:cubicBezTo>
                  <a:pt x="205068" y="725352"/>
                  <a:pt x="410136" y="495632"/>
                  <a:pt x="564777" y="457532"/>
                </a:cubicBezTo>
                <a:cubicBezTo>
                  <a:pt x="719418" y="419432"/>
                  <a:pt x="719418" y="802673"/>
                  <a:pt x="927847" y="726473"/>
                </a:cubicBezTo>
                <a:cubicBezTo>
                  <a:pt x="1136276" y="650273"/>
                  <a:pt x="1532965" y="16020"/>
                  <a:pt x="1815353" y="332"/>
                </a:cubicBezTo>
                <a:cubicBezTo>
                  <a:pt x="2097741" y="-15356"/>
                  <a:pt x="2413748" y="529249"/>
                  <a:pt x="2622177" y="632343"/>
                </a:cubicBezTo>
                <a:cubicBezTo>
                  <a:pt x="2830606" y="735437"/>
                  <a:pt x="2944907" y="706302"/>
                  <a:pt x="3065930" y="618896"/>
                </a:cubicBezTo>
                <a:cubicBezTo>
                  <a:pt x="3186953" y="531490"/>
                  <a:pt x="3265395" y="159455"/>
                  <a:pt x="3348318" y="107908"/>
                </a:cubicBezTo>
                <a:cubicBezTo>
                  <a:pt x="3431242" y="56361"/>
                  <a:pt x="3497356" y="182987"/>
                  <a:pt x="3563471" y="309614"/>
                </a:cubicBezTo>
              </a:path>
            </a:pathLst>
          </a:custGeom>
          <a:noFill/>
          <a:ln w="3810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12">
            <a:extLst>
              <a:ext uri="{FF2B5EF4-FFF2-40B4-BE49-F238E27FC236}">
                <a16:creationId xmlns:a16="http://schemas.microsoft.com/office/drawing/2014/main" id="{13FD8554-6E2F-1866-8C5B-B39956EF9728}"/>
              </a:ext>
            </a:extLst>
          </p:cNvPr>
          <p:cNvSpPr/>
          <p:nvPr/>
        </p:nvSpPr>
        <p:spPr>
          <a:xfrm>
            <a:off x="4845169" y="3548716"/>
            <a:ext cx="3007658" cy="1099258"/>
          </a:xfrm>
          <a:custGeom>
            <a:avLst/>
            <a:gdLst>
              <a:gd name="connsiteX0" fmla="*/ 0 w 3684494"/>
              <a:gd name="connsiteY0" fmla="*/ 0 h 1362889"/>
              <a:gd name="connsiteX1" fmla="*/ 242047 w 3684494"/>
              <a:gd name="connsiteY1" fmla="*/ 1210235 h 1362889"/>
              <a:gd name="connsiteX2" fmla="*/ 591670 w 3684494"/>
              <a:gd name="connsiteY2" fmla="*/ 1317811 h 1362889"/>
              <a:gd name="connsiteX3" fmla="*/ 995082 w 3684494"/>
              <a:gd name="connsiteY3" fmla="*/ 954741 h 1362889"/>
              <a:gd name="connsiteX4" fmla="*/ 1936376 w 3684494"/>
              <a:gd name="connsiteY4" fmla="*/ 1169894 h 1362889"/>
              <a:gd name="connsiteX5" fmla="*/ 2756647 w 3684494"/>
              <a:gd name="connsiteY5" fmla="*/ 685800 h 1362889"/>
              <a:gd name="connsiteX6" fmla="*/ 3684494 w 3684494"/>
              <a:gd name="connsiteY6" fmla="*/ 1250576 h 1362889"/>
              <a:gd name="connsiteX0" fmla="*/ 0 w 3544543"/>
              <a:gd name="connsiteY0" fmla="*/ 0 h 1318519"/>
              <a:gd name="connsiteX1" fmla="*/ 102096 w 3544543"/>
              <a:gd name="connsiteY1" fmla="*/ 1168250 h 1318519"/>
              <a:gd name="connsiteX2" fmla="*/ 451719 w 3544543"/>
              <a:gd name="connsiteY2" fmla="*/ 1275826 h 1318519"/>
              <a:gd name="connsiteX3" fmla="*/ 855131 w 3544543"/>
              <a:gd name="connsiteY3" fmla="*/ 912756 h 1318519"/>
              <a:gd name="connsiteX4" fmla="*/ 1796425 w 3544543"/>
              <a:gd name="connsiteY4" fmla="*/ 1127909 h 1318519"/>
              <a:gd name="connsiteX5" fmla="*/ 2616696 w 3544543"/>
              <a:gd name="connsiteY5" fmla="*/ 643815 h 1318519"/>
              <a:gd name="connsiteX6" fmla="*/ 3544543 w 3544543"/>
              <a:gd name="connsiteY6" fmla="*/ 1208591 h 1318519"/>
              <a:gd name="connsiteX0" fmla="*/ 0 w 3544543"/>
              <a:gd name="connsiteY0" fmla="*/ 0 h 1295482"/>
              <a:gd name="connsiteX1" fmla="*/ 186067 w 3544543"/>
              <a:gd name="connsiteY1" fmla="*/ 1112269 h 1295482"/>
              <a:gd name="connsiteX2" fmla="*/ 451719 w 3544543"/>
              <a:gd name="connsiteY2" fmla="*/ 1275826 h 1295482"/>
              <a:gd name="connsiteX3" fmla="*/ 855131 w 3544543"/>
              <a:gd name="connsiteY3" fmla="*/ 912756 h 1295482"/>
              <a:gd name="connsiteX4" fmla="*/ 1796425 w 3544543"/>
              <a:gd name="connsiteY4" fmla="*/ 1127909 h 1295482"/>
              <a:gd name="connsiteX5" fmla="*/ 2616696 w 3544543"/>
              <a:gd name="connsiteY5" fmla="*/ 643815 h 1295482"/>
              <a:gd name="connsiteX6" fmla="*/ 3544543 w 3544543"/>
              <a:gd name="connsiteY6" fmla="*/ 1208591 h 1295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44543" h="1295482">
                <a:moveTo>
                  <a:pt x="0" y="0"/>
                </a:moveTo>
                <a:cubicBezTo>
                  <a:pt x="71717" y="495300"/>
                  <a:pt x="110781" y="899631"/>
                  <a:pt x="186067" y="1112269"/>
                </a:cubicBezTo>
                <a:cubicBezTo>
                  <a:pt x="261354" y="1324907"/>
                  <a:pt x="340208" y="1309078"/>
                  <a:pt x="451719" y="1275826"/>
                </a:cubicBezTo>
                <a:cubicBezTo>
                  <a:pt x="563230" y="1242574"/>
                  <a:pt x="631013" y="937409"/>
                  <a:pt x="855131" y="912756"/>
                </a:cubicBezTo>
                <a:cubicBezTo>
                  <a:pt x="1079249" y="888103"/>
                  <a:pt x="1502831" y="1172733"/>
                  <a:pt x="1796425" y="1127909"/>
                </a:cubicBezTo>
                <a:cubicBezTo>
                  <a:pt x="2090019" y="1083086"/>
                  <a:pt x="2325343" y="630368"/>
                  <a:pt x="2616696" y="643815"/>
                </a:cubicBezTo>
                <a:cubicBezTo>
                  <a:pt x="2908049" y="657262"/>
                  <a:pt x="3226296" y="932926"/>
                  <a:pt x="3544543" y="1208591"/>
                </a:cubicBezTo>
              </a:path>
            </a:pathLst>
          </a:custGeom>
          <a:noFill/>
          <a:ln w="3810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13">
            <a:extLst>
              <a:ext uri="{FF2B5EF4-FFF2-40B4-BE49-F238E27FC236}">
                <a16:creationId xmlns:a16="http://schemas.microsoft.com/office/drawing/2014/main" id="{2CDBA767-74FE-D188-FF1C-8B7C4739B2BB}"/>
              </a:ext>
            </a:extLst>
          </p:cNvPr>
          <p:cNvSpPr/>
          <p:nvPr/>
        </p:nvSpPr>
        <p:spPr>
          <a:xfrm>
            <a:off x="4849798" y="2758321"/>
            <a:ext cx="2978077" cy="567327"/>
          </a:xfrm>
          <a:custGeom>
            <a:avLst/>
            <a:gdLst>
              <a:gd name="connsiteX0" fmla="*/ 0 w 3684494"/>
              <a:gd name="connsiteY0" fmla="*/ 0 h 1362889"/>
              <a:gd name="connsiteX1" fmla="*/ 242047 w 3684494"/>
              <a:gd name="connsiteY1" fmla="*/ 1210235 h 1362889"/>
              <a:gd name="connsiteX2" fmla="*/ 591670 w 3684494"/>
              <a:gd name="connsiteY2" fmla="*/ 1317811 h 1362889"/>
              <a:gd name="connsiteX3" fmla="*/ 995082 w 3684494"/>
              <a:gd name="connsiteY3" fmla="*/ 954741 h 1362889"/>
              <a:gd name="connsiteX4" fmla="*/ 1936376 w 3684494"/>
              <a:gd name="connsiteY4" fmla="*/ 1169894 h 1362889"/>
              <a:gd name="connsiteX5" fmla="*/ 2756647 w 3684494"/>
              <a:gd name="connsiteY5" fmla="*/ 685800 h 1362889"/>
              <a:gd name="connsiteX6" fmla="*/ 3684494 w 3684494"/>
              <a:gd name="connsiteY6" fmla="*/ 1250576 h 1362889"/>
              <a:gd name="connsiteX0" fmla="*/ 0 w 3509682"/>
              <a:gd name="connsiteY0" fmla="*/ 329030 h 642634"/>
              <a:gd name="connsiteX1" fmla="*/ 67235 w 3509682"/>
              <a:gd name="connsiteY1" fmla="*/ 524729 h 642634"/>
              <a:gd name="connsiteX2" fmla="*/ 416858 w 3509682"/>
              <a:gd name="connsiteY2" fmla="*/ 632305 h 642634"/>
              <a:gd name="connsiteX3" fmla="*/ 820270 w 3509682"/>
              <a:gd name="connsiteY3" fmla="*/ 269235 h 642634"/>
              <a:gd name="connsiteX4" fmla="*/ 1761564 w 3509682"/>
              <a:gd name="connsiteY4" fmla="*/ 484388 h 642634"/>
              <a:gd name="connsiteX5" fmla="*/ 2581835 w 3509682"/>
              <a:gd name="connsiteY5" fmla="*/ 294 h 642634"/>
              <a:gd name="connsiteX6" fmla="*/ 3509682 w 3509682"/>
              <a:gd name="connsiteY6" fmla="*/ 565070 h 642634"/>
              <a:gd name="connsiteX0" fmla="*/ 0 w 3509682"/>
              <a:gd name="connsiteY0" fmla="*/ 329030 h 649534"/>
              <a:gd name="connsiteX1" fmla="*/ 155725 w 3509682"/>
              <a:gd name="connsiteY1" fmla="*/ 564292 h 649534"/>
              <a:gd name="connsiteX2" fmla="*/ 416858 w 3509682"/>
              <a:gd name="connsiteY2" fmla="*/ 632305 h 649534"/>
              <a:gd name="connsiteX3" fmla="*/ 820270 w 3509682"/>
              <a:gd name="connsiteY3" fmla="*/ 269235 h 649534"/>
              <a:gd name="connsiteX4" fmla="*/ 1761564 w 3509682"/>
              <a:gd name="connsiteY4" fmla="*/ 484388 h 649534"/>
              <a:gd name="connsiteX5" fmla="*/ 2581835 w 3509682"/>
              <a:gd name="connsiteY5" fmla="*/ 294 h 649534"/>
              <a:gd name="connsiteX6" fmla="*/ 3509682 w 3509682"/>
              <a:gd name="connsiteY6" fmla="*/ 565070 h 649534"/>
              <a:gd name="connsiteX0" fmla="*/ 23604 w 3533286"/>
              <a:gd name="connsiteY0" fmla="*/ 329030 h 658850"/>
              <a:gd name="connsiteX1" fmla="*/ 179329 w 3533286"/>
              <a:gd name="connsiteY1" fmla="*/ 564292 h 658850"/>
              <a:gd name="connsiteX2" fmla="*/ 440462 w 3533286"/>
              <a:gd name="connsiteY2" fmla="*/ 632305 h 658850"/>
              <a:gd name="connsiteX3" fmla="*/ 843874 w 3533286"/>
              <a:gd name="connsiteY3" fmla="*/ 269235 h 658850"/>
              <a:gd name="connsiteX4" fmla="*/ 1785168 w 3533286"/>
              <a:gd name="connsiteY4" fmla="*/ 484388 h 658850"/>
              <a:gd name="connsiteX5" fmla="*/ 2605439 w 3533286"/>
              <a:gd name="connsiteY5" fmla="*/ 294 h 658850"/>
              <a:gd name="connsiteX6" fmla="*/ 3533286 w 3533286"/>
              <a:gd name="connsiteY6" fmla="*/ 565070 h 658850"/>
              <a:gd name="connsiteX0" fmla="*/ 0 w 3509682"/>
              <a:gd name="connsiteY0" fmla="*/ 329030 h 654436"/>
              <a:gd name="connsiteX1" fmla="*/ 155725 w 3509682"/>
              <a:gd name="connsiteY1" fmla="*/ 564292 h 654436"/>
              <a:gd name="connsiteX2" fmla="*/ 416858 w 3509682"/>
              <a:gd name="connsiteY2" fmla="*/ 632305 h 654436"/>
              <a:gd name="connsiteX3" fmla="*/ 820270 w 3509682"/>
              <a:gd name="connsiteY3" fmla="*/ 269235 h 654436"/>
              <a:gd name="connsiteX4" fmla="*/ 1761564 w 3509682"/>
              <a:gd name="connsiteY4" fmla="*/ 484388 h 654436"/>
              <a:gd name="connsiteX5" fmla="*/ 2581835 w 3509682"/>
              <a:gd name="connsiteY5" fmla="*/ 294 h 654436"/>
              <a:gd name="connsiteX6" fmla="*/ 3509682 w 3509682"/>
              <a:gd name="connsiteY6" fmla="*/ 565070 h 654436"/>
              <a:gd name="connsiteX0" fmla="*/ 0 w 3509682"/>
              <a:gd name="connsiteY0" fmla="*/ 329030 h 644884"/>
              <a:gd name="connsiteX1" fmla="*/ 155725 w 3509682"/>
              <a:gd name="connsiteY1" fmla="*/ 564292 h 644884"/>
              <a:gd name="connsiteX2" fmla="*/ 416858 w 3509682"/>
              <a:gd name="connsiteY2" fmla="*/ 632305 h 644884"/>
              <a:gd name="connsiteX3" fmla="*/ 820270 w 3509682"/>
              <a:gd name="connsiteY3" fmla="*/ 269235 h 644884"/>
              <a:gd name="connsiteX4" fmla="*/ 1761564 w 3509682"/>
              <a:gd name="connsiteY4" fmla="*/ 484388 h 644884"/>
              <a:gd name="connsiteX5" fmla="*/ 2581835 w 3509682"/>
              <a:gd name="connsiteY5" fmla="*/ 294 h 644884"/>
              <a:gd name="connsiteX6" fmla="*/ 3509682 w 3509682"/>
              <a:gd name="connsiteY6" fmla="*/ 565070 h 644884"/>
              <a:gd name="connsiteX0" fmla="*/ 0 w 3509682"/>
              <a:gd name="connsiteY0" fmla="*/ 329030 h 667105"/>
              <a:gd name="connsiteX1" fmla="*/ 160343 w 3509682"/>
              <a:gd name="connsiteY1" fmla="*/ 633976 h 667105"/>
              <a:gd name="connsiteX2" fmla="*/ 416858 w 3509682"/>
              <a:gd name="connsiteY2" fmla="*/ 632305 h 667105"/>
              <a:gd name="connsiteX3" fmla="*/ 820270 w 3509682"/>
              <a:gd name="connsiteY3" fmla="*/ 269235 h 667105"/>
              <a:gd name="connsiteX4" fmla="*/ 1761564 w 3509682"/>
              <a:gd name="connsiteY4" fmla="*/ 484388 h 667105"/>
              <a:gd name="connsiteX5" fmla="*/ 2581835 w 3509682"/>
              <a:gd name="connsiteY5" fmla="*/ 294 h 667105"/>
              <a:gd name="connsiteX6" fmla="*/ 3509682 w 3509682"/>
              <a:gd name="connsiteY6" fmla="*/ 565070 h 667105"/>
              <a:gd name="connsiteX0" fmla="*/ 0 w 3509682"/>
              <a:gd name="connsiteY0" fmla="*/ 329030 h 672580"/>
              <a:gd name="connsiteX1" fmla="*/ 160343 w 3509682"/>
              <a:gd name="connsiteY1" fmla="*/ 633976 h 672580"/>
              <a:gd name="connsiteX2" fmla="*/ 416858 w 3509682"/>
              <a:gd name="connsiteY2" fmla="*/ 632305 h 672580"/>
              <a:gd name="connsiteX3" fmla="*/ 820270 w 3509682"/>
              <a:gd name="connsiteY3" fmla="*/ 269235 h 672580"/>
              <a:gd name="connsiteX4" fmla="*/ 1761564 w 3509682"/>
              <a:gd name="connsiteY4" fmla="*/ 484388 h 672580"/>
              <a:gd name="connsiteX5" fmla="*/ 2581835 w 3509682"/>
              <a:gd name="connsiteY5" fmla="*/ 294 h 672580"/>
              <a:gd name="connsiteX6" fmla="*/ 3509682 w 3509682"/>
              <a:gd name="connsiteY6" fmla="*/ 565070 h 672580"/>
              <a:gd name="connsiteX0" fmla="*/ 0 w 3509682"/>
              <a:gd name="connsiteY0" fmla="*/ 329030 h 672580"/>
              <a:gd name="connsiteX1" fmla="*/ 160343 w 3509682"/>
              <a:gd name="connsiteY1" fmla="*/ 633976 h 672580"/>
              <a:gd name="connsiteX2" fmla="*/ 416858 w 3509682"/>
              <a:gd name="connsiteY2" fmla="*/ 632305 h 672580"/>
              <a:gd name="connsiteX3" fmla="*/ 820270 w 3509682"/>
              <a:gd name="connsiteY3" fmla="*/ 269235 h 672580"/>
              <a:gd name="connsiteX4" fmla="*/ 1761564 w 3509682"/>
              <a:gd name="connsiteY4" fmla="*/ 484388 h 672580"/>
              <a:gd name="connsiteX5" fmla="*/ 2581835 w 3509682"/>
              <a:gd name="connsiteY5" fmla="*/ 294 h 672580"/>
              <a:gd name="connsiteX6" fmla="*/ 3509682 w 3509682"/>
              <a:gd name="connsiteY6" fmla="*/ 565070 h 672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9682" h="672580">
                <a:moveTo>
                  <a:pt x="0" y="329030"/>
                </a:moveTo>
                <a:cubicBezTo>
                  <a:pt x="117899" y="601337"/>
                  <a:pt x="69862" y="590023"/>
                  <a:pt x="160343" y="633976"/>
                </a:cubicBezTo>
                <a:cubicBezTo>
                  <a:pt x="250824" y="677929"/>
                  <a:pt x="306870" y="693095"/>
                  <a:pt x="416858" y="632305"/>
                </a:cubicBezTo>
                <a:cubicBezTo>
                  <a:pt x="526846" y="571515"/>
                  <a:pt x="596152" y="293888"/>
                  <a:pt x="820270" y="269235"/>
                </a:cubicBezTo>
                <a:cubicBezTo>
                  <a:pt x="1044388" y="244582"/>
                  <a:pt x="1467970" y="529212"/>
                  <a:pt x="1761564" y="484388"/>
                </a:cubicBezTo>
                <a:cubicBezTo>
                  <a:pt x="2055158" y="439565"/>
                  <a:pt x="2290482" y="-13153"/>
                  <a:pt x="2581835" y="294"/>
                </a:cubicBezTo>
                <a:cubicBezTo>
                  <a:pt x="2873188" y="13741"/>
                  <a:pt x="3191435" y="289405"/>
                  <a:pt x="3509682" y="565070"/>
                </a:cubicBezTo>
              </a:path>
            </a:pathLst>
          </a:custGeom>
          <a:noFill/>
          <a:ln w="38100">
            <a:solidFill>
              <a:schemeClr val="accent5">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TextBox 16">
            <a:extLst>
              <a:ext uri="{FF2B5EF4-FFF2-40B4-BE49-F238E27FC236}">
                <a16:creationId xmlns:a16="http://schemas.microsoft.com/office/drawing/2014/main" id="{63710CA7-4DC2-E68E-EBF4-68776A168B01}"/>
              </a:ext>
            </a:extLst>
          </p:cNvPr>
          <p:cNvSpPr txBox="1"/>
          <p:nvPr/>
        </p:nvSpPr>
        <p:spPr>
          <a:xfrm>
            <a:off x="7971576" y="4453665"/>
            <a:ext cx="1563599" cy="499409"/>
          </a:xfrm>
          <a:prstGeom prst="rect">
            <a:avLst/>
          </a:prstGeom>
          <a:noFill/>
        </p:spPr>
        <p:txBody>
          <a:bodyPr wrap="none" rtlCol="0">
            <a:spAutoFit/>
          </a:bodyPr>
          <a:lstStyle/>
          <a:p>
            <a:r>
              <a:rPr lang="en-US" dirty="0">
                <a:solidFill>
                  <a:schemeClr val="accent4"/>
                </a:solidFill>
              </a:rPr>
              <a:t>California</a:t>
            </a:r>
          </a:p>
        </p:txBody>
      </p:sp>
      <p:sp>
        <p:nvSpPr>
          <p:cNvPr id="18" name="TextBox 17">
            <a:extLst>
              <a:ext uri="{FF2B5EF4-FFF2-40B4-BE49-F238E27FC236}">
                <a16:creationId xmlns:a16="http://schemas.microsoft.com/office/drawing/2014/main" id="{623D12ED-233B-FD86-0C1F-3163D1456EFF}"/>
              </a:ext>
            </a:extLst>
          </p:cNvPr>
          <p:cNvSpPr txBox="1"/>
          <p:nvPr/>
        </p:nvSpPr>
        <p:spPr>
          <a:xfrm>
            <a:off x="7827874" y="3060059"/>
            <a:ext cx="1497619" cy="499409"/>
          </a:xfrm>
          <a:prstGeom prst="rect">
            <a:avLst/>
          </a:prstGeom>
          <a:noFill/>
        </p:spPr>
        <p:txBody>
          <a:bodyPr wrap="none" rtlCol="0">
            <a:spAutoFit/>
          </a:bodyPr>
          <a:lstStyle/>
          <a:p>
            <a:r>
              <a:rPr lang="en-US" dirty="0">
                <a:solidFill>
                  <a:schemeClr val="accent5"/>
                </a:solidFill>
              </a:rPr>
              <a:t>Colorado</a:t>
            </a:r>
          </a:p>
        </p:txBody>
      </p:sp>
      <p:sp>
        <p:nvSpPr>
          <p:cNvPr id="21" name="Freeform 20">
            <a:extLst>
              <a:ext uri="{FF2B5EF4-FFF2-40B4-BE49-F238E27FC236}">
                <a16:creationId xmlns:a16="http://schemas.microsoft.com/office/drawing/2014/main" id="{67A135F9-9614-E460-25E0-B6EF55A67FB8}"/>
              </a:ext>
            </a:extLst>
          </p:cNvPr>
          <p:cNvSpPr/>
          <p:nvPr/>
        </p:nvSpPr>
        <p:spPr>
          <a:xfrm>
            <a:off x="1832856" y="4573207"/>
            <a:ext cx="3023719" cy="810410"/>
          </a:xfrm>
          <a:custGeom>
            <a:avLst/>
            <a:gdLst>
              <a:gd name="connsiteX0" fmla="*/ 0 w 3563471"/>
              <a:gd name="connsiteY0" fmla="*/ 955073 h 955073"/>
              <a:gd name="connsiteX1" fmla="*/ 564777 w 3563471"/>
              <a:gd name="connsiteY1" fmla="*/ 457532 h 955073"/>
              <a:gd name="connsiteX2" fmla="*/ 927847 w 3563471"/>
              <a:gd name="connsiteY2" fmla="*/ 726473 h 955073"/>
              <a:gd name="connsiteX3" fmla="*/ 1815353 w 3563471"/>
              <a:gd name="connsiteY3" fmla="*/ 332 h 955073"/>
              <a:gd name="connsiteX4" fmla="*/ 2622177 w 3563471"/>
              <a:gd name="connsiteY4" fmla="*/ 632343 h 955073"/>
              <a:gd name="connsiteX5" fmla="*/ 3065930 w 3563471"/>
              <a:gd name="connsiteY5" fmla="*/ 618896 h 955073"/>
              <a:gd name="connsiteX6" fmla="*/ 3348318 w 3563471"/>
              <a:gd name="connsiteY6" fmla="*/ 107908 h 955073"/>
              <a:gd name="connsiteX7" fmla="*/ 3563471 w 3563471"/>
              <a:gd name="connsiteY7" fmla="*/ 309614 h 9550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63471" h="955073">
                <a:moveTo>
                  <a:pt x="0" y="955073"/>
                </a:moveTo>
                <a:cubicBezTo>
                  <a:pt x="205068" y="725352"/>
                  <a:pt x="410136" y="495632"/>
                  <a:pt x="564777" y="457532"/>
                </a:cubicBezTo>
                <a:cubicBezTo>
                  <a:pt x="719418" y="419432"/>
                  <a:pt x="719418" y="802673"/>
                  <a:pt x="927847" y="726473"/>
                </a:cubicBezTo>
                <a:cubicBezTo>
                  <a:pt x="1136276" y="650273"/>
                  <a:pt x="1532965" y="16020"/>
                  <a:pt x="1815353" y="332"/>
                </a:cubicBezTo>
                <a:cubicBezTo>
                  <a:pt x="2097741" y="-15356"/>
                  <a:pt x="2413748" y="529249"/>
                  <a:pt x="2622177" y="632343"/>
                </a:cubicBezTo>
                <a:cubicBezTo>
                  <a:pt x="2830606" y="735437"/>
                  <a:pt x="2944907" y="706302"/>
                  <a:pt x="3065930" y="618896"/>
                </a:cubicBezTo>
                <a:cubicBezTo>
                  <a:pt x="3186953" y="531490"/>
                  <a:pt x="3265395" y="159455"/>
                  <a:pt x="3348318" y="107908"/>
                </a:cubicBezTo>
                <a:cubicBezTo>
                  <a:pt x="3431242" y="56361"/>
                  <a:pt x="3497356" y="182987"/>
                  <a:pt x="3563471" y="309614"/>
                </a:cubicBezTo>
              </a:path>
            </a:pathLst>
          </a:custGeom>
          <a:noFill/>
          <a:ln w="38100">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21">
            <a:extLst>
              <a:ext uri="{FF2B5EF4-FFF2-40B4-BE49-F238E27FC236}">
                <a16:creationId xmlns:a16="http://schemas.microsoft.com/office/drawing/2014/main" id="{6685EF44-C509-BEB3-DCB9-4D75FB1436C0}"/>
              </a:ext>
            </a:extLst>
          </p:cNvPr>
          <p:cNvSpPr/>
          <p:nvPr/>
        </p:nvSpPr>
        <p:spPr>
          <a:xfrm>
            <a:off x="4828974" y="4527646"/>
            <a:ext cx="2978077" cy="567327"/>
          </a:xfrm>
          <a:custGeom>
            <a:avLst/>
            <a:gdLst>
              <a:gd name="connsiteX0" fmla="*/ 0 w 3684494"/>
              <a:gd name="connsiteY0" fmla="*/ 0 h 1362889"/>
              <a:gd name="connsiteX1" fmla="*/ 242047 w 3684494"/>
              <a:gd name="connsiteY1" fmla="*/ 1210235 h 1362889"/>
              <a:gd name="connsiteX2" fmla="*/ 591670 w 3684494"/>
              <a:gd name="connsiteY2" fmla="*/ 1317811 h 1362889"/>
              <a:gd name="connsiteX3" fmla="*/ 995082 w 3684494"/>
              <a:gd name="connsiteY3" fmla="*/ 954741 h 1362889"/>
              <a:gd name="connsiteX4" fmla="*/ 1936376 w 3684494"/>
              <a:gd name="connsiteY4" fmla="*/ 1169894 h 1362889"/>
              <a:gd name="connsiteX5" fmla="*/ 2756647 w 3684494"/>
              <a:gd name="connsiteY5" fmla="*/ 685800 h 1362889"/>
              <a:gd name="connsiteX6" fmla="*/ 3684494 w 3684494"/>
              <a:gd name="connsiteY6" fmla="*/ 1250576 h 1362889"/>
              <a:gd name="connsiteX0" fmla="*/ 0 w 3509682"/>
              <a:gd name="connsiteY0" fmla="*/ 329030 h 642634"/>
              <a:gd name="connsiteX1" fmla="*/ 67235 w 3509682"/>
              <a:gd name="connsiteY1" fmla="*/ 524729 h 642634"/>
              <a:gd name="connsiteX2" fmla="*/ 416858 w 3509682"/>
              <a:gd name="connsiteY2" fmla="*/ 632305 h 642634"/>
              <a:gd name="connsiteX3" fmla="*/ 820270 w 3509682"/>
              <a:gd name="connsiteY3" fmla="*/ 269235 h 642634"/>
              <a:gd name="connsiteX4" fmla="*/ 1761564 w 3509682"/>
              <a:gd name="connsiteY4" fmla="*/ 484388 h 642634"/>
              <a:gd name="connsiteX5" fmla="*/ 2581835 w 3509682"/>
              <a:gd name="connsiteY5" fmla="*/ 294 h 642634"/>
              <a:gd name="connsiteX6" fmla="*/ 3509682 w 3509682"/>
              <a:gd name="connsiteY6" fmla="*/ 565070 h 642634"/>
              <a:gd name="connsiteX0" fmla="*/ 0 w 3509682"/>
              <a:gd name="connsiteY0" fmla="*/ 329030 h 649534"/>
              <a:gd name="connsiteX1" fmla="*/ 155725 w 3509682"/>
              <a:gd name="connsiteY1" fmla="*/ 564292 h 649534"/>
              <a:gd name="connsiteX2" fmla="*/ 416858 w 3509682"/>
              <a:gd name="connsiteY2" fmla="*/ 632305 h 649534"/>
              <a:gd name="connsiteX3" fmla="*/ 820270 w 3509682"/>
              <a:gd name="connsiteY3" fmla="*/ 269235 h 649534"/>
              <a:gd name="connsiteX4" fmla="*/ 1761564 w 3509682"/>
              <a:gd name="connsiteY4" fmla="*/ 484388 h 649534"/>
              <a:gd name="connsiteX5" fmla="*/ 2581835 w 3509682"/>
              <a:gd name="connsiteY5" fmla="*/ 294 h 649534"/>
              <a:gd name="connsiteX6" fmla="*/ 3509682 w 3509682"/>
              <a:gd name="connsiteY6" fmla="*/ 565070 h 649534"/>
              <a:gd name="connsiteX0" fmla="*/ 23604 w 3533286"/>
              <a:gd name="connsiteY0" fmla="*/ 329030 h 658850"/>
              <a:gd name="connsiteX1" fmla="*/ 179329 w 3533286"/>
              <a:gd name="connsiteY1" fmla="*/ 564292 h 658850"/>
              <a:gd name="connsiteX2" fmla="*/ 440462 w 3533286"/>
              <a:gd name="connsiteY2" fmla="*/ 632305 h 658850"/>
              <a:gd name="connsiteX3" fmla="*/ 843874 w 3533286"/>
              <a:gd name="connsiteY3" fmla="*/ 269235 h 658850"/>
              <a:gd name="connsiteX4" fmla="*/ 1785168 w 3533286"/>
              <a:gd name="connsiteY4" fmla="*/ 484388 h 658850"/>
              <a:gd name="connsiteX5" fmla="*/ 2605439 w 3533286"/>
              <a:gd name="connsiteY5" fmla="*/ 294 h 658850"/>
              <a:gd name="connsiteX6" fmla="*/ 3533286 w 3533286"/>
              <a:gd name="connsiteY6" fmla="*/ 565070 h 658850"/>
              <a:gd name="connsiteX0" fmla="*/ 0 w 3509682"/>
              <a:gd name="connsiteY0" fmla="*/ 329030 h 654436"/>
              <a:gd name="connsiteX1" fmla="*/ 155725 w 3509682"/>
              <a:gd name="connsiteY1" fmla="*/ 564292 h 654436"/>
              <a:gd name="connsiteX2" fmla="*/ 416858 w 3509682"/>
              <a:gd name="connsiteY2" fmla="*/ 632305 h 654436"/>
              <a:gd name="connsiteX3" fmla="*/ 820270 w 3509682"/>
              <a:gd name="connsiteY3" fmla="*/ 269235 h 654436"/>
              <a:gd name="connsiteX4" fmla="*/ 1761564 w 3509682"/>
              <a:gd name="connsiteY4" fmla="*/ 484388 h 654436"/>
              <a:gd name="connsiteX5" fmla="*/ 2581835 w 3509682"/>
              <a:gd name="connsiteY5" fmla="*/ 294 h 654436"/>
              <a:gd name="connsiteX6" fmla="*/ 3509682 w 3509682"/>
              <a:gd name="connsiteY6" fmla="*/ 565070 h 654436"/>
              <a:gd name="connsiteX0" fmla="*/ 0 w 3509682"/>
              <a:gd name="connsiteY0" fmla="*/ 329030 h 644884"/>
              <a:gd name="connsiteX1" fmla="*/ 155725 w 3509682"/>
              <a:gd name="connsiteY1" fmla="*/ 564292 h 644884"/>
              <a:gd name="connsiteX2" fmla="*/ 416858 w 3509682"/>
              <a:gd name="connsiteY2" fmla="*/ 632305 h 644884"/>
              <a:gd name="connsiteX3" fmla="*/ 820270 w 3509682"/>
              <a:gd name="connsiteY3" fmla="*/ 269235 h 644884"/>
              <a:gd name="connsiteX4" fmla="*/ 1761564 w 3509682"/>
              <a:gd name="connsiteY4" fmla="*/ 484388 h 644884"/>
              <a:gd name="connsiteX5" fmla="*/ 2581835 w 3509682"/>
              <a:gd name="connsiteY5" fmla="*/ 294 h 644884"/>
              <a:gd name="connsiteX6" fmla="*/ 3509682 w 3509682"/>
              <a:gd name="connsiteY6" fmla="*/ 565070 h 644884"/>
              <a:gd name="connsiteX0" fmla="*/ 0 w 3509682"/>
              <a:gd name="connsiteY0" fmla="*/ 329030 h 667105"/>
              <a:gd name="connsiteX1" fmla="*/ 160343 w 3509682"/>
              <a:gd name="connsiteY1" fmla="*/ 633976 h 667105"/>
              <a:gd name="connsiteX2" fmla="*/ 416858 w 3509682"/>
              <a:gd name="connsiteY2" fmla="*/ 632305 h 667105"/>
              <a:gd name="connsiteX3" fmla="*/ 820270 w 3509682"/>
              <a:gd name="connsiteY3" fmla="*/ 269235 h 667105"/>
              <a:gd name="connsiteX4" fmla="*/ 1761564 w 3509682"/>
              <a:gd name="connsiteY4" fmla="*/ 484388 h 667105"/>
              <a:gd name="connsiteX5" fmla="*/ 2581835 w 3509682"/>
              <a:gd name="connsiteY5" fmla="*/ 294 h 667105"/>
              <a:gd name="connsiteX6" fmla="*/ 3509682 w 3509682"/>
              <a:gd name="connsiteY6" fmla="*/ 565070 h 667105"/>
              <a:gd name="connsiteX0" fmla="*/ 0 w 3509682"/>
              <a:gd name="connsiteY0" fmla="*/ 329030 h 672580"/>
              <a:gd name="connsiteX1" fmla="*/ 160343 w 3509682"/>
              <a:gd name="connsiteY1" fmla="*/ 633976 h 672580"/>
              <a:gd name="connsiteX2" fmla="*/ 416858 w 3509682"/>
              <a:gd name="connsiteY2" fmla="*/ 632305 h 672580"/>
              <a:gd name="connsiteX3" fmla="*/ 820270 w 3509682"/>
              <a:gd name="connsiteY3" fmla="*/ 269235 h 672580"/>
              <a:gd name="connsiteX4" fmla="*/ 1761564 w 3509682"/>
              <a:gd name="connsiteY4" fmla="*/ 484388 h 672580"/>
              <a:gd name="connsiteX5" fmla="*/ 2581835 w 3509682"/>
              <a:gd name="connsiteY5" fmla="*/ 294 h 672580"/>
              <a:gd name="connsiteX6" fmla="*/ 3509682 w 3509682"/>
              <a:gd name="connsiteY6" fmla="*/ 565070 h 672580"/>
              <a:gd name="connsiteX0" fmla="*/ 0 w 3509682"/>
              <a:gd name="connsiteY0" fmla="*/ 329030 h 672580"/>
              <a:gd name="connsiteX1" fmla="*/ 160343 w 3509682"/>
              <a:gd name="connsiteY1" fmla="*/ 633976 h 672580"/>
              <a:gd name="connsiteX2" fmla="*/ 416858 w 3509682"/>
              <a:gd name="connsiteY2" fmla="*/ 632305 h 672580"/>
              <a:gd name="connsiteX3" fmla="*/ 820270 w 3509682"/>
              <a:gd name="connsiteY3" fmla="*/ 269235 h 672580"/>
              <a:gd name="connsiteX4" fmla="*/ 1761564 w 3509682"/>
              <a:gd name="connsiteY4" fmla="*/ 484388 h 672580"/>
              <a:gd name="connsiteX5" fmla="*/ 2581835 w 3509682"/>
              <a:gd name="connsiteY5" fmla="*/ 294 h 672580"/>
              <a:gd name="connsiteX6" fmla="*/ 3509682 w 3509682"/>
              <a:gd name="connsiteY6" fmla="*/ 565070 h 672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9682" h="672580">
                <a:moveTo>
                  <a:pt x="0" y="329030"/>
                </a:moveTo>
                <a:cubicBezTo>
                  <a:pt x="117899" y="601337"/>
                  <a:pt x="69862" y="590023"/>
                  <a:pt x="160343" y="633976"/>
                </a:cubicBezTo>
                <a:cubicBezTo>
                  <a:pt x="250824" y="677929"/>
                  <a:pt x="306870" y="693095"/>
                  <a:pt x="416858" y="632305"/>
                </a:cubicBezTo>
                <a:cubicBezTo>
                  <a:pt x="526846" y="571515"/>
                  <a:pt x="596152" y="293888"/>
                  <a:pt x="820270" y="269235"/>
                </a:cubicBezTo>
                <a:cubicBezTo>
                  <a:pt x="1044388" y="244582"/>
                  <a:pt x="1467970" y="529212"/>
                  <a:pt x="1761564" y="484388"/>
                </a:cubicBezTo>
                <a:cubicBezTo>
                  <a:pt x="2055158" y="439565"/>
                  <a:pt x="2290482" y="-13153"/>
                  <a:pt x="2581835" y="294"/>
                </a:cubicBezTo>
                <a:cubicBezTo>
                  <a:pt x="2873188" y="13741"/>
                  <a:pt x="3191435" y="289405"/>
                  <a:pt x="3509682" y="565070"/>
                </a:cubicBezTo>
              </a:path>
            </a:pathLst>
          </a:custGeom>
          <a:noFill/>
          <a:ln w="38100">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Box 22">
            <a:extLst>
              <a:ext uri="{FF2B5EF4-FFF2-40B4-BE49-F238E27FC236}">
                <a16:creationId xmlns:a16="http://schemas.microsoft.com/office/drawing/2014/main" id="{B7FAD046-4C73-C9C2-9215-148C44A430F3}"/>
              </a:ext>
            </a:extLst>
          </p:cNvPr>
          <p:cNvSpPr txBox="1"/>
          <p:nvPr/>
        </p:nvSpPr>
        <p:spPr>
          <a:xfrm>
            <a:off x="7827313" y="4883572"/>
            <a:ext cx="949875" cy="369332"/>
          </a:xfrm>
          <a:prstGeom prst="rect">
            <a:avLst/>
          </a:prstGeom>
          <a:noFill/>
        </p:spPr>
        <p:txBody>
          <a:bodyPr wrap="none" rtlCol="0">
            <a:spAutoFit/>
          </a:bodyPr>
          <a:lstStyle/>
          <a:p>
            <a:r>
              <a:rPr lang="en-US" dirty="0">
                <a:solidFill>
                  <a:schemeClr val="accent2"/>
                </a:solidFill>
              </a:rPr>
              <a:t>Nevada</a:t>
            </a:r>
          </a:p>
        </p:txBody>
      </p:sp>
      <p:grpSp>
        <p:nvGrpSpPr>
          <p:cNvPr id="30" name="Group 29">
            <a:extLst>
              <a:ext uri="{FF2B5EF4-FFF2-40B4-BE49-F238E27FC236}">
                <a16:creationId xmlns:a16="http://schemas.microsoft.com/office/drawing/2014/main" id="{E891D331-1BE0-B85D-AEAE-62D163A5A282}"/>
              </a:ext>
            </a:extLst>
          </p:cNvPr>
          <p:cNvGrpSpPr/>
          <p:nvPr/>
        </p:nvGrpSpPr>
        <p:grpSpPr>
          <a:xfrm>
            <a:off x="586748" y="5574844"/>
            <a:ext cx="3216406" cy="1184847"/>
            <a:chOff x="586748" y="5574844"/>
            <a:chExt cx="3216406" cy="1184847"/>
          </a:xfrm>
        </p:grpSpPr>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C219ED08-28C0-E386-E9FD-B7FD39B135F0}"/>
                    </a:ext>
                  </a:extLst>
                </p:cNvPr>
                <p:cNvSpPr txBox="1"/>
                <p:nvPr/>
              </p:nvSpPr>
              <p:spPr>
                <a:xfrm>
                  <a:off x="871390" y="5975887"/>
                  <a:ext cx="2931764" cy="78380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sty m:val="p"/>
                          </m:rPr>
                          <a:rPr lang="en-US" sz="2400" b="0" i="0" smtClean="0">
                            <a:latin typeface="Cambria Math" panose="02040503050406030204" pitchFamily="18" charset="0"/>
                          </a:rPr>
                          <m:t>CA</m:t>
                        </m:r>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3</m:t>
                            </m:r>
                          </m:num>
                          <m:den>
                            <m:r>
                              <a:rPr lang="en-US" sz="2400" b="0" i="1" smtClean="0">
                                <a:latin typeface="Cambria Math" panose="02040503050406030204" pitchFamily="18" charset="0"/>
                              </a:rPr>
                              <m:t>4</m:t>
                            </m:r>
                          </m:den>
                        </m:f>
                        <m:r>
                          <a:rPr lang="en-US" sz="2400" b="0" i="1" smtClean="0">
                            <a:latin typeface="Cambria Math" panose="02040503050406030204" pitchFamily="18" charset="0"/>
                          </a:rPr>
                          <m:t>⋅</m:t>
                        </m:r>
                        <m:r>
                          <m:rPr>
                            <m:sty m:val="p"/>
                          </m:rPr>
                          <a:rPr lang="en-US" sz="2400" b="0" i="0" smtClean="0">
                            <a:latin typeface="Cambria Math" panose="02040503050406030204" pitchFamily="18" charset="0"/>
                          </a:rPr>
                          <m:t>CO</m:t>
                        </m:r>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1</m:t>
                            </m:r>
                          </m:num>
                          <m:den>
                            <m:r>
                              <a:rPr lang="en-US" sz="2400" b="0" i="1" smtClean="0">
                                <a:latin typeface="Cambria Math" panose="02040503050406030204" pitchFamily="18" charset="0"/>
                              </a:rPr>
                              <m:t>4</m:t>
                            </m:r>
                          </m:den>
                        </m:f>
                        <m:r>
                          <a:rPr lang="en-US" sz="2400" b="0" i="1" smtClean="0">
                            <a:latin typeface="Cambria Math" panose="02040503050406030204" pitchFamily="18" charset="0"/>
                          </a:rPr>
                          <m:t>⋅</m:t>
                        </m:r>
                        <m:r>
                          <m:rPr>
                            <m:sty m:val="p"/>
                          </m:rPr>
                          <a:rPr lang="en-US" sz="2400" b="0" i="0" smtClean="0">
                            <a:latin typeface="Cambria Math" panose="02040503050406030204" pitchFamily="18" charset="0"/>
                          </a:rPr>
                          <m:t>NV</m:t>
                        </m:r>
                      </m:oMath>
                    </m:oMathPara>
                  </a14:m>
                  <a:endParaRPr lang="en-US" sz="2400" dirty="0"/>
                </a:p>
              </p:txBody>
            </p:sp>
          </mc:Choice>
          <mc:Fallback xmlns="">
            <p:sp>
              <p:nvSpPr>
                <p:cNvPr id="15" name="TextBox 14">
                  <a:extLst>
                    <a:ext uri="{FF2B5EF4-FFF2-40B4-BE49-F238E27FC236}">
                      <a16:creationId xmlns:a16="http://schemas.microsoft.com/office/drawing/2014/main" id="{C219ED08-28C0-E386-E9FD-B7FD39B135F0}"/>
                    </a:ext>
                  </a:extLst>
                </p:cNvPr>
                <p:cNvSpPr txBox="1">
                  <a:spLocks noRot="1" noChangeAspect="1" noMove="1" noResize="1" noEditPoints="1" noAdjustHandles="1" noChangeArrowheads="1" noChangeShapeType="1" noTextEdit="1"/>
                </p:cNvSpPr>
                <p:nvPr/>
              </p:nvSpPr>
              <p:spPr>
                <a:xfrm>
                  <a:off x="871390" y="5975887"/>
                  <a:ext cx="2931764" cy="783804"/>
                </a:xfrm>
                <a:prstGeom prst="rect">
                  <a:avLst/>
                </a:prstGeom>
                <a:blipFill>
                  <a:blip r:embed="rId3"/>
                  <a:stretch>
                    <a:fillRect b="-6349"/>
                  </a:stretch>
                </a:blipFill>
              </p:spPr>
              <p:txBody>
                <a:bodyPr/>
                <a:lstStyle/>
                <a:p>
                  <a:r>
                    <a:rPr lang="en-US">
                      <a:noFill/>
                    </a:rPr>
                    <a:t> </a:t>
                  </a:r>
                </a:p>
              </p:txBody>
            </p:sp>
          </mc:Fallback>
        </mc:AlternateContent>
        <p:sp>
          <p:nvSpPr>
            <p:cNvPr id="29" name="TextBox 28">
              <a:extLst>
                <a:ext uri="{FF2B5EF4-FFF2-40B4-BE49-F238E27FC236}">
                  <a16:creationId xmlns:a16="http://schemas.microsoft.com/office/drawing/2014/main" id="{A0044935-ACDA-8178-C5B2-25CD40B22D1F}"/>
                </a:ext>
              </a:extLst>
            </p:cNvPr>
            <p:cNvSpPr txBox="1"/>
            <p:nvPr/>
          </p:nvSpPr>
          <p:spPr>
            <a:xfrm>
              <a:off x="586748" y="5574844"/>
              <a:ext cx="2547923" cy="369332"/>
            </a:xfrm>
            <a:prstGeom prst="rect">
              <a:avLst/>
            </a:prstGeom>
            <a:noFill/>
          </p:spPr>
          <p:txBody>
            <a:bodyPr wrap="square" rtlCol="0">
              <a:spAutoFit/>
            </a:bodyPr>
            <a:lstStyle/>
            <a:p>
              <a:r>
                <a:rPr lang="en-US" dirty="0"/>
                <a:t>In pre-treatment data,</a:t>
              </a:r>
            </a:p>
          </p:txBody>
        </p:sp>
      </p:grpSp>
      <p:grpSp>
        <p:nvGrpSpPr>
          <p:cNvPr id="4" name="Group 3">
            <a:extLst>
              <a:ext uri="{FF2B5EF4-FFF2-40B4-BE49-F238E27FC236}">
                <a16:creationId xmlns:a16="http://schemas.microsoft.com/office/drawing/2014/main" id="{C5101017-3BB7-2F4F-1DE8-75DEF43C3041}"/>
              </a:ext>
            </a:extLst>
          </p:cNvPr>
          <p:cNvGrpSpPr/>
          <p:nvPr/>
        </p:nvGrpSpPr>
        <p:grpSpPr>
          <a:xfrm>
            <a:off x="1829923" y="3243376"/>
            <a:ext cx="5974195" cy="855971"/>
            <a:chOff x="1832856" y="4527646"/>
            <a:chExt cx="5974195" cy="855971"/>
          </a:xfrm>
        </p:grpSpPr>
        <p:sp>
          <p:nvSpPr>
            <p:cNvPr id="16" name="Freeform 15">
              <a:extLst>
                <a:ext uri="{FF2B5EF4-FFF2-40B4-BE49-F238E27FC236}">
                  <a16:creationId xmlns:a16="http://schemas.microsoft.com/office/drawing/2014/main" id="{35A2C889-C449-A60E-51BA-8914A045E233}"/>
                </a:ext>
              </a:extLst>
            </p:cNvPr>
            <p:cNvSpPr/>
            <p:nvPr/>
          </p:nvSpPr>
          <p:spPr>
            <a:xfrm>
              <a:off x="1832856" y="4573207"/>
              <a:ext cx="3023719" cy="810410"/>
            </a:xfrm>
            <a:custGeom>
              <a:avLst/>
              <a:gdLst>
                <a:gd name="connsiteX0" fmla="*/ 0 w 3563471"/>
                <a:gd name="connsiteY0" fmla="*/ 955073 h 955073"/>
                <a:gd name="connsiteX1" fmla="*/ 564777 w 3563471"/>
                <a:gd name="connsiteY1" fmla="*/ 457532 h 955073"/>
                <a:gd name="connsiteX2" fmla="*/ 927847 w 3563471"/>
                <a:gd name="connsiteY2" fmla="*/ 726473 h 955073"/>
                <a:gd name="connsiteX3" fmla="*/ 1815353 w 3563471"/>
                <a:gd name="connsiteY3" fmla="*/ 332 h 955073"/>
                <a:gd name="connsiteX4" fmla="*/ 2622177 w 3563471"/>
                <a:gd name="connsiteY4" fmla="*/ 632343 h 955073"/>
                <a:gd name="connsiteX5" fmla="*/ 3065930 w 3563471"/>
                <a:gd name="connsiteY5" fmla="*/ 618896 h 955073"/>
                <a:gd name="connsiteX6" fmla="*/ 3348318 w 3563471"/>
                <a:gd name="connsiteY6" fmla="*/ 107908 h 955073"/>
                <a:gd name="connsiteX7" fmla="*/ 3563471 w 3563471"/>
                <a:gd name="connsiteY7" fmla="*/ 309614 h 9550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63471" h="955073">
                  <a:moveTo>
                    <a:pt x="0" y="955073"/>
                  </a:moveTo>
                  <a:cubicBezTo>
                    <a:pt x="205068" y="725352"/>
                    <a:pt x="410136" y="495632"/>
                    <a:pt x="564777" y="457532"/>
                  </a:cubicBezTo>
                  <a:cubicBezTo>
                    <a:pt x="719418" y="419432"/>
                    <a:pt x="719418" y="802673"/>
                    <a:pt x="927847" y="726473"/>
                  </a:cubicBezTo>
                  <a:cubicBezTo>
                    <a:pt x="1136276" y="650273"/>
                    <a:pt x="1532965" y="16020"/>
                    <a:pt x="1815353" y="332"/>
                  </a:cubicBezTo>
                  <a:cubicBezTo>
                    <a:pt x="2097741" y="-15356"/>
                    <a:pt x="2413748" y="529249"/>
                    <a:pt x="2622177" y="632343"/>
                  </a:cubicBezTo>
                  <a:cubicBezTo>
                    <a:pt x="2830606" y="735437"/>
                    <a:pt x="2944907" y="706302"/>
                    <a:pt x="3065930" y="618896"/>
                  </a:cubicBezTo>
                  <a:cubicBezTo>
                    <a:pt x="3186953" y="531490"/>
                    <a:pt x="3265395" y="159455"/>
                    <a:pt x="3348318" y="107908"/>
                  </a:cubicBezTo>
                  <a:cubicBezTo>
                    <a:pt x="3431242" y="56361"/>
                    <a:pt x="3497356" y="182987"/>
                    <a:pt x="3563471" y="309614"/>
                  </a:cubicBezTo>
                </a:path>
              </a:pathLst>
            </a:custGeom>
            <a:noFill/>
            <a:ln w="28575">
              <a:solidFill>
                <a:schemeClr val="accent6"/>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6"/>
                </a:solidFill>
              </a:endParaRPr>
            </a:p>
          </p:txBody>
        </p:sp>
        <p:sp>
          <p:nvSpPr>
            <p:cNvPr id="19" name="Freeform 18">
              <a:extLst>
                <a:ext uri="{FF2B5EF4-FFF2-40B4-BE49-F238E27FC236}">
                  <a16:creationId xmlns:a16="http://schemas.microsoft.com/office/drawing/2014/main" id="{2495D73C-2179-21BD-C59C-D0344B3080D3}"/>
                </a:ext>
              </a:extLst>
            </p:cNvPr>
            <p:cNvSpPr/>
            <p:nvPr/>
          </p:nvSpPr>
          <p:spPr>
            <a:xfrm>
              <a:off x="4828974" y="4527646"/>
              <a:ext cx="2978077" cy="567327"/>
            </a:xfrm>
            <a:custGeom>
              <a:avLst/>
              <a:gdLst>
                <a:gd name="connsiteX0" fmla="*/ 0 w 3684494"/>
                <a:gd name="connsiteY0" fmla="*/ 0 h 1362889"/>
                <a:gd name="connsiteX1" fmla="*/ 242047 w 3684494"/>
                <a:gd name="connsiteY1" fmla="*/ 1210235 h 1362889"/>
                <a:gd name="connsiteX2" fmla="*/ 591670 w 3684494"/>
                <a:gd name="connsiteY2" fmla="*/ 1317811 h 1362889"/>
                <a:gd name="connsiteX3" fmla="*/ 995082 w 3684494"/>
                <a:gd name="connsiteY3" fmla="*/ 954741 h 1362889"/>
                <a:gd name="connsiteX4" fmla="*/ 1936376 w 3684494"/>
                <a:gd name="connsiteY4" fmla="*/ 1169894 h 1362889"/>
                <a:gd name="connsiteX5" fmla="*/ 2756647 w 3684494"/>
                <a:gd name="connsiteY5" fmla="*/ 685800 h 1362889"/>
                <a:gd name="connsiteX6" fmla="*/ 3684494 w 3684494"/>
                <a:gd name="connsiteY6" fmla="*/ 1250576 h 1362889"/>
                <a:gd name="connsiteX0" fmla="*/ 0 w 3509682"/>
                <a:gd name="connsiteY0" fmla="*/ 329030 h 642634"/>
                <a:gd name="connsiteX1" fmla="*/ 67235 w 3509682"/>
                <a:gd name="connsiteY1" fmla="*/ 524729 h 642634"/>
                <a:gd name="connsiteX2" fmla="*/ 416858 w 3509682"/>
                <a:gd name="connsiteY2" fmla="*/ 632305 h 642634"/>
                <a:gd name="connsiteX3" fmla="*/ 820270 w 3509682"/>
                <a:gd name="connsiteY3" fmla="*/ 269235 h 642634"/>
                <a:gd name="connsiteX4" fmla="*/ 1761564 w 3509682"/>
                <a:gd name="connsiteY4" fmla="*/ 484388 h 642634"/>
                <a:gd name="connsiteX5" fmla="*/ 2581835 w 3509682"/>
                <a:gd name="connsiteY5" fmla="*/ 294 h 642634"/>
                <a:gd name="connsiteX6" fmla="*/ 3509682 w 3509682"/>
                <a:gd name="connsiteY6" fmla="*/ 565070 h 642634"/>
                <a:gd name="connsiteX0" fmla="*/ 0 w 3509682"/>
                <a:gd name="connsiteY0" fmla="*/ 329030 h 649534"/>
                <a:gd name="connsiteX1" fmla="*/ 155725 w 3509682"/>
                <a:gd name="connsiteY1" fmla="*/ 564292 h 649534"/>
                <a:gd name="connsiteX2" fmla="*/ 416858 w 3509682"/>
                <a:gd name="connsiteY2" fmla="*/ 632305 h 649534"/>
                <a:gd name="connsiteX3" fmla="*/ 820270 w 3509682"/>
                <a:gd name="connsiteY3" fmla="*/ 269235 h 649534"/>
                <a:gd name="connsiteX4" fmla="*/ 1761564 w 3509682"/>
                <a:gd name="connsiteY4" fmla="*/ 484388 h 649534"/>
                <a:gd name="connsiteX5" fmla="*/ 2581835 w 3509682"/>
                <a:gd name="connsiteY5" fmla="*/ 294 h 649534"/>
                <a:gd name="connsiteX6" fmla="*/ 3509682 w 3509682"/>
                <a:gd name="connsiteY6" fmla="*/ 565070 h 649534"/>
                <a:gd name="connsiteX0" fmla="*/ 23604 w 3533286"/>
                <a:gd name="connsiteY0" fmla="*/ 329030 h 658850"/>
                <a:gd name="connsiteX1" fmla="*/ 179329 w 3533286"/>
                <a:gd name="connsiteY1" fmla="*/ 564292 h 658850"/>
                <a:gd name="connsiteX2" fmla="*/ 440462 w 3533286"/>
                <a:gd name="connsiteY2" fmla="*/ 632305 h 658850"/>
                <a:gd name="connsiteX3" fmla="*/ 843874 w 3533286"/>
                <a:gd name="connsiteY3" fmla="*/ 269235 h 658850"/>
                <a:gd name="connsiteX4" fmla="*/ 1785168 w 3533286"/>
                <a:gd name="connsiteY4" fmla="*/ 484388 h 658850"/>
                <a:gd name="connsiteX5" fmla="*/ 2605439 w 3533286"/>
                <a:gd name="connsiteY5" fmla="*/ 294 h 658850"/>
                <a:gd name="connsiteX6" fmla="*/ 3533286 w 3533286"/>
                <a:gd name="connsiteY6" fmla="*/ 565070 h 658850"/>
                <a:gd name="connsiteX0" fmla="*/ 0 w 3509682"/>
                <a:gd name="connsiteY0" fmla="*/ 329030 h 654436"/>
                <a:gd name="connsiteX1" fmla="*/ 155725 w 3509682"/>
                <a:gd name="connsiteY1" fmla="*/ 564292 h 654436"/>
                <a:gd name="connsiteX2" fmla="*/ 416858 w 3509682"/>
                <a:gd name="connsiteY2" fmla="*/ 632305 h 654436"/>
                <a:gd name="connsiteX3" fmla="*/ 820270 w 3509682"/>
                <a:gd name="connsiteY3" fmla="*/ 269235 h 654436"/>
                <a:gd name="connsiteX4" fmla="*/ 1761564 w 3509682"/>
                <a:gd name="connsiteY4" fmla="*/ 484388 h 654436"/>
                <a:gd name="connsiteX5" fmla="*/ 2581835 w 3509682"/>
                <a:gd name="connsiteY5" fmla="*/ 294 h 654436"/>
                <a:gd name="connsiteX6" fmla="*/ 3509682 w 3509682"/>
                <a:gd name="connsiteY6" fmla="*/ 565070 h 654436"/>
                <a:gd name="connsiteX0" fmla="*/ 0 w 3509682"/>
                <a:gd name="connsiteY0" fmla="*/ 329030 h 644884"/>
                <a:gd name="connsiteX1" fmla="*/ 155725 w 3509682"/>
                <a:gd name="connsiteY1" fmla="*/ 564292 h 644884"/>
                <a:gd name="connsiteX2" fmla="*/ 416858 w 3509682"/>
                <a:gd name="connsiteY2" fmla="*/ 632305 h 644884"/>
                <a:gd name="connsiteX3" fmla="*/ 820270 w 3509682"/>
                <a:gd name="connsiteY3" fmla="*/ 269235 h 644884"/>
                <a:gd name="connsiteX4" fmla="*/ 1761564 w 3509682"/>
                <a:gd name="connsiteY4" fmla="*/ 484388 h 644884"/>
                <a:gd name="connsiteX5" fmla="*/ 2581835 w 3509682"/>
                <a:gd name="connsiteY5" fmla="*/ 294 h 644884"/>
                <a:gd name="connsiteX6" fmla="*/ 3509682 w 3509682"/>
                <a:gd name="connsiteY6" fmla="*/ 565070 h 644884"/>
                <a:gd name="connsiteX0" fmla="*/ 0 w 3509682"/>
                <a:gd name="connsiteY0" fmla="*/ 329030 h 667105"/>
                <a:gd name="connsiteX1" fmla="*/ 160343 w 3509682"/>
                <a:gd name="connsiteY1" fmla="*/ 633976 h 667105"/>
                <a:gd name="connsiteX2" fmla="*/ 416858 w 3509682"/>
                <a:gd name="connsiteY2" fmla="*/ 632305 h 667105"/>
                <a:gd name="connsiteX3" fmla="*/ 820270 w 3509682"/>
                <a:gd name="connsiteY3" fmla="*/ 269235 h 667105"/>
                <a:gd name="connsiteX4" fmla="*/ 1761564 w 3509682"/>
                <a:gd name="connsiteY4" fmla="*/ 484388 h 667105"/>
                <a:gd name="connsiteX5" fmla="*/ 2581835 w 3509682"/>
                <a:gd name="connsiteY5" fmla="*/ 294 h 667105"/>
                <a:gd name="connsiteX6" fmla="*/ 3509682 w 3509682"/>
                <a:gd name="connsiteY6" fmla="*/ 565070 h 667105"/>
                <a:gd name="connsiteX0" fmla="*/ 0 w 3509682"/>
                <a:gd name="connsiteY0" fmla="*/ 329030 h 672580"/>
                <a:gd name="connsiteX1" fmla="*/ 160343 w 3509682"/>
                <a:gd name="connsiteY1" fmla="*/ 633976 h 672580"/>
                <a:gd name="connsiteX2" fmla="*/ 416858 w 3509682"/>
                <a:gd name="connsiteY2" fmla="*/ 632305 h 672580"/>
                <a:gd name="connsiteX3" fmla="*/ 820270 w 3509682"/>
                <a:gd name="connsiteY3" fmla="*/ 269235 h 672580"/>
                <a:gd name="connsiteX4" fmla="*/ 1761564 w 3509682"/>
                <a:gd name="connsiteY4" fmla="*/ 484388 h 672580"/>
                <a:gd name="connsiteX5" fmla="*/ 2581835 w 3509682"/>
                <a:gd name="connsiteY5" fmla="*/ 294 h 672580"/>
                <a:gd name="connsiteX6" fmla="*/ 3509682 w 3509682"/>
                <a:gd name="connsiteY6" fmla="*/ 565070 h 672580"/>
                <a:gd name="connsiteX0" fmla="*/ 0 w 3509682"/>
                <a:gd name="connsiteY0" fmla="*/ 329030 h 672580"/>
                <a:gd name="connsiteX1" fmla="*/ 160343 w 3509682"/>
                <a:gd name="connsiteY1" fmla="*/ 633976 h 672580"/>
                <a:gd name="connsiteX2" fmla="*/ 416858 w 3509682"/>
                <a:gd name="connsiteY2" fmla="*/ 632305 h 672580"/>
                <a:gd name="connsiteX3" fmla="*/ 820270 w 3509682"/>
                <a:gd name="connsiteY3" fmla="*/ 269235 h 672580"/>
                <a:gd name="connsiteX4" fmla="*/ 1761564 w 3509682"/>
                <a:gd name="connsiteY4" fmla="*/ 484388 h 672580"/>
                <a:gd name="connsiteX5" fmla="*/ 2581835 w 3509682"/>
                <a:gd name="connsiteY5" fmla="*/ 294 h 672580"/>
                <a:gd name="connsiteX6" fmla="*/ 3509682 w 3509682"/>
                <a:gd name="connsiteY6" fmla="*/ 565070 h 672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9682" h="672580">
                  <a:moveTo>
                    <a:pt x="0" y="329030"/>
                  </a:moveTo>
                  <a:cubicBezTo>
                    <a:pt x="117899" y="601337"/>
                    <a:pt x="69862" y="590023"/>
                    <a:pt x="160343" y="633976"/>
                  </a:cubicBezTo>
                  <a:cubicBezTo>
                    <a:pt x="250824" y="677929"/>
                    <a:pt x="306870" y="693095"/>
                    <a:pt x="416858" y="632305"/>
                  </a:cubicBezTo>
                  <a:cubicBezTo>
                    <a:pt x="526846" y="571515"/>
                    <a:pt x="596152" y="293888"/>
                    <a:pt x="820270" y="269235"/>
                  </a:cubicBezTo>
                  <a:cubicBezTo>
                    <a:pt x="1044388" y="244582"/>
                    <a:pt x="1467970" y="529212"/>
                    <a:pt x="1761564" y="484388"/>
                  </a:cubicBezTo>
                  <a:cubicBezTo>
                    <a:pt x="2055158" y="439565"/>
                    <a:pt x="2290482" y="-13153"/>
                    <a:pt x="2581835" y="294"/>
                  </a:cubicBezTo>
                  <a:cubicBezTo>
                    <a:pt x="2873188" y="13741"/>
                    <a:pt x="3191435" y="289405"/>
                    <a:pt x="3509682" y="565070"/>
                  </a:cubicBezTo>
                </a:path>
              </a:pathLst>
            </a:custGeom>
            <a:noFill/>
            <a:ln w="28575">
              <a:solidFill>
                <a:schemeClr val="accent6"/>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6"/>
                </a:solidFill>
              </a:endParaRPr>
            </a:p>
          </p:txBody>
        </p:sp>
      </p:grpSp>
      <p:sp>
        <p:nvSpPr>
          <p:cNvPr id="20" name="TextBox 19">
            <a:extLst>
              <a:ext uri="{FF2B5EF4-FFF2-40B4-BE49-F238E27FC236}">
                <a16:creationId xmlns:a16="http://schemas.microsoft.com/office/drawing/2014/main" id="{0D824C14-18A6-DABE-C2AF-1690C0E44293}"/>
              </a:ext>
            </a:extLst>
          </p:cNvPr>
          <p:cNvSpPr txBox="1"/>
          <p:nvPr/>
        </p:nvSpPr>
        <p:spPr>
          <a:xfrm>
            <a:off x="7804118" y="3562244"/>
            <a:ext cx="1463093" cy="369332"/>
          </a:xfrm>
          <a:prstGeom prst="rect">
            <a:avLst/>
          </a:prstGeom>
          <a:noFill/>
        </p:spPr>
        <p:txBody>
          <a:bodyPr wrap="none" rtlCol="0">
            <a:spAutoFit/>
          </a:bodyPr>
          <a:lstStyle/>
          <a:p>
            <a:r>
              <a:rPr lang="en-US" dirty="0">
                <a:solidFill>
                  <a:schemeClr val="accent6"/>
                </a:solidFill>
              </a:rPr>
              <a:t>Synthetic CA</a:t>
            </a:r>
          </a:p>
        </p:txBody>
      </p:sp>
      <p:grpSp>
        <p:nvGrpSpPr>
          <p:cNvPr id="32" name="Group 31">
            <a:extLst>
              <a:ext uri="{FF2B5EF4-FFF2-40B4-BE49-F238E27FC236}">
                <a16:creationId xmlns:a16="http://schemas.microsoft.com/office/drawing/2014/main" id="{88F78D32-F8C9-0D42-BB5E-E5ED8FE9D638}"/>
              </a:ext>
            </a:extLst>
          </p:cNvPr>
          <p:cNvGrpSpPr/>
          <p:nvPr/>
        </p:nvGrpSpPr>
        <p:grpSpPr>
          <a:xfrm>
            <a:off x="6873112" y="3288937"/>
            <a:ext cx="5198637" cy="1140632"/>
            <a:chOff x="6873112" y="3288937"/>
            <a:chExt cx="5198637" cy="1140632"/>
          </a:xfrm>
        </p:grpSpPr>
        <p:sp>
          <p:nvSpPr>
            <p:cNvPr id="24" name="Up-Down Arrow 23">
              <a:extLst>
                <a:ext uri="{FF2B5EF4-FFF2-40B4-BE49-F238E27FC236}">
                  <a16:creationId xmlns:a16="http://schemas.microsoft.com/office/drawing/2014/main" id="{965C891A-25DB-767E-018F-358E76F82B3A}"/>
                </a:ext>
              </a:extLst>
            </p:cNvPr>
            <p:cNvSpPr/>
            <p:nvPr/>
          </p:nvSpPr>
          <p:spPr>
            <a:xfrm>
              <a:off x="6873112" y="3288937"/>
              <a:ext cx="228332" cy="753654"/>
            </a:xfrm>
            <a:prstGeom prst="upDownArrow">
              <a:avLst/>
            </a:prstGeom>
            <a:solidFill>
              <a:srgbClr val="FF008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DCC23D0A-438B-54FF-F798-1231BCB638DE}"/>
                </a:ext>
              </a:extLst>
            </p:cNvPr>
            <p:cNvSpPr txBox="1"/>
            <p:nvPr/>
          </p:nvSpPr>
          <p:spPr>
            <a:xfrm>
              <a:off x="9108374" y="4060237"/>
              <a:ext cx="2963375" cy="369332"/>
            </a:xfrm>
            <a:prstGeom prst="rect">
              <a:avLst/>
            </a:prstGeom>
            <a:noFill/>
          </p:spPr>
          <p:txBody>
            <a:bodyPr wrap="none" rtlCol="0">
              <a:spAutoFit/>
            </a:bodyPr>
            <a:lstStyle/>
            <a:p>
              <a:r>
                <a:rPr lang="en-US" dirty="0">
                  <a:solidFill>
                    <a:srgbClr val="FF0082"/>
                  </a:solidFill>
                </a:rPr>
                <a:t>This is the effect of Prop. 99!</a:t>
              </a:r>
            </a:p>
          </p:txBody>
        </p:sp>
        <p:sp>
          <p:nvSpPr>
            <p:cNvPr id="26" name="Freeform 25">
              <a:extLst>
                <a:ext uri="{FF2B5EF4-FFF2-40B4-BE49-F238E27FC236}">
                  <a16:creationId xmlns:a16="http://schemas.microsoft.com/office/drawing/2014/main" id="{1AD4B508-7468-908E-14A6-41E4759809EA}"/>
                </a:ext>
              </a:extLst>
            </p:cNvPr>
            <p:cNvSpPr/>
            <p:nvPr/>
          </p:nvSpPr>
          <p:spPr>
            <a:xfrm>
              <a:off x="7077694" y="3724780"/>
              <a:ext cx="2101932" cy="550337"/>
            </a:xfrm>
            <a:custGeom>
              <a:avLst/>
              <a:gdLst>
                <a:gd name="connsiteX0" fmla="*/ 2101932 w 2101932"/>
                <a:gd name="connsiteY0" fmla="*/ 550337 h 550337"/>
                <a:gd name="connsiteX1" fmla="*/ 1045028 w 2101932"/>
                <a:gd name="connsiteY1" fmla="*/ 443459 h 550337"/>
                <a:gd name="connsiteX2" fmla="*/ 296883 w 2101932"/>
                <a:gd name="connsiteY2" fmla="*/ 63449 h 550337"/>
                <a:gd name="connsiteX3" fmla="*/ 0 w 2101932"/>
                <a:gd name="connsiteY3" fmla="*/ 4072 h 550337"/>
              </a:gdLst>
              <a:ahLst/>
              <a:cxnLst>
                <a:cxn ang="0">
                  <a:pos x="connsiteX0" y="connsiteY0"/>
                </a:cxn>
                <a:cxn ang="0">
                  <a:pos x="connsiteX1" y="connsiteY1"/>
                </a:cxn>
                <a:cxn ang="0">
                  <a:pos x="connsiteX2" y="connsiteY2"/>
                </a:cxn>
                <a:cxn ang="0">
                  <a:pos x="connsiteX3" y="connsiteY3"/>
                </a:cxn>
              </a:cxnLst>
              <a:rect l="l" t="t" r="r" b="b"/>
              <a:pathLst>
                <a:path w="2101932" h="550337">
                  <a:moveTo>
                    <a:pt x="2101932" y="550337"/>
                  </a:moveTo>
                  <a:cubicBezTo>
                    <a:pt x="1723901" y="537472"/>
                    <a:pt x="1345870" y="524607"/>
                    <a:pt x="1045028" y="443459"/>
                  </a:cubicBezTo>
                  <a:cubicBezTo>
                    <a:pt x="744186" y="362311"/>
                    <a:pt x="471054" y="136680"/>
                    <a:pt x="296883" y="63449"/>
                  </a:cubicBezTo>
                  <a:cubicBezTo>
                    <a:pt x="122712" y="-9782"/>
                    <a:pt x="61356" y="-2855"/>
                    <a:pt x="0" y="4072"/>
                  </a:cubicBezTo>
                </a:path>
              </a:pathLst>
            </a:custGeom>
            <a:noFill/>
            <a:ln>
              <a:solidFill>
                <a:srgbClr val="FF008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3" name="Group 32">
            <a:extLst>
              <a:ext uri="{FF2B5EF4-FFF2-40B4-BE49-F238E27FC236}">
                <a16:creationId xmlns:a16="http://schemas.microsoft.com/office/drawing/2014/main" id="{AA6ABFC4-56E6-7ABD-359A-C517F387C7CB}"/>
              </a:ext>
            </a:extLst>
          </p:cNvPr>
          <p:cNvGrpSpPr/>
          <p:nvPr/>
        </p:nvGrpSpPr>
        <p:grpSpPr>
          <a:xfrm>
            <a:off x="8128660" y="1616281"/>
            <a:ext cx="3783305" cy="1651173"/>
            <a:chOff x="8128660" y="1616281"/>
            <a:chExt cx="3783305" cy="1651173"/>
          </a:xfrm>
        </p:grpSpPr>
        <p:pic>
          <p:nvPicPr>
            <p:cNvPr id="27" name="Picture 26">
              <a:extLst>
                <a:ext uri="{FF2B5EF4-FFF2-40B4-BE49-F238E27FC236}">
                  <a16:creationId xmlns:a16="http://schemas.microsoft.com/office/drawing/2014/main" id="{4B39891D-2672-2F17-F9EB-96D7AD16AEC5}"/>
                </a:ext>
              </a:extLst>
            </p:cNvPr>
            <p:cNvPicPr>
              <a:picLocks noChangeAspect="1"/>
            </p:cNvPicPr>
            <p:nvPr/>
          </p:nvPicPr>
          <p:blipFill>
            <a:blip r:embed="rId4"/>
            <a:stretch>
              <a:fillRect/>
            </a:stretch>
          </p:blipFill>
          <p:spPr>
            <a:xfrm>
              <a:off x="11220158" y="1616281"/>
              <a:ext cx="691807" cy="1651173"/>
            </a:xfrm>
            <a:prstGeom prst="rect">
              <a:avLst/>
            </a:prstGeom>
          </p:spPr>
        </p:pic>
        <p:sp>
          <p:nvSpPr>
            <p:cNvPr id="28" name="TextBox 27">
              <a:extLst>
                <a:ext uri="{FF2B5EF4-FFF2-40B4-BE49-F238E27FC236}">
                  <a16:creationId xmlns:a16="http://schemas.microsoft.com/office/drawing/2014/main" id="{A42B4943-2D00-9E25-90D7-58CDC47F7B2D}"/>
                </a:ext>
              </a:extLst>
            </p:cNvPr>
            <p:cNvSpPr txBox="1"/>
            <p:nvPr/>
          </p:nvSpPr>
          <p:spPr>
            <a:xfrm>
              <a:off x="8128660" y="1740338"/>
              <a:ext cx="3072476" cy="923330"/>
            </a:xfrm>
            <a:prstGeom prst="rect">
              <a:avLst/>
            </a:prstGeom>
            <a:noFill/>
          </p:spPr>
          <p:txBody>
            <a:bodyPr wrap="square" rtlCol="0">
              <a:spAutoFit/>
            </a:bodyPr>
            <a:lstStyle/>
            <a:p>
              <a:pPr algn="r"/>
              <a:r>
                <a:rPr lang="en-US" dirty="0">
                  <a:solidFill>
                    <a:srgbClr val="0070C0"/>
                  </a:solidFill>
                </a:rPr>
                <a:t>When the parallel trends assumption </a:t>
              </a:r>
              <a:r>
                <a:rPr lang="en-US" b="1" dirty="0">
                  <a:solidFill>
                    <a:srgbClr val="0070C0"/>
                  </a:solidFill>
                </a:rPr>
                <a:t>does</a:t>
              </a:r>
              <a:r>
                <a:rPr lang="en-US" dirty="0">
                  <a:solidFill>
                    <a:srgbClr val="0070C0"/>
                  </a:solidFill>
                </a:rPr>
                <a:t> hold, SC gives the same thing as </a:t>
              </a:r>
              <a:r>
                <a:rPr lang="en-US" dirty="0" err="1">
                  <a:solidFill>
                    <a:srgbClr val="0070C0"/>
                  </a:solidFill>
                </a:rPr>
                <a:t>DiD</a:t>
              </a:r>
              <a:r>
                <a:rPr lang="en-US" dirty="0">
                  <a:solidFill>
                    <a:srgbClr val="0070C0"/>
                  </a:solidFill>
                </a:rPr>
                <a:t>!</a:t>
              </a:r>
            </a:p>
          </p:txBody>
        </p:sp>
      </p:grpSp>
    </p:spTree>
    <p:extLst>
      <p:ext uri="{BB962C8B-B14F-4D97-AF65-F5344CB8AC3E}">
        <p14:creationId xmlns:p14="http://schemas.microsoft.com/office/powerpoint/2010/main" val="5038463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D4D3C8-670D-CAE0-4F5B-1BA62B6135AD}"/>
              </a:ext>
            </a:extLst>
          </p:cNvPr>
          <p:cNvSpPr>
            <a:spLocks noGrp="1"/>
          </p:cNvSpPr>
          <p:nvPr>
            <p:ph type="title"/>
          </p:nvPr>
        </p:nvSpPr>
        <p:spPr/>
        <p:txBody>
          <a:bodyPr/>
          <a:lstStyle/>
          <a:p>
            <a:r>
              <a:rPr lang="en-US" dirty="0"/>
              <a:t>Synthetic controls generalizes </a:t>
            </a:r>
            <a:r>
              <a:rPr lang="en-US" dirty="0" err="1"/>
              <a:t>DiD</a:t>
            </a:r>
            <a:endParaRPr lang="en-US" dirty="0"/>
          </a:p>
        </p:txBody>
      </p:sp>
      <p:grpSp>
        <p:nvGrpSpPr>
          <p:cNvPr id="34" name="Group 33">
            <a:extLst>
              <a:ext uri="{FF2B5EF4-FFF2-40B4-BE49-F238E27FC236}">
                <a16:creationId xmlns:a16="http://schemas.microsoft.com/office/drawing/2014/main" id="{969426F8-9487-D3E8-8056-C4BB5888461A}"/>
              </a:ext>
            </a:extLst>
          </p:cNvPr>
          <p:cNvGrpSpPr/>
          <p:nvPr/>
        </p:nvGrpSpPr>
        <p:grpSpPr>
          <a:xfrm>
            <a:off x="7457704" y="2274728"/>
            <a:ext cx="4441371" cy="3220833"/>
            <a:chOff x="7457704" y="2274728"/>
            <a:chExt cx="4441371" cy="3220833"/>
          </a:xfrm>
        </p:grpSpPr>
        <p:pic>
          <p:nvPicPr>
            <p:cNvPr id="27" name="Picture 26">
              <a:extLst>
                <a:ext uri="{FF2B5EF4-FFF2-40B4-BE49-F238E27FC236}">
                  <a16:creationId xmlns:a16="http://schemas.microsoft.com/office/drawing/2014/main" id="{4B39891D-2672-2F17-F9EB-96D7AD16AEC5}"/>
                </a:ext>
              </a:extLst>
            </p:cNvPr>
            <p:cNvPicPr>
              <a:picLocks noChangeAspect="1"/>
            </p:cNvPicPr>
            <p:nvPr/>
          </p:nvPicPr>
          <p:blipFill>
            <a:blip r:embed="rId3"/>
            <a:stretch>
              <a:fillRect/>
            </a:stretch>
          </p:blipFill>
          <p:spPr>
            <a:xfrm>
              <a:off x="11193908" y="3844388"/>
              <a:ext cx="691807" cy="1651173"/>
            </a:xfrm>
            <a:prstGeom prst="rect">
              <a:avLst/>
            </a:prstGeom>
          </p:spPr>
        </p:pic>
        <p:sp>
          <p:nvSpPr>
            <p:cNvPr id="28" name="TextBox 27">
              <a:extLst>
                <a:ext uri="{FF2B5EF4-FFF2-40B4-BE49-F238E27FC236}">
                  <a16:creationId xmlns:a16="http://schemas.microsoft.com/office/drawing/2014/main" id="{A42B4943-2D00-9E25-90D7-58CDC47F7B2D}"/>
                </a:ext>
              </a:extLst>
            </p:cNvPr>
            <p:cNvSpPr txBox="1"/>
            <p:nvPr/>
          </p:nvSpPr>
          <p:spPr>
            <a:xfrm>
              <a:off x="7457704" y="2274728"/>
              <a:ext cx="4441371" cy="1569660"/>
            </a:xfrm>
            <a:prstGeom prst="rect">
              <a:avLst/>
            </a:prstGeom>
            <a:noFill/>
          </p:spPr>
          <p:txBody>
            <a:bodyPr wrap="square" rtlCol="0">
              <a:spAutoFit/>
            </a:bodyPr>
            <a:lstStyle/>
            <a:p>
              <a:pPr algn="r"/>
              <a:r>
                <a:rPr lang="en-US" sz="2400" dirty="0">
                  <a:solidFill>
                    <a:srgbClr val="0070C0"/>
                  </a:solidFill>
                </a:rPr>
                <a:t>When the parallel trends assumption</a:t>
              </a:r>
              <a:r>
                <a:rPr lang="en-US" sz="2400" b="1" dirty="0">
                  <a:solidFill>
                    <a:srgbClr val="0070C0"/>
                  </a:solidFill>
                </a:rPr>
                <a:t> doesn’t </a:t>
              </a:r>
              <a:r>
                <a:rPr lang="en-US" sz="2400" dirty="0">
                  <a:solidFill>
                    <a:srgbClr val="0070C0"/>
                  </a:solidFill>
                </a:rPr>
                <a:t>hold, </a:t>
              </a:r>
              <a:r>
                <a:rPr lang="en-US" sz="2400" dirty="0" err="1">
                  <a:solidFill>
                    <a:srgbClr val="0070C0"/>
                  </a:solidFill>
                </a:rPr>
                <a:t>DiD</a:t>
              </a:r>
              <a:r>
                <a:rPr lang="en-US" sz="2400" dirty="0">
                  <a:solidFill>
                    <a:srgbClr val="0070C0"/>
                  </a:solidFill>
                </a:rPr>
                <a:t> doesn’t work, but synthetic controls still applies. </a:t>
              </a:r>
            </a:p>
          </p:txBody>
        </p:sp>
      </p:grpSp>
      <p:pic>
        <p:nvPicPr>
          <p:cNvPr id="33" name="Picture 32">
            <a:extLst>
              <a:ext uri="{FF2B5EF4-FFF2-40B4-BE49-F238E27FC236}">
                <a16:creationId xmlns:a16="http://schemas.microsoft.com/office/drawing/2014/main" id="{137D7C03-B705-2A4D-159C-24657C4F56E2}"/>
              </a:ext>
            </a:extLst>
          </p:cNvPr>
          <p:cNvPicPr>
            <a:picLocks noChangeAspect="1"/>
          </p:cNvPicPr>
          <p:nvPr/>
        </p:nvPicPr>
        <p:blipFill>
          <a:blip r:embed="rId4"/>
          <a:stretch>
            <a:fillRect/>
          </a:stretch>
        </p:blipFill>
        <p:spPr>
          <a:xfrm>
            <a:off x="1493817" y="1616281"/>
            <a:ext cx="5655129" cy="4938813"/>
          </a:xfrm>
          <a:prstGeom prst="rect">
            <a:avLst/>
          </a:prstGeom>
        </p:spPr>
      </p:pic>
    </p:spTree>
    <p:extLst>
      <p:ext uri="{BB962C8B-B14F-4D97-AF65-F5344CB8AC3E}">
        <p14:creationId xmlns:p14="http://schemas.microsoft.com/office/powerpoint/2010/main" val="13968671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4" name="Rectangle 43">
            <a:extLst>
              <a:ext uri="{FF2B5EF4-FFF2-40B4-BE49-F238E27FC236}">
                <a16:creationId xmlns:a16="http://schemas.microsoft.com/office/drawing/2014/main" id="{A022B77E-7497-736B-692B-722E620D12CA}"/>
              </a:ext>
            </a:extLst>
          </p:cNvPr>
          <p:cNvSpPr/>
          <p:nvPr/>
        </p:nvSpPr>
        <p:spPr>
          <a:xfrm>
            <a:off x="10433776" y="6224698"/>
            <a:ext cx="1758224" cy="54423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C45BA6B-9809-A49D-4784-323EDB09B048}"/>
              </a:ext>
            </a:extLst>
          </p:cNvPr>
          <p:cNvSpPr>
            <a:spLocks noGrp="1"/>
          </p:cNvSpPr>
          <p:nvPr>
            <p:ph type="title"/>
          </p:nvPr>
        </p:nvSpPr>
        <p:spPr>
          <a:xfrm>
            <a:off x="617053" y="-104491"/>
            <a:ext cx="10515600" cy="1325563"/>
          </a:xfrm>
        </p:spPr>
        <p:txBody>
          <a:bodyPr/>
          <a:lstStyle/>
          <a:p>
            <a:r>
              <a:rPr lang="en-US" dirty="0"/>
              <a:t>Mathematically, what’s the difference?</a:t>
            </a:r>
          </a:p>
        </p:txBody>
      </p:sp>
      <p:sp>
        <p:nvSpPr>
          <p:cNvPr id="3" name="Content Placeholder 2">
            <a:extLst>
              <a:ext uri="{FF2B5EF4-FFF2-40B4-BE49-F238E27FC236}">
                <a16:creationId xmlns:a16="http://schemas.microsoft.com/office/drawing/2014/main" id="{D473DD6E-E782-24BD-BC83-363BA933A282}"/>
              </a:ext>
            </a:extLst>
          </p:cNvPr>
          <p:cNvSpPr>
            <a:spLocks noGrp="1"/>
          </p:cNvSpPr>
          <p:nvPr>
            <p:ph idx="1"/>
          </p:nvPr>
        </p:nvSpPr>
        <p:spPr>
          <a:xfrm>
            <a:off x="781343" y="970496"/>
            <a:ext cx="8044543" cy="644443"/>
          </a:xfrm>
        </p:spPr>
        <p:txBody>
          <a:bodyPr/>
          <a:lstStyle/>
          <a:p>
            <a:r>
              <a:rPr lang="en-US" dirty="0"/>
              <a:t>One (more) way to write </a:t>
            </a:r>
            <a:r>
              <a:rPr lang="en-US" dirty="0" err="1"/>
              <a:t>DiD</a:t>
            </a:r>
            <a:r>
              <a:rPr lang="en-US" dirty="0"/>
              <a:t>:</a:t>
            </a:r>
          </a:p>
          <a:p>
            <a:pPr marL="0" indent="0">
              <a:buNone/>
            </a:pPr>
            <a:endParaRPr lang="en-US" dirty="0"/>
          </a:p>
        </p:txBody>
      </p:sp>
      <p:pic>
        <p:nvPicPr>
          <p:cNvPr id="4" name="Picture 3">
            <a:extLst>
              <a:ext uri="{FF2B5EF4-FFF2-40B4-BE49-F238E27FC236}">
                <a16:creationId xmlns:a16="http://schemas.microsoft.com/office/drawing/2014/main" id="{C390A325-AADE-4F70-B391-58E3E88A33DA}"/>
              </a:ext>
            </a:extLst>
          </p:cNvPr>
          <p:cNvPicPr>
            <a:picLocks noChangeAspect="1"/>
          </p:cNvPicPr>
          <p:nvPr/>
        </p:nvPicPr>
        <p:blipFill>
          <a:blip r:embed="rId2"/>
          <a:stretch>
            <a:fillRect/>
          </a:stretch>
        </p:blipFill>
        <p:spPr>
          <a:xfrm>
            <a:off x="11453821" y="1491274"/>
            <a:ext cx="548328" cy="1383273"/>
          </a:xfrm>
          <a:prstGeom prst="rect">
            <a:avLst/>
          </a:prstGeom>
        </p:spPr>
      </p:pic>
      <p:sp>
        <p:nvSpPr>
          <p:cNvPr id="5" name="TextBox 4">
            <a:extLst>
              <a:ext uri="{FF2B5EF4-FFF2-40B4-BE49-F238E27FC236}">
                <a16:creationId xmlns:a16="http://schemas.microsoft.com/office/drawing/2014/main" id="{1FDBCB3C-738A-C564-70CE-A764E4303203}"/>
              </a:ext>
            </a:extLst>
          </p:cNvPr>
          <p:cNvSpPr txBox="1"/>
          <p:nvPr/>
        </p:nvSpPr>
        <p:spPr>
          <a:xfrm>
            <a:off x="8508938" y="1312481"/>
            <a:ext cx="2880964" cy="1323439"/>
          </a:xfrm>
          <a:prstGeom prst="rect">
            <a:avLst/>
          </a:prstGeom>
          <a:noFill/>
        </p:spPr>
        <p:txBody>
          <a:bodyPr wrap="square" rtlCol="0">
            <a:spAutoFit/>
          </a:bodyPr>
          <a:lstStyle/>
          <a:p>
            <a:pPr algn="r"/>
            <a:r>
              <a:rPr lang="en-US" sz="1600" dirty="0">
                <a:solidFill>
                  <a:srgbClr val="0070C0"/>
                </a:solidFill>
              </a:rPr>
              <a:t>This is the third(?) different way we’ve written down the regression for </a:t>
            </a:r>
            <a:r>
              <a:rPr lang="en-US" sz="1600" dirty="0" err="1">
                <a:solidFill>
                  <a:srgbClr val="0070C0"/>
                </a:solidFill>
              </a:rPr>
              <a:t>DiD</a:t>
            </a:r>
            <a:r>
              <a:rPr lang="en-US" sz="1600" dirty="0">
                <a:solidFill>
                  <a:srgbClr val="0070C0"/>
                </a:solidFill>
              </a:rPr>
              <a:t>.  Don’t worry about the equations if you don’t find them helpful.</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6B13847F-8EF8-678A-A3E2-773D17801A67}"/>
                  </a:ext>
                </a:extLst>
              </p:cNvPr>
              <p:cNvSpPr txBox="1"/>
              <p:nvPr/>
            </p:nvSpPr>
            <p:spPr>
              <a:xfrm>
                <a:off x="1223507" y="1490915"/>
                <a:ext cx="6097978" cy="64633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3600" b="0" i="1" smtClean="0">
                              <a:solidFill>
                                <a:schemeClr val="accent2"/>
                              </a:solidFill>
                              <a:latin typeface="Cambria Math" panose="02040503050406030204" pitchFamily="18" charset="0"/>
                            </a:rPr>
                          </m:ctrlPr>
                        </m:sSubPr>
                        <m:e>
                          <m:r>
                            <a:rPr lang="en-US" sz="3600" b="0" i="1" smtClean="0">
                              <a:solidFill>
                                <a:schemeClr val="accent2"/>
                              </a:solidFill>
                              <a:latin typeface="Cambria Math" panose="02040503050406030204" pitchFamily="18" charset="0"/>
                            </a:rPr>
                            <m:t>𝑌</m:t>
                          </m:r>
                        </m:e>
                        <m:sub>
                          <m:r>
                            <a:rPr lang="en-US" sz="3600" b="0" i="1" smtClean="0">
                              <a:solidFill>
                                <a:schemeClr val="accent2"/>
                              </a:solidFill>
                              <a:latin typeface="Cambria Math" panose="02040503050406030204" pitchFamily="18" charset="0"/>
                            </a:rPr>
                            <m:t>𝑖𝑡</m:t>
                          </m:r>
                        </m:sub>
                      </m:sSub>
                      <m:r>
                        <a:rPr lang="en-US" sz="3600" b="0" i="1" smtClean="0">
                          <a:latin typeface="Cambria Math" panose="02040503050406030204" pitchFamily="18" charset="0"/>
                        </a:rPr>
                        <m:t>=</m:t>
                      </m:r>
                      <m:sSub>
                        <m:sSubPr>
                          <m:ctrlPr>
                            <a:rPr lang="en-US" sz="3600" b="0" i="1" smtClean="0">
                              <a:solidFill>
                                <a:schemeClr val="accent5"/>
                              </a:solidFill>
                              <a:latin typeface="Cambria Math" panose="02040503050406030204" pitchFamily="18" charset="0"/>
                            </a:rPr>
                          </m:ctrlPr>
                        </m:sSubPr>
                        <m:e>
                          <m:r>
                            <a:rPr lang="en-US" sz="3600" b="0" i="1" smtClean="0">
                              <a:solidFill>
                                <a:schemeClr val="accent5"/>
                              </a:solidFill>
                              <a:latin typeface="Cambria Math" panose="02040503050406030204" pitchFamily="18" charset="0"/>
                            </a:rPr>
                            <m:t>𝜆</m:t>
                          </m:r>
                        </m:e>
                        <m:sub>
                          <m:r>
                            <a:rPr lang="en-US" sz="3600" b="0" i="1" smtClean="0">
                              <a:solidFill>
                                <a:schemeClr val="accent5"/>
                              </a:solidFill>
                              <a:latin typeface="Cambria Math" panose="02040503050406030204" pitchFamily="18" charset="0"/>
                            </a:rPr>
                            <m:t>𝑡</m:t>
                          </m:r>
                        </m:sub>
                      </m:sSub>
                      <m:r>
                        <a:rPr lang="en-US" sz="3600" b="0" i="1" smtClean="0">
                          <a:latin typeface="Cambria Math" panose="02040503050406030204" pitchFamily="18" charset="0"/>
                        </a:rPr>
                        <m:t>+</m:t>
                      </m:r>
                      <m:sSub>
                        <m:sSubPr>
                          <m:ctrlPr>
                            <a:rPr lang="en-US" sz="3600" b="0" i="1" smtClean="0">
                              <a:solidFill>
                                <a:schemeClr val="accent6"/>
                              </a:solidFill>
                              <a:latin typeface="Cambria Math" panose="02040503050406030204" pitchFamily="18" charset="0"/>
                            </a:rPr>
                          </m:ctrlPr>
                        </m:sSubPr>
                        <m:e>
                          <m:r>
                            <a:rPr lang="en-US" sz="3600" b="0" i="1" smtClean="0">
                              <a:solidFill>
                                <a:schemeClr val="accent6"/>
                              </a:solidFill>
                              <a:latin typeface="Cambria Math" panose="02040503050406030204" pitchFamily="18" charset="0"/>
                            </a:rPr>
                            <m:t>𝜇</m:t>
                          </m:r>
                        </m:e>
                        <m:sub>
                          <m:r>
                            <a:rPr lang="en-US" sz="3600" b="0" i="1" smtClean="0">
                              <a:solidFill>
                                <a:schemeClr val="accent6"/>
                              </a:solidFill>
                              <a:latin typeface="Cambria Math" panose="02040503050406030204" pitchFamily="18" charset="0"/>
                            </a:rPr>
                            <m:t>𝑖</m:t>
                          </m:r>
                        </m:sub>
                      </m:sSub>
                      <m:r>
                        <a:rPr lang="en-US" sz="3600" b="0" i="1" smtClean="0">
                          <a:latin typeface="Cambria Math" panose="02040503050406030204" pitchFamily="18" charset="0"/>
                        </a:rPr>
                        <m:t>+</m:t>
                      </m:r>
                      <m:r>
                        <a:rPr lang="en-US" sz="3600" b="0" i="1" smtClean="0">
                          <a:solidFill>
                            <a:schemeClr val="accent4"/>
                          </a:solidFill>
                          <a:latin typeface="Cambria Math" panose="02040503050406030204" pitchFamily="18" charset="0"/>
                        </a:rPr>
                        <m:t>𝜏</m:t>
                      </m:r>
                      <m:r>
                        <a:rPr lang="en-US" sz="3600" b="0" i="1" smtClean="0">
                          <a:latin typeface="Cambria Math" panose="02040503050406030204" pitchFamily="18" charset="0"/>
                        </a:rPr>
                        <m:t>⋅</m:t>
                      </m:r>
                      <m:sSub>
                        <m:sSubPr>
                          <m:ctrlPr>
                            <a:rPr lang="en-US" sz="3600" b="0" i="1" smtClean="0">
                              <a:solidFill>
                                <a:schemeClr val="accent1"/>
                              </a:solidFill>
                              <a:latin typeface="Cambria Math" panose="02040503050406030204" pitchFamily="18" charset="0"/>
                            </a:rPr>
                          </m:ctrlPr>
                        </m:sSubPr>
                        <m:e>
                          <m:r>
                            <a:rPr lang="en-US" sz="3600" b="0" i="1" smtClean="0">
                              <a:solidFill>
                                <a:schemeClr val="accent1"/>
                              </a:solidFill>
                              <a:latin typeface="Cambria Math" panose="02040503050406030204" pitchFamily="18" charset="0"/>
                            </a:rPr>
                            <m:t>𝐷</m:t>
                          </m:r>
                        </m:e>
                        <m:sub>
                          <m:r>
                            <a:rPr lang="en-US" sz="3600" b="0" i="1" smtClean="0">
                              <a:solidFill>
                                <a:schemeClr val="accent1"/>
                              </a:solidFill>
                              <a:latin typeface="Cambria Math" panose="02040503050406030204" pitchFamily="18" charset="0"/>
                            </a:rPr>
                            <m:t>𝑖𝑡</m:t>
                          </m:r>
                        </m:sub>
                      </m:sSub>
                    </m:oMath>
                  </m:oMathPara>
                </a14:m>
                <a:endParaRPr lang="en-US" sz="3600" dirty="0"/>
              </a:p>
            </p:txBody>
          </p:sp>
        </mc:Choice>
        <mc:Fallback xmlns="">
          <p:sp>
            <p:nvSpPr>
              <p:cNvPr id="7" name="TextBox 6">
                <a:extLst>
                  <a:ext uri="{FF2B5EF4-FFF2-40B4-BE49-F238E27FC236}">
                    <a16:creationId xmlns:a16="http://schemas.microsoft.com/office/drawing/2014/main" id="{6B13847F-8EF8-678A-A3E2-773D17801A67}"/>
                  </a:ext>
                </a:extLst>
              </p:cNvPr>
              <p:cNvSpPr txBox="1">
                <a:spLocks noRot="1" noChangeAspect="1" noMove="1" noResize="1" noEditPoints="1" noAdjustHandles="1" noChangeArrowheads="1" noChangeShapeType="1" noTextEdit="1"/>
              </p:cNvSpPr>
              <p:nvPr/>
            </p:nvSpPr>
            <p:spPr>
              <a:xfrm>
                <a:off x="1223507" y="1490915"/>
                <a:ext cx="6097978" cy="646331"/>
              </a:xfrm>
              <a:prstGeom prst="rect">
                <a:avLst/>
              </a:prstGeom>
              <a:blipFill>
                <a:blip r:embed="rId3"/>
                <a:stretch>
                  <a:fillRect b="-9615"/>
                </a:stretch>
              </a:blipFill>
            </p:spPr>
            <p:txBody>
              <a:bodyPr/>
              <a:lstStyle/>
              <a:p>
                <a:r>
                  <a:rPr lang="en-US">
                    <a:noFill/>
                  </a:rPr>
                  <a:t> </a:t>
                </a:r>
              </a:p>
            </p:txBody>
          </p:sp>
        </mc:Fallback>
      </mc:AlternateContent>
      <p:sp>
        <p:nvSpPr>
          <p:cNvPr id="8" name="TextBox 7">
            <a:extLst>
              <a:ext uri="{FF2B5EF4-FFF2-40B4-BE49-F238E27FC236}">
                <a16:creationId xmlns:a16="http://schemas.microsoft.com/office/drawing/2014/main" id="{F5985061-070E-7F89-3BD4-CCF04535C195}"/>
              </a:ext>
            </a:extLst>
          </p:cNvPr>
          <p:cNvSpPr txBox="1"/>
          <p:nvPr/>
        </p:nvSpPr>
        <p:spPr>
          <a:xfrm>
            <a:off x="1043057" y="2319499"/>
            <a:ext cx="1140031" cy="923330"/>
          </a:xfrm>
          <a:prstGeom prst="rect">
            <a:avLst/>
          </a:prstGeom>
          <a:noFill/>
        </p:spPr>
        <p:txBody>
          <a:bodyPr wrap="square" rtlCol="0">
            <a:spAutoFit/>
          </a:bodyPr>
          <a:lstStyle/>
          <a:p>
            <a:pPr algn="ctr"/>
            <a:r>
              <a:rPr lang="en-US" dirty="0">
                <a:solidFill>
                  <a:schemeClr val="accent2"/>
                </a:solidFill>
              </a:rPr>
              <a:t>Outcome for state </a:t>
            </a:r>
            <a:r>
              <a:rPr lang="en-US" dirty="0" err="1">
                <a:solidFill>
                  <a:schemeClr val="accent2"/>
                </a:solidFill>
              </a:rPr>
              <a:t>i</a:t>
            </a:r>
            <a:r>
              <a:rPr lang="en-US" dirty="0">
                <a:solidFill>
                  <a:schemeClr val="accent2"/>
                </a:solidFill>
              </a:rPr>
              <a:t> at time t</a:t>
            </a:r>
          </a:p>
        </p:txBody>
      </p:sp>
      <p:sp>
        <p:nvSpPr>
          <p:cNvPr id="9" name="TextBox 8">
            <a:extLst>
              <a:ext uri="{FF2B5EF4-FFF2-40B4-BE49-F238E27FC236}">
                <a16:creationId xmlns:a16="http://schemas.microsoft.com/office/drawing/2014/main" id="{07E77614-9C2A-2776-D56A-8AA0C33FBAB0}"/>
              </a:ext>
            </a:extLst>
          </p:cNvPr>
          <p:cNvSpPr txBox="1"/>
          <p:nvPr/>
        </p:nvSpPr>
        <p:spPr>
          <a:xfrm>
            <a:off x="2183088" y="2912508"/>
            <a:ext cx="1453797" cy="1200329"/>
          </a:xfrm>
          <a:prstGeom prst="rect">
            <a:avLst/>
          </a:prstGeom>
          <a:noFill/>
        </p:spPr>
        <p:txBody>
          <a:bodyPr wrap="square" rtlCol="0">
            <a:spAutoFit/>
          </a:bodyPr>
          <a:lstStyle/>
          <a:p>
            <a:pPr algn="ctr"/>
            <a:r>
              <a:rPr lang="en-US" dirty="0">
                <a:solidFill>
                  <a:schemeClr val="accent5"/>
                </a:solidFill>
              </a:rPr>
              <a:t>Something that just depends on time</a:t>
            </a:r>
          </a:p>
        </p:txBody>
      </p:sp>
      <p:sp>
        <p:nvSpPr>
          <p:cNvPr id="10" name="TextBox 9">
            <a:extLst>
              <a:ext uri="{FF2B5EF4-FFF2-40B4-BE49-F238E27FC236}">
                <a16:creationId xmlns:a16="http://schemas.microsoft.com/office/drawing/2014/main" id="{B8AD6919-E7A5-2F1C-F880-50FEE15E83BE}"/>
              </a:ext>
            </a:extLst>
          </p:cNvPr>
          <p:cNvSpPr txBox="1"/>
          <p:nvPr/>
        </p:nvSpPr>
        <p:spPr>
          <a:xfrm>
            <a:off x="3851706" y="2912507"/>
            <a:ext cx="1453797" cy="1200329"/>
          </a:xfrm>
          <a:prstGeom prst="rect">
            <a:avLst/>
          </a:prstGeom>
          <a:noFill/>
        </p:spPr>
        <p:txBody>
          <a:bodyPr wrap="square" rtlCol="0">
            <a:spAutoFit/>
          </a:bodyPr>
          <a:lstStyle/>
          <a:p>
            <a:pPr algn="ctr"/>
            <a:r>
              <a:rPr lang="en-US" dirty="0">
                <a:solidFill>
                  <a:schemeClr val="accent6"/>
                </a:solidFill>
              </a:rPr>
              <a:t>Something that just depends on the state</a:t>
            </a:r>
          </a:p>
        </p:txBody>
      </p:sp>
      <p:sp>
        <p:nvSpPr>
          <p:cNvPr id="11" name="TextBox 10">
            <a:extLst>
              <a:ext uri="{FF2B5EF4-FFF2-40B4-BE49-F238E27FC236}">
                <a16:creationId xmlns:a16="http://schemas.microsoft.com/office/drawing/2014/main" id="{F969A339-7D11-A152-F2E2-6EF56AF3D4F5}"/>
              </a:ext>
            </a:extLst>
          </p:cNvPr>
          <p:cNvSpPr txBox="1"/>
          <p:nvPr/>
        </p:nvSpPr>
        <p:spPr>
          <a:xfrm>
            <a:off x="6420452" y="2340371"/>
            <a:ext cx="1217142" cy="923330"/>
          </a:xfrm>
          <a:prstGeom prst="rect">
            <a:avLst/>
          </a:prstGeom>
          <a:noFill/>
        </p:spPr>
        <p:txBody>
          <a:bodyPr wrap="square" rtlCol="0">
            <a:spAutoFit/>
          </a:bodyPr>
          <a:lstStyle/>
          <a:p>
            <a:pPr algn="ctr"/>
            <a:r>
              <a:rPr lang="en-US" dirty="0">
                <a:solidFill>
                  <a:schemeClr val="accent1"/>
                </a:solidFill>
              </a:rPr>
              <a:t>Was state </a:t>
            </a:r>
            <a:r>
              <a:rPr lang="en-US" dirty="0" err="1">
                <a:solidFill>
                  <a:schemeClr val="accent1"/>
                </a:solidFill>
              </a:rPr>
              <a:t>i</a:t>
            </a:r>
            <a:r>
              <a:rPr lang="en-US" dirty="0">
                <a:solidFill>
                  <a:schemeClr val="accent1"/>
                </a:solidFill>
              </a:rPr>
              <a:t> treated at time t?</a:t>
            </a:r>
          </a:p>
        </p:txBody>
      </p:sp>
      <p:sp>
        <p:nvSpPr>
          <p:cNvPr id="12" name="TextBox 11">
            <a:extLst>
              <a:ext uri="{FF2B5EF4-FFF2-40B4-BE49-F238E27FC236}">
                <a16:creationId xmlns:a16="http://schemas.microsoft.com/office/drawing/2014/main" id="{20CF340A-D8E2-DDE6-7B47-576BB92769BE}"/>
              </a:ext>
            </a:extLst>
          </p:cNvPr>
          <p:cNvSpPr txBox="1"/>
          <p:nvPr/>
        </p:nvSpPr>
        <p:spPr>
          <a:xfrm>
            <a:off x="5254407" y="2860733"/>
            <a:ext cx="1217142" cy="923330"/>
          </a:xfrm>
          <a:prstGeom prst="rect">
            <a:avLst/>
          </a:prstGeom>
          <a:noFill/>
        </p:spPr>
        <p:txBody>
          <a:bodyPr wrap="square" rtlCol="0">
            <a:spAutoFit/>
          </a:bodyPr>
          <a:lstStyle/>
          <a:p>
            <a:pPr algn="ctr"/>
            <a:r>
              <a:rPr lang="en-US" dirty="0">
                <a:solidFill>
                  <a:schemeClr val="accent4"/>
                </a:solidFill>
              </a:rPr>
              <a:t>The thing we care about!</a:t>
            </a:r>
          </a:p>
        </p:txBody>
      </p:sp>
      <p:cxnSp>
        <p:nvCxnSpPr>
          <p:cNvPr id="14" name="Straight Arrow Connector 13">
            <a:extLst>
              <a:ext uri="{FF2B5EF4-FFF2-40B4-BE49-F238E27FC236}">
                <a16:creationId xmlns:a16="http://schemas.microsoft.com/office/drawing/2014/main" id="{284E8AAE-DA56-B534-9D77-FAC95B547144}"/>
              </a:ext>
            </a:extLst>
          </p:cNvPr>
          <p:cNvCxnSpPr/>
          <p:nvPr/>
        </p:nvCxnSpPr>
        <p:spPr>
          <a:xfrm flipH="1" flipV="1">
            <a:off x="6084125" y="2182911"/>
            <a:ext cx="387424" cy="43857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5" name="Straight Arrow Connector 14">
            <a:extLst>
              <a:ext uri="{FF2B5EF4-FFF2-40B4-BE49-F238E27FC236}">
                <a16:creationId xmlns:a16="http://schemas.microsoft.com/office/drawing/2014/main" id="{81F87347-1401-61F8-B0CA-FDEBB48FA78F}"/>
              </a:ext>
            </a:extLst>
          </p:cNvPr>
          <p:cNvCxnSpPr>
            <a:cxnSpLocks/>
            <a:stCxn id="12" idx="0"/>
          </p:cNvCxnSpPr>
          <p:nvPr/>
        </p:nvCxnSpPr>
        <p:spPr>
          <a:xfrm flipH="1" flipV="1">
            <a:off x="5424918" y="2039826"/>
            <a:ext cx="438060" cy="820907"/>
          </a:xfrm>
          <a:prstGeom prst="straightConnector1">
            <a:avLst/>
          </a:prstGeom>
          <a:ln>
            <a:solidFill>
              <a:schemeClr val="accent4"/>
            </a:solidFill>
            <a:tailEnd type="triangle"/>
          </a:ln>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CBCA97DC-2083-BD57-E83C-7A4077D6CA0C}"/>
              </a:ext>
            </a:extLst>
          </p:cNvPr>
          <p:cNvCxnSpPr>
            <a:cxnSpLocks/>
            <a:stCxn id="10" idx="0"/>
          </p:cNvCxnSpPr>
          <p:nvPr/>
        </p:nvCxnSpPr>
        <p:spPr>
          <a:xfrm flipH="1" flipV="1">
            <a:off x="4385436" y="2161682"/>
            <a:ext cx="193169" cy="750825"/>
          </a:xfrm>
          <a:prstGeom prst="straightConnector1">
            <a:avLst/>
          </a:prstGeom>
          <a:ln>
            <a:solidFill>
              <a:schemeClr val="accent6"/>
            </a:solidFill>
            <a:tailEnd type="triangle"/>
          </a:ln>
        </p:spPr>
        <p:style>
          <a:lnRef idx="2">
            <a:schemeClr val="accent1"/>
          </a:lnRef>
          <a:fillRef idx="0">
            <a:schemeClr val="accent1"/>
          </a:fillRef>
          <a:effectRef idx="1">
            <a:schemeClr val="accent1"/>
          </a:effectRef>
          <a:fontRef idx="minor">
            <a:schemeClr val="tx1"/>
          </a:fontRef>
        </p:style>
      </p:cxnSp>
      <p:cxnSp>
        <p:nvCxnSpPr>
          <p:cNvPr id="21" name="Straight Arrow Connector 20">
            <a:extLst>
              <a:ext uri="{FF2B5EF4-FFF2-40B4-BE49-F238E27FC236}">
                <a16:creationId xmlns:a16="http://schemas.microsoft.com/office/drawing/2014/main" id="{883F78FE-7EA3-F406-2C1E-DD3330D353B6}"/>
              </a:ext>
            </a:extLst>
          </p:cNvPr>
          <p:cNvCxnSpPr>
            <a:cxnSpLocks/>
            <a:stCxn id="9" idx="0"/>
          </p:cNvCxnSpPr>
          <p:nvPr/>
        </p:nvCxnSpPr>
        <p:spPr>
          <a:xfrm flipV="1">
            <a:off x="2909987" y="2161682"/>
            <a:ext cx="493361" cy="750826"/>
          </a:xfrm>
          <a:prstGeom prst="straightConnector1">
            <a:avLst/>
          </a:prstGeom>
          <a:ln>
            <a:solidFill>
              <a:schemeClr val="accent5"/>
            </a:solidFill>
            <a:tailEnd type="triangle"/>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5BA5A746-5739-B7A9-A536-DABE377A9F1E}"/>
              </a:ext>
            </a:extLst>
          </p:cNvPr>
          <p:cNvCxnSpPr>
            <a:cxnSpLocks/>
            <a:stCxn id="8" idx="0"/>
          </p:cNvCxnSpPr>
          <p:nvPr/>
        </p:nvCxnSpPr>
        <p:spPr>
          <a:xfrm flipV="1">
            <a:off x="1613073" y="1920021"/>
            <a:ext cx="482868" cy="399478"/>
          </a:xfrm>
          <a:prstGeom prst="straightConnector1">
            <a:avLst/>
          </a:prstGeom>
          <a:ln>
            <a:solidFill>
              <a:schemeClr val="accent2"/>
            </a:solidFill>
            <a:tailEnd type="triangle"/>
          </a:ln>
        </p:spPr>
        <p:style>
          <a:lnRef idx="2">
            <a:schemeClr val="accent1"/>
          </a:lnRef>
          <a:fillRef idx="0">
            <a:schemeClr val="accent1"/>
          </a:fillRef>
          <a:effectRef idx="1">
            <a:schemeClr val="accent1"/>
          </a:effectRef>
          <a:fontRef idx="minor">
            <a:schemeClr val="tx1"/>
          </a:fontRef>
        </p:style>
      </p:cxnSp>
      <p:grpSp>
        <p:nvGrpSpPr>
          <p:cNvPr id="41" name="Group 40">
            <a:extLst>
              <a:ext uri="{FF2B5EF4-FFF2-40B4-BE49-F238E27FC236}">
                <a16:creationId xmlns:a16="http://schemas.microsoft.com/office/drawing/2014/main" id="{85232D5F-B393-2ED1-B532-3F2F2643D0EC}"/>
              </a:ext>
            </a:extLst>
          </p:cNvPr>
          <p:cNvGrpSpPr/>
          <p:nvPr/>
        </p:nvGrpSpPr>
        <p:grpSpPr>
          <a:xfrm>
            <a:off x="4938929" y="3987742"/>
            <a:ext cx="6789056" cy="2923725"/>
            <a:chOff x="140987" y="2444038"/>
            <a:chExt cx="10818830" cy="4659158"/>
          </a:xfrm>
        </p:grpSpPr>
        <p:cxnSp>
          <p:nvCxnSpPr>
            <p:cNvPr id="27" name="Straight Arrow Connector 26">
              <a:extLst>
                <a:ext uri="{FF2B5EF4-FFF2-40B4-BE49-F238E27FC236}">
                  <a16:creationId xmlns:a16="http://schemas.microsoft.com/office/drawing/2014/main" id="{03338667-3695-9C2C-44FE-498170F53DDD}"/>
                </a:ext>
              </a:extLst>
            </p:cNvPr>
            <p:cNvCxnSpPr/>
            <p:nvPr/>
          </p:nvCxnSpPr>
          <p:spPr>
            <a:xfrm>
              <a:off x="1917354" y="5841995"/>
              <a:ext cx="7030399" cy="0"/>
            </a:xfrm>
            <a:prstGeom prst="straightConnector1">
              <a:avLst/>
            </a:prstGeom>
            <a:ln w="38100">
              <a:tailEnd type="triangle"/>
            </a:ln>
          </p:spPr>
          <p:style>
            <a:lnRef idx="2">
              <a:schemeClr val="accent1"/>
            </a:lnRef>
            <a:fillRef idx="0">
              <a:schemeClr val="accent1"/>
            </a:fillRef>
            <a:effectRef idx="1">
              <a:schemeClr val="accent1"/>
            </a:effectRef>
            <a:fontRef idx="minor">
              <a:schemeClr val="tx1"/>
            </a:fontRef>
          </p:style>
        </p:cxnSp>
        <p:cxnSp>
          <p:nvCxnSpPr>
            <p:cNvPr id="28" name="Straight Arrow Connector 27">
              <a:extLst>
                <a:ext uri="{FF2B5EF4-FFF2-40B4-BE49-F238E27FC236}">
                  <a16:creationId xmlns:a16="http://schemas.microsoft.com/office/drawing/2014/main" id="{83E6495E-587F-A46A-BCD4-3E96431306C2}"/>
                </a:ext>
              </a:extLst>
            </p:cNvPr>
            <p:cNvCxnSpPr>
              <a:cxnSpLocks/>
            </p:cNvCxnSpPr>
            <p:nvPr/>
          </p:nvCxnSpPr>
          <p:spPr>
            <a:xfrm flipV="1">
              <a:off x="1917354" y="2716306"/>
              <a:ext cx="0" cy="3125689"/>
            </a:xfrm>
            <a:prstGeom prst="straightConnector1">
              <a:avLst/>
            </a:prstGeom>
            <a:ln w="38100">
              <a:tailEnd type="triangle"/>
            </a:ln>
          </p:spPr>
          <p:style>
            <a:lnRef idx="2">
              <a:schemeClr val="accent1"/>
            </a:lnRef>
            <a:fillRef idx="0">
              <a:schemeClr val="accent1"/>
            </a:fillRef>
            <a:effectRef idx="1">
              <a:schemeClr val="accent1"/>
            </a:effectRef>
            <a:fontRef idx="minor">
              <a:schemeClr val="tx1"/>
            </a:fontRef>
          </p:style>
        </p:cxnSp>
        <p:sp>
          <p:nvSpPr>
            <p:cNvPr id="29" name="TextBox 28">
              <a:extLst>
                <a:ext uri="{FF2B5EF4-FFF2-40B4-BE49-F238E27FC236}">
                  <a16:creationId xmlns:a16="http://schemas.microsoft.com/office/drawing/2014/main" id="{D64F29E0-B2B8-5FF3-30B5-E4D235F76669}"/>
                </a:ext>
              </a:extLst>
            </p:cNvPr>
            <p:cNvSpPr txBox="1"/>
            <p:nvPr/>
          </p:nvSpPr>
          <p:spPr>
            <a:xfrm>
              <a:off x="8305017" y="5888041"/>
              <a:ext cx="642736" cy="354953"/>
            </a:xfrm>
            <a:prstGeom prst="rect">
              <a:avLst/>
            </a:prstGeom>
            <a:noFill/>
          </p:spPr>
          <p:txBody>
            <a:bodyPr wrap="none" rtlCol="0">
              <a:spAutoFit/>
            </a:bodyPr>
            <a:lstStyle/>
            <a:p>
              <a:r>
                <a:rPr lang="en-US" dirty="0">
                  <a:solidFill>
                    <a:schemeClr val="accent1"/>
                  </a:solidFill>
                </a:rPr>
                <a:t>Time</a:t>
              </a:r>
            </a:p>
          </p:txBody>
        </p:sp>
        <p:sp>
          <p:nvSpPr>
            <p:cNvPr id="30" name="TextBox 29">
              <a:extLst>
                <a:ext uri="{FF2B5EF4-FFF2-40B4-BE49-F238E27FC236}">
                  <a16:creationId xmlns:a16="http://schemas.microsoft.com/office/drawing/2014/main" id="{5B601485-CDA6-5FCD-E31F-E2F200C7E0EE}"/>
                </a:ext>
              </a:extLst>
            </p:cNvPr>
            <p:cNvSpPr txBox="1"/>
            <p:nvPr/>
          </p:nvSpPr>
          <p:spPr>
            <a:xfrm>
              <a:off x="140987" y="2829409"/>
              <a:ext cx="1774911" cy="588556"/>
            </a:xfrm>
            <a:prstGeom prst="rect">
              <a:avLst/>
            </a:prstGeom>
            <a:noFill/>
          </p:spPr>
          <p:txBody>
            <a:bodyPr wrap="square" rtlCol="0">
              <a:spAutoFit/>
            </a:bodyPr>
            <a:lstStyle/>
            <a:p>
              <a:r>
                <a:rPr lang="en-US" dirty="0">
                  <a:solidFill>
                    <a:schemeClr val="accent1"/>
                  </a:solidFill>
                </a:rPr>
                <a:t>Outcome</a:t>
              </a:r>
            </a:p>
          </p:txBody>
        </p:sp>
        <p:sp>
          <p:nvSpPr>
            <p:cNvPr id="31" name="TextBox 30">
              <a:extLst>
                <a:ext uri="{FF2B5EF4-FFF2-40B4-BE49-F238E27FC236}">
                  <a16:creationId xmlns:a16="http://schemas.microsoft.com/office/drawing/2014/main" id="{5278C679-6AF6-6767-F419-52A069F8B6EF}"/>
                </a:ext>
              </a:extLst>
            </p:cNvPr>
            <p:cNvSpPr txBox="1"/>
            <p:nvPr/>
          </p:nvSpPr>
          <p:spPr>
            <a:xfrm>
              <a:off x="4422778" y="6073223"/>
              <a:ext cx="1981506" cy="1029973"/>
            </a:xfrm>
            <a:prstGeom prst="rect">
              <a:avLst/>
            </a:prstGeom>
            <a:noFill/>
          </p:spPr>
          <p:txBody>
            <a:bodyPr wrap="square" rtlCol="0">
              <a:spAutoFit/>
            </a:bodyPr>
            <a:lstStyle/>
            <a:p>
              <a:pPr algn="ctr"/>
              <a:r>
                <a:rPr lang="en-US" dirty="0">
                  <a:solidFill>
                    <a:schemeClr val="accent1"/>
                  </a:solidFill>
                </a:rPr>
                <a:t>Treatment kicks in</a:t>
              </a:r>
            </a:p>
          </p:txBody>
        </p:sp>
        <p:cxnSp>
          <p:nvCxnSpPr>
            <p:cNvPr id="32" name="Straight Connector 31">
              <a:extLst>
                <a:ext uri="{FF2B5EF4-FFF2-40B4-BE49-F238E27FC236}">
                  <a16:creationId xmlns:a16="http://schemas.microsoft.com/office/drawing/2014/main" id="{77407897-23D2-2EB5-5734-A8CFC03BA9AE}"/>
                </a:ext>
              </a:extLst>
            </p:cNvPr>
            <p:cNvCxnSpPr>
              <a:cxnSpLocks/>
              <a:stCxn id="31" idx="0"/>
            </p:cNvCxnSpPr>
            <p:nvPr/>
          </p:nvCxnSpPr>
          <p:spPr>
            <a:xfrm flipV="1">
              <a:off x="5413532" y="2444038"/>
              <a:ext cx="48199" cy="3629185"/>
            </a:xfrm>
            <a:prstGeom prst="line">
              <a:avLst/>
            </a:prstGeom>
            <a:ln>
              <a:solidFill>
                <a:schemeClr val="accent1"/>
              </a:solidFill>
              <a:prstDash val="sysDash"/>
            </a:ln>
          </p:spPr>
          <p:style>
            <a:lnRef idx="2">
              <a:schemeClr val="accent1"/>
            </a:lnRef>
            <a:fillRef idx="0">
              <a:schemeClr val="accent1"/>
            </a:fillRef>
            <a:effectRef idx="1">
              <a:schemeClr val="accent1"/>
            </a:effectRef>
            <a:fontRef idx="minor">
              <a:schemeClr val="tx1"/>
            </a:fontRef>
          </p:style>
        </p:cxnSp>
        <p:sp>
          <p:nvSpPr>
            <p:cNvPr id="33" name="Freeform 32">
              <a:extLst>
                <a:ext uri="{FF2B5EF4-FFF2-40B4-BE49-F238E27FC236}">
                  <a16:creationId xmlns:a16="http://schemas.microsoft.com/office/drawing/2014/main" id="{9C3DE56C-5245-7970-4A87-E4B9C57276EB}"/>
                </a:ext>
              </a:extLst>
            </p:cNvPr>
            <p:cNvSpPr/>
            <p:nvPr/>
          </p:nvSpPr>
          <p:spPr>
            <a:xfrm>
              <a:off x="1882588" y="3401777"/>
              <a:ext cx="3563471" cy="955073"/>
            </a:xfrm>
            <a:custGeom>
              <a:avLst/>
              <a:gdLst>
                <a:gd name="connsiteX0" fmla="*/ 0 w 3563471"/>
                <a:gd name="connsiteY0" fmla="*/ 955073 h 955073"/>
                <a:gd name="connsiteX1" fmla="*/ 564777 w 3563471"/>
                <a:gd name="connsiteY1" fmla="*/ 457532 h 955073"/>
                <a:gd name="connsiteX2" fmla="*/ 927847 w 3563471"/>
                <a:gd name="connsiteY2" fmla="*/ 726473 h 955073"/>
                <a:gd name="connsiteX3" fmla="*/ 1815353 w 3563471"/>
                <a:gd name="connsiteY3" fmla="*/ 332 h 955073"/>
                <a:gd name="connsiteX4" fmla="*/ 2622177 w 3563471"/>
                <a:gd name="connsiteY4" fmla="*/ 632343 h 955073"/>
                <a:gd name="connsiteX5" fmla="*/ 3065930 w 3563471"/>
                <a:gd name="connsiteY5" fmla="*/ 618896 h 955073"/>
                <a:gd name="connsiteX6" fmla="*/ 3348318 w 3563471"/>
                <a:gd name="connsiteY6" fmla="*/ 107908 h 955073"/>
                <a:gd name="connsiteX7" fmla="*/ 3563471 w 3563471"/>
                <a:gd name="connsiteY7" fmla="*/ 309614 h 9550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63471" h="955073">
                  <a:moveTo>
                    <a:pt x="0" y="955073"/>
                  </a:moveTo>
                  <a:cubicBezTo>
                    <a:pt x="205068" y="725352"/>
                    <a:pt x="410136" y="495632"/>
                    <a:pt x="564777" y="457532"/>
                  </a:cubicBezTo>
                  <a:cubicBezTo>
                    <a:pt x="719418" y="419432"/>
                    <a:pt x="719418" y="802673"/>
                    <a:pt x="927847" y="726473"/>
                  </a:cubicBezTo>
                  <a:cubicBezTo>
                    <a:pt x="1136276" y="650273"/>
                    <a:pt x="1532965" y="16020"/>
                    <a:pt x="1815353" y="332"/>
                  </a:cubicBezTo>
                  <a:cubicBezTo>
                    <a:pt x="2097741" y="-15356"/>
                    <a:pt x="2413748" y="529249"/>
                    <a:pt x="2622177" y="632343"/>
                  </a:cubicBezTo>
                  <a:cubicBezTo>
                    <a:pt x="2830606" y="735437"/>
                    <a:pt x="2944907" y="706302"/>
                    <a:pt x="3065930" y="618896"/>
                  </a:cubicBezTo>
                  <a:cubicBezTo>
                    <a:pt x="3186953" y="531490"/>
                    <a:pt x="3265395" y="159455"/>
                    <a:pt x="3348318" y="107908"/>
                  </a:cubicBezTo>
                  <a:cubicBezTo>
                    <a:pt x="3431242" y="56361"/>
                    <a:pt x="3497356" y="182987"/>
                    <a:pt x="3563471" y="309614"/>
                  </a:cubicBezTo>
                </a:path>
              </a:pathLst>
            </a:custGeom>
            <a:noFill/>
            <a:ln w="3810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Freeform 33">
              <a:extLst>
                <a:ext uri="{FF2B5EF4-FFF2-40B4-BE49-F238E27FC236}">
                  <a16:creationId xmlns:a16="http://schemas.microsoft.com/office/drawing/2014/main" id="{60D839F6-2F3D-50C0-EA0A-FEBFD2084668}"/>
                </a:ext>
              </a:extLst>
            </p:cNvPr>
            <p:cNvSpPr/>
            <p:nvPr/>
          </p:nvSpPr>
          <p:spPr>
            <a:xfrm>
              <a:off x="1882588" y="3931413"/>
              <a:ext cx="3563471" cy="955073"/>
            </a:xfrm>
            <a:custGeom>
              <a:avLst/>
              <a:gdLst>
                <a:gd name="connsiteX0" fmla="*/ 0 w 3563471"/>
                <a:gd name="connsiteY0" fmla="*/ 955073 h 955073"/>
                <a:gd name="connsiteX1" fmla="*/ 564777 w 3563471"/>
                <a:gd name="connsiteY1" fmla="*/ 457532 h 955073"/>
                <a:gd name="connsiteX2" fmla="*/ 927847 w 3563471"/>
                <a:gd name="connsiteY2" fmla="*/ 726473 h 955073"/>
                <a:gd name="connsiteX3" fmla="*/ 1815353 w 3563471"/>
                <a:gd name="connsiteY3" fmla="*/ 332 h 955073"/>
                <a:gd name="connsiteX4" fmla="*/ 2622177 w 3563471"/>
                <a:gd name="connsiteY4" fmla="*/ 632343 h 955073"/>
                <a:gd name="connsiteX5" fmla="*/ 3065930 w 3563471"/>
                <a:gd name="connsiteY5" fmla="*/ 618896 h 955073"/>
                <a:gd name="connsiteX6" fmla="*/ 3348318 w 3563471"/>
                <a:gd name="connsiteY6" fmla="*/ 107908 h 955073"/>
                <a:gd name="connsiteX7" fmla="*/ 3563471 w 3563471"/>
                <a:gd name="connsiteY7" fmla="*/ 309614 h 9550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63471" h="955073">
                  <a:moveTo>
                    <a:pt x="0" y="955073"/>
                  </a:moveTo>
                  <a:cubicBezTo>
                    <a:pt x="205068" y="725352"/>
                    <a:pt x="410136" y="495632"/>
                    <a:pt x="564777" y="457532"/>
                  </a:cubicBezTo>
                  <a:cubicBezTo>
                    <a:pt x="719418" y="419432"/>
                    <a:pt x="719418" y="802673"/>
                    <a:pt x="927847" y="726473"/>
                  </a:cubicBezTo>
                  <a:cubicBezTo>
                    <a:pt x="1136276" y="650273"/>
                    <a:pt x="1532965" y="16020"/>
                    <a:pt x="1815353" y="332"/>
                  </a:cubicBezTo>
                  <a:cubicBezTo>
                    <a:pt x="2097741" y="-15356"/>
                    <a:pt x="2413748" y="529249"/>
                    <a:pt x="2622177" y="632343"/>
                  </a:cubicBezTo>
                  <a:cubicBezTo>
                    <a:pt x="2830606" y="735437"/>
                    <a:pt x="2944907" y="706302"/>
                    <a:pt x="3065930" y="618896"/>
                  </a:cubicBezTo>
                  <a:cubicBezTo>
                    <a:pt x="3186953" y="531490"/>
                    <a:pt x="3265395" y="159455"/>
                    <a:pt x="3348318" y="107908"/>
                  </a:cubicBezTo>
                  <a:cubicBezTo>
                    <a:pt x="3431242" y="56361"/>
                    <a:pt x="3497356" y="182987"/>
                    <a:pt x="3563471" y="309614"/>
                  </a:cubicBezTo>
                </a:path>
              </a:pathLst>
            </a:custGeom>
            <a:noFill/>
            <a:ln w="3810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Freeform 34">
              <a:extLst>
                <a:ext uri="{FF2B5EF4-FFF2-40B4-BE49-F238E27FC236}">
                  <a16:creationId xmlns:a16="http://schemas.microsoft.com/office/drawing/2014/main" id="{D745F24C-C250-1BC1-4991-629EE1CFFAE5}"/>
                </a:ext>
              </a:extLst>
            </p:cNvPr>
            <p:cNvSpPr/>
            <p:nvPr/>
          </p:nvSpPr>
          <p:spPr>
            <a:xfrm>
              <a:off x="5432612" y="4249271"/>
              <a:ext cx="3684494" cy="1362889"/>
            </a:xfrm>
            <a:custGeom>
              <a:avLst/>
              <a:gdLst>
                <a:gd name="connsiteX0" fmla="*/ 0 w 3684494"/>
                <a:gd name="connsiteY0" fmla="*/ 0 h 1362889"/>
                <a:gd name="connsiteX1" fmla="*/ 242047 w 3684494"/>
                <a:gd name="connsiteY1" fmla="*/ 1210235 h 1362889"/>
                <a:gd name="connsiteX2" fmla="*/ 591670 w 3684494"/>
                <a:gd name="connsiteY2" fmla="*/ 1317811 h 1362889"/>
                <a:gd name="connsiteX3" fmla="*/ 995082 w 3684494"/>
                <a:gd name="connsiteY3" fmla="*/ 954741 h 1362889"/>
                <a:gd name="connsiteX4" fmla="*/ 1936376 w 3684494"/>
                <a:gd name="connsiteY4" fmla="*/ 1169894 h 1362889"/>
                <a:gd name="connsiteX5" fmla="*/ 2756647 w 3684494"/>
                <a:gd name="connsiteY5" fmla="*/ 685800 h 1362889"/>
                <a:gd name="connsiteX6" fmla="*/ 3684494 w 3684494"/>
                <a:gd name="connsiteY6" fmla="*/ 1250576 h 1362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84494" h="1362889">
                  <a:moveTo>
                    <a:pt x="0" y="0"/>
                  </a:moveTo>
                  <a:cubicBezTo>
                    <a:pt x="71717" y="495300"/>
                    <a:pt x="143435" y="990600"/>
                    <a:pt x="242047" y="1210235"/>
                  </a:cubicBezTo>
                  <a:cubicBezTo>
                    <a:pt x="340659" y="1429870"/>
                    <a:pt x="466164" y="1360393"/>
                    <a:pt x="591670" y="1317811"/>
                  </a:cubicBezTo>
                  <a:cubicBezTo>
                    <a:pt x="717176" y="1275229"/>
                    <a:pt x="770964" y="979394"/>
                    <a:pt x="995082" y="954741"/>
                  </a:cubicBezTo>
                  <a:cubicBezTo>
                    <a:pt x="1219200" y="930088"/>
                    <a:pt x="1642782" y="1214718"/>
                    <a:pt x="1936376" y="1169894"/>
                  </a:cubicBezTo>
                  <a:cubicBezTo>
                    <a:pt x="2229970" y="1125071"/>
                    <a:pt x="2465294" y="672353"/>
                    <a:pt x="2756647" y="685800"/>
                  </a:cubicBezTo>
                  <a:cubicBezTo>
                    <a:pt x="3048000" y="699247"/>
                    <a:pt x="3366247" y="974911"/>
                    <a:pt x="3684494" y="1250576"/>
                  </a:cubicBezTo>
                </a:path>
              </a:pathLst>
            </a:custGeom>
            <a:noFill/>
            <a:ln w="3810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Freeform 35">
              <a:extLst>
                <a:ext uri="{FF2B5EF4-FFF2-40B4-BE49-F238E27FC236}">
                  <a16:creationId xmlns:a16="http://schemas.microsoft.com/office/drawing/2014/main" id="{A74AF1E6-ED96-F498-22CD-18996DF19F8B}"/>
                </a:ext>
              </a:extLst>
            </p:cNvPr>
            <p:cNvSpPr/>
            <p:nvPr/>
          </p:nvSpPr>
          <p:spPr>
            <a:xfrm>
              <a:off x="5438071" y="3359771"/>
              <a:ext cx="3509682" cy="668598"/>
            </a:xfrm>
            <a:custGeom>
              <a:avLst/>
              <a:gdLst>
                <a:gd name="connsiteX0" fmla="*/ 0 w 3684494"/>
                <a:gd name="connsiteY0" fmla="*/ 0 h 1362889"/>
                <a:gd name="connsiteX1" fmla="*/ 242047 w 3684494"/>
                <a:gd name="connsiteY1" fmla="*/ 1210235 h 1362889"/>
                <a:gd name="connsiteX2" fmla="*/ 591670 w 3684494"/>
                <a:gd name="connsiteY2" fmla="*/ 1317811 h 1362889"/>
                <a:gd name="connsiteX3" fmla="*/ 995082 w 3684494"/>
                <a:gd name="connsiteY3" fmla="*/ 954741 h 1362889"/>
                <a:gd name="connsiteX4" fmla="*/ 1936376 w 3684494"/>
                <a:gd name="connsiteY4" fmla="*/ 1169894 h 1362889"/>
                <a:gd name="connsiteX5" fmla="*/ 2756647 w 3684494"/>
                <a:gd name="connsiteY5" fmla="*/ 685800 h 1362889"/>
                <a:gd name="connsiteX6" fmla="*/ 3684494 w 3684494"/>
                <a:gd name="connsiteY6" fmla="*/ 1250576 h 1362889"/>
                <a:gd name="connsiteX0" fmla="*/ 0 w 3509682"/>
                <a:gd name="connsiteY0" fmla="*/ 329030 h 642634"/>
                <a:gd name="connsiteX1" fmla="*/ 67235 w 3509682"/>
                <a:gd name="connsiteY1" fmla="*/ 524729 h 642634"/>
                <a:gd name="connsiteX2" fmla="*/ 416858 w 3509682"/>
                <a:gd name="connsiteY2" fmla="*/ 632305 h 642634"/>
                <a:gd name="connsiteX3" fmla="*/ 820270 w 3509682"/>
                <a:gd name="connsiteY3" fmla="*/ 269235 h 642634"/>
                <a:gd name="connsiteX4" fmla="*/ 1761564 w 3509682"/>
                <a:gd name="connsiteY4" fmla="*/ 484388 h 642634"/>
                <a:gd name="connsiteX5" fmla="*/ 2581835 w 3509682"/>
                <a:gd name="connsiteY5" fmla="*/ 294 h 642634"/>
                <a:gd name="connsiteX6" fmla="*/ 3509682 w 3509682"/>
                <a:gd name="connsiteY6" fmla="*/ 565070 h 642634"/>
                <a:gd name="connsiteX0" fmla="*/ 0 w 3509682"/>
                <a:gd name="connsiteY0" fmla="*/ 329030 h 649534"/>
                <a:gd name="connsiteX1" fmla="*/ 155725 w 3509682"/>
                <a:gd name="connsiteY1" fmla="*/ 564292 h 649534"/>
                <a:gd name="connsiteX2" fmla="*/ 416858 w 3509682"/>
                <a:gd name="connsiteY2" fmla="*/ 632305 h 649534"/>
                <a:gd name="connsiteX3" fmla="*/ 820270 w 3509682"/>
                <a:gd name="connsiteY3" fmla="*/ 269235 h 649534"/>
                <a:gd name="connsiteX4" fmla="*/ 1761564 w 3509682"/>
                <a:gd name="connsiteY4" fmla="*/ 484388 h 649534"/>
                <a:gd name="connsiteX5" fmla="*/ 2581835 w 3509682"/>
                <a:gd name="connsiteY5" fmla="*/ 294 h 649534"/>
                <a:gd name="connsiteX6" fmla="*/ 3509682 w 3509682"/>
                <a:gd name="connsiteY6" fmla="*/ 565070 h 649534"/>
                <a:gd name="connsiteX0" fmla="*/ 23604 w 3533286"/>
                <a:gd name="connsiteY0" fmla="*/ 329030 h 658850"/>
                <a:gd name="connsiteX1" fmla="*/ 179329 w 3533286"/>
                <a:gd name="connsiteY1" fmla="*/ 564292 h 658850"/>
                <a:gd name="connsiteX2" fmla="*/ 440462 w 3533286"/>
                <a:gd name="connsiteY2" fmla="*/ 632305 h 658850"/>
                <a:gd name="connsiteX3" fmla="*/ 843874 w 3533286"/>
                <a:gd name="connsiteY3" fmla="*/ 269235 h 658850"/>
                <a:gd name="connsiteX4" fmla="*/ 1785168 w 3533286"/>
                <a:gd name="connsiteY4" fmla="*/ 484388 h 658850"/>
                <a:gd name="connsiteX5" fmla="*/ 2605439 w 3533286"/>
                <a:gd name="connsiteY5" fmla="*/ 294 h 658850"/>
                <a:gd name="connsiteX6" fmla="*/ 3533286 w 3533286"/>
                <a:gd name="connsiteY6" fmla="*/ 565070 h 658850"/>
                <a:gd name="connsiteX0" fmla="*/ 0 w 3509682"/>
                <a:gd name="connsiteY0" fmla="*/ 329030 h 654436"/>
                <a:gd name="connsiteX1" fmla="*/ 155725 w 3509682"/>
                <a:gd name="connsiteY1" fmla="*/ 564292 h 654436"/>
                <a:gd name="connsiteX2" fmla="*/ 416858 w 3509682"/>
                <a:gd name="connsiteY2" fmla="*/ 632305 h 654436"/>
                <a:gd name="connsiteX3" fmla="*/ 820270 w 3509682"/>
                <a:gd name="connsiteY3" fmla="*/ 269235 h 654436"/>
                <a:gd name="connsiteX4" fmla="*/ 1761564 w 3509682"/>
                <a:gd name="connsiteY4" fmla="*/ 484388 h 654436"/>
                <a:gd name="connsiteX5" fmla="*/ 2581835 w 3509682"/>
                <a:gd name="connsiteY5" fmla="*/ 294 h 654436"/>
                <a:gd name="connsiteX6" fmla="*/ 3509682 w 3509682"/>
                <a:gd name="connsiteY6" fmla="*/ 565070 h 654436"/>
                <a:gd name="connsiteX0" fmla="*/ 0 w 3509682"/>
                <a:gd name="connsiteY0" fmla="*/ 329030 h 644884"/>
                <a:gd name="connsiteX1" fmla="*/ 155725 w 3509682"/>
                <a:gd name="connsiteY1" fmla="*/ 564292 h 644884"/>
                <a:gd name="connsiteX2" fmla="*/ 416858 w 3509682"/>
                <a:gd name="connsiteY2" fmla="*/ 632305 h 644884"/>
                <a:gd name="connsiteX3" fmla="*/ 820270 w 3509682"/>
                <a:gd name="connsiteY3" fmla="*/ 269235 h 644884"/>
                <a:gd name="connsiteX4" fmla="*/ 1761564 w 3509682"/>
                <a:gd name="connsiteY4" fmla="*/ 484388 h 644884"/>
                <a:gd name="connsiteX5" fmla="*/ 2581835 w 3509682"/>
                <a:gd name="connsiteY5" fmla="*/ 294 h 644884"/>
                <a:gd name="connsiteX6" fmla="*/ 3509682 w 3509682"/>
                <a:gd name="connsiteY6" fmla="*/ 565070 h 644884"/>
                <a:gd name="connsiteX0" fmla="*/ 0 w 3509682"/>
                <a:gd name="connsiteY0" fmla="*/ 329030 h 667105"/>
                <a:gd name="connsiteX1" fmla="*/ 160343 w 3509682"/>
                <a:gd name="connsiteY1" fmla="*/ 633976 h 667105"/>
                <a:gd name="connsiteX2" fmla="*/ 416858 w 3509682"/>
                <a:gd name="connsiteY2" fmla="*/ 632305 h 667105"/>
                <a:gd name="connsiteX3" fmla="*/ 820270 w 3509682"/>
                <a:gd name="connsiteY3" fmla="*/ 269235 h 667105"/>
                <a:gd name="connsiteX4" fmla="*/ 1761564 w 3509682"/>
                <a:gd name="connsiteY4" fmla="*/ 484388 h 667105"/>
                <a:gd name="connsiteX5" fmla="*/ 2581835 w 3509682"/>
                <a:gd name="connsiteY5" fmla="*/ 294 h 667105"/>
                <a:gd name="connsiteX6" fmla="*/ 3509682 w 3509682"/>
                <a:gd name="connsiteY6" fmla="*/ 565070 h 667105"/>
                <a:gd name="connsiteX0" fmla="*/ 0 w 3509682"/>
                <a:gd name="connsiteY0" fmla="*/ 329030 h 672580"/>
                <a:gd name="connsiteX1" fmla="*/ 160343 w 3509682"/>
                <a:gd name="connsiteY1" fmla="*/ 633976 h 672580"/>
                <a:gd name="connsiteX2" fmla="*/ 416858 w 3509682"/>
                <a:gd name="connsiteY2" fmla="*/ 632305 h 672580"/>
                <a:gd name="connsiteX3" fmla="*/ 820270 w 3509682"/>
                <a:gd name="connsiteY3" fmla="*/ 269235 h 672580"/>
                <a:gd name="connsiteX4" fmla="*/ 1761564 w 3509682"/>
                <a:gd name="connsiteY4" fmla="*/ 484388 h 672580"/>
                <a:gd name="connsiteX5" fmla="*/ 2581835 w 3509682"/>
                <a:gd name="connsiteY5" fmla="*/ 294 h 672580"/>
                <a:gd name="connsiteX6" fmla="*/ 3509682 w 3509682"/>
                <a:gd name="connsiteY6" fmla="*/ 565070 h 672580"/>
                <a:gd name="connsiteX0" fmla="*/ 0 w 3509682"/>
                <a:gd name="connsiteY0" fmla="*/ 329030 h 672580"/>
                <a:gd name="connsiteX1" fmla="*/ 160343 w 3509682"/>
                <a:gd name="connsiteY1" fmla="*/ 633976 h 672580"/>
                <a:gd name="connsiteX2" fmla="*/ 416858 w 3509682"/>
                <a:gd name="connsiteY2" fmla="*/ 632305 h 672580"/>
                <a:gd name="connsiteX3" fmla="*/ 820270 w 3509682"/>
                <a:gd name="connsiteY3" fmla="*/ 269235 h 672580"/>
                <a:gd name="connsiteX4" fmla="*/ 1761564 w 3509682"/>
                <a:gd name="connsiteY4" fmla="*/ 484388 h 672580"/>
                <a:gd name="connsiteX5" fmla="*/ 2581835 w 3509682"/>
                <a:gd name="connsiteY5" fmla="*/ 294 h 672580"/>
                <a:gd name="connsiteX6" fmla="*/ 3509682 w 3509682"/>
                <a:gd name="connsiteY6" fmla="*/ 565070 h 672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9682" h="672580">
                  <a:moveTo>
                    <a:pt x="0" y="329030"/>
                  </a:moveTo>
                  <a:cubicBezTo>
                    <a:pt x="117899" y="601337"/>
                    <a:pt x="69862" y="590023"/>
                    <a:pt x="160343" y="633976"/>
                  </a:cubicBezTo>
                  <a:cubicBezTo>
                    <a:pt x="250824" y="677929"/>
                    <a:pt x="306870" y="693095"/>
                    <a:pt x="416858" y="632305"/>
                  </a:cubicBezTo>
                  <a:cubicBezTo>
                    <a:pt x="526846" y="571515"/>
                    <a:pt x="596152" y="293888"/>
                    <a:pt x="820270" y="269235"/>
                  </a:cubicBezTo>
                  <a:cubicBezTo>
                    <a:pt x="1044388" y="244582"/>
                    <a:pt x="1467970" y="529212"/>
                    <a:pt x="1761564" y="484388"/>
                  </a:cubicBezTo>
                  <a:cubicBezTo>
                    <a:pt x="2055158" y="439565"/>
                    <a:pt x="2290482" y="-13153"/>
                    <a:pt x="2581835" y="294"/>
                  </a:cubicBezTo>
                  <a:cubicBezTo>
                    <a:pt x="2873188" y="13741"/>
                    <a:pt x="3191435" y="289405"/>
                    <a:pt x="3509682" y="565070"/>
                  </a:cubicBezTo>
                </a:path>
              </a:pathLst>
            </a:custGeom>
            <a:noFill/>
            <a:ln w="3810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 name="Freeform 36">
              <a:extLst>
                <a:ext uri="{FF2B5EF4-FFF2-40B4-BE49-F238E27FC236}">
                  <a16:creationId xmlns:a16="http://schemas.microsoft.com/office/drawing/2014/main" id="{5405ECAD-C0CC-691A-A891-4E9A33B65DC4}"/>
                </a:ext>
              </a:extLst>
            </p:cNvPr>
            <p:cNvSpPr/>
            <p:nvPr/>
          </p:nvSpPr>
          <p:spPr>
            <a:xfrm>
              <a:off x="5451576" y="3894446"/>
              <a:ext cx="3509682" cy="668598"/>
            </a:xfrm>
            <a:custGeom>
              <a:avLst/>
              <a:gdLst>
                <a:gd name="connsiteX0" fmla="*/ 0 w 3684494"/>
                <a:gd name="connsiteY0" fmla="*/ 0 h 1362889"/>
                <a:gd name="connsiteX1" fmla="*/ 242047 w 3684494"/>
                <a:gd name="connsiteY1" fmla="*/ 1210235 h 1362889"/>
                <a:gd name="connsiteX2" fmla="*/ 591670 w 3684494"/>
                <a:gd name="connsiteY2" fmla="*/ 1317811 h 1362889"/>
                <a:gd name="connsiteX3" fmla="*/ 995082 w 3684494"/>
                <a:gd name="connsiteY3" fmla="*/ 954741 h 1362889"/>
                <a:gd name="connsiteX4" fmla="*/ 1936376 w 3684494"/>
                <a:gd name="connsiteY4" fmla="*/ 1169894 h 1362889"/>
                <a:gd name="connsiteX5" fmla="*/ 2756647 w 3684494"/>
                <a:gd name="connsiteY5" fmla="*/ 685800 h 1362889"/>
                <a:gd name="connsiteX6" fmla="*/ 3684494 w 3684494"/>
                <a:gd name="connsiteY6" fmla="*/ 1250576 h 1362889"/>
                <a:gd name="connsiteX0" fmla="*/ 0 w 3509682"/>
                <a:gd name="connsiteY0" fmla="*/ 329030 h 642634"/>
                <a:gd name="connsiteX1" fmla="*/ 67235 w 3509682"/>
                <a:gd name="connsiteY1" fmla="*/ 524729 h 642634"/>
                <a:gd name="connsiteX2" fmla="*/ 416858 w 3509682"/>
                <a:gd name="connsiteY2" fmla="*/ 632305 h 642634"/>
                <a:gd name="connsiteX3" fmla="*/ 820270 w 3509682"/>
                <a:gd name="connsiteY3" fmla="*/ 269235 h 642634"/>
                <a:gd name="connsiteX4" fmla="*/ 1761564 w 3509682"/>
                <a:gd name="connsiteY4" fmla="*/ 484388 h 642634"/>
                <a:gd name="connsiteX5" fmla="*/ 2581835 w 3509682"/>
                <a:gd name="connsiteY5" fmla="*/ 294 h 642634"/>
                <a:gd name="connsiteX6" fmla="*/ 3509682 w 3509682"/>
                <a:gd name="connsiteY6" fmla="*/ 565070 h 642634"/>
                <a:gd name="connsiteX0" fmla="*/ 0 w 3509682"/>
                <a:gd name="connsiteY0" fmla="*/ 329030 h 649534"/>
                <a:gd name="connsiteX1" fmla="*/ 155725 w 3509682"/>
                <a:gd name="connsiteY1" fmla="*/ 564292 h 649534"/>
                <a:gd name="connsiteX2" fmla="*/ 416858 w 3509682"/>
                <a:gd name="connsiteY2" fmla="*/ 632305 h 649534"/>
                <a:gd name="connsiteX3" fmla="*/ 820270 w 3509682"/>
                <a:gd name="connsiteY3" fmla="*/ 269235 h 649534"/>
                <a:gd name="connsiteX4" fmla="*/ 1761564 w 3509682"/>
                <a:gd name="connsiteY4" fmla="*/ 484388 h 649534"/>
                <a:gd name="connsiteX5" fmla="*/ 2581835 w 3509682"/>
                <a:gd name="connsiteY5" fmla="*/ 294 h 649534"/>
                <a:gd name="connsiteX6" fmla="*/ 3509682 w 3509682"/>
                <a:gd name="connsiteY6" fmla="*/ 565070 h 649534"/>
                <a:gd name="connsiteX0" fmla="*/ 23604 w 3533286"/>
                <a:gd name="connsiteY0" fmla="*/ 329030 h 658850"/>
                <a:gd name="connsiteX1" fmla="*/ 179329 w 3533286"/>
                <a:gd name="connsiteY1" fmla="*/ 564292 h 658850"/>
                <a:gd name="connsiteX2" fmla="*/ 440462 w 3533286"/>
                <a:gd name="connsiteY2" fmla="*/ 632305 h 658850"/>
                <a:gd name="connsiteX3" fmla="*/ 843874 w 3533286"/>
                <a:gd name="connsiteY3" fmla="*/ 269235 h 658850"/>
                <a:gd name="connsiteX4" fmla="*/ 1785168 w 3533286"/>
                <a:gd name="connsiteY4" fmla="*/ 484388 h 658850"/>
                <a:gd name="connsiteX5" fmla="*/ 2605439 w 3533286"/>
                <a:gd name="connsiteY5" fmla="*/ 294 h 658850"/>
                <a:gd name="connsiteX6" fmla="*/ 3533286 w 3533286"/>
                <a:gd name="connsiteY6" fmla="*/ 565070 h 658850"/>
                <a:gd name="connsiteX0" fmla="*/ 0 w 3509682"/>
                <a:gd name="connsiteY0" fmla="*/ 329030 h 654436"/>
                <a:gd name="connsiteX1" fmla="*/ 155725 w 3509682"/>
                <a:gd name="connsiteY1" fmla="*/ 564292 h 654436"/>
                <a:gd name="connsiteX2" fmla="*/ 416858 w 3509682"/>
                <a:gd name="connsiteY2" fmla="*/ 632305 h 654436"/>
                <a:gd name="connsiteX3" fmla="*/ 820270 w 3509682"/>
                <a:gd name="connsiteY3" fmla="*/ 269235 h 654436"/>
                <a:gd name="connsiteX4" fmla="*/ 1761564 w 3509682"/>
                <a:gd name="connsiteY4" fmla="*/ 484388 h 654436"/>
                <a:gd name="connsiteX5" fmla="*/ 2581835 w 3509682"/>
                <a:gd name="connsiteY5" fmla="*/ 294 h 654436"/>
                <a:gd name="connsiteX6" fmla="*/ 3509682 w 3509682"/>
                <a:gd name="connsiteY6" fmla="*/ 565070 h 654436"/>
                <a:gd name="connsiteX0" fmla="*/ 0 w 3509682"/>
                <a:gd name="connsiteY0" fmla="*/ 329030 h 644884"/>
                <a:gd name="connsiteX1" fmla="*/ 155725 w 3509682"/>
                <a:gd name="connsiteY1" fmla="*/ 564292 h 644884"/>
                <a:gd name="connsiteX2" fmla="*/ 416858 w 3509682"/>
                <a:gd name="connsiteY2" fmla="*/ 632305 h 644884"/>
                <a:gd name="connsiteX3" fmla="*/ 820270 w 3509682"/>
                <a:gd name="connsiteY3" fmla="*/ 269235 h 644884"/>
                <a:gd name="connsiteX4" fmla="*/ 1761564 w 3509682"/>
                <a:gd name="connsiteY4" fmla="*/ 484388 h 644884"/>
                <a:gd name="connsiteX5" fmla="*/ 2581835 w 3509682"/>
                <a:gd name="connsiteY5" fmla="*/ 294 h 644884"/>
                <a:gd name="connsiteX6" fmla="*/ 3509682 w 3509682"/>
                <a:gd name="connsiteY6" fmla="*/ 565070 h 644884"/>
                <a:gd name="connsiteX0" fmla="*/ 0 w 3509682"/>
                <a:gd name="connsiteY0" fmla="*/ 329030 h 667105"/>
                <a:gd name="connsiteX1" fmla="*/ 160343 w 3509682"/>
                <a:gd name="connsiteY1" fmla="*/ 633976 h 667105"/>
                <a:gd name="connsiteX2" fmla="*/ 416858 w 3509682"/>
                <a:gd name="connsiteY2" fmla="*/ 632305 h 667105"/>
                <a:gd name="connsiteX3" fmla="*/ 820270 w 3509682"/>
                <a:gd name="connsiteY3" fmla="*/ 269235 h 667105"/>
                <a:gd name="connsiteX4" fmla="*/ 1761564 w 3509682"/>
                <a:gd name="connsiteY4" fmla="*/ 484388 h 667105"/>
                <a:gd name="connsiteX5" fmla="*/ 2581835 w 3509682"/>
                <a:gd name="connsiteY5" fmla="*/ 294 h 667105"/>
                <a:gd name="connsiteX6" fmla="*/ 3509682 w 3509682"/>
                <a:gd name="connsiteY6" fmla="*/ 565070 h 667105"/>
                <a:gd name="connsiteX0" fmla="*/ 0 w 3509682"/>
                <a:gd name="connsiteY0" fmla="*/ 329030 h 672580"/>
                <a:gd name="connsiteX1" fmla="*/ 160343 w 3509682"/>
                <a:gd name="connsiteY1" fmla="*/ 633976 h 672580"/>
                <a:gd name="connsiteX2" fmla="*/ 416858 w 3509682"/>
                <a:gd name="connsiteY2" fmla="*/ 632305 h 672580"/>
                <a:gd name="connsiteX3" fmla="*/ 820270 w 3509682"/>
                <a:gd name="connsiteY3" fmla="*/ 269235 h 672580"/>
                <a:gd name="connsiteX4" fmla="*/ 1761564 w 3509682"/>
                <a:gd name="connsiteY4" fmla="*/ 484388 h 672580"/>
                <a:gd name="connsiteX5" fmla="*/ 2581835 w 3509682"/>
                <a:gd name="connsiteY5" fmla="*/ 294 h 672580"/>
                <a:gd name="connsiteX6" fmla="*/ 3509682 w 3509682"/>
                <a:gd name="connsiteY6" fmla="*/ 565070 h 672580"/>
                <a:gd name="connsiteX0" fmla="*/ 0 w 3509682"/>
                <a:gd name="connsiteY0" fmla="*/ 329030 h 672580"/>
                <a:gd name="connsiteX1" fmla="*/ 160343 w 3509682"/>
                <a:gd name="connsiteY1" fmla="*/ 633976 h 672580"/>
                <a:gd name="connsiteX2" fmla="*/ 416858 w 3509682"/>
                <a:gd name="connsiteY2" fmla="*/ 632305 h 672580"/>
                <a:gd name="connsiteX3" fmla="*/ 820270 w 3509682"/>
                <a:gd name="connsiteY3" fmla="*/ 269235 h 672580"/>
                <a:gd name="connsiteX4" fmla="*/ 1761564 w 3509682"/>
                <a:gd name="connsiteY4" fmla="*/ 484388 h 672580"/>
                <a:gd name="connsiteX5" fmla="*/ 2581835 w 3509682"/>
                <a:gd name="connsiteY5" fmla="*/ 294 h 672580"/>
                <a:gd name="connsiteX6" fmla="*/ 3509682 w 3509682"/>
                <a:gd name="connsiteY6" fmla="*/ 565070 h 672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9682" h="672580">
                  <a:moveTo>
                    <a:pt x="0" y="329030"/>
                  </a:moveTo>
                  <a:cubicBezTo>
                    <a:pt x="117899" y="601337"/>
                    <a:pt x="69862" y="590023"/>
                    <a:pt x="160343" y="633976"/>
                  </a:cubicBezTo>
                  <a:cubicBezTo>
                    <a:pt x="250824" y="677929"/>
                    <a:pt x="306870" y="693095"/>
                    <a:pt x="416858" y="632305"/>
                  </a:cubicBezTo>
                  <a:cubicBezTo>
                    <a:pt x="526846" y="571515"/>
                    <a:pt x="596152" y="293888"/>
                    <a:pt x="820270" y="269235"/>
                  </a:cubicBezTo>
                  <a:cubicBezTo>
                    <a:pt x="1044388" y="244582"/>
                    <a:pt x="1467970" y="529212"/>
                    <a:pt x="1761564" y="484388"/>
                  </a:cubicBezTo>
                  <a:cubicBezTo>
                    <a:pt x="2055158" y="439565"/>
                    <a:pt x="2290482" y="-13153"/>
                    <a:pt x="2581835" y="294"/>
                  </a:cubicBezTo>
                  <a:cubicBezTo>
                    <a:pt x="2873188" y="13741"/>
                    <a:pt x="3191435" y="289405"/>
                    <a:pt x="3509682" y="565070"/>
                  </a:cubicBezTo>
                </a:path>
              </a:pathLst>
            </a:custGeom>
            <a:noFill/>
            <a:ln w="9525">
              <a:solidFill>
                <a:schemeClr val="accent4"/>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2"/>
                </a:solidFill>
              </a:endParaRPr>
            </a:p>
          </p:txBody>
        </p:sp>
        <p:sp>
          <p:nvSpPr>
            <p:cNvPr id="38" name="TextBox 37">
              <a:extLst>
                <a:ext uri="{FF2B5EF4-FFF2-40B4-BE49-F238E27FC236}">
                  <a16:creationId xmlns:a16="http://schemas.microsoft.com/office/drawing/2014/main" id="{328F6516-E64B-3DD4-7A53-FAAEC4778857}"/>
                </a:ext>
              </a:extLst>
            </p:cNvPr>
            <p:cNvSpPr txBox="1"/>
            <p:nvPr/>
          </p:nvSpPr>
          <p:spPr>
            <a:xfrm>
              <a:off x="8982446" y="4265292"/>
              <a:ext cx="1613634" cy="1029973"/>
            </a:xfrm>
            <a:prstGeom prst="rect">
              <a:avLst/>
            </a:prstGeom>
            <a:noFill/>
          </p:spPr>
          <p:txBody>
            <a:bodyPr wrap="square" rtlCol="0">
              <a:spAutoFit/>
            </a:bodyPr>
            <a:lstStyle/>
            <a:p>
              <a:r>
                <a:rPr lang="en-US" sz="1200" dirty="0">
                  <a:solidFill>
                    <a:schemeClr val="accent4"/>
                  </a:solidFill>
                </a:rPr>
                <a:t>Implied counterfactual for CA</a:t>
              </a:r>
            </a:p>
          </p:txBody>
        </p:sp>
        <p:sp>
          <p:nvSpPr>
            <p:cNvPr id="39" name="TextBox 38">
              <a:extLst>
                <a:ext uri="{FF2B5EF4-FFF2-40B4-BE49-F238E27FC236}">
                  <a16:creationId xmlns:a16="http://schemas.microsoft.com/office/drawing/2014/main" id="{AA24E0DF-5EEA-C2F7-2C70-7C13FE0D5D62}"/>
                </a:ext>
              </a:extLst>
            </p:cNvPr>
            <p:cNvSpPr txBox="1"/>
            <p:nvPr/>
          </p:nvSpPr>
          <p:spPr>
            <a:xfrm>
              <a:off x="9117106" y="5357745"/>
              <a:ext cx="1842711" cy="588556"/>
            </a:xfrm>
            <a:prstGeom prst="rect">
              <a:avLst/>
            </a:prstGeom>
            <a:noFill/>
          </p:spPr>
          <p:txBody>
            <a:bodyPr wrap="none" rtlCol="0">
              <a:spAutoFit/>
            </a:bodyPr>
            <a:lstStyle/>
            <a:p>
              <a:r>
                <a:rPr lang="en-US" dirty="0">
                  <a:solidFill>
                    <a:schemeClr val="accent4"/>
                  </a:solidFill>
                </a:rPr>
                <a:t>California</a:t>
              </a:r>
            </a:p>
          </p:txBody>
        </p:sp>
        <p:sp>
          <p:nvSpPr>
            <p:cNvPr id="40" name="TextBox 39">
              <a:extLst>
                <a:ext uri="{FF2B5EF4-FFF2-40B4-BE49-F238E27FC236}">
                  <a16:creationId xmlns:a16="http://schemas.microsoft.com/office/drawing/2014/main" id="{AAADA54E-45F2-EC7D-F076-F59CB0390D46}"/>
                </a:ext>
              </a:extLst>
            </p:cNvPr>
            <p:cNvSpPr txBox="1"/>
            <p:nvPr/>
          </p:nvSpPr>
          <p:spPr>
            <a:xfrm>
              <a:off x="8947752" y="3715372"/>
              <a:ext cx="1764953" cy="588556"/>
            </a:xfrm>
            <a:prstGeom prst="rect">
              <a:avLst/>
            </a:prstGeom>
            <a:noFill/>
          </p:spPr>
          <p:txBody>
            <a:bodyPr wrap="none" rtlCol="0">
              <a:spAutoFit/>
            </a:bodyPr>
            <a:lstStyle/>
            <a:p>
              <a:r>
                <a:rPr lang="en-US" dirty="0">
                  <a:solidFill>
                    <a:schemeClr val="accent5"/>
                  </a:solidFill>
                </a:rPr>
                <a:t>Colorado</a:t>
              </a:r>
            </a:p>
          </p:txBody>
        </p:sp>
      </p:grpSp>
      <p:sp>
        <p:nvSpPr>
          <p:cNvPr id="45" name="Freeform 44">
            <a:extLst>
              <a:ext uri="{FF2B5EF4-FFF2-40B4-BE49-F238E27FC236}">
                <a16:creationId xmlns:a16="http://schemas.microsoft.com/office/drawing/2014/main" id="{6FD18980-C362-727C-DFB0-E9C7331061DA}"/>
              </a:ext>
            </a:extLst>
          </p:cNvPr>
          <p:cNvSpPr/>
          <p:nvPr/>
        </p:nvSpPr>
        <p:spPr>
          <a:xfrm>
            <a:off x="6053593" y="4278008"/>
            <a:ext cx="2236157" cy="599330"/>
          </a:xfrm>
          <a:custGeom>
            <a:avLst/>
            <a:gdLst>
              <a:gd name="connsiteX0" fmla="*/ 0 w 3563471"/>
              <a:gd name="connsiteY0" fmla="*/ 955073 h 955073"/>
              <a:gd name="connsiteX1" fmla="*/ 564777 w 3563471"/>
              <a:gd name="connsiteY1" fmla="*/ 457532 h 955073"/>
              <a:gd name="connsiteX2" fmla="*/ 927847 w 3563471"/>
              <a:gd name="connsiteY2" fmla="*/ 726473 h 955073"/>
              <a:gd name="connsiteX3" fmla="*/ 1815353 w 3563471"/>
              <a:gd name="connsiteY3" fmla="*/ 332 h 955073"/>
              <a:gd name="connsiteX4" fmla="*/ 2622177 w 3563471"/>
              <a:gd name="connsiteY4" fmla="*/ 632343 h 955073"/>
              <a:gd name="connsiteX5" fmla="*/ 3065930 w 3563471"/>
              <a:gd name="connsiteY5" fmla="*/ 618896 h 955073"/>
              <a:gd name="connsiteX6" fmla="*/ 3348318 w 3563471"/>
              <a:gd name="connsiteY6" fmla="*/ 107908 h 955073"/>
              <a:gd name="connsiteX7" fmla="*/ 3563471 w 3563471"/>
              <a:gd name="connsiteY7" fmla="*/ 309614 h 9550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63471" h="955073">
                <a:moveTo>
                  <a:pt x="0" y="955073"/>
                </a:moveTo>
                <a:cubicBezTo>
                  <a:pt x="205068" y="725352"/>
                  <a:pt x="410136" y="495632"/>
                  <a:pt x="564777" y="457532"/>
                </a:cubicBezTo>
                <a:cubicBezTo>
                  <a:pt x="719418" y="419432"/>
                  <a:pt x="719418" y="802673"/>
                  <a:pt x="927847" y="726473"/>
                </a:cubicBezTo>
                <a:cubicBezTo>
                  <a:pt x="1136276" y="650273"/>
                  <a:pt x="1532965" y="16020"/>
                  <a:pt x="1815353" y="332"/>
                </a:cubicBezTo>
                <a:cubicBezTo>
                  <a:pt x="2097741" y="-15356"/>
                  <a:pt x="2413748" y="529249"/>
                  <a:pt x="2622177" y="632343"/>
                </a:cubicBezTo>
                <a:cubicBezTo>
                  <a:pt x="2830606" y="735437"/>
                  <a:pt x="2944907" y="706302"/>
                  <a:pt x="3065930" y="618896"/>
                </a:cubicBezTo>
                <a:cubicBezTo>
                  <a:pt x="3186953" y="531490"/>
                  <a:pt x="3265395" y="159455"/>
                  <a:pt x="3348318" y="107908"/>
                </a:cubicBezTo>
                <a:cubicBezTo>
                  <a:pt x="3431242" y="56361"/>
                  <a:pt x="3497356" y="182987"/>
                  <a:pt x="3563471" y="309614"/>
                </a:cubicBezTo>
              </a:path>
            </a:pathLst>
          </a:custGeom>
          <a:noFill/>
          <a:ln w="3810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Freeform 45">
            <a:extLst>
              <a:ext uri="{FF2B5EF4-FFF2-40B4-BE49-F238E27FC236}">
                <a16:creationId xmlns:a16="http://schemas.microsoft.com/office/drawing/2014/main" id="{77F8E525-09AA-E6DC-39D9-01D3B1346CBE}"/>
              </a:ext>
            </a:extLst>
          </p:cNvPr>
          <p:cNvSpPr/>
          <p:nvPr/>
        </p:nvSpPr>
        <p:spPr>
          <a:xfrm>
            <a:off x="8284738" y="4251649"/>
            <a:ext cx="2202403" cy="419560"/>
          </a:xfrm>
          <a:custGeom>
            <a:avLst/>
            <a:gdLst>
              <a:gd name="connsiteX0" fmla="*/ 0 w 3684494"/>
              <a:gd name="connsiteY0" fmla="*/ 0 h 1362889"/>
              <a:gd name="connsiteX1" fmla="*/ 242047 w 3684494"/>
              <a:gd name="connsiteY1" fmla="*/ 1210235 h 1362889"/>
              <a:gd name="connsiteX2" fmla="*/ 591670 w 3684494"/>
              <a:gd name="connsiteY2" fmla="*/ 1317811 h 1362889"/>
              <a:gd name="connsiteX3" fmla="*/ 995082 w 3684494"/>
              <a:gd name="connsiteY3" fmla="*/ 954741 h 1362889"/>
              <a:gd name="connsiteX4" fmla="*/ 1936376 w 3684494"/>
              <a:gd name="connsiteY4" fmla="*/ 1169894 h 1362889"/>
              <a:gd name="connsiteX5" fmla="*/ 2756647 w 3684494"/>
              <a:gd name="connsiteY5" fmla="*/ 685800 h 1362889"/>
              <a:gd name="connsiteX6" fmla="*/ 3684494 w 3684494"/>
              <a:gd name="connsiteY6" fmla="*/ 1250576 h 1362889"/>
              <a:gd name="connsiteX0" fmla="*/ 0 w 3509682"/>
              <a:gd name="connsiteY0" fmla="*/ 329030 h 642634"/>
              <a:gd name="connsiteX1" fmla="*/ 67235 w 3509682"/>
              <a:gd name="connsiteY1" fmla="*/ 524729 h 642634"/>
              <a:gd name="connsiteX2" fmla="*/ 416858 w 3509682"/>
              <a:gd name="connsiteY2" fmla="*/ 632305 h 642634"/>
              <a:gd name="connsiteX3" fmla="*/ 820270 w 3509682"/>
              <a:gd name="connsiteY3" fmla="*/ 269235 h 642634"/>
              <a:gd name="connsiteX4" fmla="*/ 1761564 w 3509682"/>
              <a:gd name="connsiteY4" fmla="*/ 484388 h 642634"/>
              <a:gd name="connsiteX5" fmla="*/ 2581835 w 3509682"/>
              <a:gd name="connsiteY5" fmla="*/ 294 h 642634"/>
              <a:gd name="connsiteX6" fmla="*/ 3509682 w 3509682"/>
              <a:gd name="connsiteY6" fmla="*/ 565070 h 642634"/>
              <a:gd name="connsiteX0" fmla="*/ 0 w 3509682"/>
              <a:gd name="connsiteY0" fmla="*/ 329030 h 649534"/>
              <a:gd name="connsiteX1" fmla="*/ 155725 w 3509682"/>
              <a:gd name="connsiteY1" fmla="*/ 564292 h 649534"/>
              <a:gd name="connsiteX2" fmla="*/ 416858 w 3509682"/>
              <a:gd name="connsiteY2" fmla="*/ 632305 h 649534"/>
              <a:gd name="connsiteX3" fmla="*/ 820270 w 3509682"/>
              <a:gd name="connsiteY3" fmla="*/ 269235 h 649534"/>
              <a:gd name="connsiteX4" fmla="*/ 1761564 w 3509682"/>
              <a:gd name="connsiteY4" fmla="*/ 484388 h 649534"/>
              <a:gd name="connsiteX5" fmla="*/ 2581835 w 3509682"/>
              <a:gd name="connsiteY5" fmla="*/ 294 h 649534"/>
              <a:gd name="connsiteX6" fmla="*/ 3509682 w 3509682"/>
              <a:gd name="connsiteY6" fmla="*/ 565070 h 649534"/>
              <a:gd name="connsiteX0" fmla="*/ 23604 w 3533286"/>
              <a:gd name="connsiteY0" fmla="*/ 329030 h 658850"/>
              <a:gd name="connsiteX1" fmla="*/ 179329 w 3533286"/>
              <a:gd name="connsiteY1" fmla="*/ 564292 h 658850"/>
              <a:gd name="connsiteX2" fmla="*/ 440462 w 3533286"/>
              <a:gd name="connsiteY2" fmla="*/ 632305 h 658850"/>
              <a:gd name="connsiteX3" fmla="*/ 843874 w 3533286"/>
              <a:gd name="connsiteY3" fmla="*/ 269235 h 658850"/>
              <a:gd name="connsiteX4" fmla="*/ 1785168 w 3533286"/>
              <a:gd name="connsiteY4" fmla="*/ 484388 h 658850"/>
              <a:gd name="connsiteX5" fmla="*/ 2605439 w 3533286"/>
              <a:gd name="connsiteY5" fmla="*/ 294 h 658850"/>
              <a:gd name="connsiteX6" fmla="*/ 3533286 w 3533286"/>
              <a:gd name="connsiteY6" fmla="*/ 565070 h 658850"/>
              <a:gd name="connsiteX0" fmla="*/ 0 w 3509682"/>
              <a:gd name="connsiteY0" fmla="*/ 329030 h 654436"/>
              <a:gd name="connsiteX1" fmla="*/ 155725 w 3509682"/>
              <a:gd name="connsiteY1" fmla="*/ 564292 h 654436"/>
              <a:gd name="connsiteX2" fmla="*/ 416858 w 3509682"/>
              <a:gd name="connsiteY2" fmla="*/ 632305 h 654436"/>
              <a:gd name="connsiteX3" fmla="*/ 820270 w 3509682"/>
              <a:gd name="connsiteY3" fmla="*/ 269235 h 654436"/>
              <a:gd name="connsiteX4" fmla="*/ 1761564 w 3509682"/>
              <a:gd name="connsiteY4" fmla="*/ 484388 h 654436"/>
              <a:gd name="connsiteX5" fmla="*/ 2581835 w 3509682"/>
              <a:gd name="connsiteY5" fmla="*/ 294 h 654436"/>
              <a:gd name="connsiteX6" fmla="*/ 3509682 w 3509682"/>
              <a:gd name="connsiteY6" fmla="*/ 565070 h 654436"/>
              <a:gd name="connsiteX0" fmla="*/ 0 w 3509682"/>
              <a:gd name="connsiteY0" fmla="*/ 329030 h 644884"/>
              <a:gd name="connsiteX1" fmla="*/ 155725 w 3509682"/>
              <a:gd name="connsiteY1" fmla="*/ 564292 h 644884"/>
              <a:gd name="connsiteX2" fmla="*/ 416858 w 3509682"/>
              <a:gd name="connsiteY2" fmla="*/ 632305 h 644884"/>
              <a:gd name="connsiteX3" fmla="*/ 820270 w 3509682"/>
              <a:gd name="connsiteY3" fmla="*/ 269235 h 644884"/>
              <a:gd name="connsiteX4" fmla="*/ 1761564 w 3509682"/>
              <a:gd name="connsiteY4" fmla="*/ 484388 h 644884"/>
              <a:gd name="connsiteX5" fmla="*/ 2581835 w 3509682"/>
              <a:gd name="connsiteY5" fmla="*/ 294 h 644884"/>
              <a:gd name="connsiteX6" fmla="*/ 3509682 w 3509682"/>
              <a:gd name="connsiteY6" fmla="*/ 565070 h 644884"/>
              <a:gd name="connsiteX0" fmla="*/ 0 w 3509682"/>
              <a:gd name="connsiteY0" fmla="*/ 329030 h 667105"/>
              <a:gd name="connsiteX1" fmla="*/ 160343 w 3509682"/>
              <a:gd name="connsiteY1" fmla="*/ 633976 h 667105"/>
              <a:gd name="connsiteX2" fmla="*/ 416858 w 3509682"/>
              <a:gd name="connsiteY2" fmla="*/ 632305 h 667105"/>
              <a:gd name="connsiteX3" fmla="*/ 820270 w 3509682"/>
              <a:gd name="connsiteY3" fmla="*/ 269235 h 667105"/>
              <a:gd name="connsiteX4" fmla="*/ 1761564 w 3509682"/>
              <a:gd name="connsiteY4" fmla="*/ 484388 h 667105"/>
              <a:gd name="connsiteX5" fmla="*/ 2581835 w 3509682"/>
              <a:gd name="connsiteY5" fmla="*/ 294 h 667105"/>
              <a:gd name="connsiteX6" fmla="*/ 3509682 w 3509682"/>
              <a:gd name="connsiteY6" fmla="*/ 565070 h 667105"/>
              <a:gd name="connsiteX0" fmla="*/ 0 w 3509682"/>
              <a:gd name="connsiteY0" fmla="*/ 329030 h 672580"/>
              <a:gd name="connsiteX1" fmla="*/ 160343 w 3509682"/>
              <a:gd name="connsiteY1" fmla="*/ 633976 h 672580"/>
              <a:gd name="connsiteX2" fmla="*/ 416858 w 3509682"/>
              <a:gd name="connsiteY2" fmla="*/ 632305 h 672580"/>
              <a:gd name="connsiteX3" fmla="*/ 820270 w 3509682"/>
              <a:gd name="connsiteY3" fmla="*/ 269235 h 672580"/>
              <a:gd name="connsiteX4" fmla="*/ 1761564 w 3509682"/>
              <a:gd name="connsiteY4" fmla="*/ 484388 h 672580"/>
              <a:gd name="connsiteX5" fmla="*/ 2581835 w 3509682"/>
              <a:gd name="connsiteY5" fmla="*/ 294 h 672580"/>
              <a:gd name="connsiteX6" fmla="*/ 3509682 w 3509682"/>
              <a:gd name="connsiteY6" fmla="*/ 565070 h 672580"/>
              <a:gd name="connsiteX0" fmla="*/ 0 w 3509682"/>
              <a:gd name="connsiteY0" fmla="*/ 329030 h 672580"/>
              <a:gd name="connsiteX1" fmla="*/ 160343 w 3509682"/>
              <a:gd name="connsiteY1" fmla="*/ 633976 h 672580"/>
              <a:gd name="connsiteX2" fmla="*/ 416858 w 3509682"/>
              <a:gd name="connsiteY2" fmla="*/ 632305 h 672580"/>
              <a:gd name="connsiteX3" fmla="*/ 820270 w 3509682"/>
              <a:gd name="connsiteY3" fmla="*/ 269235 h 672580"/>
              <a:gd name="connsiteX4" fmla="*/ 1761564 w 3509682"/>
              <a:gd name="connsiteY4" fmla="*/ 484388 h 672580"/>
              <a:gd name="connsiteX5" fmla="*/ 2581835 w 3509682"/>
              <a:gd name="connsiteY5" fmla="*/ 294 h 672580"/>
              <a:gd name="connsiteX6" fmla="*/ 3509682 w 3509682"/>
              <a:gd name="connsiteY6" fmla="*/ 565070 h 672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9682" h="672580">
                <a:moveTo>
                  <a:pt x="0" y="329030"/>
                </a:moveTo>
                <a:cubicBezTo>
                  <a:pt x="117899" y="601337"/>
                  <a:pt x="69862" y="590023"/>
                  <a:pt x="160343" y="633976"/>
                </a:cubicBezTo>
                <a:cubicBezTo>
                  <a:pt x="250824" y="677929"/>
                  <a:pt x="306870" y="693095"/>
                  <a:pt x="416858" y="632305"/>
                </a:cubicBezTo>
                <a:cubicBezTo>
                  <a:pt x="526846" y="571515"/>
                  <a:pt x="596152" y="293888"/>
                  <a:pt x="820270" y="269235"/>
                </a:cubicBezTo>
                <a:cubicBezTo>
                  <a:pt x="1044388" y="244582"/>
                  <a:pt x="1467970" y="529212"/>
                  <a:pt x="1761564" y="484388"/>
                </a:cubicBezTo>
                <a:cubicBezTo>
                  <a:pt x="2055158" y="439565"/>
                  <a:pt x="2290482" y="-13153"/>
                  <a:pt x="2581835" y="294"/>
                </a:cubicBezTo>
                <a:cubicBezTo>
                  <a:pt x="2873188" y="13741"/>
                  <a:pt x="3191435" y="289405"/>
                  <a:pt x="3509682" y="565070"/>
                </a:cubicBezTo>
              </a:path>
            </a:pathLst>
          </a:custGeom>
          <a:noFill/>
          <a:ln w="3810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7" name="TextBox 46">
            <a:extLst>
              <a:ext uri="{FF2B5EF4-FFF2-40B4-BE49-F238E27FC236}">
                <a16:creationId xmlns:a16="http://schemas.microsoft.com/office/drawing/2014/main" id="{C21481BF-7D28-7E29-6FDE-611753DAC3EF}"/>
              </a:ext>
            </a:extLst>
          </p:cNvPr>
          <p:cNvSpPr txBox="1"/>
          <p:nvPr/>
        </p:nvSpPr>
        <p:spPr>
          <a:xfrm>
            <a:off x="10487141" y="4474796"/>
            <a:ext cx="1114664" cy="369332"/>
          </a:xfrm>
          <a:prstGeom prst="rect">
            <a:avLst/>
          </a:prstGeom>
          <a:noFill/>
        </p:spPr>
        <p:txBody>
          <a:bodyPr wrap="none" rtlCol="0">
            <a:spAutoFit/>
          </a:bodyPr>
          <a:lstStyle/>
          <a:p>
            <a:r>
              <a:rPr lang="en-US" dirty="0">
                <a:solidFill>
                  <a:schemeClr val="accent5"/>
                </a:solidFill>
              </a:rPr>
              <a:t>Maryland</a:t>
            </a:r>
          </a:p>
        </p:txBody>
      </p:sp>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BC186788-AC4F-A24B-8FAA-A0CDCEB16C57}"/>
                  </a:ext>
                </a:extLst>
              </p:cNvPr>
              <p:cNvSpPr txBox="1"/>
              <p:nvPr/>
            </p:nvSpPr>
            <p:spPr>
              <a:xfrm>
                <a:off x="781343" y="4450527"/>
                <a:ext cx="3762656" cy="707886"/>
              </a:xfrm>
              <a:prstGeom prst="rect">
                <a:avLst/>
              </a:prstGeom>
              <a:noFill/>
            </p:spPr>
            <p:txBody>
              <a:bodyPr wrap="square" rtlCol="0">
                <a:spAutoFit/>
              </a:bodyPr>
              <a:lstStyle/>
              <a:p>
                <a:r>
                  <a:rPr lang="en-US" sz="2000" dirty="0"/>
                  <a:t>Each of these curves is plotting </a:t>
                </a:r>
                <a14:m>
                  <m:oMath xmlns:m="http://schemas.openxmlformats.org/officeDocument/2006/math">
                    <m:sSub>
                      <m:sSubPr>
                        <m:ctrlPr>
                          <a:rPr lang="en-US" sz="2000" b="0" i="1" smtClean="0">
                            <a:solidFill>
                              <a:schemeClr val="accent5"/>
                            </a:solidFill>
                            <a:latin typeface="Cambria Math" panose="02040503050406030204" pitchFamily="18" charset="0"/>
                          </a:rPr>
                        </m:ctrlPr>
                      </m:sSubPr>
                      <m:e>
                        <m:r>
                          <a:rPr lang="en-US" sz="2000" b="0" i="1" smtClean="0">
                            <a:solidFill>
                              <a:schemeClr val="accent5"/>
                            </a:solidFill>
                            <a:latin typeface="Cambria Math" panose="02040503050406030204" pitchFamily="18" charset="0"/>
                          </a:rPr>
                          <m:t>𝜆</m:t>
                        </m:r>
                      </m:e>
                      <m:sub>
                        <m:r>
                          <a:rPr lang="en-US" sz="2000" b="0" i="1" smtClean="0">
                            <a:solidFill>
                              <a:schemeClr val="accent5"/>
                            </a:solidFill>
                            <a:latin typeface="Cambria Math" panose="02040503050406030204" pitchFamily="18" charset="0"/>
                          </a:rPr>
                          <m:t>𝑡</m:t>
                        </m:r>
                      </m:sub>
                    </m:sSub>
                    <m:r>
                      <a:rPr lang="en-US" sz="2000" b="0" i="0" smtClean="0">
                        <a:solidFill>
                          <a:schemeClr val="accent5"/>
                        </a:solidFill>
                        <a:latin typeface="Cambria Math" panose="02040503050406030204" pitchFamily="18" charset="0"/>
                      </a:rPr>
                      <m:t>+</m:t>
                    </m:r>
                    <m:r>
                      <m:rPr>
                        <m:sty m:val="p"/>
                      </m:rPr>
                      <a:rPr lang="en-US" sz="2000" b="0" i="0" smtClean="0">
                        <a:solidFill>
                          <a:schemeClr val="accent5"/>
                        </a:solidFill>
                        <a:latin typeface="Cambria Math" panose="02040503050406030204" pitchFamily="18" charset="0"/>
                      </a:rPr>
                      <m:t>something</m:t>
                    </m:r>
                  </m:oMath>
                </a14:m>
                <a:r>
                  <a:rPr lang="en-US" sz="2000" dirty="0">
                    <a:solidFill>
                      <a:schemeClr val="accent5"/>
                    </a:solidFill>
                  </a:rPr>
                  <a:t> </a:t>
                </a:r>
                <a:r>
                  <a:rPr lang="en-US" sz="2000" dirty="0"/>
                  <a:t>over time</a:t>
                </a:r>
              </a:p>
            </p:txBody>
          </p:sp>
        </mc:Choice>
        <mc:Fallback xmlns="">
          <p:sp>
            <p:nvSpPr>
              <p:cNvPr id="50" name="TextBox 49">
                <a:extLst>
                  <a:ext uri="{FF2B5EF4-FFF2-40B4-BE49-F238E27FC236}">
                    <a16:creationId xmlns:a16="http://schemas.microsoft.com/office/drawing/2014/main" id="{BC186788-AC4F-A24B-8FAA-A0CDCEB16C57}"/>
                  </a:ext>
                </a:extLst>
              </p:cNvPr>
              <p:cNvSpPr txBox="1">
                <a:spLocks noRot="1" noChangeAspect="1" noMove="1" noResize="1" noEditPoints="1" noAdjustHandles="1" noChangeArrowheads="1" noChangeShapeType="1" noTextEdit="1"/>
              </p:cNvSpPr>
              <p:nvPr/>
            </p:nvSpPr>
            <p:spPr>
              <a:xfrm>
                <a:off x="781343" y="4450527"/>
                <a:ext cx="3762656" cy="707886"/>
              </a:xfrm>
              <a:prstGeom prst="rect">
                <a:avLst/>
              </a:prstGeom>
              <a:blipFill>
                <a:blip r:embed="rId4"/>
                <a:stretch>
                  <a:fillRect l="-1684" t="-3509" b="-1578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1" name="TextBox 50">
                <a:extLst>
                  <a:ext uri="{FF2B5EF4-FFF2-40B4-BE49-F238E27FC236}">
                    <a16:creationId xmlns:a16="http://schemas.microsoft.com/office/drawing/2014/main" id="{C25F7A99-2A80-56C1-7077-4D3CC83E39C2}"/>
                  </a:ext>
                </a:extLst>
              </p:cNvPr>
              <p:cNvSpPr txBox="1"/>
              <p:nvPr/>
            </p:nvSpPr>
            <p:spPr>
              <a:xfrm>
                <a:off x="781342" y="5317465"/>
                <a:ext cx="4811929" cy="400110"/>
              </a:xfrm>
              <a:prstGeom prst="rect">
                <a:avLst/>
              </a:prstGeom>
              <a:noFill/>
            </p:spPr>
            <p:txBody>
              <a:bodyPr wrap="square" rtlCol="0">
                <a:spAutoFit/>
              </a:bodyPr>
              <a:lstStyle/>
              <a:p>
                <a:r>
                  <a:rPr lang="en-US" sz="2000" dirty="0"/>
                  <a:t>For non-CA states </a:t>
                </a:r>
                <a:r>
                  <a:rPr lang="en-US" sz="2000" dirty="0" err="1"/>
                  <a:t>i</a:t>
                </a:r>
                <a:r>
                  <a:rPr lang="en-US" sz="2000" dirty="0"/>
                  <a:t>, “something” is </a:t>
                </a:r>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𝜇</m:t>
                        </m:r>
                      </m:e>
                      <m:sub>
                        <m:r>
                          <a:rPr lang="en-US" sz="2000" b="0" i="1" smtClean="0">
                            <a:latin typeface="Cambria Math" panose="02040503050406030204" pitchFamily="18" charset="0"/>
                          </a:rPr>
                          <m:t>𝑖</m:t>
                        </m:r>
                      </m:sub>
                    </m:sSub>
                  </m:oMath>
                </a14:m>
                <a:endParaRPr lang="en-US" sz="2000" dirty="0"/>
              </a:p>
            </p:txBody>
          </p:sp>
        </mc:Choice>
        <mc:Fallback xmlns="">
          <p:sp>
            <p:nvSpPr>
              <p:cNvPr id="51" name="TextBox 50">
                <a:extLst>
                  <a:ext uri="{FF2B5EF4-FFF2-40B4-BE49-F238E27FC236}">
                    <a16:creationId xmlns:a16="http://schemas.microsoft.com/office/drawing/2014/main" id="{C25F7A99-2A80-56C1-7077-4D3CC83E39C2}"/>
                  </a:ext>
                </a:extLst>
              </p:cNvPr>
              <p:cNvSpPr txBox="1">
                <a:spLocks noRot="1" noChangeAspect="1" noMove="1" noResize="1" noEditPoints="1" noAdjustHandles="1" noChangeArrowheads="1" noChangeShapeType="1" noTextEdit="1"/>
              </p:cNvSpPr>
              <p:nvPr/>
            </p:nvSpPr>
            <p:spPr>
              <a:xfrm>
                <a:off x="781342" y="5317465"/>
                <a:ext cx="4811929" cy="400110"/>
              </a:xfrm>
              <a:prstGeom prst="rect">
                <a:avLst/>
              </a:prstGeom>
              <a:blipFill>
                <a:blip r:embed="rId5"/>
                <a:stretch>
                  <a:fillRect l="-1316" t="-3030" b="-2727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2" name="TextBox 51">
                <a:extLst>
                  <a:ext uri="{FF2B5EF4-FFF2-40B4-BE49-F238E27FC236}">
                    <a16:creationId xmlns:a16="http://schemas.microsoft.com/office/drawing/2014/main" id="{44F849EC-9EBD-1951-F30A-A2C23B5B1DF5}"/>
                  </a:ext>
                </a:extLst>
              </p:cNvPr>
              <p:cNvSpPr txBox="1"/>
              <p:nvPr/>
            </p:nvSpPr>
            <p:spPr>
              <a:xfrm>
                <a:off x="781342" y="5875328"/>
                <a:ext cx="4811929" cy="707886"/>
              </a:xfrm>
              <a:prstGeom prst="rect">
                <a:avLst/>
              </a:prstGeom>
              <a:noFill/>
            </p:spPr>
            <p:txBody>
              <a:bodyPr wrap="square" rtlCol="0">
                <a:spAutoFit/>
              </a:bodyPr>
              <a:lstStyle/>
              <a:p>
                <a:r>
                  <a:rPr lang="en-US" sz="2000" dirty="0"/>
                  <a:t>For CA, “something” is </a:t>
                </a:r>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𝜇</m:t>
                        </m:r>
                      </m:e>
                      <m:sub>
                        <m:r>
                          <a:rPr lang="en-US" sz="2000" b="0" i="1" smtClean="0">
                            <a:latin typeface="Cambria Math" panose="02040503050406030204" pitchFamily="18" charset="0"/>
                          </a:rPr>
                          <m:t>𝐶𝐴</m:t>
                        </m:r>
                      </m:sub>
                    </m:sSub>
                  </m:oMath>
                </a14:m>
                <a:r>
                  <a:rPr lang="en-US" sz="2000" dirty="0"/>
                  <a:t> before the treatment, and </a:t>
                </a:r>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𝜇</m:t>
                        </m:r>
                      </m:e>
                      <m:sub>
                        <m:r>
                          <a:rPr lang="en-US" sz="2000" b="0" i="1" smtClean="0">
                            <a:latin typeface="Cambria Math" panose="02040503050406030204" pitchFamily="18" charset="0"/>
                          </a:rPr>
                          <m:t>𝐶𝐴</m:t>
                        </m:r>
                      </m:sub>
                    </m:sSub>
                    <m:r>
                      <a:rPr lang="en-US" sz="2000" b="0" i="1" smtClean="0">
                        <a:latin typeface="Cambria Math" panose="02040503050406030204" pitchFamily="18" charset="0"/>
                      </a:rPr>
                      <m:t>+</m:t>
                    </m:r>
                    <m:r>
                      <a:rPr lang="en-US" sz="2000" b="0" i="1" smtClean="0">
                        <a:latin typeface="Cambria Math" panose="02040503050406030204" pitchFamily="18" charset="0"/>
                      </a:rPr>
                      <m:t>𝜏</m:t>
                    </m:r>
                  </m:oMath>
                </a14:m>
                <a:r>
                  <a:rPr lang="en-US" sz="2000" dirty="0"/>
                  <a:t> afterwards.</a:t>
                </a:r>
              </a:p>
            </p:txBody>
          </p:sp>
        </mc:Choice>
        <mc:Fallback xmlns="">
          <p:sp>
            <p:nvSpPr>
              <p:cNvPr id="52" name="TextBox 51">
                <a:extLst>
                  <a:ext uri="{FF2B5EF4-FFF2-40B4-BE49-F238E27FC236}">
                    <a16:creationId xmlns:a16="http://schemas.microsoft.com/office/drawing/2014/main" id="{44F849EC-9EBD-1951-F30A-A2C23B5B1DF5}"/>
                  </a:ext>
                </a:extLst>
              </p:cNvPr>
              <p:cNvSpPr txBox="1">
                <a:spLocks noRot="1" noChangeAspect="1" noMove="1" noResize="1" noEditPoints="1" noAdjustHandles="1" noChangeArrowheads="1" noChangeShapeType="1" noTextEdit="1"/>
              </p:cNvSpPr>
              <p:nvPr/>
            </p:nvSpPr>
            <p:spPr>
              <a:xfrm>
                <a:off x="781342" y="5875328"/>
                <a:ext cx="4811929" cy="707886"/>
              </a:xfrm>
              <a:prstGeom prst="rect">
                <a:avLst/>
              </a:prstGeom>
              <a:blipFill>
                <a:blip r:embed="rId6"/>
                <a:stretch>
                  <a:fillRect l="-1316" t="-3509" b="-15789"/>
                </a:stretch>
              </a:blipFill>
            </p:spPr>
            <p:txBody>
              <a:bodyPr/>
              <a:lstStyle/>
              <a:p>
                <a:r>
                  <a:rPr lang="en-US">
                    <a:noFill/>
                  </a:rPr>
                  <a:t> </a:t>
                </a:r>
              </a:p>
            </p:txBody>
          </p:sp>
        </mc:Fallback>
      </mc:AlternateContent>
    </p:spTree>
    <p:extLst>
      <p:ext uri="{BB962C8B-B14F-4D97-AF65-F5344CB8AC3E}">
        <p14:creationId xmlns:p14="http://schemas.microsoft.com/office/powerpoint/2010/main" val="318569256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4" name="Rectangle 43">
            <a:extLst>
              <a:ext uri="{FF2B5EF4-FFF2-40B4-BE49-F238E27FC236}">
                <a16:creationId xmlns:a16="http://schemas.microsoft.com/office/drawing/2014/main" id="{A022B77E-7497-736B-692B-722E620D12CA}"/>
              </a:ext>
            </a:extLst>
          </p:cNvPr>
          <p:cNvSpPr/>
          <p:nvPr/>
        </p:nvSpPr>
        <p:spPr>
          <a:xfrm>
            <a:off x="10433776" y="6224698"/>
            <a:ext cx="1758224" cy="54423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C45BA6B-9809-A49D-4784-323EDB09B048}"/>
              </a:ext>
            </a:extLst>
          </p:cNvPr>
          <p:cNvSpPr>
            <a:spLocks noGrp="1"/>
          </p:cNvSpPr>
          <p:nvPr>
            <p:ph type="title"/>
          </p:nvPr>
        </p:nvSpPr>
        <p:spPr>
          <a:xfrm>
            <a:off x="617053" y="-104491"/>
            <a:ext cx="10515600" cy="1325563"/>
          </a:xfrm>
        </p:spPr>
        <p:txBody>
          <a:bodyPr/>
          <a:lstStyle/>
          <a:p>
            <a:r>
              <a:rPr lang="en-US" dirty="0"/>
              <a:t>Mathematically, what’s the difference?</a:t>
            </a:r>
          </a:p>
        </p:txBody>
      </p:sp>
      <p:sp>
        <p:nvSpPr>
          <p:cNvPr id="3" name="Content Placeholder 2">
            <a:extLst>
              <a:ext uri="{FF2B5EF4-FFF2-40B4-BE49-F238E27FC236}">
                <a16:creationId xmlns:a16="http://schemas.microsoft.com/office/drawing/2014/main" id="{D473DD6E-E782-24BD-BC83-363BA933A282}"/>
              </a:ext>
            </a:extLst>
          </p:cNvPr>
          <p:cNvSpPr>
            <a:spLocks noGrp="1"/>
          </p:cNvSpPr>
          <p:nvPr>
            <p:ph idx="1"/>
          </p:nvPr>
        </p:nvSpPr>
        <p:spPr>
          <a:xfrm>
            <a:off x="781343" y="970496"/>
            <a:ext cx="8044543" cy="644443"/>
          </a:xfrm>
        </p:spPr>
        <p:txBody>
          <a:bodyPr/>
          <a:lstStyle/>
          <a:p>
            <a:r>
              <a:rPr lang="en-US" dirty="0"/>
              <a:t>One (more) way to write </a:t>
            </a:r>
            <a:r>
              <a:rPr lang="en-US" dirty="0" err="1"/>
              <a:t>DiD</a:t>
            </a:r>
            <a:r>
              <a:rPr lang="en-US" dirty="0"/>
              <a:t>:</a:t>
            </a:r>
          </a:p>
          <a:p>
            <a:pPr marL="0" indent="0">
              <a:buNone/>
            </a:pPr>
            <a:endParaRPr lang="en-US" dirty="0"/>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6B13847F-8EF8-678A-A3E2-773D17801A67}"/>
                  </a:ext>
                </a:extLst>
              </p:cNvPr>
              <p:cNvSpPr txBox="1"/>
              <p:nvPr/>
            </p:nvSpPr>
            <p:spPr>
              <a:xfrm>
                <a:off x="1223507" y="1490915"/>
                <a:ext cx="6097978" cy="64633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3600" b="0" i="1" smtClean="0">
                              <a:solidFill>
                                <a:schemeClr val="accent2"/>
                              </a:solidFill>
                              <a:latin typeface="Cambria Math" panose="02040503050406030204" pitchFamily="18" charset="0"/>
                            </a:rPr>
                          </m:ctrlPr>
                        </m:sSubPr>
                        <m:e>
                          <m:r>
                            <a:rPr lang="en-US" sz="3600" b="0" i="1" smtClean="0">
                              <a:solidFill>
                                <a:schemeClr val="accent2"/>
                              </a:solidFill>
                              <a:latin typeface="Cambria Math" panose="02040503050406030204" pitchFamily="18" charset="0"/>
                            </a:rPr>
                            <m:t>𝑌</m:t>
                          </m:r>
                        </m:e>
                        <m:sub>
                          <m:r>
                            <a:rPr lang="en-US" sz="3600" b="0" i="1" smtClean="0">
                              <a:solidFill>
                                <a:schemeClr val="accent2"/>
                              </a:solidFill>
                              <a:latin typeface="Cambria Math" panose="02040503050406030204" pitchFamily="18" charset="0"/>
                            </a:rPr>
                            <m:t>𝑖𝑡</m:t>
                          </m:r>
                        </m:sub>
                      </m:sSub>
                      <m:r>
                        <a:rPr lang="en-US" sz="3600" b="0" i="1" smtClean="0">
                          <a:latin typeface="Cambria Math" panose="02040503050406030204" pitchFamily="18" charset="0"/>
                        </a:rPr>
                        <m:t>=</m:t>
                      </m:r>
                      <m:sSub>
                        <m:sSubPr>
                          <m:ctrlPr>
                            <a:rPr lang="en-US" sz="3600" b="0" i="1" smtClean="0">
                              <a:solidFill>
                                <a:schemeClr val="accent5"/>
                              </a:solidFill>
                              <a:latin typeface="Cambria Math" panose="02040503050406030204" pitchFamily="18" charset="0"/>
                            </a:rPr>
                          </m:ctrlPr>
                        </m:sSubPr>
                        <m:e>
                          <m:r>
                            <a:rPr lang="en-US" sz="3600" b="0" i="1" smtClean="0">
                              <a:solidFill>
                                <a:schemeClr val="accent5"/>
                              </a:solidFill>
                              <a:latin typeface="Cambria Math" panose="02040503050406030204" pitchFamily="18" charset="0"/>
                            </a:rPr>
                            <m:t>𝜆</m:t>
                          </m:r>
                        </m:e>
                        <m:sub>
                          <m:r>
                            <a:rPr lang="en-US" sz="3600" b="0" i="1" smtClean="0">
                              <a:solidFill>
                                <a:schemeClr val="accent5"/>
                              </a:solidFill>
                              <a:latin typeface="Cambria Math" panose="02040503050406030204" pitchFamily="18" charset="0"/>
                            </a:rPr>
                            <m:t>𝑡</m:t>
                          </m:r>
                        </m:sub>
                      </m:sSub>
                      <m:r>
                        <a:rPr lang="en-US" sz="3600" b="0" i="1" smtClean="0">
                          <a:latin typeface="Cambria Math" panose="02040503050406030204" pitchFamily="18" charset="0"/>
                        </a:rPr>
                        <m:t>+</m:t>
                      </m:r>
                      <m:sSub>
                        <m:sSubPr>
                          <m:ctrlPr>
                            <a:rPr lang="en-US" sz="3600" b="0" i="1" smtClean="0">
                              <a:solidFill>
                                <a:schemeClr val="accent6"/>
                              </a:solidFill>
                              <a:latin typeface="Cambria Math" panose="02040503050406030204" pitchFamily="18" charset="0"/>
                            </a:rPr>
                          </m:ctrlPr>
                        </m:sSubPr>
                        <m:e>
                          <m:r>
                            <a:rPr lang="en-US" sz="3600" b="0" i="1" smtClean="0">
                              <a:solidFill>
                                <a:schemeClr val="accent6"/>
                              </a:solidFill>
                              <a:latin typeface="Cambria Math" panose="02040503050406030204" pitchFamily="18" charset="0"/>
                            </a:rPr>
                            <m:t>𝜇</m:t>
                          </m:r>
                        </m:e>
                        <m:sub>
                          <m:r>
                            <a:rPr lang="en-US" sz="3600" b="0" i="1" smtClean="0">
                              <a:solidFill>
                                <a:schemeClr val="accent6"/>
                              </a:solidFill>
                              <a:latin typeface="Cambria Math" panose="02040503050406030204" pitchFamily="18" charset="0"/>
                            </a:rPr>
                            <m:t>𝑖</m:t>
                          </m:r>
                        </m:sub>
                      </m:sSub>
                      <m:r>
                        <a:rPr lang="en-US" sz="3600" b="0" i="1" smtClean="0">
                          <a:latin typeface="Cambria Math" panose="02040503050406030204" pitchFamily="18" charset="0"/>
                        </a:rPr>
                        <m:t>+</m:t>
                      </m:r>
                      <m:r>
                        <a:rPr lang="en-US" sz="3600" b="0" i="1" smtClean="0">
                          <a:solidFill>
                            <a:schemeClr val="accent4"/>
                          </a:solidFill>
                          <a:latin typeface="Cambria Math" panose="02040503050406030204" pitchFamily="18" charset="0"/>
                        </a:rPr>
                        <m:t>𝜏</m:t>
                      </m:r>
                      <m:r>
                        <a:rPr lang="en-US" sz="3600" b="0" i="1" smtClean="0">
                          <a:latin typeface="Cambria Math" panose="02040503050406030204" pitchFamily="18" charset="0"/>
                        </a:rPr>
                        <m:t>⋅</m:t>
                      </m:r>
                      <m:sSub>
                        <m:sSubPr>
                          <m:ctrlPr>
                            <a:rPr lang="en-US" sz="3600" b="0" i="1" smtClean="0">
                              <a:solidFill>
                                <a:schemeClr val="accent1"/>
                              </a:solidFill>
                              <a:latin typeface="Cambria Math" panose="02040503050406030204" pitchFamily="18" charset="0"/>
                            </a:rPr>
                          </m:ctrlPr>
                        </m:sSubPr>
                        <m:e>
                          <m:r>
                            <a:rPr lang="en-US" sz="3600" b="0" i="1" smtClean="0">
                              <a:solidFill>
                                <a:schemeClr val="accent1"/>
                              </a:solidFill>
                              <a:latin typeface="Cambria Math" panose="02040503050406030204" pitchFamily="18" charset="0"/>
                            </a:rPr>
                            <m:t>𝐷</m:t>
                          </m:r>
                        </m:e>
                        <m:sub>
                          <m:r>
                            <a:rPr lang="en-US" sz="3600" b="0" i="1" smtClean="0">
                              <a:solidFill>
                                <a:schemeClr val="accent1"/>
                              </a:solidFill>
                              <a:latin typeface="Cambria Math" panose="02040503050406030204" pitchFamily="18" charset="0"/>
                            </a:rPr>
                            <m:t>𝑖𝑡</m:t>
                          </m:r>
                        </m:sub>
                      </m:sSub>
                    </m:oMath>
                  </m:oMathPara>
                </a14:m>
                <a:endParaRPr lang="en-US" sz="3600" dirty="0"/>
              </a:p>
            </p:txBody>
          </p:sp>
        </mc:Choice>
        <mc:Fallback xmlns="">
          <p:sp>
            <p:nvSpPr>
              <p:cNvPr id="7" name="TextBox 6">
                <a:extLst>
                  <a:ext uri="{FF2B5EF4-FFF2-40B4-BE49-F238E27FC236}">
                    <a16:creationId xmlns:a16="http://schemas.microsoft.com/office/drawing/2014/main" id="{6B13847F-8EF8-678A-A3E2-773D17801A67}"/>
                  </a:ext>
                </a:extLst>
              </p:cNvPr>
              <p:cNvSpPr txBox="1">
                <a:spLocks noRot="1" noChangeAspect="1" noMove="1" noResize="1" noEditPoints="1" noAdjustHandles="1" noChangeArrowheads="1" noChangeShapeType="1" noTextEdit="1"/>
              </p:cNvSpPr>
              <p:nvPr/>
            </p:nvSpPr>
            <p:spPr>
              <a:xfrm>
                <a:off x="1223507" y="1490915"/>
                <a:ext cx="6097978" cy="646331"/>
              </a:xfrm>
              <a:prstGeom prst="rect">
                <a:avLst/>
              </a:prstGeom>
              <a:blipFill>
                <a:blip r:embed="rId2"/>
                <a:stretch>
                  <a:fillRect b="-9615"/>
                </a:stretch>
              </a:blipFill>
            </p:spPr>
            <p:txBody>
              <a:bodyPr/>
              <a:lstStyle/>
              <a:p>
                <a:r>
                  <a:rPr lang="en-US">
                    <a:noFill/>
                  </a:rPr>
                  <a:t> </a:t>
                </a:r>
              </a:p>
            </p:txBody>
          </p:sp>
        </mc:Fallback>
      </mc:AlternateContent>
      <p:sp>
        <p:nvSpPr>
          <p:cNvPr id="8" name="TextBox 7">
            <a:extLst>
              <a:ext uri="{FF2B5EF4-FFF2-40B4-BE49-F238E27FC236}">
                <a16:creationId xmlns:a16="http://schemas.microsoft.com/office/drawing/2014/main" id="{F5985061-070E-7F89-3BD4-CCF04535C195}"/>
              </a:ext>
            </a:extLst>
          </p:cNvPr>
          <p:cNvSpPr txBox="1"/>
          <p:nvPr/>
        </p:nvSpPr>
        <p:spPr>
          <a:xfrm>
            <a:off x="1043057" y="2319499"/>
            <a:ext cx="1140031" cy="923330"/>
          </a:xfrm>
          <a:prstGeom prst="rect">
            <a:avLst/>
          </a:prstGeom>
          <a:noFill/>
        </p:spPr>
        <p:txBody>
          <a:bodyPr wrap="square" rtlCol="0">
            <a:spAutoFit/>
          </a:bodyPr>
          <a:lstStyle/>
          <a:p>
            <a:pPr algn="ctr"/>
            <a:r>
              <a:rPr lang="en-US" dirty="0">
                <a:solidFill>
                  <a:schemeClr val="accent2"/>
                </a:solidFill>
              </a:rPr>
              <a:t>Outcome for state </a:t>
            </a:r>
            <a:r>
              <a:rPr lang="en-US" dirty="0" err="1">
                <a:solidFill>
                  <a:schemeClr val="accent2"/>
                </a:solidFill>
              </a:rPr>
              <a:t>i</a:t>
            </a:r>
            <a:r>
              <a:rPr lang="en-US" dirty="0">
                <a:solidFill>
                  <a:schemeClr val="accent2"/>
                </a:solidFill>
              </a:rPr>
              <a:t> at time t</a:t>
            </a:r>
          </a:p>
        </p:txBody>
      </p:sp>
      <p:sp>
        <p:nvSpPr>
          <p:cNvPr id="9" name="TextBox 8">
            <a:extLst>
              <a:ext uri="{FF2B5EF4-FFF2-40B4-BE49-F238E27FC236}">
                <a16:creationId xmlns:a16="http://schemas.microsoft.com/office/drawing/2014/main" id="{07E77614-9C2A-2776-D56A-8AA0C33FBAB0}"/>
              </a:ext>
            </a:extLst>
          </p:cNvPr>
          <p:cNvSpPr txBox="1"/>
          <p:nvPr/>
        </p:nvSpPr>
        <p:spPr>
          <a:xfrm>
            <a:off x="2183088" y="2912508"/>
            <a:ext cx="1453797" cy="1200329"/>
          </a:xfrm>
          <a:prstGeom prst="rect">
            <a:avLst/>
          </a:prstGeom>
          <a:noFill/>
        </p:spPr>
        <p:txBody>
          <a:bodyPr wrap="square" rtlCol="0">
            <a:spAutoFit/>
          </a:bodyPr>
          <a:lstStyle/>
          <a:p>
            <a:pPr algn="ctr"/>
            <a:r>
              <a:rPr lang="en-US" dirty="0">
                <a:solidFill>
                  <a:schemeClr val="accent5"/>
                </a:solidFill>
              </a:rPr>
              <a:t>Something that just depends on time</a:t>
            </a:r>
          </a:p>
        </p:txBody>
      </p:sp>
      <p:sp>
        <p:nvSpPr>
          <p:cNvPr id="10" name="TextBox 9">
            <a:extLst>
              <a:ext uri="{FF2B5EF4-FFF2-40B4-BE49-F238E27FC236}">
                <a16:creationId xmlns:a16="http://schemas.microsoft.com/office/drawing/2014/main" id="{B8AD6919-E7A5-2F1C-F880-50FEE15E83BE}"/>
              </a:ext>
            </a:extLst>
          </p:cNvPr>
          <p:cNvSpPr txBox="1"/>
          <p:nvPr/>
        </p:nvSpPr>
        <p:spPr>
          <a:xfrm>
            <a:off x="3851706" y="2912507"/>
            <a:ext cx="1453797" cy="1200329"/>
          </a:xfrm>
          <a:prstGeom prst="rect">
            <a:avLst/>
          </a:prstGeom>
          <a:noFill/>
        </p:spPr>
        <p:txBody>
          <a:bodyPr wrap="square" rtlCol="0">
            <a:spAutoFit/>
          </a:bodyPr>
          <a:lstStyle/>
          <a:p>
            <a:pPr algn="ctr"/>
            <a:r>
              <a:rPr lang="en-US" dirty="0">
                <a:solidFill>
                  <a:schemeClr val="accent6"/>
                </a:solidFill>
              </a:rPr>
              <a:t>Something that just depends on the state</a:t>
            </a:r>
          </a:p>
        </p:txBody>
      </p:sp>
      <p:sp>
        <p:nvSpPr>
          <p:cNvPr id="11" name="TextBox 10">
            <a:extLst>
              <a:ext uri="{FF2B5EF4-FFF2-40B4-BE49-F238E27FC236}">
                <a16:creationId xmlns:a16="http://schemas.microsoft.com/office/drawing/2014/main" id="{F969A339-7D11-A152-F2E2-6EF56AF3D4F5}"/>
              </a:ext>
            </a:extLst>
          </p:cNvPr>
          <p:cNvSpPr txBox="1"/>
          <p:nvPr/>
        </p:nvSpPr>
        <p:spPr>
          <a:xfrm>
            <a:off x="6420452" y="2340371"/>
            <a:ext cx="1217142" cy="923330"/>
          </a:xfrm>
          <a:prstGeom prst="rect">
            <a:avLst/>
          </a:prstGeom>
          <a:noFill/>
        </p:spPr>
        <p:txBody>
          <a:bodyPr wrap="square" rtlCol="0">
            <a:spAutoFit/>
          </a:bodyPr>
          <a:lstStyle/>
          <a:p>
            <a:pPr algn="ctr"/>
            <a:r>
              <a:rPr lang="en-US" dirty="0">
                <a:solidFill>
                  <a:schemeClr val="accent1"/>
                </a:solidFill>
              </a:rPr>
              <a:t>Was state </a:t>
            </a:r>
            <a:r>
              <a:rPr lang="en-US" dirty="0" err="1">
                <a:solidFill>
                  <a:schemeClr val="accent1"/>
                </a:solidFill>
              </a:rPr>
              <a:t>i</a:t>
            </a:r>
            <a:r>
              <a:rPr lang="en-US" dirty="0">
                <a:solidFill>
                  <a:schemeClr val="accent1"/>
                </a:solidFill>
              </a:rPr>
              <a:t> treated at time t?</a:t>
            </a:r>
          </a:p>
        </p:txBody>
      </p:sp>
      <p:sp>
        <p:nvSpPr>
          <p:cNvPr id="12" name="TextBox 11">
            <a:extLst>
              <a:ext uri="{FF2B5EF4-FFF2-40B4-BE49-F238E27FC236}">
                <a16:creationId xmlns:a16="http://schemas.microsoft.com/office/drawing/2014/main" id="{20CF340A-D8E2-DDE6-7B47-576BB92769BE}"/>
              </a:ext>
            </a:extLst>
          </p:cNvPr>
          <p:cNvSpPr txBox="1"/>
          <p:nvPr/>
        </p:nvSpPr>
        <p:spPr>
          <a:xfrm>
            <a:off x="5254407" y="2860733"/>
            <a:ext cx="1217142" cy="923330"/>
          </a:xfrm>
          <a:prstGeom prst="rect">
            <a:avLst/>
          </a:prstGeom>
          <a:noFill/>
        </p:spPr>
        <p:txBody>
          <a:bodyPr wrap="square" rtlCol="0">
            <a:spAutoFit/>
          </a:bodyPr>
          <a:lstStyle/>
          <a:p>
            <a:pPr algn="ctr"/>
            <a:r>
              <a:rPr lang="en-US" dirty="0">
                <a:solidFill>
                  <a:schemeClr val="accent4"/>
                </a:solidFill>
              </a:rPr>
              <a:t>The thing we care about!</a:t>
            </a:r>
          </a:p>
        </p:txBody>
      </p:sp>
      <p:cxnSp>
        <p:nvCxnSpPr>
          <p:cNvPr id="14" name="Straight Arrow Connector 13">
            <a:extLst>
              <a:ext uri="{FF2B5EF4-FFF2-40B4-BE49-F238E27FC236}">
                <a16:creationId xmlns:a16="http://schemas.microsoft.com/office/drawing/2014/main" id="{284E8AAE-DA56-B534-9D77-FAC95B547144}"/>
              </a:ext>
            </a:extLst>
          </p:cNvPr>
          <p:cNvCxnSpPr/>
          <p:nvPr/>
        </p:nvCxnSpPr>
        <p:spPr>
          <a:xfrm flipH="1" flipV="1">
            <a:off x="6084125" y="2182911"/>
            <a:ext cx="387424" cy="43857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5" name="Straight Arrow Connector 14">
            <a:extLst>
              <a:ext uri="{FF2B5EF4-FFF2-40B4-BE49-F238E27FC236}">
                <a16:creationId xmlns:a16="http://schemas.microsoft.com/office/drawing/2014/main" id="{81F87347-1401-61F8-B0CA-FDEBB48FA78F}"/>
              </a:ext>
            </a:extLst>
          </p:cNvPr>
          <p:cNvCxnSpPr>
            <a:cxnSpLocks/>
            <a:stCxn id="12" idx="0"/>
          </p:cNvCxnSpPr>
          <p:nvPr/>
        </p:nvCxnSpPr>
        <p:spPr>
          <a:xfrm flipH="1" flipV="1">
            <a:off x="5424918" y="2039826"/>
            <a:ext cx="438060" cy="820907"/>
          </a:xfrm>
          <a:prstGeom prst="straightConnector1">
            <a:avLst/>
          </a:prstGeom>
          <a:ln>
            <a:solidFill>
              <a:schemeClr val="accent4"/>
            </a:solidFill>
            <a:tailEnd type="triangle"/>
          </a:ln>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CBCA97DC-2083-BD57-E83C-7A4077D6CA0C}"/>
              </a:ext>
            </a:extLst>
          </p:cNvPr>
          <p:cNvCxnSpPr>
            <a:cxnSpLocks/>
            <a:stCxn id="10" idx="0"/>
          </p:cNvCxnSpPr>
          <p:nvPr/>
        </p:nvCxnSpPr>
        <p:spPr>
          <a:xfrm flipH="1" flipV="1">
            <a:off x="4385436" y="2161682"/>
            <a:ext cx="193169" cy="750825"/>
          </a:xfrm>
          <a:prstGeom prst="straightConnector1">
            <a:avLst/>
          </a:prstGeom>
          <a:ln>
            <a:solidFill>
              <a:schemeClr val="accent6"/>
            </a:solidFill>
            <a:tailEnd type="triangle"/>
          </a:ln>
        </p:spPr>
        <p:style>
          <a:lnRef idx="2">
            <a:schemeClr val="accent1"/>
          </a:lnRef>
          <a:fillRef idx="0">
            <a:schemeClr val="accent1"/>
          </a:fillRef>
          <a:effectRef idx="1">
            <a:schemeClr val="accent1"/>
          </a:effectRef>
          <a:fontRef idx="minor">
            <a:schemeClr val="tx1"/>
          </a:fontRef>
        </p:style>
      </p:cxnSp>
      <p:cxnSp>
        <p:nvCxnSpPr>
          <p:cNvPr id="21" name="Straight Arrow Connector 20">
            <a:extLst>
              <a:ext uri="{FF2B5EF4-FFF2-40B4-BE49-F238E27FC236}">
                <a16:creationId xmlns:a16="http://schemas.microsoft.com/office/drawing/2014/main" id="{883F78FE-7EA3-F406-2C1E-DD3330D353B6}"/>
              </a:ext>
            </a:extLst>
          </p:cNvPr>
          <p:cNvCxnSpPr>
            <a:cxnSpLocks/>
            <a:stCxn id="9" idx="0"/>
          </p:cNvCxnSpPr>
          <p:nvPr/>
        </p:nvCxnSpPr>
        <p:spPr>
          <a:xfrm flipV="1">
            <a:off x="2909987" y="2161682"/>
            <a:ext cx="493361" cy="750826"/>
          </a:xfrm>
          <a:prstGeom prst="straightConnector1">
            <a:avLst/>
          </a:prstGeom>
          <a:ln>
            <a:solidFill>
              <a:schemeClr val="accent5"/>
            </a:solidFill>
            <a:tailEnd type="triangle"/>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5BA5A746-5739-B7A9-A536-DABE377A9F1E}"/>
              </a:ext>
            </a:extLst>
          </p:cNvPr>
          <p:cNvCxnSpPr>
            <a:cxnSpLocks/>
            <a:stCxn id="8" idx="0"/>
          </p:cNvCxnSpPr>
          <p:nvPr/>
        </p:nvCxnSpPr>
        <p:spPr>
          <a:xfrm flipV="1">
            <a:off x="1613073" y="1920021"/>
            <a:ext cx="482868" cy="399478"/>
          </a:xfrm>
          <a:prstGeom prst="straightConnector1">
            <a:avLst/>
          </a:prstGeom>
          <a:ln>
            <a:solidFill>
              <a:schemeClr val="accent2"/>
            </a:solidFill>
            <a:tailEnd type="triangle"/>
          </a:ln>
        </p:spPr>
        <p:style>
          <a:lnRef idx="2">
            <a:schemeClr val="accent1"/>
          </a:lnRef>
          <a:fillRef idx="0">
            <a:schemeClr val="accent1"/>
          </a:fillRef>
          <a:effectRef idx="1">
            <a:schemeClr val="accent1"/>
          </a:effectRef>
          <a:fontRef idx="minor">
            <a:schemeClr val="tx1"/>
          </a:fontRef>
        </p:style>
      </p:cxnSp>
      <p:sp>
        <p:nvSpPr>
          <p:cNvPr id="6" name="Content Placeholder 2">
            <a:extLst>
              <a:ext uri="{FF2B5EF4-FFF2-40B4-BE49-F238E27FC236}">
                <a16:creationId xmlns:a16="http://schemas.microsoft.com/office/drawing/2014/main" id="{C4BEC755-B4EB-6CFF-3D26-6842D469C42B}"/>
              </a:ext>
            </a:extLst>
          </p:cNvPr>
          <p:cNvSpPr txBox="1">
            <a:spLocks/>
          </p:cNvSpPr>
          <p:nvPr/>
        </p:nvSpPr>
        <p:spPr>
          <a:xfrm>
            <a:off x="638037" y="4243654"/>
            <a:ext cx="8044543" cy="64444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The setting in which synthetic controls works:</a:t>
            </a:r>
          </a:p>
          <a:p>
            <a:pPr marL="0" indent="0">
              <a:buFont typeface="Arial" panose="020B0604020202020204" pitchFamily="34" charset="0"/>
              <a:buNone/>
            </a:pPr>
            <a:endParaRPr lang="en-US" dirty="0"/>
          </a:p>
        </p:txBody>
      </p:sp>
      <p:grpSp>
        <p:nvGrpSpPr>
          <p:cNvPr id="62" name="Group 61">
            <a:extLst>
              <a:ext uri="{FF2B5EF4-FFF2-40B4-BE49-F238E27FC236}">
                <a16:creationId xmlns:a16="http://schemas.microsoft.com/office/drawing/2014/main" id="{40662A4E-A072-3A78-E345-D251222E091D}"/>
              </a:ext>
            </a:extLst>
          </p:cNvPr>
          <p:cNvGrpSpPr/>
          <p:nvPr/>
        </p:nvGrpSpPr>
        <p:grpSpPr>
          <a:xfrm>
            <a:off x="124416" y="4967141"/>
            <a:ext cx="6097978" cy="1371706"/>
            <a:chOff x="538530" y="1595082"/>
            <a:chExt cx="6097978" cy="1371706"/>
          </a:xfrm>
        </p:grpSpPr>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11FCEB89-7CDB-AE0A-1963-2A4217C415B4}"/>
                    </a:ext>
                  </a:extLst>
                </p:cNvPr>
                <p:cNvSpPr txBox="1"/>
                <p:nvPr/>
              </p:nvSpPr>
              <p:spPr>
                <a:xfrm>
                  <a:off x="538530" y="1595082"/>
                  <a:ext cx="6097978" cy="64633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3600" b="0" i="1" smtClean="0">
                                <a:solidFill>
                                  <a:schemeClr val="accent2"/>
                                </a:solidFill>
                                <a:latin typeface="Cambria Math" panose="02040503050406030204" pitchFamily="18" charset="0"/>
                              </a:rPr>
                            </m:ctrlPr>
                          </m:sSubPr>
                          <m:e>
                            <m:r>
                              <a:rPr lang="en-US" sz="3600" b="0" i="1" smtClean="0">
                                <a:solidFill>
                                  <a:schemeClr val="accent2"/>
                                </a:solidFill>
                                <a:latin typeface="Cambria Math" panose="02040503050406030204" pitchFamily="18" charset="0"/>
                              </a:rPr>
                              <m:t>𝑌</m:t>
                            </m:r>
                          </m:e>
                          <m:sub>
                            <m:r>
                              <a:rPr lang="en-US" sz="3600" b="0" i="1" smtClean="0">
                                <a:solidFill>
                                  <a:schemeClr val="accent2"/>
                                </a:solidFill>
                                <a:latin typeface="Cambria Math" panose="02040503050406030204" pitchFamily="18" charset="0"/>
                              </a:rPr>
                              <m:t>𝑖𝑡</m:t>
                            </m:r>
                          </m:sub>
                        </m:sSub>
                        <m:r>
                          <a:rPr lang="en-US" sz="3600" b="0" i="1" smtClean="0">
                            <a:latin typeface="Cambria Math" panose="02040503050406030204" pitchFamily="18" charset="0"/>
                          </a:rPr>
                          <m:t>=</m:t>
                        </m:r>
                        <m:sSub>
                          <m:sSubPr>
                            <m:ctrlPr>
                              <a:rPr lang="en-US" sz="3600" b="0" i="1" smtClean="0">
                                <a:solidFill>
                                  <a:schemeClr val="accent5"/>
                                </a:solidFill>
                                <a:latin typeface="Cambria Math" panose="02040503050406030204" pitchFamily="18" charset="0"/>
                              </a:rPr>
                            </m:ctrlPr>
                          </m:sSubPr>
                          <m:e>
                            <m:r>
                              <a:rPr lang="en-US" sz="3600" b="0" i="1" smtClean="0">
                                <a:solidFill>
                                  <a:schemeClr val="accent5"/>
                                </a:solidFill>
                                <a:latin typeface="Cambria Math" panose="02040503050406030204" pitchFamily="18" charset="0"/>
                              </a:rPr>
                              <m:t>𝜆</m:t>
                            </m:r>
                          </m:e>
                          <m:sub>
                            <m:r>
                              <a:rPr lang="en-US" sz="3600" b="0" i="1" smtClean="0">
                                <a:solidFill>
                                  <a:schemeClr val="accent5"/>
                                </a:solidFill>
                                <a:latin typeface="Cambria Math" panose="02040503050406030204" pitchFamily="18" charset="0"/>
                              </a:rPr>
                              <m:t>𝑡</m:t>
                            </m:r>
                          </m:sub>
                        </m:sSub>
                        <m:r>
                          <a:rPr lang="en-US" sz="3600" b="0" i="1" smtClean="0">
                            <a:latin typeface="Cambria Math" panose="02040503050406030204" pitchFamily="18" charset="0"/>
                          </a:rPr>
                          <m:t>+</m:t>
                        </m:r>
                        <m:sSub>
                          <m:sSubPr>
                            <m:ctrlPr>
                              <a:rPr lang="en-US" sz="3600" b="0" i="1" smtClean="0">
                                <a:solidFill>
                                  <a:schemeClr val="accent6"/>
                                </a:solidFill>
                                <a:latin typeface="Cambria Math" panose="02040503050406030204" pitchFamily="18" charset="0"/>
                              </a:rPr>
                            </m:ctrlPr>
                          </m:sSubPr>
                          <m:e>
                            <m:sSub>
                              <m:sSubPr>
                                <m:ctrlPr>
                                  <a:rPr lang="en-US" sz="3600" b="0" i="1" smtClean="0">
                                    <a:solidFill>
                                      <a:schemeClr val="accent6"/>
                                    </a:solidFill>
                                    <a:latin typeface="Cambria Math" panose="02040503050406030204" pitchFamily="18" charset="0"/>
                                  </a:rPr>
                                </m:ctrlPr>
                              </m:sSubPr>
                              <m:e>
                                <m:r>
                                  <a:rPr lang="en-US" sz="3600" b="0" i="1" smtClean="0">
                                    <a:solidFill>
                                      <a:schemeClr val="accent6"/>
                                    </a:solidFill>
                                    <a:latin typeface="Cambria Math" panose="02040503050406030204" pitchFamily="18" charset="0"/>
                                  </a:rPr>
                                  <m:t>𝛽</m:t>
                                </m:r>
                              </m:e>
                              <m:sub>
                                <m:r>
                                  <a:rPr lang="en-US" sz="3600" b="0" i="1" smtClean="0">
                                    <a:solidFill>
                                      <a:schemeClr val="accent6"/>
                                    </a:solidFill>
                                    <a:latin typeface="Cambria Math" panose="02040503050406030204" pitchFamily="18" charset="0"/>
                                  </a:rPr>
                                  <m:t>𝑡</m:t>
                                </m:r>
                              </m:sub>
                            </m:sSub>
                            <m:r>
                              <a:rPr lang="en-US" sz="3600" b="0" i="1" smtClean="0">
                                <a:solidFill>
                                  <a:schemeClr val="accent6"/>
                                </a:solidFill>
                                <a:latin typeface="Cambria Math" panose="02040503050406030204" pitchFamily="18" charset="0"/>
                              </a:rPr>
                              <m:t>⋅</m:t>
                            </m:r>
                            <m:r>
                              <a:rPr lang="en-US" sz="3600" b="0" i="1" smtClean="0">
                                <a:solidFill>
                                  <a:schemeClr val="accent6"/>
                                </a:solidFill>
                                <a:latin typeface="Cambria Math" panose="02040503050406030204" pitchFamily="18" charset="0"/>
                              </a:rPr>
                              <m:t>𝜇</m:t>
                            </m:r>
                          </m:e>
                          <m:sub>
                            <m:r>
                              <a:rPr lang="en-US" sz="3600" b="0" i="1" smtClean="0">
                                <a:solidFill>
                                  <a:schemeClr val="accent6"/>
                                </a:solidFill>
                                <a:latin typeface="Cambria Math" panose="02040503050406030204" pitchFamily="18" charset="0"/>
                              </a:rPr>
                              <m:t>𝑖</m:t>
                            </m:r>
                          </m:sub>
                        </m:sSub>
                        <m:r>
                          <a:rPr lang="en-US" sz="3600" b="0" i="1" smtClean="0">
                            <a:latin typeface="Cambria Math" panose="02040503050406030204" pitchFamily="18" charset="0"/>
                          </a:rPr>
                          <m:t>+</m:t>
                        </m:r>
                        <m:r>
                          <a:rPr lang="en-US" sz="3600" b="0" i="1" smtClean="0">
                            <a:solidFill>
                              <a:schemeClr val="accent4"/>
                            </a:solidFill>
                            <a:latin typeface="Cambria Math" panose="02040503050406030204" pitchFamily="18" charset="0"/>
                          </a:rPr>
                          <m:t>𝜏</m:t>
                        </m:r>
                        <m:r>
                          <a:rPr lang="en-US" sz="3600" b="0" i="1" smtClean="0">
                            <a:latin typeface="Cambria Math" panose="02040503050406030204" pitchFamily="18" charset="0"/>
                          </a:rPr>
                          <m:t>⋅</m:t>
                        </m:r>
                        <m:sSub>
                          <m:sSubPr>
                            <m:ctrlPr>
                              <a:rPr lang="en-US" sz="3600" b="0" i="1" smtClean="0">
                                <a:solidFill>
                                  <a:schemeClr val="accent1"/>
                                </a:solidFill>
                                <a:latin typeface="Cambria Math" panose="02040503050406030204" pitchFamily="18" charset="0"/>
                              </a:rPr>
                            </m:ctrlPr>
                          </m:sSubPr>
                          <m:e>
                            <m:r>
                              <a:rPr lang="en-US" sz="3600" b="0" i="1" smtClean="0">
                                <a:solidFill>
                                  <a:schemeClr val="accent1"/>
                                </a:solidFill>
                                <a:latin typeface="Cambria Math" panose="02040503050406030204" pitchFamily="18" charset="0"/>
                              </a:rPr>
                              <m:t>𝐷</m:t>
                            </m:r>
                          </m:e>
                          <m:sub>
                            <m:r>
                              <a:rPr lang="en-US" sz="3600" b="0" i="1" smtClean="0">
                                <a:solidFill>
                                  <a:schemeClr val="accent1"/>
                                </a:solidFill>
                                <a:latin typeface="Cambria Math" panose="02040503050406030204" pitchFamily="18" charset="0"/>
                              </a:rPr>
                              <m:t>𝑖𝑡</m:t>
                            </m:r>
                          </m:sub>
                        </m:sSub>
                      </m:oMath>
                    </m:oMathPara>
                  </a14:m>
                  <a:endParaRPr lang="en-US" sz="3600" dirty="0"/>
                </a:p>
              </p:txBody>
            </p:sp>
          </mc:Choice>
          <mc:Fallback xmlns="">
            <p:sp>
              <p:nvSpPr>
                <p:cNvPr id="48" name="TextBox 47">
                  <a:extLst>
                    <a:ext uri="{FF2B5EF4-FFF2-40B4-BE49-F238E27FC236}">
                      <a16:creationId xmlns:a16="http://schemas.microsoft.com/office/drawing/2014/main" id="{11FCEB89-7CDB-AE0A-1963-2A4217C415B4}"/>
                    </a:ext>
                  </a:extLst>
                </p:cNvPr>
                <p:cNvSpPr txBox="1">
                  <a:spLocks noRot="1" noChangeAspect="1" noMove="1" noResize="1" noEditPoints="1" noAdjustHandles="1" noChangeArrowheads="1" noChangeShapeType="1" noTextEdit="1"/>
                </p:cNvSpPr>
                <p:nvPr/>
              </p:nvSpPr>
              <p:spPr>
                <a:xfrm>
                  <a:off x="538530" y="1595082"/>
                  <a:ext cx="6097978" cy="646331"/>
                </a:xfrm>
                <a:prstGeom prst="rect">
                  <a:avLst/>
                </a:prstGeom>
                <a:blipFill>
                  <a:blip r:embed="rId3"/>
                  <a:stretch>
                    <a:fillRect b="-19231"/>
                  </a:stretch>
                </a:blipFill>
              </p:spPr>
              <p:txBody>
                <a:bodyPr/>
                <a:lstStyle/>
                <a:p>
                  <a:r>
                    <a:rPr lang="en-US">
                      <a:noFill/>
                    </a:rPr>
                    <a:t> </a:t>
                  </a:r>
                </a:p>
              </p:txBody>
            </p:sp>
          </mc:Fallback>
        </mc:AlternateContent>
        <p:sp>
          <p:nvSpPr>
            <p:cNvPr id="54" name="TextBox 53">
              <a:extLst>
                <a:ext uri="{FF2B5EF4-FFF2-40B4-BE49-F238E27FC236}">
                  <a16:creationId xmlns:a16="http://schemas.microsoft.com/office/drawing/2014/main" id="{9887C313-EA35-EFEC-DBFD-E078D4D11497}"/>
                </a:ext>
              </a:extLst>
            </p:cNvPr>
            <p:cNvSpPr txBox="1"/>
            <p:nvPr/>
          </p:nvSpPr>
          <p:spPr>
            <a:xfrm>
              <a:off x="2589929" y="2320457"/>
              <a:ext cx="2468471" cy="646331"/>
            </a:xfrm>
            <a:prstGeom prst="rect">
              <a:avLst/>
            </a:prstGeom>
            <a:noFill/>
          </p:spPr>
          <p:txBody>
            <a:bodyPr wrap="square" rtlCol="0">
              <a:spAutoFit/>
            </a:bodyPr>
            <a:lstStyle/>
            <a:p>
              <a:pPr algn="ctr"/>
              <a:r>
                <a:rPr lang="en-US" dirty="0">
                  <a:solidFill>
                    <a:schemeClr val="accent6"/>
                  </a:solidFill>
                </a:rPr>
                <a:t>Now this term gets to depend on time also! </a:t>
              </a:r>
            </a:p>
          </p:txBody>
        </p:sp>
      </p:grpSp>
      <p:grpSp>
        <p:nvGrpSpPr>
          <p:cNvPr id="63" name="Group 62">
            <a:extLst>
              <a:ext uri="{FF2B5EF4-FFF2-40B4-BE49-F238E27FC236}">
                <a16:creationId xmlns:a16="http://schemas.microsoft.com/office/drawing/2014/main" id="{CCE03A15-B703-75C9-67FA-4B9F22C5BD42}"/>
              </a:ext>
            </a:extLst>
          </p:cNvPr>
          <p:cNvGrpSpPr/>
          <p:nvPr/>
        </p:nvGrpSpPr>
        <p:grpSpPr>
          <a:xfrm>
            <a:off x="6485689" y="4422716"/>
            <a:ext cx="5696163" cy="2277394"/>
            <a:chOff x="1882588" y="2444038"/>
            <a:chExt cx="9077229" cy="3629185"/>
          </a:xfrm>
        </p:grpSpPr>
        <p:cxnSp>
          <p:nvCxnSpPr>
            <p:cNvPr id="64" name="Straight Arrow Connector 63">
              <a:extLst>
                <a:ext uri="{FF2B5EF4-FFF2-40B4-BE49-F238E27FC236}">
                  <a16:creationId xmlns:a16="http://schemas.microsoft.com/office/drawing/2014/main" id="{9849156D-A3B5-C163-5382-6E4A20902421}"/>
                </a:ext>
              </a:extLst>
            </p:cNvPr>
            <p:cNvCxnSpPr/>
            <p:nvPr/>
          </p:nvCxnSpPr>
          <p:spPr>
            <a:xfrm>
              <a:off x="1917354" y="5841995"/>
              <a:ext cx="7030399" cy="0"/>
            </a:xfrm>
            <a:prstGeom prst="straightConnector1">
              <a:avLst/>
            </a:prstGeom>
            <a:ln w="38100">
              <a:tailEnd type="triangle"/>
            </a:ln>
          </p:spPr>
          <p:style>
            <a:lnRef idx="2">
              <a:schemeClr val="accent1"/>
            </a:lnRef>
            <a:fillRef idx="0">
              <a:schemeClr val="accent1"/>
            </a:fillRef>
            <a:effectRef idx="1">
              <a:schemeClr val="accent1"/>
            </a:effectRef>
            <a:fontRef idx="minor">
              <a:schemeClr val="tx1"/>
            </a:fontRef>
          </p:style>
        </p:cxnSp>
        <p:cxnSp>
          <p:nvCxnSpPr>
            <p:cNvPr id="65" name="Straight Arrow Connector 64">
              <a:extLst>
                <a:ext uri="{FF2B5EF4-FFF2-40B4-BE49-F238E27FC236}">
                  <a16:creationId xmlns:a16="http://schemas.microsoft.com/office/drawing/2014/main" id="{A51C0EDC-4F99-8463-54F8-9650C9605395}"/>
                </a:ext>
              </a:extLst>
            </p:cNvPr>
            <p:cNvCxnSpPr>
              <a:cxnSpLocks/>
            </p:cNvCxnSpPr>
            <p:nvPr/>
          </p:nvCxnSpPr>
          <p:spPr>
            <a:xfrm flipV="1">
              <a:off x="1917354" y="2716306"/>
              <a:ext cx="0" cy="3125689"/>
            </a:xfrm>
            <a:prstGeom prst="straightConnector1">
              <a:avLst/>
            </a:prstGeom>
            <a:ln w="38100">
              <a:tailEnd type="triangle"/>
            </a:ln>
          </p:spPr>
          <p:style>
            <a:lnRef idx="2">
              <a:schemeClr val="accent1"/>
            </a:lnRef>
            <a:fillRef idx="0">
              <a:schemeClr val="accent1"/>
            </a:fillRef>
            <a:effectRef idx="1">
              <a:schemeClr val="accent1"/>
            </a:effectRef>
            <a:fontRef idx="minor">
              <a:schemeClr val="tx1"/>
            </a:fontRef>
          </p:style>
        </p:cxnSp>
        <p:cxnSp>
          <p:nvCxnSpPr>
            <p:cNvPr id="69" name="Straight Connector 68">
              <a:extLst>
                <a:ext uri="{FF2B5EF4-FFF2-40B4-BE49-F238E27FC236}">
                  <a16:creationId xmlns:a16="http://schemas.microsoft.com/office/drawing/2014/main" id="{CF2425E6-76C2-651B-5B69-E4751CC9BA6F}"/>
                </a:ext>
              </a:extLst>
            </p:cNvPr>
            <p:cNvCxnSpPr>
              <a:cxnSpLocks/>
            </p:cNvCxnSpPr>
            <p:nvPr/>
          </p:nvCxnSpPr>
          <p:spPr>
            <a:xfrm flipV="1">
              <a:off x="5413532" y="2444038"/>
              <a:ext cx="48199" cy="3629185"/>
            </a:xfrm>
            <a:prstGeom prst="line">
              <a:avLst/>
            </a:prstGeom>
            <a:ln>
              <a:solidFill>
                <a:schemeClr val="accent1"/>
              </a:solidFill>
              <a:prstDash val="sysDash"/>
            </a:ln>
          </p:spPr>
          <p:style>
            <a:lnRef idx="2">
              <a:schemeClr val="accent1"/>
            </a:lnRef>
            <a:fillRef idx="0">
              <a:schemeClr val="accent1"/>
            </a:fillRef>
            <a:effectRef idx="1">
              <a:schemeClr val="accent1"/>
            </a:effectRef>
            <a:fontRef idx="minor">
              <a:schemeClr val="tx1"/>
            </a:fontRef>
          </p:style>
        </p:cxnSp>
        <p:sp>
          <p:nvSpPr>
            <p:cNvPr id="71" name="Freeform 70">
              <a:extLst>
                <a:ext uri="{FF2B5EF4-FFF2-40B4-BE49-F238E27FC236}">
                  <a16:creationId xmlns:a16="http://schemas.microsoft.com/office/drawing/2014/main" id="{EA1FB716-57E8-2213-083F-8A0485F57078}"/>
                </a:ext>
              </a:extLst>
            </p:cNvPr>
            <p:cNvSpPr/>
            <p:nvPr/>
          </p:nvSpPr>
          <p:spPr>
            <a:xfrm>
              <a:off x="1882588" y="3931413"/>
              <a:ext cx="3563471" cy="955073"/>
            </a:xfrm>
            <a:custGeom>
              <a:avLst/>
              <a:gdLst>
                <a:gd name="connsiteX0" fmla="*/ 0 w 3563471"/>
                <a:gd name="connsiteY0" fmla="*/ 955073 h 955073"/>
                <a:gd name="connsiteX1" fmla="*/ 564777 w 3563471"/>
                <a:gd name="connsiteY1" fmla="*/ 457532 h 955073"/>
                <a:gd name="connsiteX2" fmla="*/ 927847 w 3563471"/>
                <a:gd name="connsiteY2" fmla="*/ 726473 h 955073"/>
                <a:gd name="connsiteX3" fmla="*/ 1815353 w 3563471"/>
                <a:gd name="connsiteY3" fmla="*/ 332 h 955073"/>
                <a:gd name="connsiteX4" fmla="*/ 2622177 w 3563471"/>
                <a:gd name="connsiteY4" fmla="*/ 632343 h 955073"/>
                <a:gd name="connsiteX5" fmla="*/ 3065930 w 3563471"/>
                <a:gd name="connsiteY5" fmla="*/ 618896 h 955073"/>
                <a:gd name="connsiteX6" fmla="*/ 3348318 w 3563471"/>
                <a:gd name="connsiteY6" fmla="*/ 107908 h 955073"/>
                <a:gd name="connsiteX7" fmla="*/ 3563471 w 3563471"/>
                <a:gd name="connsiteY7" fmla="*/ 309614 h 9550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63471" h="955073">
                  <a:moveTo>
                    <a:pt x="0" y="955073"/>
                  </a:moveTo>
                  <a:cubicBezTo>
                    <a:pt x="205068" y="725352"/>
                    <a:pt x="410136" y="495632"/>
                    <a:pt x="564777" y="457532"/>
                  </a:cubicBezTo>
                  <a:cubicBezTo>
                    <a:pt x="719418" y="419432"/>
                    <a:pt x="719418" y="802673"/>
                    <a:pt x="927847" y="726473"/>
                  </a:cubicBezTo>
                  <a:cubicBezTo>
                    <a:pt x="1136276" y="650273"/>
                    <a:pt x="1532965" y="16020"/>
                    <a:pt x="1815353" y="332"/>
                  </a:cubicBezTo>
                  <a:cubicBezTo>
                    <a:pt x="2097741" y="-15356"/>
                    <a:pt x="2413748" y="529249"/>
                    <a:pt x="2622177" y="632343"/>
                  </a:cubicBezTo>
                  <a:cubicBezTo>
                    <a:pt x="2830606" y="735437"/>
                    <a:pt x="2944907" y="706302"/>
                    <a:pt x="3065930" y="618896"/>
                  </a:cubicBezTo>
                  <a:cubicBezTo>
                    <a:pt x="3186953" y="531490"/>
                    <a:pt x="3265395" y="159455"/>
                    <a:pt x="3348318" y="107908"/>
                  </a:cubicBezTo>
                  <a:cubicBezTo>
                    <a:pt x="3431242" y="56361"/>
                    <a:pt x="3497356" y="182987"/>
                    <a:pt x="3563471" y="309614"/>
                  </a:cubicBezTo>
                </a:path>
              </a:pathLst>
            </a:custGeom>
            <a:noFill/>
            <a:ln w="3810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Freeform 71">
              <a:extLst>
                <a:ext uri="{FF2B5EF4-FFF2-40B4-BE49-F238E27FC236}">
                  <a16:creationId xmlns:a16="http://schemas.microsoft.com/office/drawing/2014/main" id="{196020B4-6B40-7DE3-DB8B-F403F7B7D6B7}"/>
                </a:ext>
              </a:extLst>
            </p:cNvPr>
            <p:cNvSpPr/>
            <p:nvPr/>
          </p:nvSpPr>
          <p:spPr>
            <a:xfrm>
              <a:off x="5432612" y="4249271"/>
              <a:ext cx="3684494" cy="1362889"/>
            </a:xfrm>
            <a:custGeom>
              <a:avLst/>
              <a:gdLst>
                <a:gd name="connsiteX0" fmla="*/ 0 w 3684494"/>
                <a:gd name="connsiteY0" fmla="*/ 0 h 1362889"/>
                <a:gd name="connsiteX1" fmla="*/ 242047 w 3684494"/>
                <a:gd name="connsiteY1" fmla="*/ 1210235 h 1362889"/>
                <a:gd name="connsiteX2" fmla="*/ 591670 w 3684494"/>
                <a:gd name="connsiteY2" fmla="*/ 1317811 h 1362889"/>
                <a:gd name="connsiteX3" fmla="*/ 995082 w 3684494"/>
                <a:gd name="connsiteY3" fmla="*/ 954741 h 1362889"/>
                <a:gd name="connsiteX4" fmla="*/ 1936376 w 3684494"/>
                <a:gd name="connsiteY4" fmla="*/ 1169894 h 1362889"/>
                <a:gd name="connsiteX5" fmla="*/ 2756647 w 3684494"/>
                <a:gd name="connsiteY5" fmla="*/ 685800 h 1362889"/>
                <a:gd name="connsiteX6" fmla="*/ 3684494 w 3684494"/>
                <a:gd name="connsiteY6" fmla="*/ 1250576 h 1362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84494" h="1362889">
                  <a:moveTo>
                    <a:pt x="0" y="0"/>
                  </a:moveTo>
                  <a:cubicBezTo>
                    <a:pt x="71717" y="495300"/>
                    <a:pt x="143435" y="990600"/>
                    <a:pt x="242047" y="1210235"/>
                  </a:cubicBezTo>
                  <a:cubicBezTo>
                    <a:pt x="340659" y="1429870"/>
                    <a:pt x="466164" y="1360393"/>
                    <a:pt x="591670" y="1317811"/>
                  </a:cubicBezTo>
                  <a:cubicBezTo>
                    <a:pt x="717176" y="1275229"/>
                    <a:pt x="770964" y="979394"/>
                    <a:pt x="995082" y="954741"/>
                  </a:cubicBezTo>
                  <a:cubicBezTo>
                    <a:pt x="1219200" y="930088"/>
                    <a:pt x="1642782" y="1214718"/>
                    <a:pt x="1936376" y="1169894"/>
                  </a:cubicBezTo>
                  <a:cubicBezTo>
                    <a:pt x="2229970" y="1125071"/>
                    <a:pt x="2465294" y="672353"/>
                    <a:pt x="2756647" y="685800"/>
                  </a:cubicBezTo>
                  <a:cubicBezTo>
                    <a:pt x="3048000" y="699247"/>
                    <a:pt x="3366247" y="974911"/>
                    <a:pt x="3684494" y="1250576"/>
                  </a:cubicBezTo>
                </a:path>
              </a:pathLst>
            </a:custGeom>
            <a:noFill/>
            <a:ln w="3810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TextBox 75">
              <a:extLst>
                <a:ext uri="{FF2B5EF4-FFF2-40B4-BE49-F238E27FC236}">
                  <a16:creationId xmlns:a16="http://schemas.microsoft.com/office/drawing/2014/main" id="{C35F7D56-13A1-6DA5-0539-3DA28FB1A3B5}"/>
                </a:ext>
              </a:extLst>
            </p:cNvPr>
            <p:cNvSpPr txBox="1"/>
            <p:nvPr/>
          </p:nvSpPr>
          <p:spPr>
            <a:xfrm>
              <a:off x="9117106" y="5357745"/>
              <a:ext cx="1842711" cy="588556"/>
            </a:xfrm>
            <a:prstGeom prst="rect">
              <a:avLst/>
            </a:prstGeom>
            <a:noFill/>
          </p:spPr>
          <p:txBody>
            <a:bodyPr wrap="none" rtlCol="0">
              <a:spAutoFit/>
            </a:bodyPr>
            <a:lstStyle/>
            <a:p>
              <a:r>
                <a:rPr lang="en-US" dirty="0">
                  <a:solidFill>
                    <a:schemeClr val="accent4"/>
                  </a:solidFill>
                </a:rPr>
                <a:t>California</a:t>
              </a:r>
            </a:p>
          </p:txBody>
        </p:sp>
      </p:grpSp>
      <p:sp>
        <p:nvSpPr>
          <p:cNvPr id="78" name="Freeform 77">
            <a:extLst>
              <a:ext uri="{FF2B5EF4-FFF2-40B4-BE49-F238E27FC236}">
                <a16:creationId xmlns:a16="http://schemas.microsoft.com/office/drawing/2014/main" id="{0CA545E6-C61D-936A-80C3-EB6C7263F51A}"/>
              </a:ext>
            </a:extLst>
          </p:cNvPr>
          <p:cNvSpPr/>
          <p:nvPr/>
        </p:nvSpPr>
        <p:spPr>
          <a:xfrm>
            <a:off x="6495803" y="2704076"/>
            <a:ext cx="4916384" cy="2912953"/>
          </a:xfrm>
          <a:custGeom>
            <a:avLst/>
            <a:gdLst>
              <a:gd name="connsiteX0" fmla="*/ 0 w 4916384"/>
              <a:gd name="connsiteY0" fmla="*/ 2912953 h 2912953"/>
              <a:gd name="connsiteX1" fmla="*/ 391885 w 4916384"/>
              <a:gd name="connsiteY1" fmla="*/ 2319186 h 2912953"/>
              <a:gd name="connsiteX2" fmla="*/ 581891 w 4916384"/>
              <a:gd name="connsiteY2" fmla="*/ 2437940 h 2912953"/>
              <a:gd name="connsiteX3" fmla="*/ 1128155 w 4916384"/>
              <a:gd name="connsiteY3" fmla="*/ 1891675 h 2912953"/>
              <a:gd name="connsiteX4" fmla="*/ 1531916 w 4916384"/>
              <a:gd name="connsiteY4" fmla="*/ 1986677 h 2912953"/>
              <a:gd name="connsiteX5" fmla="*/ 1805049 w 4916384"/>
              <a:gd name="connsiteY5" fmla="*/ 1891675 h 2912953"/>
              <a:gd name="connsiteX6" fmla="*/ 2090057 w 4916384"/>
              <a:gd name="connsiteY6" fmla="*/ 1452288 h 2912953"/>
              <a:gd name="connsiteX7" fmla="*/ 2291937 w 4916384"/>
              <a:gd name="connsiteY7" fmla="*/ 1487914 h 2912953"/>
              <a:gd name="connsiteX8" fmla="*/ 2565070 w 4916384"/>
              <a:gd name="connsiteY8" fmla="*/ 1487914 h 2912953"/>
              <a:gd name="connsiteX9" fmla="*/ 2897579 w 4916384"/>
              <a:gd name="connsiteY9" fmla="*/ 1024776 h 2912953"/>
              <a:gd name="connsiteX10" fmla="*/ 3230088 w 4916384"/>
              <a:gd name="connsiteY10" fmla="*/ 1060402 h 2912953"/>
              <a:gd name="connsiteX11" fmla="*/ 3871355 w 4916384"/>
              <a:gd name="connsiteY11" fmla="*/ 324132 h 2912953"/>
              <a:gd name="connsiteX12" fmla="*/ 4607626 w 4916384"/>
              <a:gd name="connsiteY12" fmla="*/ 15373 h 2912953"/>
              <a:gd name="connsiteX13" fmla="*/ 4916384 w 4916384"/>
              <a:gd name="connsiteY13" fmla="*/ 74750 h 29129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916384" h="2912953">
                <a:moveTo>
                  <a:pt x="0" y="2912953"/>
                </a:moveTo>
                <a:cubicBezTo>
                  <a:pt x="147451" y="2655654"/>
                  <a:pt x="294903" y="2398355"/>
                  <a:pt x="391885" y="2319186"/>
                </a:cubicBezTo>
                <a:cubicBezTo>
                  <a:pt x="488867" y="2240017"/>
                  <a:pt x="459179" y="2509192"/>
                  <a:pt x="581891" y="2437940"/>
                </a:cubicBezTo>
                <a:cubicBezTo>
                  <a:pt x="704603" y="2366688"/>
                  <a:pt x="969818" y="1966885"/>
                  <a:pt x="1128155" y="1891675"/>
                </a:cubicBezTo>
                <a:cubicBezTo>
                  <a:pt x="1286492" y="1816465"/>
                  <a:pt x="1419100" y="1986677"/>
                  <a:pt x="1531916" y="1986677"/>
                </a:cubicBezTo>
                <a:cubicBezTo>
                  <a:pt x="1644732" y="1986677"/>
                  <a:pt x="1712026" y="1980740"/>
                  <a:pt x="1805049" y="1891675"/>
                </a:cubicBezTo>
                <a:cubicBezTo>
                  <a:pt x="1898072" y="1802610"/>
                  <a:pt x="2008909" y="1519581"/>
                  <a:pt x="2090057" y="1452288"/>
                </a:cubicBezTo>
                <a:cubicBezTo>
                  <a:pt x="2171205" y="1384995"/>
                  <a:pt x="2212768" y="1481976"/>
                  <a:pt x="2291937" y="1487914"/>
                </a:cubicBezTo>
                <a:cubicBezTo>
                  <a:pt x="2371106" y="1493852"/>
                  <a:pt x="2464130" y="1565104"/>
                  <a:pt x="2565070" y="1487914"/>
                </a:cubicBezTo>
                <a:cubicBezTo>
                  <a:pt x="2666010" y="1410724"/>
                  <a:pt x="2786743" y="1096028"/>
                  <a:pt x="2897579" y="1024776"/>
                </a:cubicBezTo>
                <a:cubicBezTo>
                  <a:pt x="3008415" y="953524"/>
                  <a:pt x="3067792" y="1177176"/>
                  <a:pt x="3230088" y="1060402"/>
                </a:cubicBezTo>
                <a:cubicBezTo>
                  <a:pt x="3392384" y="943628"/>
                  <a:pt x="3641765" y="498303"/>
                  <a:pt x="3871355" y="324132"/>
                </a:cubicBezTo>
                <a:cubicBezTo>
                  <a:pt x="4100945" y="149961"/>
                  <a:pt x="4433454" y="56937"/>
                  <a:pt x="4607626" y="15373"/>
                </a:cubicBezTo>
                <a:cubicBezTo>
                  <a:pt x="4781798" y="-26191"/>
                  <a:pt x="4849091" y="24279"/>
                  <a:pt x="4916384" y="74750"/>
                </a:cubicBezTo>
              </a:path>
            </a:pathLst>
          </a:custGeom>
          <a:noFill/>
          <a:ln w="28575">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Freeform 78">
            <a:extLst>
              <a:ext uri="{FF2B5EF4-FFF2-40B4-BE49-F238E27FC236}">
                <a16:creationId xmlns:a16="http://schemas.microsoft.com/office/drawing/2014/main" id="{7E11320F-BC33-811C-653F-930DD3E7F91A}"/>
              </a:ext>
            </a:extLst>
          </p:cNvPr>
          <p:cNvSpPr/>
          <p:nvPr/>
        </p:nvSpPr>
        <p:spPr>
          <a:xfrm>
            <a:off x="6507505" y="5911559"/>
            <a:ext cx="4785755" cy="229099"/>
          </a:xfrm>
          <a:custGeom>
            <a:avLst/>
            <a:gdLst>
              <a:gd name="connsiteX0" fmla="*/ 0 w 4785755"/>
              <a:gd name="connsiteY0" fmla="*/ 193425 h 229099"/>
              <a:gd name="connsiteX1" fmla="*/ 225631 w 4785755"/>
              <a:gd name="connsiteY1" fmla="*/ 74672 h 229099"/>
              <a:gd name="connsiteX2" fmla="*/ 475013 w 4785755"/>
              <a:gd name="connsiteY2" fmla="*/ 169674 h 229099"/>
              <a:gd name="connsiteX3" fmla="*/ 724394 w 4785755"/>
              <a:gd name="connsiteY3" fmla="*/ 145924 h 229099"/>
              <a:gd name="connsiteX4" fmla="*/ 1068779 w 4785755"/>
              <a:gd name="connsiteY4" fmla="*/ 110298 h 229099"/>
              <a:gd name="connsiteX5" fmla="*/ 1496290 w 4785755"/>
              <a:gd name="connsiteY5" fmla="*/ 205300 h 229099"/>
              <a:gd name="connsiteX6" fmla="*/ 1816924 w 4785755"/>
              <a:gd name="connsiteY6" fmla="*/ 217176 h 229099"/>
              <a:gd name="connsiteX7" fmla="*/ 1947553 w 4785755"/>
              <a:gd name="connsiteY7" fmla="*/ 122173 h 229099"/>
              <a:gd name="connsiteX8" fmla="*/ 2220685 w 4785755"/>
              <a:gd name="connsiteY8" fmla="*/ 229051 h 229099"/>
              <a:gd name="connsiteX9" fmla="*/ 2493818 w 4785755"/>
              <a:gd name="connsiteY9" fmla="*/ 134048 h 229099"/>
              <a:gd name="connsiteX10" fmla="*/ 2743200 w 4785755"/>
              <a:gd name="connsiteY10" fmla="*/ 3420 h 229099"/>
              <a:gd name="connsiteX11" fmla="*/ 3253839 w 4785755"/>
              <a:gd name="connsiteY11" fmla="*/ 110298 h 229099"/>
              <a:gd name="connsiteX12" fmla="*/ 3420093 w 4785755"/>
              <a:gd name="connsiteY12" fmla="*/ 98423 h 229099"/>
              <a:gd name="connsiteX13" fmla="*/ 3740727 w 4785755"/>
              <a:gd name="connsiteY13" fmla="*/ 3420 h 229099"/>
              <a:gd name="connsiteX14" fmla="*/ 4025735 w 4785755"/>
              <a:gd name="connsiteY14" fmla="*/ 27171 h 229099"/>
              <a:gd name="connsiteX15" fmla="*/ 4465122 w 4785755"/>
              <a:gd name="connsiteY15" fmla="*/ 86547 h 229099"/>
              <a:gd name="connsiteX16" fmla="*/ 4785755 w 4785755"/>
              <a:gd name="connsiteY16" fmla="*/ 145924 h 2290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785755" h="229099">
                <a:moveTo>
                  <a:pt x="0" y="193425"/>
                </a:moveTo>
                <a:cubicBezTo>
                  <a:pt x="73231" y="136027"/>
                  <a:pt x="146462" y="78630"/>
                  <a:pt x="225631" y="74672"/>
                </a:cubicBezTo>
                <a:cubicBezTo>
                  <a:pt x="304800" y="70713"/>
                  <a:pt x="391886" y="157799"/>
                  <a:pt x="475013" y="169674"/>
                </a:cubicBezTo>
                <a:cubicBezTo>
                  <a:pt x="558140" y="181549"/>
                  <a:pt x="724394" y="145924"/>
                  <a:pt x="724394" y="145924"/>
                </a:cubicBezTo>
                <a:cubicBezTo>
                  <a:pt x="823355" y="136028"/>
                  <a:pt x="940130" y="100402"/>
                  <a:pt x="1068779" y="110298"/>
                </a:cubicBezTo>
                <a:cubicBezTo>
                  <a:pt x="1197428" y="120194"/>
                  <a:pt x="1371599" y="187487"/>
                  <a:pt x="1496290" y="205300"/>
                </a:cubicBezTo>
                <a:cubicBezTo>
                  <a:pt x="1620981" y="223113"/>
                  <a:pt x="1741714" y="231031"/>
                  <a:pt x="1816924" y="217176"/>
                </a:cubicBezTo>
                <a:cubicBezTo>
                  <a:pt x="1892135" y="203322"/>
                  <a:pt x="1880260" y="120194"/>
                  <a:pt x="1947553" y="122173"/>
                </a:cubicBezTo>
                <a:cubicBezTo>
                  <a:pt x="2014846" y="124152"/>
                  <a:pt x="2129641" y="227072"/>
                  <a:pt x="2220685" y="229051"/>
                </a:cubicBezTo>
                <a:cubicBezTo>
                  <a:pt x="2311729" y="231030"/>
                  <a:pt x="2406732" y="171653"/>
                  <a:pt x="2493818" y="134048"/>
                </a:cubicBezTo>
                <a:cubicBezTo>
                  <a:pt x="2580904" y="96443"/>
                  <a:pt x="2616530" y="7378"/>
                  <a:pt x="2743200" y="3420"/>
                </a:cubicBezTo>
                <a:cubicBezTo>
                  <a:pt x="2869870" y="-538"/>
                  <a:pt x="3141024" y="94464"/>
                  <a:pt x="3253839" y="110298"/>
                </a:cubicBezTo>
                <a:cubicBezTo>
                  <a:pt x="3366654" y="126132"/>
                  <a:pt x="3338945" y="116236"/>
                  <a:pt x="3420093" y="98423"/>
                </a:cubicBezTo>
                <a:cubicBezTo>
                  <a:pt x="3501241" y="80610"/>
                  <a:pt x="3639787" y="15295"/>
                  <a:pt x="3740727" y="3420"/>
                </a:cubicBezTo>
                <a:cubicBezTo>
                  <a:pt x="3841667" y="-8455"/>
                  <a:pt x="3905003" y="13316"/>
                  <a:pt x="4025735" y="27171"/>
                </a:cubicBezTo>
                <a:cubicBezTo>
                  <a:pt x="4146468" y="41025"/>
                  <a:pt x="4338452" y="66755"/>
                  <a:pt x="4465122" y="86547"/>
                </a:cubicBezTo>
                <a:cubicBezTo>
                  <a:pt x="4591792" y="106339"/>
                  <a:pt x="4688773" y="126131"/>
                  <a:pt x="4785755" y="145924"/>
                </a:cubicBezTo>
              </a:path>
            </a:pathLst>
          </a:custGeom>
          <a:noFill/>
          <a:ln w="3810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4956504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DDA3D1-058D-1D91-0290-29914D9577DB}"/>
              </a:ext>
            </a:extLst>
          </p:cNvPr>
          <p:cNvSpPr>
            <a:spLocks noGrp="1"/>
          </p:cNvSpPr>
          <p:nvPr>
            <p:ph type="title"/>
          </p:nvPr>
        </p:nvSpPr>
        <p:spPr/>
        <p:txBody>
          <a:bodyPr/>
          <a:lstStyle/>
          <a:p>
            <a:r>
              <a:rPr lang="en-US" dirty="0"/>
              <a:t>Matrix Completion vs. Synthetic Controls</a:t>
            </a:r>
          </a:p>
        </p:txBody>
      </p:sp>
      <p:sp>
        <p:nvSpPr>
          <p:cNvPr id="3" name="Content Placeholder 2">
            <a:extLst>
              <a:ext uri="{FF2B5EF4-FFF2-40B4-BE49-F238E27FC236}">
                <a16:creationId xmlns:a16="http://schemas.microsoft.com/office/drawing/2014/main" id="{418C3635-3C71-0856-77DB-046A2C1BB3C4}"/>
              </a:ext>
            </a:extLst>
          </p:cNvPr>
          <p:cNvSpPr>
            <a:spLocks noGrp="1"/>
          </p:cNvSpPr>
          <p:nvPr>
            <p:ph idx="1"/>
          </p:nvPr>
        </p:nvSpPr>
        <p:spPr>
          <a:xfrm>
            <a:off x="838200" y="1825625"/>
            <a:ext cx="10515600" cy="596847"/>
          </a:xfrm>
        </p:spPr>
        <p:txBody>
          <a:bodyPr/>
          <a:lstStyle/>
          <a:p>
            <a:r>
              <a:rPr lang="en-US" dirty="0"/>
              <a:t>Recall: Matrix completion.</a:t>
            </a:r>
          </a:p>
        </p:txBody>
      </p:sp>
      <p:sp>
        <p:nvSpPr>
          <p:cNvPr id="51" name="Content Placeholder 2">
            <a:extLst>
              <a:ext uri="{FF2B5EF4-FFF2-40B4-BE49-F238E27FC236}">
                <a16:creationId xmlns:a16="http://schemas.microsoft.com/office/drawing/2014/main" id="{24C3E58B-3BC6-4D80-7FE5-660D8B0310AF}"/>
              </a:ext>
            </a:extLst>
          </p:cNvPr>
          <p:cNvSpPr txBox="1">
            <a:spLocks/>
          </p:cNvSpPr>
          <p:nvPr/>
        </p:nvSpPr>
        <p:spPr>
          <a:xfrm>
            <a:off x="886380" y="5262417"/>
            <a:ext cx="10515600" cy="143751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Assumption: the data are approximately low-rank.</a:t>
            </a:r>
          </a:p>
          <a:p>
            <a:r>
              <a:rPr lang="en-US" dirty="0"/>
              <a:t>Use the low-rank model to predict the counter-</a:t>
            </a:r>
            <a:r>
              <a:rPr lang="en-US" dirty="0" err="1"/>
              <a:t>factuals</a:t>
            </a:r>
            <a:r>
              <a:rPr lang="en-US" dirty="0"/>
              <a:t> for CA</a:t>
            </a:r>
          </a:p>
        </p:txBody>
      </p:sp>
      <p:grpSp>
        <p:nvGrpSpPr>
          <p:cNvPr id="54" name="Group 53">
            <a:extLst>
              <a:ext uri="{FF2B5EF4-FFF2-40B4-BE49-F238E27FC236}">
                <a16:creationId xmlns:a16="http://schemas.microsoft.com/office/drawing/2014/main" id="{C154E54A-F552-5AAC-649D-3F12216D8CB6}"/>
              </a:ext>
            </a:extLst>
          </p:cNvPr>
          <p:cNvGrpSpPr/>
          <p:nvPr/>
        </p:nvGrpSpPr>
        <p:grpSpPr>
          <a:xfrm>
            <a:off x="1852630" y="2576045"/>
            <a:ext cx="6806772" cy="2282501"/>
            <a:chOff x="1852630" y="2576045"/>
            <a:chExt cx="6806772" cy="2282501"/>
          </a:xfrm>
        </p:grpSpPr>
        <mc:AlternateContent xmlns:mc="http://schemas.openxmlformats.org/markup-compatibility/2006" xmlns:a14="http://schemas.microsoft.com/office/drawing/2010/main">
          <mc:Choice Requires="a14">
            <p:sp>
              <p:nvSpPr>
                <p:cNvPr id="14" name="Rectangle 13">
                  <a:extLst>
                    <a:ext uri="{FF2B5EF4-FFF2-40B4-BE49-F238E27FC236}">
                      <a16:creationId xmlns:a16="http://schemas.microsoft.com/office/drawing/2014/main" id="{70AA33A4-DF20-0197-68C0-151C51297EFA}"/>
                    </a:ext>
                  </a:extLst>
                </p:cNvPr>
                <p:cNvSpPr/>
                <p:nvPr/>
              </p:nvSpPr>
              <p:spPr>
                <a:xfrm>
                  <a:off x="2778373" y="2895144"/>
                  <a:ext cx="590809" cy="1963402"/>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3200" b="0" i="1" dirty="0" smtClean="0">
                            <a:solidFill>
                              <a:schemeClr val="tx1"/>
                            </a:solidFill>
                            <a:latin typeface="Cambria Math" panose="02040503050406030204" pitchFamily="18" charset="0"/>
                          </a:rPr>
                          <m:t>𝑋</m:t>
                        </m:r>
                      </m:oMath>
                    </m:oMathPara>
                  </a14:m>
                  <a:endParaRPr lang="en-US" sz="1400" dirty="0">
                    <a:solidFill>
                      <a:schemeClr val="tx1"/>
                    </a:solidFill>
                  </a:endParaRPr>
                </a:p>
              </p:txBody>
            </p:sp>
          </mc:Choice>
          <mc:Fallback xmlns="">
            <p:sp>
              <p:nvSpPr>
                <p:cNvPr id="14" name="Rectangle 13">
                  <a:extLst>
                    <a:ext uri="{FF2B5EF4-FFF2-40B4-BE49-F238E27FC236}">
                      <a16:creationId xmlns:a16="http://schemas.microsoft.com/office/drawing/2014/main" id="{70AA33A4-DF20-0197-68C0-151C51297EFA}"/>
                    </a:ext>
                  </a:extLst>
                </p:cNvPr>
                <p:cNvSpPr>
                  <a:spLocks noRot="1" noChangeAspect="1" noMove="1" noResize="1" noEditPoints="1" noAdjustHandles="1" noChangeArrowheads="1" noChangeShapeType="1" noTextEdit="1"/>
                </p:cNvSpPr>
                <p:nvPr/>
              </p:nvSpPr>
              <p:spPr>
                <a:xfrm>
                  <a:off x="2778373" y="2895144"/>
                  <a:ext cx="590809" cy="1963402"/>
                </a:xfrm>
                <a:prstGeom prst="rect">
                  <a:avLst/>
                </a:prstGeom>
                <a:blipFill>
                  <a:blip r:embed="rId3"/>
                  <a:stretch>
                    <a:fillRect l="-204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Rectangle 14">
                  <a:extLst>
                    <a:ext uri="{FF2B5EF4-FFF2-40B4-BE49-F238E27FC236}">
                      <a16:creationId xmlns:a16="http://schemas.microsoft.com/office/drawing/2014/main" id="{2869643F-107E-7828-8F8B-EF1A7F731E46}"/>
                    </a:ext>
                  </a:extLst>
                </p:cNvPr>
                <p:cNvSpPr/>
                <p:nvPr/>
              </p:nvSpPr>
              <p:spPr>
                <a:xfrm>
                  <a:off x="3463735" y="2902249"/>
                  <a:ext cx="1780334" cy="545878"/>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𝐵</m:t>
                        </m:r>
                      </m:oMath>
                    </m:oMathPara>
                  </a14:m>
                  <a:endParaRPr lang="en-US" sz="1400" dirty="0">
                    <a:solidFill>
                      <a:schemeClr val="tx1"/>
                    </a:solidFill>
                  </a:endParaRPr>
                </a:p>
              </p:txBody>
            </p:sp>
          </mc:Choice>
          <mc:Fallback xmlns="">
            <p:sp>
              <p:nvSpPr>
                <p:cNvPr id="15" name="Rectangle 14">
                  <a:extLst>
                    <a:ext uri="{FF2B5EF4-FFF2-40B4-BE49-F238E27FC236}">
                      <a16:creationId xmlns:a16="http://schemas.microsoft.com/office/drawing/2014/main" id="{2869643F-107E-7828-8F8B-EF1A7F731E46}"/>
                    </a:ext>
                  </a:extLst>
                </p:cNvPr>
                <p:cNvSpPr>
                  <a:spLocks noRot="1" noChangeAspect="1" noMove="1" noResize="1" noEditPoints="1" noAdjustHandles="1" noChangeArrowheads="1" noChangeShapeType="1" noTextEdit="1"/>
                </p:cNvSpPr>
                <p:nvPr/>
              </p:nvSpPr>
              <p:spPr>
                <a:xfrm>
                  <a:off x="3463735" y="2902249"/>
                  <a:ext cx="1780334" cy="545878"/>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03FBFA3C-A987-A0B1-63D5-D8F2FCD0DBB5}"/>
                    </a:ext>
                  </a:extLst>
                </p:cNvPr>
                <p:cNvSpPr txBox="1"/>
                <p:nvPr/>
              </p:nvSpPr>
              <p:spPr>
                <a:xfrm>
                  <a:off x="5296324" y="2978852"/>
                  <a:ext cx="537267" cy="43088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m:t>
                        </m:r>
                      </m:oMath>
                    </m:oMathPara>
                  </a14:m>
                  <a:endParaRPr lang="en-US" sz="2800" dirty="0">
                    <a:solidFill>
                      <a:schemeClr val="tx1"/>
                    </a:solidFill>
                  </a:endParaRPr>
                </a:p>
              </p:txBody>
            </p:sp>
          </mc:Choice>
          <mc:Fallback xmlns="">
            <p:sp>
              <p:nvSpPr>
                <p:cNvPr id="16" name="TextBox 15">
                  <a:extLst>
                    <a:ext uri="{FF2B5EF4-FFF2-40B4-BE49-F238E27FC236}">
                      <a16:creationId xmlns:a16="http://schemas.microsoft.com/office/drawing/2014/main" id="{03FBFA3C-A987-A0B1-63D5-D8F2FCD0DBB5}"/>
                    </a:ext>
                  </a:extLst>
                </p:cNvPr>
                <p:cNvSpPr txBox="1">
                  <a:spLocks noRot="1" noChangeAspect="1" noMove="1" noResize="1" noEditPoints="1" noAdjustHandles="1" noChangeArrowheads="1" noChangeShapeType="1" noTextEdit="1"/>
                </p:cNvSpPr>
                <p:nvPr/>
              </p:nvSpPr>
              <p:spPr>
                <a:xfrm>
                  <a:off x="5296324" y="2978852"/>
                  <a:ext cx="537267" cy="430887"/>
                </a:xfrm>
                <a:prstGeom prst="rect">
                  <a:avLst/>
                </a:prstGeom>
                <a:blipFill>
                  <a:blip r:embed="rId5"/>
                  <a:stretch>
                    <a:fillRect/>
                  </a:stretch>
                </a:blipFill>
              </p:spPr>
              <p:txBody>
                <a:bodyPr/>
                <a:lstStyle/>
                <a:p>
                  <a:r>
                    <a:rPr lang="en-US">
                      <a:noFill/>
                    </a:rPr>
                    <a:t> </a:t>
                  </a:r>
                </a:p>
              </p:txBody>
            </p:sp>
          </mc:Fallback>
        </mc:AlternateContent>
        <p:grpSp>
          <p:nvGrpSpPr>
            <p:cNvPr id="17" name="Group 16">
              <a:extLst>
                <a:ext uri="{FF2B5EF4-FFF2-40B4-BE49-F238E27FC236}">
                  <a16:creationId xmlns:a16="http://schemas.microsoft.com/office/drawing/2014/main" id="{2D8FAD7C-93ED-0649-70F3-B1A77DFC9D81}"/>
                </a:ext>
              </a:extLst>
            </p:cNvPr>
            <p:cNvGrpSpPr/>
            <p:nvPr/>
          </p:nvGrpSpPr>
          <p:grpSpPr>
            <a:xfrm>
              <a:off x="6228146" y="2855601"/>
              <a:ext cx="2423063" cy="1963402"/>
              <a:chOff x="1846882" y="2597802"/>
              <a:chExt cx="4249118" cy="2693288"/>
            </a:xfrm>
          </p:grpSpPr>
          <p:sp>
            <p:nvSpPr>
              <p:cNvPr id="26" name="Rectangle 25">
                <a:extLst>
                  <a:ext uri="{FF2B5EF4-FFF2-40B4-BE49-F238E27FC236}">
                    <a16:creationId xmlns:a16="http://schemas.microsoft.com/office/drawing/2014/main" id="{E0F35772-57F0-EA22-2599-6BE4C5918FAD}"/>
                  </a:ext>
                </a:extLst>
              </p:cNvPr>
              <p:cNvSpPr/>
              <p:nvPr/>
            </p:nvSpPr>
            <p:spPr>
              <a:xfrm>
                <a:off x="1846882" y="2597802"/>
                <a:ext cx="4249118" cy="2693288"/>
              </a:xfrm>
              <a:prstGeom prst="rect">
                <a:avLst/>
              </a:prstGeom>
              <a:solidFill>
                <a:schemeClr val="bg1">
                  <a:lumMod val="8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dirty="0">
                  <a:solidFill>
                    <a:schemeClr val="tx1"/>
                  </a:solidFill>
                </a:endParaRPr>
              </a:p>
            </p:txBody>
          </p:sp>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3E0B7911-52BA-1C38-900F-113B4213B62C}"/>
                      </a:ext>
                    </a:extLst>
                  </p:cNvPr>
                  <p:cNvSpPr txBox="1"/>
                  <p:nvPr/>
                </p:nvSpPr>
                <p:spPr>
                  <a:xfrm>
                    <a:off x="1939778" y="2788225"/>
                    <a:ext cx="656857" cy="35252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600" b="0" i="1" smtClean="0">
                                  <a:solidFill>
                                    <a:schemeClr val="tx1"/>
                                  </a:solidFill>
                                  <a:latin typeface="Cambria Math" panose="02040503050406030204" pitchFamily="18" charset="0"/>
                                </a:rPr>
                              </m:ctrlPr>
                            </m:sSubPr>
                            <m:e>
                              <m:r>
                                <a:rPr lang="en-US" sz="1600" b="0" i="1" smtClean="0">
                                  <a:solidFill>
                                    <a:schemeClr val="tx1"/>
                                  </a:solidFill>
                                  <a:latin typeface="Cambria Math" panose="02040503050406030204" pitchFamily="18" charset="0"/>
                                </a:rPr>
                                <m:t>𝑌</m:t>
                              </m:r>
                            </m:e>
                            <m:sub>
                              <m:r>
                                <a:rPr lang="en-US" sz="1600" b="0" i="1" smtClean="0">
                                  <a:solidFill>
                                    <a:schemeClr val="tx1"/>
                                  </a:solidFill>
                                  <a:latin typeface="Cambria Math" panose="02040503050406030204" pitchFamily="18" charset="0"/>
                                </a:rPr>
                                <m:t>𝐴𝐿</m:t>
                              </m:r>
                              <m:r>
                                <a:rPr lang="en-US" sz="1600" b="0" i="1" smtClean="0">
                                  <a:solidFill>
                                    <a:schemeClr val="tx1"/>
                                  </a:solidFill>
                                  <a:latin typeface="Cambria Math" panose="02040503050406030204" pitchFamily="18" charset="0"/>
                                </a:rPr>
                                <m:t>,1</m:t>
                              </m:r>
                            </m:sub>
                          </m:sSub>
                        </m:oMath>
                      </m:oMathPara>
                    </a14:m>
                    <a:endParaRPr lang="en-US" sz="1600" dirty="0">
                      <a:solidFill>
                        <a:schemeClr val="tx1"/>
                      </a:solidFill>
                    </a:endParaRPr>
                  </a:p>
                </p:txBody>
              </p:sp>
            </mc:Choice>
            <mc:Fallback xmlns="">
              <p:sp>
                <p:nvSpPr>
                  <p:cNvPr id="27" name="TextBox 26">
                    <a:extLst>
                      <a:ext uri="{FF2B5EF4-FFF2-40B4-BE49-F238E27FC236}">
                        <a16:creationId xmlns:a16="http://schemas.microsoft.com/office/drawing/2014/main" id="{3E0B7911-52BA-1C38-900F-113B4213B62C}"/>
                      </a:ext>
                    </a:extLst>
                  </p:cNvPr>
                  <p:cNvSpPr txBox="1">
                    <a:spLocks noRot="1" noChangeAspect="1" noMove="1" noResize="1" noEditPoints="1" noAdjustHandles="1" noChangeArrowheads="1" noChangeShapeType="1" noTextEdit="1"/>
                  </p:cNvSpPr>
                  <p:nvPr/>
                </p:nvSpPr>
                <p:spPr>
                  <a:xfrm>
                    <a:off x="1939778" y="2788225"/>
                    <a:ext cx="656857" cy="352529"/>
                  </a:xfrm>
                  <a:prstGeom prst="rect">
                    <a:avLst/>
                  </a:prstGeom>
                  <a:blipFill>
                    <a:blip r:embed="rId6"/>
                    <a:stretch>
                      <a:fillRect l="-19355" r="-12903" b="-14286"/>
                    </a:stretch>
                  </a:blipFill>
                </p:spPr>
                <p:txBody>
                  <a:bodyPr/>
                  <a:lstStyle/>
                  <a:p>
                    <a:r>
                      <a:rPr lang="en-US">
                        <a:noFill/>
                      </a:rPr>
                      <a:t> </a:t>
                    </a:r>
                  </a:p>
                </p:txBody>
              </p:sp>
            </mc:Fallback>
          </mc:AlternateContent>
          <p:sp>
            <p:nvSpPr>
              <p:cNvPr id="28" name="TextBox 27">
                <a:extLst>
                  <a:ext uri="{FF2B5EF4-FFF2-40B4-BE49-F238E27FC236}">
                    <a16:creationId xmlns:a16="http://schemas.microsoft.com/office/drawing/2014/main" id="{54224E69-33DB-D8F2-ABC9-7662FA180586}"/>
                  </a:ext>
                </a:extLst>
              </p:cNvPr>
              <p:cNvSpPr txBox="1"/>
              <p:nvPr/>
            </p:nvSpPr>
            <p:spPr>
              <a:xfrm>
                <a:off x="5667213" y="2892741"/>
                <a:ext cx="258306" cy="422192"/>
              </a:xfrm>
              <a:prstGeom prst="rect">
                <a:avLst/>
              </a:prstGeom>
              <a:noFill/>
            </p:spPr>
            <p:txBody>
              <a:bodyPr wrap="square" rtlCol="0">
                <a:spAutoFit/>
              </a:bodyPr>
              <a:lstStyle/>
              <a:p>
                <a:endParaRPr lang="en-US" sz="1400" dirty="0"/>
              </a:p>
            </p:txBody>
          </p:sp>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0F79D566-6414-A1DB-8D42-00EBADC7D372}"/>
                      </a:ext>
                    </a:extLst>
                  </p:cNvPr>
                  <p:cNvSpPr txBox="1"/>
                  <p:nvPr/>
                </p:nvSpPr>
                <p:spPr>
                  <a:xfrm>
                    <a:off x="2692783" y="2788225"/>
                    <a:ext cx="656857" cy="35252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600" b="0" i="1" smtClean="0">
                                  <a:solidFill>
                                    <a:schemeClr val="tx1"/>
                                  </a:solidFill>
                                  <a:latin typeface="Cambria Math" panose="02040503050406030204" pitchFamily="18" charset="0"/>
                                </a:rPr>
                              </m:ctrlPr>
                            </m:sSubPr>
                            <m:e>
                              <m:r>
                                <a:rPr lang="en-US" sz="1600" b="0" i="1" smtClean="0">
                                  <a:solidFill>
                                    <a:schemeClr val="tx1"/>
                                  </a:solidFill>
                                  <a:latin typeface="Cambria Math" panose="02040503050406030204" pitchFamily="18" charset="0"/>
                                </a:rPr>
                                <m:t>𝑌</m:t>
                              </m:r>
                            </m:e>
                            <m:sub>
                              <m:r>
                                <a:rPr lang="en-US" sz="1600" b="0" i="1" smtClean="0">
                                  <a:solidFill>
                                    <a:schemeClr val="tx1"/>
                                  </a:solidFill>
                                  <a:latin typeface="Cambria Math" panose="02040503050406030204" pitchFamily="18" charset="0"/>
                                </a:rPr>
                                <m:t>𝐴𝐿</m:t>
                              </m:r>
                              <m:r>
                                <a:rPr lang="en-US" sz="1600" b="0" i="1" smtClean="0">
                                  <a:solidFill>
                                    <a:schemeClr val="tx1"/>
                                  </a:solidFill>
                                  <a:latin typeface="Cambria Math" panose="02040503050406030204" pitchFamily="18" charset="0"/>
                                </a:rPr>
                                <m:t>,2</m:t>
                              </m:r>
                            </m:sub>
                          </m:sSub>
                        </m:oMath>
                      </m:oMathPara>
                    </a14:m>
                    <a:endParaRPr lang="en-US" sz="1600" dirty="0">
                      <a:solidFill>
                        <a:schemeClr val="tx1"/>
                      </a:solidFill>
                    </a:endParaRPr>
                  </a:p>
                </p:txBody>
              </p:sp>
            </mc:Choice>
            <mc:Fallback xmlns="">
              <p:sp>
                <p:nvSpPr>
                  <p:cNvPr id="29" name="TextBox 28">
                    <a:extLst>
                      <a:ext uri="{FF2B5EF4-FFF2-40B4-BE49-F238E27FC236}">
                        <a16:creationId xmlns:a16="http://schemas.microsoft.com/office/drawing/2014/main" id="{0F79D566-6414-A1DB-8D42-00EBADC7D372}"/>
                      </a:ext>
                    </a:extLst>
                  </p:cNvPr>
                  <p:cNvSpPr txBox="1">
                    <a:spLocks noRot="1" noChangeAspect="1" noMove="1" noResize="1" noEditPoints="1" noAdjustHandles="1" noChangeArrowheads="1" noChangeShapeType="1" noTextEdit="1"/>
                  </p:cNvSpPr>
                  <p:nvPr/>
                </p:nvSpPr>
                <p:spPr>
                  <a:xfrm>
                    <a:off x="2692783" y="2788225"/>
                    <a:ext cx="656857" cy="352529"/>
                  </a:xfrm>
                  <a:prstGeom prst="rect">
                    <a:avLst/>
                  </a:prstGeom>
                  <a:blipFill>
                    <a:blip r:embed="rId7"/>
                    <a:stretch>
                      <a:fillRect l="-20000" r="-16667" b="-1428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410CA96D-02A3-643C-1994-0C1972ED3C0B}"/>
                      </a:ext>
                    </a:extLst>
                  </p:cNvPr>
                  <p:cNvSpPr txBox="1"/>
                  <p:nvPr/>
                </p:nvSpPr>
                <p:spPr>
                  <a:xfrm>
                    <a:off x="5179521" y="2788225"/>
                    <a:ext cx="656857" cy="35252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600" b="0" i="1" smtClean="0">
                                  <a:solidFill>
                                    <a:schemeClr val="tx1"/>
                                  </a:solidFill>
                                  <a:latin typeface="Cambria Math" panose="02040503050406030204" pitchFamily="18" charset="0"/>
                                </a:rPr>
                              </m:ctrlPr>
                            </m:sSubPr>
                            <m:e>
                              <m:r>
                                <a:rPr lang="en-US" sz="1600" b="0" i="1" smtClean="0">
                                  <a:solidFill>
                                    <a:schemeClr val="tx1"/>
                                  </a:solidFill>
                                  <a:latin typeface="Cambria Math" panose="02040503050406030204" pitchFamily="18" charset="0"/>
                                </a:rPr>
                                <m:t>𝑌</m:t>
                              </m:r>
                            </m:e>
                            <m:sub>
                              <m:r>
                                <a:rPr lang="en-US" sz="1600" b="0" i="1" smtClean="0">
                                  <a:solidFill>
                                    <a:schemeClr val="tx1"/>
                                  </a:solidFill>
                                  <a:latin typeface="Cambria Math" panose="02040503050406030204" pitchFamily="18" charset="0"/>
                                </a:rPr>
                                <m:t>𝐴𝐿</m:t>
                              </m:r>
                              <m:r>
                                <a:rPr lang="en-US" sz="1600" b="0" i="1" smtClean="0">
                                  <a:solidFill>
                                    <a:schemeClr val="tx1"/>
                                  </a:solidFill>
                                  <a:latin typeface="Cambria Math" panose="02040503050406030204" pitchFamily="18" charset="0"/>
                                </a:rPr>
                                <m:t>,</m:t>
                              </m:r>
                              <m:r>
                                <a:rPr lang="en-US" sz="1600" b="0" i="1" smtClean="0">
                                  <a:solidFill>
                                    <a:schemeClr val="tx1"/>
                                  </a:solidFill>
                                  <a:latin typeface="Cambria Math" panose="02040503050406030204" pitchFamily="18" charset="0"/>
                                </a:rPr>
                                <m:t>𝑇</m:t>
                              </m:r>
                            </m:sub>
                          </m:sSub>
                        </m:oMath>
                      </m:oMathPara>
                    </a14:m>
                    <a:endParaRPr lang="en-US" sz="1600" dirty="0">
                      <a:solidFill>
                        <a:schemeClr val="tx1"/>
                      </a:solidFill>
                    </a:endParaRPr>
                  </a:p>
                </p:txBody>
              </p:sp>
            </mc:Choice>
            <mc:Fallback xmlns="">
              <p:sp>
                <p:nvSpPr>
                  <p:cNvPr id="30" name="TextBox 29">
                    <a:extLst>
                      <a:ext uri="{FF2B5EF4-FFF2-40B4-BE49-F238E27FC236}">
                        <a16:creationId xmlns:a16="http://schemas.microsoft.com/office/drawing/2014/main" id="{410CA96D-02A3-643C-1994-0C1972ED3C0B}"/>
                      </a:ext>
                    </a:extLst>
                  </p:cNvPr>
                  <p:cNvSpPr txBox="1">
                    <a:spLocks noRot="1" noChangeAspect="1" noMove="1" noResize="1" noEditPoints="1" noAdjustHandles="1" noChangeArrowheads="1" noChangeShapeType="1" noTextEdit="1"/>
                  </p:cNvSpPr>
                  <p:nvPr/>
                </p:nvSpPr>
                <p:spPr>
                  <a:xfrm>
                    <a:off x="5179521" y="2788225"/>
                    <a:ext cx="656857" cy="352529"/>
                  </a:xfrm>
                  <a:prstGeom prst="rect">
                    <a:avLst/>
                  </a:prstGeom>
                  <a:blipFill>
                    <a:blip r:embed="rId8"/>
                    <a:stretch>
                      <a:fillRect l="-16129" r="-16129" b="-1428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98543270-48C5-9019-BE25-E83027D5E084}"/>
                      </a:ext>
                    </a:extLst>
                  </p:cNvPr>
                  <p:cNvSpPr txBox="1"/>
                  <p:nvPr/>
                </p:nvSpPr>
                <p:spPr>
                  <a:xfrm>
                    <a:off x="1972187" y="3265230"/>
                    <a:ext cx="656857" cy="35252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600" b="0" i="1" smtClean="0">
                                  <a:solidFill>
                                    <a:schemeClr val="tx1"/>
                                  </a:solidFill>
                                  <a:latin typeface="Cambria Math" panose="02040503050406030204" pitchFamily="18" charset="0"/>
                                </a:rPr>
                              </m:ctrlPr>
                            </m:sSubPr>
                            <m:e>
                              <m:r>
                                <a:rPr lang="en-US" sz="1600" b="0" i="1" smtClean="0">
                                  <a:solidFill>
                                    <a:schemeClr val="tx1"/>
                                  </a:solidFill>
                                  <a:latin typeface="Cambria Math" panose="02040503050406030204" pitchFamily="18" charset="0"/>
                                </a:rPr>
                                <m:t>𝑌</m:t>
                              </m:r>
                            </m:e>
                            <m:sub>
                              <m:r>
                                <a:rPr lang="en-US" sz="1600" b="0" i="1" smtClean="0">
                                  <a:solidFill>
                                    <a:schemeClr val="tx1"/>
                                  </a:solidFill>
                                  <a:latin typeface="Cambria Math" panose="02040503050406030204" pitchFamily="18" charset="0"/>
                                </a:rPr>
                                <m:t>𝐴𝐾</m:t>
                              </m:r>
                              <m:r>
                                <a:rPr lang="en-US" sz="1600" b="0" i="1" smtClean="0">
                                  <a:solidFill>
                                    <a:schemeClr val="tx1"/>
                                  </a:solidFill>
                                  <a:latin typeface="Cambria Math" panose="02040503050406030204" pitchFamily="18" charset="0"/>
                                </a:rPr>
                                <m:t>,1</m:t>
                              </m:r>
                            </m:sub>
                          </m:sSub>
                        </m:oMath>
                      </m:oMathPara>
                    </a14:m>
                    <a:endParaRPr lang="en-US" sz="1600" dirty="0">
                      <a:solidFill>
                        <a:schemeClr val="tx1"/>
                      </a:solidFill>
                    </a:endParaRPr>
                  </a:p>
                </p:txBody>
              </p:sp>
            </mc:Choice>
            <mc:Fallback xmlns="">
              <p:sp>
                <p:nvSpPr>
                  <p:cNvPr id="31" name="TextBox 30">
                    <a:extLst>
                      <a:ext uri="{FF2B5EF4-FFF2-40B4-BE49-F238E27FC236}">
                        <a16:creationId xmlns:a16="http://schemas.microsoft.com/office/drawing/2014/main" id="{98543270-48C5-9019-BE25-E83027D5E084}"/>
                      </a:ext>
                    </a:extLst>
                  </p:cNvPr>
                  <p:cNvSpPr txBox="1">
                    <a:spLocks noRot="1" noChangeAspect="1" noMove="1" noResize="1" noEditPoints="1" noAdjustHandles="1" noChangeArrowheads="1" noChangeShapeType="1" noTextEdit="1"/>
                  </p:cNvSpPr>
                  <p:nvPr/>
                </p:nvSpPr>
                <p:spPr>
                  <a:xfrm>
                    <a:off x="1972187" y="3265230"/>
                    <a:ext cx="656857" cy="352529"/>
                  </a:xfrm>
                  <a:prstGeom prst="rect">
                    <a:avLst/>
                  </a:prstGeom>
                  <a:blipFill>
                    <a:blip r:embed="rId9"/>
                    <a:stretch>
                      <a:fillRect l="-16129" r="-22581" b="-952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3545BFEA-E221-0DE8-776F-F0ACEC90257F}"/>
                      </a:ext>
                    </a:extLst>
                  </p:cNvPr>
                  <p:cNvSpPr txBox="1"/>
                  <p:nvPr/>
                </p:nvSpPr>
                <p:spPr>
                  <a:xfrm>
                    <a:off x="2725190" y="3265230"/>
                    <a:ext cx="656857" cy="35252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600" b="0" i="1" smtClean="0">
                                  <a:solidFill>
                                    <a:schemeClr val="tx1"/>
                                  </a:solidFill>
                                  <a:latin typeface="Cambria Math" panose="02040503050406030204" pitchFamily="18" charset="0"/>
                                </a:rPr>
                              </m:ctrlPr>
                            </m:sSubPr>
                            <m:e>
                              <m:r>
                                <a:rPr lang="en-US" sz="1600" b="0" i="1" smtClean="0">
                                  <a:solidFill>
                                    <a:schemeClr val="tx1"/>
                                  </a:solidFill>
                                  <a:latin typeface="Cambria Math" panose="02040503050406030204" pitchFamily="18" charset="0"/>
                                </a:rPr>
                                <m:t>𝑌</m:t>
                              </m:r>
                            </m:e>
                            <m:sub>
                              <m:r>
                                <a:rPr lang="en-US" sz="1600" b="0" i="1" smtClean="0">
                                  <a:solidFill>
                                    <a:schemeClr val="tx1"/>
                                  </a:solidFill>
                                  <a:latin typeface="Cambria Math" panose="02040503050406030204" pitchFamily="18" charset="0"/>
                                </a:rPr>
                                <m:t>𝐴𝐾</m:t>
                              </m:r>
                              <m:r>
                                <a:rPr lang="en-US" sz="1600" b="0" i="1" smtClean="0">
                                  <a:solidFill>
                                    <a:schemeClr val="tx1"/>
                                  </a:solidFill>
                                  <a:latin typeface="Cambria Math" panose="02040503050406030204" pitchFamily="18" charset="0"/>
                                </a:rPr>
                                <m:t>,2</m:t>
                              </m:r>
                            </m:sub>
                          </m:sSub>
                        </m:oMath>
                      </m:oMathPara>
                    </a14:m>
                    <a:endParaRPr lang="en-US" sz="1600" dirty="0">
                      <a:solidFill>
                        <a:schemeClr val="tx1"/>
                      </a:solidFill>
                    </a:endParaRPr>
                  </a:p>
                </p:txBody>
              </p:sp>
            </mc:Choice>
            <mc:Fallback xmlns="">
              <p:sp>
                <p:nvSpPr>
                  <p:cNvPr id="32" name="TextBox 31">
                    <a:extLst>
                      <a:ext uri="{FF2B5EF4-FFF2-40B4-BE49-F238E27FC236}">
                        <a16:creationId xmlns:a16="http://schemas.microsoft.com/office/drawing/2014/main" id="{3545BFEA-E221-0DE8-776F-F0ACEC90257F}"/>
                      </a:ext>
                    </a:extLst>
                  </p:cNvPr>
                  <p:cNvSpPr txBox="1">
                    <a:spLocks noRot="1" noChangeAspect="1" noMove="1" noResize="1" noEditPoints="1" noAdjustHandles="1" noChangeArrowheads="1" noChangeShapeType="1" noTextEdit="1"/>
                  </p:cNvSpPr>
                  <p:nvPr/>
                </p:nvSpPr>
                <p:spPr>
                  <a:xfrm>
                    <a:off x="2725190" y="3265230"/>
                    <a:ext cx="656857" cy="352529"/>
                  </a:xfrm>
                  <a:prstGeom prst="rect">
                    <a:avLst/>
                  </a:prstGeom>
                  <a:blipFill>
                    <a:blip r:embed="rId10"/>
                    <a:stretch>
                      <a:fillRect l="-16129" r="-19355" b="-952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0F865690-0ADF-0BB2-C600-AFD9646445F4}"/>
                      </a:ext>
                    </a:extLst>
                  </p:cNvPr>
                  <p:cNvSpPr txBox="1"/>
                  <p:nvPr/>
                </p:nvSpPr>
                <p:spPr>
                  <a:xfrm>
                    <a:off x="5211929" y="3265230"/>
                    <a:ext cx="656857" cy="35252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600" b="0" i="1" smtClean="0">
                                  <a:solidFill>
                                    <a:schemeClr val="tx1"/>
                                  </a:solidFill>
                                  <a:latin typeface="Cambria Math" panose="02040503050406030204" pitchFamily="18" charset="0"/>
                                </a:rPr>
                              </m:ctrlPr>
                            </m:sSubPr>
                            <m:e>
                              <m:r>
                                <a:rPr lang="en-US" sz="1600" b="0" i="1" smtClean="0">
                                  <a:solidFill>
                                    <a:schemeClr val="tx1"/>
                                  </a:solidFill>
                                  <a:latin typeface="Cambria Math" panose="02040503050406030204" pitchFamily="18" charset="0"/>
                                </a:rPr>
                                <m:t>𝑌</m:t>
                              </m:r>
                            </m:e>
                            <m:sub>
                              <m:r>
                                <a:rPr lang="en-US" sz="1600" b="0" i="1" smtClean="0">
                                  <a:solidFill>
                                    <a:schemeClr val="tx1"/>
                                  </a:solidFill>
                                  <a:latin typeface="Cambria Math" panose="02040503050406030204" pitchFamily="18" charset="0"/>
                                </a:rPr>
                                <m:t>𝐴𝐾</m:t>
                              </m:r>
                              <m:r>
                                <a:rPr lang="en-US" sz="1600" b="0" i="1" smtClean="0">
                                  <a:solidFill>
                                    <a:schemeClr val="tx1"/>
                                  </a:solidFill>
                                  <a:latin typeface="Cambria Math" panose="02040503050406030204" pitchFamily="18" charset="0"/>
                                </a:rPr>
                                <m:t>,</m:t>
                              </m:r>
                              <m:r>
                                <a:rPr lang="en-US" sz="1600" b="0" i="1" smtClean="0">
                                  <a:solidFill>
                                    <a:schemeClr val="tx1"/>
                                  </a:solidFill>
                                  <a:latin typeface="Cambria Math" panose="02040503050406030204" pitchFamily="18" charset="0"/>
                                </a:rPr>
                                <m:t>𝑇</m:t>
                              </m:r>
                            </m:sub>
                          </m:sSub>
                        </m:oMath>
                      </m:oMathPara>
                    </a14:m>
                    <a:endParaRPr lang="en-US" sz="1600" dirty="0">
                      <a:solidFill>
                        <a:schemeClr val="tx1"/>
                      </a:solidFill>
                    </a:endParaRPr>
                  </a:p>
                </p:txBody>
              </p:sp>
            </mc:Choice>
            <mc:Fallback xmlns="">
              <p:sp>
                <p:nvSpPr>
                  <p:cNvPr id="33" name="TextBox 32">
                    <a:extLst>
                      <a:ext uri="{FF2B5EF4-FFF2-40B4-BE49-F238E27FC236}">
                        <a16:creationId xmlns:a16="http://schemas.microsoft.com/office/drawing/2014/main" id="{0F865690-0ADF-0BB2-C600-AFD9646445F4}"/>
                      </a:ext>
                    </a:extLst>
                  </p:cNvPr>
                  <p:cNvSpPr txBox="1">
                    <a:spLocks noRot="1" noChangeAspect="1" noMove="1" noResize="1" noEditPoints="1" noAdjustHandles="1" noChangeArrowheads="1" noChangeShapeType="1" noTextEdit="1"/>
                  </p:cNvSpPr>
                  <p:nvPr/>
                </p:nvSpPr>
                <p:spPr>
                  <a:xfrm>
                    <a:off x="5211929" y="3265230"/>
                    <a:ext cx="656857" cy="352529"/>
                  </a:xfrm>
                  <a:prstGeom prst="rect">
                    <a:avLst/>
                  </a:prstGeom>
                  <a:blipFill>
                    <a:blip r:embed="rId11"/>
                    <a:stretch>
                      <a:fillRect l="-16129" r="-19355" b="-952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8B4AE9EE-66B5-F1BF-38D9-4217CED7076F}"/>
                      </a:ext>
                    </a:extLst>
                  </p:cNvPr>
                  <p:cNvSpPr txBox="1"/>
                  <p:nvPr/>
                </p:nvSpPr>
                <p:spPr>
                  <a:xfrm>
                    <a:off x="1972187" y="3802732"/>
                    <a:ext cx="656857" cy="35252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600" b="0" i="1" smtClean="0">
                                  <a:solidFill>
                                    <a:schemeClr val="tx1"/>
                                  </a:solidFill>
                                  <a:latin typeface="Cambria Math" panose="02040503050406030204" pitchFamily="18" charset="0"/>
                                </a:rPr>
                              </m:ctrlPr>
                            </m:sSubPr>
                            <m:e>
                              <m:r>
                                <a:rPr lang="en-US" sz="1600" b="0" i="1" smtClean="0">
                                  <a:solidFill>
                                    <a:schemeClr val="tx1"/>
                                  </a:solidFill>
                                  <a:latin typeface="Cambria Math" panose="02040503050406030204" pitchFamily="18" charset="0"/>
                                </a:rPr>
                                <m:t>𝑌</m:t>
                              </m:r>
                            </m:e>
                            <m:sub>
                              <m:r>
                                <a:rPr lang="en-US" sz="1600" b="0" i="1" smtClean="0">
                                  <a:solidFill>
                                    <a:schemeClr val="tx1"/>
                                  </a:solidFill>
                                  <a:latin typeface="Cambria Math" panose="02040503050406030204" pitchFamily="18" charset="0"/>
                                </a:rPr>
                                <m:t>𝐶𝐴</m:t>
                              </m:r>
                              <m:r>
                                <a:rPr lang="en-US" sz="1600" b="0" i="1" smtClean="0">
                                  <a:solidFill>
                                    <a:schemeClr val="tx1"/>
                                  </a:solidFill>
                                  <a:latin typeface="Cambria Math" panose="02040503050406030204" pitchFamily="18" charset="0"/>
                                </a:rPr>
                                <m:t>,1</m:t>
                              </m:r>
                            </m:sub>
                          </m:sSub>
                        </m:oMath>
                      </m:oMathPara>
                    </a14:m>
                    <a:endParaRPr lang="en-US" sz="1600" dirty="0">
                      <a:solidFill>
                        <a:schemeClr val="tx1"/>
                      </a:solidFill>
                    </a:endParaRPr>
                  </a:p>
                </p:txBody>
              </p:sp>
            </mc:Choice>
            <mc:Fallback xmlns="">
              <p:sp>
                <p:nvSpPr>
                  <p:cNvPr id="34" name="TextBox 33">
                    <a:extLst>
                      <a:ext uri="{FF2B5EF4-FFF2-40B4-BE49-F238E27FC236}">
                        <a16:creationId xmlns:a16="http://schemas.microsoft.com/office/drawing/2014/main" id="{8B4AE9EE-66B5-F1BF-38D9-4217CED7076F}"/>
                      </a:ext>
                    </a:extLst>
                  </p:cNvPr>
                  <p:cNvSpPr txBox="1">
                    <a:spLocks noRot="1" noChangeAspect="1" noMove="1" noResize="1" noEditPoints="1" noAdjustHandles="1" noChangeArrowheads="1" noChangeShapeType="1" noTextEdit="1"/>
                  </p:cNvSpPr>
                  <p:nvPr/>
                </p:nvSpPr>
                <p:spPr>
                  <a:xfrm>
                    <a:off x="1972187" y="3802732"/>
                    <a:ext cx="656857" cy="352529"/>
                  </a:xfrm>
                  <a:prstGeom prst="rect">
                    <a:avLst/>
                  </a:prstGeom>
                  <a:blipFill>
                    <a:blip r:embed="rId12"/>
                    <a:stretch>
                      <a:fillRect l="-16129" r="-19355" b="-952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A32F5335-5B2B-5726-9D3D-C563152CAF35}"/>
                      </a:ext>
                    </a:extLst>
                  </p:cNvPr>
                  <p:cNvSpPr txBox="1"/>
                  <p:nvPr/>
                </p:nvSpPr>
                <p:spPr>
                  <a:xfrm>
                    <a:off x="2725190" y="3802732"/>
                    <a:ext cx="656857" cy="35252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600" b="0" i="1" smtClean="0">
                                  <a:solidFill>
                                    <a:schemeClr val="tx1"/>
                                  </a:solidFill>
                                  <a:latin typeface="Cambria Math" panose="02040503050406030204" pitchFamily="18" charset="0"/>
                                </a:rPr>
                              </m:ctrlPr>
                            </m:sSubPr>
                            <m:e>
                              <m:r>
                                <a:rPr lang="en-US" sz="1600" b="0" i="1" smtClean="0">
                                  <a:solidFill>
                                    <a:schemeClr val="tx1"/>
                                  </a:solidFill>
                                  <a:latin typeface="Cambria Math" panose="02040503050406030204" pitchFamily="18" charset="0"/>
                                </a:rPr>
                                <m:t>𝑌</m:t>
                              </m:r>
                            </m:e>
                            <m:sub>
                              <m:r>
                                <a:rPr lang="en-US" sz="1600" b="0" i="1" smtClean="0">
                                  <a:solidFill>
                                    <a:schemeClr val="tx1"/>
                                  </a:solidFill>
                                  <a:latin typeface="Cambria Math" panose="02040503050406030204" pitchFamily="18" charset="0"/>
                                </a:rPr>
                                <m:t>𝐶𝐴</m:t>
                              </m:r>
                              <m:r>
                                <a:rPr lang="en-US" sz="1600" b="0" i="1" smtClean="0">
                                  <a:solidFill>
                                    <a:schemeClr val="tx1"/>
                                  </a:solidFill>
                                  <a:latin typeface="Cambria Math" panose="02040503050406030204" pitchFamily="18" charset="0"/>
                                </a:rPr>
                                <m:t>,2</m:t>
                              </m:r>
                            </m:sub>
                          </m:sSub>
                        </m:oMath>
                      </m:oMathPara>
                    </a14:m>
                    <a:endParaRPr lang="en-US" sz="1600" dirty="0">
                      <a:solidFill>
                        <a:schemeClr val="tx1"/>
                      </a:solidFill>
                    </a:endParaRPr>
                  </a:p>
                </p:txBody>
              </p:sp>
            </mc:Choice>
            <mc:Fallback xmlns="">
              <p:sp>
                <p:nvSpPr>
                  <p:cNvPr id="35" name="TextBox 34">
                    <a:extLst>
                      <a:ext uri="{FF2B5EF4-FFF2-40B4-BE49-F238E27FC236}">
                        <a16:creationId xmlns:a16="http://schemas.microsoft.com/office/drawing/2014/main" id="{A32F5335-5B2B-5726-9D3D-C563152CAF35}"/>
                      </a:ext>
                    </a:extLst>
                  </p:cNvPr>
                  <p:cNvSpPr txBox="1">
                    <a:spLocks noRot="1" noChangeAspect="1" noMove="1" noResize="1" noEditPoints="1" noAdjustHandles="1" noChangeArrowheads="1" noChangeShapeType="1" noTextEdit="1"/>
                  </p:cNvSpPr>
                  <p:nvPr/>
                </p:nvSpPr>
                <p:spPr>
                  <a:xfrm>
                    <a:off x="2725190" y="3802732"/>
                    <a:ext cx="656857" cy="352529"/>
                  </a:xfrm>
                  <a:prstGeom prst="rect">
                    <a:avLst/>
                  </a:prstGeom>
                  <a:blipFill>
                    <a:blip r:embed="rId13"/>
                    <a:stretch>
                      <a:fillRect l="-16129" r="-16129" b="-952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1DAB9EAD-2C18-A4AF-93D6-372B2A632AC8}"/>
                      </a:ext>
                    </a:extLst>
                  </p:cNvPr>
                  <p:cNvSpPr txBox="1"/>
                  <p:nvPr/>
                </p:nvSpPr>
                <p:spPr>
                  <a:xfrm>
                    <a:off x="5211929" y="3802732"/>
                    <a:ext cx="656857" cy="35252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600" b="0" i="1" smtClean="0">
                                  <a:solidFill>
                                    <a:schemeClr val="tx1"/>
                                  </a:solidFill>
                                  <a:latin typeface="Cambria Math" panose="02040503050406030204" pitchFamily="18" charset="0"/>
                                </a:rPr>
                              </m:ctrlPr>
                            </m:sSubPr>
                            <m:e>
                              <m:r>
                                <a:rPr lang="en-US" sz="1600" b="0" i="1" smtClean="0">
                                  <a:solidFill>
                                    <a:schemeClr val="tx1"/>
                                  </a:solidFill>
                                  <a:latin typeface="Cambria Math" panose="02040503050406030204" pitchFamily="18" charset="0"/>
                                </a:rPr>
                                <m:t>𝑌</m:t>
                              </m:r>
                            </m:e>
                            <m:sub>
                              <m:r>
                                <a:rPr lang="en-US" sz="1600" b="0" i="1" smtClean="0">
                                  <a:solidFill>
                                    <a:schemeClr val="tx1"/>
                                  </a:solidFill>
                                  <a:latin typeface="Cambria Math" panose="02040503050406030204" pitchFamily="18" charset="0"/>
                                </a:rPr>
                                <m:t>𝐶𝐴</m:t>
                              </m:r>
                              <m:r>
                                <a:rPr lang="en-US" sz="1600" b="0" i="1" smtClean="0">
                                  <a:solidFill>
                                    <a:schemeClr val="tx1"/>
                                  </a:solidFill>
                                  <a:latin typeface="Cambria Math" panose="02040503050406030204" pitchFamily="18" charset="0"/>
                                </a:rPr>
                                <m:t>,</m:t>
                              </m:r>
                              <m:r>
                                <a:rPr lang="en-US" sz="1600" b="0" i="1" smtClean="0">
                                  <a:solidFill>
                                    <a:schemeClr val="tx1"/>
                                  </a:solidFill>
                                  <a:latin typeface="Cambria Math" panose="02040503050406030204" pitchFamily="18" charset="0"/>
                                </a:rPr>
                                <m:t>𝑇</m:t>
                              </m:r>
                            </m:sub>
                          </m:sSub>
                        </m:oMath>
                      </m:oMathPara>
                    </a14:m>
                    <a:endParaRPr lang="en-US" sz="1600" dirty="0">
                      <a:solidFill>
                        <a:schemeClr val="tx1"/>
                      </a:solidFill>
                    </a:endParaRPr>
                  </a:p>
                </p:txBody>
              </p:sp>
            </mc:Choice>
            <mc:Fallback xmlns="">
              <p:sp>
                <p:nvSpPr>
                  <p:cNvPr id="36" name="TextBox 35">
                    <a:extLst>
                      <a:ext uri="{FF2B5EF4-FFF2-40B4-BE49-F238E27FC236}">
                        <a16:creationId xmlns:a16="http://schemas.microsoft.com/office/drawing/2014/main" id="{1DAB9EAD-2C18-A4AF-93D6-372B2A632AC8}"/>
                      </a:ext>
                    </a:extLst>
                  </p:cNvPr>
                  <p:cNvSpPr txBox="1">
                    <a:spLocks noRot="1" noChangeAspect="1" noMove="1" noResize="1" noEditPoints="1" noAdjustHandles="1" noChangeArrowheads="1" noChangeShapeType="1" noTextEdit="1"/>
                  </p:cNvSpPr>
                  <p:nvPr/>
                </p:nvSpPr>
                <p:spPr>
                  <a:xfrm>
                    <a:off x="5211929" y="3802732"/>
                    <a:ext cx="656857" cy="352529"/>
                  </a:xfrm>
                  <a:prstGeom prst="rect">
                    <a:avLst/>
                  </a:prstGeom>
                  <a:blipFill>
                    <a:blip r:embed="rId14"/>
                    <a:stretch>
                      <a:fillRect l="-16129" r="-19355" b="-952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B22AC132-7E15-9523-3374-428EF215261C}"/>
                      </a:ext>
                    </a:extLst>
                  </p:cNvPr>
                  <p:cNvSpPr txBox="1"/>
                  <p:nvPr/>
                </p:nvSpPr>
                <p:spPr>
                  <a:xfrm>
                    <a:off x="1977446" y="4810902"/>
                    <a:ext cx="656857" cy="35252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600" b="0" i="1" smtClean="0">
                                  <a:solidFill>
                                    <a:schemeClr val="tx1"/>
                                  </a:solidFill>
                                  <a:latin typeface="Cambria Math" panose="02040503050406030204" pitchFamily="18" charset="0"/>
                                </a:rPr>
                              </m:ctrlPr>
                            </m:sSubPr>
                            <m:e>
                              <m:r>
                                <a:rPr lang="en-US" sz="1600" b="0" i="1" smtClean="0">
                                  <a:solidFill>
                                    <a:schemeClr val="tx1"/>
                                  </a:solidFill>
                                  <a:latin typeface="Cambria Math" panose="02040503050406030204" pitchFamily="18" charset="0"/>
                                </a:rPr>
                                <m:t>𝑌</m:t>
                              </m:r>
                            </m:e>
                            <m:sub>
                              <m:r>
                                <a:rPr lang="en-US" sz="1600" b="0" i="1" smtClean="0">
                                  <a:solidFill>
                                    <a:schemeClr val="tx1"/>
                                  </a:solidFill>
                                  <a:latin typeface="Cambria Math" panose="02040503050406030204" pitchFamily="18" charset="0"/>
                                </a:rPr>
                                <m:t>𝑊𝑌</m:t>
                              </m:r>
                              <m:r>
                                <a:rPr lang="en-US" sz="1600" b="0" i="1" smtClean="0">
                                  <a:solidFill>
                                    <a:schemeClr val="tx1"/>
                                  </a:solidFill>
                                  <a:latin typeface="Cambria Math" panose="02040503050406030204" pitchFamily="18" charset="0"/>
                                </a:rPr>
                                <m:t>,1</m:t>
                              </m:r>
                            </m:sub>
                          </m:sSub>
                        </m:oMath>
                      </m:oMathPara>
                    </a14:m>
                    <a:endParaRPr lang="en-US" sz="1600" dirty="0">
                      <a:solidFill>
                        <a:schemeClr val="tx1"/>
                      </a:solidFill>
                    </a:endParaRPr>
                  </a:p>
                </p:txBody>
              </p:sp>
            </mc:Choice>
            <mc:Fallback xmlns="">
              <p:sp>
                <p:nvSpPr>
                  <p:cNvPr id="37" name="TextBox 36">
                    <a:extLst>
                      <a:ext uri="{FF2B5EF4-FFF2-40B4-BE49-F238E27FC236}">
                        <a16:creationId xmlns:a16="http://schemas.microsoft.com/office/drawing/2014/main" id="{B22AC132-7E15-9523-3374-428EF215261C}"/>
                      </a:ext>
                    </a:extLst>
                  </p:cNvPr>
                  <p:cNvSpPr txBox="1">
                    <a:spLocks noRot="1" noChangeAspect="1" noMove="1" noResize="1" noEditPoints="1" noAdjustHandles="1" noChangeArrowheads="1" noChangeShapeType="1" noTextEdit="1"/>
                  </p:cNvSpPr>
                  <p:nvPr/>
                </p:nvSpPr>
                <p:spPr>
                  <a:xfrm>
                    <a:off x="1977446" y="4810902"/>
                    <a:ext cx="656857" cy="352529"/>
                  </a:xfrm>
                  <a:prstGeom prst="rect">
                    <a:avLst/>
                  </a:prstGeom>
                  <a:blipFill>
                    <a:blip r:embed="rId15"/>
                    <a:stretch>
                      <a:fillRect l="-20000" r="-33333" b="-1428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4934F6B8-BC90-F10A-4186-3F0C46EC95CF}"/>
                      </a:ext>
                    </a:extLst>
                  </p:cNvPr>
                  <p:cNvSpPr txBox="1"/>
                  <p:nvPr/>
                </p:nvSpPr>
                <p:spPr>
                  <a:xfrm>
                    <a:off x="2730451" y="4810902"/>
                    <a:ext cx="656857" cy="35252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600" b="0" i="1" smtClean="0">
                                  <a:solidFill>
                                    <a:schemeClr val="tx1"/>
                                  </a:solidFill>
                                  <a:latin typeface="Cambria Math" panose="02040503050406030204" pitchFamily="18" charset="0"/>
                                </a:rPr>
                              </m:ctrlPr>
                            </m:sSubPr>
                            <m:e>
                              <m:r>
                                <a:rPr lang="en-US" sz="1600" b="0" i="1" smtClean="0">
                                  <a:solidFill>
                                    <a:schemeClr val="tx1"/>
                                  </a:solidFill>
                                  <a:latin typeface="Cambria Math" panose="02040503050406030204" pitchFamily="18" charset="0"/>
                                </a:rPr>
                                <m:t>𝑌</m:t>
                              </m:r>
                            </m:e>
                            <m:sub>
                              <m:r>
                                <a:rPr lang="en-US" sz="1600" b="0" i="1" smtClean="0">
                                  <a:solidFill>
                                    <a:schemeClr val="tx1"/>
                                  </a:solidFill>
                                  <a:latin typeface="Cambria Math" panose="02040503050406030204" pitchFamily="18" charset="0"/>
                                </a:rPr>
                                <m:t>𝑊𝑌</m:t>
                              </m:r>
                              <m:r>
                                <a:rPr lang="en-US" sz="1600" b="0" i="1" smtClean="0">
                                  <a:solidFill>
                                    <a:schemeClr val="tx1"/>
                                  </a:solidFill>
                                  <a:latin typeface="Cambria Math" panose="02040503050406030204" pitchFamily="18" charset="0"/>
                                </a:rPr>
                                <m:t>,2</m:t>
                              </m:r>
                            </m:sub>
                          </m:sSub>
                        </m:oMath>
                      </m:oMathPara>
                    </a14:m>
                    <a:endParaRPr lang="en-US" sz="1600" dirty="0">
                      <a:solidFill>
                        <a:schemeClr val="tx1"/>
                      </a:solidFill>
                    </a:endParaRPr>
                  </a:p>
                </p:txBody>
              </p:sp>
            </mc:Choice>
            <mc:Fallback xmlns="">
              <p:sp>
                <p:nvSpPr>
                  <p:cNvPr id="38" name="TextBox 37">
                    <a:extLst>
                      <a:ext uri="{FF2B5EF4-FFF2-40B4-BE49-F238E27FC236}">
                        <a16:creationId xmlns:a16="http://schemas.microsoft.com/office/drawing/2014/main" id="{4934F6B8-BC90-F10A-4186-3F0C46EC95CF}"/>
                      </a:ext>
                    </a:extLst>
                  </p:cNvPr>
                  <p:cNvSpPr txBox="1">
                    <a:spLocks noRot="1" noChangeAspect="1" noMove="1" noResize="1" noEditPoints="1" noAdjustHandles="1" noChangeArrowheads="1" noChangeShapeType="1" noTextEdit="1"/>
                  </p:cNvSpPr>
                  <p:nvPr/>
                </p:nvSpPr>
                <p:spPr>
                  <a:xfrm>
                    <a:off x="2730451" y="4810902"/>
                    <a:ext cx="656857" cy="352529"/>
                  </a:xfrm>
                  <a:prstGeom prst="rect">
                    <a:avLst/>
                  </a:prstGeom>
                  <a:blipFill>
                    <a:blip r:embed="rId16"/>
                    <a:stretch>
                      <a:fillRect l="-16129" r="-32258" b="-1428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5ADF3812-281C-8A7E-AC82-39FA7429B51F}"/>
                      </a:ext>
                    </a:extLst>
                  </p:cNvPr>
                  <p:cNvSpPr txBox="1"/>
                  <p:nvPr/>
                </p:nvSpPr>
                <p:spPr>
                  <a:xfrm>
                    <a:off x="5217188" y="4810902"/>
                    <a:ext cx="656857" cy="35252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600" b="0" i="1" smtClean="0">
                                  <a:solidFill>
                                    <a:schemeClr val="tx1"/>
                                  </a:solidFill>
                                  <a:latin typeface="Cambria Math" panose="02040503050406030204" pitchFamily="18" charset="0"/>
                                </a:rPr>
                              </m:ctrlPr>
                            </m:sSubPr>
                            <m:e>
                              <m:r>
                                <a:rPr lang="en-US" sz="1600" b="0" i="1" smtClean="0">
                                  <a:solidFill>
                                    <a:schemeClr val="tx1"/>
                                  </a:solidFill>
                                  <a:latin typeface="Cambria Math" panose="02040503050406030204" pitchFamily="18" charset="0"/>
                                </a:rPr>
                                <m:t>𝑌</m:t>
                              </m:r>
                            </m:e>
                            <m:sub>
                              <m:r>
                                <a:rPr lang="en-US" sz="1600" b="0" i="1" smtClean="0">
                                  <a:solidFill>
                                    <a:schemeClr val="tx1"/>
                                  </a:solidFill>
                                  <a:latin typeface="Cambria Math" panose="02040503050406030204" pitchFamily="18" charset="0"/>
                                </a:rPr>
                                <m:t>𝑊𝑌</m:t>
                              </m:r>
                              <m:r>
                                <a:rPr lang="en-US" sz="1600" b="0" i="1" smtClean="0">
                                  <a:solidFill>
                                    <a:schemeClr val="tx1"/>
                                  </a:solidFill>
                                  <a:latin typeface="Cambria Math" panose="02040503050406030204" pitchFamily="18" charset="0"/>
                                </a:rPr>
                                <m:t>,</m:t>
                              </m:r>
                              <m:r>
                                <a:rPr lang="en-US" sz="1600" b="0" i="1" smtClean="0">
                                  <a:solidFill>
                                    <a:schemeClr val="tx1"/>
                                  </a:solidFill>
                                  <a:latin typeface="Cambria Math" panose="02040503050406030204" pitchFamily="18" charset="0"/>
                                </a:rPr>
                                <m:t>𝑇</m:t>
                              </m:r>
                            </m:sub>
                          </m:sSub>
                        </m:oMath>
                      </m:oMathPara>
                    </a14:m>
                    <a:endParaRPr lang="en-US" sz="1600" dirty="0">
                      <a:solidFill>
                        <a:schemeClr val="tx1"/>
                      </a:solidFill>
                    </a:endParaRPr>
                  </a:p>
                </p:txBody>
              </p:sp>
            </mc:Choice>
            <mc:Fallback xmlns="">
              <p:sp>
                <p:nvSpPr>
                  <p:cNvPr id="39" name="TextBox 38">
                    <a:extLst>
                      <a:ext uri="{FF2B5EF4-FFF2-40B4-BE49-F238E27FC236}">
                        <a16:creationId xmlns:a16="http://schemas.microsoft.com/office/drawing/2014/main" id="{5ADF3812-281C-8A7E-AC82-39FA7429B51F}"/>
                      </a:ext>
                    </a:extLst>
                  </p:cNvPr>
                  <p:cNvSpPr txBox="1">
                    <a:spLocks noRot="1" noChangeAspect="1" noMove="1" noResize="1" noEditPoints="1" noAdjustHandles="1" noChangeArrowheads="1" noChangeShapeType="1" noTextEdit="1"/>
                  </p:cNvSpPr>
                  <p:nvPr/>
                </p:nvSpPr>
                <p:spPr>
                  <a:xfrm>
                    <a:off x="5217188" y="4810902"/>
                    <a:ext cx="656857" cy="352529"/>
                  </a:xfrm>
                  <a:prstGeom prst="rect">
                    <a:avLst/>
                  </a:prstGeom>
                  <a:blipFill>
                    <a:blip r:embed="rId17"/>
                    <a:stretch>
                      <a:fillRect l="-16129" r="-32258" b="-1428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B417758A-31F2-2CF2-44D9-0E1ECB29577F}"/>
                      </a:ext>
                    </a:extLst>
                  </p:cNvPr>
                  <p:cNvSpPr txBox="1"/>
                  <p:nvPr/>
                </p:nvSpPr>
                <p:spPr>
                  <a:xfrm>
                    <a:off x="2116562" y="4363343"/>
                    <a:ext cx="486873" cy="42219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400" b="0" i="1" smtClean="0">
                              <a:solidFill>
                                <a:schemeClr val="tx1"/>
                              </a:solidFill>
                              <a:latin typeface="Cambria Math" panose="02040503050406030204" pitchFamily="18" charset="0"/>
                            </a:rPr>
                            <m:t>⋮</m:t>
                          </m:r>
                        </m:oMath>
                      </m:oMathPara>
                    </a14:m>
                    <a:endParaRPr lang="en-US" sz="1400" dirty="0">
                      <a:solidFill>
                        <a:schemeClr val="tx1"/>
                      </a:solidFill>
                    </a:endParaRPr>
                  </a:p>
                </p:txBody>
              </p:sp>
            </mc:Choice>
            <mc:Fallback xmlns="">
              <p:sp>
                <p:nvSpPr>
                  <p:cNvPr id="40" name="TextBox 39">
                    <a:extLst>
                      <a:ext uri="{FF2B5EF4-FFF2-40B4-BE49-F238E27FC236}">
                        <a16:creationId xmlns:a16="http://schemas.microsoft.com/office/drawing/2014/main" id="{B417758A-31F2-2CF2-44D9-0E1ECB29577F}"/>
                      </a:ext>
                    </a:extLst>
                  </p:cNvPr>
                  <p:cNvSpPr txBox="1">
                    <a:spLocks noRot="1" noChangeAspect="1" noMove="1" noResize="1" noEditPoints="1" noAdjustHandles="1" noChangeArrowheads="1" noChangeShapeType="1" noTextEdit="1"/>
                  </p:cNvSpPr>
                  <p:nvPr/>
                </p:nvSpPr>
                <p:spPr>
                  <a:xfrm>
                    <a:off x="2116562" y="4363343"/>
                    <a:ext cx="486873" cy="422192"/>
                  </a:xfrm>
                  <a:prstGeom prst="rect">
                    <a:avLst/>
                  </a:prstGeom>
                  <a:blipFill>
                    <a:blip r:embed="rId1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63B750A4-45DE-BCE4-6480-34BDB203192B}"/>
                      </a:ext>
                    </a:extLst>
                  </p:cNvPr>
                  <p:cNvSpPr txBox="1"/>
                  <p:nvPr/>
                </p:nvSpPr>
                <p:spPr>
                  <a:xfrm>
                    <a:off x="5356304" y="4338169"/>
                    <a:ext cx="486873" cy="42219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400" b="0" i="1" smtClean="0">
                              <a:solidFill>
                                <a:schemeClr val="tx1"/>
                              </a:solidFill>
                              <a:latin typeface="Cambria Math" panose="02040503050406030204" pitchFamily="18" charset="0"/>
                            </a:rPr>
                            <m:t>⋮</m:t>
                          </m:r>
                        </m:oMath>
                      </m:oMathPara>
                    </a14:m>
                    <a:endParaRPr lang="en-US" sz="1400" dirty="0">
                      <a:solidFill>
                        <a:schemeClr val="tx1"/>
                      </a:solidFill>
                    </a:endParaRPr>
                  </a:p>
                </p:txBody>
              </p:sp>
            </mc:Choice>
            <mc:Fallback xmlns="">
              <p:sp>
                <p:nvSpPr>
                  <p:cNvPr id="41" name="TextBox 40">
                    <a:extLst>
                      <a:ext uri="{FF2B5EF4-FFF2-40B4-BE49-F238E27FC236}">
                        <a16:creationId xmlns:a16="http://schemas.microsoft.com/office/drawing/2014/main" id="{63B750A4-45DE-BCE4-6480-34BDB203192B}"/>
                      </a:ext>
                    </a:extLst>
                  </p:cNvPr>
                  <p:cNvSpPr txBox="1">
                    <a:spLocks noRot="1" noChangeAspect="1" noMove="1" noResize="1" noEditPoints="1" noAdjustHandles="1" noChangeArrowheads="1" noChangeShapeType="1" noTextEdit="1"/>
                  </p:cNvSpPr>
                  <p:nvPr/>
                </p:nvSpPr>
                <p:spPr>
                  <a:xfrm>
                    <a:off x="5356304" y="4338169"/>
                    <a:ext cx="486873" cy="422192"/>
                  </a:xfrm>
                  <a:prstGeom prst="rect">
                    <a:avLst/>
                  </a:prstGeom>
                  <a:blipFill>
                    <a:blip r:embed="rId1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3E4530C4-7D4B-F533-8414-6FC5D100DF1C}"/>
                      </a:ext>
                    </a:extLst>
                  </p:cNvPr>
                  <p:cNvSpPr txBox="1"/>
                  <p:nvPr/>
                </p:nvSpPr>
                <p:spPr>
                  <a:xfrm>
                    <a:off x="3804922" y="2798885"/>
                    <a:ext cx="850773" cy="42219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400" i="1" smtClean="0">
                              <a:solidFill>
                                <a:schemeClr val="tx1"/>
                              </a:solidFill>
                              <a:latin typeface="Cambria Math" panose="02040503050406030204" pitchFamily="18" charset="0"/>
                            </a:rPr>
                            <m:t>⋯</m:t>
                          </m:r>
                        </m:oMath>
                      </m:oMathPara>
                    </a14:m>
                    <a:endParaRPr lang="en-US" sz="1400" dirty="0">
                      <a:solidFill>
                        <a:schemeClr val="tx1"/>
                      </a:solidFill>
                    </a:endParaRPr>
                  </a:p>
                </p:txBody>
              </p:sp>
            </mc:Choice>
            <mc:Fallback xmlns="">
              <p:sp>
                <p:nvSpPr>
                  <p:cNvPr id="42" name="TextBox 41">
                    <a:extLst>
                      <a:ext uri="{FF2B5EF4-FFF2-40B4-BE49-F238E27FC236}">
                        <a16:creationId xmlns:a16="http://schemas.microsoft.com/office/drawing/2014/main" id="{3E4530C4-7D4B-F533-8414-6FC5D100DF1C}"/>
                      </a:ext>
                    </a:extLst>
                  </p:cNvPr>
                  <p:cNvSpPr txBox="1">
                    <a:spLocks noRot="1" noChangeAspect="1" noMove="1" noResize="1" noEditPoints="1" noAdjustHandles="1" noChangeArrowheads="1" noChangeShapeType="1" noTextEdit="1"/>
                  </p:cNvSpPr>
                  <p:nvPr/>
                </p:nvSpPr>
                <p:spPr>
                  <a:xfrm>
                    <a:off x="3804922" y="2798885"/>
                    <a:ext cx="850773" cy="422192"/>
                  </a:xfrm>
                  <a:prstGeom prst="rect">
                    <a:avLst/>
                  </a:prstGeom>
                  <a:blipFill>
                    <a:blip r:embed="rId2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A8B3D830-DF62-E142-985A-65DB53ACA6E5}"/>
                      </a:ext>
                    </a:extLst>
                  </p:cNvPr>
                  <p:cNvSpPr txBox="1"/>
                  <p:nvPr/>
                </p:nvSpPr>
                <p:spPr>
                  <a:xfrm>
                    <a:off x="3799342" y="4829425"/>
                    <a:ext cx="850773" cy="42219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400" i="1" smtClean="0">
                              <a:solidFill>
                                <a:schemeClr val="tx1"/>
                              </a:solidFill>
                              <a:latin typeface="Cambria Math" panose="02040503050406030204" pitchFamily="18" charset="0"/>
                            </a:rPr>
                            <m:t>⋯</m:t>
                          </m:r>
                        </m:oMath>
                      </m:oMathPara>
                    </a14:m>
                    <a:endParaRPr lang="en-US" sz="1400" dirty="0">
                      <a:solidFill>
                        <a:schemeClr val="tx1"/>
                      </a:solidFill>
                    </a:endParaRPr>
                  </a:p>
                </p:txBody>
              </p:sp>
            </mc:Choice>
            <mc:Fallback xmlns="">
              <p:sp>
                <p:nvSpPr>
                  <p:cNvPr id="43" name="TextBox 42">
                    <a:extLst>
                      <a:ext uri="{FF2B5EF4-FFF2-40B4-BE49-F238E27FC236}">
                        <a16:creationId xmlns:a16="http://schemas.microsoft.com/office/drawing/2014/main" id="{A8B3D830-DF62-E142-985A-65DB53ACA6E5}"/>
                      </a:ext>
                    </a:extLst>
                  </p:cNvPr>
                  <p:cNvSpPr txBox="1">
                    <a:spLocks noRot="1" noChangeAspect="1" noMove="1" noResize="1" noEditPoints="1" noAdjustHandles="1" noChangeArrowheads="1" noChangeShapeType="1" noTextEdit="1"/>
                  </p:cNvSpPr>
                  <p:nvPr/>
                </p:nvSpPr>
                <p:spPr>
                  <a:xfrm>
                    <a:off x="3799342" y="4829425"/>
                    <a:ext cx="850773" cy="422192"/>
                  </a:xfrm>
                  <a:prstGeom prst="rect">
                    <a:avLst/>
                  </a:prstGeom>
                  <a:blipFill>
                    <a:blip r:embed="rId21"/>
                    <a:stretch>
                      <a:fillRect/>
                    </a:stretch>
                  </a:blipFill>
                </p:spPr>
                <p:txBody>
                  <a:bodyPr/>
                  <a:lstStyle/>
                  <a:p>
                    <a:r>
                      <a:rPr lang="en-US">
                        <a:noFill/>
                      </a:rPr>
                      <a:t> </a:t>
                    </a:r>
                  </a:p>
                </p:txBody>
              </p:sp>
            </mc:Fallback>
          </mc:AlternateContent>
        </p:grpSp>
        <p:sp>
          <p:nvSpPr>
            <p:cNvPr id="20" name="TextBox 19">
              <a:extLst>
                <a:ext uri="{FF2B5EF4-FFF2-40B4-BE49-F238E27FC236}">
                  <a16:creationId xmlns:a16="http://schemas.microsoft.com/office/drawing/2014/main" id="{9CDB8D01-9E14-475C-532F-90615E4B0D53}"/>
                </a:ext>
              </a:extLst>
            </p:cNvPr>
            <p:cNvSpPr txBox="1"/>
            <p:nvPr/>
          </p:nvSpPr>
          <p:spPr>
            <a:xfrm>
              <a:off x="6144180" y="2596742"/>
              <a:ext cx="596894" cy="261610"/>
            </a:xfrm>
            <a:prstGeom prst="rect">
              <a:avLst/>
            </a:prstGeom>
            <a:noFill/>
          </p:spPr>
          <p:txBody>
            <a:bodyPr wrap="square" rtlCol="0">
              <a:spAutoFit/>
            </a:bodyPr>
            <a:lstStyle/>
            <a:p>
              <a:pPr algn="r"/>
              <a:r>
                <a:rPr lang="en-US" sz="1100" dirty="0"/>
                <a:t>1970</a:t>
              </a:r>
            </a:p>
          </p:txBody>
        </p:sp>
        <p:sp>
          <p:nvSpPr>
            <p:cNvPr id="21" name="TextBox 20">
              <a:extLst>
                <a:ext uri="{FF2B5EF4-FFF2-40B4-BE49-F238E27FC236}">
                  <a16:creationId xmlns:a16="http://schemas.microsoft.com/office/drawing/2014/main" id="{EE2D3EC7-E6A0-046E-9C70-BBFC5C231609}"/>
                </a:ext>
              </a:extLst>
            </p:cNvPr>
            <p:cNvSpPr txBox="1"/>
            <p:nvPr/>
          </p:nvSpPr>
          <p:spPr>
            <a:xfrm>
              <a:off x="6554881" y="2580531"/>
              <a:ext cx="596894" cy="261610"/>
            </a:xfrm>
            <a:prstGeom prst="rect">
              <a:avLst/>
            </a:prstGeom>
            <a:noFill/>
          </p:spPr>
          <p:txBody>
            <a:bodyPr wrap="square" rtlCol="0">
              <a:spAutoFit/>
            </a:bodyPr>
            <a:lstStyle/>
            <a:p>
              <a:pPr algn="r"/>
              <a:r>
                <a:rPr lang="en-US" sz="1100" dirty="0"/>
                <a:t>1971</a:t>
              </a:r>
            </a:p>
          </p:txBody>
        </p:sp>
        <p:sp>
          <p:nvSpPr>
            <p:cNvPr id="22" name="TextBox 21">
              <a:extLst>
                <a:ext uri="{FF2B5EF4-FFF2-40B4-BE49-F238E27FC236}">
                  <a16:creationId xmlns:a16="http://schemas.microsoft.com/office/drawing/2014/main" id="{ED39937E-A05C-55DF-3971-173B4100F786}"/>
                </a:ext>
              </a:extLst>
            </p:cNvPr>
            <p:cNvSpPr txBox="1"/>
            <p:nvPr/>
          </p:nvSpPr>
          <p:spPr>
            <a:xfrm>
              <a:off x="8027657" y="2588190"/>
              <a:ext cx="596894" cy="261610"/>
            </a:xfrm>
            <a:prstGeom prst="rect">
              <a:avLst/>
            </a:prstGeom>
            <a:noFill/>
          </p:spPr>
          <p:txBody>
            <a:bodyPr wrap="square" rtlCol="0">
              <a:spAutoFit/>
            </a:bodyPr>
            <a:lstStyle/>
            <a:p>
              <a:pPr algn="r"/>
              <a:r>
                <a:rPr lang="en-US" sz="1100" dirty="0"/>
                <a:t>2000</a:t>
              </a:r>
            </a:p>
          </p:txBody>
        </p:sp>
        <p:sp>
          <p:nvSpPr>
            <p:cNvPr id="6" name="TextBox 5">
              <a:extLst>
                <a:ext uri="{FF2B5EF4-FFF2-40B4-BE49-F238E27FC236}">
                  <a16:creationId xmlns:a16="http://schemas.microsoft.com/office/drawing/2014/main" id="{41D99647-6B2F-1C13-93D4-F6F097613DA1}"/>
                </a:ext>
              </a:extLst>
            </p:cNvPr>
            <p:cNvSpPr txBox="1"/>
            <p:nvPr/>
          </p:nvSpPr>
          <p:spPr>
            <a:xfrm>
              <a:off x="2396965" y="4604630"/>
              <a:ext cx="377026" cy="253916"/>
            </a:xfrm>
            <a:prstGeom prst="rect">
              <a:avLst/>
            </a:prstGeom>
            <a:solidFill>
              <a:schemeClr val="bg1"/>
            </a:solidFill>
          </p:spPr>
          <p:txBody>
            <a:bodyPr wrap="none" rtlCol="0">
              <a:spAutoFit/>
            </a:bodyPr>
            <a:lstStyle/>
            <a:p>
              <a:r>
                <a:rPr lang="en-US" sz="1050" dirty="0"/>
                <a:t>WY</a:t>
              </a:r>
            </a:p>
          </p:txBody>
        </p:sp>
        <p:sp>
          <p:nvSpPr>
            <p:cNvPr id="8" name="TextBox 7">
              <a:extLst>
                <a:ext uri="{FF2B5EF4-FFF2-40B4-BE49-F238E27FC236}">
                  <a16:creationId xmlns:a16="http://schemas.microsoft.com/office/drawing/2014/main" id="{C39C69E2-F71C-8696-0539-75B8E0983B8C}"/>
                </a:ext>
              </a:extLst>
            </p:cNvPr>
            <p:cNvSpPr txBox="1"/>
            <p:nvPr/>
          </p:nvSpPr>
          <p:spPr>
            <a:xfrm>
              <a:off x="1867431" y="2838434"/>
              <a:ext cx="877660" cy="261610"/>
            </a:xfrm>
            <a:prstGeom prst="rect">
              <a:avLst/>
            </a:prstGeom>
            <a:solidFill>
              <a:schemeClr val="bg1"/>
            </a:solidFill>
          </p:spPr>
          <p:txBody>
            <a:bodyPr wrap="square" rtlCol="0">
              <a:spAutoFit/>
            </a:bodyPr>
            <a:lstStyle/>
            <a:p>
              <a:pPr algn="r"/>
              <a:r>
                <a:rPr lang="en-US" sz="1050" dirty="0"/>
                <a:t>AL</a:t>
              </a:r>
            </a:p>
          </p:txBody>
        </p:sp>
        <p:sp>
          <p:nvSpPr>
            <p:cNvPr id="11" name="TextBox 10">
              <a:extLst>
                <a:ext uri="{FF2B5EF4-FFF2-40B4-BE49-F238E27FC236}">
                  <a16:creationId xmlns:a16="http://schemas.microsoft.com/office/drawing/2014/main" id="{B6C3A0FB-F369-67E9-3EE0-D82F5ECF10AB}"/>
                </a:ext>
              </a:extLst>
            </p:cNvPr>
            <p:cNvSpPr txBox="1"/>
            <p:nvPr/>
          </p:nvSpPr>
          <p:spPr>
            <a:xfrm>
              <a:off x="3360590" y="2637868"/>
              <a:ext cx="590809" cy="261610"/>
            </a:xfrm>
            <a:prstGeom prst="rect">
              <a:avLst/>
            </a:prstGeom>
            <a:noFill/>
          </p:spPr>
          <p:txBody>
            <a:bodyPr wrap="square" rtlCol="0">
              <a:spAutoFit/>
            </a:bodyPr>
            <a:lstStyle/>
            <a:p>
              <a:pPr algn="r"/>
              <a:r>
                <a:rPr lang="en-US" sz="1100" dirty="0"/>
                <a:t>1970</a:t>
              </a:r>
            </a:p>
          </p:txBody>
        </p:sp>
        <p:sp>
          <p:nvSpPr>
            <p:cNvPr id="12" name="TextBox 11">
              <a:extLst>
                <a:ext uri="{FF2B5EF4-FFF2-40B4-BE49-F238E27FC236}">
                  <a16:creationId xmlns:a16="http://schemas.microsoft.com/office/drawing/2014/main" id="{AE250A87-2994-6E31-7E06-6BDC5418F227}"/>
                </a:ext>
              </a:extLst>
            </p:cNvPr>
            <p:cNvSpPr txBox="1"/>
            <p:nvPr/>
          </p:nvSpPr>
          <p:spPr>
            <a:xfrm>
              <a:off x="3771293" y="2621656"/>
              <a:ext cx="627218" cy="261610"/>
            </a:xfrm>
            <a:prstGeom prst="rect">
              <a:avLst/>
            </a:prstGeom>
            <a:noFill/>
          </p:spPr>
          <p:txBody>
            <a:bodyPr wrap="square" rtlCol="0">
              <a:spAutoFit/>
            </a:bodyPr>
            <a:lstStyle/>
            <a:p>
              <a:pPr algn="r"/>
              <a:r>
                <a:rPr lang="en-US" sz="1100" dirty="0"/>
                <a:t>1971</a:t>
              </a:r>
            </a:p>
          </p:txBody>
        </p:sp>
        <p:sp>
          <p:nvSpPr>
            <p:cNvPr id="13" name="TextBox 12">
              <a:extLst>
                <a:ext uri="{FF2B5EF4-FFF2-40B4-BE49-F238E27FC236}">
                  <a16:creationId xmlns:a16="http://schemas.microsoft.com/office/drawing/2014/main" id="{D51E42AC-D063-2D5E-B770-5E99D6CB2B00}"/>
                </a:ext>
              </a:extLst>
            </p:cNvPr>
            <p:cNvSpPr txBox="1"/>
            <p:nvPr/>
          </p:nvSpPr>
          <p:spPr>
            <a:xfrm>
              <a:off x="4689959" y="2623200"/>
              <a:ext cx="616443" cy="261610"/>
            </a:xfrm>
            <a:prstGeom prst="rect">
              <a:avLst/>
            </a:prstGeom>
            <a:noFill/>
          </p:spPr>
          <p:txBody>
            <a:bodyPr wrap="square" rtlCol="0">
              <a:spAutoFit/>
            </a:bodyPr>
            <a:lstStyle/>
            <a:p>
              <a:pPr algn="r"/>
              <a:r>
                <a:rPr lang="en-US" sz="1100" dirty="0"/>
                <a:t>2000</a:t>
              </a:r>
            </a:p>
          </p:txBody>
        </p:sp>
        <p:sp>
          <p:nvSpPr>
            <p:cNvPr id="44" name="TextBox 43">
              <a:extLst>
                <a:ext uri="{FF2B5EF4-FFF2-40B4-BE49-F238E27FC236}">
                  <a16:creationId xmlns:a16="http://schemas.microsoft.com/office/drawing/2014/main" id="{04EAB341-BF36-9760-CE0E-1D2D7A02CB37}"/>
                </a:ext>
              </a:extLst>
            </p:cNvPr>
            <p:cNvSpPr txBox="1"/>
            <p:nvPr/>
          </p:nvSpPr>
          <p:spPr>
            <a:xfrm>
              <a:off x="1852630" y="3205194"/>
              <a:ext cx="877660" cy="261610"/>
            </a:xfrm>
            <a:prstGeom prst="rect">
              <a:avLst/>
            </a:prstGeom>
            <a:solidFill>
              <a:schemeClr val="bg1"/>
            </a:solidFill>
          </p:spPr>
          <p:txBody>
            <a:bodyPr wrap="square" rtlCol="0">
              <a:spAutoFit/>
            </a:bodyPr>
            <a:lstStyle/>
            <a:p>
              <a:pPr algn="r"/>
              <a:r>
                <a:rPr lang="en-US" sz="1050" dirty="0"/>
                <a:t>AK</a:t>
              </a:r>
            </a:p>
          </p:txBody>
        </p:sp>
        <p:sp>
          <p:nvSpPr>
            <p:cNvPr id="45" name="TextBox 44">
              <a:extLst>
                <a:ext uri="{FF2B5EF4-FFF2-40B4-BE49-F238E27FC236}">
                  <a16:creationId xmlns:a16="http://schemas.microsoft.com/office/drawing/2014/main" id="{AB65B736-44D7-92E3-932C-97CCD11B94D4}"/>
                </a:ext>
              </a:extLst>
            </p:cNvPr>
            <p:cNvSpPr txBox="1"/>
            <p:nvPr/>
          </p:nvSpPr>
          <p:spPr>
            <a:xfrm>
              <a:off x="1852630" y="3534272"/>
              <a:ext cx="877660" cy="261610"/>
            </a:xfrm>
            <a:prstGeom prst="rect">
              <a:avLst/>
            </a:prstGeom>
            <a:solidFill>
              <a:schemeClr val="bg1"/>
            </a:solidFill>
          </p:spPr>
          <p:txBody>
            <a:bodyPr wrap="square" rtlCol="0">
              <a:spAutoFit/>
            </a:bodyPr>
            <a:lstStyle/>
            <a:p>
              <a:pPr algn="r"/>
              <a:r>
                <a:rPr lang="en-US" sz="1050" dirty="0"/>
                <a:t>CA</a:t>
              </a:r>
            </a:p>
          </p:txBody>
        </p:sp>
        <p:sp>
          <p:nvSpPr>
            <p:cNvPr id="46" name="TextBox 45">
              <a:extLst>
                <a:ext uri="{FF2B5EF4-FFF2-40B4-BE49-F238E27FC236}">
                  <a16:creationId xmlns:a16="http://schemas.microsoft.com/office/drawing/2014/main" id="{3C2D90DA-5C45-65C2-7A82-57167AC484DD}"/>
                </a:ext>
              </a:extLst>
            </p:cNvPr>
            <p:cNvSpPr txBox="1"/>
            <p:nvPr/>
          </p:nvSpPr>
          <p:spPr>
            <a:xfrm>
              <a:off x="5842356" y="4509380"/>
              <a:ext cx="377026" cy="253916"/>
            </a:xfrm>
            <a:prstGeom prst="rect">
              <a:avLst/>
            </a:prstGeom>
            <a:noFill/>
          </p:spPr>
          <p:txBody>
            <a:bodyPr wrap="none" rtlCol="0">
              <a:spAutoFit/>
            </a:bodyPr>
            <a:lstStyle/>
            <a:p>
              <a:r>
                <a:rPr lang="en-US" sz="1050" dirty="0"/>
                <a:t>WY</a:t>
              </a:r>
            </a:p>
          </p:txBody>
        </p:sp>
        <p:sp>
          <p:nvSpPr>
            <p:cNvPr id="47" name="TextBox 46">
              <a:extLst>
                <a:ext uri="{FF2B5EF4-FFF2-40B4-BE49-F238E27FC236}">
                  <a16:creationId xmlns:a16="http://schemas.microsoft.com/office/drawing/2014/main" id="{6D11E38D-80C3-C297-8220-05ACE8540BE7}"/>
                </a:ext>
              </a:extLst>
            </p:cNvPr>
            <p:cNvSpPr txBox="1"/>
            <p:nvPr/>
          </p:nvSpPr>
          <p:spPr>
            <a:xfrm>
              <a:off x="5283755" y="2978852"/>
              <a:ext cx="877660" cy="261610"/>
            </a:xfrm>
            <a:prstGeom prst="rect">
              <a:avLst/>
            </a:prstGeom>
            <a:noFill/>
          </p:spPr>
          <p:txBody>
            <a:bodyPr wrap="square" rtlCol="0">
              <a:spAutoFit/>
            </a:bodyPr>
            <a:lstStyle/>
            <a:p>
              <a:pPr algn="r"/>
              <a:r>
                <a:rPr lang="en-US" sz="1050" dirty="0"/>
                <a:t>AL</a:t>
              </a:r>
            </a:p>
          </p:txBody>
        </p:sp>
        <p:sp>
          <p:nvSpPr>
            <p:cNvPr id="48" name="TextBox 47">
              <a:extLst>
                <a:ext uri="{FF2B5EF4-FFF2-40B4-BE49-F238E27FC236}">
                  <a16:creationId xmlns:a16="http://schemas.microsoft.com/office/drawing/2014/main" id="{B0172D58-7ED7-C3A4-6D6E-5D114D05A2AA}"/>
                </a:ext>
              </a:extLst>
            </p:cNvPr>
            <p:cNvSpPr txBox="1"/>
            <p:nvPr/>
          </p:nvSpPr>
          <p:spPr>
            <a:xfrm>
              <a:off x="5281513" y="3323199"/>
              <a:ext cx="877660" cy="261610"/>
            </a:xfrm>
            <a:prstGeom prst="rect">
              <a:avLst/>
            </a:prstGeom>
            <a:noFill/>
          </p:spPr>
          <p:txBody>
            <a:bodyPr wrap="square" rtlCol="0">
              <a:spAutoFit/>
            </a:bodyPr>
            <a:lstStyle/>
            <a:p>
              <a:pPr algn="r"/>
              <a:r>
                <a:rPr lang="en-US" sz="1050" dirty="0"/>
                <a:t>AK</a:t>
              </a:r>
            </a:p>
          </p:txBody>
        </p:sp>
        <p:sp>
          <p:nvSpPr>
            <p:cNvPr id="49" name="TextBox 48">
              <a:extLst>
                <a:ext uri="{FF2B5EF4-FFF2-40B4-BE49-F238E27FC236}">
                  <a16:creationId xmlns:a16="http://schemas.microsoft.com/office/drawing/2014/main" id="{31C66F7D-A34E-B784-2ED8-44057B730141}"/>
                </a:ext>
              </a:extLst>
            </p:cNvPr>
            <p:cNvSpPr txBox="1"/>
            <p:nvPr/>
          </p:nvSpPr>
          <p:spPr>
            <a:xfrm>
              <a:off x="5280266" y="3733993"/>
              <a:ext cx="877660" cy="261610"/>
            </a:xfrm>
            <a:prstGeom prst="rect">
              <a:avLst/>
            </a:prstGeom>
            <a:noFill/>
          </p:spPr>
          <p:txBody>
            <a:bodyPr wrap="square" rtlCol="0">
              <a:spAutoFit/>
            </a:bodyPr>
            <a:lstStyle/>
            <a:p>
              <a:pPr algn="r"/>
              <a:r>
                <a:rPr lang="en-US" sz="1050" dirty="0"/>
                <a:t>CA</a:t>
              </a:r>
            </a:p>
          </p:txBody>
        </p:sp>
        <p:sp>
          <p:nvSpPr>
            <p:cNvPr id="52" name="TextBox 51">
              <a:extLst>
                <a:ext uri="{FF2B5EF4-FFF2-40B4-BE49-F238E27FC236}">
                  <a16:creationId xmlns:a16="http://schemas.microsoft.com/office/drawing/2014/main" id="{3A6D78C5-F007-F3A9-4BFF-5F9AD4D0DE70}"/>
                </a:ext>
              </a:extLst>
            </p:cNvPr>
            <p:cNvSpPr txBox="1"/>
            <p:nvPr/>
          </p:nvSpPr>
          <p:spPr>
            <a:xfrm>
              <a:off x="7370878" y="2576045"/>
              <a:ext cx="596894" cy="261610"/>
            </a:xfrm>
            <a:prstGeom prst="rect">
              <a:avLst/>
            </a:prstGeom>
            <a:noFill/>
          </p:spPr>
          <p:txBody>
            <a:bodyPr wrap="square" rtlCol="0">
              <a:spAutoFit/>
            </a:bodyPr>
            <a:lstStyle/>
            <a:p>
              <a:pPr algn="r"/>
              <a:r>
                <a:rPr lang="en-US" sz="1100" dirty="0"/>
                <a:t>1989</a:t>
              </a:r>
            </a:p>
          </p:txBody>
        </p:sp>
        <p:sp>
          <p:nvSpPr>
            <p:cNvPr id="53" name="Rounded Rectangle 52">
              <a:extLst>
                <a:ext uri="{FF2B5EF4-FFF2-40B4-BE49-F238E27FC236}">
                  <a16:creationId xmlns:a16="http://schemas.microsoft.com/office/drawing/2014/main" id="{38D8C0A5-3782-F2B0-D0D2-75BF261ECC72}"/>
                </a:ext>
              </a:extLst>
            </p:cNvPr>
            <p:cNvSpPr/>
            <p:nvPr/>
          </p:nvSpPr>
          <p:spPr>
            <a:xfrm>
              <a:off x="7612083" y="3659316"/>
              <a:ext cx="1047319" cy="428164"/>
            </a:xfrm>
            <a:prstGeom prst="roundRect">
              <a:avLst/>
            </a:prstGeom>
            <a:solidFill>
              <a:schemeClr val="bg1"/>
            </a:solid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accent2"/>
                  </a:solidFill>
                </a:rPr>
                <a:t>? ? ? ? ? </a:t>
              </a:r>
            </a:p>
          </p:txBody>
        </p:sp>
      </p:grpSp>
    </p:spTree>
    <p:extLst>
      <p:ext uri="{BB962C8B-B14F-4D97-AF65-F5344CB8AC3E}">
        <p14:creationId xmlns:p14="http://schemas.microsoft.com/office/powerpoint/2010/main" val="14840132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1">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1">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1"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13BAFA-DDDF-1E1A-54CF-0476D1E6AA2A}"/>
              </a:ext>
            </a:extLst>
          </p:cNvPr>
          <p:cNvSpPr>
            <a:spLocks noGrp="1"/>
          </p:cNvSpPr>
          <p:nvPr>
            <p:ph type="title"/>
          </p:nvPr>
        </p:nvSpPr>
        <p:spPr/>
        <p:txBody>
          <a:bodyPr/>
          <a:lstStyle/>
          <a:p>
            <a:r>
              <a:rPr lang="en-US" sz="2800" dirty="0"/>
              <a:t>Claim: if the data are low-rank</a:t>
            </a:r>
            <a:br>
              <a:rPr lang="en-US" dirty="0"/>
            </a:br>
            <a:r>
              <a:rPr lang="en-US" dirty="0"/>
              <a:t>These are doing very* similar things</a:t>
            </a:r>
          </a:p>
        </p:txBody>
      </p:sp>
      <p:sp>
        <p:nvSpPr>
          <p:cNvPr id="3" name="Content Placeholder 2">
            <a:extLst>
              <a:ext uri="{FF2B5EF4-FFF2-40B4-BE49-F238E27FC236}">
                <a16:creationId xmlns:a16="http://schemas.microsoft.com/office/drawing/2014/main" id="{A86168B9-6B34-F9AF-5211-BF6B2940C57D}"/>
              </a:ext>
            </a:extLst>
          </p:cNvPr>
          <p:cNvSpPr>
            <a:spLocks noGrp="1"/>
          </p:cNvSpPr>
          <p:nvPr>
            <p:ph idx="1"/>
          </p:nvPr>
        </p:nvSpPr>
        <p:spPr/>
        <p:txBody>
          <a:bodyPr/>
          <a:lstStyle/>
          <a:p>
            <a:r>
              <a:rPr lang="en-US" dirty="0"/>
              <a:t>Intuition:</a:t>
            </a:r>
          </a:p>
        </p:txBody>
      </p:sp>
      <p:grpSp>
        <p:nvGrpSpPr>
          <p:cNvPr id="7" name="Group 6">
            <a:extLst>
              <a:ext uri="{FF2B5EF4-FFF2-40B4-BE49-F238E27FC236}">
                <a16:creationId xmlns:a16="http://schemas.microsoft.com/office/drawing/2014/main" id="{ACC11072-72C9-2281-C861-248BF14B581C}"/>
              </a:ext>
            </a:extLst>
          </p:cNvPr>
          <p:cNvGrpSpPr/>
          <p:nvPr/>
        </p:nvGrpSpPr>
        <p:grpSpPr>
          <a:xfrm>
            <a:off x="7584104" y="3977844"/>
            <a:ext cx="2799630" cy="2268533"/>
            <a:chOff x="1846882" y="2597802"/>
            <a:chExt cx="4249118" cy="2693288"/>
          </a:xfrm>
        </p:grpSpPr>
        <p:sp>
          <p:nvSpPr>
            <p:cNvPr id="8" name="Rectangle 7">
              <a:extLst>
                <a:ext uri="{FF2B5EF4-FFF2-40B4-BE49-F238E27FC236}">
                  <a16:creationId xmlns:a16="http://schemas.microsoft.com/office/drawing/2014/main" id="{47B0267D-BB9C-0FCB-D53E-471ED7DD083A}"/>
                </a:ext>
              </a:extLst>
            </p:cNvPr>
            <p:cNvSpPr/>
            <p:nvPr/>
          </p:nvSpPr>
          <p:spPr>
            <a:xfrm>
              <a:off x="1846882" y="2597802"/>
              <a:ext cx="4249118" cy="2693288"/>
            </a:xfrm>
            <a:prstGeom prst="rect">
              <a:avLst/>
            </a:prstGeom>
            <a:solidFill>
              <a:schemeClr val="bg1">
                <a:lumMod val="8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dirty="0">
                <a:solidFill>
                  <a:schemeClr val="tx1"/>
                </a:solidFill>
              </a:endParaRP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86841F8F-1B62-6260-B169-DE50705A63BF}"/>
                    </a:ext>
                  </a:extLst>
                </p:cNvPr>
                <p:cNvSpPr txBox="1"/>
                <p:nvPr/>
              </p:nvSpPr>
              <p:spPr>
                <a:xfrm>
                  <a:off x="1939778" y="2788225"/>
                  <a:ext cx="656857" cy="35252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600" b="0" i="1" smtClean="0">
                                <a:solidFill>
                                  <a:schemeClr val="tx1"/>
                                </a:solidFill>
                                <a:latin typeface="Cambria Math" panose="02040503050406030204" pitchFamily="18" charset="0"/>
                              </a:rPr>
                            </m:ctrlPr>
                          </m:sSubPr>
                          <m:e>
                            <m:r>
                              <a:rPr lang="en-US" sz="1600" b="0" i="1" smtClean="0">
                                <a:solidFill>
                                  <a:schemeClr val="tx1"/>
                                </a:solidFill>
                                <a:latin typeface="Cambria Math" panose="02040503050406030204" pitchFamily="18" charset="0"/>
                              </a:rPr>
                              <m:t>𝑌</m:t>
                            </m:r>
                          </m:e>
                          <m:sub>
                            <m:r>
                              <a:rPr lang="en-US" sz="1600" b="0" i="1" smtClean="0">
                                <a:solidFill>
                                  <a:schemeClr val="tx1"/>
                                </a:solidFill>
                                <a:latin typeface="Cambria Math" panose="02040503050406030204" pitchFamily="18" charset="0"/>
                              </a:rPr>
                              <m:t>𝐴𝐿</m:t>
                            </m:r>
                            <m:r>
                              <a:rPr lang="en-US" sz="1600" b="0" i="1" smtClean="0">
                                <a:solidFill>
                                  <a:schemeClr val="tx1"/>
                                </a:solidFill>
                                <a:latin typeface="Cambria Math" panose="02040503050406030204" pitchFamily="18" charset="0"/>
                              </a:rPr>
                              <m:t>,1</m:t>
                            </m:r>
                          </m:sub>
                        </m:sSub>
                      </m:oMath>
                    </m:oMathPara>
                  </a14:m>
                  <a:endParaRPr lang="en-US" sz="1600" dirty="0">
                    <a:solidFill>
                      <a:schemeClr val="tx1"/>
                    </a:solidFill>
                  </a:endParaRPr>
                </a:p>
              </p:txBody>
            </p:sp>
          </mc:Choice>
          <mc:Fallback xmlns="">
            <p:sp>
              <p:nvSpPr>
                <p:cNvPr id="26" name="TextBox 25">
                  <a:extLst>
                    <a:ext uri="{FF2B5EF4-FFF2-40B4-BE49-F238E27FC236}">
                      <a16:creationId xmlns:a16="http://schemas.microsoft.com/office/drawing/2014/main" id="{A4BD837D-14DC-51D7-9813-F2D9F78FF62B}"/>
                    </a:ext>
                  </a:extLst>
                </p:cNvPr>
                <p:cNvSpPr txBox="1">
                  <a:spLocks noRot="1" noChangeAspect="1" noMove="1" noResize="1" noEditPoints="1" noAdjustHandles="1" noChangeArrowheads="1" noChangeShapeType="1" noTextEdit="1"/>
                </p:cNvSpPr>
                <p:nvPr/>
              </p:nvSpPr>
              <p:spPr>
                <a:xfrm>
                  <a:off x="1939778" y="2788225"/>
                  <a:ext cx="656857" cy="352529"/>
                </a:xfrm>
                <a:prstGeom prst="rect">
                  <a:avLst/>
                </a:prstGeom>
                <a:blipFill>
                  <a:blip r:embed="rId6"/>
                  <a:stretch>
                    <a:fillRect l="-8571" r="-5714"/>
                  </a:stretch>
                </a:blipFill>
              </p:spPr>
              <p:txBody>
                <a:bodyPr/>
                <a:lstStyle/>
                <a:p>
                  <a:r>
                    <a:rPr lang="en-US">
                      <a:noFill/>
                    </a:rPr>
                    <a:t> </a:t>
                  </a:r>
                </a:p>
              </p:txBody>
            </p:sp>
          </mc:Fallback>
        </mc:AlternateContent>
        <p:sp>
          <p:nvSpPr>
            <p:cNvPr id="10" name="TextBox 9">
              <a:extLst>
                <a:ext uri="{FF2B5EF4-FFF2-40B4-BE49-F238E27FC236}">
                  <a16:creationId xmlns:a16="http://schemas.microsoft.com/office/drawing/2014/main" id="{799946A1-F448-A97E-43A9-D6D8AE813353}"/>
                </a:ext>
              </a:extLst>
            </p:cNvPr>
            <p:cNvSpPr txBox="1"/>
            <p:nvPr/>
          </p:nvSpPr>
          <p:spPr>
            <a:xfrm>
              <a:off x="5667213" y="2892741"/>
              <a:ext cx="258306" cy="422192"/>
            </a:xfrm>
            <a:prstGeom prst="rect">
              <a:avLst/>
            </a:prstGeom>
            <a:noFill/>
          </p:spPr>
          <p:txBody>
            <a:bodyPr wrap="square" rtlCol="0">
              <a:spAutoFit/>
            </a:bodyPr>
            <a:lstStyle/>
            <a:p>
              <a:endParaRPr lang="en-US" sz="1400" dirty="0"/>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3F4F5A5D-94A6-9CCA-4C0E-AF2F291FEE0F}"/>
                    </a:ext>
                  </a:extLst>
                </p:cNvPr>
                <p:cNvSpPr txBox="1"/>
                <p:nvPr/>
              </p:nvSpPr>
              <p:spPr>
                <a:xfrm>
                  <a:off x="2692783" y="2788225"/>
                  <a:ext cx="656857" cy="35252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600" b="0" i="1" smtClean="0">
                                <a:solidFill>
                                  <a:schemeClr val="tx1"/>
                                </a:solidFill>
                                <a:latin typeface="Cambria Math" panose="02040503050406030204" pitchFamily="18" charset="0"/>
                              </a:rPr>
                            </m:ctrlPr>
                          </m:sSubPr>
                          <m:e>
                            <m:r>
                              <a:rPr lang="en-US" sz="1600" b="0" i="1" smtClean="0">
                                <a:solidFill>
                                  <a:schemeClr val="tx1"/>
                                </a:solidFill>
                                <a:latin typeface="Cambria Math" panose="02040503050406030204" pitchFamily="18" charset="0"/>
                              </a:rPr>
                              <m:t>𝑌</m:t>
                            </m:r>
                          </m:e>
                          <m:sub>
                            <m:r>
                              <a:rPr lang="en-US" sz="1600" b="0" i="1" smtClean="0">
                                <a:solidFill>
                                  <a:schemeClr val="tx1"/>
                                </a:solidFill>
                                <a:latin typeface="Cambria Math" panose="02040503050406030204" pitchFamily="18" charset="0"/>
                              </a:rPr>
                              <m:t>𝐴𝐿</m:t>
                            </m:r>
                            <m:r>
                              <a:rPr lang="en-US" sz="1600" b="0" i="1" smtClean="0">
                                <a:solidFill>
                                  <a:schemeClr val="tx1"/>
                                </a:solidFill>
                                <a:latin typeface="Cambria Math" panose="02040503050406030204" pitchFamily="18" charset="0"/>
                              </a:rPr>
                              <m:t>,2</m:t>
                            </m:r>
                          </m:sub>
                        </m:sSub>
                      </m:oMath>
                    </m:oMathPara>
                  </a14:m>
                  <a:endParaRPr lang="en-US" sz="1600" dirty="0">
                    <a:solidFill>
                      <a:schemeClr val="tx1"/>
                    </a:solidFill>
                  </a:endParaRPr>
                </a:p>
              </p:txBody>
            </p:sp>
          </mc:Choice>
          <mc:Fallback xmlns="">
            <p:sp>
              <p:nvSpPr>
                <p:cNvPr id="28" name="TextBox 27">
                  <a:extLst>
                    <a:ext uri="{FF2B5EF4-FFF2-40B4-BE49-F238E27FC236}">
                      <a16:creationId xmlns:a16="http://schemas.microsoft.com/office/drawing/2014/main" id="{184BA698-90B2-1AF1-0AF9-9033C807BD70}"/>
                    </a:ext>
                  </a:extLst>
                </p:cNvPr>
                <p:cNvSpPr txBox="1">
                  <a:spLocks noRot="1" noChangeAspect="1" noMove="1" noResize="1" noEditPoints="1" noAdjustHandles="1" noChangeArrowheads="1" noChangeShapeType="1" noTextEdit="1"/>
                </p:cNvSpPr>
                <p:nvPr/>
              </p:nvSpPr>
              <p:spPr>
                <a:xfrm>
                  <a:off x="2692783" y="2788225"/>
                  <a:ext cx="656857" cy="352529"/>
                </a:xfrm>
                <a:prstGeom prst="rect">
                  <a:avLst/>
                </a:prstGeom>
                <a:blipFill>
                  <a:blip r:embed="rId7"/>
                  <a:stretch>
                    <a:fillRect l="-14286" r="-285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13738D5B-21AB-30E5-AFB5-A4CBE3EF5B35}"/>
                    </a:ext>
                  </a:extLst>
                </p:cNvPr>
                <p:cNvSpPr txBox="1"/>
                <p:nvPr/>
              </p:nvSpPr>
              <p:spPr>
                <a:xfrm>
                  <a:off x="5179521" y="2788225"/>
                  <a:ext cx="656857" cy="35252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600" b="0" i="1" smtClean="0">
                                <a:solidFill>
                                  <a:schemeClr val="tx1"/>
                                </a:solidFill>
                                <a:latin typeface="Cambria Math" panose="02040503050406030204" pitchFamily="18" charset="0"/>
                              </a:rPr>
                            </m:ctrlPr>
                          </m:sSubPr>
                          <m:e>
                            <m:r>
                              <a:rPr lang="en-US" sz="1600" b="0" i="1" smtClean="0">
                                <a:solidFill>
                                  <a:schemeClr val="tx1"/>
                                </a:solidFill>
                                <a:latin typeface="Cambria Math" panose="02040503050406030204" pitchFamily="18" charset="0"/>
                              </a:rPr>
                              <m:t>𝑌</m:t>
                            </m:r>
                          </m:e>
                          <m:sub>
                            <m:r>
                              <a:rPr lang="en-US" sz="1600" b="0" i="1" smtClean="0">
                                <a:solidFill>
                                  <a:schemeClr val="tx1"/>
                                </a:solidFill>
                                <a:latin typeface="Cambria Math" panose="02040503050406030204" pitchFamily="18" charset="0"/>
                              </a:rPr>
                              <m:t>𝐴𝐿</m:t>
                            </m:r>
                            <m:r>
                              <a:rPr lang="en-US" sz="1600" b="0" i="1" smtClean="0">
                                <a:solidFill>
                                  <a:schemeClr val="tx1"/>
                                </a:solidFill>
                                <a:latin typeface="Cambria Math" panose="02040503050406030204" pitchFamily="18" charset="0"/>
                              </a:rPr>
                              <m:t>,</m:t>
                            </m:r>
                            <m:r>
                              <a:rPr lang="en-US" sz="1600" b="0" i="1" smtClean="0">
                                <a:solidFill>
                                  <a:schemeClr val="tx1"/>
                                </a:solidFill>
                                <a:latin typeface="Cambria Math" panose="02040503050406030204" pitchFamily="18" charset="0"/>
                              </a:rPr>
                              <m:t>𝑇</m:t>
                            </m:r>
                          </m:sub>
                        </m:sSub>
                      </m:oMath>
                    </m:oMathPara>
                  </a14:m>
                  <a:endParaRPr lang="en-US" sz="1600" dirty="0">
                    <a:solidFill>
                      <a:schemeClr val="tx1"/>
                    </a:solidFill>
                  </a:endParaRPr>
                </a:p>
              </p:txBody>
            </p:sp>
          </mc:Choice>
          <mc:Fallback xmlns="">
            <p:sp>
              <p:nvSpPr>
                <p:cNvPr id="29" name="TextBox 28">
                  <a:extLst>
                    <a:ext uri="{FF2B5EF4-FFF2-40B4-BE49-F238E27FC236}">
                      <a16:creationId xmlns:a16="http://schemas.microsoft.com/office/drawing/2014/main" id="{00E996C9-F71E-1C64-6305-15EF1203DB3A}"/>
                    </a:ext>
                  </a:extLst>
                </p:cNvPr>
                <p:cNvSpPr txBox="1">
                  <a:spLocks noRot="1" noChangeAspect="1" noMove="1" noResize="1" noEditPoints="1" noAdjustHandles="1" noChangeArrowheads="1" noChangeShapeType="1" noTextEdit="1"/>
                </p:cNvSpPr>
                <p:nvPr/>
              </p:nvSpPr>
              <p:spPr>
                <a:xfrm>
                  <a:off x="5179521" y="2788225"/>
                  <a:ext cx="656857" cy="352529"/>
                </a:xfrm>
                <a:prstGeom prst="rect">
                  <a:avLst/>
                </a:prstGeom>
                <a:blipFill>
                  <a:blip r:embed="rId8"/>
                  <a:stretch>
                    <a:fillRect l="-11111" r="-277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505FB6DB-D425-D141-3491-52B3F0BE4F9E}"/>
                    </a:ext>
                  </a:extLst>
                </p:cNvPr>
                <p:cNvSpPr txBox="1"/>
                <p:nvPr/>
              </p:nvSpPr>
              <p:spPr>
                <a:xfrm>
                  <a:off x="1972187" y="3265230"/>
                  <a:ext cx="656857" cy="35252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600" b="0" i="1" smtClean="0">
                                <a:solidFill>
                                  <a:schemeClr val="tx1"/>
                                </a:solidFill>
                                <a:latin typeface="Cambria Math" panose="02040503050406030204" pitchFamily="18" charset="0"/>
                              </a:rPr>
                            </m:ctrlPr>
                          </m:sSubPr>
                          <m:e>
                            <m:r>
                              <a:rPr lang="en-US" sz="1600" b="0" i="1" smtClean="0">
                                <a:solidFill>
                                  <a:schemeClr val="tx1"/>
                                </a:solidFill>
                                <a:latin typeface="Cambria Math" panose="02040503050406030204" pitchFamily="18" charset="0"/>
                              </a:rPr>
                              <m:t>𝑌</m:t>
                            </m:r>
                          </m:e>
                          <m:sub>
                            <m:r>
                              <a:rPr lang="en-US" sz="1600" b="0" i="1" smtClean="0">
                                <a:solidFill>
                                  <a:schemeClr val="tx1"/>
                                </a:solidFill>
                                <a:latin typeface="Cambria Math" panose="02040503050406030204" pitchFamily="18" charset="0"/>
                              </a:rPr>
                              <m:t>𝐴𝐾</m:t>
                            </m:r>
                            <m:r>
                              <a:rPr lang="en-US" sz="1600" b="0" i="1" smtClean="0">
                                <a:solidFill>
                                  <a:schemeClr val="tx1"/>
                                </a:solidFill>
                                <a:latin typeface="Cambria Math" panose="02040503050406030204" pitchFamily="18" charset="0"/>
                              </a:rPr>
                              <m:t>,1</m:t>
                            </m:r>
                          </m:sub>
                        </m:sSub>
                      </m:oMath>
                    </m:oMathPara>
                  </a14:m>
                  <a:endParaRPr lang="en-US" sz="1600" dirty="0">
                    <a:solidFill>
                      <a:schemeClr val="tx1"/>
                    </a:solidFill>
                  </a:endParaRPr>
                </a:p>
              </p:txBody>
            </p:sp>
          </mc:Choice>
          <mc:Fallback xmlns="">
            <p:sp>
              <p:nvSpPr>
                <p:cNvPr id="30" name="TextBox 29">
                  <a:extLst>
                    <a:ext uri="{FF2B5EF4-FFF2-40B4-BE49-F238E27FC236}">
                      <a16:creationId xmlns:a16="http://schemas.microsoft.com/office/drawing/2014/main" id="{E4203BD6-0AAA-275C-4449-C89C4BA7DD6D}"/>
                    </a:ext>
                  </a:extLst>
                </p:cNvPr>
                <p:cNvSpPr txBox="1">
                  <a:spLocks noRot="1" noChangeAspect="1" noMove="1" noResize="1" noEditPoints="1" noAdjustHandles="1" noChangeArrowheads="1" noChangeShapeType="1" noTextEdit="1"/>
                </p:cNvSpPr>
                <p:nvPr/>
              </p:nvSpPr>
              <p:spPr>
                <a:xfrm>
                  <a:off x="1972187" y="3265230"/>
                  <a:ext cx="656857" cy="352529"/>
                </a:xfrm>
                <a:prstGeom prst="rect">
                  <a:avLst/>
                </a:prstGeom>
                <a:blipFill>
                  <a:blip r:embed="rId9"/>
                  <a:stretch>
                    <a:fillRect l="-14286" r="-857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5E70EF4E-73BD-E58A-EACD-32ECDCB3BFF3}"/>
                    </a:ext>
                  </a:extLst>
                </p:cNvPr>
                <p:cNvSpPr txBox="1"/>
                <p:nvPr/>
              </p:nvSpPr>
              <p:spPr>
                <a:xfrm>
                  <a:off x="2725190" y="3265230"/>
                  <a:ext cx="656857" cy="35252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600" b="0" i="1" smtClean="0">
                                <a:solidFill>
                                  <a:schemeClr val="tx1"/>
                                </a:solidFill>
                                <a:latin typeface="Cambria Math" panose="02040503050406030204" pitchFamily="18" charset="0"/>
                              </a:rPr>
                            </m:ctrlPr>
                          </m:sSubPr>
                          <m:e>
                            <m:r>
                              <a:rPr lang="en-US" sz="1600" b="0" i="1" smtClean="0">
                                <a:solidFill>
                                  <a:schemeClr val="tx1"/>
                                </a:solidFill>
                                <a:latin typeface="Cambria Math" panose="02040503050406030204" pitchFamily="18" charset="0"/>
                              </a:rPr>
                              <m:t>𝑌</m:t>
                            </m:r>
                          </m:e>
                          <m:sub>
                            <m:r>
                              <a:rPr lang="en-US" sz="1600" b="0" i="1" smtClean="0">
                                <a:solidFill>
                                  <a:schemeClr val="tx1"/>
                                </a:solidFill>
                                <a:latin typeface="Cambria Math" panose="02040503050406030204" pitchFamily="18" charset="0"/>
                              </a:rPr>
                              <m:t>𝐴𝐾</m:t>
                            </m:r>
                            <m:r>
                              <a:rPr lang="en-US" sz="1600" b="0" i="1" smtClean="0">
                                <a:solidFill>
                                  <a:schemeClr val="tx1"/>
                                </a:solidFill>
                                <a:latin typeface="Cambria Math" panose="02040503050406030204" pitchFamily="18" charset="0"/>
                              </a:rPr>
                              <m:t>,2</m:t>
                            </m:r>
                          </m:sub>
                        </m:sSub>
                      </m:oMath>
                    </m:oMathPara>
                  </a14:m>
                  <a:endParaRPr lang="en-US" sz="1600" dirty="0">
                    <a:solidFill>
                      <a:schemeClr val="tx1"/>
                    </a:solidFill>
                  </a:endParaRPr>
                </a:p>
              </p:txBody>
            </p:sp>
          </mc:Choice>
          <mc:Fallback xmlns="">
            <p:sp>
              <p:nvSpPr>
                <p:cNvPr id="31" name="TextBox 30">
                  <a:extLst>
                    <a:ext uri="{FF2B5EF4-FFF2-40B4-BE49-F238E27FC236}">
                      <a16:creationId xmlns:a16="http://schemas.microsoft.com/office/drawing/2014/main" id="{1D9BE2B1-E9FF-FF25-DC68-8217F322A676}"/>
                    </a:ext>
                  </a:extLst>
                </p:cNvPr>
                <p:cNvSpPr txBox="1">
                  <a:spLocks noRot="1" noChangeAspect="1" noMove="1" noResize="1" noEditPoints="1" noAdjustHandles="1" noChangeArrowheads="1" noChangeShapeType="1" noTextEdit="1"/>
                </p:cNvSpPr>
                <p:nvPr/>
              </p:nvSpPr>
              <p:spPr>
                <a:xfrm>
                  <a:off x="2725190" y="3265230"/>
                  <a:ext cx="656857" cy="352529"/>
                </a:xfrm>
                <a:prstGeom prst="rect">
                  <a:avLst/>
                </a:prstGeom>
                <a:blipFill>
                  <a:blip r:embed="rId10"/>
                  <a:stretch>
                    <a:fillRect l="-14286" r="-857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8DF692F6-6172-D706-8AE7-A8BF5562EBFC}"/>
                    </a:ext>
                  </a:extLst>
                </p:cNvPr>
                <p:cNvSpPr txBox="1"/>
                <p:nvPr/>
              </p:nvSpPr>
              <p:spPr>
                <a:xfrm>
                  <a:off x="5211929" y="3265230"/>
                  <a:ext cx="656857" cy="35252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600" b="0" i="1" smtClean="0">
                                <a:solidFill>
                                  <a:schemeClr val="tx1"/>
                                </a:solidFill>
                                <a:latin typeface="Cambria Math" panose="02040503050406030204" pitchFamily="18" charset="0"/>
                              </a:rPr>
                            </m:ctrlPr>
                          </m:sSubPr>
                          <m:e>
                            <m:r>
                              <a:rPr lang="en-US" sz="1600" b="0" i="1" smtClean="0">
                                <a:solidFill>
                                  <a:schemeClr val="tx1"/>
                                </a:solidFill>
                                <a:latin typeface="Cambria Math" panose="02040503050406030204" pitchFamily="18" charset="0"/>
                              </a:rPr>
                              <m:t>𝑌</m:t>
                            </m:r>
                          </m:e>
                          <m:sub>
                            <m:r>
                              <a:rPr lang="en-US" sz="1600" b="0" i="1" smtClean="0">
                                <a:solidFill>
                                  <a:schemeClr val="tx1"/>
                                </a:solidFill>
                                <a:latin typeface="Cambria Math" panose="02040503050406030204" pitchFamily="18" charset="0"/>
                              </a:rPr>
                              <m:t>𝐴𝐾</m:t>
                            </m:r>
                            <m:r>
                              <a:rPr lang="en-US" sz="1600" b="0" i="1" smtClean="0">
                                <a:solidFill>
                                  <a:schemeClr val="tx1"/>
                                </a:solidFill>
                                <a:latin typeface="Cambria Math" panose="02040503050406030204" pitchFamily="18" charset="0"/>
                              </a:rPr>
                              <m:t>,</m:t>
                            </m:r>
                            <m:r>
                              <a:rPr lang="en-US" sz="1600" b="0" i="1" smtClean="0">
                                <a:solidFill>
                                  <a:schemeClr val="tx1"/>
                                </a:solidFill>
                                <a:latin typeface="Cambria Math" panose="02040503050406030204" pitchFamily="18" charset="0"/>
                              </a:rPr>
                              <m:t>𝑇</m:t>
                            </m:r>
                          </m:sub>
                        </m:sSub>
                      </m:oMath>
                    </m:oMathPara>
                  </a14:m>
                  <a:endParaRPr lang="en-US" sz="1600" dirty="0">
                    <a:solidFill>
                      <a:schemeClr val="tx1"/>
                    </a:solidFill>
                  </a:endParaRPr>
                </a:p>
              </p:txBody>
            </p:sp>
          </mc:Choice>
          <mc:Fallback xmlns="">
            <p:sp>
              <p:nvSpPr>
                <p:cNvPr id="32" name="TextBox 31">
                  <a:extLst>
                    <a:ext uri="{FF2B5EF4-FFF2-40B4-BE49-F238E27FC236}">
                      <a16:creationId xmlns:a16="http://schemas.microsoft.com/office/drawing/2014/main" id="{BBDE10C6-68A2-2C4B-C7A5-9907FD631D0F}"/>
                    </a:ext>
                  </a:extLst>
                </p:cNvPr>
                <p:cNvSpPr txBox="1">
                  <a:spLocks noRot="1" noChangeAspect="1" noMove="1" noResize="1" noEditPoints="1" noAdjustHandles="1" noChangeArrowheads="1" noChangeShapeType="1" noTextEdit="1"/>
                </p:cNvSpPr>
                <p:nvPr/>
              </p:nvSpPr>
              <p:spPr>
                <a:xfrm>
                  <a:off x="5211929" y="3265230"/>
                  <a:ext cx="656857" cy="352529"/>
                </a:xfrm>
                <a:prstGeom prst="rect">
                  <a:avLst/>
                </a:prstGeom>
                <a:blipFill>
                  <a:blip r:embed="rId11"/>
                  <a:stretch>
                    <a:fillRect l="-14286" r="-857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EB7C8D36-A47D-14C4-A353-9575BB00A905}"/>
                    </a:ext>
                  </a:extLst>
                </p:cNvPr>
                <p:cNvSpPr txBox="1"/>
                <p:nvPr/>
              </p:nvSpPr>
              <p:spPr>
                <a:xfrm>
                  <a:off x="1972187" y="3802732"/>
                  <a:ext cx="656857" cy="35252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600" b="0" i="1" smtClean="0">
                                <a:solidFill>
                                  <a:schemeClr val="tx1"/>
                                </a:solidFill>
                                <a:latin typeface="Cambria Math" panose="02040503050406030204" pitchFamily="18" charset="0"/>
                              </a:rPr>
                            </m:ctrlPr>
                          </m:sSubPr>
                          <m:e>
                            <m:r>
                              <a:rPr lang="en-US" sz="1600" b="0" i="1" smtClean="0">
                                <a:solidFill>
                                  <a:schemeClr val="tx1"/>
                                </a:solidFill>
                                <a:latin typeface="Cambria Math" panose="02040503050406030204" pitchFamily="18" charset="0"/>
                              </a:rPr>
                              <m:t>𝑌</m:t>
                            </m:r>
                          </m:e>
                          <m:sub>
                            <m:r>
                              <a:rPr lang="en-US" sz="1600" b="0" i="1" smtClean="0">
                                <a:solidFill>
                                  <a:schemeClr val="tx1"/>
                                </a:solidFill>
                                <a:latin typeface="Cambria Math" panose="02040503050406030204" pitchFamily="18" charset="0"/>
                              </a:rPr>
                              <m:t>𝐶𝐴</m:t>
                            </m:r>
                            <m:r>
                              <a:rPr lang="en-US" sz="1600" b="0" i="1" smtClean="0">
                                <a:solidFill>
                                  <a:schemeClr val="tx1"/>
                                </a:solidFill>
                                <a:latin typeface="Cambria Math" panose="02040503050406030204" pitchFamily="18" charset="0"/>
                              </a:rPr>
                              <m:t>,1</m:t>
                            </m:r>
                          </m:sub>
                        </m:sSub>
                      </m:oMath>
                    </m:oMathPara>
                  </a14:m>
                  <a:endParaRPr lang="en-US" sz="1600" dirty="0">
                    <a:solidFill>
                      <a:schemeClr val="tx1"/>
                    </a:solidFill>
                  </a:endParaRPr>
                </a:p>
              </p:txBody>
            </p:sp>
          </mc:Choice>
          <mc:Fallback xmlns="">
            <p:sp>
              <p:nvSpPr>
                <p:cNvPr id="33" name="TextBox 32">
                  <a:extLst>
                    <a:ext uri="{FF2B5EF4-FFF2-40B4-BE49-F238E27FC236}">
                      <a16:creationId xmlns:a16="http://schemas.microsoft.com/office/drawing/2014/main" id="{E71D625D-BAEA-746C-4DE9-91D158471D23}"/>
                    </a:ext>
                  </a:extLst>
                </p:cNvPr>
                <p:cNvSpPr txBox="1">
                  <a:spLocks noRot="1" noChangeAspect="1" noMove="1" noResize="1" noEditPoints="1" noAdjustHandles="1" noChangeArrowheads="1" noChangeShapeType="1" noTextEdit="1"/>
                </p:cNvSpPr>
                <p:nvPr/>
              </p:nvSpPr>
              <p:spPr>
                <a:xfrm>
                  <a:off x="1972187" y="3802732"/>
                  <a:ext cx="656857" cy="352529"/>
                </a:xfrm>
                <a:prstGeom prst="rect">
                  <a:avLst/>
                </a:prstGeom>
                <a:blipFill>
                  <a:blip r:embed="rId12"/>
                  <a:stretch>
                    <a:fillRect l="-11429" r="-857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94E1C786-161D-6D3D-1C05-CD17EBAAE4F5}"/>
                    </a:ext>
                  </a:extLst>
                </p:cNvPr>
                <p:cNvSpPr txBox="1"/>
                <p:nvPr/>
              </p:nvSpPr>
              <p:spPr>
                <a:xfrm>
                  <a:off x="2725190" y="3802732"/>
                  <a:ext cx="656857" cy="35252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600" b="0" i="1" smtClean="0">
                                <a:solidFill>
                                  <a:schemeClr val="tx1"/>
                                </a:solidFill>
                                <a:latin typeface="Cambria Math" panose="02040503050406030204" pitchFamily="18" charset="0"/>
                              </a:rPr>
                            </m:ctrlPr>
                          </m:sSubPr>
                          <m:e>
                            <m:r>
                              <a:rPr lang="en-US" sz="1600" b="0" i="1" smtClean="0">
                                <a:solidFill>
                                  <a:schemeClr val="tx1"/>
                                </a:solidFill>
                                <a:latin typeface="Cambria Math" panose="02040503050406030204" pitchFamily="18" charset="0"/>
                              </a:rPr>
                              <m:t>𝑌</m:t>
                            </m:r>
                          </m:e>
                          <m:sub>
                            <m:r>
                              <a:rPr lang="en-US" sz="1600" b="0" i="1" smtClean="0">
                                <a:solidFill>
                                  <a:schemeClr val="tx1"/>
                                </a:solidFill>
                                <a:latin typeface="Cambria Math" panose="02040503050406030204" pitchFamily="18" charset="0"/>
                              </a:rPr>
                              <m:t>𝐶𝐴</m:t>
                            </m:r>
                            <m:r>
                              <a:rPr lang="en-US" sz="1600" b="0" i="1" smtClean="0">
                                <a:solidFill>
                                  <a:schemeClr val="tx1"/>
                                </a:solidFill>
                                <a:latin typeface="Cambria Math" panose="02040503050406030204" pitchFamily="18" charset="0"/>
                              </a:rPr>
                              <m:t>,2</m:t>
                            </m:r>
                          </m:sub>
                        </m:sSub>
                      </m:oMath>
                    </m:oMathPara>
                  </a14:m>
                  <a:endParaRPr lang="en-US" sz="1600" dirty="0">
                    <a:solidFill>
                      <a:schemeClr val="tx1"/>
                    </a:solidFill>
                  </a:endParaRPr>
                </a:p>
              </p:txBody>
            </p:sp>
          </mc:Choice>
          <mc:Fallback xmlns="">
            <p:sp>
              <p:nvSpPr>
                <p:cNvPr id="34" name="TextBox 33">
                  <a:extLst>
                    <a:ext uri="{FF2B5EF4-FFF2-40B4-BE49-F238E27FC236}">
                      <a16:creationId xmlns:a16="http://schemas.microsoft.com/office/drawing/2014/main" id="{0B1DAE2B-BD1E-DE59-245F-E235BA035C92}"/>
                    </a:ext>
                  </a:extLst>
                </p:cNvPr>
                <p:cNvSpPr txBox="1">
                  <a:spLocks noRot="1" noChangeAspect="1" noMove="1" noResize="1" noEditPoints="1" noAdjustHandles="1" noChangeArrowheads="1" noChangeShapeType="1" noTextEdit="1"/>
                </p:cNvSpPr>
                <p:nvPr/>
              </p:nvSpPr>
              <p:spPr>
                <a:xfrm>
                  <a:off x="2725190" y="3802732"/>
                  <a:ext cx="656857" cy="352529"/>
                </a:xfrm>
                <a:prstGeom prst="rect">
                  <a:avLst/>
                </a:prstGeom>
                <a:blipFill>
                  <a:blip r:embed="rId13"/>
                  <a:stretch>
                    <a:fillRect l="-14286" r="-857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2C01F1A8-AF8F-5DCF-75CA-601B9FEE22C1}"/>
                    </a:ext>
                  </a:extLst>
                </p:cNvPr>
                <p:cNvSpPr txBox="1"/>
                <p:nvPr/>
              </p:nvSpPr>
              <p:spPr>
                <a:xfrm>
                  <a:off x="5211929" y="3802732"/>
                  <a:ext cx="656857" cy="35252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600" b="0" i="1" smtClean="0">
                                <a:solidFill>
                                  <a:schemeClr val="tx1"/>
                                </a:solidFill>
                                <a:latin typeface="Cambria Math" panose="02040503050406030204" pitchFamily="18" charset="0"/>
                              </a:rPr>
                            </m:ctrlPr>
                          </m:sSubPr>
                          <m:e>
                            <m:r>
                              <a:rPr lang="en-US" sz="1600" b="0" i="1" smtClean="0">
                                <a:solidFill>
                                  <a:schemeClr val="tx1"/>
                                </a:solidFill>
                                <a:latin typeface="Cambria Math" panose="02040503050406030204" pitchFamily="18" charset="0"/>
                              </a:rPr>
                              <m:t>𝑌</m:t>
                            </m:r>
                          </m:e>
                          <m:sub>
                            <m:r>
                              <a:rPr lang="en-US" sz="1600" b="0" i="1" smtClean="0">
                                <a:solidFill>
                                  <a:schemeClr val="tx1"/>
                                </a:solidFill>
                                <a:latin typeface="Cambria Math" panose="02040503050406030204" pitchFamily="18" charset="0"/>
                              </a:rPr>
                              <m:t>𝐶𝐴</m:t>
                            </m:r>
                            <m:r>
                              <a:rPr lang="en-US" sz="1600" b="0" i="1" smtClean="0">
                                <a:solidFill>
                                  <a:schemeClr val="tx1"/>
                                </a:solidFill>
                                <a:latin typeface="Cambria Math" panose="02040503050406030204" pitchFamily="18" charset="0"/>
                              </a:rPr>
                              <m:t>,</m:t>
                            </m:r>
                            <m:r>
                              <a:rPr lang="en-US" sz="1600" b="0" i="1" smtClean="0">
                                <a:solidFill>
                                  <a:schemeClr val="tx1"/>
                                </a:solidFill>
                                <a:latin typeface="Cambria Math" panose="02040503050406030204" pitchFamily="18" charset="0"/>
                              </a:rPr>
                              <m:t>𝑇</m:t>
                            </m:r>
                          </m:sub>
                        </m:sSub>
                      </m:oMath>
                    </m:oMathPara>
                  </a14:m>
                  <a:endParaRPr lang="en-US" sz="1600" dirty="0">
                    <a:solidFill>
                      <a:schemeClr val="tx1"/>
                    </a:solidFill>
                  </a:endParaRPr>
                </a:p>
              </p:txBody>
            </p:sp>
          </mc:Choice>
          <mc:Fallback xmlns="">
            <p:sp>
              <p:nvSpPr>
                <p:cNvPr id="35" name="TextBox 34">
                  <a:extLst>
                    <a:ext uri="{FF2B5EF4-FFF2-40B4-BE49-F238E27FC236}">
                      <a16:creationId xmlns:a16="http://schemas.microsoft.com/office/drawing/2014/main" id="{FD772CF3-74A5-CB41-1C7E-134C85F963AA}"/>
                    </a:ext>
                  </a:extLst>
                </p:cNvPr>
                <p:cNvSpPr txBox="1">
                  <a:spLocks noRot="1" noChangeAspect="1" noMove="1" noResize="1" noEditPoints="1" noAdjustHandles="1" noChangeArrowheads="1" noChangeShapeType="1" noTextEdit="1"/>
                </p:cNvSpPr>
                <p:nvPr/>
              </p:nvSpPr>
              <p:spPr>
                <a:xfrm>
                  <a:off x="5211929" y="3802732"/>
                  <a:ext cx="656857" cy="352529"/>
                </a:xfrm>
                <a:prstGeom prst="rect">
                  <a:avLst/>
                </a:prstGeom>
                <a:blipFill>
                  <a:blip r:embed="rId14"/>
                  <a:stretch>
                    <a:fillRect l="-14286" r="-857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F7C25C7E-20CF-E639-A5D3-F495E5D9B0FB}"/>
                    </a:ext>
                  </a:extLst>
                </p:cNvPr>
                <p:cNvSpPr txBox="1"/>
                <p:nvPr/>
              </p:nvSpPr>
              <p:spPr>
                <a:xfrm>
                  <a:off x="1977446" y="4810902"/>
                  <a:ext cx="656857" cy="35252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600" b="0" i="1" smtClean="0">
                                <a:solidFill>
                                  <a:schemeClr val="tx1"/>
                                </a:solidFill>
                                <a:latin typeface="Cambria Math" panose="02040503050406030204" pitchFamily="18" charset="0"/>
                              </a:rPr>
                            </m:ctrlPr>
                          </m:sSubPr>
                          <m:e>
                            <m:r>
                              <a:rPr lang="en-US" sz="1600" b="0" i="1" smtClean="0">
                                <a:solidFill>
                                  <a:schemeClr val="tx1"/>
                                </a:solidFill>
                                <a:latin typeface="Cambria Math" panose="02040503050406030204" pitchFamily="18" charset="0"/>
                              </a:rPr>
                              <m:t>𝑌</m:t>
                            </m:r>
                          </m:e>
                          <m:sub>
                            <m:r>
                              <a:rPr lang="en-US" sz="1600" b="0" i="1" smtClean="0">
                                <a:solidFill>
                                  <a:schemeClr val="tx1"/>
                                </a:solidFill>
                                <a:latin typeface="Cambria Math" panose="02040503050406030204" pitchFamily="18" charset="0"/>
                              </a:rPr>
                              <m:t>𝑊𝑌</m:t>
                            </m:r>
                            <m:r>
                              <a:rPr lang="en-US" sz="1600" b="0" i="1" smtClean="0">
                                <a:solidFill>
                                  <a:schemeClr val="tx1"/>
                                </a:solidFill>
                                <a:latin typeface="Cambria Math" panose="02040503050406030204" pitchFamily="18" charset="0"/>
                              </a:rPr>
                              <m:t>,1</m:t>
                            </m:r>
                          </m:sub>
                        </m:sSub>
                      </m:oMath>
                    </m:oMathPara>
                  </a14:m>
                  <a:endParaRPr lang="en-US" sz="1600" dirty="0">
                    <a:solidFill>
                      <a:schemeClr val="tx1"/>
                    </a:solidFill>
                  </a:endParaRPr>
                </a:p>
              </p:txBody>
            </p:sp>
          </mc:Choice>
          <mc:Fallback xmlns="">
            <p:sp>
              <p:nvSpPr>
                <p:cNvPr id="36" name="TextBox 35">
                  <a:extLst>
                    <a:ext uri="{FF2B5EF4-FFF2-40B4-BE49-F238E27FC236}">
                      <a16:creationId xmlns:a16="http://schemas.microsoft.com/office/drawing/2014/main" id="{71CDA6A2-2C28-7108-6CFB-76227EDD354C}"/>
                    </a:ext>
                  </a:extLst>
                </p:cNvPr>
                <p:cNvSpPr txBox="1">
                  <a:spLocks noRot="1" noChangeAspect="1" noMove="1" noResize="1" noEditPoints="1" noAdjustHandles="1" noChangeArrowheads="1" noChangeShapeType="1" noTextEdit="1"/>
                </p:cNvSpPr>
                <p:nvPr/>
              </p:nvSpPr>
              <p:spPr>
                <a:xfrm>
                  <a:off x="1977446" y="4810902"/>
                  <a:ext cx="656857" cy="352529"/>
                </a:xfrm>
                <a:prstGeom prst="rect">
                  <a:avLst/>
                </a:prstGeom>
                <a:blipFill>
                  <a:blip r:embed="rId15"/>
                  <a:stretch>
                    <a:fillRect l="-14286" r="-1714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4CC8259B-6E11-5B77-7076-6CF4FF7034E1}"/>
                    </a:ext>
                  </a:extLst>
                </p:cNvPr>
                <p:cNvSpPr txBox="1"/>
                <p:nvPr/>
              </p:nvSpPr>
              <p:spPr>
                <a:xfrm>
                  <a:off x="2730451" y="4810902"/>
                  <a:ext cx="656857" cy="35252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600" b="0" i="1" smtClean="0">
                                <a:solidFill>
                                  <a:schemeClr val="tx1"/>
                                </a:solidFill>
                                <a:latin typeface="Cambria Math" panose="02040503050406030204" pitchFamily="18" charset="0"/>
                              </a:rPr>
                            </m:ctrlPr>
                          </m:sSubPr>
                          <m:e>
                            <m:r>
                              <a:rPr lang="en-US" sz="1600" b="0" i="1" smtClean="0">
                                <a:solidFill>
                                  <a:schemeClr val="tx1"/>
                                </a:solidFill>
                                <a:latin typeface="Cambria Math" panose="02040503050406030204" pitchFamily="18" charset="0"/>
                              </a:rPr>
                              <m:t>𝑌</m:t>
                            </m:r>
                          </m:e>
                          <m:sub>
                            <m:r>
                              <a:rPr lang="en-US" sz="1600" b="0" i="1" smtClean="0">
                                <a:solidFill>
                                  <a:schemeClr val="tx1"/>
                                </a:solidFill>
                                <a:latin typeface="Cambria Math" panose="02040503050406030204" pitchFamily="18" charset="0"/>
                              </a:rPr>
                              <m:t>𝑊𝑌</m:t>
                            </m:r>
                            <m:r>
                              <a:rPr lang="en-US" sz="1600" b="0" i="1" smtClean="0">
                                <a:solidFill>
                                  <a:schemeClr val="tx1"/>
                                </a:solidFill>
                                <a:latin typeface="Cambria Math" panose="02040503050406030204" pitchFamily="18" charset="0"/>
                              </a:rPr>
                              <m:t>,2</m:t>
                            </m:r>
                          </m:sub>
                        </m:sSub>
                      </m:oMath>
                    </m:oMathPara>
                  </a14:m>
                  <a:endParaRPr lang="en-US" sz="1600" dirty="0">
                    <a:solidFill>
                      <a:schemeClr val="tx1"/>
                    </a:solidFill>
                  </a:endParaRPr>
                </a:p>
              </p:txBody>
            </p:sp>
          </mc:Choice>
          <mc:Fallback xmlns="">
            <p:sp>
              <p:nvSpPr>
                <p:cNvPr id="37" name="TextBox 36">
                  <a:extLst>
                    <a:ext uri="{FF2B5EF4-FFF2-40B4-BE49-F238E27FC236}">
                      <a16:creationId xmlns:a16="http://schemas.microsoft.com/office/drawing/2014/main" id="{C21EAB5D-2BE5-EE65-C5B8-1F566C57B147}"/>
                    </a:ext>
                  </a:extLst>
                </p:cNvPr>
                <p:cNvSpPr txBox="1">
                  <a:spLocks noRot="1" noChangeAspect="1" noMove="1" noResize="1" noEditPoints="1" noAdjustHandles="1" noChangeArrowheads="1" noChangeShapeType="1" noTextEdit="1"/>
                </p:cNvSpPr>
                <p:nvPr/>
              </p:nvSpPr>
              <p:spPr>
                <a:xfrm>
                  <a:off x="2730451" y="4810902"/>
                  <a:ext cx="656857" cy="352529"/>
                </a:xfrm>
                <a:prstGeom prst="rect">
                  <a:avLst/>
                </a:prstGeom>
                <a:blipFill>
                  <a:blip r:embed="rId16"/>
                  <a:stretch>
                    <a:fillRect l="-17143" r="-1428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0ABD2534-51EB-DE27-6C82-98431125DB71}"/>
                    </a:ext>
                  </a:extLst>
                </p:cNvPr>
                <p:cNvSpPr txBox="1"/>
                <p:nvPr/>
              </p:nvSpPr>
              <p:spPr>
                <a:xfrm>
                  <a:off x="5217188" y="4810902"/>
                  <a:ext cx="656857" cy="35252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600" b="0" i="1" smtClean="0">
                                <a:solidFill>
                                  <a:schemeClr val="tx1"/>
                                </a:solidFill>
                                <a:latin typeface="Cambria Math" panose="02040503050406030204" pitchFamily="18" charset="0"/>
                              </a:rPr>
                            </m:ctrlPr>
                          </m:sSubPr>
                          <m:e>
                            <m:r>
                              <a:rPr lang="en-US" sz="1600" b="0" i="1" smtClean="0">
                                <a:solidFill>
                                  <a:schemeClr val="tx1"/>
                                </a:solidFill>
                                <a:latin typeface="Cambria Math" panose="02040503050406030204" pitchFamily="18" charset="0"/>
                              </a:rPr>
                              <m:t>𝑌</m:t>
                            </m:r>
                          </m:e>
                          <m:sub>
                            <m:r>
                              <a:rPr lang="en-US" sz="1600" b="0" i="1" smtClean="0">
                                <a:solidFill>
                                  <a:schemeClr val="tx1"/>
                                </a:solidFill>
                                <a:latin typeface="Cambria Math" panose="02040503050406030204" pitchFamily="18" charset="0"/>
                              </a:rPr>
                              <m:t>𝑊𝑌</m:t>
                            </m:r>
                            <m:r>
                              <a:rPr lang="en-US" sz="1600" b="0" i="1" smtClean="0">
                                <a:solidFill>
                                  <a:schemeClr val="tx1"/>
                                </a:solidFill>
                                <a:latin typeface="Cambria Math" panose="02040503050406030204" pitchFamily="18" charset="0"/>
                              </a:rPr>
                              <m:t>,</m:t>
                            </m:r>
                            <m:r>
                              <a:rPr lang="en-US" sz="1600" b="0" i="1" smtClean="0">
                                <a:solidFill>
                                  <a:schemeClr val="tx1"/>
                                </a:solidFill>
                                <a:latin typeface="Cambria Math" panose="02040503050406030204" pitchFamily="18" charset="0"/>
                              </a:rPr>
                              <m:t>𝑇</m:t>
                            </m:r>
                          </m:sub>
                        </m:sSub>
                      </m:oMath>
                    </m:oMathPara>
                  </a14:m>
                  <a:endParaRPr lang="en-US" sz="1600" dirty="0">
                    <a:solidFill>
                      <a:schemeClr val="tx1"/>
                    </a:solidFill>
                  </a:endParaRPr>
                </a:p>
              </p:txBody>
            </p:sp>
          </mc:Choice>
          <mc:Fallback xmlns="">
            <p:sp>
              <p:nvSpPr>
                <p:cNvPr id="38" name="TextBox 37">
                  <a:extLst>
                    <a:ext uri="{FF2B5EF4-FFF2-40B4-BE49-F238E27FC236}">
                      <a16:creationId xmlns:a16="http://schemas.microsoft.com/office/drawing/2014/main" id="{9CC86B30-A4A5-F724-BDF9-996CF5977625}"/>
                    </a:ext>
                  </a:extLst>
                </p:cNvPr>
                <p:cNvSpPr txBox="1">
                  <a:spLocks noRot="1" noChangeAspect="1" noMove="1" noResize="1" noEditPoints="1" noAdjustHandles="1" noChangeArrowheads="1" noChangeShapeType="1" noTextEdit="1"/>
                </p:cNvSpPr>
                <p:nvPr/>
              </p:nvSpPr>
              <p:spPr>
                <a:xfrm>
                  <a:off x="5217188" y="4810902"/>
                  <a:ext cx="656857" cy="352529"/>
                </a:xfrm>
                <a:prstGeom prst="rect">
                  <a:avLst/>
                </a:prstGeom>
                <a:blipFill>
                  <a:blip r:embed="rId17"/>
                  <a:stretch>
                    <a:fillRect l="-14286" r="-1714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EB1D53CE-A0D1-5F41-FA3B-3B8F17926CBF}"/>
                    </a:ext>
                  </a:extLst>
                </p:cNvPr>
                <p:cNvSpPr txBox="1"/>
                <p:nvPr/>
              </p:nvSpPr>
              <p:spPr>
                <a:xfrm>
                  <a:off x="2116562" y="4363343"/>
                  <a:ext cx="486873" cy="42219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400" b="0" i="1" smtClean="0">
                            <a:solidFill>
                              <a:schemeClr val="tx1"/>
                            </a:solidFill>
                            <a:latin typeface="Cambria Math" panose="02040503050406030204" pitchFamily="18" charset="0"/>
                          </a:rPr>
                          <m:t>⋮</m:t>
                        </m:r>
                      </m:oMath>
                    </m:oMathPara>
                  </a14:m>
                  <a:endParaRPr lang="en-US" sz="1400" dirty="0">
                    <a:solidFill>
                      <a:schemeClr val="tx1"/>
                    </a:solidFill>
                  </a:endParaRPr>
                </a:p>
              </p:txBody>
            </p:sp>
          </mc:Choice>
          <mc:Fallback xmlns="">
            <p:sp>
              <p:nvSpPr>
                <p:cNvPr id="39" name="TextBox 38">
                  <a:extLst>
                    <a:ext uri="{FF2B5EF4-FFF2-40B4-BE49-F238E27FC236}">
                      <a16:creationId xmlns:a16="http://schemas.microsoft.com/office/drawing/2014/main" id="{8DB545EC-0A63-ED4A-49C0-76653BBC9FD2}"/>
                    </a:ext>
                  </a:extLst>
                </p:cNvPr>
                <p:cNvSpPr txBox="1">
                  <a:spLocks noRot="1" noChangeAspect="1" noMove="1" noResize="1" noEditPoints="1" noAdjustHandles="1" noChangeArrowheads="1" noChangeShapeType="1" noTextEdit="1"/>
                </p:cNvSpPr>
                <p:nvPr/>
              </p:nvSpPr>
              <p:spPr>
                <a:xfrm>
                  <a:off x="2116562" y="4363343"/>
                  <a:ext cx="486873" cy="422192"/>
                </a:xfrm>
                <a:prstGeom prst="rect">
                  <a:avLst/>
                </a:prstGeom>
                <a:blipFill>
                  <a:blip r:embed="rId1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253EE024-AAAB-D068-516B-1585B936D74E}"/>
                    </a:ext>
                  </a:extLst>
                </p:cNvPr>
                <p:cNvSpPr txBox="1"/>
                <p:nvPr/>
              </p:nvSpPr>
              <p:spPr>
                <a:xfrm>
                  <a:off x="5356304" y="4338169"/>
                  <a:ext cx="486873" cy="42219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400" b="0" i="1" smtClean="0">
                            <a:solidFill>
                              <a:schemeClr val="tx1"/>
                            </a:solidFill>
                            <a:latin typeface="Cambria Math" panose="02040503050406030204" pitchFamily="18" charset="0"/>
                          </a:rPr>
                          <m:t>⋮</m:t>
                        </m:r>
                      </m:oMath>
                    </m:oMathPara>
                  </a14:m>
                  <a:endParaRPr lang="en-US" sz="1400" dirty="0">
                    <a:solidFill>
                      <a:schemeClr val="tx1"/>
                    </a:solidFill>
                  </a:endParaRPr>
                </a:p>
              </p:txBody>
            </p:sp>
          </mc:Choice>
          <mc:Fallback xmlns="">
            <p:sp>
              <p:nvSpPr>
                <p:cNvPr id="40" name="TextBox 39">
                  <a:extLst>
                    <a:ext uri="{FF2B5EF4-FFF2-40B4-BE49-F238E27FC236}">
                      <a16:creationId xmlns:a16="http://schemas.microsoft.com/office/drawing/2014/main" id="{054B7A61-0468-2B75-8484-26EB1178770A}"/>
                    </a:ext>
                  </a:extLst>
                </p:cNvPr>
                <p:cNvSpPr txBox="1">
                  <a:spLocks noRot="1" noChangeAspect="1" noMove="1" noResize="1" noEditPoints="1" noAdjustHandles="1" noChangeArrowheads="1" noChangeShapeType="1" noTextEdit="1"/>
                </p:cNvSpPr>
                <p:nvPr/>
              </p:nvSpPr>
              <p:spPr>
                <a:xfrm>
                  <a:off x="5356304" y="4338169"/>
                  <a:ext cx="486873" cy="422192"/>
                </a:xfrm>
                <a:prstGeom prst="rect">
                  <a:avLst/>
                </a:prstGeom>
                <a:blipFill>
                  <a:blip r:embed="rId1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05DAC137-D7E0-C20A-4254-99C49EEF9378}"/>
                    </a:ext>
                  </a:extLst>
                </p:cNvPr>
                <p:cNvSpPr txBox="1"/>
                <p:nvPr/>
              </p:nvSpPr>
              <p:spPr>
                <a:xfrm>
                  <a:off x="3804922" y="2798885"/>
                  <a:ext cx="850773" cy="42219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400" i="1" smtClean="0">
                            <a:solidFill>
                              <a:schemeClr val="tx1"/>
                            </a:solidFill>
                            <a:latin typeface="Cambria Math" panose="02040503050406030204" pitchFamily="18" charset="0"/>
                          </a:rPr>
                          <m:t>⋯</m:t>
                        </m:r>
                      </m:oMath>
                    </m:oMathPara>
                  </a14:m>
                  <a:endParaRPr lang="en-US" sz="1400" dirty="0">
                    <a:solidFill>
                      <a:schemeClr val="tx1"/>
                    </a:solidFill>
                  </a:endParaRPr>
                </a:p>
              </p:txBody>
            </p:sp>
          </mc:Choice>
          <mc:Fallback xmlns="">
            <p:sp>
              <p:nvSpPr>
                <p:cNvPr id="41" name="TextBox 40">
                  <a:extLst>
                    <a:ext uri="{FF2B5EF4-FFF2-40B4-BE49-F238E27FC236}">
                      <a16:creationId xmlns:a16="http://schemas.microsoft.com/office/drawing/2014/main" id="{2B837E66-335C-992C-58BB-0F77BA93EF92}"/>
                    </a:ext>
                  </a:extLst>
                </p:cNvPr>
                <p:cNvSpPr txBox="1">
                  <a:spLocks noRot="1" noChangeAspect="1" noMove="1" noResize="1" noEditPoints="1" noAdjustHandles="1" noChangeArrowheads="1" noChangeShapeType="1" noTextEdit="1"/>
                </p:cNvSpPr>
                <p:nvPr/>
              </p:nvSpPr>
              <p:spPr>
                <a:xfrm>
                  <a:off x="3804922" y="2798885"/>
                  <a:ext cx="850773" cy="422192"/>
                </a:xfrm>
                <a:prstGeom prst="rect">
                  <a:avLst/>
                </a:prstGeom>
                <a:blipFill>
                  <a:blip r:embed="rId2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B1BF8124-F175-B0EF-D908-FC98BC1E999F}"/>
                    </a:ext>
                  </a:extLst>
                </p:cNvPr>
                <p:cNvSpPr txBox="1"/>
                <p:nvPr/>
              </p:nvSpPr>
              <p:spPr>
                <a:xfrm>
                  <a:off x="3799342" y="4829425"/>
                  <a:ext cx="850773" cy="42219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400" i="1" smtClean="0">
                            <a:solidFill>
                              <a:schemeClr val="tx1"/>
                            </a:solidFill>
                            <a:latin typeface="Cambria Math" panose="02040503050406030204" pitchFamily="18" charset="0"/>
                          </a:rPr>
                          <m:t>⋯</m:t>
                        </m:r>
                      </m:oMath>
                    </m:oMathPara>
                  </a14:m>
                  <a:endParaRPr lang="en-US" sz="1400" dirty="0">
                    <a:solidFill>
                      <a:schemeClr val="tx1"/>
                    </a:solidFill>
                  </a:endParaRPr>
                </a:p>
              </p:txBody>
            </p:sp>
          </mc:Choice>
          <mc:Fallback xmlns="">
            <p:sp>
              <p:nvSpPr>
                <p:cNvPr id="42" name="TextBox 41">
                  <a:extLst>
                    <a:ext uri="{FF2B5EF4-FFF2-40B4-BE49-F238E27FC236}">
                      <a16:creationId xmlns:a16="http://schemas.microsoft.com/office/drawing/2014/main" id="{BAFC0EE4-D813-5B8F-079C-C4AAC35DE8E0}"/>
                    </a:ext>
                  </a:extLst>
                </p:cNvPr>
                <p:cNvSpPr txBox="1">
                  <a:spLocks noRot="1" noChangeAspect="1" noMove="1" noResize="1" noEditPoints="1" noAdjustHandles="1" noChangeArrowheads="1" noChangeShapeType="1" noTextEdit="1"/>
                </p:cNvSpPr>
                <p:nvPr/>
              </p:nvSpPr>
              <p:spPr>
                <a:xfrm>
                  <a:off x="3799342" y="4829425"/>
                  <a:ext cx="850773" cy="422192"/>
                </a:xfrm>
                <a:prstGeom prst="rect">
                  <a:avLst/>
                </a:prstGeom>
                <a:blipFill>
                  <a:blip r:embed="rId21"/>
                  <a:stretch>
                    <a:fillRect/>
                  </a:stretch>
                </a:blipFill>
              </p:spPr>
              <p:txBody>
                <a:bodyPr/>
                <a:lstStyle/>
                <a:p>
                  <a:r>
                    <a:rPr lang="en-US">
                      <a:noFill/>
                    </a:rPr>
                    <a:t> </a:t>
                  </a:r>
                </a:p>
              </p:txBody>
            </p:sp>
          </mc:Fallback>
        </mc:AlternateContent>
      </p:grpSp>
      <p:sp>
        <p:nvSpPr>
          <p:cNvPr id="26" name="TextBox 25">
            <a:extLst>
              <a:ext uri="{FF2B5EF4-FFF2-40B4-BE49-F238E27FC236}">
                <a16:creationId xmlns:a16="http://schemas.microsoft.com/office/drawing/2014/main" id="{A46C6DA1-FADC-B327-2E8C-F9A7DAD70DD2}"/>
              </a:ext>
            </a:extLst>
          </p:cNvPr>
          <p:cNvSpPr txBox="1"/>
          <p:nvPr/>
        </p:nvSpPr>
        <p:spPr>
          <a:xfrm>
            <a:off x="7356450" y="3724887"/>
            <a:ext cx="689657" cy="302267"/>
          </a:xfrm>
          <a:prstGeom prst="rect">
            <a:avLst/>
          </a:prstGeom>
          <a:noFill/>
        </p:spPr>
        <p:txBody>
          <a:bodyPr wrap="square" rtlCol="0">
            <a:spAutoFit/>
          </a:bodyPr>
          <a:lstStyle/>
          <a:p>
            <a:pPr algn="r"/>
            <a:r>
              <a:rPr lang="en-US" sz="1100" dirty="0"/>
              <a:t>1970</a:t>
            </a:r>
          </a:p>
        </p:txBody>
      </p:sp>
      <p:sp>
        <p:nvSpPr>
          <p:cNvPr id="27" name="TextBox 26">
            <a:extLst>
              <a:ext uri="{FF2B5EF4-FFF2-40B4-BE49-F238E27FC236}">
                <a16:creationId xmlns:a16="http://schemas.microsoft.com/office/drawing/2014/main" id="{79B1F035-0F31-49D2-0531-47FF781F9DC4}"/>
              </a:ext>
            </a:extLst>
          </p:cNvPr>
          <p:cNvSpPr txBox="1"/>
          <p:nvPr/>
        </p:nvSpPr>
        <p:spPr>
          <a:xfrm>
            <a:off x="9698811" y="3728852"/>
            <a:ext cx="689657" cy="302267"/>
          </a:xfrm>
          <a:prstGeom prst="rect">
            <a:avLst/>
          </a:prstGeom>
          <a:noFill/>
        </p:spPr>
        <p:txBody>
          <a:bodyPr wrap="square" rtlCol="0">
            <a:spAutoFit/>
          </a:bodyPr>
          <a:lstStyle/>
          <a:p>
            <a:pPr algn="r"/>
            <a:r>
              <a:rPr lang="en-US" sz="1100" dirty="0"/>
              <a:t>2000</a:t>
            </a:r>
          </a:p>
        </p:txBody>
      </p:sp>
      <p:sp>
        <p:nvSpPr>
          <p:cNvPr id="34" name="TextBox 33">
            <a:extLst>
              <a:ext uri="{FF2B5EF4-FFF2-40B4-BE49-F238E27FC236}">
                <a16:creationId xmlns:a16="http://schemas.microsoft.com/office/drawing/2014/main" id="{018317D6-6999-D5B0-BA8F-A63A63F9ED06}"/>
              </a:ext>
            </a:extLst>
          </p:cNvPr>
          <p:cNvSpPr txBox="1"/>
          <p:nvPr/>
        </p:nvSpPr>
        <p:spPr>
          <a:xfrm>
            <a:off x="7138359" y="5888636"/>
            <a:ext cx="435619" cy="293377"/>
          </a:xfrm>
          <a:prstGeom prst="rect">
            <a:avLst/>
          </a:prstGeom>
          <a:noFill/>
        </p:spPr>
        <p:txBody>
          <a:bodyPr wrap="none" rtlCol="0">
            <a:spAutoFit/>
          </a:bodyPr>
          <a:lstStyle/>
          <a:p>
            <a:r>
              <a:rPr lang="en-US" sz="1050" dirty="0"/>
              <a:t>WY</a:t>
            </a:r>
          </a:p>
        </p:txBody>
      </p:sp>
      <p:sp>
        <p:nvSpPr>
          <p:cNvPr id="35" name="TextBox 34">
            <a:extLst>
              <a:ext uri="{FF2B5EF4-FFF2-40B4-BE49-F238E27FC236}">
                <a16:creationId xmlns:a16="http://schemas.microsoft.com/office/drawing/2014/main" id="{AE2D4385-7A99-14BA-109E-2F7D93522860}"/>
              </a:ext>
            </a:extLst>
          </p:cNvPr>
          <p:cNvSpPr txBox="1"/>
          <p:nvPr/>
        </p:nvSpPr>
        <p:spPr>
          <a:xfrm>
            <a:off x="6492946" y="4120250"/>
            <a:ext cx="1014057" cy="302267"/>
          </a:xfrm>
          <a:prstGeom prst="rect">
            <a:avLst/>
          </a:prstGeom>
          <a:noFill/>
        </p:spPr>
        <p:txBody>
          <a:bodyPr wrap="square" rtlCol="0">
            <a:spAutoFit/>
          </a:bodyPr>
          <a:lstStyle/>
          <a:p>
            <a:pPr algn="r"/>
            <a:r>
              <a:rPr lang="en-US" sz="1050" dirty="0"/>
              <a:t>AL</a:t>
            </a:r>
          </a:p>
        </p:txBody>
      </p:sp>
      <p:sp>
        <p:nvSpPr>
          <p:cNvPr id="36" name="TextBox 35">
            <a:extLst>
              <a:ext uri="{FF2B5EF4-FFF2-40B4-BE49-F238E27FC236}">
                <a16:creationId xmlns:a16="http://schemas.microsoft.com/office/drawing/2014/main" id="{6456D93A-3911-792D-B619-0CD4C411D0D0}"/>
              </a:ext>
            </a:extLst>
          </p:cNvPr>
          <p:cNvSpPr txBox="1"/>
          <p:nvPr/>
        </p:nvSpPr>
        <p:spPr>
          <a:xfrm>
            <a:off x="6490355" y="4518111"/>
            <a:ext cx="1014057" cy="302267"/>
          </a:xfrm>
          <a:prstGeom prst="rect">
            <a:avLst/>
          </a:prstGeom>
          <a:noFill/>
        </p:spPr>
        <p:txBody>
          <a:bodyPr wrap="square" rtlCol="0">
            <a:spAutoFit/>
          </a:bodyPr>
          <a:lstStyle/>
          <a:p>
            <a:pPr algn="r"/>
            <a:r>
              <a:rPr lang="en-US" sz="1050" dirty="0"/>
              <a:t>AK</a:t>
            </a:r>
          </a:p>
        </p:txBody>
      </p:sp>
      <p:sp>
        <p:nvSpPr>
          <p:cNvPr id="37" name="TextBox 36">
            <a:extLst>
              <a:ext uri="{FF2B5EF4-FFF2-40B4-BE49-F238E27FC236}">
                <a16:creationId xmlns:a16="http://schemas.microsoft.com/office/drawing/2014/main" id="{344BFFE7-3E3A-B09D-B28C-11531114EF8B}"/>
              </a:ext>
            </a:extLst>
          </p:cNvPr>
          <p:cNvSpPr txBox="1"/>
          <p:nvPr/>
        </p:nvSpPr>
        <p:spPr>
          <a:xfrm>
            <a:off x="6488915" y="4992747"/>
            <a:ext cx="1014057" cy="302267"/>
          </a:xfrm>
          <a:prstGeom prst="rect">
            <a:avLst/>
          </a:prstGeom>
          <a:noFill/>
        </p:spPr>
        <p:txBody>
          <a:bodyPr wrap="square" rtlCol="0">
            <a:spAutoFit/>
          </a:bodyPr>
          <a:lstStyle/>
          <a:p>
            <a:pPr algn="r"/>
            <a:r>
              <a:rPr lang="en-US" sz="1050" dirty="0"/>
              <a:t>CA</a:t>
            </a:r>
          </a:p>
        </p:txBody>
      </p:sp>
      <p:sp>
        <p:nvSpPr>
          <p:cNvPr id="38" name="TextBox 37">
            <a:extLst>
              <a:ext uri="{FF2B5EF4-FFF2-40B4-BE49-F238E27FC236}">
                <a16:creationId xmlns:a16="http://schemas.microsoft.com/office/drawing/2014/main" id="{22D5A920-4CCC-D71B-DC64-FE9BCB477F49}"/>
              </a:ext>
            </a:extLst>
          </p:cNvPr>
          <p:cNvSpPr txBox="1"/>
          <p:nvPr/>
        </p:nvSpPr>
        <p:spPr>
          <a:xfrm>
            <a:off x="8913787" y="3724887"/>
            <a:ext cx="689657" cy="302267"/>
          </a:xfrm>
          <a:prstGeom prst="rect">
            <a:avLst/>
          </a:prstGeom>
          <a:noFill/>
        </p:spPr>
        <p:txBody>
          <a:bodyPr wrap="square" rtlCol="0">
            <a:spAutoFit/>
          </a:bodyPr>
          <a:lstStyle/>
          <a:p>
            <a:pPr algn="r"/>
            <a:r>
              <a:rPr lang="en-US" sz="1100" dirty="0"/>
              <a:t>1989</a:t>
            </a:r>
          </a:p>
        </p:txBody>
      </p:sp>
      <p:sp>
        <p:nvSpPr>
          <p:cNvPr id="39" name="Rounded Rectangle 38">
            <a:extLst>
              <a:ext uri="{FF2B5EF4-FFF2-40B4-BE49-F238E27FC236}">
                <a16:creationId xmlns:a16="http://schemas.microsoft.com/office/drawing/2014/main" id="{2866C2B3-34C1-0220-BBE0-B975CA62509D}"/>
              </a:ext>
            </a:extLst>
          </p:cNvPr>
          <p:cNvSpPr/>
          <p:nvPr/>
        </p:nvSpPr>
        <p:spPr>
          <a:xfrm>
            <a:off x="9183118" y="4906464"/>
            <a:ext cx="1210082" cy="494705"/>
          </a:xfrm>
          <a:prstGeom prst="roundRect">
            <a:avLst/>
          </a:prstGeom>
          <a:solidFill>
            <a:schemeClr val="bg1"/>
          </a:solid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accent2"/>
                </a:solidFill>
              </a:rPr>
              <a:t>? ? ? ? ? </a:t>
            </a:r>
          </a:p>
        </p:txBody>
      </p:sp>
      <p:sp>
        <p:nvSpPr>
          <p:cNvPr id="33" name="TextBox 32">
            <a:extLst>
              <a:ext uri="{FF2B5EF4-FFF2-40B4-BE49-F238E27FC236}">
                <a16:creationId xmlns:a16="http://schemas.microsoft.com/office/drawing/2014/main" id="{787C522C-2573-8398-29BA-5FC177A56A54}"/>
              </a:ext>
            </a:extLst>
          </p:cNvPr>
          <p:cNvSpPr txBox="1"/>
          <p:nvPr/>
        </p:nvSpPr>
        <p:spPr>
          <a:xfrm>
            <a:off x="1727141" y="4859149"/>
            <a:ext cx="1014057" cy="302267"/>
          </a:xfrm>
          <a:prstGeom prst="rect">
            <a:avLst/>
          </a:prstGeom>
          <a:solidFill>
            <a:schemeClr val="bg1"/>
          </a:solidFill>
        </p:spPr>
        <p:txBody>
          <a:bodyPr wrap="square" rtlCol="0">
            <a:spAutoFit/>
          </a:bodyPr>
          <a:lstStyle/>
          <a:p>
            <a:pPr algn="r"/>
            <a:r>
              <a:rPr lang="en-US" sz="1050" dirty="0"/>
              <a:t>CA</a:t>
            </a:r>
          </a:p>
        </p:txBody>
      </p:sp>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49993B8D-341A-45BC-B8A9-6C396CE1A7B8}"/>
                  </a:ext>
                </a:extLst>
              </p:cNvPr>
              <p:cNvSpPr/>
              <p:nvPr/>
            </p:nvSpPr>
            <p:spPr>
              <a:xfrm>
                <a:off x="2811731" y="4017571"/>
                <a:ext cx="682626" cy="2268533"/>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3200" b="0" i="1" dirty="0" smtClean="0">
                          <a:solidFill>
                            <a:schemeClr val="tx1"/>
                          </a:solidFill>
                          <a:latin typeface="Cambria Math" panose="02040503050406030204" pitchFamily="18" charset="0"/>
                        </a:rPr>
                        <m:t>𝑋</m:t>
                      </m:r>
                    </m:oMath>
                  </m:oMathPara>
                </a14:m>
                <a:endParaRPr lang="en-US" sz="1400" dirty="0">
                  <a:solidFill>
                    <a:schemeClr val="tx1"/>
                  </a:solidFill>
                </a:endParaRPr>
              </a:p>
            </p:txBody>
          </p:sp>
        </mc:Choice>
        <mc:Fallback xmlns="">
          <p:sp>
            <p:nvSpPr>
              <p:cNvPr id="4" name="Rectangle 3">
                <a:extLst>
                  <a:ext uri="{FF2B5EF4-FFF2-40B4-BE49-F238E27FC236}">
                    <a16:creationId xmlns:a16="http://schemas.microsoft.com/office/drawing/2014/main" id="{49993B8D-341A-45BC-B8A9-6C396CE1A7B8}"/>
                  </a:ext>
                </a:extLst>
              </p:cNvPr>
              <p:cNvSpPr>
                <a:spLocks noRot="1" noChangeAspect="1" noMove="1" noResize="1" noEditPoints="1" noAdjustHandles="1" noChangeArrowheads="1" noChangeShapeType="1" noTextEdit="1"/>
              </p:cNvSpPr>
              <p:nvPr/>
            </p:nvSpPr>
            <p:spPr>
              <a:xfrm>
                <a:off x="2811731" y="4017571"/>
                <a:ext cx="682626" cy="2268533"/>
              </a:xfrm>
              <a:prstGeom prst="rect">
                <a:avLst/>
              </a:prstGeom>
              <a:blipFill>
                <a:blip r:embed="rId2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Rectangle 4">
                <a:extLst>
                  <a:ext uri="{FF2B5EF4-FFF2-40B4-BE49-F238E27FC236}">
                    <a16:creationId xmlns:a16="http://schemas.microsoft.com/office/drawing/2014/main" id="{D1FEEDC2-AD15-8958-D764-F65A396849DF}"/>
                  </a:ext>
                </a:extLst>
              </p:cNvPr>
              <p:cNvSpPr/>
              <p:nvPr/>
            </p:nvSpPr>
            <p:spPr>
              <a:xfrm>
                <a:off x="3603605" y="4025780"/>
                <a:ext cx="2057015" cy="630713"/>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𝐵</m:t>
                      </m:r>
                    </m:oMath>
                  </m:oMathPara>
                </a14:m>
                <a:endParaRPr lang="en-US" sz="1400" dirty="0">
                  <a:solidFill>
                    <a:schemeClr val="tx1"/>
                  </a:solidFill>
                </a:endParaRPr>
              </a:p>
            </p:txBody>
          </p:sp>
        </mc:Choice>
        <mc:Fallback xmlns="">
          <p:sp>
            <p:nvSpPr>
              <p:cNvPr id="5" name="Rectangle 4">
                <a:extLst>
                  <a:ext uri="{FF2B5EF4-FFF2-40B4-BE49-F238E27FC236}">
                    <a16:creationId xmlns:a16="http://schemas.microsoft.com/office/drawing/2014/main" id="{D1FEEDC2-AD15-8958-D764-F65A396849DF}"/>
                  </a:ext>
                </a:extLst>
              </p:cNvPr>
              <p:cNvSpPr>
                <a:spLocks noRot="1" noChangeAspect="1" noMove="1" noResize="1" noEditPoints="1" noAdjustHandles="1" noChangeArrowheads="1" noChangeShapeType="1" noTextEdit="1"/>
              </p:cNvSpPr>
              <p:nvPr/>
            </p:nvSpPr>
            <p:spPr>
              <a:xfrm>
                <a:off x="3603605" y="4025780"/>
                <a:ext cx="2057015" cy="630713"/>
              </a:xfrm>
              <a:prstGeom prst="rect">
                <a:avLst/>
              </a:prstGeom>
              <a:blipFill>
                <a:blip r:embed="rId2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1BCA7D81-EC94-E74F-764A-6AB85BE4717C}"/>
                  </a:ext>
                </a:extLst>
              </p:cNvPr>
              <p:cNvSpPr txBox="1"/>
              <p:nvPr/>
            </p:nvSpPr>
            <p:spPr>
              <a:xfrm>
                <a:off x="5720995" y="4114288"/>
                <a:ext cx="620763" cy="49785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m:t>
                      </m:r>
                    </m:oMath>
                  </m:oMathPara>
                </a14:m>
                <a:endParaRPr lang="en-US" sz="2800" dirty="0">
                  <a:solidFill>
                    <a:schemeClr val="tx1"/>
                  </a:solidFill>
                </a:endParaRPr>
              </a:p>
            </p:txBody>
          </p:sp>
        </mc:Choice>
        <mc:Fallback xmlns="">
          <p:sp>
            <p:nvSpPr>
              <p:cNvPr id="6" name="TextBox 5">
                <a:extLst>
                  <a:ext uri="{FF2B5EF4-FFF2-40B4-BE49-F238E27FC236}">
                    <a16:creationId xmlns:a16="http://schemas.microsoft.com/office/drawing/2014/main" id="{1BCA7D81-EC94-E74F-764A-6AB85BE4717C}"/>
                  </a:ext>
                </a:extLst>
              </p:cNvPr>
              <p:cNvSpPr txBox="1">
                <a:spLocks noRot="1" noChangeAspect="1" noMove="1" noResize="1" noEditPoints="1" noAdjustHandles="1" noChangeArrowheads="1" noChangeShapeType="1" noTextEdit="1"/>
              </p:cNvSpPr>
              <p:nvPr/>
            </p:nvSpPr>
            <p:spPr>
              <a:xfrm>
                <a:off x="5720995" y="4114288"/>
                <a:ext cx="620763" cy="497851"/>
              </a:xfrm>
              <a:prstGeom prst="rect">
                <a:avLst/>
              </a:prstGeom>
              <a:blipFill>
                <a:blip r:embed="rId24"/>
                <a:stretch>
                  <a:fillRect/>
                </a:stretch>
              </a:blipFill>
            </p:spPr>
            <p:txBody>
              <a:bodyPr/>
              <a:lstStyle/>
              <a:p>
                <a:r>
                  <a:rPr lang="en-US">
                    <a:noFill/>
                  </a:rPr>
                  <a:t> </a:t>
                </a:r>
              </a:p>
            </p:txBody>
          </p:sp>
        </mc:Fallback>
      </mc:AlternateContent>
      <p:sp>
        <p:nvSpPr>
          <p:cNvPr id="28" name="TextBox 27">
            <a:extLst>
              <a:ext uri="{FF2B5EF4-FFF2-40B4-BE49-F238E27FC236}">
                <a16:creationId xmlns:a16="http://schemas.microsoft.com/office/drawing/2014/main" id="{515C9A1B-9AEE-3008-9454-2297AD192FCF}"/>
              </a:ext>
            </a:extLst>
          </p:cNvPr>
          <p:cNvSpPr txBox="1"/>
          <p:nvPr/>
        </p:nvSpPr>
        <p:spPr>
          <a:xfrm>
            <a:off x="2371049" y="5992727"/>
            <a:ext cx="435619" cy="293377"/>
          </a:xfrm>
          <a:prstGeom prst="rect">
            <a:avLst/>
          </a:prstGeom>
          <a:solidFill>
            <a:schemeClr val="bg1"/>
          </a:solidFill>
        </p:spPr>
        <p:txBody>
          <a:bodyPr wrap="none" rtlCol="0">
            <a:spAutoFit/>
          </a:bodyPr>
          <a:lstStyle/>
          <a:p>
            <a:r>
              <a:rPr lang="en-US" sz="1050" dirty="0"/>
              <a:t>WY</a:t>
            </a:r>
          </a:p>
        </p:txBody>
      </p:sp>
      <p:sp>
        <p:nvSpPr>
          <p:cNvPr id="30" name="TextBox 29">
            <a:extLst>
              <a:ext uri="{FF2B5EF4-FFF2-40B4-BE49-F238E27FC236}">
                <a16:creationId xmlns:a16="http://schemas.microsoft.com/office/drawing/2014/main" id="{852ABDED-C105-2847-D008-54BAF50915C9}"/>
              </a:ext>
            </a:extLst>
          </p:cNvPr>
          <p:cNvSpPr txBox="1"/>
          <p:nvPr/>
        </p:nvSpPr>
        <p:spPr>
          <a:xfrm>
            <a:off x="3330058" y="3785396"/>
            <a:ext cx="682626" cy="302267"/>
          </a:xfrm>
          <a:prstGeom prst="rect">
            <a:avLst/>
          </a:prstGeom>
          <a:noFill/>
        </p:spPr>
        <p:txBody>
          <a:bodyPr wrap="square" rtlCol="0">
            <a:spAutoFit/>
          </a:bodyPr>
          <a:lstStyle/>
          <a:p>
            <a:pPr algn="r"/>
            <a:r>
              <a:rPr lang="en-US" sz="1100" dirty="0"/>
              <a:t>1970</a:t>
            </a:r>
          </a:p>
        </p:txBody>
      </p:sp>
      <p:sp>
        <p:nvSpPr>
          <p:cNvPr id="31" name="TextBox 30">
            <a:extLst>
              <a:ext uri="{FF2B5EF4-FFF2-40B4-BE49-F238E27FC236}">
                <a16:creationId xmlns:a16="http://schemas.microsoft.com/office/drawing/2014/main" id="{63E8B9A7-FAE8-A89C-0E84-BD00EAA4E798}"/>
              </a:ext>
            </a:extLst>
          </p:cNvPr>
          <p:cNvSpPr txBox="1"/>
          <p:nvPr/>
        </p:nvSpPr>
        <p:spPr>
          <a:xfrm>
            <a:off x="5055213" y="3785397"/>
            <a:ext cx="712244" cy="302267"/>
          </a:xfrm>
          <a:prstGeom prst="rect">
            <a:avLst/>
          </a:prstGeom>
          <a:noFill/>
        </p:spPr>
        <p:txBody>
          <a:bodyPr wrap="square" rtlCol="0">
            <a:spAutoFit/>
          </a:bodyPr>
          <a:lstStyle/>
          <a:p>
            <a:pPr algn="r"/>
            <a:r>
              <a:rPr lang="en-US" sz="1100" dirty="0"/>
              <a:t>2000</a:t>
            </a:r>
          </a:p>
        </p:txBody>
      </p:sp>
      <p:sp>
        <p:nvSpPr>
          <p:cNvPr id="42" name="TextBox 41">
            <a:extLst>
              <a:ext uri="{FF2B5EF4-FFF2-40B4-BE49-F238E27FC236}">
                <a16:creationId xmlns:a16="http://schemas.microsoft.com/office/drawing/2014/main" id="{9E43B438-E1ED-7C90-AD15-9F0D25455571}"/>
              </a:ext>
            </a:extLst>
          </p:cNvPr>
          <p:cNvSpPr txBox="1"/>
          <p:nvPr/>
        </p:nvSpPr>
        <p:spPr>
          <a:xfrm>
            <a:off x="4468525" y="3785396"/>
            <a:ext cx="689657" cy="302267"/>
          </a:xfrm>
          <a:prstGeom prst="rect">
            <a:avLst/>
          </a:prstGeom>
          <a:noFill/>
        </p:spPr>
        <p:txBody>
          <a:bodyPr wrap="square" rtlCol="0">
            <a:spAutoFit/>
          </a:bodyPr>
          <a:lstStyle/>
          <a:p>
            <a:pPr algn="r"/>
            <a:r>
              <a:rPr lang="en-US" sz="1100" dirty="0"/>
              <a:t>1989</a:t>
            </a:r>
          </a:p>
        </p:txBody>
      </p:sp>
      <p:sp>
        <p:nvSpPr>
          <p:cNvPr id="29" name="TextBox 28">
            <a:extLst>
              <a:ext uri="{FF2B5EF4-FFF2-40B4-BE49-F238E27FC236}">
                <a16:creationId xmlns:a16="http://schemas.microsoft.com/office/drawing/2014/main" id="{8A02F1C5-64DF-EDD3-D580-515771D71705}"/>
              </a:ext>
            </a:extLst>
          </p:cNvPr>
          <p:cNvSpPr txBox="1"/>
          <p:nvPr/>
        </p:nvSpPr>
        <p:spPr>
          <a:xfrm>
            <a:off x="1759220" y="3952047"/>
            <a:ext cx="1014057" cy="302267"/>
          </a:xfrm>
          <a:prstGeom prst="rect">
            <a:avLst/>
          </a:prstGeom>
          <a:solidFill>
            <a:schemeClr val="bg1"/>
          </a:solidFill>
        </p:spPr>
        <p:txBody>
          <a:bodyPr wrap="square" rtlCol="0">
            <a:spAutoFit/>
          </a:bodyPr>
          <a:lstStyle/>
          <a:p>
            <a:pPr algn="r"/>
            <a:r>
              <a:rPr lang="en-US" sz="1050" dirty="0"/>
              <a:t>AL</a:t>
            </a:r>
          </a:p>
        </p:txBody>
      </p:sp>
      <p:sp>
        <p:nvSpPr>
          <p:cNvPr id="32" name="TextBox 31">
            <a:extLst>
              <a:ext uri="{FF2B5EF4-FFF2-40B4-BE49-F238E27FC236}">
                <a16:creationId xmlns:a16="http://schemas.microsoft.com/office/drawing/2014/main" id="{B3A4609E-EEEF-4EAE-B9F7-332A3117D836}"/>
              </a:ext>
            </a:extLst>
          </p:cNvPr>
          <p:cNvSpPr txBox="1"/>
          <p:nvPr/>
        </p:nvSpPr>
        <p:spPr>
          <a:xfrm>
            <a:off x="1742119" y="4375805"/>
            <a:ext cx="1014057" cy="302267"/>
          </a:xfrm>
          <a:prstGeom prst="rect">
            <a:avLst/>
          </a:prstGeom>
          <a:solidFill>
            <a:schemeClr val="bg1"/>
          </a:solidFill>
        </p:spPr>
        <p:txBody>
          <a:bodyPr wrap="square" rtlCol="0">
            <a:spAutoFit/>
          </a:bodyPr>
          <a:lstStyle/>
          <a:p>
            <a:pPr algn="r"/>
            <a:r>
              <a:rPr lang="en-US" sz="1050" dirty="0"/>
              <a:t>AK</a:t>
            </a:r>
          </a:p>
        </p:txBody>
      </p:sp>
      <p:grpSp>
        <p:nvGrpSpPr>
          <p:cNvPr id="67" name="Group 66">
            <a:extLst>
              <a:ext uri="{FF2B5EF4-FFF2-40B4-BE49-F238E27FC236}">
                <a16:creationId xmlns:a16="http://schemas.microsoft.com/office/drawing/2014/main" id="{045E0354-B45A-D257-6415-04348E158879}"/>
              </a:ext>
            </a:extLst>
          </p:cNvPr>
          <p:cNvGrpSpPr/>
          <p:nvPr/>
        </p:nvGrpSpPr>
        <p:grpSpPr>
          <a:xfrm>
            <a:off x="4796442" y="3977844"/>
            <a:ext cx="4386676" cy="2314221"/>
            <a:chOff x="4796442" y="3977844"/>
            <a:chExt cx="4386676" cy="2314221"/>
          </a:xfrm>
        </p:grpSpPr>
        <p:cxnSp>
          <p:nvCxnSpPr>
            <p:cNvPr id="40" name="Straight Connector 39">
              <a:extLst>
                <a:ext uri="{FF2B5EF4-FFF2-40B4-BE49-F238E27FC236}">
                  <a16:creationId xmlns:a16="http://schemas.microsoft.com/office/drawing/2014/main" id="{E8979235-EC75-5F16-1F2F-9A6682EC075B}"/>
                </a:ext>
              </a:extLst>
            </p:cNvPr>
            <p:cNvCxnSpPr>
              <a:cxnSpLocks/>
            </p:cNvCxnSpPr>
            <p:nvPr/>
          </p:nvCxnSpPr>
          <p:spPr>
            <a:xfrm>
              <a:off x="9183118" y="3977844"/>
              <a:ext cx="0" cy="2314221"/>
            </a:xfrm>
            <a:prstGeom prst="line">
              <a:avLst/>
            </a:prstGeom>
            <a:ln w="38100">
              <a:solidFill>
                <a:schemeClr val="accent5"/>
              </a:solidFill>
              <a:prstDash val="sysDash"/>
            </a:ln>
          </p:spPr>
          <p:style>
            <a:lnRef idx="2">
              <a:schemeClr val="accent1"/>
            </a:lnRef>
            <a:fillRef idx="0">
              <a:schemeClr val="accent1"/>
            </a:fillRef>
            <a:effectRef idx="1">
              <a:schemeClr val="accent1"/>
            </a:effectRef>
            <a:fontRef idx="minor">
              <a:schemeClr val="tx1"/>
            </a:fontRef>
          </p:style>
        </p:cxnSp>
        <p:cxnSp>
          <p:nvCxnSpPr>
            <p:cNvPr id="41" name="Straight Connector 40">
              <a:extLst>
                <a:ext uri="{FF2B5EF4-FFF2-40B4-BE49-F238E27FC236}">
                  <a16:creationId xmlns:a16="http://schemas.microsoft.com/office/drawing/2014/main" id="{553C8A58-072F-9434-987C-964AF18408C3}"/>
                </a:ext>
              </a:extLst>
            </p:cNvPr>
            <p:cNvCxnSpPr>
              <a:cxnSpLocks/>
            </p:cNvCxnSpPr>
            <p:nvPr/>
          </p:nvCxnSpPr>
          <p:spPr>
            <a:xfrm>
              <a:off x="4796442" y="4025779"/>
              <a:ext cx="0" cy="637503"/>
            </a:xfrm>
            <a:prstGeom prst="line">
              <a:avLst/>
            </a:prstGeom>
            <a:ln w="38100">
              <a:solidFill>
                <a:schemeClr val="accent5"/>
              </a:solidFill>
              <a:prstDash val="sysDash"/>
            </a:ln>
          </p:spPr>
          <p:style>
            <a:lnRef idx="2">
              <a:schemeClr val="accent1"/>
            </a:lnRef>
            <a:fillRef idx="0">
              <a:schemeClr val="accent1"/>
            </a:fillRef>
            <a:effectRef idx="1">
              <a:schemeClr val="accent1"/>
            </a:effectRef>
            <a:fontRef idx="minor">
              <a:schemeClr val="tx1"/>
            </a:fontRef>
          </p:style>
        </p:cxnSp>
      </p:grpSp>
      <p:grpSp>
        <p:nvGrpSpPr>
          <p:cNvPr id="68" name="Group 67">
            <a:extLst>
              <a:ext uri="{FF2B5EF4-FFF2-40B4-BE49-F238E27FC236}">
                <a16:creationId xmlns:a16="http://schemas.microsoft.com/office/drawing/2014/main" id="{D998972A-8646-B7D1-C5D8-988A22BF725C}"/>
              </a:ext>
            </a:extLst>
          </p:cNvPr>
          <p:cNvGrpSpPr/>
          <p:nvPr/>
        </p:nvGrpSpPr>
        <p:grpSpPr>
          <a:xfrm>
            <a:off x="5726090" y="1729786"/>
            <a:ext cx="4704011" cy="4408361"/>
            <a:chOff x="5726090" y="1729786"/>
            <a:chExt cx="4704011" cy="4408361"/>
          </a:xfrm>
        </p:grpSpPr>
        <p:grpSp>
          <p:nvGrpSpPr>
            <p:cNvPr id="64" name="Group 63">
              <a:extLst>
                <a:ext uri="{FF2B5EF4-FFF2-40B4-BE49-F238E27FC236}">
                  <a16:creationId xmlns:a16="http://schemas.microsoft.com/office/drawing/2014/main" id="{399D68ED-0002-A507-B4B7-3397EC876A30}"/>
                </a:ext>
              </a:extLst>
            </p:cNvPr>
            <p:cNvGrpSpPr/>
            <p:nvPr/>
          </p:nvGrpSpPr>
          <p:grpSpPr>
            <a:xfrm>
              <a:off x="5726090" y="1729786"/>
              <a:ext cx="4704011" cy="4408361"/>
              <a:chOff x="5726090" y="1729786"/>
              <a:chExt cx="4704011" cy="4408361"/>
            </a:xfrm>
          </p:grpSpPr>
          <p:sp>
            <p:nvSpPr>
              <p:cNvPr id="43" name="Rounded Rectangle 42">
                <a:extLst>
                  <a:ext uri="{FF2B5EF4-FFF2-40B4-BE49-F238E27FC236}">
                    <a16:creationId xmlns:a16="http://schemas.microsoft.com/office/drawing/2014/main" id="{1382A3E8-94FD-1B3B-B9A6-7EAD9407B52B}"/>
                  </a:ext>
                </a:extLst>
              </p:cNvPr>
              <p:cNvSpPr/>
              <p:nvPr/>
            </p:nvSpPr>
            <p:spPr>
              <a:xfrm>
                <a:off x="7502972" y="4992746"/>
                <a:ext cx="1581651" cy="296932"/>
              </a:xfrm>
              <a:prstGeom prst="roundRect">
                <a:avLst/>
              </a:prstGeom>
              <a:noFill/>
              <a:ln w="38100">
                <a:solidFill>
                  <a:srgbClr val="FF00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ounded Rectangle 44">
                <a:extLst>
                  <a:ext uri="{FF2B5EF4-FFF2-40B4-BE49-F238E27FC236}">
                    <a16:creationId xmlns:a16="http://schemas.microsoft.com/office/drawing/2014/main" id="{08C0AE24-2F5D-97A1-42DD-2245FDDC8ADF}"/>
                  </a:ext>
                </a:extLst>
              </p:cNvPr>
              <p:cNvSpPr/>
              <p:nvPr/>
            </p:nvSpPr>
            <p:spPr>
              <a:xfrm>
                <a:off x="7506043" y="5841215"/>
                <a:ext cx="1581651" cy="296932"/>
              </a:xfrm>
              <a:prstGeom prst="roundRect">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ounded Rectangle 45">
                <a:extLst>
                  <a:ext uri="{FF2B5EF4-FFF2-40B4-BE49-F238E27FC236}">
                    <a16:creationId xmlns:a16="http://schemas.microsoft.com/office/drawing/2014/main" id="{266EF06C-7623-C2DD-083B-6C7B1F322C16}"/>
                  </a:ext>
                </a:extLst>
              </p:cNvPr>
              <p:cNvSpPr/>
              <p:nvPr/>
            </p:nvSpPr>
            <p:spPr>
              <a:xfrm>
                <a:off x="7514538" y="4533776"/>
                <a:ext cx="1581651" cy="296932"/>
              </a:xfrm>
              <a:prstGeom prst="roundRect">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7" name="Group 46">
                <a:extLst>
                  <a:ext uri="{FF2B5EF4-FFF2-40B4-BE49-F238E27FC236}">
                    <a16:creationId xmlns:a16="http://schemas.microsoft.com/office/drawing/2014/main" id="{470A96FD-EA03-9610-FE9D-95FC07F748A2}"/>
                  </a:ext>
                </a:extLst>
              </p:cNvPr>
              <p:cNvGrpSpPr/>
              <p:nvPr/>
            </p:nvGrpSpPr>
            <p:grpSpPr>
              <a:xfrm>
                <a:off x="5726090" y="1729786"/>
                <a:ext cx="4704011" cy="4069563"/>
                <a:chOff x="5726090" y="1729786"/>
                <a:chExt cx="4704011" cy="4069563"/>
              </a:xfrm>
            </p:grpSpPr>
            <p:sp>
              <p:nvSpPr>
                <p:cNvPr id="48" name="TextBox 47">
                  <a:extLst>
                    <a:ext uri="{FF2B5EF4-FFF2-40B4-BE49-F238E27FC236}">
                      <a16:creationId xmlns:a16="http://schemas.microsoft.com/office/drawing/2014/main" id="{FFE610A2-59C5-F4E1-3CFE-10328F334705}"/>
                    </a:ext>
                  </a:extLst>
                </p:cNvPr>
                <p:cNvSpPr txBox="1"/>
                <p:nvPr/>
              </p:nvSpPr>
              <p:spPr>
                <a:xfrm>
                  <a:off x="5726090" y="1729786"/>
                  <a:ext cx="4704011" cy="954107"/>
                </a:xfrm>
                <a:prstGeom prst="rect">
                  <a:avLst/>
                </a:prstGeom>
                <a:noFill/>
              </p:spPr>
              <p:txBody>
                <a:bodyPr wrap="square" rtlCol="0">
                  <a:spAutoFit/>
                </a:bodyPr>
                <a:lstStyle/>
                <a:p>
                  <a:pPr algn="r"/>
                  <a:r>
                    <a:rPr lang="en-US" sz="2800" b="1" dirty="0">
                      <a:solidFill>
                        <a:schemeClr val="accent1"/>
                      </a:solidFill>
                    </a:rPr>
                    <a:t>Synthetic Control: </a:t>
                  </a:r>
                  <a:r>
                    <a:rPr lang="en-US" sz="2800" dirty="0">
                      <a:solidFill>
                        <a:schemeClr val="accent1"/>
                      </a:solidFill>
                    </a:rPr>
                    <a:t>Suppose CA is the average of these</a:t>
                  </a:r>
                </a:p>
              </p:txBody>
            </p:sp>
            <p:cxnSp>
              <p:nvCxnSpPr>
                <p:cNvPr id="49" name="Straight Arrow Connector 48">
                  <a:extLst>
                    <a:ext uri="{FF2B5EF4-FFF2-40B4-BE49-F238E27FC236}">
                      <a16:creationId xmlns:a16="http://schemas.microsoft.com/office/drawing/2014/main" id="{8D4DFA58-2935-C217-82A0-E443D4EBD9E0}"/>
                    </a:ext>
                  </a:extLst>
                </p:cNvPr>
                <p:cNvCxnSpPr>
                  <a:cxnSpLocks/>
                </p:cNvCxnSpPr>
                <p:nvPr/>
              </p:nvCxnSpPr>
              <p:spPr>
                <a:xfrm flipV="1">
                  <a:off x="6764791" y="4781822"/>
                  <a:ext cx="700800" cy="50785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0" name="Straight Arrow Connector 49">
                  <a:extLst>
                    <a:ext uri="{FF2B5EF4-FFF2-40B4-BE49-F238E27FC236}">
                      <a16:creationId xmlns:a16="http://schemas.microsoft.com/office/drawing/2014/main" id="{18D633FF-644E-23C5-27F6-9932C7F6E349}"/>
                    </a:ext>
                  </a:extLst>
                </p:cNvPr>
                <p:cNvCxnSpPr>
                  <a:cxnSpLocks/>
                </p:cNvCxnSpPr>
                <p:nvPr/>
              </p:nvCxnSpPr>
              <p:spPr>
                <a:xfrm>
                  <a:off x="6786108" y="5289678"/>
                  <a:ext cx="689657" cy="50967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grpSp>
        <p:sp>
          <p:nvSpPr>
            <p:cNvPr id="52" name="Freeform 51">
              <a:extLst>
                <a:ext uri="{FF2B5EF4-FFF2-40B4-BE49-F238E27FC236}">
                  <a16:creationId xmlns:a16="http://schemas.microsoft.com/office/drawing/2014/main" id="{26057664-E0D5-14B9-77AE-B93796E5A531}"/>
                </a:ext>
              </a:extLst>
            </p:cNvPr>
            <p:cNvSpPr/>
            <p:nvPr/>
          </p:nvSpPr>
          <p:spPr>
            <a:xfrm>
              <a:off x="6173361" y="2670964"/>
              <a:ext cx="978224" cy="2660660"/>
            </a:xfrm>
            <a:custGeom>
              <a:avLst/>
              <a:gdLst>
                <a:gd name="connsiteX0" fmla="*/ 1615849 w 1615849"/>
                <a:gd name="connsiteY0" fmla="*/ 0 h 2306385"/>
                <a:gd name="connsiteX1" fmla="*/ 1158649 w 1615849"/>
                <a:gd name="connsiteY1" fmla="*/ 958645 h 2306385"/>
                <a:gd name="connsiteX2" fmla="*/ 96765 w 1615849"/>
                <a:gd name="connsiteY2" fmla="*/ 1622322 h 2306385"/>
                <a:gd name="connsiteX3" fmla="*/ 155759 w 1615849"/>
                <a:gd name="connsiteY3" fmla="*/ 2241755 h 2306385"/>
                <a:gd name="connsiteX4" fmla="*/ 1040662 w 1615849"/>
                <a:gd name="connsiteY4" fmla="*/ 2256503 h 23063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15849" h="2306385">
                  <a:moveTo>
                    <a:pt x="1615849" y="0"/>
                  </a:moveTo>
                  <a:cubicBezTo>
                    <a:pt x="1513839" y="344129"/>
                    <a:pt x="1411830" y="688258"/>
                    <a:pt x="1158649" y="958645"/>
                  </a:cubicBezTo>
                  <a:cubicBezTo>
                    <a:pt x="905468" y="1229032"/>
                    <a:pt x="263913" y="1408470"/>
                    <a:pt x="96765" y="1622322"/>
                  </a:cubicBezTo>
                  <a:cubicBezTo>
                    <a:pt x="-70383" y="1836174"/>
                    <a:pt x="-1557" y="2136058"/>
                    <a:pt x="155759" y="2241755"/>
                  </a:cubicBezTo>
                  <a:cubicBezTo>
                    <a:pt x="313075" y="2347452"/>
                    <a:pt x="676868" y="2301977"/>
                    <a:pt x="1040662" y="2256503"/>
                  </a:cubicBezTo>
                </a:path>
              </a:pathLst>
            </a:cu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9" name="Group 68">
            <a:extLst>
              <a:ext uri="{FF2B5EF4-FFF2-40B4-BE49-F238E27FC236}">
                <a16:creationId xmlns:a16="http://schemas.microsoft.com/office/drawing/2014/main" id="{829BF7F5-C185-4BAA-29C4-DEADB600044A}"/>
              </a:ext>
            </a:extLst>
          </p:cNvPr>
          <p:cNvGrpSpPr/>
          <p:nvPr/>
        </p:nvGrpSpPr>
        <p:grpSpPr>
          <a:xfrm>
            <a:off x="922221" y="2564169"/>
            <a:ext cx="5096419" cy="3682208"/>
            <a:chOff x="922221" y="2564169"/>
            <a:chExt cx="5096419" cy="3682208"/>
          </a:xfrm>
        </p:grpSpPr>
        <p:sp>
          <p:nvSpPr>
            <p:cNvPr id="62" name="Rounded Rectangle 61">
              <a:extLst>
                <a:ext uri="{FF2B5EF4-FFF2-40B4-BE49-F238E27FC236}">
                  <a16:creationId xmlns:a16="http://schemas.microsoft.com/office/drawing/2014/main" id="{50283B7A-96C4-D3EE-0770-1836CACA8C3E}"/>
                </a:ext>
              </a:extLst>
            </p:cNvPr>
            <p:cNvSpPr/>
            <p:nvPr/>
          </p:nvSpPr>
          <p:spPr>
            <a:xfrm>
              <a:off x="2727074" y="4820378"/>
              <a:ext cx="825212" cy="293377"/>
            </a:xfrm>
            <a:prstGeom prst="roundRect">
              <a:avLst/>
            </a:prstGeom>
            <a:noFill/>
            <a:ln w="38100">
              <a:solidFill>
                <a:srgbClr val="FF00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1" name="Group 60">
              <a:extLst>
                <a:ext uri="{FF2B5EF4-FFF2-40B4-BE49-F238E27FC236}">
                  <a16:creationId xmlns:a16="http://schemas.microsoft.com/office/drawing/2014/main" id="{D223D5D5-1288-9AA6-3C12-A7144BA1A011}"/>
                </a:ext>
              </a:extLst>
            </p:cNvPr>
            <p:cNvGrpSpPr/>
            <p:nvPr/>
          </p:nvGrpSpPr>
          <p:grpSpPr>
            <a:xfrm>
              <a:off x="922221" y="2564169"/>
              <a:ext cx="5096419" cy="3682208"/>
              <a:chOff x="922221" y="2564169"/>
              <a:chExt cx="5096419" cy="3682208"/>
            </a:xfrm>
          </p:grpSpPr>
          <p:sp>
            <p:nvSpPr>
              <p:cNvPr id="54" name="TextBox 53">
                <a:extLst>
                  <a:ext uri="{FF2B5EF4-FFF2-40B4-BE49-F238E27FC236}">
                    <a16:creationId xmlns:a16="http://schemas.microsoft.com/office/drawing/2014/main" id="{28A6B1AE-1C59-E0A7-4F52-EA57FBBC8178}"/>
                  </a:ext>
                </a:extLst>
              </p:cNvPr>
              <p:cNvSpPr txBox="1"/>
              <p:nvPr/>
            </p:nvSpPr>
            <p:spPr>
              <a:xfrm>
                <a:off x="922221" y="2564169"/>
                <a:ext cx="5096419" cy="1200329"/>
              </a:xfrm>
              <a:prstGeom prst="rect">
                <a:avLst/>
              </a:prstGeom>
              <a:noFill/>
            </p:spPr>
            <p:txBody>
              <a:bodyPr wrap="square" rtlCol="0">
                <a:spAutoFit/>
              </a:bodyPr>
              <a:lstStyle/>
              <a:p>
                <a:r>
                  <a:rPr lang="en-US" sz="2400" dirty="0">
                    <a:solidFill>
                      <a:schemeClr val="accent1"/>
                    </a:solidFill>
                  </a:rPr>
                  <a:t>That corresponds to CA’s “Matrix Completion Feature Vector” being the average of these!</a:t>
                </a:r>
              </a:p>
            </p:txBody>
          </p:sp>
          <p:cxnSp>
            <p:nvCxnSpPr>
              <p:cNvPr id="55" name="Straight Arrow Connector 54">
                <a:extLst>
                  <a:ext uri="{FF2B5EF4-FFF2-40B4-BE49-F238E27FC236}">
                    <a16:creationId xmlns:a16="http://schemas.microsoft.com/office/drawing/2014/main" id="{B571DC13-93A9-EBCE-D4F5-8C1C3CE5E4A7}"/>
                  </a:ext>
                </a:extLst>
              </p:cNvPr>
              <p:cNvCxnSpPr>
                <a:cxnSpLocks/>
              </p:cNvCxnSpPr>
              <p:nvPr/>
            </p:nvCxnSpPr>
            <p:spPr>
              <a:xfrm flipV="1">
                <a:off x="1667910" y="4533776"/>
                <a:ext cx="700800" cy="50785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6" name="Straight Arrow Connector 55">
                <a:extLst>
                  <a:ext uri="{FF2B5EF4-FFF2-40B4-BE49-F238E27FC236}">
                    <a16:creationId xmlns:a16="http://schemas.microsoft.com/office/drawing/2014/main" id="{C102DCA8-8AB4-D2A9-78DF-9CAF6E4ECC36}"/>
                  </a:ext>
                </a:extLst>
              </p:cNvPr>
              <p:cNvCxnSpPr>
                <a:cxnSpLocks/>
              </p:cNvCxnSpPr>
              <p:nvPr/>
            </p:nvCxnSpPr>
            <p:spPr>
              <a:xfrm>
                <a:off x="1689227" y="5041632"/>
                <a:ext cx="917639" cy="79676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58" name="Rounded Rectangle 57">
                <a:extLst>
                  <a:ext uri="{FF2B5EF4-FFF2-40B4-BE49-F238E27FC236}">
                    <a16:creationId xmlns:a16="http://schemas.microsoft.com/office/drawing/2014/main" id="{065A463D-F709-1B1D-C8BD-7CAB13BD9005}"/>
                  </a:ext>
                </a:extLst>
              </p:cNvPr>
              <p:cNvSpPr/>
              <p:nvPr/>
            </p:nvSpPr>
            <p:spPr>
              <a:xfrm>
                <a:off x="2741198" y="5919489"/>
                <a:ext cx="753160" cy="326888"/>
              </a:xfrm>
              <a:prstGeom prst="roundRect">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Rounded Rectangle 58">
                <a:extLst>
                  <a:ext uri="{FF2B5EF4-FFF2-40B4-BE49-F238E27FC236}">
                    <a16:creationId xmlns:a16="http://schemas.microsoft.com/office/drawing/2014/main" id="{29BCE060-E8FE-6D47-2EBD-29B206F9A411}"/>
                  </a:ext>
                </a:extLst>
              </p:cNvPr>
              <p:cNvSpPr/>
              <p:nvPr/>
            </p:nvSpPr>
            <p:spPr>
              <a:xfrm>
                <a:off x="2725851" y="4362086"/>
                <a:ext cx="826434" cy="301196"/>
              </a:xfrm>
              <a:prstGeom prst="roundRect">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Freeform 59">
                <a:extLst>
                  <a:ext uri="{FF2B5EF4-FFF2-40B4-BE49-F238E27FC236}">
                    <a16:creationId xmlns:a16="http://schemas.microsoft.com/office/drawing/2014/main" id="{A81285AC-6ECA-8BF4-1C11-DC1A89B8B672}"/>
                  </a:ext>
                </a:extLst>
              </p:cNvPr>
              <p:cNvSpPr/>
              <p:nvPr/>
            </p:nvSpPr>
            <p:spPr>
              <a:xfrm>
                <a:off x="1059168" y="3781780"/>
                <a:ext cx="978224" cy="1276512"/>
              </a:xfrm>
              <a:custGeom>
                <a:avLst/>
                <a:gdLst>
                  <a:gd name="connsiteX0" fmla="*/ 1615849 w 1615849"/>
                  <a:gd name="connsiteY0" fmla="*/ 0 h 2306385"/>
                  <a:gd name="connsiteX1" fmla="*/ 1158649 w 1615849"/>
                  <a:gd name="connsiteY1" fmla="*/ 958645 h 2306385"/>
                  <a:gd name="connsiteX2" fmla="*/ 96765 w 1615849"/>
                  <a:gd name="connsiteY2" fmla="*/ 1622322 h 2306385"/>
                  <a:gd name="connsiteX3" fmla="*/ 155759 w 1615849"/>
                  <a:gd name="connsiteY3" fmla="*/ 2241755 h 2306385"/>
                  <a:gd name="connsiteX4" fmla="*/ 1040662 w 1615849"/>
                  <a:gd name="connsiteY4" fmla="*/ 2256503 h 23063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15849" h="2306385">
                    <a:moveTo>
                      <a:pt x="1615849" y="0"/>
                    </a:moveTo>
                    <a:cubicBezTo>
                      <a:pt x="1513839" y="344129"/>
                      <a:pt x="1411830" y="688258"/>
                      <a:pt x="1158649" y="958645"/>
                    </a:cubicBezTo>
                    <a:cubicBezTo>
                      <a:pt x="905468" y="1229032"/>
                      <a:pt x="263913" y="1408470"/>
                      <a:pt x="96765" y="1622322"/>
                    </a:cubicBezTo>
                    <a:cubicBezTo>
                      <a:pt x="-70383" y="1836174"/>
                      <a:pt x="-1557" y="2136058"/>
                      <a:pt x="155759" y="2241755"/>
                    </a:cubicBezTo>
                    <a:cubicBezTo>
                      <a:pt x="313075" y="2347452"/>
                      <a:pt x="676868" y="2301977"/>
                      <a:pt x="1040662" y="2256503"/>
                    </a:cubicBezTo>
                  </a:path>
                </a:pathLst>
              </a:cu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Tree>
    <p:extLst>
      <p:ext uri="{BB962C8B-B14F-4D97-AF65-F5344CB8AC3E}">
        <p14:creationId xmlns:p14="http://schemas.microsoft.com/office/powerpoint/2010/main" val="31613755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8A327B-D695-B084-3FEA-BD372CA434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B27258-C982-3F11-7FCC-332C408AA056}"/>
              </a:ext>
            </a:extLst>
          </p:cNvPr>
          <p:cNvSpPr>
            <a:spLocks noGrp="1"/>
          </p:cNvSpPr>
          <p:nvPr>
            <p:ph type="title"/>
          </p:nvPr>
        </p:nvSpPr>
        <p:spPr/>
        <p:txBody>
          <a:bodyPr/>
          <a:lstStyle/>
          <a:p>
            <a:r>
              <a:rPr lang="en-US" sz="2800" dirty="0"/>
              <a:t>Claim: if the data are low-rank</a:t>
            </a:r>
            <a:br>
              <a:rPr lang="en-US" dirty="0"/>
            </a:br>
            <a:r>
              <a:rPr lang="en-US" dirty="0"/>
              <a:t>These are doing very* similar things</a:t>
            </a:r>
          </a:p>
        </p:txBody>
      </p:sp>
      <p:sp>
        <p:nvSpPr>
          <p:cNvPr id="3" name="Content Placeholder 2">
            <a:extLst>
              <a:ext uri="{FF2B5EF4-FFF2-40B4-BE49-F238E27FC236}">
                <a16:creationId xmlns:a16="http://schemas.microsoft.com/office/drawing/2014/main" id="{E6ACCE98-0ACB-AEB3-88F0-24E6DD037FAA}"/>
              </a:ext>
            </a:extLst>
          </p:cNvPr>
          <p:cNvSpPr>
            <a:spLocks noGrp="1"/>
          </p:cNvSpPr>
          <p:nvPr>
            <p:ph idx="1"/>
          </p:nvPr>
        </p:nvSpPr>
        <p:spPr/>
        <p:txBody>
          <a:bodyPr/>
          <a:lstStyle/>
          <a:p>
            <a:r>
              <a:rPr lang="en-US" dirty="0"/>
              <a:t>Intuition:</a:t>
            </a:r>
          </a:p>
        </p:txBody>
      </p:sp>
      <p:grpSp>
        <p:nvGrpSpPr>
          <p:cNvPr id="7" name="Group 6">
            <a:extLst>
              <a:ext uri="{FF2B5EF4-FFF2-40B4-BE49-F238E27FC236}">
                <a16:creationId xmlns:a16="http://schemas.microsoft.com/office/drawing/2014/main" id="{95324BE7-8633-61C3-8321-90818A5010D3}"/>
              </a:ext>
            </a:extLst>
          </p:cNvPr>
          <p:cNvGrpSpPr/>
          <p:nvPr/>
        </p:nvGrpSpPr>
        <p:grpSpPr>
          <a:xfrm>
            <a:off x="7584104" y="3977844"/>
            <a:ext cx="2799630" cy="2268533"/>
            <a:chOff x="1846882" y="2597802"/>
            <a:chExt cx="4249118" cy="2693288"/>
          </a:xfrm>
        </p:grpSpPr>
        <p:sp>
          <p:nvSpPr>
            <p:cNvPr id="8" name="Rectangle 7">
              <a:extLst>
                <a:ext uri="{FF2B5EF4-FFF2-40B4-BE49-F238E27FC236}">
                  <a16:creationId xmlns:a16="http://schemas.microsoft.com/office/drawing/2014/main" id="{7529CA0B-9C7E-A679-D8A6-BF1457BA5BFF}"/>
                </a:ext>
              </a:extLst>
            </p:cNvPr>
            <p:cNvSpPr/>
            <p:nvPr/>
          </p:nvSpPr>
          <p:spPr>
            <a:xfrm>
              <a:off x="1846882" y="2597802"/>
              <a:ext cx="4249118" cy="2693288"/>
            </a:xfrm>
            <a:prstGeom prst="rect">
              <a:avLst/>
            </a:prstGeom>
            <a:solidFill>
              <a:schemeClr val="bg1">
                <a:lumMod val="8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dirty="0">
                <a:solidFill>
                  <a:schemeClr val="tx1"/>
                </a:solidFill>
              </a:endParaRP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00BC8874-BB3D-74A1-EF54-58FF5737AB7B}"/>
                    </a:ext>
                  </a:extLst>
                </p:cNvPr>
                <p:cNvSpPr txBox="1"/>
                <p:nvPr/>
              </p:nvSpPr>
              <p:spPr>
                <a:xfrm>
                  <a:off x="1939778" y="2788225"/>
                  <a:ext cx="656857" cy="35252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600" b="0" i="1" smtClean="0">
                                <a:solidFill>
                                  <a:schemeClr val="tx1"/>
                                </a:solidFill>
                                <a:latin typeface="Cambria Math" panose="02040503050406030204" pitchFamily="18" charset="0"/>
                              </a:rPr>
                            </m:ctrlPr>
                          </m:sSubPr>
                          <m:e>
                            <m:r>
                              <a:rPr lang="en-US" sz="1600" b="0" i="1" smtClean="0">
                                <a:solidFill>
                                  <a:schemeClr val="tx1"/>
                                </a:solidFill>
                                <a:latin typeface="Cambria Math" panose="02040503050406030204" pitchFamily="18" charset="0"/>
                              </a:rPr>
                              <m:t>𝑌</m:t>
                            </m:r>
                          </m:e>
                          <m:sub>
                            <m:r>
                              <a:rPr lang="en-US" sz="1600" b="0" i="1" smtClean="0">
                                <a:solidFill>
                                  <a:schemeClr val="tx1"/>
                                </a:solidFill>
                                <a:latin typeface="Cambria Math" panose="02040503050406030204" pitchFamily="18" charset="0"/>
                              </a:rPr>
                              <m:t>𝐴𝐿</m:t>
                            </m:r>
                            <m:r>
                              <a:rPr lang="en-US" sz="1600" b="0" i="1" smtClean="0">
                                <a:solidFill>
                                  <a:schemeClr val="tx1"/>
                                </a:solidFill>
                                <a:latin typeface="Cambria Math" panose="02040503050406030204" pitchFamily="18" charset="0"/>
                              </a:rPr>
                              <m:t>,1</m:t>
                            </m:r>
                          </m:sub>
                        </m:sSub>
                      </m:oMath>
                    </m:oMathPara>
                  </a14:m>
                  <a:endParaRPr lang="en-US" sz="1600" dirty="0">
                    <a:solidFill>
                      <a:schemeClr val="tx1"/>
                    </a:solidFill>
                  </a:endParaRPr>
                </a:p>
              </p:txBody>
            </p:sp>
          </mc:Choice>
          <mc:Fallback xmlns="">
            <p:sp>
              <p:nvSpPr>
                <p:cNvPr id="26" name="TextBox 25">
                  <a:extLst>
                    <a:ext uri="{FF2B5EF4-FFF2-40B4-BE49-F238E27FC236}">
                      <a16:creationId xmlns:a16="http://schemas.microsoft.com/office/drawing/2014/main" id="{A4BD837D-14DC-51D7-9813-F2D9F78FF62B}"/>
                    </a:ext>
                  </a:extLst>
                </p:cNvPr>
                <p:cNvSpPr txBox="1">
                  <a:spLocks noRot="1" noChangeAspect="1" noMove="1" noResize="1" noEditPoints="1" noAdjustHandles="1" noChangeArrowheads="1" noChangeShapeType="1" noTextEdit="1"/>
                </p:cNvSpPr>
                <p:nvPr/>
              </p:nvSpPr>
              <p:spPr>
                <a:xfrm>
                  <a:off x="1939778" y="2788225"/>
                  <a:ext cx="656857" cy="352529"/>
                </a:xfrm>
                <a:prstGeom prst="rect">
                  <a:avLst/>
                </a:prstGeom>
                <a:blipFill>
                  <a:blip r:embed="rId6"/>
                  <a:stretch>
                    <a:fillRect l="-8571" r="-5714"/>
                  </a:stretch>
                </a:blipFill>
              </p:spPr>
              <p:txBody>
                <a:bodyPr/>
                <a:lstStyle/>
                <a:p>
                  <a:r>
                    <a:rPr lang="en-US">
                      <a:noFill/>
                    </a:rPr>
                    <a:t> </a:t>
                  </a:r>
                </a:p>
              </p:txBody>
            </p:sp>
          </mc:Fallback>
        </mc:AlternateContent>
        <p:sp>
          <p:nvSpPr>
            <p:cNvPr id="10" name="TextBox 9">
              <a:extLst>
                <a:ext uri="{FF2B5EF4-FFF2-40B4-BE49-F238E27FC236}">
                  <a16:creationId xmlns:a16="http://schemas.microsoft.com/office/drawing/2014/main" id="{B4548EC8-43BE-7743-F1F2-E1CEC1A438C8}"/>
                </a:ext>
              </a:extLst>
            </p:cNvPr>
            <p:cNvSpPr txBox="1"/>
            <p:nvPr/>
          </p:nvSpPr>
          <p:spPr>
            <a:xfrm>
              <a:off x="5667213" y="2892741"/>
              <a:ext cx="258306" cy="422192"/>
            </a:xfrm>
            <a:prstGeom prst="rect">
              <a:avLst/>
            </a:prstGeom>
            <a:noFill/>
          </p:spPr>
          <p:txBody>
            <a:bodyPr wrap="square" rtlCol="0">
              <a:spAutoFit/>
            </a:bodyPr>
            <a:lstStyle/>
            <a:p>
              <a:endParaRPr lang="en-US" sz="1400" dirty="0"/>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60DA44FB-024C-E2AE-96F3-FF1F969A019E}"/>
                    </a:ext>
                  </a:extLst>
                </p:cNvPr>
                <p:cNvSpPr txBox="1"/>
                <p:nvPr/>
              </p:nvSpPr>
              <p:spPr>
                <a:xfrm>
                  <a:off x="2692783" y="2788225"/>
                  <a:ext cx="656857" cy="35252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600" b="0" i="1" smtClean="0">
                                <a:solidFill>
                                  <a:schemeClr val="tx1"/>
                                </a:solidFill>
                                <a:latin typeface="Cambria Math" panose="02040503050406030204" pitchFamily="18" charset="0"/>
                              </a:rPr>
                            </m:ctrlPr>
                          </m:sSubPr>
                          <m:e>
                            <m:r>
                              <a:rPr lang="en-US" sz="1600" b="0" i="1" smtClean="0">
                                <a:solidFill>
                                  <a:schemeClr val="tx1"/>
                                </a:solidFill>
                                <a:latin typeface="Cambria Math" panose="02040503050406030204" pitchFamily="18" charset="0"/>
                              </a:rPr>
                              <m:t>𝑌</m:t>
                            </m:r>
                          </m:e>
                          <m:sub>
                            <m:r>
                              <a:rPr lang="en-US" sz="1600" b="0" i="1" smtClean="0">
                                <a:solidFill>
                                  <a:schemeClr val="tx1"/>
                                </a:solidFill>
                                <a:latin typeface="Cambria Math" panose="02040503050406030204" pitchFamily="18" charset="0"/>
                              </a:rPr>
                              <m:t>𝐴𝐿</m:t>
                            </m:r>
                            <m:r>
                              <a:rPr lang="en-US" sz="1600" b="0" i="1" smtClean="0">
                                <a:solidFill>
                                  <a:schemeClr val="tx1"/>
                                </a:solidFill>
                                <a:latin typeface="Cambria Math" panose="02040503050406030204" pitchFamily="18" charset="0"/>
                              </a:rPr>
                              <m:t>,2</m:t>
                            </m:r>
                          </m:sub>
                        </m:sSub>
                      </m:oMath>
                    </m:oMathPara>
                  </a14:m>
                  <a:endParaRPr lang="en-US" sz="1600" dirty="0">
                    <a:solidFill>
                      <a:schemeClr val="tx1"/>
                    </a:solidFill>
                  </a:endParaRPr>
                </a:p>
              </p:txBody>
            </p:sp>
          </mc:Choice>
          <mc:Fallback xmlns="">
            <p:sp>
              <p:nvSpPr>
                <p:cNvPr id="28" name="TextBox 27">
                  <a:extLst>
                    <a:ext uri="{FF2B5EF4-FFF2-40B4-BE49-F238E27FC236}">
                      <a16:creationId xmlns:a16="http://schemas.microsoft.com/office/drawing/2014/main" id="{184BA698-90B2-1AF1-0AF9-9033C807BD70}"/>
                    </a:ext>
                  </a:extLst>
                </p:cNvPr>
                <p:cNvSpPr txBox="1">
                  <a:spLocks noRot="1" noChangeAspect="1" noMove="1" noResize="1" noEditPoints="1" noAdjustHandles="1" noChangeArrowheads="1" noChangeShapeType="1" noTextEdit="1"/>
                </p:cNvSpPr>
                <p:nvPr/>
              </p:nvSpPr>
              <p:spPr>
                <a:xfrm>
                  <a:off x="2692783" y="2788225"/>
                  <a:ext cx="656857" cy="352529"/>
                </a:xfrm>
                <a:prstGeom prst="rect">
                  <a:avLst/>
                </a:prstGeom>
                <a:blipFill>
                  <a:blip r:embed="rId7"/>
                  <a:stretch>
                    <a:fillRect l="-14286" r="-285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7556640A-E032-6E57-8DE0-0BA4E9D3DCC0}"/>
                    </a:ext>
                  </a:extLst>
                </p:cNvPr>
                <p:cNvSpPr txBox="1"/>
                <p:nvPr/>
              </p:nvSpPr>
              <p:spPr>
                <a:xfrm>
                  <a:off x="5179521" y="2788225"/>
                  <a:ext cx="656857" cy="35252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600" b="0" i="1" smtClean="0">
                                <a:solidFill>
                                  <a:schemeClr val="tx1"/>
                                </a:solidFill>
                                <a:latin typeface="Cambria Math" panose="02040503050406030204" pitchFamily="18" charset="0"/>
                              </a:rPr>
                            </m:ctrlPr>
                          </m:sSubPr>
                          <m:e>
                            <m:r>
                              <a:rPr lang="en-US" sz="1600" b="0" i="1" smtClean="0">
                                <a:solidFill>
                                  <a:schemeClr val="tx1"/>
                                </a:solidFill>
                                <a:latin typeface="Cambria Math" panose="02040503050406030204" pitchFamily="18" charset="0"/>
                              </a:rPr>
                              <m:t>𝑌</m:t>
                            </m:r>
                          </m:e>
                          <m:sub>
                            <m:r>
                              <a:rPr lang="en-US" sz="1600" b="0" i="1" smtClean="0">
                                <a:solidFill>
                                  <a:schemeClr val="tx1"/>
                                </a:solidFill>
                                <a:latin typeface="Cambria Math" panose="02040503050406030204" pitchFamily="18" charset="0"/>
                              </a:rPr>
                              <m:t>𝐴𝐿</m:t>
                            </m:r>
                            <m:r>
                              <a:rPr lang="en-US" sz="1600" b="0" i="1" smtClean="0">
                                <a:solidFill>
                                  <a:schemeClr val="tx1"/>
                                </a:solidFill>
                                <a:latin typeface="Cambria Math" panose="02040503050406030204" pitchFamily="18" charset="0"/>
                              </a:rPr>
                              <m:t>,</m:t>
                            </m:r>
                            <m:r>
                              <a:rPr lang="en-US" sz="1600" b="0" i="1" smtClean="0">
                                <a:solidFill>
                                  <a:schemeClr val="tx1"/>
                                </a:solidFill>
                                <a:latin typeface="Cambria Math" panose="02040503050406030204" pitchFamily="18" charset="0"/>
                              </a:rPr>
                              <m:t>𝑇</m:t>
                            </m:r>
                          </m:sub>
                        </m:sSub>
                      </m:oMath>
                    </m:oMathPara>
                  </a14:m>
                  <a:endParaRPr lang="en-US" sz="1600" dirty="0">
                    <a:solidFill>
                      <a:schemeClr val="tx1"/>
                    </a:solidFill>
                  </a:endParaRPr>
                </a:p>
              </p:txBody>
            </p:sp>
          </mc:Choice>
          <mc:Fallback xmlns="">
            <p:sp>
              <p:nvSpPr>
                <p:cNvPr id="29" name="TextBox 28">
                  <a:extLst>
                    <a:ext uri="{FF2B5EF4-FFF2-40B4-BE49-F238E27FC236}">
                      <a16:creationId xmlns:a16="http://schemas.microsoft.com/office/drawing/2014/main" id="{00E996C9-F71E-1C64-6305-15EF1203DB3A}"/>
                    </a:ext>
                  </a:extLst>
                </p:cNvPr>
                <p:cNvSpPr txBox="1">
                  <a:spLocks noRot="1" noChangeAspect="1" noMove="1" noResize="1" noEditPoints="1" noAdjustHandles="1" noChangeArrowheads="1" noChangeShapeType="1" noTextEdit="1"/>
                </p:cNvSpPr>
                <p:nvPr/>
              </p:nvSpPr>
              <p:spPr>
                <a:xfrm>
                  <a:off x="5179521" y="2788225"/>
                  <a:ext cx="656857" cy="352529"/>
                </a:xfrm>
                <a:prstGeom prst="rect">
                  <a:avLst/>
                </a:prstGeom>
                <a:blipFill>
                  <a:blip r:embed="rId8"/>
                  <a:stretch>
                    <a:fillRect l="-11111" r="-277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62D43629-4D37-8888-B630-7CE975B7B540}"/>
                    </a:ext>
                  </a:extLst>
                </p:cNvPr>
                <p:cNvSpPr txBox="1"/>
                <p:nvPr/>
              </p:nvSpPr>
              <p:spPr>
                <a:xfrm>
                  <a:off x="1972187" y="3265230"/>
                  <a:ext cx="656857" cy="35252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600" b="0" i="1" smtClean="0">
                                <a:solidFill>
                                  <a:schemeClr val="tx1"/>
                                </a:solidFill>
                                <a:latin typeface="Cambria Math" panose="02040503050406030204" pitchFamily="18" charset="0"/>
                              </a:rPr>
                            </m:ctrlPr>
                          </m:sSubPr>
                          <m:e>
                            <m:r>
                              <a:rPr lang="en-US" sz="1600" b="0" i="1" smtClean="0">
                                <a:solidFill>
                                  <a:schemeClr val="tx1"/>
                                </a:solidFill>
                                <a:latin typeface="Cambria Math" panose="02040503050406030204" pitchFamily="18" charset="0"/>
                              </a:rPr>
                              <m:t>𝑌</m:t>
                            </m:r>
                          </m:e>
                          <m:sub>
                            <m:r>
                              <a:rPr lang="en-US" sz="1600" b="0" i="1" smtClean="0">
                                <a:solidFill>
                                  <a:schemeClr val="tx1"/>
                                </a:solidFill>
                                <a:latin typeface="Cambria Math" panose="02040503050406030204" pitchFamily="18" charset="0"/>
                              </a:rPr>
                              <m:t>𝐴𝐾</m:t>
                            </m:r>
                            <m:r>
                              <a:rPr lang="en-US" sz="1600" b="0" i="1" smtClean="0">
                                <a:solidFill>
                                  <a:schemeClr val="tx1"/>
                                </a:solidFill>
                                <a:latin typeface="Cambria Math" panose="02040503050406030204" pitchFamily="18" charset="0"/>
                              </a:rPr>
                              <m:t>,1</m:t>
                            </m:r>
                          </m:sub>
                        </m:sSub>
                      </m:oMath>
                    </m:oMathPara>
                  </a14:m>
                  <a:endParaRPr lang="en-US" sz="1600" dirty="0">
                    <a:solidFill>
                      <a:schemeClr val="tx1"/>
                    </a:solidFill>
                  </a:endParaRPr>
                </a:p>
              </p:txBody>
            </p:sp>
          </mc:Choice>
          <mc:Fallback xmlns="">
            <p:sp>
              <p:nvSpPr>
                <p:cNvPr id="30" name="TextBox 29">
                  <a:extLst>
                    <a:ext uri="{FF2B5EF4-FFF2-40B4-BE49-F238E27FC236}">
                      <a16:creationId xmlns:a16="http://schemas.microsoft.com/office/drawing/2014/main" id="{E4203BD6-0AAA-275C-4449-C89C4BA7DD6D}"/>
                    </a:ext>
                  </a:extLst>
                </p:cNvPr>
                <p:cNvSpPr txBox="1">
                  <a:spLocks noRot="1" noChangeAspect="1" noMove="1" noResize="1" noEditPoints="1" noAdjustHandles="1" noChangeArrowheads="1" noChangeShapeType="1" noTextEdit="1"/>
                </p:cNvSpPr>
                <p:nvPr/>
              </p:nvSpPr>
              <p:spPr>
                <a:xfrm>
                  <a:off x="1972187" y="3265230"/>
                  <a:ext cx="656857" cy="352529"/>
                </a:xfrm>
                <a:prstGeom prst="rect">
                  <a:avLst/>
                </a:prstGeom>
                <a:blipFill>
                  <a:blip r:embed="rId9"/>
                  <a:stretch>
                    <a:fillRect l="-14286" r="-857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60CF6481-41BE-46DD-52B3-6B25F15FD7B8}"/>
                    </a:ext>
                  </a:extLst>
                </p:cNvPr>
                <p:cNvSpPr txBox="1"/>
                <p:nvPr/>
              </p:nvSpPr>
              <p:spPr>
                <a:xfrm>
                  <a:off x="2725190" y="3265230"/>
                  <a:ext cx="656857" cy="35252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600" b="0" i="1" smtClean="0">
                                <a:solidFill>
                                  <a:schemeClr val="tx1"/>
                                </a:solidFill>
                                <a:latin typeface="Cambria Math" panose="02040503050406030204" pitchFamily="18" charset="0"/>
                              </a:rPr>
                            </m:ctrlPr>
                          </m:sSubPr>
                          <m:e>
                            <m:r>
                              <a:rPr lang="en-US" sz="1600" b="0" i="1" smtClean="0">
                                <a:solidFill>
                                  <a:schemeClr val="tx1"/>
                                </a:solidFill>
                                <a:latin typeface="Cambria Math" panose="02040503050406030204" pitchFamily="18" charset="0"/>
                              </a:rPr>
                              <m:t>𝑌</m:t>
                            </m:r>
                          </m:e>
                          <m:sub>
                            <m:r>
                              <a:rPr lang="en-US" sz="1600" b="0" i="1" smtClean="0">
                                <a:solidFill>
                                  <a:schemeClr val="tx1"/>
                                </a:solidFill>
                                <a:latin typeface="Cambria Math" panose="02040503050406030204" pitchFamily="18" charset="0"/>
                              </a:rPr>
                              <m:t>𝐴𝐾</m:t>
                            </m:r>
                            <m:r>
                              <a:rPr lang="en-US" sz="1600" b="0" i="1" smtClean="0">
                                <a:solidFill>
                                  <a:schemeClr val="tx1"/>
                                </a:solidFill>
                                <a:latin typeface="Cambria Math" panose="02040503050406030204" pitchFamily="18" charset="0"/>
                              </a:rPr>
                              <m:t>,2</m:t>
                            </m:r>
                          </m:sub>
                        </m:sSub>
                      </m:oMath>
                    </m:oMathPara>
                  </a14:m>
                  <a:endParaRPr lang="en-US" sz="1600" dirty="0">
                    <a:solidFill>
                      <a:schemeClr val="tx1"/>
                    </a:solidFill>
                  </a:endParaRPr>
                </a:p>
              </p:txBody>
            </p:sp>
          </mc:Choice>
          <mc:Fallback xmlns="">
            <p:sp>
              <p:nvSpPr>
                <p:cNvPr id="31" name="TextBox 30">
                  <a:extLst>
                    <a:ext uri="{FF2B5EF4-FFF2-40B4-BE49-F238E27FC236}">
                      <a16:creationId xmlns:a16="http://schemas.microsoft.com/office/drawing/2014/main" id="{1D9BE2B1-E9FF-FF25-DC68-8217F322A676}"/>
                    </a:ext>
                  </a:extLst>
                </p:cNvPr>
                <p:cNvSpPr txBox="1">
                  <a:spLocks noRot="1" noChangeAspect="1" noMove="1" noResize="1" noEditPoints="1" noAdjustHandles="1" noChangeArrowheads="1" noChangeShapeType="1" noTextEdit="1"/>
                </p:cNvSpPr>
                <p:nvPr/>
              </p:nvSpPr>
              <p:spPr>
                <a:xfrm>
                  <a:off x="2725190" y="3265230"/>
                  <a:ext cx="656857" cy="352529"/>
                </a:xfrm>
                <a:prstGeom prst="rect">
                  <a:avLst/>
                </a:prstGeom>
                <a:blipFill>
                  <a:blip r:embed="rId10"/>
                  <a:stretch>
                    <a:fillRect l="-14286" r="-857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7D26C5A7-EB93-2AA3-8048-C8A7D6E227DF}"/>
                    </a:ext>
                  </a:extLst>
                </p:cNvPr>
                <p:cNvSpPr txBox="1"/>
                <p:nvPr/>
              </p:nvSpPr>
              <p:spPr>
                <a:xfrm>
                  <a:off x="5211929" y="3265230"/>
                  <a:ext cx="656857" cy="35252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600" b="0" i="1" smtClean="0">
                                <a:solidFill>
                                  <a:schemeClr val="tx1"/>
                                </a:solidFill>
                                <a:latin typeface="Cambria Math" panose="02040503050406030204" pitchFamily="18" charset="0"/>
                              </a:rPr>
                            </m:ctrlPr>
                          </m:sSubPr>
                          <m:e>
                            <m:r>
                              <a:rPr lang="en-US" sz="1600" b="0" i="1" smtClean="0">
                                <a:solidFill>
                                  <a:schemeClr val="tx1"/>
                                </a:solidFill>
                                <a:latin typeface="Cambria Math" panose="02040503050406030204" pitchFamily="18" charset="0"/>
                              </a:rPr>
                              <m:t>𝑌</m:t>
                            </m:r>
                          </m:e>
                          <m:sub>
                            <m:r>
                              <a:rPr lang="en-US" sz="1600" b="0" i="1" smtClean="0">
                                <a:solidFill>
                                  <a:schemeClr val="tx1"/>
                                </a:solidFill>
                                <a:latin typeface="Cambria Math" panose="02040503050406030204" pitchFamily="18" charset="0"/>
                              </a:rPr>
                              <m:t>𝐴𝐾</m:t>
                            </m:r>
                            <m:r>
                              <a:rPr lang="en-US" sz="1600" b="0" i="1" smtClean="0">
                                <a:solidFill>
                                  <a:schemeClr val="tx1"/>
                                </a:solidFill>
                                <a:latin typeface="Cambria Math" panose="02040503050406030204" pitchFamily="18" charset="0"/>
                              </a:rPr>
                              <m:t>,</m:t>
                            </m:r>
                            <m:r>
                              <a:rPr lang="en-US" sz="1600" b="0" i="1" smtClean="0">
                                <a:solidFill>
                                  <a:schemeClr val="tx1"/>
                                </a:solidFill>
                                <a:latin typeface="Cambria Math" panose="02040503050406030204" pitchFamily="18" charset="0"/>
                              </a:rPr>
                              <m:t>𝑇</m:t>
                            </m:r>
                          </m:sub>
                        </m:sSub>
                      </m:oMath>
                    </m:oMathPara>
                  </a14:m>
                  <a:endParaRPr lang="en-US" sz="1600" dirty="0">
                    <a:solidFill>
                      <a:schemeClr val="tx1"/>
                    </a:solidFill>
                  </a:endParaRPr>
                </a:p>
              </p:txBody>
            </p:sp>
          </mc:Choice>
          <mc:Fallback xmlns="">
            <p:sp>
              <p:nvSpPr>
                <p:cNvPr id="32" name="TextBox 31">
                  <a:extLst>
                    <a:ext uri="{FF2B5EF4-FFF2-40B4-BE49-F238E27FC236}">
                      <a16:creationId xmlns:a16="http://schemas.microsoft.com/office/drawing/2014/main" id="{BBDE10C6-68A2-2C4B-C7A5-9907FD631D0F}"/>
                    </a:ext>
                  </a:extLst>
                </p:cNvPr>
                <p:cNvSpPr txBox="1">
                  <a:spLocks noRot="1" noChangeAspect="1" noMove="1" noResize="1" noEditPoints="1" noAdjustHandles="1" noChangeArrowheads="1" noChangeShapeType="1" noTextEdit="1"/>
                </p:cNvSpPr>
                <p:nvPr/>
              </p:nvSpPr>
              <p:spPr>
                <a:xfrm>
                  <a:off x="5211929" y="3265230"/>
                  <a:ext cx="656857" cy="352529"/>
                </a:xfrm>
                <a:prstGeom prst="rect">
                  <a:avLst/>
                </a:prstGeom>
                <a:blipFill>
                  <a:blip r:embed="rId11"/>
                  <a:stretch>
                    <a:fillRect l="-14286" r="-857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68E21283-C1C6-F65A-8CAA-3755B4EC7E00}"/>
                    </a:ext>
                  </a:extLst>
                </p:cNvPr>
                <p:cNvSpPr txBox="1"/>
                <p:nvPr/>
              </p:nvSpPr>
              <p:spPr>
                <a:xfrm>
                  <a:off x="1972187" y="3802732"/>
                  <a:ext cx="656857" cy="35252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600" b="0" i="1" smtClean="0">
                                <a:solidFill>
                                  <a:schemeClr val="tx1"/>
                                </a:solidFill>
                                <a:latin typeface="Cambria Math" panose="02040503050406030204" pitchFamily="18" charset="0"/>
                              </a:rPr>
                            </m:ctrlPr>
                          </m:sSubPr>
                          <m:e>
                            <m:r>
                              <a:rPr lang="en-US" sz="1600" b="0" i="1" smtClean="0">
                                <a:solidFill>
                                  <a:schemeClr val="tx1"/>
                                </a:solidFill>
                                <a:latin typeface="Cambria Math" panose="02040503050406030204" pitchFamily="18" charset="0"/>
                              </a:rPr>
                              <m:t>𝑌</m:t>
                            </m:r>
                          </m:e>
                          <m:sub>
                            <m:r>
                              <a:rPr lang="en-US" sz="1600" b="0" i="1" smtClean="0">
                                <a:solidFill>
                                  <a:schemeClr val="tx1"/>
                                </a:solidFill>
                                <a:latin typeface="Cambria Math" panose="02040503050406030204" pitchFamily="18" charset="0"/>
                              </a:rPr>
                              <m:t>𝐶𝐴</m:t>
                            </m:r>
                            <m:r>
                              <a:rPr lang="en-US" sz="1600" b="0" i="1" smtClean="0">
                                <a:solidFill>
                                  <a:schemeClr val="tx1"/>
                                </a:solidFill>
                                <a:latin typeface="Cambria Math" panose="02040503050406030204" pitchFamily="18" charset="0"/>
                              </a:rPr>
                              <m:t>,1</m:t>
                            </m:r>
                          </m:sub>
                        </m:sSub>
                      </m:oMath>
                    </m:oMathPara>
                  </a14:m>
                  <a:endParaRPr lang="en-US" sz="1600" dirty="0">
                    <a:solidFill>
                      <a:schemeClr val="tx1"/>
                    </a:solidFill>
                  </a:endParaRPr>
                </a:p>
              </p:txBody>
            </p:sp>
          </mc:Choice>
          <mc:Fallback xmlns="">
            <p:sp>
              <p:nvSpPr>
                <p:cNvPr id="33" name="TextBox 32">
                  <a:extLst>
                    <a:ext uri="{FF2B5EF4-FFF2-40B4-BE49-F238E27FC236}">
                      <a16:creationId xmlns:a16="http://schemas.microsoft.com/office/drawing/2014/main" id="{E71D625D-BAEA-746C-4DE9-91D158471D23}"/>
                    </a:ext>
                  </a:extLst>
                </p:cNvPr>
                <p:cNvSpPr txBox="1">
                  <a:spLocks noRot="1" noChangeAspect="1" noMove="1" noResize="1" noEditPoints="1" noAdjustHandles="1" noChangeArrowheads="1" noChangeShapeType="1" noTextEdit="1"/>
                </p:cNvSpPr>
                <p:nvPr/>
              </p:nvSpPr>
              <p:spPr>
                <a:xfrm>
                  <a:off x="1972187" y="3802732"/>
                  <a:ext cx="656857" cy="352529"/>
                </a:xfrm>
                <a:prstGeom prst="rect">
                  <a:avLst/>
                </a:prstGeom>
                <a:blipFill>
                  <a:blip r:embed="rId12"/>
                  <a:stretch>
                    <a:fillRect l="-11429" r="-857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796FCDEB-1BED-2D3E-2F0A-3FBFE15E9DDE}"/>
                    </a:ext>
                  </a:extLst>
                </p:cNvPr>
                <p:cNvSpPr txBox="1"/>
                <p:nvPr/>
              </p:nvSpPr>
              <p:spPr>
                <a:xfrm>
                  <a:off x="2725190" y="3802732"/>
                  <a:ext cx="656857" cy="35252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600" b="0" i="1" smtClean="0">
                                <a:solidFill>
                                  <a:schemeClr val="tx1"/>
                                </a:solidFill>
                                <a:latin typeface="Cambria Math" panose="02040503050406030204" pitchFamily="18" charset="0"/>
                              </a:rPr>
                            </m:ctrlPr>
                          </m:sSubPr>
                          <m:e>
                            <m:r>
                              <a:rPr lang="en-US" sz="1600" b="0" i="1" smtClean="0">
                                <a:solidFill>
                                  <a:schemeClr val="tx1"/>
                                </a:solidFill>
                                <a:latin typeface="Cambria Math" panose="02040503050406030204" pitchFamily="18" charset="0"/>
                              </a:rPr>
                              <m:t>𝑌</m:t>
                            </m:r>
                          </m:e>
                          <m:sub>
                            <m:r>
                              <a:rPr lang="en-US" sz="1600" b="0" i="1" smtClean="0">
                                <a:solidFill>
                                  <a:schemeClr val="tx1"/>
                                </a:solidFill>
                                <a:latin typeface="Cambria Math" panose="02040503050406030204" pitchFamily="18" charset="0"/>
                              </a:rPr>
                              <m:t>𝐶𝐴</m:t>
                            </m:r>
                            <m:r>
                              <a:rPr lang="en-US" sz="1600" b="0" i="1" smtClean="0">
                                <a:solidFill>
                                  <a:schemeClr val="tx1"/>
                                </a:solidFill>
                                <a:latin typeface="Cambria Math" panose="02040503050406030204" pitchFamily="18" charset="0"/>
                              </a:rPr>
                              <m:t>,2</m:t>
                            </m:r>
                          </m:sub>
                        </m:sSub>
                      </m:oMath>
                    </m:oMathPara>
                  </a14:m>
                  <a:endParaRPr lang="en-US" sz="1600" dirty="0">
                    <a:solidFill>
                      <a:schemeClr val="tx1"/>
                    </a:solidFill>
                  </a:endParaRPr>
                </a:p>
              </p:txBody>
            </p:sp>
          </mc:Choice>
          <mc:Fallback xmlns="">
            <p:sp>
              <p:nvSpPr>
                <p:cNvPr id="34" name="TextBox 33">
                  <a:extLst>
                    <a:ext uri="{FF2B5EF4-FFF2-40B4-BE49-F238E27FC236}">
                      <a16:creationId xmlns:a16="http://schemas.microsoft.com/office/drawing/2014/main" id="{0B1DAE2B-BD1E-DE59-245F-E235BA035C92}"/>
                    </a:ext>
                  </a:extLst>
                </p:cNvPr>
                <p:cNvSpPr txBox="1">
                  <a:spLocks noRot="1" noChangeAspect="1" noMove="1" noResize="1" noEditPoints="1" noAdjustHandles="1" noChangeArrowheads="1" noChangeShapeType="1" noTextEdit="1"/>
                </p:cNvSpPr>
                <p:nvPr/>
              </p:nvSpPr>
              <p:spPr>
                <a:xfrm>
                  <a:off x="2725190" y="3802732"/>
                  <a:ext cx="656857" cy="352529"/>
                </a:xfrm>
                <a:prstGeom prst="rect">
                  <a:avLst/>
                </a:prstGeom>
                <a:blipFill>
                  <a:blip r:embed="rId13"/>
                  <a:stretch>
                    <a:fillRect l="-14286" r="-857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984C7629-6A3E-404E-115B-1783FFE600DF}"/>
                    </a:ext>
                  </a:extLst>
                </p:cNvPr>
                <p:cNvSpPr txBox="1"/>
                <p:nvPr/>
              </p:nvSpPr>
              <p:spPr>
                <a:xfrm>
                  <a:off x="5211929" y="3802732"/>
                  <a:ext cx="656857" cy="35252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600" b="0" i="1" smtClean="0">
                                <a:solidFill>
                                  <a:schemeClr val="tx1"/>
                                </a:solidFill>
                                <a:latin typeface="Cambria Math" panose="02040503050406030204" pitchFamily="18" charset="0"/>
                              </a:rPr>
                            </m:ctrlPr>
                          </m:sSubPr>
                          <m:e>
                            <m:r>
                              <a:rPr lang="en-US" sz="1600" b="0" i="1" smtClean="0">
                                <a:solidFill>
                                  <a:schemeClr val="tx1"/>
                                </a:solidFill>
                                <a:latin typeface="Cambria Math" panose="02040503050406030204" pitchFamily="18" charset="0"/>
                              </a:rPr>
                              <m:t>𝑌</m:t>
                            </m:r>
                          </m:e>
                          <m:sub>
                            <m:r>
                              <a:rPr lang="en-US" sz="1600" b="0" i="1" smtClean="0">
                                <a:solidFill>
                                  <a:schemeClr val="tx1"/>
                                </a:solidFill>
                                <a:latin typeface="Cambria Math" panose="02040503050406030204" pitchFamily="18" charset="0"/>
                              </a:rPr>
                              <m:t>𝐶𝐴</m:t>
                            </m:r>
                            <m:r>
                              <a:rPr lang="en-US" sz="1600" b="0" i="1" smtClean="0">
                                <a:solidFill>
                                  <a:schemeClr val="tx1"/>
                                </a:solidFill>
                                <a:latin typeface="Cambria Math" panose="02040503050406030204" pitchFamily="18" charset="0"/>
                              </a:rPr>
                              <m:t>,</m:t>
                            </m:r>
                            <m:r>
                              <a:rPr lang="en-US" sz="1600" b="0" i="1" smtClean="0">
                                <a:solidFill>
                                  <a:schemeClr val="tx1"/>
                                </a:solidFill>
                                <a:latin typeface="Cambria Math" panose="02040503050406030204" pitchFamily="18" charset="0"/>
                              </a:rPr>
                              <m:t>𝑇</m:t>
                            </m:r>
                          </m:sub>
                        </m:sSub>
                      </m:oMath>
                    </m:oMathPara>
                  </a14:m>
                  <a:endParaRPr lang="en-US" sz="1600" dirty="0">
                    <a:solidFill>
                      <a:schemeClr val="tx1"/>
                    </a:solidFill>
                  </a:endParaRPr>
                </a:p>
              </p:txBody>
            </p:sp>
          </mc:Choice>
          <mc:Fallback xmlns="">
            <p:sp>
              <p:nvSpPr>
                <p:cNvPr id="35" name="TextBox 34">
                  <a:extLst>
                    <a:ext uri="{FF2B5EF4-FFF2-40B4-BE49-F238E27FC236}">
                      <a16:creationId xmlns:a16="http://schemas.microsoft.com/office/drawing/2014/main" id="{FD772CF3-74A5-CB41-1C7E-134C85F963AA}"/>
                    </a:ext>
                  </a:extLst>
                </p:cNvPr>
                <p:cNvSpPr txBox="1">
                  <a:spLocks noRot="1" noChangeAspect="1" noMove="1" noResize="1" noEditPoints="1" noAdjustHandles="1" noChangeArrowheads="1" noChangeShapeType="1" noTextEdit="1"/>
                </p:cNvSpPr>
                <p:nvPr/>
              </p:nvSpPr>
              <p:spPr>
                <a:xfrm>
                  <a:off x="5211929" y="3802732"/>
                  <a:ext cx="656857" cy="352529"/>
                </a:xfrm>
                <a:prstGeom prst="rect">
                  <a:avLst/>
                </a:prstGeom>
                <a:blipFill>
                  <a:blip r:embed="rId14"/>
                  <a:stretch>
                    <a:fillRect l="-14286" r="-857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A61C8B11-440B-AA2A-3F40-AF529C7B3028}"/>
                    </a:ext>
                  </a:extLst>
                </p:cNvPr>
                <p:cNvSpPr txBox="1"/>
                <p:nvPr/>
              </p:nvSpPr>
              <p:spPr>
                <a:xfrm>
                  <a:off x="1977446" y="4810902"/>
                  <a:ext cx="656857" cy="35252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600" b="0" i="1" smtClean="0">
                                <a:solidFill>
                                  <a:schemeClr val="tx1"/>
                                </a:solidFill>
                                <a:latin typeface="Cambria Math" panose="02040503050406030204" pitchFamily="18" charset="0"/>
                              </a:rPr>
                            </m:ctrlPr>
                          </m:sSubPr>
                          <m:e>
                            <m:r>
                              <a:rPr lang="en-US" sz="1600" b="0" i="1" smtClean="0">
                                <a:solidFill>
                                  <a:schemeClr val="tx1"/>
                                </a:solidFill>
                                <a:latin typeface="Cambria Math" panose="02040503050406030204" pitchFamily="18" charset="0"/>
                              </a:rPr>
                              <m:t>𝑌</m:t>
                            </m:r>
                          </m:e>
                          <m:sub>
                            <m:r>
                              <a:rPr lang="en-US" sz="1600" b="0" i="1" smtClean="0">
                                <a:solidFill>
                                  <a:schemeClr val="tx1"/>
                                </a:solidFill>
                                <a:latin typeface="Cambria Math" panose="02040503050406030204" pitchFamily="18" charset="0"/>
                              </a:rPr>
                              <m:t>𝑊𝑌</m:t>
                            </m:r>
                            <m:r>
                              <a:rPr lang="en-US" sz="1600" b="0" i="1" smtClean="0">
                                <a:solidFill>
                                  <a:schemeClr val="tx1"/>
                                </a:solidFill>
                                <a:latin typeface="Cambria Math" panose="02040503050406030204" pitchFamily="18" charset="0"/>
                              </a:rPr>
                              <m:t>,1</m:t>
                            </m:r>
                          </m:sub>
                        </m:sSub>
                      </m:oMath>
                    </m:oMathPara>
                  </a14:m>
                  <a:endParaRPr lang="en-US" sz="1600" dirty="0">
                    <a:solidFill>
                      <a:schemeClr val="tx1"/>
                    </a:solidFill>
                  </a:endParaRPr>
                </a:p>
              </p:txBody>
            </p:sp>
          </mc:Choice>
          <mc:Fallback xmlns="">
            <p:sp>
              <p:nvSpPr>
                <p:cNvPr id="36" name="TextBox 35">
                  <a:extLst>
                    <a:ext uri="{FF2B5EF4-FFF2-40B4-BE49-F238E27FC236}">
                      <a16:creationId xmlns:a16="http://schemas.microsoft.com/office/drawing/2014/main" id="{71CDA6A2-2C28-7108-6CFB-76227EDD354C}"/>
                    </a:ext>
                  </a:extLst>
                </p:cNvPr>
                <p:cNvSpPr txBox="1">
                  <a:spLocks noRot="1" noChangeAspect="1" noMove="1" noResize="1" noEditPoints="1" noAdjustHandles="1" noChangeArrowheads="1" noChangeShapeType="1" noTextEdit="1"/>
                </p:cNvSpPr>
                <p:nvPr/>
              </p:nvSpPr>
              <p:spPr>
                <a:xfrm>
                  <a:off x="1977446" y="4810902"/>
                  <a:ext cx="656857" cy="352529"/>
                </a:xfrm>
                <a:prstGeom prst="rect">
                  <a:avLst/>
                </a:prstGeom>
                <a:blipFill>
                  <a:blip r:embed="rId15"/>
                  <a:stretch>
                    <a:fillRect l="-14286" r="-1714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B65ED724-FDDE-8366-CAF3-0DC6BB93C953}"/>
                    </a:ext>
                  </a:extLst>
                </p:cNvPr>
                <p:cNvSpPr txBox="1"/>
                <p:nvPr/>
              </p:nvSpPr>
              <p:spPr>
                <a:xfrm>
                  <a:off x="2730451" y="4810902"/>
                  <a:ext cx="656857" cy="35252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600" b="0" i="1" smtClean="0">
                                <a:solidFill>
                                  <a:schemeClr val="tx1"/>
                                </a:solidFill>
                                <a:latin typeface="Cambria Math" panose="02040503050406030204" pitchFamily="18" charset="0"/>
                              </a:rPr>
                            </m:ctrlPr>
                          </m:sSubPr>
                          <m:e>
                            <m:r>
                              <a:rPr lang="en-US" sz="1600" b="0" i="1" smtClean="0">
                                <a:solidFill>
                                  <a:schemeClr val="tx1"/>
                                </a:solidFill>
                                <a:latin typeface="Cambria Math" panose="02040503050406030204" pitchFamily="18" charset="0"/>
                              </a:rPr>
                              <m:t>𝑌</m:t>
                            </m:r>
                          </m:e>
                          <m:sub>
                            <m:r>
                              <a:rPr lang="en-US" sz="1600" b="0" i="1" smtClean="0">
                                <a:solidFill>
                                  <a:schemeClr val="tx1"/>
                                </a:solidFill>
                                <a:latin typeface="Cambria Math" panose="02040503050406030204" pitchFamily="18" charset="0"/>
                              </a:rPr>
                              <m:t>𝑊𝑌</m:t>
                            </m:r>
                            <m:r>
                              <a:rPr lang="en-US" sz="1600" b="0" i="1" smtClean="0">
                                <a:solidFill>
                                  <a:schemeClr val="tx1"/>
                                </a:solidFill>
                                <a:latin typeface="Cambria Math" panose="02040503050406030204" pitchFamily="18" charset="0"/>
                              </a:rPr>
                              <m:t>,2</m:t>
                            </m:r>
                          </m:sub>
                        </m:sSub>
                      </m:oMath>
                    </m:oMathPara>
                  </a14:m>
                  <a:endParaRPr lang="en-US" sz="1600" dirty="0">
                    <a:solidFill>
                      <a:schemeClr val="tx1"/>
                    </a:solidFill>
                  </a:endParaRPr>
                </a:p>
              </p:txBody>
            </p:sp>
          </mc:Choice>
          <mc:Fallback xmlns="">
            <p:sp>
              <p:nvSpPr>
                <p:cNvPr id="37" name="TextBox 36">
                  <a:extLst>
                    <a:ext uri="{FF2B5EF4-FFF2-40B4-BE49-F238E27FC236}">
                      <a16:creationId xmlns:a16="http://schemas.microsoft.com/office/drawing/2014/main" id="{C21EAB5D-2BE5-EE65-C5B8-1F566C57B147}"/>
                    </a:ext>
                  </a:extLst>
                </p:cNvPr>
                <p:cNvSpPr txBox="1">
                  <a:spLocks noRot="1" noChangeAspect="1" noMove="1" noResize="1" noEditPoints="1" noAdjustHandles="1" noChangeArrowheads="1" noChangeShapeType="1" noTextEdit="1"/>
                </p:cNvSpPr>
                <p:nvPr/>
              </p:nvSpPr>
              <p:spPr>
                <a:xfrm>
                  <a:off x="2730451" y="4810902"/>
                  <a:ext cx="656857" cy="352529"/>
                </a:xfrm>
                <a:prstGeom prst="rect">
                  <a:avLst/>
                </a:prstGeom>
                <a:blipFill>
                  <a:blip r:embed="rId16"/>
                  <a:stretch>
                    <a:fillRect l="-17143" r="-1428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D9D03AEB-7D27-D3B6-963E-1569DB7E9241}"/>
                    </a:ext>
                  </a:extLst>
                </p:cNvPr>
                <p:cNvSpPr txBox="1"/>
                <p:nvPr/>
              </p:nvSpPr>
              <p:spPr>
                <a:xfrm>
                  <a:off x="5217188" y="4810902"/>
                  <a:ext cx="656857" cy="35252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600" b="0" i="1" smtClean="0">
                                <a:solidFill>
                                  <a:schemeClr val="tx1"/>
                                </a:solidFill>
                                <a:latin typeface="Cambria Math" panose="02040503050406030204" pitchFamily="18" charset="0"/>
                              </a:rPr>
                            </m:ctrlPr>
                          </m:sSubPr>
                          <m:e>
                            <m:r>
                              <a:rPr lang="en-US" sz="1600" b="0" i="1" smtClean="0">
                                <a:solidFill>
                                  <a:schemeClr val="tx1"/>
                                </a:solidFill>
                                <a:latin typeface="Cambria Math" panose="02040503050406030204" pitchFamily="18" charset="0"/>
                              </a:rPr>
                              <m:t>𝑌</m:t>
                            </m:r>
                          </m:e>
                          <m:sub>
                            <m:r>
                              <a:rPr lang="en-US" sz="1600" b="0" i="1" smtClean="0">
                                <a:solidFill>
                                  <a:schemeClr val="tx1"/>
                                </a:solidFill>
                                <a:latin typeface="Cambria Math" panose="02040503050406030204" pitchFamily="18" charset="0"/>
                              </a:rPr>
                              <m:t>𝑊𝑌</m:t>
                            </m:r>
                            <m:r>
                              <a:rPr lang="en-US" sz="1600" b="0" i="1" smtClean="0">
                                <a:solidFill>
                                  <a:schemeClr val="tx1"/>
                                </a:solidFill>
                                <a:latin typeface="Cambria Math" panose="02040503050406030204" pitchFamily="18" charset="0"/>
                              </a:rPr>
                              <m:t>,</m:t>
                            </m:r>
                            <m:r>
                              <a:rPr lang="en-US" sz="1600" b="0" i="1" smtClean="0">
                                <a:solidFill>
                                  <a:schemeClr val="tx1"/>
                                </a:solidFill>
                                <a:latin typeface="Cambria Math" panose="02040503050406030204" pitchFamily="18" charset="0"/>
                              </a:rPr>
                              <m:t>𝑇</m:t>
                            </m:r>
                          </m:sub>
                        </m:sSub>
                      </m:oMath>
                    </m:oMathPara>
                  </a14:m>
                  <a:endParaRPr lang="en-US" sz="1600" dirty="0">
                    <a:solidFill>
                      <a:schemeClr val="tx1"/>
                    </a:solidFill>
                  </a:endParaRPr>
                </a:p>
              </p:txBody>
            </p:sp>
          </mc:Choice>
          <mc:Fallback xmlns="">
            <p:sp>
              <p:nvSpPr>
                <p:cNvPr id="38" name="TextBox 37">
                  <a:extLst>
                    <a:ext uri="{FF2B5EF4-FFF2-40B4-BE49-F238E27FC236}">
                      <a16:creationId xmlns:a16="http://schemas.microsoft.com/office/drawing/2014/main" id="{9CC86B30-A4A5-F724-BDF9-996CF5977625}"/>
                    </a:ext>
                  </a:extLst>
                </p:cNvPr>
                <p:cNvSpPr txBox="1">
                  <a:spLocks noRot="1" noChangeAspect="1" noMove="1" noResize="1" noEditPoints="1" noAdjustHandles="1" noChangeArrowheads="1" noChangeShapeType="1" noTextEdit="1"/>
                </p:cNvSpPr>
                <p:nvPr/>
              </p:nvSpPr>
              <p:spPr>
                <a:xfrm>
                  <a:off x="5217188" y="4810902"/>
                  <a:ext cx="656857" cy="352529"/>
                </a:xfrm>
                <a:prstGeom prst="rect">
                  <a:avLst/>
                </a:prstGeom>
                <a:blipFill>
                  <a:blip r:embed="rId17"/>
                  <a:stretch>
                    <a:fillRect l="-14286" r="-1714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1D69B07E-2030-7D89-5E32-ED1E21A7693F}"/>
                    </a:ext>
                  </a:extLst>
                </p:cNvPr>
                <p:cNvSpPr txBox="1"/>
                <p:nvPr/>
              </p:nvSpPr>
              <p:spPr>
                <a:xfrm>
                  <a:off x="2116562" y="4363343"/>
                  <a:ext cx="486873" cy="42219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400" b="0" i="1" smtClean="0">
                            <a:solidFill>
                              <a:schemeClr val="tx1"/>
                            </a:solidFill>
                            <a:latin typeface="Cambria Math" panose="02040503050406030204" pitchFamily="18" charset="0"/>
                          </a:rPr>
                          <m:t>⋮</m:t>
                        </m:r>
                      </m:oMath>
                    </m:oMathPara>
                  </a14:m>
                  <a:endParaRPr lang="en-US" sz="1400" dirty="0">
                    <a:solidFill>
                      <a:schemeClr val="tx1"/>
                    </a:solidFill>
                  </a:endParaRPr>
                </a:p>
              </p:txBody>
            </p:sp>
          </mc:Choice>
          <mc:Fallback xmlns="">
            <p:sp>
              <p:nvSpPr>
                <p:cNvPr id="39" name="TextBox 38">
                  <a:extLst>
                    <a:ext uri="{FF2B5EF4-FFF2-40B4-BE49-F238E27FC236}">
                      <a16:creationId xmlns:a16="http://schemas.microsoft.com/office/drawing/2014/main" id="{8DB545EC-0A63-ED4A-49C0-76653BBC9FD2}"/>
                    </a:ext>
                  </a:extLst>
                </p:cNvPr>
                <p:cNvSpPr txBox="1">
                  <a:spLocks noRot="1" noChangeAspect="1" noMove="1" noResize="1" noEditPoints="1" noAdjustHandles="1" noChangeArrowheads="1" noChangeShapeType="1" noTextEdit="1"/>
                </p:cNvSpPr>
                <p:nvPr/>
              </p:nvSpPr>
              <p:spPr>
                <a:xfrm>
                  <a:off x="2116562" y="4363343"/>
                  <a:ext cx="486873" cy="422192"/>
                </a:xfrm>
                <a:prstGeom prst="rect">
                  <a:avLst/>
                </a:prstGeom>
                <a:blipFill>
                  <a:blip r:embed="rId1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541F4391-E8E2-58A7-AC53-23B9BD559281}"/>
                    </a:ext>
                  </a:extLst>
                </p:cNvPr>
                <p:cNvSpPr txBox="1"/>
                <p:nvPr/>
              </p:nvSpPr>
              <p:spPr>
                <a:xfrm>
                  <a:off x="5356304" y="4338169"/>
                  <a:ext cx="486873" cy="42219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400" b="0" i="1" smtClean="0">
                            <a:solidFill>
                              <a:schemeClr val="tx1"/>
                            </a:solidFill>
                            <a:latin typeface="Cambria Math" panose="02040503050406030204" pitchFamily="18" charset="0"/>
                          </a:rPr>
                          <m:t>⋮</m:t>
                        </m:r>
                      </m:oMath>
                    </m:oMathPara>
                  </a14:m>
                  <a:endParaRPr lang="en-US" sz="1400" dirty="0">
                    <a:solidFill>
                      <a:schemeClr val="tx1"/>
                    </a:solidFill>
                  </a:endParaRPr>
                </a:p>
              </p:txBody>
            </p:sp>
          </mc:Choice>
          <mc:Fallback xmlns="">
            <p:sp>
              <p:nvSpPr>
                <p:cNvPr id="40" name="TextBox 39">
                  <a:extLst>
                    <a:ext uri="{FF2B5EF4-FFF2-40B4-BE49-F238E27FC236}">
                      <a16:creationId xmlns:a16="http://schemas.microsoft.com/office/drawing/2014/main" id="{054B7A61-0468-2B75-8484-26EB1178770A}"/>
                    </a:ext>
                  </a:extLst>
                </p:cNvPr>
                <p:cNvSpPr txBox="1">
                  <a:spLocks noRot="1" noChangeAspect="1" noMove="1" noResize="1" noEditPoints="1" noAdjustHandles="1" noChangeArrowheads="1" noChangeShapeType="1" noTextEdit="1"/>
                </p:cNvSpPr>
                <p:nvPr/>
              </p:nvSpPr>
              <p:spPr>
                <a:xfrm>
                  <a:off x="5356304" y="4338169"/>
                  <a:ext cx="486873" cy="422192"/>
                </a:xfrm>
                <a:prstGeom prst="rect">
                  <a:avLst/>
                </a:prstGeom>
                <a:blipFill>
                  <a:blip r:embed="rId1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9EFD657E-281E-54E1-EB13-01AA1E86E45C}"/>
                    </a:ext>
                  </a:extLst>
                </p:cNvPr>
                <p:cNvSpPr txBox="1"/>
                <p:nvPr/>
              </p:nvSpPr>
              <p:spPr>
                <a:xfrm>
                  <a:off x="3804922" y="2798885"/>
                  <a:ext cx="850773" cy="42219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400" i="1" smtClean="0">
                            <a:solidFill>
                              <a:schemeClr val="tx1"/>
                            </a:solidFill>
                            <a:latin typeface="Cambria Math" panose="02040503050406030204" pitchFamily="18" charset="0"/>
                          </a:rPr>
                          <m:t>⋯</m:t>
                        </m:r>
                      </m:oMath>
                    </m:oMathPara>
                  </a14:m>
                  <a:endParaRPr lang="en-US" sz="1400" dirty="0">
                    <a:solidFill>
                      <a:schemeClr val="tx1"/>
                    </a:solidFill>
                  </a:endParaRPr>
                </a:p>
              </p:txBody>
            </p:sp>
          </mc:Choice>
          <mc:Fallback xmlns="">
            <p:sp>
              <p:nvSpPr>
                <p:cNvPr id="41" name="TextBox 40">
                  <a:extLst>
                    <a:ext uri="{FF2B5EF4-FFF2-40B4-BE49-F238E27FC236}">
                      <a16:creationId xmlns:a16="http://schemas.microsoft.com/office/drawing/2014/main" id="{2B837E66-335C-992C-58BB-0F77BA93EF92}"/>
                    </a:ext>
                  </a:extLst>
                </p:cNvPr>
                <p:cNvSpPr txBox="1">
                  <a:spLocks noRot="1" noChangeAspect="1" noMove="1" noResize="1" noEditPoints="1" noAdjustHandles="1" noChangeArrowheads="1" noChangeShapeType="1" noTextEdit="1"/>
                </p:cNvSpPr>
                <p:nvPr/>
              </p:nvSpPr>
              <p:spPr>
                <a:xfrm>
                  <a:off x="3804922" y="2798885"/>
                  <a:ext cx="850773" cy="422192"/>
                </a:xfrm>
                <a:prstGeom prst="rect">
                  <a:avLst/>
                </a:prstGeom>
                <a:blipFill>
                  <a:blip r:embed="rId2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CFCE42CD-169A-5ED6-A7EB-89DDF83B36E0}"/>
                    </a:ext>
                  </a:extLst>
                </p:cNvPr>
                <p:cNvSpPr txBox="1"/>
                <p:nvPr/>
              </p:nvSpPr>
              <p:spPr>
                <a:xfrm>
                  <a:off x="3799342" y="4829425"/>
                  <a:ext cx="850773" cy="42219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400" i="1" smtClean="0">
                            <a:solidFill>
                              <a:schemeClr val="tx1"/>
                            </a:solidFill>
                            <a:latin typeface="Cambria Math" panose="02040503050406030204" pitchFamily="18" charset="0"/>
                          </a:rPr>
                          <m:t>⋯</m:t>
                        </m:r>
                      </m:oMath>
                    </m:oMathPara>
                  </a14:m>
                  <a:endParaRPr lang="en-US" sz="1400" dirty="0">
                    <a:solidFill>
                      <a:schemeClr val="tx1"/>
                    </a:solidFill>
                  </a:endParaRPr>
                </a:p>
              </p:txBody>
            </p:sp>
          </mc:Choice>
          <mc:Fallback xmlns="">
            <p:sp>
              <p:nvSpPr>
                <p:cNvPr id="42" name="TextBox 41">
                  <a:extLst>
                    <a:ext uri="{FF2B5EF4-FFF2-40B4-BE49-F238E27FC236}">
                      <a16:creationId xmlns:a16="http://schemas.microsoft.com/office/drawing/2014/main" id="{BAFC0EE4-D813-5B8F-079C-C4AAC35DE8E0}"/>
                    </a:ext>
                  </a:extLst>
                </p:cNvPr>
                <p:cNvSpPr txBox="1">
                  <a:spLocks noRot="1" noChangeAspect="1" noMove="1" noResize="1" noEditPoints="1" noAdjustHandles="1" noChangeArrowheads="1" noChangeShapeType="1" noTextEdit="1"/>
                </p:cNvSpPr>
                <p:nvPr/>
              </p:nvSpPr>
              <p:spPr>
                <a:xfrm>
                  <a:off x="3799342" y="4829425"/>
                  <a:ext cx="850773" cy="422192"/>
                </a:xfrm>
                <a:prstGeom prst="rect">
                  <a:avLst/>
                </a:prstGeom>
                <a:blipFill>
                  <a:blip r:embed="rId21"/>
                  <a:stretch>
                    <a:fillRect/>
                  </a:stretch>
                </a:blipFill>
              </p:spPr>
              <p:txBody>
                <a:bodyPr/>
                <a:lstStyle/>
                <a:p>
                  <a:r>
                    <a:rPr lang="en-US">
                      <a:noFill/>
                    </a:rPr>
                    <a:t> </a:t>
                  </a:r>
                </a:p>
              </p:txBody>
            </p:sp>
          </mc:Fallback>
        </mc:AlternateContent>
      </p:grpSp>
      <p:sp>
        <p:nvSpPr>
          <p:cNvPr id="26" name="TextBox 25">
            <a:extLst>
              <a:ext uri="{FF2B5EF4-FFF2-40B4-BE49-F238E27FC236}">
                <a16:creationId xmlns:a16="http://schemas.microsoft.com/office/drawing/2014/main" id="{77840975-66A9-56BB-D465-BC5A97E3402A}"/>
              </a:ext>
            </a:extLst>
          </p:cNvPr>
          <p:cNvSpPr txBox="1"/>
          <p:nvPr/>
        </p:nvSpPr>
        <p:spPr>
          <a:xfrm>
            <a:off x="7356450" y="3724887"/>
            <a:ext cx="689657" cy="302267"/>
          </a:xfrm>
          <a:prstGeom prst="rect">
            <a:avLst/>
          </a:prstGeom>
          <a:noFill/>
        </p:spPr>
        <p:txBody>
          <a:bodyPr wrap="square" rtlCol="0">
            <a:spAutoFit/>
          </a:bodyPr>
          <a:lstStyle/>
          <a:p>
            <a:pPr algn="r"/>
            <a:r>
              <a:rPr lang="en-US" sz="1100" dirty="0"/>
              <a:t>1970</a:t>
            </a:r>
          </a:p>
        </p:txBody>
      </p:sp>
      <p:sp>
        <p:nvSpPr>
          <p:cNvPr id="27" name="TextBox 26">
            <a:extLst>
              <a:ext uri="{FF2B5EF4-FFF2-40B4-BE49-F238E27FC236}">
                <a16:creationId xmlns:a16="http://schemas.microsoft.com/office/drawing/2014/main" id="{D2324B6D-949E-4C44-38C3-2961D473E767}"/>
              </a:ext>
            </a:extLst>
          </p:cNvPr>
          <p:cNvSpPr txBox="1"/>
          <p:nvPr/>
        </p:nvSpPr>
        <p:spPr>
          <a:xfrm>
            <a:off x="9698811" y="3728852"/>
            <a:ext cx="689657" cy="302267"/>
          </a:xfrm>
          <a:prstGeom prst="rect">
            <a:avLst/>
          </a:prstGeom>
          <a:noFill/>
        </p:spPr>
        <p:txBody>
          <a:bodyPr wrap="square" rtlCol="0">
            <a:spAutoFit/>
          </a:bodyPr>
          <a:lstStyle/>
          <a:p>
            <a:pPr algn="r"/>
            <a:r>
              <a:rPr lang="en-US" sz="1100" dirty="0"/>
              <a:t>2000</a:t>
            </a:r>
          </a:p>
        </p:txBody>
      </p:sp>
      <p:sp>
        <p:nvSpPr>
          <p:cNvPr id="34" name="TextBox 33">
            <a:extLst>
              <a:ext uri="{FF2B5EF4-FFF2-40B4-BE49-F238E27FC236}">
                <a16:creationId xmlns:a16="http://schemas.microsoft.com/office/drawing/2014/main" id="{0C0F4FA3-08BF-D953-BE94-55A37C2597CA}"/>
              </a:ext>
            </a:extLst>
          </p:cNvPr>
          <p:cNvSpPr txBox="1"/>
          <p:nvPr/>
        </p:nvSpPr>
        <p:spPr>
          <a:xfrm>
            <a:off x="7138359" y="5888636"/>
            <a:ext cx="435619" cy="293377"/>
          </a:xfrm>
          <a:prstGeom prst="rect">
            <a:avLst/>
          </a:prstGeom>
          <a:noFill/>
        </p:spPr>
        <p:txBody>
          <a:bodyPr wrap="none" rtlCol="0">
            <a:spAutoFit/>
          </a:bodyPr>
          <a:lstStyle/>
          <a:p>
            <a:r>
              <a:rPr lang="en-US" sz="1050" dirty="0"/>
              <a:t>WY</a:t>
            </a:r>
          </a:p>
        </p:txBody>
      </p:sp>
      <p:sp>
        <p:nvSpPr>
          <p:cNvPr id="35" name="TextBox 34">
            <a:extLst>
              <a:ext uri="{FF2B5EF4-FFF2-40B4-BE49-F238E27FC236}">
                <a16:creationId xmlns:a16="http://schemas.microsoft.com/office/drawing/2014/main" id="{04679604-40C0-A73C-8B4F-45913E87EB1C}"/>
              </a:ext>
            </a:extLst>
          </p:cNvPr>
          <p:cNvSpPr txBox="1"/>
          <p:nvPr/>
        </p:nvSpPr>
        <p:spPr>
          <a:xfrm>
            <a:off x="6492946" y="4120250"/>
            <a:ext cx="1014057" cy="302267"/>
          </a:xfrm>
          <a:prstGeom prst="rect">
            <a:avLst/>
          </a:prstGeom>
          <a:noFill/>
        </p:spPr>
        <p:txBody>
          <a:bodyPr wrap="square" rtlCol="0">
            <a:spAutoFit/>
          </a:bodyPr>
          <a:lstStyle/>
          <a:p>
            <a:pPr algn="r"/>
            <a:r>
              <a:rPr lang="en-US" sz="1050" dirty="0"/>
              <a:t>AL</a:t>
            </a:r>
          </a:p>
        </p:txBody>
      </p:sp>
      <p:sp>
        <p:nvSpPr>
          <p:cNvPr id="36" name="TextBox 35">
            <a:extLst>
              <a:ext uri="{FF2B5EF4-FFF2-40B4-BE49-F238E27FC236}">
                <a16:creationId xmlns:a16="http://schemas.microsoft.com/office/drawing/2014/main" id="{AB1A108D-1EB5-2B98-61BF-D0073D02EDC4}"/>
              </a:ext>
            </a:extLst>
          </p:cNvPr>
          <p:cNvSpPr txBox="1"/>
          <p:nvPr/>
        </p:nvSpPr>
        <p:spPr>
          <a:xfrm>
            <a:off x="6490355" y="4518111"/>
            <a:ext cx="1014057" cy="302267"/>
          </a:xfrm>
          <a:prstGeom prst="rect">
            <a:avLst/>
          </a:prstGeom>
          <a:noFill/>
        </p:spPr>
        <p:txBody>
          <a:bodyPr wrap="square" rtlCol="0">
            <a:spAutoFit/>
          </a:bodyPr>
          <a:lstStyle/>
          <a:p>
            <a:pPr algn="r"/>
            <a:r>
              <a:rPr lang="en-US" sz="1050" dirty="0"/>
              <a:t>AK</a:t>
            </a:r>
          </a:p>
        </p:txBody>
      </p:sp>
      <p:sp>
        <p:nvSpPr>
          <p:cNvPr id="37" name="TextBox 36">
            <a:extLst>
              <a:ext uri="{FF2B5EF4-FFF2-40B4-BE49-F238E27FC236}">
                <a16:creationId xmlns:a16="http://schemas.microsoft.com/office/drawing/2014/main" id="{BDF625A4-CFD4-F74F-4D82-FF2EF28F0530}"/>
              </a:ext>
            </a:extLst>
          </p:cNvPr>
          <p:cNvSpPr txBox="1"/>
          <p:nvPr/>
        </p:nvSpPr>
        <p:spPr>
          <a:xfrm>
            <a:off x="6488915" y="4992747"/>
            <a:ext cx="1014057" cy="302267"/>
          </a:xfrm>
          <a:prstGeom prst="rect">
            <a:avLst/>
          </a:prstGeom>
          <a:noFill/>
        </p:spPr>
        <p:txBody>
          <a:bodyPr wrap="square" rtlCol="0">
            <a:spAutoFit/>
          </a:bodyPr>
          <a:lstStyle/>
          <a:p>
            <a:pPr algn="r"/>
            <a:r>
              <a:rPr lang="en-US" sz="1050" dirty="0"/>
              <a:t>CA</a:t>
            </a:r>
          </a:p>
        </p:txBody>
      </p:sp>
      <p:sp>
        <p:nvSpPr>
          <p:cNvPr id="38" name="TextBox 37">
            <a:extLst>
              <a:ext uri="{FF2B5EF4-FFF2-40B4-BE49-F238E27FC236}">
                <a16:creationId xmlns:a16="http://schemas.microsoft.com/office/drawing/2014/main" id="{9D613F69-932A-DA1F-7FFA-7E75439BF81E}"/>
              </a:ext>
            </a:extLst>
          </p:cNvPr>
          <p:cNvSpPr txBox="1"/>
          <p:nvPr/>
        </p:nvSpPr>
        <p:spPr>
          <a:xfrm>
            <a:off x="8913787" y="3724887"/>
            <a:ext cx="689657" cy="302267"/>
          </a:xfrm>
          <a:prstGeom prst="rect">
            <a:avLst/>
          </a:prstGeom>
          <a:noFill/>
        </p:spPr>
        <p:txBody>
          <a:bodyPr wrap="square" rtlCol="0">
            <a:spAutoFit/>
          </a:bodyPr>
          <a:lstStyle/>
          <a:p>
            <a:pPr algn="r"/>
            <a:r>
              <a:rPr lang="en-US" sz="1100" dirty="0"/>
              <a:t>1989</a:t>
            </a:r>
          </a:p>
        </p:txBody>
      </p:sp>
      <p:sp>
        <p:nvSpPr>
          <p:cNvPr id="39" name="Rounded Rectangle 38">
            <a:extLst>
              <a:ext uri="{FF2B5EF4-FFF2-40B4-BE49-F238E27FC236}">
                <a16:creationId xmlns:a16="http://schemas.microsoft.com/office/drawing/2014/main" id="{76122DAC-34ED-4F9A-F1DC-0EE4D4C05296}"/>
              </a:ext>
            </a:extLst>
          </p:cNvPr>
          <p:cNvSpPr/>
          <p:nvPr/>
        </p:nvSpPr>
        <p:spPr>
          <a:xfrm>
            <a:off x="9183118" y="4906464"/>
            <a:ext cx="1210082" cy="494705"/>
          </a:xfrm>
          <a:prstGeom prst="roundRect">
            <a:avLst/>
          </a:prstGeom>
          <a:solidFill>
            <a:schemeClr val="bg1"/>
          </a:solid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accent2"/>
                </a:solidFill>
              </a:rPr>
              <a:t>? ? ? ? ? </a:t>
            </a:r>
          </a:p>
        </p:txBody>
      </p:sp>
      <p:grpSp>
        <p:nvGrpSpPr>
          <p:cNvPr id="66" name="Group 65">
            <a:extLst>
              <a:ext uri="{FF2B5EF4-FFF2-40B4-BE49-F238E27FC236}">
                <a16:creationId xmlns:a16="http://schemas.microsoft.com/office/drawing/2014/main" id="{2746046A-E1E7-04FF-4BB7-AD4BC89C594A}"/>
              </a:ext>
            </a:extLst>
          </p:cNvPr>
          <p:cNvGrpSpPr/>
          <p:nvPr/>
        </p:nvGrpSpPr>
        <p:grpSpPr>
          <a:xfrm>
            <a:off x="1727141" y="3785396"/>
            <a:ext cx="4614617" cy="2500708"/>
            <a:chOff x="1727141" y="3785396"/>
            <a:chExt cx="4614617" cy="2500708"/>
          </a:xfrm>
        </p:grpSpPr>
        <p:sp>
          <p:nvSpPr>
            <p:cNvPr id="33" name="TextBox 32">
              <a:extLst>
                <a:ext uri="{FF2B5EF4-FFF2-40B4-BE49-F238E27FC236}">
                  <a16:creationId xmlns:a16="http://schemas.microsoft.com/office/drawing/2014/main" id="{2BF95A41-9C5B-8FA3-1ED0-CFDDDD88472C}"/>
                </a:ext>
              </a:extLst>
            </p:cNvPr>
            <p:cNvSpPr txBox="1"/>
            <p:nvPr/>
          </p:nvSpPr>
          <p:spPr>
            <a:xfrm>
              <a:off x="1727141" y="4859149"/>
              <a:ext cx="1014057" cy="302267"/>
            </a:xfrm>
            <a:prstGeom prst="rect">
              <a:avLst/>
            </a:prstGeom>
            <a:solidFill>
              <a:schemeClr val="bg1"/>
            </a:solidFill>
          </p:spPr>
          <p:txBody>
            <a:bodyPr wrap="square" rtlCol="0">
              <a:spAutoFit/>
            </a:bodyPr>
            <a:lstStyle/>
            <a:p>
              <a:pPr algn="r"/>
              <a:r>
                <a:rPr lang="en-US" sz="1050" dirty="0"/>
                <a:t>CA</a:t>
              </a:r>
            </a:p>
          </p:txBody>
        </p:sp>
        <p:grpSp>
          <p:nvGrpSpPr>
            <p:cNvPr id="65" name="Group 64">
              <a:extLst>
                <a:ext uri="{FF2B5EF4-FFF2-40B4-BE49-F238E27FC236}">
                  <a16:creationId xmlns:a16="http://schemas.microsoft.com/office/drawing/2014/main" id="{0E67AC7B-8129-D4DF-B763-8D34EADBD6C3}"/>
                </a:ext>
              </a:extLst>
            </p:cNvPr>
            <p:cNvGrpSpPr/>
            <p:nvPr/>
          </p:nvGrpSpPr>
          <p:grpSpPr>
            <a:xfrm>
              <a:off x="2371049" y="3785396"/>
              <a:ext cx="3970709" cy="2500708"/>
              <a:chOff x="2371049" y="3785396"/>
              <a:chExt cx="3970709" cy="2500708"/>
            </a:xfrm>
          </p:grpSpPr>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335BA431-F3C2-35D4-01B8-8B89E3DECF7E}"/>
                      </a:ext>
                    </a:extLst>
                  </p:cNvPr>
                  <p:cNvSpPr/>
                  <p:nvPr/>
                </p:nvSpPr>
                <p:spPr>
                  <a:xfrm>
                    <a:off x="2811731" y="4017571"/>
                    <a:ext cx="682626" cy="2268533"/>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3200" b="0" i="1" dirty="0" smtClean="0">
                              <a:solidFill>
                                <a:schemeClr val="tx1"/>
                              </a:solidFill>
                              <a:latin typeface="Cambria Math" panose="02040503050406030204" pitchFamily="18" charset="0"/>
                            </a:rPr>
                            <m:t>𝑋</m:t>
                          </m:r>
                        </m:oMath>
                      </m:oMathPara>
                    </a14:m>
                    <a:endParaRPr lang="en-US" sz="1400" dirty="0">
                      <a:solidFill>
                        <a:schemeClr val="tx1"/>
                      </a:solidFill>
                    </a:endParaRPr>
                  </a:p>
                </p:txBody>
              </p:sp>
            </mc:Choice>
            <mc:Fallback xmlns="">
              <p:sp>
                <p:nvSpPr>
                  <p:cNvPr id="4" name="Rectangle 3">
                    <a:extLst>
                      <a:ext uri="{FF2B5EF4-FFF2-40B4-BE49-F238E27FC236}">
                        <a16:creationId xmlns:a16="http://schemas.microsoft.com/office/drawing/2014/main" id="{335BA431-F3C2-35D4-01B8-8B89E3DECF7E}"/>
                      </a:ext>
                    </a:extLst>
                  </p:cNvPr>
                  <p:cNvSpPr>
                    <a:spLocks noRot="1" noChangeAspect="1" noMove="1" noResize="1" noEditPoints="1" noAdjustHandles="1" noChangeArrowheads="1" noChangeShapeType="1" noTextEdit="1"/>
                  </p:cNvSpPr>
                  <p:nvPr/>
                </p:nvSpPr>
                <p:spPr>
                  <a:xfrm>
                    <a:off x="2811731" y="4017571"/>
                    <a:ext cx="682626" cy="2268533"/>
                  </a:xfrm>
                  <a:prstGeom prst="rect">
                    <a:avLst/>
                  </a:prstGeom>
                  <a:blipFill>
                    <a:blip r:embed="rId2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Rectangle 4">
                    <a:extLst>
                      <a:ext uri="{FF2B5EF4-FFF2-40B4-BE49-F238E27FC236}">
                        <a16:creationId xmlns:a16="http://schemas.microsoft.com/office/drawing/2014/main" id="{F133E794-0769-BD7B-2376-53FD58A1400F}"/>
                      </a:ext>
                    </a:extLst>
                  </p:cNvPr>
                  <p:cNvSpPr/>
                  <p:nvPr/>
                </p:nvSpPr>
                <p:spPr>
                  <a:xfrm>
                    <a:off x="3603605" y="4025780"/>
                    <a:ext cx="2057015" cy="630713"/>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𝐵</m:t>
                          </m:r>
                        </m:oMath>
                      </m:oMathPara>
                    </a14:m>
                    <a:endParaRPr lang="en-US" sz="1400" dirty="0">
                      <a:solidFill>
                        <a:schemeClr val="tx1"/>
                      </a:solidFill>
                    </a:endParaRPr>
                  </a:p>
                </p:txBody>
              </p:sp>
            </mc:Choice>
            <mc:Fallback xmlns="">
              <p:sp>
                <p:nvSpPr>
                  <p:cNvPr id="5" name="Rectangle 4">
                    <a:extLst>
                      <a:ext uri="{FF2B5EF4-FFF2-40B4-BE49-F238E27FC236}">
                        <a16:creationId xmlns:a16="http://schemas.microsoft.com/office/drawing/2014/main" id="{F133E794-0769-BD7B-2376-53FD58A1400F}"/>
                      </a:ext>
                    </a:extLst>
                  </p:cNvPr>
                  <p:cNvSpPr>
                    <a:spLocks noRot="1" noChangeAspect="1" noMove="1" noResize="1" noEditPoints="1" noAdjustHandles="1" noChangeArrowheads="1" noChangeShapeType="1" noTextEdit="1"/>
                  </p:cNvSpPr>
                  <p:nvPr/>
                </p:nvSpPr>
                <p:spPr>
                  <a:xfrm>
                    <a:off x="3603605" y="4025780"/>
                    <a:ext cx="2057015" cy="630713"/>
                  </a:xfrm>
                  <a:prstGeom prst="rect">
                    <a:avLst/>
                  </a:prstGeom>
                  <a:blipFill>
                    <a:blip r:embed="rId2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F0D45BCE-3EE3-8553-646B-94405302E2F9}"/>
                      </a:ext>
                    </a:extLst>
                  </p:cNvPr>
                  <p:cNvSpPr txBox="1"/>
                  <p:nvPr/>
                </p:nvSpPr>
                <p:spPr>
                  <a:xfrm>
                    <a:off x="5720995" y="4114288"/>
                    <a:ext cx="620763" cy="49785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m:t>
                          </m:r>
                        </m:oMath>
                      </m:oMathPara>
                    </a14:m>
                    <a:endParaRPr lang="en-US" sz="2800" dirty="0">
                      <a:solidFill>
                        <a:schemeClr val="tx1"/>
                      </a:solidFill>
                    </a:endParaRPr>
                  </a:p>
                </p:txBody>
              </p:sp>
            </mc:Choice>
            <mc:Fallback xmlns="">
              <p:sp>
                <p:nvSpPr>
                  <p:cNvPr id="6" name="TextBox 5">
                    <a:extLst>
                      <a:ext uri="{FF2B5EF4-FFF2-40B4-BE49-F238E27FC236}">
                        <a16:creationId xmlns:a16="http://schemas.microsoft.com/office/drawing/2014/main" id="{F0D45BCE-3EE3-8553-646B-94405302E2F9}"/>
                      </a:ext>
                    </a:extLst>
                  </p:cNvPr>
                  <p:cNvSpPr txBox="1">
                    <a:spLocks noRot="1" noChangeAspect="1" noMove="1" noResize="1" noEditPoints="1" noAdjustHandles="1" noChangeArrowheads="1" noChangeShapeType="1" noTextEdit="1"/>
                  </p:cNvSpPr>
                  <p:nvPr/>
                </p:nvSpPr>
                <p:spPr>
                  <a:xfrm>
                    <a:off x="5720995" y="4114288"/>
                    <a:ext cx="620763" cy="497851"/>
                  </a:xfrm>
                  <a:prstGeom prst="rect">
                    <a:avLst/>
                  </a:prstGeom>
                  <a:blipFill>
                    <a:blip r:embed="rId24"/>
                    <a:stretch>
                      <a:fillRect/>
                    </a:stretch>
                  </a:blipFill>
                </p:spPr>
                <p:txBody>
                  <a:bodyPr/>
                  <a:lstStyle/>
                  <a:p>
                    <a:r>
                      <a:rPr lang="en-US">
                        <a:noFill/>
                      </a:rPr>
                      <a:t> </a:t>
                    </a:r>
                  </a:p>
                </p:txBody>
              </p:sp>
            </mc:Fallback>
          </mc:AlternateContent>
          <p:sp>
            <p:nvSpPr>
              <p:cNvPr id="28" name="TextBox 27">
                <a:extLst>
                  <a:ext uri="{FF2B5EF4-FFF2-40B4-BE49-F238E27FC236}">
                    <a16:creationId xmlns:a16="http://schemas.microsoft.com/office/drawing/2014/main" id="{881BA30F-4BDE-8EC7-13B1-3BB0A88D8974}"/>
                  </a:ext>
                </a:extLst>
              </p:cNvPr>
              <p:cNvSpPr txBox="1"/>
              <p:nvPr/>
            </p:nvSpPr>
            <p:spPr>
              <a:xfrm>
                <a:off x="2371049" y="5992727"/>
                <a:ext cx="435619" cy="293377"/>
              </a:xfrm>
              <a:prstGeom prst="rect">
                <a:avLst/>
              </a:prstGeom>
              <a:solidFill>
                <a:schemeClr val="bg1"/>
              </a:solidFill>
            </p:spPr>
            <p:txBody>
              <a:bodyPr wrap="none" rtlCol="0">
                <a:spAutoFit/>
              </a:bodyPr>
              <a:lstStyle/>
              <a:p>
                <a:r>
                  <a:rPr lang="en-US" sz="1050" dirty="0"/>
                  <a:t>WY</a:t>
                </a:r>
              </a:p>
            </p:txBody>
          </p:sp>
          <p:sp>
            <p:nvSpPr>
              <p:cNvPr id="30" name="TextBox 29">
                <a:extLst>
                  <a:ext uri="{FF2B5EF4-FFF2-40B4-BE49-F238E27FC236}">
                    <a16:creationId xmlns:a16="http://schemas.microsoft.com/office/drawing/2014/main" id="{ED2E5E26-0139-4F71-A2DC-44ECEB6A50B4}"/>
                  </a:ext>
                </a:extLst>
              </p:cNvPr>
              <p:cNvSpPr txBox="1"/>
              <p:nvPr/>
            </p:nvSpPr>
            <p:spPr>
              <a:xfrm>
                <a:off x="3330058" y="3785396"/>
                <a:ext cx="682626" cy="302267"/>
              </a:xfrm>
              <a:prstGeom prst="rect">
                <a:avLst/>
              </a:prstGeom>
              <a:noFill/>
            </p:spPr>
            <p:txBody>
              <a:bodyPr wrap="square" rtlCol="0">
                <a:spAutoFit/>
              </a:bodyPr>
              <a:lstStyle/>
              <a:p>
                <a:pPr algn="r"/>
                <a:r>
                  <a:rPr lang="en-US" sz="1100" dirty="0"/>
                  <a:t>1970</a:t>
                </a:r>
              </a:p>
            </p:txBody>
          </p:sp>
          <p:sp>
            <p:nvSpPr>
              <p:cNvPr id="31" name="TextBox 30">
                <a:extLst>
                  <a:ext uri="{FF2B5EF4-FFF2-40B4-BE49-F238E27FC236}">
                    <a16:creationId xmlns:a16="http://schemas.microsoft.com/office/drawing/2014/main" id="{6445D89E-A5CB-36B1-56AC-E539E184CC29}"/>
                  </a:ext>
                </a:extLst>
              </p:cNvPr>
              <p:cNvSpPr txBox="1"/>
              <p:nvPr/>
            </p:nvSpPr>
            <p:spPr>
              <a:xfrm>
                <a:off x="5055213" y="3785397"/>
                <a:ext cx="712244" cy="302267"/>
              </a:xfrm>
              <a:prstGeom prst="rect">
                <a:avLst/>
              </a:prstGeom>
              <a:noFill/>
            </p:spPr>
            <p:txBody>
              <a:bodyPr wrap="square" rtlCol="0">
                <a:spAutoFit/>
              </a:bodyPr>
              <a:lstStyle/>
              <a:p>
                <a:pPr algn="r"/>
                <a:r>
                  <a:rPr lang="en-US" sz="1100" dirty="0"/>
                  <a:t>2000</a:t>
                </a:r>
              </a:p>
            </p:txBody>
          </p:sp>
          <p:sp>
            <p:nvSpPr>
              <p:cNvPr id="42" name="TextBox 41">
                <a:extLst>
                  <a:ext uri="{FF2B5EF4-FFF2-40B4-BE49-F238E27FC236}">
                    <a16:creationId xmlns:a16="http://schemas.microsoft.com/office/drawing/2014/main" id="{6C102836-4E4A-7449-B649-D3E64EBEEFAB}"/>
                  </a:ext>
                </a:extLst>
              </p:cNvPr>
              <p:cNvSpPr txBox="1"/>
              <p:nvPr/>
            </p:nvSpPr>
            <p:spPr>
              <a:xfrm>
                <a:off x="4468525" y="3785396"/>
                <a:ext cx="689657" cy="302267"/>
              </a:xfrm>
              <a:prstGeom prst="rect">
                <a:avLst/>
              </a:prstGeom>
              <a:noFill/>
            </p:spPr>
            <p:txBody>
              <a:bodyPr wrap="square" rtlCol="0">
                <a:spAutoFit/>
              </a:bodyPr>
              <a:lstStyle/>
              <a:p>
                <a:pPr algn="r"/>
                <a:r>
                  <a:rPr lang="en-US" sz="1100" dirty="0"/>
                  <a:t>1989</a:t>
                </a:r>
              </a:p>
            </p:txBody>
          </p:sp>
          <p:sp>
            <p:nvSpPr>
              <p:cNvPr id="62" name="Rounded Rectangle 61">
                <a:extLst>
                  <a:ext uri="{FF2B5EF4-FFF2-40B4-BE49-F238E27FC236}">
                    <a16:creationId xmlns:a16="http://schemas.microsoft.com/office/drawing/2014/main" id="{C4AEE3EC-C30E-62F6-1058-85956F7E4E3B}"/>
                  </a:ext>
                </a:extLst>
              </p:cNvPr>
              <p:cNvSpPr/>
              <p:nvPr/>
            </p:nvSpPr>
            <p:spPr>
              <a:xfrm>
                <a:off x="2727074" y="4820378"/>
                <a:ext cx="825212" cy="293377"/>
              </a:xfrm>
              <a:prstGeom prst="roundRect">
                <a:avLst/>
              </a:prstGeom>
              <a:noFill/>
              <a:ln w="38100">
                <a:solidFill>
                  <a:srgbClr val="FF00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9" name="TextBox 28">
              <a:extLst>
                <a:ext uri="{FF2B5EF4-FFF2-40B4-BE49-F238E27FC236}">
                  <a16:creationId xmlns:a16="http://schemas.microsoft.com/office/drawing/2014/main" id="{04D368A9-7B3D-D43C-2BBF-AED5B376E022}"/>
                </a:ext>
              </a:extLst>
            </p:cNvPr>
            <p:cNvSpPr txBox="1"/>
            <p:nvPr/>
          </p:nvSpPr>
          <p:spPr>
            <a:xfrm>
              <a:off x="1759220" y="3952047"/>
              <a:ext cx="1014057" cy="302267"/>
            </a:xfrm>
            <a:prstGeom prst="rect">
              <a:avLst/>
            </a:prstGeom>
            <a:solidFill>
              <a:schemeClr val="bg1"/>
            </a:solidFill>
          </p:spPr>
          <p:txBody>
            <a:bodyPr wrap="square" rtlCol="0">
              <a:spAutoFit/>
            </a:bodyPr>
            <a:lstStyle/>
            <a:p>
              <a:pPr algn="r"/>
              <a:r>
                <a:rPr lang="en-US" sz="1050" dirty="0"/>
                <a:t>AL</a:t>
              </a:r>
            </a:p>
          </p:txBody>
        </p:sp>
        <p:sp>
          <p:nvSpPr>
            <p:cNvPr id="32" name="TextBox 31">
              <a:extLst>
                <a:ext uri="{FF2B5EF4-FFF2-40B4-BE49-F238E27FC236}">
                  <a16:creationId xmlns:a16="http://schemas.microsoft.com/office/drawing/2014/main" id="{0DD907B9-6CC1-AC8D-EB28-027027D4AE4F}"/>
                </a:ext>
              </a:extLst>
            </p:cNvPr>
            <p:cNvSpPr txBox="1"/>
            <p:nvPr/>
          </p:nvSpPr>
          <p:spPr>
            <a:xfrm>
              <a:off x="1742119" y="4375805"/>
              <a:ext cx="1014057" cy="302267"/>
            </a:xfrm>
            <a:prstGeom prst="rect">
              <a:avLst/>
            </a:prstGeom>
            <a:solidFill>
              <a:schemeClr val="bg1"/>
            </a:solidFill>
          </p:spPr>
          <p:txBody>
            <a:bodyPr wrap="square" rtlCol="0">
              <a:spAutoFit/>
            </a:bodyPr>
            <a:lstStyle/>
            <a:p>
              <a:pPr algn="r"/>
              <a:r>
                <a:rPr lang="en-US" sz="1050" dirty="0"/>
                <a:t>AK</a:t>
              </a:r>
            </a:p>
          </p:txBody>
        </p:sp>
      </p:grpSp>
      <p:grpSp>
        <p:nvGrpSpPr>
          <p:cNvPr id="67" name="Group 66">
            <a:extLst>
              <a:ext uri="{FF2B5EF4-FFF2-40B4-BE49-F238E27FC236}">
                <a16:creationId xmlns:a16="http://schemas.microsoft.com/office/drawing/2014/main" id="{C4798564-BEA9-23B3-3841-DFC075F0ECA5}"/>
              </a:ext>
            </a:extLst>
          </p:cNvPr>
          <p:cNvGrpSpPr/>
          <p:nvPr/>
        </p:nvGrpSpPr>
        <p:grpSpPr>
          <a:xfrm>
            <a:off x="4796442" y="3977844"/>
            <a:ext cx="4386676" cy="2314221"/>
            <a:chOff x="4796442" y="3977844"/>
            <a:chExt cx="4386676" cy="2314221"/>
          </a:xfrm>
        </p:grpSpPr>
        <p:cxnSp>
          <p:nvCxnSpPr>
            <p:cNvPr id="40" name="Straight Connector 39">
              <a:extLst>
                <a:ext uri="{FF2B5EF4-FFF2-40B4-BE49-F238E27FC236}">
                  <a16:creationId xmlns:a16="http://schemas.microsoft.com/office/drawing/2014/main" id="{1ABDA7DA-178E-FB06-9BA0-7F188A145287}"/>
                </a:ext>
              </a:extLst>
            </p:cNvPr>
            <p:cNvCxnSpPr>
              <a:cxnSpLocks/>
            </p:cNvCxnSpPr>
            <p:nvPr/>
          </p:nvCxnSpPr>
          <p:spPr>
            <a:xfrm>
              <a:off x="9183118" y="3977844"/>
              <a:ext cx="0" cy="2314221"/>
            </a:xfrm>
            <a:prstGeom prst="line">
              <a:avLst/>
            </a:prstGeom>
            <a:ln w="38100">
              <a:solidFill>
                <a:schemeClr val="accent5"/>
              </a:solidFill>
              <a:prstDash val="sysDash"/>
            </a:ln>
          </p:spPr>
          <p:style>
            <a:lnRef idx="2">
              <a:schemeClr val="accent1"/>
            </a:lnRef>
            <a:fillRef idx="0">
              <a:schemeClr val="accent1"/>
            </a:fillRef>
            <a:effectRef idx="1">
              <a:schemeClr val="accent1"/>
            </a:effectRef>
            <a:fontRef idx="minor">
              <a:schemeClr val="tx1"/>
            </a:fontRef>
          </p:style>
        </p:cxnSp>
        <p:cxnSp>
          <p:nvCxnSpPr>
            <p:cNvPr id="41" name="Straight Connector 40">
              <a:extLst>
                <a:ext uri="{FF2B5EF4-FFF2-40B4-BE49-F238E27FC236}">
                  <a16:creationId xmlns:a16="http://schemas.microsoft.com/office/drawing/2014/main" id="{106E983A-A7BF-4351-FE26-9FA80E26B341}"/>
                </a:ext>
              </a:extLst>
            </p:cNvPr>
            <p:cNvCxnSpPr>
              <a:cxnSpLocks/>
            </p:cNvCxnSpPr>
            <p:nvPr/>
          </p:nvCxnSpPr>
          <p:spPr>
            <a:xfrm>
              <a:off x="4796442" y="4025779"/>
              <a:ext cx="0" cy="637503"/>
            </a:xfrm>
            <a:prstGeom prst="line">
              <a:avLst/>
            </a:prstGeom>
            <a:ln w="38100">
              <a:solidFill>
                <a:schemeClr val="accent5"/>
              </a:solidFill>
              <a:prstDash val="sysDash"/>
            </a:ln>
          </p:spPr>
          <p:style>
            <a:lnRef idx="2">
              <a:schemeClr val="accent1"/>
            </a:lnRef>
            <a:fillRef idx="0">
              <a:schemeClr val="accent1"/>
            </a:fillRef>
            <a:effectRef idx="1">
              <a:schemeClr val="accent1"/>
            </a:effectRef>
            <a:fontRef idx="minor">
              <a:schemeClr val="tx1"/>
            </a:fontRef>
          </p:style>
        </p:cxnSp>
      </p:grpSp>
      <p:sp>
        <p:nvSpPr>
          <p:cNvPr id="44" name="Rounded Rectangle 43">
            <a:extLst>
              <a:ext uri="{FF2B5EF4-FFF2-40B4-BE49-F238E27FC236}">
                <a16:creationId xmlns:a16="http://schemas.microsoft.com/office/drawing/2014/main" id="{0A07C5BD-4DA2-4450-C202-78C2B9A18AC3}"/>
              </a:ext>
            </a:extLst>
          </p:cNvPr>
          <p:cNvSpPr/>
          <p:nvPr/>
        </p:nvSpPr>
        <p:spPr>
          <a:xfrm>
            <a:off x="9234602" y="5829757"/>
            <a:ext cx="1235157" cy="347205"/>
          </a:xfrm>
          <a:prstGeom prst="roundRect">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ounded Rectangle 50">
            <a:extLst>
              <a:ext uri="{FF2B5EF4-FFF2-40B4-BE49-F238E27FC236}">
                <a16:creationId xmlns:a16="http://schemas.microsoft.com/office/drawing/2014/main" id="{1D2521AB-3E29-982F-E57A-4724906D93C1}"/>
              </a:ext>
            </a:extLst>
          </p:cNvPr>
          <p:cNvSpPr/>
          <p:nvPr/>
        </p:nvSpPr>
        <p:spPr>
          <a:xfrm>
            <a:off x="9242825" y="4523536"/>
            <a:ext cx="1226934" cy="271437"/>
          </a:xfrm>
          <a:prstGeom prst="roundRect">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8" name="Group 67">
            <a:extLst>
              <a:ext uri="{FF2B5EF4-FFF2-40B4-BE49-F238E27FC236}">
                <a16:creationId xmlns:a16="http://schemas.microsoft.com/office/drawing/2014/main" id="{EF46C0CB-1E46-7D06-AF85-5CC598371606}"/>
              </a:ext>
            </a:extLst>
          </p:cNvPr>
          <p:cNvGrpSpPr/>
          <p:nvPr/>
        </p:nvGrpSpPr>
        <p:grpSpPr>
          <a:xfrm>
            <a:off x="6858000" y="1981687"/>
            <a:ext cx="5050344" cy="4156460"/>
            <a:chOff x="6858000" y="1981687"/>
            <a:chExt cx="5050344" cy="4156460"/>
          </a:xfrm>
        </p:grpSpPr>
        <p:grpSp>
          <p:nvGrpSpPr>
            <p:cNvPr id="64" name="Group 63">
              <a:extLst>
                <a:ext uri="{FF2B5EF4-FFF2-40B4-BE49-F238E27FC236}">
                  <a16:creationId xmlns:a16="http://schemas.microsoft.com/office/drawing/2014/main" id="{A5CE47FF-8B0A-80D7-5D9E-ABC97A9BB195}"/>
                </a:ext>
              </a:extLst>
            </p:cNvPr>
            <p:cNvGrpSpPr/>
            <p:nvPr/>
          </p:nvGrpSpPr>
          <p:grpSpPr>
            <a:xfrm>
              <a:off x="6858000" y="1981687"/>
              <a:ext cx="4577575" cy="4156460"/>
              <a:chOff x="6858000" y="1981687"/>
              <a:chExt cx="4577575" cy="4156460"/>
            </a:xfrm>
          </p:grpSpPr>
          <p:sp>
            <p:nvSpPr>
              <p:cNvPr id="43" name="Rounded Rectangle 42">
                <a:extLst>
                  <a:ext uri="{FF2B5EF4-FFF2-40B4-BE49-F238E27FC236}">
                    <a16:creationId xmlns:a16="http://schemas.microsoft.com/office/drawing/2014/main" id="{EF044CF2-56B9-A865-A0E4-29E1CAC009B1}"/>
                  </a:ext>
                </a:extLst>
              </p:cNvPr>
              <p:cNvSpPr/>
              <p:nvPr/>
            </p:nvSpPr>
            <p:spPr>
              <a:xfrm>
                <a:off x="7502972" y="4992746"/>
                <a:ext cx="1581651" cy="296932"/>
              </a:xfrm>
              <a:prstGeom prst="roundRect">
                <a:avLst/>
              </a:prstGeom>
              <a:noFill/>
              <a:ln w="38100">
                <a:solidFill>
                  <a:srgbClr val="FF00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ounded Rectangle 44">
                <a:extLst>
                  <a:ext uri="{FF2B5EF4-FFF2-40B4-BE49-F238E27FC236}">
                    <a16:creationId xmlns:a16="http://schemas.microsoft.com/office/drawing/2014/main" id="{1DDC832A-51BA-63BA-A9FE-3BAE5005309F}"/>
                  </a:ext>
                </a:extLst>
              </p:cNvPr>
              <p:cNvSpPr/>
              <p:nvPr/>
            </p:nvSpPr>
            <p:spPr>
              <a:xfrm>
                <a:off x="7506043" y="5841215"/>
                <a:ext cx="1581651" cy="296932"/>
              </a:xfrm>
              <a:prstGeom prst="roundRect">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ounded Rectangle 45">
                <a:extLst>
                  <a:ext uri="{FF2B5EF4-FFF2-40B4-BE49-F238E27FC236}">
                    <a16:creationId xmlns:a16="http://schemas.microsoft.com/office/drawing/2014/main" id="{5BE293C0-3B18-97B3-F8BD-4E0E91629CF4}"/>
                  </a:ext>
                </a:extLst>
              </p:cNvPr>
              <p:cNvSpPr/>
              <p:nvPr/>
            </p:nvSpPr>
            <p:spPr>
              <a:xfrm>
                <a:off x="7514538" y="4533776"/>
                <a:ext cx="1581651" cy="296932"/>
              </a:xfrm>
              <a:prstGeom prst="roundRect">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7" name="Group 46">
                <a:extLst>
                  <a:ext uri="{FF2B5EF4-FFF2-40B4-BE49-F238E27FC236}">
                    <a16:creationId xmlns:a16="http://schemas.microsoft.com/office/drawing/2014/main" id="{09D43EB4-21AD-F35B-BDEA-648B10386F2B}"/>
                  </a:ext>
                </a:extLst>
              </p:cNvPr>
              <p:cNvGrpSpPr/>
              <p:nvPr/>
            </p:nvGrpSpPr>
            <p:grpSpPr>
              <a:xfrm>
                <a:off x="6858000" y="1981687"/>
                <a:ext cx="4577575" cy="3817662"/>
                <a:chOff x="6858000" y="1981687"/>
                <a:chExt cx="4577575" cy="3817662"/>
              </a:xfrm>
            </p:grpSpPr>
            <p:sp>
              <p:nvSpPr>
                <p:cNvPr id="48" name="TextBox 47">
                  <a:extLst>
                    <a:ext uri="{FF2B5EF4-FFF2-40B4-BE49-F238E27FC236}">
                      <a16:creationId xmlns:a16="http://schemas.microsoft.com/office/drawing/2014/main" id="{6A6DECE8-D43F-D309-CB02-D6B87E987032}"/>
                    </a:ext>
                  </a:extLst>
                </p:cNvPr>
                <p:cNvSpPr txBox="1"/>
                <p:nvPr/>
              </p:nvSpPr>
              <p:spPr>
                <a:xfrm>
                  <a:off x="6858000" y="1981687"/>
                  <a:ext cx="3931656" cy="1384995"/>
                </a:xfrm>
                <a:prstGeom prst="rect">
                  <a:avLst/>
                </a:prstGeom>
                <a:noFill/>
              </p:spPr>
              <p:txBody>
                <a:bodyPr wrap="square" rtlCol="0">
                  <a:spAutoFit/>
                </a:bodyPr>
                <a:lstStyle/>
                <a:p>
                  <a:pPr algn="r"/>
                  <a:r>
                    <a:rPr lang="en-US" sz="2800" b="1" dirty="0">
                      <a:solidFill>
                        <a:schemeClr val="accent1"/>
                      </a:solidFill>
                    </a:rPr>
                    <a:t>Synthetic Control: </a:t>
                  </a:r>
                </a:p>
                <a:p>
                  <a:pPr algn="r"/>
                  <a:r>
                    <a:rPr lang="en-US" sz="2800" dirty="0">
                      <a:solidFill>
                        <a:schemeClr val="accent1"/>
                      </a:solidFill>
                    </a:rPr>
                    <a:t>Predict </a:t>
                  </a:r>
                  <a:r>
                    <a:rPr lang="en-US" sz="2800" b="1" dirty="0">
                      <a:solidFill>
                        <a:schemeClr val="accent2"/>
                      </a:solidFill>
                    </a:rPr>
                    <a:t>????</a:t>
                  </a:r>
                  <a:r>
                    <a:rPr lang="en-US" sz="2800" dirty="0">
                      <a:solidFill>
                        <a:schemeClr val="accent1"/>
                      </a:solidFill>
                    </a:rPr>
                    <a:t> by the average of these</a:t>
                  </a:r>
                </a:p>
              </p:txBody>
            </p:sp>
            <p:cxnSp>
              <p:nvCxnSpPr>
                <p:cNvPr id="49" name="Straight Arrow Connector 48">
                  <a:extLst>
                    <a:ext uri="{FF2B5EF4-FFF2-40B4-BE49-F238E27FC236}">
                      <a16:creationId xmlns:a16="http://schemas.microsoft.com/office/drawing/2014/main" id="{618932DC-5B2D-DA21-25AE-42280E0978C6}"/>
                    </a:ext>
                  </a:extLst>
                </p:cNvPr>
                <p:cNvCxnSpPr>
                  <a:cxnSpLocks/>
                </p:cNvCxnSpPr>
                <p:nvPr/>
              </p:nvCxnSpPr>
              <p:spPr>
                <a:xfrm flipH="1" flipV="1">
                  <a:off x="10607368" y="4781822"/>
                  <a:ext cx="828207" cy="50785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0" name="Straight Arrow Connector 49">
                  <a:extLst>
                    <a:ext uri="{FF2B5EF4-FFF2-40B4-BE49-F238E27FC236}">
                      <a16:creationId xmlns:a16="http://schemas.microsoft.com/office/drawing/2014/main" id="{D69D1593-C5C3-315B-D617-7D9FD7B5851F}"/>
                    </a:ext>
                  </a:extLst>
                </p:cNvPr>
                <p:cNvCxnSpPr>
                  <a:cxnSpLocks/>
                </p:cNvCxnSpPr>
                <p:nvPr/>
              </p:nvCxnSpPr>
              <p:spPr>
                <a:xfrm flipH="1">
                  <a:off x="10617542" y="5289678"/>
                  <a:ext cx="818033" cy="50967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grpSp>
        <p:sp>
          <p:nvSpPr>
            <p:cNvPr id="63" name="Freeform 62">
              <a:extLst>
                <a:ext uri="{FF2B5EF4-FFF2-40B4-BE49-F238E27FC236}">
                  <a16:creationId xmlns:a16="http://schemas.microsoft.com/office/drawing/2014/main" id="{8C9BD91A-DAC2-F213-7BE5-9476097FD594}"/>
                </a:ext>
              </a:extLst>
            </p:cNvPr>
            <p:cNvSpPr/>
            <p:nvPr/>
          </p:nvSpPr>
          <p:spPr>
            <a:xfrm>
              <a:off x="10854813" y="2650971"/>
              <a:ext cx="1053531" cy="2658448"/>
            </a:xfrm>
            <a:custGeom>
              <a:avLst/>
              <a:gdLst>
                <a:gd name="connsiteX0" fmla="*/ 0 w 1053531"/>
                <a:gd name="connsiteY0" fmla="*/ 3739 h 2658448"/>
                <a:gd name="connsiteX1" fmla="*/ 914400 w 1053531"/>
                <a:gd name="connsiteY1" fmla="*/ 357700 h 2658448"/>
                <a:gd name="connsiteX2" fmla="*/ 1017639 w 1053531"/>
                <a:gd name="connsiteY2" fmla="*/ 2260242 h 2658448"/>
                <a:gd name="connsiteX3" fmla="*/ 589935 w 1053531"/>
                <a:gd name="connsiteY3" fmla="*/ 2658448 h 2658448"/>
              </a:gdLst>
              <a:ahLst/>
              <a:cxnLst>
                <a:cxn ang="0">
                  <a:pos x="connsiteX0" y="connsiteY0"/>
                </a:cxn>
                <a:cxn ang="0">
                  <a:pos x="connsiteX1" y="connsiteY1"/>
                </a:cxn>
                <a:cxn ang="0">
                  <a:pos x="connsiteX2" y="connsiteY2"/>
                </a:cxn>
                <a:cxn ang="0">
                  <a:pos x="connsiteX3" y="connsiteY3"/>
                </a:cxn>
              </a:cxnLst>
              <a:rect l="l" t="t" r="r" b="b"/>
              <a:pathLst>
                <a:path w="1053531" h="2658448">
                  <a:moveTo>
                    <a:pt x="0" y="3739"/>
                  </a:moveTo>
                  <a:cubicBezTo>
                    <a:pt x="372396" y="-7323"/>
                    <a:pt x="744793" y="-18384"/>
                    <a:pt x="914400" y="357700"/>
                  </a:cubicBezTo>
                  <a:cubicBezTo>
                    <a:pt x="1084007" y="733784"/>
                    <a:pt x="1071716" y="1876784"/>
                    <a:pt x="1017639" y="2260242"/>
                  </a:cubicBezTo>
                  <a:cubicBezTo>
                    <a:pt x="963562" y="2643700"/>
                    <a:pt x="776748" y="2651074"/>
                    <a:pt x="589935" y="2658448"/>
                  </a:cubicBezTo>
                </a:path>
              </a:pathLst>
            </a:cu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2" name="Group 71">
            <a:extLst>
              <a:ext uri="{FF2B5EF4-FFF2-40B4-BE49-F238E27FC236}">
                <a16:creationId xmlns:a16="http://schemas.microsoft.com/office/drawing/2014/main" id="{DA9C936D-E8D1-EA8C-9C60-39559B6DCA53}"/>
              </a:ext>
            </a:extLst>
          </p:cNvPr>
          <p:cNvGrpSpPr/>
          <p:nvPr/>
        </p:nvGrpSpPr>
        <p:grpSpPr>
          <a:xfrm>
            <a:off x="1363223" y="2446413"/>
            <a:ext cx="5074451" cy="3799964"/>
            <a:chOff x="1363223" y="2446413"/>
            <a:chExt cx="5074451" cy="3799964"/>
          </a:xfrm>
        </p:grpSpPr>
        <p:grpSp>
          <p:nvGrpSpPr>
            <p:cNvPr id="61" name="Group 60">
              <a:extLst>
                <a:ext uri="{FF2B5EF4-FFF2-40B4-BE49-F238E27FC236}">
                  <a16:creationId xmlns:a16="http://schemas.microsoft.com/office/drawing/2014/main" id="{5639EF23-D730-5679-828E-A3073F9D3DAF}"/>
                </a:ext>
              </a:extLst>
            </p:cNvPr>
            <p:cNvGrpSpPr/>
            <p:nvPr/>
          </p:nvGrpSpPr>
          <p:grpSpPr>
            <a:xfrm>
              <a:off x="1363223" y="2446413"/>
              <a:ext cx="5074451" cy="3799964"/>
              <a:chOff x="1363223" y="2446413"/>
              <a:chExt cx="5074451" cy="3799964"/>
            </a:xfrm>
          </p:grpSpPr>
          <p:sp>
            <p:nvSpPr>
              <p:cNvPr id="54" name="TextBox 53">
                <a:extLst>
                  <a:ext uri="{FF2B5EF4-FFF2-40B4-BE49-F238E27FC236}">
                    <a16:creationId xmlns:a16="http://schemas.microsoft.com/office/drawing/2014/main" id="{46004995-38D6-3D44-0E35-08E0E5D80E6E}"/>
                  </a:ext>
                </a:extLst>
              </p:cNvPr>
              <p:cNvSpPr txBox="1"/>
              <p:nvPr/>
            </p:nvSpPr>
            <p:spPr>
              <a:xfrm>
                <a:off x="1363223" y="2446413"/>
                <a:ext cx="5074451" cy="1200329"/>
              </a:xfrm>
              <a:prstGeom prst="rect">
                <a:avLst/>
              </a:prstGeom>
              <a:noFill/>
            </p:spPr>
            <p:txBody>
              <a:bodyPr wrap="square" rtlCol="0">
                <a:spAutoFit/>
              </a:bodyPr>
              <a:lstStyle/>
              <a:p>
                <a:r>
                  <a:rPr lang="en-US" sz="2400" b="1" dirty="0">
                    <a:solidFill>
                      <a:schemeClr val="accent1"/>
                    </a:solidFill>
                  </a:rPr>
                  <a:t>Matrix completion: </a:t>
                </a:r>
                <a:r>
                  <a:rPr lang="en-US" sz="2400" dirty="0">
                    <a:solidFill>
                      <a:schemeClr val="accent1"/>
                    </a:solidFill>
                  </a:rPr>
                  <a:t>predict </a:t>
                </a:r>
                <a:r>
                  <a:rPr lang="en-US" sz="2400" b="1" dirty="0">
                    <a:solidFill>
                      <a:schemeClr val="accent2"/>
                    </a:solidFill>
                  </a:rPr>
                  <a:t>???? </a:t>
                </a:r>
                <a:r>
                  <a:rPr lang="en-US" sz="2400" dirty="0">
                    <a:solidFill>
                      <a:schemeClr val="accent1"/>
                    </a:solidFill>
                  </a:rPr>
                  <a:t>by to </a:t>
                </a:r>
                <a:r>
                  <a:rPr lang="en-US" sz="2400" b="1" dirty="0">
                    <a:solidFill>
                      <a:srgbClr val="FF0082"/>
                    </a:solidFill>
                  </a:rPr>
                  <a:t>this</a:t>
                </a:r>
                <a:r>
                  <a:rPr lang="en-US" sz="2400" dirty="0">
                    <a:solidFill>
                      <a:schemeClr val="accent1"/>
                    </a:solidFill>
                  </a:rPr>
                  <a:t> matrix-vector product, which (turns out) is the same thing!</a:t>
                </a:r>
              </a:p>
            </p:txBody>
          </p:sp>
          <p:sp>
            <p:nvSpPr>
              <p:cNvPr id="58" name="Rounded Rectangle 57">
                <a:extLst>
                  <a:ext uri="{FF2B5EF4-FFF2-40B4-BE49-F238E27FC236}">
                    <a16:creationId xmlns:a16="http://schemas.microsoft.com/office/drawing/2014/main" id="{17348351-28C8-15FE-EF28-BE62F1BD20E5}"/>
                  </a:ext>
                </a:extLst>
              </p:cNvPr>
              <p:cNvSpPr/>
              <p:nvPr/>
            </p:nvSpPr>
            <p:spPr>
              <a:xfrm>
                <a:off x="2741198" y="5919489"/>
                <a:ext cx="753160" cy="326888"/>
              </a:xfrm>
              <a:prstGeom prst="roundRect">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Rounded Rectangle 58">
                <a:extLst>
                  <a:ext uri="{FF2B5EF4-FFF2-40B4-BE49-F238E27FC236}">
                    <a16:creationId xmlns:a16="http://schemas.microsoft.com/office/drawing/2014/main" id="{66DD7ED1-23D8-6702-CD7C-4DDB0674C0A6}"/>
                  </a:ext>
                </a:extLst>
              </p:cNvPr>
              <p:cNvSpPr/>
              <p:nvPr/>
            </p:nvSpPr>
            <p:spPr>
              <a:xfrm>
                <a:off x="2725851" y="4362086"/>
                <a:ext cx="826434" cy="301196"/>
              </a:xfrm>
              <a:prstGeom prst="roundRect">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1" name="Group 70">
              <a:extLst>
                <a:ext uri="{FF2B5EF4-FFF2-40B4-BE49-F238E27FC236}">
                  <a16:creationId xmlns:a16="http://schemas.microsoft.com/office/drawing/2014/main" id="{2300E40D-4104-E7F1-74D0-D228C90A042F}"/>
                </a:ext>
              </a:extLst>
            </p:cNvPr>
            <p:cNvGrpSpPr/>
            <p:nvPr/>
          </p:nvGrpSpPr>
          <p:grpSpPr>
            <a:xfrm>
              <a:off x="2723666" y="4025779"/>
              <a:ext cx="2931170" cy="1087977"/>
              <a:chOff x="2723666" y="4025779"/>
              <a:chExt cx="2931170" cy="1087977"/>
            </a:xfrm>
          </p:grpSpPr>
          <p:sp>
            <p:nvSpPr>
              <p:cNvPr id="69" name="Rectangle 68">
                <a:extLst>
                  <a:ext uri="{FF2B5EF4-FFF2-40B4-BE49-F238E27FC236}">
                    <a16:creationId xmlns:a16="http://schemas.microsoft.com/office/drawing/2014/main" id="{CBDCE551-28C6-675A-A3F9-FF959F4FF531}"/>
                  </a:ext>
                </a:extLst>
              </p:cNvPr>
              <p:cNvSpPr/>
              <p:nvPr/>
            </p:nvSpPr>
            <p:spPr>
              <a:xfrm>
                <a:off x="4813353" y="4025779"/>
                <a:ext cx="841483" cy="630713"/>
              </a:xfrm>
              <a:prstGeom prst="rect">
                <a:avLst/>
              </a:prstGeom>
              <a:solidFill>
                <a:srgbClr val="FF008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Rounded Rectangle 69">
                <a:extLst>
                  <a:ext uri="{FF2B5EF4-FFF2-40B4-BE49-F238E27FC236}">
                    <a16:creationId xmlns:a16="http://schemas.microsoft.com/office/drawing/2014/main" id="{2F69EA7B-6526-7276-ABB9-C4239BE331BC}"/>
                  </a:ext>
                </a:extLst>
              </p:cNvPr>
              <p:cNvSpPr/>
              <p:nvPr/>
            </p:nvSpPr>
            <p:spPr>
              <a:xfrm>
                <a:off x="2723666" y="4813010"/>
                <a:ext cx="847267" cy="300746"/>
              </a:xfrm>
              <a:prstGeom prst="roundRect">
                <a:avLst/>
              </a:prstGeom>
              <a:solidFill>
                <a:srgbClr val="FF008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spTree>
    <p:extLst>
      <p:ext uri="{BB962C8B-B14F-4D97-AF65-F5344CB8AC3E}">
        <p14:creationId xmlns:p14="http://schemas.microsoft.com/office/powerpoint/2010/main" val="32064576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4762F5-8611-1CC0-5007-9986EB8B4B6B}"/>
              </a:ext>
            </a:extLst>
          </p:cNvPr>
          <p:cNvSpPr>
            <a:spLocks noGrp="1"/>
          </p:cNvSpPr>
          <p:nvPr>
            <p:ph type="title"/>
          </p:nvPr>
        </p:nvSpPr>
        <p:spPr/>
        <p:txBody>
          <a:bodyPr/>
          <a:lstStyle/>
          <a:p>
            <a:r>
              <a:rPr lang="en-US" dirty="0"/>
              <a:t>Synthetic controls vs Matrix completion</a:t>
            </a:r>
          </a:p>
        </p:txBody>
      </p:sp>
      <p:sp>
        <p:nvSpPr>
          <p:cNvPr id="3" name="Content Placeholder 2">
            <a:extLst>
              <a:ext uri="{FF2B5EF4-FFF2-40B4-BE49-F238E27FC236}">
                <a16:creationId xmlns:a16="http://schemas.microsoft.com/office/drawing/2014/main" id="{E13BDCBC-F77F-E205-A485-BAAD2F01D7F1}"/>
              </a:ext>
            </a:extLst>
          </p:cNvPr>
          <p:cNvSpPr>
            <a:spLocks noGrp="1"/>
          </p:cNvSpPr>
          <p:nvPr>
            <p:ph idx="1"/>
          </p:nvPr>
        </p:nvSpPr>
        <p:spPr/>
        <p:txBody>
          <a:bodyPr/>
          <a:lstStyle/>
          <a:p>
            <a:r>
              <a:rPr lang="en-US" dirty="0"/>
              <a:t>If the data matrix is approximately low rank, they are doing approximately* the same thing.</a:t>
            </a:r>
          </a:p>
          <a:p>
            <a:endParaRPr lang="en-US" dirty="0"/>
          </a:p>
          <a:p>
            <a:r>
              <a:rPr lang="en-US" dirty="0"/>
              <a:t>So whenever Matrix Completion applies, Synthetic Controls is doing approximately the same thing.</a:t>
            </a:r>
          </a:p>
        </p:txBody>
      </p:sp>
    </p:spTree>
    <p:extLst>
      <p:ext uri="{BB962C8B-B14F-4D97-AF65-F5344CB8AC3E}">
        <p14:creationId xmlns:p14="http://schemas.microsoft.com/office/powerpoint/2010/main" val="57236154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59E736-9BE0-94BB-2B47-6ACB27C74C67}"/>
              </a:ext>
            </a:extLst>
          </p:cNvPr>
          <p:cNvSpPr>
            <a:spLocks noGrp="1"/>
          </p:cNvSpPr>
          <p:nvPr>
            <p:ph type="title"/>
          </p:nvPr>
        </p:nvSpPr>
        <p:spPr>
          <a:xfrm>
            <a:off x="838200" y="142254"/>
            <a:ext cx="10515600" cy="1325563"/>
          </a:xfrm>
        </p:spPr>
        <p:txBody>
          <a:bodyPr/>
          <a:lstStyle/>
          <a:p>
            <a:r>
              <a:rPr lang="en-US" dirty="0"/>
              <a:t>In this example?</a:t>
            </a:r>
          </a:p>
        </p:txBody>
      </p:sp>
      <p:sp>
        <p:nvSpPr>
          <p:cNvPr id="3" name="Content Placeholder 2">
            <a:extLst>
              <a:ext uri="{FF2B5EF4-FFF2-40B4-BE49-F238E27FC236}">
                <a16:creationId xmlns:a16="http://schemas.microsoft.com/office/drawing/2014/main" id="{6E2FD43A-1EE6-5982-3AB5-6E02155EFFA5}"/>
              </a:ext>
            </a:extLst>
          </p:cNvPr>
          <p:cNvSpPr>
            <a:spLocks noGrp="1"/>
          </p:cNvSpPr>
          <p:nvPr>
            <p:ph idx="1"/>
          </p:nvPr>
        </p:nvSpPr>
        <p:spPr>
          <a:xfrm>
            <a:off x="838200" y="1253331"/>
            <a:ext cx="10515600" cy="4351338"/>
          </a:xfrm>
        </p:spPr>
        <p:txBody>
          <a:bodyPr/>
          <a:lstStyle/>
          <a:p>
            <a:r>
              <a:rPr lang="en-US" dirty="0"/>
              <a:t>The data are indeed approximately low-rank</a:t>
            </a:r>
          </a:p>
          <a:p>
            <a:pPr lvl="1"/>
            <a:r>
              <a:rPr lang="en-US" dirty="0">
                <a:solidFill>
                  <a:schemeClr val="accent1"/>
                </a:solidFill>
              </a:rPr>
              <a:t>Well-approximated by a matrix of rank &lt;5.</a:t>
            </a:r>
          </a:p>
        </p:txBody>
      </p:sp>
      <p:pic>
        <p:nvPicPr>
          <p:cNvPr id="4" name="Picture 3">
            <a:extLst>
              <a:ext uri="{FF2B5EF4-FFF2-40B4-BE49-F238E27FC236}">
                <a16:creationId xmlns:a16="http://schemas.microsoft.com/office/drawing/2014/main" id="{0C885907-2538-28CA-AA77-DA32873F9957}"/>
              </a:ext>
            </a:extLst>
          </p:cNvPr>
          <p:cNvPicPr>
            <a:picLocks noChangeAspect="1"/>
          </p:cNvPicPr>
          <p:nvPr/>
        </p:nvPicPr>
        <p:blipFill>
          <a:blip r:embed="rId3"/>
          <a:stretch>
            <a:fillRect/>
          </a:stretch>
        </p:blipFill>
        <p:spPr>
          <a:xfrm>
            <a:off x="506895" y="2438543"/>
            <a:ext cx="4356967" cy="3150422"/>
          </a:xfrm>
          <a:prstGeom prst="rect">
            <a:avLst/>
          </a:prstGeom>
          <a:ln>
            <a:solidFill>
              <a:schemeClr val="tx1"/>
            </a:solidFill>
          </a:ln>
        </p:spPr>
      </p:pic>
      <p:pic>
        <p:nvPicPr>
          <p:cNvPr id="5" name="Picture 4">
            <a:extLst>
              <a:ext uri="{FF2B5EF4-FFF2-40B4-BE49-F238E27FC236}">
                <a16:creationId xmlns:a16="http://schemas.microsoft.com/office/drawing/2014/main" id="{F011C20F-5C66-7B4F-B6B2-FC40605F81BB}"/>
              </a:ext>
            </a:extLst>
          </p:cNvPr>
          <p:cNvPicPr>
            <a:picLocks noChangeAspect="1"/>
          </p:cNvPicPr>
          <p:nvPr/>
        </p:nvPicPr>
        <p:blipFill>
          <a:blip r:embed="rId4"/>
          <a:stretch>
            <a:fillRect/>
          </a:stretch>
        </p:blipFill>
        <p:spPr>
          <a:xfrm>
            <a:off x="4704835" y="3266894"/>
            <a:ext cx="4650886" cy="3292797"/>
          </a:xfrm>
          <a:prstGeom prst="rect">
            <a:avLst/>
          </a:prstGeom>
          <a:ln>
            <a:solidFill>
              <a:schemeClr val="tx1"/>
            </a:solidFill>
          </a:ln>
        </p:spPr>
      </p:pic>
      <p:pic>
        <p:nvPicPr>
          <p:cNvPr id="6" name="Picture 5">
            <a:extLst>
              <a:ext uri="{FF2B5EF4-FFF2-40B4-BE49-F238E27FC236}">
                <a16:creationId xmlns:a16="http://schemas.microsoft.com/office/drawing/2014/main" id="{126C0235-9237-2C79-DFE1-93799D74E905}"/>
              </a:ext>
            </a:extLst>
          </p:cNvPr>
          <p:cNvPicPr>
            <a:picLocks noChangeAspect="1"/>
          </p:cNvPicPr>
          <p:nvPr/>
        </p:nvPicPr>
        <p:blipFill>
          <a:blip r:embed="rId5"/>
          <a:stretch>
            <a:fillRect/>
          </a:stretch>
        </p:blipFill>
        <p:spPr>
          <a:xfrm>
            <a:off x="7902053" y="2099046"/>
            <a:ext cx="4287944" cy="3032592"/>
          </a:xfrm>
          <a:prstGeom prst="rect">
            <a:avLst/>
          </a:prstGeom>
          <a:ln>
            <a:solidFill>
              <a:schemeClr val="tx1"/>
            </a:solidFill>
          </a:ln>
        </p:spPr>
      </p:pic>
    </p:spTree>
    <p:extLst>
      <p:ext uri="{BB962C8B-B14F-4D97-AF65-F5344CB8AC3E}">
        <p14:creationId xmlns:p14="http://schemas.microsoft.com/office/powerpoint/2010/main" val="38228807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9BBD05-C6E5-067A-079F-8EAB4A44D0FD}"/>
              </a:ext>
            </a:extLst>
          </p:cNvPr>
          <p:cNvSpPr>
            <a:spLocks noGrp="1"/>
          </p:cNvSpPr>
          <p:nvPr>
            <p:ph type="title"/>
          </p:nvPr>
        </p:nvSpPr>
        <p:spPr>
          <a:xfrm>
            <a:off x="838200" y="251406"/>
            <a:ext cx="10515600" cy="1325563"/>
          </a:xfrm>
        </p:spPr>
        <p:txBody>
          <a:bodyPr/>
          <a:lstStyle/>
          <a:p>
            <a:r>
              <a:rPr lang="en-US" dirty="0"/>
              <a:t>Most important feature</a:t>
            </a:r>
          </a:p>
        </p:txBody>
      </p:sp>
      <p:sp>
        <p:nvSpPr>
          <p:cNvPr id="3" name="Content Placeholder 2">
            <a:extLst>
              <a:ext uri="{FF2B5EF4-FFF2-40B4-BE49-F238E27FC236}">
                <a16:creationId xmlns:a16="http://schemas.microsoft.com/office/drawing/2014/main" id="{FFF1989D-FFE8-2414-F10E-80BEE57B3509}"/>
              </a:ext>
            </a:extLst>
          </p:cNvPr>
          <p:cNvSpPr>
            <a:spLocks noGrp="1"/>
          </p:cNvSpPr>
          <p:nvPr>
            <p:ph idx="1"/>
          </p:nvPr>
        </p:nvSpPr>
        <p:spPr>
          <a:xfrm>
            <a:off x="838200" y="1253331"/>
            <a:ext cx="10515600" cy="4351338"/>
          </a:xfrm>
        </p:spPr>
        <p:txBody>
          <a:bodyPr/>
          <a:lstStyle/>
          <a:p>
            <a:r>
              <a:rPr lang="en-US" dirty="0"/>
              <a:t>Average level of cigarette sales?</a:t>
            </a:r>
          </a:p>
        </p:txBody>
      </p:sp>
      <p:pic>
        <p:nvPicPr>
          <p:cNvPr id="4" name="Picture 3">
            <a:extLst>
              <a:ext uri="{FF2B5EF4-FFF2-40B4-BE49-F238E27FC236}">
                <a16:creationId xmlns:a16="http://schemas.microsoft.com/office/drawing/2014/main" id="{F44207EE-2372-EA8C-F9B6-26E5E67B9310}"/>
              </a:ext>
            </a:extLst>
          </p:cNvPr>
          <p:cNvPicPr>
            <a:picLocks noChangeAspect="1"/>
          </p:cNvPicPr>
          <p:nvPr/>
        </p:nvPicPr>
        <p:blipFill>
          <a:blip r:embed="rId2"/>
          <a:stretch>
            <a:fillRect/>
          </a:stretch>
        </p:blipFill>
        <p:spPr>
          <a:xfrm>
            <a:off x="2196548" y="1937366"/>
            <a:ext cx="6839748" cy="4825453"/>
          </a:xfrm>
          <a:prstGeom prst="rect">
            <a:avLst/>
          </a:prstGeom>
        </p:spPr>
      </p:pic>
      <p:pic>
        <p:nvPicPr>
          <p:cNvPr id="5" name="Picture 4">
            <a:extLst>
              <a:ext uri="{FF2B5EF4-FFF2-40B4-BE49-F238E27FC236}">
                <a16:creationId xmlns:a16="http://schemas.microsoft.com/office/drawing/2014/main" id="{7983FCBB-85B8-B351-3AD1-078A1DEB8C80}"/>
              </a:ext>
            </a:extLst>
          </p:cNvPr>
          <p:cNvPicPr>
            <a:picLocks noChangeAspect="1"/>
          </p:cNvPicPr>
          <p:nvPr/>
        </p:nvPicPr>
        <p:blipFill>
          <a:blip r:embed="rId3"/>
          <a:stretch>
            <a:fillRect/>
          </a:stretch>
        </p:blipFill>
        <p:spPr>
          <a:xfrm>
            <a:off x="2933700" y="6204019"/>
            <a:ext cx="5820833" cy="490645"/>
          </a:xfrm>
          <a:prstGeom prst="rect">
            <a:avLst/>
          </a:prstGeom>
        </p:spPr>
      </p:pic>
    </p:spTree>
    <p:extLst>
      <p:ext uri="{BB962C8B-B14F-4D97-AF65-F5344CB8AC3E}">
        <p14:creationId xmlns:p14="http://schemas.microsoft.com/office/powerpoint/2010/main" val="398755340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5AE199-11E4-6110-6A13-AC5D9228D262}"/>
              </a:ext>
            </a:extLst>
          </p:cNvPr>
          <p:cNvSpPr>
            <a:spLocks noGrp="1"/>
          </p:cNvSpPr>
          <p:nvPr>
            <p:ph type="title"/>
          </p:nvPr>
        </p:nvSpPr>
        <p:spPr>
          <a:xfrm>
            <a:off x="838200" y="96595"/>
            <a:ext cx="10515600" cy="1325563"/>
          </a:xfrm>
        </p:spPr>
        <p:txBody>
          <a:bodyPr/>
          <a:lstStyle/>
          <a:p>
            <a:r>
              <a:rPr lang="en-US" dirty="0"/>
              <a:t>Second most important feature</a:t>
            </a:r>
          </a:p>
        </p:txBody>
      </p:sp>
      <p:pic>
        <p:nvPicPr>
          <p:cNvPr id="4" name="Picture 3">
            <a:extLst>
              <a:ext uri="{FF2B5EF4-FFF2-40B4-BE49-F238E27FC236}">
                <a16:creationId xmlns:a16="http://schemas.microsoft.com/office/drawing/2014/main" id="{898AD26A-316F-0939-B2C3-585D2210A60B}"/>
              </a:ext>
            </a:extLst>
          </p:cNvPr>
          <p:cNvPicPr>
            <a:picLocks noChangeAspect="1"/>
          </p:cNvPicPr>
          <p:nvPr/>
        </p:nvPicPr>
        <p:blipFill>
          <a:blip r:embed="rId2"/>
          <a:stretch>
            <a:fillRect/>
          </a:stretch>
        </p:blipFill>
        <p:spPr>
          <a:xfrm>
            <a:off x="388730" y="1960562"/>
            <a:ext cx="5679004" cy="4182510"/>
          </a:xfrm>
          <a:prstGeom prst="rect">
            <a:avLst/>
          </a:prstGeom>
        </p:spPr>
      </p:pic>
      <p:pic>
        <p:nvPicPr>
          <p:cNvPr id="5" name="Picture 4">
            <a:extLst>
              <a:ext uri="{FF2B5EF4-FFF2-40B4-BE49-F238E27FC236}">
                <a16:creationId xmlns:a16="http://schemas.microsoft.com/office/drawing/2014/main" id="{F03F53AC-FC16-8E19-3B2D-52CBD9D49B9C}"/>
              </a:ext>
            </a:extLst>
          </p:cNvPr>
          <p:cNvPicPr>
            <a:picLocks noChangeAspect="1"/>
          </p:cNvPicPr>
          <p:nvPr/>
        </p:nvPicPr>
        <p:blipFill>
          <a:blip r:embed="rId3"/>
          <a:stretch>
            <a:fillRect/>
          </a:stretch>
        </p:blipFill>
        <p:spPr>
          <a:xfrm>
            <a:off x="5961444" y="1960561"/>
            <a:ext cx="5988816" cy="4182511"/>
          </a:xfrm>
          <a:prstGeom prst="rect">
            <a:avLst/>
          </a:prstGeom>
        </p:spPr>
      </p:pic>
      <p:sp>
        <p:nvSpPr>
          <p:cNvPr id="6" name="Content Placeholder 2">
            <a:extLst>
              <a:ext uri="{FF2B5EF4-FFF2-40B4-BE49-F238E27FC236}">
                <a16:creationId xmlns:a16="http://schemas.microsoft.com/office/drawing/2014/main" id="{C4D758A8-7FD8-CCD1-F856-1006F250244F}"/>
              </a:ext>
            </a:extLst>
          </p:cNvPr>
          <p:cNvSpPr>
            <a:spLocks noGrp="1"/>
          </p:cNvSpPr>
          <p:nvPr>
            <p:ph idx="1"/>
          </p:nvPr>
        </p:nvSpPr>
        <p:spPr>
          <a:xfrm>
            <a:off x="838200" y="1253331"/>
            <a:ext cx="10515600" cy="1224826"/>
          </a:xfrm>
        </p:spPr>
        <p:txBody>
          <a:bodyPr/>
          <a:lstStyle/>
          <a:p>
            <a:r>
              <a:rPr lang="en-US" dirty="0"/>
              <a:t>Steepness of decline?</a:t>
            </a:r>
          </a:p>
        </p:txBody>
      </p:sp>
      <p:pic>
        <p:nvPicPr>
          <p:cNvPr id="7" name="Picture 6">
            <a:extLst>
              <a:ext uri="{FF2B5EF4-FFF2-40B4-BE49-F238E27FC236}">
                <a16:creationId xmlns:a16="http://schemas.microsoft.com/office/drawing/2014/main" id="{37729EC4-7D95-C110-2A44-F8AAC0056D9E}"/>
              </a:ext>
            </a:extLst>
          </p:cNvPr>
          <p:cNvPicPr>
            <a:picLocks noChangeAspect="1"/>
          </p:cNvPicPr>
          <p:nvPr/>
        </p:nvPicPr>
        <p:blipFill>
          <a:blip r:embed="rId4"/>
          <a:stretch>
            <a:fillRect/>
          </a:stretch>
        </p:blipFill>
        <p:spPr>
          <a:xfrm>
            <a:off x="1006931" y="5624608"/>
            <a:ext cx="5008943" cy="422210"/>
          </a:xfrm>
          <a:prstGeom prst="rect">
            <a:avLst/>
          </a:prstGeom>
        </p:spPr>
      </p:pic>
      <p:pic>
        <p:nvPicPr>
          <p:cNvPr id="8" name="Picture 7">
            <a:extLst>
              <a:ext uri="{FF2B5EF4-FFF2-40B4-BE49-F238E27FC236}">
                <a16:creationId xmlns:a16="http://schemas.microsoft.com/office/drawing/2014/main" id="{1CBA7BF3-855E-979B-1353-536C769FDAB2}"/>
              </a:ext>
            </a:extLst>
          </p:cNvPr>
          <p:cNvPicPr>
            <a:picLocks noChangeAspect="1"/>
          </p:cNvPicPr>
          <p:nvPr/>
        </p:nvPicPr>
        <p:blipFill>
          <a:blip r:embed="rId4"/>
          <a:stretch>
            <a:fillRect/>
          </a:stretch>
        </p:blipFill>
        <p:spPr>
          <a:xfrm>
            <a:off x="6707707" y="5629854"/>
            <a:ext cx="5008943" cy="422210"/>
          </a:xfrm>
          <a:prstGeom prst="rect">
            <a:avLst/>
          </a:prstGeom>
        </p:spPr>
      </p:pic>
    </p:spTree>
    <p:extLst>
      <p:ext uri="{BB962C8B-B14F-4D97-AF65-F5344CB8AC3E}">
        <p14:creationId xmlns:p14="http://schemas.microsoft.com/office/powerpoint/2010/main" val="356171574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3ADE3F-1562-B6F7-B3AF-BBB72983DED4}"/>
              </a:ext>
            </a:extLst>
          </p:cNvPr>
          <p:cNvSpPr>
            <a:spLocks noGrp="1"/>
          </p:cNvSpPr>
          <p:nvPr>
            <p:ph type="title"/>
          </p:nvPr>
        </p:nvSpPr>
        <p:spPr/>
        <p:txBody>
          <a:bodyPr/>
          <a:lstStyle/>
          <a:p>
            <a:r>
              <a:rPr lang="en-US" dirty="0"/>
              <a:t>Third most important feature?</a:t>
            </a:r>
          </a:p>
        </p:txBody>
      </p:sp>
      <p:sp>
        <p:nvSpPr>
          <p:cNvPr id="3" name="Content Placeholder 2">
            <a:extLst>
              <a:ext uri="{FF2B5EF4-FFF2-40B4-BE49-F238E27FC236}">
                <a16:creationId xmlns:a16="http://schemas.microsoft.com/office/drawing/2014/main" id="{3F953B7F-31D6-E9F3-404E-E9BEE3E35DD6}"/>
              </a:ext>
            </a:extLst>
          </p:cNvPr>
          <p:cNvSpPr>
            <a:spLocks noGrp="1"/>
          </p:cNvSpPr>
          <p:nvPr>
            <p:ph idx="1"/>
          </p:nvPr>
        </p:nvSpPr>
        <p:spPr>
          <a:xfrm>
            <a:off x="838200" y="1520825"/>
            <a:ext cx="10515600" cy="4351338"/>
          </a:xfrm>
        </p:spPr>
        <p:txBody>
          <a:bodyPr/>
          <a:lstStyle/>
          <a:p>
            <a:r>
              <a:rPr lang="en-US" dirty="0"/>
              <a:t>Kind of hard to tell…</a:t>
            </a:r>
          </a:p>
        </p:txBody>
      </p:sp>
      <p:pic>
        <p:nvPicPr>
          <p:cNvPr id="4" name="Picture 3">
            <a:extLst>
              <a:ext uri="{FF2B5EF4-FFF2-40B4-BE49-F238E27FC236}">
                <a16:creationId xmlns:a16="http://schemas.microsoft.com/office/drawing/2014/main" id="{2250CDC1-D4A6-F358-157C-D0A1E9F028DD}"/>
              </a:ext>
            </a:extLst>
          </p:cNvPr>
          <p:cNvPicPr>
            <a:picLocks noChangeAspect="1"/>
          </p:cNvPicPr>
          <p:nvPr/>
        </p:nvPicPr>
        <p:blipFill>
          <a:blip r:embed="rId2"/>
          <a:stretch>
            <a:fillRect/>
          </a:stretch>
        </p:blipFill>
        <p:spPr>
          <a:xfrm>
            <a:off x="2692124" y="2099284"/>
            <a:ext cx="6504885" cy="4629506"/>
          </a:xfrm>
          <a:prstGeom prst="rect">
            <a:avLst/>
          </a:prstGeom>
        </p:spPr>
      </p:pic>
      <p:pic>
        <p:nvPicPr>
          <p:cNvPr id="5" name="Picture 4">
            <a:extLst>
              <a:ext uri="{FF2B5EF4-FFF2-40B4-BE49-F238E27FC236}">
                <a16:creationId xmlns:a16="http://schemas.microsoft.com/office/drawing/2014/main" id="{233802ED-FC1A-E533-A698-E50089B56941}"/>
              </a:ext>
            </a:extLst>
          </p:cNvPr>
          <p:cNvPicPr>
            <a:picLocks noChangeAspect="1"/>
          </p:cNvPicPr>
          <p:nvPr/>
        </p:nvPicPr>
        <p:blipFill>
          <a:blip r:embed="rId3"/>
          <a:stretch>
            <a:fillRect/>
          </a:stretch>
        </p:blipFill>
        <p:spPr>
          <a:xfrm>
            <a:off x="3370147" y="6216880"/>
            <a:ext cx="5590973" cy="471270"/>
          </a:xfrm>
          <a:prstGeom prst="rect">
            <a:avLst/>
          </a:prstGeom>
        </p:spPr>
      </p:pic>
    </p:spTree>
    <p:extLst>
      <p:ext uri="{BB962C8B-B14F-4D97-AF65-F5344CB8AC3E}">
        <p14:creationId xmlns:p14="http://schemas.microsoft.com/office/powerpoint/2010/main" val="65807456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422A7A-BBC4-BDF4-87DE-507BED52AC44}"/>
              </a:ext>
            </a:extLst>
          </p:cNvPr>
          <p:cNvSpPr>
            <a:spLocks noGrp="1"/>
          </p:cNvSpPr>
          <p:nvPr>
            <p:ph type="title"/>
          </p:nvPr>
        </p:nvSpPr>
        <p:spPr>
          <a:xfrm>
            <a:off x="838200" y="179595"/>
            <a:ext cx="10515600" cy="1325563"/>
          </a:xfrm>
        </p:spPr>
        <p:txBody>
          <a:bodyPr/>
          <a:lstStyle/>
          <a:p>
            <a:r>
              <a:rPr lang="en-US" dirty="0"/>
              <a:t>…And we get pretty similar results</a:t>
            </a:r>
          </a:p>
        </p:txBody>
      </p:sp>
      <p:pic>
        <p:nvPicPr>
          <p:cNvPr id="5" name="Picture 4">
            <a:extLst>
              <a:ext uri="{FF2B5EF4-FFF2-40B4-BE49-F238E27FC236}">
                <a16:creationId xmlns:a16="http://schemas.microsoft.com/office/drawing/2014/main" id="{7973AF2A-0B31-CB52-0748-AE57F155CBF6}"/>
              </a:ext>
            </a:extLst>
          </p:cNvPr>
          <p:cNvPicPr>
            <a:picLocks noChangeAspect="1"/>
          </p:cNvPicPr>
          <p:nvPr/>
        </p:nvPicPr>
        <p:blipFill>
          <a:blip r:embed="rId3"/>
          <a:stretch>
            <a:fillRect/>
          </a:stretch>
        </p:blipFill>
        <p:spPr>
          <a:xfrm>
            <a:off x="1692964" y="1147280"/>
            <a:ext cx="8365939" cy="5710720"/>
          </a:xfrm>
          <a:prstGeom prst="rect">
            <a:avLst/>
          </a:prstGeom>
        </p:spPr>
      </p:pic>
    </p:spTree>
    <p:extLst>
      <p:ext uri="{BB962C8B-B14F-4D97-AF65-F5344CB8AC3E}">
        <p14:creationId xmlns:p14="http://schemas.microsoft.com/office/powerpoint/2010/main" val="244448645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0C6B28-BB66-A05D-657B-A36706B7EF52}"/>
              </a:ext>
            </a:extLst>
          </p:cNvPr>
          <p:cNvSpPr>
            <a:spLocks noGrp="1"/>
          </p:cNvSpPr>
          <p:nvPr>
            <p:ph type="title"/>
          </p:nvPr>
        </p:nvSpPr>
        <p:spPr/>
        <p:txBody>
          <a:bodyPr/>
          <a:lstStyle/>
          <a:p>
            <a:r>
              <a:rPr lang="en-US" dirty="0"/>
              <a:t>Do you believe these results? </a:t>
            </a:r>
          </a:p>
        </p:txBody>
      </p:sp>
      <p:sp>
        <p:nvSpPr>
          <p:cNvPr id="3" name="Content Placeholder 2">
            <a:extLst>
              <a:ext uri="{FF2B5EF4-FFF2-40B4-BE49-F238E27FC236}">
                <a16:creationId xmlns:a16="http://schemas.microsoft.com/office/drawing/2014/main" id="{259D8350-1539-2242-7211-B60CB97D61A4}"/>
              </a:ext>
            </a:extLst>
          </p:cNvPr>
          <p:cNvSpPr>
            <a:spLocks noGrp="1"/>
          </p:cNvSpPr>
          <p:nvPr>
            <p:ph idx="1"/>
          </p:nvPr>
        </p:nvSpPr>
        <p:spPr/>
        <p:txBody>
          <a:bodyPr/>
          <a:lstStyle/>
          <a:p>
            <a:r>
              <a:rPr lang="en-US" dirty="0"/>
              <a:t>What assumptions is the synthetic controls approach making?</a:t>
            </a:r>
          </a:p>
          <a:p>
            <a:r>
              <a:rPr lang="en-US" dirty="0"/>
              <a:t>What might it be missing?</a:t>
            </a:r>
          </a:p>
        </p:txBody>
      </p:sp>
      <p:grpSp>
        <p:nvGrpSpPr>
          <p:cNvPr id="4" name="Group 3">
            <a:extLst>
              <a:ext uri="{FF2B5EF4-FFF2-40B4-BE49-F238E27FC236}">
                <a16:creationId xmlns:a16="http://schemas.microsoft.com/office/drawing/2014/main" id="{C8FEBC86-E324-4C12-76EA-A6B944FDE6D6}"/>
              </a:ext>
            </a:extLst>
          </p:cNvPr>
          <p:cNvGrpSpPr/>
          <p:nvPr/>
        </p:nvGrpSpPr>
        <p:grpSpPr>
          <a:xfrm>
            <a:off x="7809668" y="3823577"/>
            <a:ext cx="3617960" cy="2214384"/>
            <a:chOff x="7809668" y="3823577"/>
            <a:chExt cx="3617960" cy="2214384"/>
          </a:xfrm>
        </p:grpSpPr>
        <p:pic>
          <p:nvPicPr>
            <p:cNvPr id="5" name="Picture 4">
              <a:extLst>
                <a:ext uri="{FF2B5EF4-FFF2-40B4-BE49-F238E27FC236}">
                  <a16:creationId xmlns:a16="http://schemas.microsoft.com/office/drawing/2014/main" id="{29AA1B51-A2B9-09E9-D701-C031A834FC2B}"/>
                </a:ext>
              </a:extLst>
            </p:cNvPr>
            <p:cNvPicPr>
              <a:picLocks noChangeAspect="1"/>
            </p:cNvPicPr>
            <p:nvPr/>
          </p:nvPicPr>
          <p:blipFill>
            <a:blip r:embed="rId3"/>
            <a:stretch>
              <a:fillRect/>
            </a:stretch>
          </p:blipFill>
          <p:spPr>
            <a:xfrm>
              <a:off x="8630197" y="4285242"/>
              <a:ext cx="1976903" cy="1752719"/>
            </a:xfrm>
            <a:prstGeom prst="rect">
              <a:avLst/>
            </a:prstGeom>
          </p:spPr>
        </p:pic>
        <p:sp>
          <p:nvSpPr>
            <p:cNvPr id="6" name="TextBox 5">
              <a:extLst>
                <a:ext uri="{FF2B5EF4-FFF2-40B4-BE49-F238E27FC236}">
                  <a16:creationId xmlns:a16="http://schemas.microsoft.com/office/drawing/2014/main" id="{5EAD36F4-5BBA-0328-EAAE-C506B8AE1A9A}"/>
                </a:ext>
              </a:extLst>
            </p:cNvPr>
            <p:cNvSpPr txBox="1"/>
            <p:nvPr/>
          </p:nvSpPr>
          <p:spPr>
            <a:xfrm>
              <a:off x="7809668" y="3823577"/>
              <a:ext cx="3617960" cy="461665"/>
            </a:xfrm>
            <a:prstGeom prst="rect">
              <a:avLst/>
            </a:prstGeom>
            <a:noFill/>
          </p:spPr>
          <p:txBody>
            <a:bodyPr wrap="square" rtlCol="0">
              <a:spAutoFit/>
            </a:bodyPr>
            <a:lstStyle/>
            <a:p>
              <a:pPr algn="ctr"/>
              <a:r>
                <a:rPr lang="en-US" sz="2400" b="1" dirty="0">
                  <a:solidFill>
                    <a:srgbClr val="0070C0"/>
                  </a:solidFill>
                </a:rPr>
                <a:t>Discuss!</a:t>
              </a:r>
            </a:p>
          </p:txBody>
        </p:sp>
      </p:grpSp>
    </p:spTree>
    <p:extLst>
      <p:ext uri="{BB962C8B-B14F-4D97-AF65-F5344CB8AC3E}">
        <p14:creationId xmlns:p14="http://schemas.microsoft.com/office/powerpoint/2010/main" val="21816822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AE1B79-F031-C355-FEDB-AFABAFE273CB}"/>
              </a:ext>
            </a:extLst>
          </p:cNvPr>
          <p:cNvSpPr>
            <a:spLocks noGrp="1"/>
          </p:cNvSpPr>
          <p:nvPr>
            <p:ph type="ctrTitle"/>
          </p:nvPr>
        </p:nvSpPr>
        <p:spPr/>
        <p:txBody>
          <a:bodyPr/>
          <a:lstStyle/>
          <a:p>
            <a:endParaRPr lang="en-US"/>
          </a:p>
        </p:txBody>
      </p:sp>
      <p:sp>
        <p:nvSpPr>
          <p:cNvPr id="3" name="Subtitle 2">
            <a:extLst>
              <a:ext uri="{FF2B5EF4-FFF2-40B4-BE49-F238E27FC236}">
                <a16:creationId xmlns:a16="http://schemas.microsoft.com/office/drawing/2014/main" id="{5C1A72F3-1037-644F-EB2A-58ECF1B3F76F}"/>
              </a:ext>
            </a:extLst>
          </p:cNvPr>
          <p:cNvSpPr>
            <a:spLocks noGrp="1"/>
          </p:cNvSpPr>
          <p:nvPr>
            <p:ph type="subTitle" idx="1"/>
          </p:nvPr>
        </p:nvSpPr>
        <p:spPr/>
        <p:txBody>
          <a:bodyPr/>
          <a:lstStyle/>
          <a:p>
            <a:endParaRPr lang="en-US"/>
          </a:p>
        </p:txBody>
      </p:sp>
      <p:pic>
        <p:nvPicPr>
          <p:cNvPr id="5" name="slide.url=https://www.polleverywhere.com/multiple_choice_polls/X6apMw7EczW87nEanK9et?state=opened&amp;flow=Default&amp;onscreen=persist">
            <a:extLst>
              <a:ext uri="{FF2B5EF4-FFF2-40B4-BE49-F238E27FC236}">
                <a16:creationId xmlns:a16="http://schemas.microsoft.com/office/drawing/2014/main" id="{A4C347EB-213F-A983-7FE9-CD62E2B33475}"/>
              </a:ext>
            </a:extLst>
          </p:cNvPr>
          <p:cNvPicPr>
            <a:picLocks/>
          </p:cNvPicPr>
          <p:nvPr>
            <p:custDataLst>
              <p:tags r:id="rId1"/>
            </p:custDataLst>
          </p:nvPr>
        </p:nvPicPr>
        <p:blipFill>
          <a:blip r:embed="rId4">
            <a:extLst>
              <a:ext uri="{28A0092B-C50C-407E-A947-70E740481C1C}">
                <a14:useLocalDpi xmlns:a14="http://schemas.microsoft.com/office/drawing/2010/main" val="0"/>
              </a:ext>
            </a:extLst>
          </a:blip>
          <a:stretch>
            <a:fillRect/>
          </a:stretch>
        </p:blipFill>
        <p:spPr>
          <a:xfrm>
            <a:off x="63500" y="63500"/>
            <a:ext cx="12065000" cy="6731000"/>
          </a:xfrm>
          <a:prstGeom prst="rect">
            <a:avLst/>
          </a:prstGeom>
        </p:spPr>
      </p:pic>
    </p:spTree>
    <p:extLst>
      <p:ext uri="{BB962C8B-B14F-4D97-AF65-F5344CB8AC3E}">
        <p14:creationId xmlns:p14="http://schemas.microsoft.com/office/powerpoint/2010/main" val="301651263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748C79-21A5-C6A3-A92D-4A3DB5A8FE9A}"/>
              </a:ext>
            </a:extLst>
          </p:cNvPr>
          <p:cNvSpPr>
            <a:spLocks noGrp="1"/>
          </p:cNvSpPr>
          <p:nvPr>
            <p:ph type="title"/>
          </p:nvPr>
        </p:nvSpPr>
        <p:spPr/>
        <p:txBody>
          <a:bodyPr/>
          <a:lstStyle/>
          <a:p>
            <a:r>
              <a:rPr lang="en-US" dirty="0"/>
              <a:t>One big concern</a:t>
            </a:r>
          </a:p>
        </p:txBody>
      </p:sp>
      <p:sp>
        <p:nvSpPr>
          <p:cNvPr id="3" name="Content Placeholder 2">
            <a:extLst>
              <a:ext uri="{FF2B5EF4-FFF2-40B4-BE49-F238E27FC236}">
                <a16:creationId xmlns:a16="http://schemas.microsoft.com/office/drawing/2014/main" id="{497F210E-DF67-56F0-7DEA-3D731E67C2EA}"/>
              </a:ext>
            </a:extLst>
          </p:cNvPr>
          <p:cNvSpPr>
            <a:spLocks noGrp="1"/>
          </p:cNvSpPr>
          <p:nvPr>
            <p:ph idx="1"/>
          </p:nvPr>
        </p:nvSpPr>
        <p:spPr/>
        <p:txBody>
          <a:bodyPr/>
          <a:lstStyle/>
          <a:p>
            <a:r>
              <a:rPr lang="en-US" dirty="0"/>
              <a:t>There’s</a:t>
            </a:r>
            <a:r>
              <a:rPr lang="en-US" b="1" dirty="0"/>
              <a:t> something </a:t>
            </a:r>
            <a:r>
              <a:rPr lang="en-US" dirty="0"/>
              <a:t>different about CA from the weighted average of {CO, CT, MO, NV, UT} that caused CA to pass such a bill when those other states did not…</a:t>
            </a:r>
          </a:p>
          <a:p>
            <a:pPr lvl="1"/>
            <a:r>
              <a:rPr lang="en-US" dirty="0">
                <a:solidFill>
                  <a:schemeClr val="accent1"/>
                </a:solidFill>
              </a:rPr>
              <a:t>It’s not captured in the covariates they looked at, but that doesn’t mean it isn’t there…</a:t>
            </a:r>
          </a:p>
        </p:txBody>
      </p:sp>
      <p:grpSp>
        <p:nvGrpSpPr>
          <p:cNvPr id="4" name="Group 3">
            <a:extLst>
              <a:ext uri="{FF2B5EF4-FFF2-40B4-BE49-F238E27FC236}">
                <a16:creationId xmlns:a16="http://schemas.microsoft.com/office/drawing/2014/main" id="{3850F7F9-678B-524F-D237-6E0B78952FB8}"/>
              </a:ext>
            </a:extLst>
          </p:cNvPr>
          <p:cNvGrpSpPr/>
          <p:nvPr/>
        </p:nvGrpSpPr>
        <p:grpSpPr>
          <a:xfrm flipH="1">
            <a:off x="1522955" y="4337433"/>
            <a:ext cx="3261492" cy="2155442"/>
            <a:chOff x="8195613" y="3423859"/>
            <a:chExt cx="3504090" cy="2155442"/>
          </a:xfrm>
        </p:grpSpPr>
        <p:pic>
          <p:nvPicPr>
            <p:cNvPr id="5" name="Picture 4">
              <a:extLst>
                <a:ext uri="{FF2B5EF4-FFF2-40B4-BE49-F238E27FC236}">
                  <a16:creationId xmlns:a16="http://schemas.microsoft.com/office/drawing/2014/main" id="{6DB75F95-4E11-61D1-3B2A-4CDABA75830C}"/>
                </a:ext>
              </a:extLst>
            </p:cNvPr>
            <p:cNvPicPr>
              <a:picLocks noChangeAspect="1"/>
            </p:cNvPicPr>
            <p:nvPr/>
          </p:nvPicPr>
          <p:blipFill>
            <a:blip r:embed="rId3"/>
            <a:stretch>
              <a:fillRect/>
            </a:stretch>
          </p:blipFill>
          <p:spPr>
            <a:xfrm>
              <a:off x="11007896" y="3928128"/>
              <a:ext cx="691807" cy="1651173"/>
            </a:xfrm>
            <a:prstGeom prst="rect">
              <a:avLst/>
            </a:prstGeom>
          </p:spPr>
        </p:pic>
        <p:sp>
          <p:nvSpPr>
            <p:cNvPr id="6" name="TextBox 5">
              <a:extLst>
                <a:ext uri="{FF2B5EF4-FFF2-40B4-BE49-F238E27FC236}">
                  <a16:creationId xmlns:a16="http://schemas.microsoft.com/office/drawing/2014/main" id="{F4D98B2B-18AC-8652-D3D3-8E6D35AC549D}"/>
                </a:ext>
              </a:extLst>
            </p:cNvPr>
            <p:cNvSpPr txBox="1"/>
            <p:nvPr/>
          </p:nvSpPr>
          <p:spPr>
            <a:xfrm>
              <a:off x="8195613" y="3423859"/>
              <a:ext cx="2812283" cy="2031325"/>
            </a:xfrm>
            <a:prstGeom prst="rect">
              <a:avLst/>
            </a:prstGeom>
            <a:noFill/>
          </p:spPr>
          <p:txBody>
            <a:bodyPr wrap="square" rtlCol="0">
              <a:spAutoFit/>
            </a:bodyPr>
            <a:lstStyle/>
            <a:p>
              <a:r>
                <a:rPr lang="en-US" dirty="0">
                  <a:solidFill>
                    <a:srgbClr val="0070C0"/>
                  </a:solidFill>
                </a:rPr>
                <a:t>On the one hand, maybe it’s just that the CA proposition system makes it easy to pass such legislation, which maybe is unrelated to smoking?</a:t>
              </a:r>
            </a:p>
          </p:txBody>
        </p:sp>
      </p:grpSp>
      <p:grpSp>
        <p:nvGrpSpPr>
          <p:cNvPr id="7" name="Group 6">
            <a:extLst>
              <a:ext uri="{FF2B5EF4-FFF2-40B4-BE49-F238E27FC236}">
                <a16:creationId xmlns:a16="http://schemas.microsoft.com/office/drawing/2014/main" id="{224508B9-9F65-1552-3FD2-62D73B93AAB0}"/>
              </a:ext>
            </a:extLst>
          </p:cNvPr>
          <p:cNvGrpSpPr/>
          <p:nvPr/>
        </p:nvGrpSpPr>
        <p:grpSpPr>
          <a:xfrm>
            <a:off x="5428358" y="4614431"/>
            <a:ext cx="4320324" cy="1658430"/>
            <a:chOff x="7123551" y="3920871"/>
            <a:chExt cx="4620276" cy="1658430"/>
          </a:xfrm>
        </p:grpSpPr>
        <p:pic>
          <p:nvPicPr>
            <p:cNvPr id="8" name="Picture 7">
              <a:extLst>
                <a:ext uri="{FF2B5EF4-FFF2-40B4-BE49-F238E27FC236}">
                  <a16:creationId xmlns:a16="http://schemas.microsoft.com/office/drawing/2014/main" id="{B112F9F8-AB48-454B-8489-5FD138A1046F}"/>
                </a:ext>
              </a:extLst>
            </p:cNvPr>
            <p:cNvPicPr>
              <a:picLocks noChangeAspect="1"/>
            </p:cNvPicPr>
            <p:nvPr/>
          </p:nvPicPr>
          <p:blipFill>
            <a:blip r:embed="rId3">
              <a:duotone>
                <a:schemeClr val="accent5">
                  <a:shade val="45000"/>
                  <a:satMod val="135000"/>
                </a:schemeClr>
                <a:prstClr val="white"/>
              </a:duotone>
            </a:blip>
            <a:stretch>
              <a:fillRect/>
            </a:stretch>
          </p:blipFill>
          <p:spPr>
            <a:xfrm>
              <a:off x="11007896" y="3928128"/>
              <a:ext cx="735931" cy="1651173"/>
            </a:xfrm>
            <a:prstGeom prst="rect">
              <a:avLst/>
            </a:prstGeom>
          </p:spPr>
        </p:pic>
        <p:sp>
          <p:nvSpPr>
            <p:cNvPr id="9" name="TextBox 8">
              <a:extLst>
                <a:ext uri="{FF2B5EF4-FFF2-40B4-BE49-F238E27FC236}">
                  <a16:creationId xmlns:a16="http://schemas.microsoft.com/office/drawing/2014/main" id="{9296A7AB-4812-0203-6718-BB21842FABBA}"/>
                </a:ext>
              </a:extLst>
            </p:cNvPr>
            <p:cNvSpPr txBox="1"/>
            <p:nvPr/>
          </p:nvSpPr>
          <p:spPr>
            <a:xfrm>
              <a:off x="7123551" y="3920871"/>
              <a:ext cx="3884345" cy="1477328"/>
            </a:xfrm>
            <a:prstGeom prst="rect">
              <a:avLst/>
            </a:prstGeom>
            <a:noFill/>
          </p:spPr>
          <p:txBody>
            <a:bodyPr wrap="square" rtlCol="0">
              <a:spAutoFit/>
            </a:bodyPr>
            <a:lstStyle/>
            <a:p>
              <a:pPr algn="r"/>
              <a:r>
                <a:rPr lang="en-US" dirty="0">
                  <a:solidFill>
                    <a:schemeClr val="accent5"/>
                  </a:solidFill>
                </a:rPr>
                <a:t>On the other hand, maybe it’s something relevant, like an eagerness to follow health trends.</a:t>
              </a:r>
            </a:p>
            <a:p>
              <a:pPr algn="r"/>
              <a:endParaRPr lang="en-US" dirty="0">
                <a:solidFill>
                  <a:schemeClr val="accent5"/>
                </a:solidFill>
              </a:endParaRPr>
            </a:p>
            <a:p>
              <a:pPr algn="r"/>
              <a:endParaRPr lang="en-US" dirty="0">
                <a:solidFill>
                  <a:schemeClr val="accent5"/>
                </a:solidFill>
              </a:endParaRPr>
            </a:p>
          </p:txBody>
        </p:sp>
      </p:grpSp>
    </p:spTree>
    <p:extLst>
      <p:ext uri="{BB962C8B-B14F-4D97-AF65-F5344CB8AC3E}">
        <p14:creationId xmlns:p14="http://schemas.microsoft.com/office/powerpoint/2010/main" val="2569991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F5E0587F-F1F6-C37D-9C63-8ED5C2498F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860F45-0B19-213D-5B1C-B77A01DE2A98}"/>
              </a:ext>
            </a:extLst>
          </p:cNvPr>
          <p:cNvSpPr>
            <a:spLocks noGrp="1"/>
          </p:cNvSpPr>
          <p:nvPr>
            <p:ph type="title"/>
          </p:nvPr>
        </p:nvSpPr>
        <p:spPr/>
        <p:txBody>
          <a:bodyPr/>
          <a:lstStyle/>
          <a:p>
            <a:r>
              <a:rPr lang="en-US" dirty="0"/>
              <a:t>Spillovers?</a:t>
            </a:r>
          </a:p>
        </p:txBody>
      </p:sp>
      <p:sp>
        <p:nvSpPr>
          <p:cNvPr id="3" name="Content Placeholder 2">
            <a:extLst>
              <a:ext uri="{FF2B5EF4-FFF2-40B4-BE49-F238E27FC236}">
                <a16:creationId xmlns:a16="http://schemas.microsoft.com/office/drawing/2014/main" id="{CCA06CC4-EB95-231E-6864-0EBC6616D5CC}"/>
              </a:ext>
            </a:extLst>
          </p:cNvPr>
          <p:cNvSpPr>
            <a:spLocks noGrp="1"/>
          </p:cNvSpPr>
          <p:nvPr>
            <p:ph idx="1"/>
          </p:nvPr>
        </p:nvSpPr>
        <p:spPr/>
        <p:txBody>
          <a:bodyPr/>
          <a:lstStyle/>
          <a:p>
            <a:r>
              <a:rPr lang="en-US" dirty="0"/>
              <a:t>When MA raised taxes on cigarettes, cigarette sales went down in MA, but went way up in NH…</a:t>
            </a:r>
          </a:p>
          <a:p>
            <a:pPr marL="0" indent="0">
              <a:buNone/>
            </a:pPr>
            <a:endParaRPr lang="en-US" dirty="0">
              <a:solidFill>
                <a:schemeClr val="accent1"/>
              </a:solidFill>
            </a:endParaRPr>
          </a:p>
        </p:txBody>
      </p:sp>
      <p:grpSp>
        <p:nvGrpSpPr>
          <p:cNvPr id="4" name="Group 3">
            <a:extLst>
              <a:ext uri="{FF2B5EF4-FFF2-40B4-BE49-F238E27FC236}">
                <a16:creationId xmlns:a16="http://schemas.microsoft.com/office/drawing/2014/main" id="{38E59DFE-92DC-0162-D748-2E7FCD3A0CA4}"/>
              </a:ext>
            </a:extLst>
          </p:cNvPr>
          <p:cNvGrpSpPr/>
          <p:nvPr/>
        </p:nvGrpSpPr>
        <p:grpSpPr>
          <a:xfrm flipH="1">
            <a:off x="1522955" y="4337433"/>
            <a:ext cx="7075354" cy="2155442"/>
            <a:chOff x="4098066" y="3423859"/>
            <a:chExt cx="7601637" cy="2155442"/>
          </a:xfrm>
        </p:grpSpPr>
        <p:pic>
          <p:nvPicPr>
            <p:cNvPr id="5" name="Picture 4">
              <a:extLst>
                <a:ext uri="{FF2B5EF4-FFF2-40B4-BE49-F238E27FC236}">
                  <a16:creationId xmlns:a16="http://schemas.microsoft.com/office/drawing/2014/main" id="{D8E2A01D-CF4E-1F84-5093-41BC4D6C9DE1}"/>
                </a:ext>
              </a:extLst>
            </p:cNvPr>
            <p:cNvPicPr>
              <a:picLocks noChangeAspect="1"/>
            </p:cNvPicPr>
            <p:nvPr/>
          </p:nvPicPr>
          <p:blipFill>
            <a:blip r:embed="rId3"/>
            <a:stretch>
              <a:fillRect/>
            </a:stretch>
          </p:blipFill>
          <p:spPr>
            <a:xfrm>
              <a:off x="11007896" y="3928128"/>
              <a:ext cx="691807" cy="1651173"/>
            </a:xfrm>
            <a:prstGeom prst="rect">
              <a:avLst/>
            </a:prstGeom>
          </p:spPr>
        </p:pic>
        <p:sp>
          <p:nvSpPr>
            <p:cNvPr id="6" name="TextBox 5">
              <a:extLst>
                <a:ext uri="{FF2B5EF4-FFF2-40B4-BE49-F238E27FC236}">
                  <a16:creationId xmlns:a16="http://schemas.microsoft.com/office/drawing/2014/main" id="{5071564D-2A69-EE7D-0806-A7A3EB3A8CAF}"/>
                </a:ext>
              </a:extLst>
            </p:cNvPr>
            <p:cNvSpPr txBox="1"/>
            <p:nvPr/>
          </p:nvSpPr>
          <p:spPr>
            <a:xfrm>
              <a:off x="4098066" y="3423859"/>
              <a:ext cx="6909832" cy="1200329"/>
            </a:xfrm>
            <a:prstGeom prst="rect">
              <a:avLst/>
            </a:prstGeom>
            <a:noFill/>
          </p:spPr>
          <p:txBody>
            <a:bodyPr wrap="square" rtlCol="0">
              <a:spAutoFit/>
            </a:bodyPr>
            <a:lstStyle/>
            <a:p>
              <a:r>
                <a:rPr lang="en-US" sz="2400" dirty="0">
                  <a:solidFill>
                    <a:srgbClr val="0070C0"/>
                  </a:solidFill>
                </a:rPr>
                <a:t>Maybe it’s okay in CA, since it’s a long drive to NV from most major CA cities?  (As opposed to a 1 hour drive to NH from Boston).</a:t>
              </a:r>
            </a:p>
          </p:txBody>
        </p:sp>
      </p:grpSp>
    </p:spTree>
    <p:extLst>
      <p:ext uri="{BB962C8B-B14F-4D97-AF65-F5344CB8AC3E}">
        <p14:creationId xmlns:p14="http://schemas.microsoft.com/office/powerpoint/2010/main" val="36427228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6D07F4-D471-80EB-CC51-E049F3F0F516}"/>
              </a:ext>
            </a:extLst>
          </p:cNvPr>
          <p:cNvSpPr>
            <a:spLocks noGrp="1"/>
          </p:cNvSpPr>
          <p:nvPr>
            <p:ph type="title"/>
          </p:nvPr>
        </p:nvSpPr>
        <p:spPr/>
        <p:txBody>
          <a:bodyPr/>
          <a:lstStyle/>
          <a:p>
            <a:r>
              <a:rPr lang="en-US" dirty="0"/>
              <a:t>Which of the three approaches would you find most compelling to study Brexit?</a:t>
            </a:r>
          </a:p>
        </p:txBody>
      </p:sp>
      <p:sp>
        <p:nvSpPr>
          <p:cNvPr id="3" name="Content Placeholder 2">
            <a:extLst>
              <a:ext uri="{FF2B5EF4-FFF2-40B4-BE49-F238E27FC236}">
                <a16:creationId xmlns:a16="http://schemas.microsoft.com/office/drawing/2014/main" id="{161CC009-B149-D13E-32C9-AD6770733AB6}"/>
              </a:ext>
            </a:extLst>
          </p:cNvPr>
          <p:cNvSpPr>
            <a:spLocks noGrp="1"/>
          </p:cNvSpPr>
          <p:nvPr>
            <p:ph idx="1"/>
          </p:nvPr>
        </p:nvSpPr>
        <p:spPr>
          <a:xfrm>
            <a:off x="838200" y="2226365"/>
            <a:ext cx="10515600" cy="3950598"/>
          </a:xfrm>
        </p:spPr>
        <p:txBody>
          <a:bodyPr/>
          <a:lstStyle/>
          <a:p>
            <a:r>
              <a:rPr lang="en-US" dirty="0"/>
              <a:t>Difference-in-differences</a:t>
            </a:r>
          </a:p>
          <a:p>
            <a:r>
              <a:rPr lang="en-US" dirty="0"/>
              <a:t>Matrix Completion</a:t>
            </a:r>
          </a:p>
          <a:p>
            <a:r>
              <a:rPr lang="en-US" dirty="0"/>
              <a:t>Synthetic Controls</a:t>
            </a:r>
          </a:p>
        </p:txBody>
      </p:sp>
      <p:grpSp>
        <p:nvGrpSpPr>
          <p:cNvPr id="4" name="Group 3">
            <a:extLst>
              <a:ext uri="{FF2B5EF4-FFF2-40B4-BE49-F238E27FC236}">
                <a16:creationId xmlns:a16="http://schemas.microsoft.com/office/drawing/2014/main" id="{F35156D8-323D-7AE6-69FF-F16D7035000A}"/>
              </a:ext>
            </a:extLst>
          </p:cNvPr>
          <p:cNvGrpSpPr/>
          <p:nvPr/>
        </p:nvGrpSpPr>
        <p:grpSpPr>
          <a:xfrm>
            <a:off x="7809668" y="3823577"/>
            <a:ext cx="3617960" cy="2214384"/>
            <a:chOff x="7809668" y="3823577"/>
            <a:chExt cx="3617960" cy="2214384"/>
          </a:xfrm>
        </p:grpSpPr>
        <p:pic>
          <p:nvPicPr>
            <p:cNvPr id="5" name="Picture 4">
              <a:extLst>
                <a:ext uri="{FF2B5EF4-FFF2-40B4-BE49-F238E27FC236}">
                  <a16:creationId xmlns:a16="http://schemas.microsoft.com/office/drawing/2014/main" id="{DC999599-F74D-7026-751F-A273DDBBF710}"/>
                </a:ext>
              </a:extLst>
            </p:cNvPr>
            <p:cNvPicPr>
              <a:picLocks noChangeAspect="1"/>
            </p:cNvPicPr>
            <p:nvPr/>
          </p:nvPicPr>
          <p:blipFill>
            <a:blip r:embed="rId3"/>
            <a:stretch>
              <a:fillRect/>
            </a:stretch>
          </p:blipFill>
          <p:spPr>
            <a:xfrm>
              <a:off x="8630197" y="4285242"/>
              <a:ext cx="1976903" cy="1752719"/>
            </a:xfrm>
            <a:prstGeom prst="rect">
              <a:avLst/>
            </a:prstGeom>
          </p:spPr>
        </p:pic>
        <p:sp>
          <p:nvSpPr>
            <p:cNvPr id="6" name="TextBox 5">
              <a:extLst>
                <a:ext uri="{FF2B5EF4-FFF2-40B4-BE49-F238E27FC236}">
                  <a16:creationId xmlns:a16="http://schemas.microsoft.com/office/drawing/2014/main" id="{1BF78617-416F-D263-2179-A43A008ADD07}"/>
                </a:ext>
              </a:extLst>
            </p:cNvPr>
            <p:cNvSpPr txBox="1"/>
            <p:nvPr/>
          </p:nvSpPr>
          <p:spPr>
            <a:xfrm>
              <a:off x="7809668" y="3823577"/>
              <a:ext cx="3617960" cy="461665"/>
            </a:xfrm>
            <a:prstGeom prst="rect">
              <a:avLst/>
            </a:prstGeom>
            <a:noFill/>
          </p:spPr>
          <p:txBody>
            <a:bodyPr wrap="square" rtlCol="0">
              <a:spAutoFit/>
            </a:bodyPr>
            <a:lstStyle/>
            <a:p>
              <a:pPr algn="ctr"/>
              <a:r>
                <a:rPr lang="en-US" sz="2400" b="1" dirty="0">
                  <a:solidFill>
                    <a:srgbClr val="0070C0"/>
                  </a:solidFill>
                </a:rPr>
                <a:t>Discuss!</a:t>
              </a:r>
            </a:p>
          </p:txBody>
        </p:sp>
      </p:grpSp>
    </p:spTree>
    <p:extLst>
      <p:ext uri="{BB962C8B-B14F-4D97-AF65-F5344CB8AC3E}">
        <p14:creationId xmlns:p14="http://schemas.microsoft.com/office/powerpoint/2010/main" val="1089158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4C0AC2-46FC-0889-00EB-B4AAEDF9148A}"/>
              </a:ext>
            </a:extLst>
          </p:cNvPr>
          <p:cNvSpPr>
            <a:spLocks noGrp="1"/>
          </p:cNvSpPr>
          <p:nvPr>
            <p:ph type="ctrTitle"/>
          </p:nvPr>
        </p:nvSpPr>
        <p:spPr/>
        <p:txBody>
          <a:bodyPr/>
          <a:lstStyle/>
          <a:p>
            <a:endParaRPr lang="en-US"/>
          </a:p>
        </p:txBody>
      </p:sp>
      <p:sp>
        <p:nvSpPr>
          <p:cNvPr id="3" name="Subtitle 2">
            <a:extLst>
              <a:ext uri="{FF2B5EF4-FFF2-40B4-BE49-F238E27FC236}">
                <a16:creationId xmlns:a16="http://schemas.microsoft.com/office/drawing/2014/main" id="{6DAEA592-7FF2-DF09-C111-D6BCB33B61E8}"/>
              </a:ext>
            </a:extLst>
          </p:cNvPr>
          <p:cNvSpPr>
            <a:spLocks noGrp="1"/>
          </p:cNvSpPr>
          <p:nvPr>
            <p:ph type="subTitle" idx="1"/>
          </p:nvPr>
        </p:nvSpPr>
        <p:spPr/>
        <p:txBody>
          <a:bodyPr/>
          <a:lstStyle/>
          <a:p>
            <a:endParaRPr lang="en-US"/>
          </a:p>
        </p:txBody>
      </p:sp>
      <p:pic>
        <p:nvPicPr>
          <p:cNvPr id="5" name="slide.url=https://www.polleverywhere.com/ranking_polls/3EhN09jviKeUC6n5SVBK9">
            <a:extLst>
              <a:ext uri="{FF2B5EF4-FFF2-40B4-BE49-F238E27FC236}">
                <a16:creationId xmlns:a16="http://schemas.microsoft.com/office/drawing/2014/main" id="{872F5DB2-0D16-8B92-4338-D73B2F826F39}"/>
              </a:ext>
            </a:extLst>
          </p:cNvPr>
          <p:cNvPicPr>
            <a:picLocks/>
          </p:cNvPicPr>
          <p:nvPr>
            <p:custDataLst>
              <p:tags r:id="rId1"/>
            </p:custDataLst>
          </p:nvPr>
        </p:nvPicPr>
        <p:blipFill>
          <a:blip r:embed="rId4">
            <a:extLst>
              <a:ext uri="{28A0092B-C50C-407E-A947-70E740481C1C}">
                <a14:useLocalDpi xmlns:a14="http://schemas.microsoft.com/office/drawing/2010/main" val="0"/>
              </a:ext>
            </a:extLst>
          </a:blip>
          <a:stretch>
            <a:fillRect/>
          </a:stretch>
        </p:blipFill>
        <p:spPr>
          <a:xfrm>
            <a:off x="63500" y="63500"/>
            <a:ext cx="12065000" cy="6731000"/>
          </a:xfrm>
          <a:prstGeom prst="rect">
            <a:avLst/>
          </a:prstGeom>
        </p:spPr>
      </p:pic>
    </p:spTree>
    <p:extLst>
      <p:ext uri="{BB962C8B-B14F-4D97-AF65-F5344CB8AC3E}">
        <p14:creationId xmlns:p14="http://schemas.microsoft.com/office/powerpoint/2010/main" val="398726766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442DF0-7B9B-A355-F09A-EEF22B13CBE4}"/>
              </a:ext>
            </a:extLst>
          </p:cNvPr>
          <p:cNvSpPr>
            <a:spLocks noGrp="1"/>
          </p:cNvSpPr>
          <p:nvPr>
            <p:ph type="title"/>
          </p:nvPr>
        </p:nvSpPr>
        <p:spPr>
          <a:xfrm>
            <a:off x="838200" y="271599"/>
            <a:ext cx="10515600" cy="1325563"/>
          </a:xfrm>
        </p:spPr>
        <p:txBody>
          <a:bodyPr/>
          <a:lstStyle/>
          <a:p>
            <a:r>
              <a:rPr lang="en-US" dirty="0"/>
              <a:t>Take-aways</a:t>
            </a:r>
          </a:p>
        </p:txBody>
      </p:sp>
      <p:sp>
        <p:nvSpPr>
          <p:cNvPr id="3" name="Content Placeholder 2">
            <a:extLst>
              <a:ext uri="{FF2B5EF4-FFF2-40B4-BE49-F238E27FC236}">
                <a16:creationId xmlns:a16="http://schemas.microsoft.com/office/drawing/2014/main" id="{96EEE1F7-9CCD-62B6-4693-E28354764E59}"/>
              </a:ext>
            </a:extLst>
          </p:cNvPr>
          <p:cNvSpPr>
            <a:spLocks noGrp="1"/>
          </p:cNvSpPr>
          <p:nvPr>
            <p:ph idx="1"/>
          </p:nvPr>
        </p:nvSpPr>
        <p:spPr>
          <a:xfrm>
            <a:off x="838200" y="1547329"/>
            <a:ext cx="10515600" cy="5131766"/>
          </a:xfrm>
        </p:spPr>
        <p:txBody>
          <a:bodyPr>
            <a:normAutofit/>
          </a:bodyPr>
          <a:lstStyle/>
          <a:p>
            <a:r>
              <a:rPr lang="en-US" dirty="0"/>
              <a:t>Synthetic Controls, Matrix Completion, Diff-in-Diff are all similar in flavor:</a:t>
            </a:r>
          </a:p>
          <a:p>
            <a:pPr lvl="1"/>
            <a:r>
              <a:rPr lang="en-US" dirty="0">
                <a:solidFill>
                  <a:schemeClr val="accent1"/>
                </a:solidFill>
              </a:rPr>
              <a:t>We want to predict the counterfactual for the treated unit based on other units!</a:t>
            </a:r>
          </a:p>
          <a:p>
            <a:pPr lvl="1"/>
            <a:endParaRPr lang="en-US" dirty="0">
              <a:solidFill>
                <a:schemeClr val="accent1"/>
              </a:solidFill>
            </a:endParaRPr>
          </a:p>
          <a:p>
            <a:r>
              <a:rPr lang="en-US" dirty="0"/>
              <a:t>How well this works depends on how well the other units represent the treated unit.</a:t>
            </a:r>
          </a:p>
          <a:p>
            <a:pPr lvl="1"/>
            <a:r>
              <a:rPr lang="en-US" dirty="0" err="1">
                <a:solidFill>
                  <a:schemeClr val="accent1"/>
                </a:solidFill>
              </a:rPr>
              <a:t>DiD</a:t>
            </a:r>
            <a:r>
              <a:rPr lang="en-US" dirty="0">
                <a:solidFill>
                  <a:schemeClr val="accent1"/>
                </a:solidFill>
              </a:rPr>
              <a:t>: Do we have parallel trends?</a:t>
            </a:r>
          </a:p>
          <a:p>
            <a:pPr lvl="1"/>
            <a:r>
              <a:rPr lang="en-US" dirty="0">
                <a:solidFill>
                  <a:schemeClr val="accent1"/>
                </a:solidFill>
              </a:rPr>
              <a:t>MC and SC: Can we make our treated unit as some linear combination of other units?</a:t>
            </a:r>
          </a:p>
          <a:p>
            <a:pPr lvl="1"/>
            <a:r>
              <a:rPr lang="en-US" dirty="0">
                <a:solidFill>
                  <a:schemeClr val="accent1"/>
                </a:solidFill>
              </a:rPr>
              <a:t>All: Do we believe that a past relationship would have carried on into the future?</a:t>
            </a:r>
          </a:p>
        </p:txBody>
      </p:sp>
    </p:spTree>
    <p:extLst>
      <p:ext uri="{BB962C8B-B14F-4D97-AF65-F5344CB8AC3E}">
        <p14:creationId xmlns:p14="http://schemas.microsoft.com/office/powerpoint/2010/main" val="2356267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2"/>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D4C7AF-188E-AB8F-C3F9-2FF354CBCE7E}"/>
              </a:ext>
            </a:extLst>
          </p:cNvPr>
          <p:cNvSpPr>
            <a:spLocks noGrp="1"/>
          </p:cNvSpPr>
          <p:nvPr>
            <p:ph type="title"/>
          </p:nvPr>
        </p:nvSpPr>
        <p:spPr/>
        <p:txBody>
          <a:bodyPr/>
          <a:lstStyle/>
          <a:p>
            <a:r>
              <a:rPr lang="en-US" dirty="0"/>
              <a:t>What just happened?</a:t>
            </a:r>
          </a:p>
        </p:txBody>
      </p:sp>
      <p:sp>
        <p:nvSpPr>
          <p:cNvPr id="3" name="Text Placeholder 2">
            <a:extLst>
              <a:ext uri="{FF2B5EF4-FFF2-40B4-BE49-F238E27FC236}">
                <a16:creationId xmlns:a16="http://schemas.microsoft.com/office/drawing/2014/main" id="{B5CB071D-1808-08CB-1B6A-118635024B4E}"/>
              </a:ext>
            </a:extLst>
          </p:cNvPr>
          <p:cNvSpPr>
            <a:spLocks noGrp="1"/>
          </p:cNvSpPr>
          <p:nvPr>
            <p:ph type="body" idx="1"/>
          </p:nvPr>
        </p:nvSpPr>
        <p:spPr/>
        <p:txBody>
          <a:bodyPr/>
          <a:lstStyle/>
          <a:p>
            <a:r>
              <a:rPr lang="en-US" dirty="0"/>
              <a:t>Nine weeks in nine slides!</a:t>
            </a:r>
          </a:p>
        </p:txBody>
      </p:sp>
    </p:spTree>
    <p:extLst>
      <p:ext uri="{BB962C8B-B14F-4D97-AF65-F5344CB8AC3E}">
        <p14:creationId xmlns:p14="http://schemas.microsoft.com/office/powerpoint/2010/main" val="130360073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9C93ED-C7B0-BF31-3823-6887907D33E3}"/>
              </a:ext>
            </a:extLst>
          </p:cNvPr>
          <p:cNvSpPr>
            <a:spLocks noGrp="1"/>
          </p:cNvSpPr>
          <p:nvPr>
            <p:ph type="title"/>
          </p:nvPr>
        </p:nvSpPr>
        <p:spPr/>
        <p:txBody>
          <a:bodyPr/>
          <a:lstStyle/>
          <a:p>
            <a:r>
              <a:rPr lang="en-US" dirty="0"/>
              <a:t>OMG STATISTICS</a:t>
            </a:r>
          </a:p>
        </p:txBody>
      </p:sp>
      <p:sp>
        <p:nvSpPr>
          <p:cNvPr id="3" name="Content Placeholder 2">
            <a:extLst>
              <a:ext uri="{FF2B5EF4-FFF2-40B4-BE49-F238E27FC236}">
                <a16:creationId xmlns:a16="http://schemas.microsoft.com/office/drawing/2014/main" id="{4CEECFAD-75B6-CF32-40FD-D40A87DE1061}"/>
              </a:ext>
            </a:extLst>
          </p:cNvPr>
          <p:cNvSpPr>
            <a:spLocks noGrp="1"/>
          </p:cNvSpPr>
          <p:nvPr>
            <p:ph idx="1"/>
          </p:nvPr>
        </p:nvSpPr>
        <p:spPr/>
        <p:txBody>
          <a:bodyPr/>
          <a:lstStyle/>
          <a:p>
            <a:r>
              <a:rPr lang="en-US" dirty="0"/>
              <a:t>How good is an estimator?</a:t>
            </a:r>
          </a:p>
          <a:p>
            <a:pPr lvl="1"/>
            <a:r>
              <a:rPr lang="en-US" dirty="0">
                <a:solidFill>
                  <a:schemeClr val="accent1"/>
                </a:solidFill>
              </a:rPr>
              <a:t>Standard Errors!  </a:t>
            </a:r>
          </a:p>
          <a:p>
            <a:pPr lvl="1"/>
            <a:r>
              <a:rPr lang="en-US" dirty="0">
                <a:solidFill>
                  <a:schemeClr val="accent1"/>
                </a:solidFill>
              </a:rPr>
              <a:t>Confidence Intervals!</a:t>
            </a:r>
          </a:p>
          <a:p>
            <a:pPr lvl="1"/>
            <a:r>
              <a:rPr lang="en-US" dirty="0">
                <a:solidFill>
                  <a:schemeClr val="accent1"/>
                </a:solidFill>
              </a:rPr>
              <a:t>p-values!</a:t>
            </a:r>
          </a:p>
          <a:p>
            <a:pPr lvl="1"/>
            <a:endParaRPr lang="en-US" dirty="0"/>
          </a:p>
          <a:p>
            <a:r>
              <a:rPr lang="en-US" dirty="0"/>
              <a:t>How do we estimate those?</a:t>
            </a:r>
          </a:p>
          <a:p>
            <a:pPr lvl="1"/>
            <a:r>
              <a:rPr lang="en-US" dirty="0">
                <a:solidFill>
                  <a:schemeClr val="accent1"/>
                </a:solidFill>
              </a:rPr>
              <a:t>Analytically!  Usually by invoking the central limit theorem!</a:t>
            </a:r>
          </a:p>
          <a:p>
            <a:pPr lvl="1"/>
            <a:r>
              <a:rPr lang="en-US" dirty="0">
                <a:solidFill>
                  <a:schemeClr val="accent1"/>
                </a:solidFill>
              </a:rPr>
              <a:t>Empirically via resampling, aka the bootstrap!</a:t>
            </a:r>
          </a:p>
        </p:txBody>
      </p:sp>
      <p:grpSp>
        <p:nvGrpSpPr>
          <p:cNvPr id="6" name="Group 5">
            <a:extLst>
              <a:ext uri="{FF2B5EF4-FFF2-40B4-BE49-F238E27FC236}">
                <a16:creationId xmlns:a16="http://schemas.microsoft.com/office/drawing/2014/main" id="{7EDC1FCC-527B-49C7-F45F-4B0458408CDA}"/>
              </a:ext>
            </a:extLst>
          </p:cNvPr>
          <p:cNvGrpSpPr/>
          <p:nvPr/>
        </p:nvGrpSpPr>
        <p:grpSpPr>
          <a:xfrm>
            <a:off x="6096000" y="1227075"/>
            <a:ext cx="3763319" cy="2381538"/>
            <a:chOff x="5806428" y="2933456"/>
            <a:chExt cx="3763319" cy="2381538"/>
          </a:xfrm>
        </p:grpSpPr>
        <p:grpSp>
          <p:nvGrpSpPr>
            <p:cNvPr id="7" name="Group 6">
              <a:extLst>
                <a:ext uri="{FF2B5EF4-FFF2-40B4-BE49-F238E27FC236}">
                  <a16:creationId xmlns:a16="http://schemas.microsoft.com/office/drawing/2014/main" id="{092D6785-DD10-EFC5-E375-1BA4AB954A6B}"/>
                </a:ext>
              </a:extLst>
            </p:cNvPr>
            <p:cNvGrpSpPr/>
            <p:nvPr/>
          </p:nvGrpSpPr>
          <p:grpSpPr>
            <a:xfrm>
              <a:off x="5806428" y="2933456"/>
              <a:ext cx="3763319" cy="2381538"/>
              <a:chOff x="9225630" y="4872408"/>
              <a:chExt cx="2840907" cy="1797809"/>
            </a:xfrm>
          </p:grpSpPr>
          <p:pic>
            <p:nvPicPr>
              <p:cNvPr id="11" name="Picture 10">
                <a:extLst>
                  <a:ext uri="{FF2B5EF4-FFF2-40B4-BE49-F238E27FC236}">
                    <a16:creationId xmlns:a16="http://schemas.microsoft.com/office/drawing/2014/main" id="{D9FCE0C8-5D38-ADC9-1E6C-23328E39D010}"/>
                  </a:ext>
                </a:extLst>
              </p:cNvPr>
              <p:cNvPicPr>
                <a:picLocks noChangeAspect="1"/>
              </p:cNvPicPr>
              <p:nvPr/>
            </p:nvPicPr>
            <p:blipFill>
              <a:blip r:embed="rId3"/>
              <a:stretch>
                <a:fillRect/>
              </a:stretch>
            </p:blipFill>
            <p:spPr>
              <a:xfrm>
                <a:off x="9225630" y="4872408"/>
                <a:ext cx="2840907" cy="1797809"/>
              </a:xfrm>
              <a:prstGeom prst="rect">
                <a:avLst/>
              </a:prstGeom>
            </p:spPr>
          </p:pic>
          <p:sp>
            <p:nvSpPr>
              <p:cNvPr id="12" name="TextBox 11">
                <a:extLst>
                  <a:ext uri="{FF2B5EF4-FFF2-40B4-BE49-F238E27FC236}">
                    <a16:creationId xmlns:a16="http://schemas.microsoft.com/office/drawing/2014/main" id="{CBABA34D-0F1F-A2D6-AC45-B51552C111C0}"/>
                  </a:ext>
                </a:extLst>
              </p:cNvPr>
              <p:cNvSpPr txBox="1"/>
              <p:nvPr/>
            </p:nvSpPr>
            <p:spPr>
              <a:xfrm>
                <a:off x="10920447" y="5095083"/>
                <a:ext cx="912429" cy="307777"/>
              </a:xfrm>
              <a:prstGeom prst="rect">
                <a:avLst/>
              </a:prstGeom>
              <a:noFill/>
            </p:spPr>
            <p:txBody>
              <a:bodyPr wrap="none" rtlCol="0">
                <a:spAutoFit/>
              </a:bodyPr>
              <a:lstStyle/>
              <a:p>
                <a:r>
                  <a:rPr lang="en-US" sz="1400" dirty="0">
                    <a:solidFill>
                      <a:schemeClr val="accent1"/>
                    </a:solidFill>
                  </a:rPr>
                  <a:t>n=10,000</a:t>
                </a:r>
              </a:p>
            </p:txBody>
          </p:sp>
        </p:grpSp>
        <p:sp>
          <p:nvSpPr>
            <p:cNvPr id="8" name="Freeform 7">
              <a:extLst>
                <a:ext uri="{FF2B5EF4-FFF2-40B4-BE49-F238E27FC236}">
                  <a16:creationId xmlns:a16="http://schemas.microsoft.com/office/drawing/2014/main" id="{A11AE7DD-101D-F824-A34F-00DFE9B1AA14}"/>
                </a:ext>
              </a:extLst>
            </p:cNvPr>
            <p:cNvSpPr/>
            <p:nvPr/>
          </p:nvSpPr>
          <p:spPr>
            <a:xfrm>
              <a:off x="8366760" y="4876791"/>
              <a:ext cx="333109" cy="232048"/>
            </a:xfrm>
            <a:custGeom>
              <a:avLst/>
              <a:gdLst>
                <a:gd name="connsiteX0" fmla="*/ 37011 w 333109"/>
                <a:gd name="connsiteY0" fmla="*/ 209015 h 232048"/>
                <a:gd name="connsiteX1" fmla="*/ 37011 w 333109"/>
                <a:gd name="connsiteY1" fmla="*/ 9 h 232048"/>
                <a:gd name="connsiteX2" fmla="*/ 333103 w 333109"/>
                <a:gd name="connsiteY2" fmla="*/ 200306 h 232048"/>
                <a:gd name="connsiteX3" fmla="*/ 37011 w 333109"/>
                <a:gd name="connsiteY3" fmla="*/ 209015 h 232048"/>
              </a:gdLst>
              <a:ahLst/>
              <a:cxnLst>
                <a:cxn ang="0">
                  <a:pos x="connsiteX0" y="connsiteY0"/>
                </a:cxn>
                <a:cxn ang="0">
                  <a:pos x="connsiteX1" y="connsiteY1"/>
                </a:cxn>
                <a:cxn ang="0">
                  <a:pos x="connsiteX2" y="connsiteY2"/>
                </a:cxn>
                <a:cxn ang="0">
                  <a:pos x="connsiteX3" y="connsiteY3"/>
                </a:cxn>
              </a:cxnLst>
              <a:rect l="l" t="t" r="r" b="b"/>
              <a:pathLst>
                <a:path w="333109" h="232048">
                  <a:moveTo>
                    <a:pt x="37011" y="209015"/>
                  </a:moveTo>
                  <a:cubicBezTo>
                    <a:pt x="-12338" y="175632"/>
                    <a:pt x="-12338" y="1460"/>
                    <a:pt x="37011" y="9"/>
                  </a:cubicBezTo>
                  <a:cubicBezTo>
                    <a:pt x="86360" y="-1443"/>
                    <a:pt x="331652" y="161118"/>
                    <a:pt x="333103" y="200306"/>
                  </a:cubicBezTo>
                  <a:cubicBezTo>
                    <a:pt x="334554" y="239494"/>
                    <a:pt x="86360" y="242398"/>
                    <a:pt x="37011" y="209015"/>
                  </a:cubicBezTo>
                  <a:close/>
                </a:path>
              </a:pathLst>
            </a:custGeom>
            <a:solidFill>
              <a:srgbClr val="FFFF00">
                <a:alpha val="44396"/>
              </a:srgbClr>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8">
              <a:extLst>
                <a:ext uri="{FF2B5EF4-FFF2-40B4-BE49-F238E27FC236}">
                  <a16:creationId xmlns:a16="http://schemas.microsoft.com/office/drawing/2014/main" id="{0CB1BD10-7E47-DA68-C653-B9644B67B480}"/>
                </a:ext>
              </a:extLst>
            </p:cNvPr>
            <p:cNvSpPr/>
            <p:nvPr/>
          </p:nvSpPr>
          <p:spPr>
            <a:xfrm>
              <a:off x="6671709" y="4751803"/>
              <a:ext cx="594317" cy="482540"/>
            </a:xfrm>
            <a:custGeom>
              <a:avLst/>
              <a:gdLst>
                <a:gd name="connsiteX0" fmla="*/ 556405 w 594317"/>
                <a:gd name="connsiteY0" fmla="*/ 421088 h 482540"/>
                <a:gd name="connsiteX1" fmla="*/ 538988 w 594317"/>
                <a:gd name="connsiteY1" fmla="*/ 20494 h 482540"/>
                <a:gd name="connsiteX2" fmla="*/ 338691 w 594317"/>
                <a:gd name="connsiteY2" fmla="*/ 81454 h 482540"/>
                <a:gd name="connsiteX3" fmla="*/ 25182 w 594317"/>
                <a:gd name="connsiteY3" fmla="*/ 281751 h 482540"/>
                <a:gd name="connsiteX4" fmla="*/ 77434 w 594317"/>
                <a:gd name="connsiteY4" fmla="*/ 464631 h 482540"/>
                <a:gd name="connsiteX5" fmla="*/ 556405 w 594317"/>
                <a:gd name="connsiteY5" fmla="*/ 421088 h 482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94317" h="482540">
                  <a:moveTo>
                    <a:pt x="556405" y="421088"/>
                  </a:moveTo>
                  <a:cubicBezTo>
                    <a:pt x="633331" y="347065"/>
                    <a:pt x="575274" y="77100"/>
                    <a:pt x="538988" y="20494"/>
                  </a:cubicBezTo>
                  <a:cubicBezTo>
                    <a:pt x="502702" y="-36112"/>
                    <a:pt x="424325" y="37911"/>
                    <a:pt x="338691" y="81454"/>
                  </a:cubicBezTo>
                  <a:cubicBezTo>
                    <a:pt x="253057" y="124997"/>
                    <a:pt x="68725" y="217888"/>
                    <a:pt x="25182" y="281751"/>
                  </a:cubicBezTo>
                  <a:cubicBezTo>
                    <a:pt x="-18361" y="345614"/>
                    <a:pt x="-8200" y="437054"/>
                    <a:pt x="77434" y="464631"/>
                  </a:cubicBezTo>
                  <a:cubicBezTo>
                    <a:pt x="163068" y="492208"/>
                    <a:pt x="479479" y="495111"/>
                    <a:pt x="556405" y="421088"/>
                  </a:cubicBezTo>
                  <a:close/>
                </a:path>
              </a:pathLst>
            </a:custGeom>
            <a:solidFill>
              <a:srgbClr val="FFFF00">
                <a:alpha val="41813"/>
              </a:srgbClr>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4" name="Picture 2" descr="Embrace the bootstrap...and start pulling!">
            <a:extLst>
              <a:ext uri="{FF2B5EF4-FFF2-40B4-BE49-F238E27FC236}">
                <a16:creationId xmlns:a16="http://schemas.microsoft.com/office/drawing/2014/main" id="{64CAB072-6776-3EB5-DE0D-8930B18B92F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829306" y="5032654"/>
            <a:ext cx="2232284" cy="12792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178437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9B0B01-7603-19C8-67D7-491AD5FF020E}"/>
              </a:ext>
            </a:extLst>
          </p:cNvPr>
          <p:cNvSpPr>
            <a:spLocks noGrp="1"/>
          </p:cNvSpPr>
          <p:nvPr>
            <p:ph type="title"/>
          </p:nvPr>
        </p:nvSpPr>
        <p:spPr/>
        <p:txBody>
          <a:bodyPr/>
          <a:lstStyle/>
          <a:p>
            <a:r>
              <a:rPr lang="en-US" dirty="0"/>
              <a:t>What is Causality?</a:t>
            </a:r>
            <a:br>
              <a:rPr lang="en-US" dirty="0"/>
            </a:br>
            <a:r>
              <a:rPr lang="en-US" sz="2800" dirty="0"/>
              <a:t>Definitely not the same as correlation!</a:t>
            </a:r>
            <a:endParaRPr lang="en-US" dirty="0"/>
          </a:p>
        </p:txBody>
      </p:sp>
      <p:sp>
        <p:nvSpPr>
          <p:cNvPr id="3" name="Content Placeholder 2">
            <a:extLst>
              <a:ext uri="{FF2B5EF4-FFF2-40B4-BE49-F238E27FC236}">
                <a16:creationId xmlns:a16="http://schemas.microsoft.com/office/drawing/2014/main" id="{4D466EDA-E3F0-46F0-116E-7AD398411BA0}"/>
              </a:ext>
            </a:extLst>
          </p:cNvPr>
          <p:cNvSpPr>
            <a:spLocks noGrp="1"/>
          </p:cNvSpPr>
          <p:nvPr>
            <p:ph idx="1"/>
          </p:nvPr>
        </p:nvSpPr>
        <p:spPr/>
        <p:txBody>
          <a:bodyPr/>
          <a:lstStyle/>
          <a:p>
            <a:r>
              <a:rPr lang="en-US" dirty="0"/>
              <a:t>Philosophers have argued about it for a long time…</a:t>
            </a:r>
          </a:p>
          <a:p>
            <a:endParaRPr lang="en-US" sz="1100" dirty="0"/>
          </a:p>
          <a:p>
            <a:r>
              <a:rPr lang="en-US" dirty="0"/>
              <a:t>For us: it’s all about </a:t>
            </a:r>
            <a:r>
              <a:rPr lang="en-US" b="1" dirty="0"/>
              <a:t>counterfactuals!</a:t>
            </a:r>
          </a:p>
          <a:p>
            <a:r>
              <a:rPr lang="en-US" dirty="0"/>
              <a:t>Potential outcomes:</a:t>
            </a:r>
          </a:p>
          <a:p>
            <a:pPr lvl="1"/>
            <a:r>
              <a:rPr lang="en-US" dirty="0">
                <a:solidFill>
                  <a:schemeClr val="accent1"/>
                </a:solidFill>
              </a:rPr>
              <a:t>What would have happened otherwise</a:t>
            </a:r>
          </a:p>
          <a:p>
            <a:r>
              <a:rPr lang="en-US" dirty="0"/>
              <a:t>Average Treatment Effect (ATE):</a:t>
            </a:r>
          </a:p>
          <a:p>
            <a:pPr lvl="1"/>
            <a:endParaRPr lang="en-US" dirty="0"/>
          </a:p>
        </p:txBody>
      </p:sp>
      <p:grpSp>
        <p:nvGrpSpPr>
          <p:cNvPr id="8" name="Group 7">
            <a:extLst>
              <a:ext uri="{FF2B5EF4-FFF2-40B4-BE49-F238E27FC236}">
                <a16:creationId xmlns:a16="http://schemas.microsoft.com/office/drawing/2014/main" id="{2929CFEA-D96B-3A62-A5E5-340B2BE38627}"/>
              </a:ext>
            </a:extLst>
          </p:cNvPr>
          <p:cNvGrpSpPr/>
          <p:nvPr/>
        </p:nvGrpSpPr>
        <p:grpSpPr>
          <a:xfrm>
            <a:off x="8699431" y="0"/>
            <a:ext cx="3600451" cy="4264202"/>
            <a:chOff x="8699431" y="0"/>
            <a:chExt cx="3600451" cy="4264202"/>
          </a:xfrm>
        </p:grpSpPr>
        <p:grpSp>
          <p:nvGrpSpPr>
            <p:cNvPr id="4" name="Group 3">
              <a:extLst>
                <a:ext uri="{FF2B5EF4-FFF2-40B4-BE49-F238E27FC236}">
                  <a16:creationId xmlns:a16="http://schemas.microsoft.com/office/drawing/2014/main" id="{00C6BE30-1C25-7248-8ACB-495D67C45057}"/>
                </a:ext>
              </a:extLst>
            </p:cNvPr>
            <p:cNvGrpSpPr/>
            <p:nvPr/>
          </p:nvGrpSpPr>
          <p:grpSpPr>
            <a:xfrm>
              <a:off x="9510646" y="1806451"/>
              <a:ext cx="1342640" cy="2457751"/>
              <a:chOff x="711202" y="3915570"/>
              <a:chExt cx="1342640" cy="2457751"/>
            </a:xfrm>
          </p:grpSpPr>
          <p:pic>
            <p:nvPicPr>
              <p:cNvPr id="5" name="Picture 4" descr="Aristotle - Wikipedia">
                <a:extLst>
                  <a:ext uri="{FF2B5EF4-FFF2-40B4-BE49-F238E27FC236}">
                    <a16:creationId xmlns:a16="http://schemas.microsoft.com/office/drawing/2014/main" id="{46AD3C4B-7CEA-F447-CA1E-F604A88C451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1202" y="3915570"/>
                <a:ext cx="1342640" cy="1795728"/>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E9BD739D-3E45-CC84-FA83-92A88DEB268B}"/>
                  </a:ext>
                </a:extLst>
              </p:cNvPr>
              <p:cNvSpPr txBox="1"/>
              <p:nvPr/>
            </p:nvSpPr>
            <p:spPr>
              <a:xfrm>
                <a:off x="767698" y="5726990"/>
                <a:ext cx="1278940" cy="646331"/>
              </a:xfrm>
              <a:prstGeom prst="rect">
                <a:avLst/>
              </a:prstGeom>
              <a:noFill/>
            </p:spPr>
            <p:txBody>
              <a:bodyPr wrap="none" rtlCol="0">
                <a:spAutoFit/>
              </a:bodyPr>
              <a:lstStyle/>
              <a:p>
                <a:pPr algn="ctr"/>
                <a:r>
                  <a:rPr lang="en-US" dirty="0"/>
                  <a:t>Aristotle</a:t>
                </a:r>
              </a:p>
              <a:p>
                <a:pPr algn="ctr"/>
                <a:r>
                  <a:rPr lang="en-US" dirty="0"/>
                  <a:t>(4</a:t>
                </a:r>
                <a:r>
                  <a:rPr lang="en-US" baseline="30000" dirty="0"/>
                  <a:t>th</a:t>
                </a:r>
                <a:r>
                  <a:rPr lang="en-US" dirty="0"/>
                  <a:t> c. BCE)</a:t>
                </a:r>
              </a:p>
            </p:txBody>
          </p:sp>
        </p:grpSp>
        <p:sp>
          <p:nvSpPr>
            <p:cNvPr id="7" name="Rounded Rectangular Callout 6">
              <a:extLst>
                <a:ext uri="{FF2B5EF4-FFF2-40B4-BE49-F238E27FC236}">
                  <a16:creationId xmlns:a16="http://schemas.microsoft.com/office/drawing/2014/main" id="{84B9E12A-D128-DA91-F880-AC856910D143}"/>
                </a:ext>
              </a:extLst>
            </p:cNvPr>
            <p:cNvSpPr/>
            <p:nvPr/>
          </p:nvSpPr>
          <p:spPr>
            <a:xfrm>
              <a:off x="8699431" y="0"/>
              <a:ext cx="3600451" cy="1709716"/>
            </a:xfrm>
            <a:prstGeom prst="wedgeRoundRectCallout">
              <a:avLst>
                <a:gd name="adj1" fmla="val -17663"/>
                <a:gd name="adj2" fmla="val 69533"/>
                <a:gd name="adj3" fmla="val 16667"/>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Four types of causes:</a:t>
              </a:r>
            </a:p>
            <a:p>
              <a:r>
                <a:rPr lang="en-US" sz="1400" dirty="0">
                  <a:solidFill>
                    <a:schemeClr val="tx1"/>
                  </a:solidFill>
                </a:rPr>
                <a:t>Material: “Out of which the thing is made”</a:t>
              </a:r>
            </a:p>
            <a:p>
              <a:r>
                <a:rPr lang="en-US" sz="1400" dirty="0">
                  <a:solidFill>
                    <a:schemeClr val="tx1"/>
                  </a:solidFill>
                </a:rPr>
                <a:t>Formal: “Into which the thing is made”</a:t>
              </a:r>
            </a:p>
            <a:p>
              <a:r>
                <a:rPr lang="en-US" sz="1400" dirty="0">
                  <a:solidFill>
                    <a:schemeClr val="tx1"/>
                  </a:solidFill>
                </a:rPr>
                <a:t>Efficient: “What makes the thing”</a:t>
              </a:r>
            </a:p>
            <a:p>
              <a:r>
                <a:rPr lang="en-US" sz="1400" dirty="0">
                  <a:solidFill>
                    <a:schemeClr val="tx1"/>
                  </a:solidFill>
                </a:rPr>
                <a:t>Final: “For which the thing is made”</a:t>
              </a:r>
            </a:p>
          </p:txBody>
        </p:sp>
      </p:grpSp>
      <p:grpSp>
        <p:nvGrpSpPr>
          <p:cNvPr id="9" name="Group 8">
            <a:extLst>
              <a:ext uri="{FF2B5EF4-FFF2-40B4-BE49-F238E27FC236}">
                <a16:creationId xmlns:a16="http://schemas.microsoft.com/office/drawing/2014/main" id="{F076B8A1-1E54-BFD6-9FEB-ED1553C421DC}"/>
              </a:ext>
            </a:extLst>
          </p:cNvPr>
          <p:cNvGrpSpPr/>
          <p:nvPr/>
        </p:nvGrpSpPr>
        <p:grpSpPr>
          <a:xfrm>
            <a:off x="5777948" y="4638261"/>
            <a:ext cx="6414052" cy="2236361"/>
            <a:chOff x="5906366" y="4477790"/>
            <a:chExt cx="6411929" cy="2526149"/>
          </a:xfrm>
        </p:grpSpPr>
        <p:sp>
          <p:nvSpPr>
            <p:cNvPr id="10" name="Rectangle 9">
              <a:extLst>
                <a:ext uri="{FF2B5EF4-FFF2-40B4-BE49-F238E27FC236}">
                  <a16:creationId xmlns:a16="http://schemas.microsoft.com/office/drawing/2014/main" id="{DB22C2D9-214C-0289-5994-1F245436D311}"/>
                </a:ext>
              </a:extLst>
            </p:cNvPr>
            <p:cNvSpPr/>
            <p:nvPr/>
          </p:nvSpPr>
          <p:spPr>
            <a:xfrm>
              <a:off x="5906366" y="4505989"/>
              <a:ext cx="6399131" cy="2460011"/>
            </a:xfrm>
            <a:prstGeom prst="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4876013C-A5CB-2107-B890-2E92859384AA}"/>
                </a:ext>
              </a:extLst>
            </p:cNvPr>
            <p:cNvGrpSpPr/>
            <p:nvPr/>
          </p:nvGrpSpPr>
          <p:grpSpPr>
            <a:xfrm>
              <a:off x="5962795" y="4477790"/>
              <a:ext cx="6355500" cy="2526149"/>
              <a:chOff x="229145" y="2152268"/>
              <a:chExt cx="11990008" cy="4765722"/>
            </a:xfrm>
          </p:grpSpPr>
          <p:pic>
            <p:nvPicPr>
              <p:cNvPr id="12" name="Picture 11">
                <a:extLst>
                  <a:ext uri="{FF2B5EF4-FFF2-40B4-BE49-F238E27FC236}">
                    <a16:creationId xmlns:a16="http://schemas.microsoft.com/office/drawing/2014/main" id="{EC4AF12A-CF71-A7C9-114E-E820F28C0492}"/>
                  </a:ext>
                </a:extLst>
              </p:cNvPr>
              <p:cNvPicPr>
                <a:picLocks noChangeAspect="1"/>
              </p:cNvPicPr>
              <p:nvPr/>
            </p:nvPicPr>
            <p:blipFill>
              <a:blip r:embed="rId4"/>
              <a:stretch>
                <a:fillRect/>
              </a:stretch>
            </p:blipFill>
            <p:spPr>
              <a:xfrm>
                <a:off x="2275031" y="2802418"/>
                <a:ext cx="600024" cy="910445"/>
              </a:xfrm>
              <a:prstGeom prst="rect">
                <a:avLst/>
              </a:prstGeom>
            </p:spPr>
          </p:pic>
          <p:pic>
            <p:nvPicPr>
              <p:cNvPr id="13" name="Picture 12">
                <a:extLst>
                  <a:ext uri="{FF2B5EF4-FFF2-40B4-BE49-F238E27FC236}">
                    <a16:creationId xmlns:a16="http://schemas.microsoft.com/office/drawing/2014/main" id="{E6F713FE-2A94-780B-63A0-79066E923887}"/>
                  </a:ext>
                </a:extLst>
              </p:cNvPr>
              <p:cNvPicPr>
                <a:picLocks noChangeAspect="1"/>
              </p:cNvPicPr>
              <p:nvPr/>
            </p:nvPicPr>
            <p:blipFill>
              <a:blip r:embed="rId5"/>
              <a:stretch>
                <a:fillRect/>
              </a:stretch>
            </p:blipFill>
            <p:spPr>
              <a:xfrm>
                <a:off x="3667491" y="2856752"/>
                <a:ext cx="830685" cy="742035"/>
              </a:xfrm>
              <a:prstGeom prst="rect">
                <a:avLst/>
              </a:prstGeom>
            </p:spPr>
          </p:pic>
          <p:pic>
            <p:nvPicPr>
              <p:cNvPr id="14" name="Picture 13">
                <a:extLst>
                  <a:ext uri="{FF2B5EF4-FFF2-40B4-BE49-F238E27FC236}">
                    <a16:creationId xmlns:a16="http://schemas.microsoft.com/office/drawing/2014/main" id="{586F7568-A00D-1AF6-D1EA-3B5F5040F20D}"/>
                  </a:ext>
                </a:extLst>
              </p:cNvPr>
              <p:cNvPicPr>
                <a:picLocks noChangeAspect="1"/>
              </p:cNvPicPr>
              <p:nvPr/>
            </p:nvPicPr>
            <p:blipFill>
              <a:blip r:embed="rId6"/>
              <a:stretch>
                <a:fillRect/>
              </a:stretch>
            </p:blipFill>
            <p:spPr>
              <a:xfrm>
                <a:off x="7552886" y="2688341"/>
                <a:ext cx="648054" cy="910446"/>
              </a:xfrm>
              <a:prstGeom prst="rect">
                <a:avLst/>
              </a:prstGeom>
            </p:spPr>
          </p:pic>
          <p:pic>
            <p:nvPicPr>
              <p:cNvPr id="15" name="Picture 14">
                <a:extLst>
                  <a:ext uri="{FF2B5EF4-FFF2-40B4-BE49-F238E27FC236}">
                    <a16:creationId xmlns:a16="http://schemas.microsoft.com/office/drawing/2014/main" id="{E61D9537-2493-C27E-2C48-498F2ED6A42E}"/>
                  </a:ext>
                </a:extLst>
              </p:cNvPr>
              <p:cNvPicPr>
                <a:picLocks noChangeAspect="1"/>
              </p:cNvPicPr>
              <p:nvPr/>
            </p:nvPicPr>
            <p:blipFill>
              <a:blip r:embed="rId7"/>
              <a:stretch>
                <a:fillRect/>
              </a:stretch>
            </p:blipFill>
            <p:spPr>
              <a:xfrm>
                <a:off x="9224580" y="2791814"/>
                <a:ext cx="566568" cy="721917"/>
              </a:xfrm>
              <a:prstGeom prst="rect">
                <a:avLst/>
              </a:prstGeom>
            </p:spPr>
          </p:pic>
          <p:pic>
            <p:nvPicPr>
              <p:cNvPr id="16" name="Picture 15">
                <a:extLst>
                  <a:ext uri="{FF2B5EF4-FFF2-40B4-BE49-F238E27FC236}">
                    <a16:creationId xmlns:a16="http://schemas.microsoft.com/office/drawing/2014/main" id="{2301F1B5-6F64-A3B8-279E-C9E9950974F2}"/>
                  </a:ext>
                </a:extLst>
              </p:cNvPr>
              <p:cNvPicPr>
                <a:picLocks noChangeAspect="1"/>
              </p:cNvPicPr>
              <p:nvPr/>
            </p:nvPicPr>
            <p:blipFill>
              <a:blip r:embed="rId8"/>
              <a:stretch>
                <a:fillRect/>
              </a:stretch>
            </p:blipFill>
            <p:spPr>
              <a:xfrm>
                <a:off x="11095039" y="2646625"/>
                <a:ext cx="697482" cy="882528"/>
              </a:xfrm>
              <a:prstGeom prst="rect">
                <a:avLst/>
              </a:prstGeom>
            </p:spPr>
          </p:pic>
          <p:pic>
            <p:nvPicPr>
              <p:cNvPr id="17" name="Picture 7" descr="Adoptable Rabbits | morabbit">
                <a:extLst>
                  <a:ext uri="{FF2B5EF4-FFF2-40B4-BE49-F238E27FC236}">
                    <a16:creationId xmlns:a16="http://schemas.microsoft.com/office/drawing/2014/main" id="{5A57ADF8-7539-DEF2-8733-6106D758DC9B}"/>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flipH="1">
                <a:off x="5859864" y="2643837"/>
                <a:ext cx="648054" cy="1072230"/>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2" descr="ASPIRIN® Extra Strength 500mg | ASPIRIN® Canada">
                <a:extLst>
                  <a:ext uri="{FF2B5EF4-FFF2-40B4-BE49-F238E27FC236}">
                    <a16:creationId xmlns:a16="http://schemas.microsoft.com/office/drawing/2014/main" id="{063196E8-7CC2-6C77-902C-F6BE6ABE8005}"/>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31161" y="3794994"/>
                <a:ext cx="1272184" cy="1272184"/>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18">
                <a:extLst>
                  <a:ext uri="{FF2B5EF4-FFF2-40B4-BE49-F238E27FC236}">
                    <a16:creationId xmlns:a16="http://schemas.microsoft.com/office/drawing/2014/main" id="{1F39D05B-6722-346A-B6D8-3B8DBC305BA3}"/>
                  </a:ext>
                </a:extLst>
              </p:cNvPr>
              <p:cNvPicPr>
                <a:picLocks noChangeAspect="1"/>
              </p:cNvPicPr>
              <p:nvPr/>
            </p:nvPicPr>
            <p:blipFill>
              <a:blip r:embed="rId11"/>
              <a:stretch>
                <a:fillRect/>
              </a:stretch>
            </p:blipFill>
            <p:spPr>
              <a:xfrm>
                <a:off x="229145" y="5448338"/>
                <a:ext cx="1344634" cy="883295"/>
              </a:xfrm>
              <a:prstGeom prst="rect">
                <a:avLst/>
              </a:prstGeom>
            </p:spPr>
          </p:pic>
          <p:cxnSp>
            <p:nvCxnSpPr>
              <p:cNvPr id="20" name="Straight Connector 19">
                <a:extLst>
                  <a:ext uri="{FF2B5EF4-FFF2-40B4-BE49-F238E27FC236}">
                    <a16:creationId xmlns:a16="http://schemas.microsoft.com/office/drawing/2014/main" id="{3936B1D1-0053-60AC-75BF-6BF6241E3F27}"/>
                  </a:ext>
                </a:extLst>
              </p:cNvPr>
              <p:cNvCxnSpPr>
                <a:cxnSpLocks/>
              </p:cNvCxnSpPr>
              <p:nvPr/>
            </p:nvCxnSpPr>
            <p:spPr>
              <a:xfrm flipH="1">
                <a:off x="229145" y="3712863"/>
                <a:ext cx="11965864" cy="0"/>
              </a:xfrm>
              <a:prstGeom prst="line">
                <a:avLst/>
              </a:prstGeom>
            </p:spPr>
            <p:style>
              <a:lnRef idx="2">
                <a:schemeClr val="accent1"/>
              </a:lnRef>
              <a:fillRef idx="0">
                <a:schemeClr val="accent1"/>
              </a:fillRef>
              <a:effectRef idx="1">
                <a:schemeClr val="accent1"/>
              </a:effectRef>
              <a:fontRef idx="minor">
                <a:schemeClr val="tx1"/>
              </a:fontRef>
            </p:style>
          </p:cxnSp>
          <p:pic>
            <p:nvPicPr>
              <p:cNvPr id="21" name="Picture 10" descr="Download Smile, Emoji, Happy. Royalty-Free Vector Graphic - Pixabay">
                <a:extLst>
                  <a:ext uri="{FF2B5EF4-FFF2-40B4-BE49-F238E27FC236}">
                    <a16:creationId xmlns:a16="http://schemas.microsoft.com/office/drawing/2014/main" id="{CA677DFA-8B2F-7297-0F10-4E2DE145B362}"/>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791225" y="3838278"/>
                <a:ext cx="569070" cy="569070"/>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10" descr="Download Smile, Emoji, Happy. Royalty-Free Vector Graphic - Pixabay">
                <a:extLst>
                  <a:ext uri="{FF2B5EF4-FFF2-40B4-BE49-F238E27FC236}">
                    <a16:creationId xmlns:a16="http://schemas.microsoft.com/office/drawing/2014/main" id="{ED2BD9DA-DAC8-2192-CA85-322DB072A0FD}"/>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9354501" y="3883972"/>
                <a:ext cx="569070" cy="569070"/>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10" descr="Download Smile, Emoji, Happy. Royalty-Free Vector Graphic - Pixabay">
                <a:extLst>
                  <a:ext uri="{FF2B5EF4-FFF2-40B4-BE49-F238E27FC236}">
                    <a16:creationId xmlns:a16="http://schemas.microsoft.com/office/drawing/2014/main" id="{1B38F06E-4678-E66A-D094-2587B6045D28}"/>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1024412" y="5244178"/>
                <a:ext cx="569070" cy="569070"/>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10" descr="Download Smile, Emoji, Happy. Royalty-Free Vector Graphic - Pixabay">
                <a:extLst>
                  <a:ext uri="{FF2B5EF4-FFF2-40B4-BE49-F238E27FC236}">
                    <a16:creationId xmlns:a16="http://schemas.microsoft.com/office/drawing/2014/main" id="{AE06AA43-0C33-04AE-9F0E-2EFD7E4311D3}"/>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982237" y="3842968"/>
                <a:ext cx="569070" cy="569070"/>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10" descr="Download Smile, Emoji, Happy. Royalty-Free Vector Graphic - Pixabay">
                <a:extLst>
                  <a:ext uri="{FF2B5EF4-FFF2-40B4-BE49-F238E27FC236}">
                    <a16:creationId xmlns:a16="http://schemas.microsoft.com/office/drawing/2014/main" id="{1616985C-4A40-9FD8-88D6-BEA29CCAFE12}"/>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327231" y="3849076"/>
                <a:ext cx="569070" cy="569070"/>
              </a:xfrm>
              <a:prstGeom prst="rect">
                <a:avLst/>
              </a:prstGeom>
              <a:noFill/>
              <a:extLst>
                <a:ext uri="{909E8E84-426E-40DD-AFC4-6F175D3DCCD1}">
                  <a14:hiddenFill xmlns:a14="http://schemas.microsoft.com/office/drawing/2010/main">
                    <a:solidFill>
                      <a:srgbClr val="FFFFFF"/>
                    </a:solidFill>
                  </a14:hiddenFill>
                </a:ext>
              </a:extLst>
            </p:spPr>
          </p:pic>
          <p:cxnSp>
            <p:nvCxnSpPr>
              <p:cNvPr id="26" name="Straight Connector 25">
                <a:extLst>
                  <a:ext uri="{FF2B5EF4-FFF2-40B4-BE49-F238E27FC236}">
                    <a16:creationId xmlns:a16="http://schemas.microsoft.com/office/drawing/2014/main" id="{5FB6111E-2867-D710-AFC1-F85A60CB2BE4}"/>
                  </a:ext>
                </a:extLst>
              </p:cNvPr>
              <p:cNvCxnSpPr>
                <a:cxnSpLocks/>
              </p:cNvCxnSpPr>
              <p:nvPr/>
            </p:nvCxnSpPr>
            <p:spPr>
              <a:xfrm flipV="1">
                <a:off x="1777953" y="2205467"/>
                <a:ext cx="0" cy="4640949"/>
              </a:xfrm>
              <a:prstGeom prst="line">
                <a:avLst/>
              </a:prstGeom>
            </p:spPr>
            <p:style>
              <a:lnRef idx="2">
                <a:schemeClr val="accent1"/>
              </a:lnRef>
              <a:fillRef idx="0">
                <a:schemeClr val="accent1"/>
              </a:fillRef>
              <a:effectRef idx="1">
                <a:schemeClr val="accent1"/>
              </a:effectRef>
              <a:fontRef idx="minor">
                <a:schemeClr val="tx1"/>
              </a:fontRef>
            </p:style>
          </p:cxnSp>
          <p:pic>
            <p:nvPicPr>
              <p:cNvPr id="27" name="Picture 26">
                <a:extLst>
                  <a:ext uri="{FF2B5EF4-FFF2-40B4-BE49-F238E27FC236}">
                    <a16:creationId xmlns:a16="http://schemas.microsoft.com/office/drawing/2014/main" id="{6BC7CB2F-5124-76E6-E981-80E56618895E}"/>
                  </a:ext>
                </a:extLst>
              </p:cNvPr>
              <p:cNvPicPr>
                <a:picLocks noChangeAspect="1"/>
              </p:cNvPicPr>
              <p:nvPr/>
            </p:nvPicPr>
            <p:blipFill>
              <a:blip r:embed="rId13"/>
              <a:stretch>
                <a:fillRect/>
              </a:stretch>
            </p:blipFill>
            <p:spPr>
              <a:xfrm>
                <a:off x="2186070" y="4956380"/>
                <a:ext cx="980721" cy="1457828"/>
              </a:xfrm>
              <a:prstGeom prst="rect">
                <a:avLst/>
              </a:prstGeom>
            </p:spPr>
          </p:pic>
          <p:pic>
            <p:nvPicPr>
              <p:cNvPr id="28" name="Picture 27">
                <a:extLst>
                  <a:ext uri="{FF2B5EF4-FFF2-40B4-BE49-F238E27FC236}">
                    <a16:creationId xmlns:a16="http://schemas.microsoft.com/office/drawing/2014/main" id="{E1120ACB-3383-7A87-1B9D-D5A5C1C9CF2E}"/>
                  </a:ext>
                </a:extLst>
              </p:cNvPr>
              <p:cNvPicPr>
                <a:picLocks noChangeAspect="1"/>
              </p:cNvPicPr>
              <p:nvPr/>
            </p:nvPicPr>
            <p:blipFill>
              <a:blip r:embed="rId13"/>
              <a:stretch>
                <a:fillRect/>
              </a:stretch>
            </p:blipFill>
            <p:spPr>
              <a:xfrm>
                <a:off x="3816974" y="4889021"/>
                <a:ext cx="980721" cy="1457828"/>
              </a:xfrm>
              <a:prstGeom prst="rect">
                <a:avLst/>
              </a:prstGeom>
            </p:spPr>
          </p:pic>
          <p:pic>
            <p:nvPicPr>
              <p:cNvPr id="29" name="Picture 28">
                <a:extLst>
                  <a:ext uri="{FF2B5EF4-FFF2-40B4-BE49-F238E27FC236}">
                    <a16:creationId xmlns:a16="http://schemas.microsoft.com/office/drawing/2014/main" id="{2004E1F8-4113-F0F2-01AF-6768B14E2779}"/>
                  </a:ext>
                </a:extLst>
              </p:cNvPr>
              <p:cNvPicPr>
                <a:picLocks noChangeAspect="1"/>
              </p:cNvPicPr>
              <p:nvPr/>
            </p:nvPicPr>
            <p:blipFill>
              <a:blip r:embed="rId13"/>
              <a:stretch>
                <a:fillRect/>
              </a:stretch>
            </p:blipFill>
            <p:spPr>
              <a:xfrm>
                <a:off x="5605639" y="4897421"/>
                <a:ext cx="980721" cy="1457828"/>
              </a:xfrm>
              <a:prstGeom prst="rect">
                <a:avLst/>
              </a:prstGeom>
            </p:spPr>
          </p:pic>
          <p:pic>
            <p:nvPicPr>
              <p:cNvPr id="30" name="Picture 29">
                <a:extLst>
                  <a:ext uri="{FF2B5EF4-FFF2-40B4-BE49-F238E27FC236}">
                    <a16:creationId xmlns:a16="http://schemas.microsoft.com/office/drawing/2014/main" id="{AE80809C-8A4B-CE34-A413-42A4C90417AC}"/>
                  </a:ext>
                </a:extLst>
              </p:cNvPr>
              <p:cNvPicPr>
                <a:picLocks noChangeAspect="1"/>
              </p:cNvPicPr>
              <p:nvPr/>
            </p:nvPicPr>
            <p:blipFill>
              <a:blip r:embed="rId13"/>
              <a:stretch>
                <a:fillRect/>
              </a:stretch>
            </p:blipFill>
            <p:spPr>
              <a:xfrm>
                <a:off x="7449318" y="4872575"/>
                <a:ext cx="980721" cy="1457828"/>
              </a:xfrm>
              <a:prstGeom prst="rect">
                <a:avLst/>
              </a:prstGeom>
            </p:spPr>
          </p:pic>
          <p:pic>
            <p:nvPicPr>
              <p:cNvPr id="31" name="Picture 30">
                <a:extLst>
                  <a:ext uri="{FF2B5EF4-FFF2-40B4-BE49-F238E27FC236}">
                    <a16:creationId xmlns:a16="http://schemas.microsoft.com/office/drawing/2014/main" id="{5C5B6E18-F444-7BBF-6CC9-B5DB12E58FA2}"/>
                  </a:ext>
                </a:extLst>
              </p:cNvPr>
              <p:cNvPicPr>
                <a:picLocks noChangeAspect="1"/>
              </p:cNvPicPr>
              <p:nvPr/>
            </p:nvPicPr>
            <p:blipFill>
              <a:blip r:embed="rId13"/>
              <a:stretch>
                <a:fillRect/>
              </a:stretch>
            </p:blipFill>
            <p:spPr>
              <a:xfrm>
                <a:off x="9189643" y="4798507"/>
                <a:ext cx="980721" cy="1457828"/>
              </a:xfrm>
              <a:prstGeom prst="rect">
                <a:avLst/>
              </a:prstGeom>
            </p:spPr>
          </p:pic>
          <p:pic>
            <p:nvPicPr>
              <p:cNvPr id="32" name="Picture 31">
                <a:extLst>
                  <a:ext uri="{FF2B5EF4-FFF2-40B4-BE49-F238E27FC236}">
                    <a16:creationId xmlns:a16="http://schemas.microsoft.com/office/drawing/2014/main" id="{70A5C9D7-6B39-5962-0912-0F25F757C3FF}"/>
                  </a:ext>
                </a:extLst>
              </p:cNvPr>
              <p:cNvPicPr>
                <a:picLocks noChangeAspect="1"/>
              </p:cNvPicPr>
              <p:nvPr/>
            </p:nvPicPr>
            <p:blipFill>
              <a:blip r:embed="rId13"/>
              <a:stretch>
                <a:fillRect/>
              </a:stretch>
            </p:blipFill>
            <p:spPr>
              <a:xfrm>
                <a:off x="10849929" y="3464381"/>
                <a:ext cx="980721" cy="1457828"/>
              </a:xfrm>
              <a:prstGeom prst="rect">
                <a:avLst/>
              </a:prstGeom>
            </p:spPr>
          </p:pic>
          <p:pic>
            <p:nvPicPr>
              <p:cNvPr id="33" name="Picture 32">
                <a:extLst>
                  <a:ext uri="{FF2B5EF4-FFF2-40B4-BE49-F238E27FC236}">
                    <a16:creationId xmlns:a16="http://schemas.microsoft.com/office/drawing/2014/main" id="{9E6ACF5D-17AB-BED9-A089-7714C703B590}"/>
                  </a:ext>
                </a:extLst>
              </p:cNvPr>
              <p:cNvPicPr>
                <a:picLocks noChangeAspect="1"/>
              </p:cNvPicPr>
              <p:nvPr/>
            </p:nvPicPr>
            <p:blipFill>
              <a:blip r:embed="rId13"/>
              <a:stretch>
                <a:fillRect/>
              </a:stretch>
            </p:blipFill>
            <p:spPr>
              <a:xfrm>
                <a:off x="7402838" y="3439593"/>
                <a:ext cx="980721" cy="1457828"/>
              </a:xfrm>
              <a:prstGeom prst="rect">
                <a:avLst/>
              </a:prstGeom>
            </p:spPr>
          </p:pic>
          <p:cxnSp>
            <p:nvCxnSpPr>
              <p:cNvPr id="34" name="Straight Connector 33">
                <a:extLst>
                  <a:ext uri="{FF2B5EF4-FFF2-40B4-BE49-F238E27FC236}">
                    <a16:creationId xmlns:a16="http://schemas.microsoft.com/office/drawing/2014/main" id="{ED4F8AAE-CD4F-7F77-AB34-FA98E05D3100}"/>
                  </a:ext>
                </a:extLst>
              </p:cNvPr>
              <p:cNvCxnSpPr>
                <a:cxnSpLocks/>
              </p:cNvCxnSpPr>
              <p:nvPr/>
            </p:nvCxnSpPr>
            <p:spPr>
              <a:xfrm flipH="1">
                <a:off x="229145" y="5139752"/>
                <a:ext cx="11965866" cy="0"/>
              </a:xfrm>
              <a:prstGeom prst="line">
                <a:avLst/>
              </a:prstGeom>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C2C3337B-8E49-69E4-0786-8ECD0F59A415}"/>
                      </a:ext>
                    </a:extLst>
                  </p:cNvPr>
                  <p:cNvSpPr txBox="1"/>
                  <p:nvPr/>
                </p:nvSpPr>
                <p:spPr>
                  <a:xfrm>
                    <a:off x="1635963" y="4517860"/>
                    <a:ext cx="1811709" cy="58063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400" b="0" i="1" smtClean="0">
                                  <a:solidFill>
                                    <a:schemeClr val="accent5"/>
                                  </a:solidFill>
                                  <a:latin typeface="Cambria Math" panose="02040503050406030204" pitchFamily="18" charset="0"/>
                                </a:rPr>
                              </m:ctrlPr>
                            </m:sSubPr>
                            <m:e>
                              <m:r>
                                <a:rPr lang="en-US" sz="1400" b="0" i="1" smtClean="0">
                                  <a:solidFill>
                                    <a:schemeClr val="accent5"/>
                                  </a:solidFill>
                                  <a:latin typeface="Cambria Math" panose="02040503050406030204" pitchFamily="18" charset="0"/>
                                </a:rPr>
                                <m:t>𝑌</m:t>
                              </m:r>
                            </m:e>
                            <m:sub>
                              <m:r>
                                <a:rPr lang="en-US" sz="1400" b="0" i="1" smtClean="0">
                                  <a:solidFill>
                                    <a:schemeClr val="accent5"/>
                                  </a:solidFill>
                                  <a:latin typeface="Cambria Math" panose="02040503050406030204" pitchFamily="18" charset="0"/>
                                </a:rPr>
                                <m:t>1</m:t>
                              </m:r>
                            </m:sub>
                          </m:sSub>
                          <m:d>
                            <m:dPr>
                              <m:ctrlPr>
                                <a:rPr lang="en-US" sz="1400" b="0" i="1" smtClean="0">
                                  <a:solidFill>
                                    <a:schemeClr val="accent5"/>
                                  </a:solidFill>
                                  <a:latin typeface="Cambria Math" panose="02040503050406030204" pitchFamily="18" charset="0"/>
                                </a:rPr>
                              </m:ctrlPr>
                            </m:dPr>
                            <m:e>
                              <m:r>
                                <a:rPr lang="en-US" sz="1400" b="0" i="1" smtClean="0">
                                  <a:solidFill>
                                    <a:schemeClr val="accent5"/>
                                  </a:solidFill>
                                  <a:latin typeface="Cambria Math" panose="02040503050406030204" pitchFamily="18" charset="0"/>
                                </a:rPr>
                                <m:t>1</m:t>
                              </m:r>
                            </m:e>
                          </m:d>
                          <m:r>
                            <a:rPr lang="en-US" sz="1400" b="0" i="1" smtClean="0">
                              <a:solidFill>
                                <a:schemeClr val="accent5"/>
                              </a:solidFill>
                              <a:latin typeface="Cambria Math" panose="02040503050406030204" pitchFamily="18" charset="0"/>
                            </a:rPr>
                            <m:t>=1</m:t>
                          </m:r>
                        </m:oMath>
                      </m:oMathPara>
                    </a14:m>
                    <a:endParaRPr lang="en-US" sz="1400" dirty="0">
                      <a:solidFill>
                        <a:schemeClr val="accent5"/>
                      </a:solidFill>
                    </a:endParaRPr>
                  </a:p>
                </p:txBody>
              </p:sp>
            </mc:Choice>
            <mc:Fallback xmlns="">
              <p:sp>
                <p:nvSpPr>
                  <p:cNvPr id="72" name="TextBox 71">
                    <a:extLst>
                      <a:ext uri="{FF2B5EF4-FFF2-40B4-BE49-F238E27FC236}">
                        <a16:creationId xmlns:a16="http://schemas.microsoft.com/office/drawing/2014/main" id="{5DD77458-8779-7119-CCC7-5245605B7152}"/>
                      </a:ext>
                    </a:extLst>
                  </p:cNvPr>
                  <p:cNvSpPr txBox="1">
                    <a:spLocks noRot="1" noChangeAspect="1" noMove="1" noResize="1" noEditPoints="1" noAdjustHandles="1" noChangeArrowheads="1" noChangeShapeType="1" noTextEdit="1"/>
                  </p:cNvSpPr>
                  <p:nvPr/>
                </p:nvSpPr>
                <p:spPr>
                  <a:xfrm>
                    <a:off x="1635963" y="4517860"/>
                    <a:ext cx="1811709" cy="580639"/>
                  </a:xfrm>
                  <a:prstGeom prst="rect">
                    <a:avLst/>
                  </a:prstGeom>
                  <a:blipFill>
                    <a:blip r:embed="rId1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2A3228A3-11B5-4B4A-8F1C-5F3C5719FDC8}"/>
                      </a:ext>
                    </a:extLst>
                  </p:cNvPr>
                  <p:cNvSpPr txBox="1"/>
                  <p:nvPr/>
                </p:nvSpPr>
                <p:spPr>
                  <a:xfrm>
                    <a:off x="3410980" y="4537594"/>
                    <a:ext cx="1819574" cy="58063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400" b="0" i="1" smtClean="0">
                                  <a:solidFill>
                                    <a:schemeClr val="accent5"/>
                                  </a:solidFill>
                                  <a:latin typeface="Cambria Math" panose="02040503050406030204" pitchFamily="18" charset="0"/>
                                </a:rPr>
                              </m:ctrlPr>
                            </m:sSubPr>
                            <m:e>
                              <m:r>
                                <a:rPr lang="en-US" sz="1400" b="0" i="1" smtClean="0">
                                  <a:solidFill>
                                    <a:schemeClr val="accent5"/>
                                  </a:solidFill>
                                  <a:latin typeface="Cambria Math" panose="02040503050406030204" pitchFamily="18" charset="0"/>
                                </a:rPr>
                                <m:t>𝑌</m:t>
                              </m:r>
                            </m:e>
                            <m:sub>
                              <m:r>
                                <a:rPr lang="en-US" sz="1400" b="0" i="1" smtClean="0">
                                  <a:solidFill>
                                    <a:schemeClr val="accent5"/>
                                  </a:solidFill>
                                  <a:latin typeface="Cambria Math" panose="02040503050406030204" pitchFamily="18" charset="0"/>
                                </a:rPr>
                                <m:t>2</m:t>
                              </m:r>
                            </m:sub>
                          </m:sSub>
                          <m:d>
                            <m:dPr>
                              <m:ctrlPr>
                                <a:rPr lang="en-US" sz="1400" b="0" i="1" smtClean="0">
                                  <a:solidFill>
                                    <a:schemeClr val="accent5"/>
                                  </a:solidFill>
                                  <a:latin typeface="Cambria Math" panose="02040503050406030204" pitchFamily="18" charset="0"/>
                                </a:rPr>
                              </m:ctrlPr>
                            </m:dPr>
                            <m:e>
                              <m:r>
                                <a:rPr lang="en-US" sz="1400" b="0" i="1" smtClean="0">
                                  <a:solidFill>
                                    <a:schemeClr val="accent5"/>
                                  </a:solidFill>
                                  <a:latin typeface="Cambria Math" panose="02040503050406030204" pitchFamily="18" charset="0"/>
                                </a:rPr>
                                <m:t>1</m:t>
                              </m:r>
                            </m:e>
                          </m:d>
                          <m:r>
                            <a:rPr lang="en-US" sz="1400" b="0" i="1" smtClean="0">
                              <a:solidFill>
                                <a:schemeClr val="accent5"/>
                              </a:solidFill>
                              <a:latin typeface="Cambria Math" panose="02040503050406030204" pitchFamily="18" charset="0"/>
                            </a:rPr>
                            <m:t>=1</m:t>
                          </m:r>
                        </m:oMath>
                      </m:oMathPara>
                    </a14:m>
                    <a:endParaRPr lang="en-US" sz="1400" dirty="0">
                      <a:solidFill>
                        <a:schemeClr val="accent5"/>
                      </a:solidFill>
                    </a:endParaRPr>
                  </a:p>
                </p:txBody>
              </p:sp>
            </mc:Choice>
            <mc:Fallback xmlns="">
              <p:sp>
                <p:nvSpPr>
                  <p:cNvPr id="73" name="TextBox 72">
                    <a:extLst>
                      <a:ext uri="{FF2B5EF4-FFF2-40B4-BE49-F238E27FC236}">
                        <a16:creationId xmlns:a16="http://schemas.microsoft.com/office/drawing/2014/main" id="{DCD8F351-FF86-0B3C-F2DD-A68C7411647E}"/>
                      </a:ext>
                    </a:extLst>
                  </p:cNvPr>
                  <p:cNvSpPr txBox="1">
                    <a:spLocks noRot="1" noChangeAspect="1" noMove="1" noResize="1" noEditPoints="1" noAdjustHandles="1" noChangeArrowheads="1" noChangeShapeType="1" noTextEdit="1"/>
                  </p:cNvSpPr>
                  <p:nvPr/>
                </p:nvSpPr>
                <p:spPr>
                  <a:xfrm>
                    <a:off x="3410980" y="4537594"/>
                    <a:ext cx="1819574" cy="580639"/>
                  </a:xfrm>
                  <a:prstGeom prst="rect">
                    <a:avLst/>
                  </a:prstGeom>
                  <a:blipFill>
                    <a:blip r:embed="rId1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DB9D863B-F227-0F48-AA33-1D7A1F4807BE}"/>
                      </a:ext>
                    </a:extLst>
                  </p:cNvPr>
                  <p:cNvSpPr txBox="1"/>
                  <p:nvPr/>
                </p:nvSpPr>
                <p:spPr>
                  <a:xfrm>
                    <a:off x="5331566" y="4508186"/>
                    <a:ext cx="1819574" cy="58063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400" b="0" i="1" smtClean="0">
                                  <a:solidFill>
                                    <a:schemeClr val="accent5"/>
                                  </a:solidFill>
                                  <a:latin typeface="Cambria Math" panose="02040503050406030204" pitchFamily="18" charset="0"/>
                                </a:rPr>
                              </m:ctrlPr>
                            </m:sSubPr>
                            <m:e>
                              <m:r>
                                <a:rPr lang="en-US" sz="1400" b="0" i="1" smtClean="0">
                                  <a:solidFill>
                                    <a:schemeClr val="accent5"/>
                                  </a:solidFill>
                                  <a:latin typeface="Cambria Math" panose="02040503050406030204" pitchFamily="18" charset="0"/>
                                </a:rPr>
                                <m:t>𝑌</m:t>
                              </m:r>
                            </m:e>
                            <m:sub>
                              <m:r>
                                <a:rPr lang="en-US" sz="1400" b="0" i="1" smtClean="0">
                                  <a:solidFill>
                                    <a:schemeClr val="accent5"/>
                                  </a:solidFill>
                                  <a:latin typeface="Cambria Math" panose="02040503050406030204" pitchFamily="18" charset="0"/>
                                </a:rPr>
                                <m:t>3</m:t>
                              </m:r>
                            </m:sub>
                          </m:sSub>
                          <m:d>
                            <m:dPr>
                              <m:ctrlPr>
                                <a:rPr lang="en-US" sz="1400" b="0" i="1" smtClean="0">
                                  <a:solidFill>
                                    <a:schemeClr val="accent5"/>
                                  </a:solidFill>
                                  <a:latin typeface="Cambria Math" panose="02040503050406030204" pitchFamily="18" charset="0"/>
                                </a:rPr>
                              </m:ctrlPr>
                            </m:dPr>
                            <m:e>
                              <m:r>
                                <a:rPr lang="en-US" sz="1400" b="0" i="1" smtClean="0">
                                  <a:solidFill>
                                    <a:schemeClr val="accent5"/>
                                  </a:solidFill>
                                  <a:latin typeface="Cambria Math" panose="02040503050406030204" pitchFamily="18" charset="0"/>
                                </a:rPr>
                                <m:t>1</m:t>
                              </m:r>
                            </m:e>
                          </m:d>
                          <m:r>
                            <a:rPr lang="en-US" sz="1400" b="0" i="1" smtClean="0">
                              <a:solidFill>
                                <a:schemeClr val="accent5"/>
                              </a:solidFill>
                              <a:latin typeface="Cambria Math" panose="02040503050406030204" pitchFamily="18" charset="0"/>
                            </a:rPr>
                            <m:t>=1</m:t>
                          </m:r>
                        </m:oMath>
                      </m:oMathPara>
                    </a14:m>
                    <a:endParaRPr lang="en-US" sz="1400" dirty="0">
                      <a:solidFill>
                        <a:schemeClr val="accent5"/>
                      </a:solidFill>
                    </a:endParaRPr>
                  </a:p>
                </p:txBody>
              </p:sp>
            </mc:Choice>
            <mc:Fallback xmlns="">
              <p:sp>
                <p:nvSpPr>
                  <p:cNvPr id="74" name="TextBox 73">
                    <a:extLst>
                      <a:ext uri="{FF2B5EF4-FFF2-40B4-BE49-F238E27FC236}">
                        <a16:creationId xmlns:a16="http://schemas.microsoft.com/office/drawing/2014/main" id="{67E19EB1-2033-DAE7-EA5F-453201903468}"/>
                      </a:ext>
                    </a:extLst>
                  </p:cNvPr>
                  <p:cNvSpPr txBox="1">
                    <a:spLocks noRot="1" noChangeAspect="1" noMove="1" noResize="1" noEditPoints="1" noAdjustHandles="1" noChangeArrowheads="1" noChangeShapeType="1" noTextEdit="1"/>
                  </p:cNvSpPr>
                  <p:nvPr/>
                </p:nvSpPr>
                <p:spPr>
                  <a:xfrm>
                    <a:off x="5331566" y="4508186"/>
                    <a:ext cx="1819574" cy="580639"/>
                  </a:xfrm>
                  <a:prstGeom prst="rect">
                    <a:avLst/>
                  </a:prstGeom>
                  <a:blipFill>
                    <a:blip r:embed="rId1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23A22BE7-CCCE-E61D-367C-686E16BF1CEB}"/>
                      </a:ext>
                    </a:extLst>
                  </p:cNvPr>
                  <p:cNvSpPr txBox="1"/>
                  <p:nvPr/>
                </p:nvSpPr>
                <p:spPr>
                  <a:xfrm>
                    <a:off x="7031501" y="4512872"/>
                    <a:ext cx="1819574" cy="58063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400" b="0" i="1" smtClean="0">
                                  <a:solidFill>
                                    <a:schemeClr val="accent5"/>
                                  </a:solidFill>
                                  <a:latin typeface="Cambria Math" panose="02040503050406030204" pitchFamily="18" charset="0"/>
                                </a:rPr>
                              </m:ctrlPr>
                            </m:sSubPr>
                            <m:e>
                              <m:r>
                                <a:rPr lang="en-US" sz="1400" b="0" i="1" smtClean="0">
                                  <a:solidFill>
                                    <a:schemeClr val="accent5"/>
                                  </a:solidFill>
                                  <a:latin typeface="Cambria Math" panose="02040503050406030204" pitchFamily="18" charset="0"/>
                                </a:rPr>
                                <m:t>𝑌</m:t>
                              </m:r>
                            </m:e>
                            <m:sub>
                              <m:r>
                                <a:rPr lang="en-US" sz="1400" b="0" i="1" smtClean="0">
                                  <a:solidFill>
                                    <a:schemeClr val="accent5"/>
                                  </a:solidFill>
                                  <a:latin typeface="Cambria Math" panose="02040503050406030204" pitchFamily="18" charset="0"/>
                                </a:rPr>
                                <m:t>4</m:t>
                              </m:r>
                            </m:sub>
                          </m:sSub>
                          <m:d>
                            <m:dPr>
                              <m:ctrlPr>
                                <a:rPr lang="en-US" sz="1400" b="0" i="1" smtClean="0">
                                  <a:solidFill>
                                    <a:schemeClr val="accent5"/>
                                  </a:solidFill>
                                  <a:latin typeface="Cambria Math" panose="02040503050406030204" pitchFamily="18" charset="0"/>
                                </a:rPr>
                              </m:ctrlPr>
                            </m:dPr>
                            <m:e>
                              <m:r>
                                <a:rPr lang="en-US" sz="1400" b="0" i="1" smtClean="0">
                                  <a:solidFill>
                                    <a:schemeClr val="accent5"/>
                                  </a:solidFill>
                                  <a:latin typeface="Cambria Math" panose="02040503050406030204" pitchFamily="18" charset="0"/>
                                </a:rPr>
                                <m:t>1</m:t>
                              </m:r>
                            </m:e>
                          </m:d>
                          <m:r>
                            <a:rPr lang="en-US" sz="1400" b="0" i="1" smtClean="0">
                              <a:solidFill>
                                <a:schemeClr val="accent5"/>
                              </a:solidFill>
                              <a:latin typeface="Cambria Math" panose="02040503050406030204" pitchFamily="18" charset="0"/>
                            </a:rPr>
                            <m:t>=0</m:t>
                          </m:r>
                        </m:oMath>
                      </m:oMathPara>
                    </a14:m>
                    <a:endParaRPr lang="en-US" sz="1400" dirty="0">
                      <a:solidFill>
                        <a:schemeClr val="accent5"/>
                      </a:solidFill>
                    </a:endParaRPr>
                  </a:p>
                </p:txBody>
              </p:sp>
            </mc:Choice>
            <mc:Fallback xmlns="">
              <p:sp>
                <p:nvSpPr>
                  <p:cNvPr id="75" name="TextBox 74">
                    <a:extLst>
                      <a:ext uri="{FF2B5EF4-FFF2-40B4-BE49-F238E27FC236}">
                        <a16:creationId xmlns:a16="http://schemas.microsoft.com/office/drawing/2014/main" id="{E1710400-C95C-688D-873A-03F5692B4CD0}"/>
                      </a:ext>
                    </a:extLst>
                  </p:cNvPr>
                  <p:cNvSpPr txBox="1">
                    <a:spLocks noRot="1" noChangeAspect="1" noMove="1" noResize="1" noEditPoints="1" noAdjustHandles="1" noChangeArrowheads="1" noChangeShapeType="1" noTextEdit="1"/>
                  </p:cNvSpPr>
                  <p:nvPr/>
                </p:nvSpPr>
                <p:spPr>
                  <a:xfrm>
                    <a:off x="7031501" y="4512872"/>
                    <a:ext cx="1819574" cy="580639"/>
                  </a:xfrm>
                  <a:prstGeom prst="rect">
                    <a:avLst/>
                  </a:prstGeom>
                  <a:blipFill>
                    <a:blip r:embed="rId1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E2A0B09A-3272-682B-5ADC-4B6634C2704B}"/>
                      </a:ext>
                    </a:extLst>
                  </p:cNvPr>
                  <p:cNvSpPr txBox="1"/>
                  <p:nvPr/>
                </p:nvSpPr>
                <p:spPr>
                  <a:xfrm>
                    <a:off x="8845092" y="4535971"/>
                    <a:ext cx="1819574" cy="58063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400" b="0" i="1" smtClean="0">
                                  <a:solidFill>
                                    <a:schemeClr val="accent5"/>
                                  </a:solidFill>
                                  <a:latin typeface="Cambria Math" panose="02040503050406030204" pitchFamily="18" charset="0"/>
                                </a:rPr>
                              </m:ctrlPr>
                            </m:sSubPr>
                            <m:e>
                              <m:r>
                                <a:rPr lang="en-US" sz="1400" b="0" i="1" smtClean="0">
                                  <a:solidFill>
                                    <a:schemeClr val="accent5"/>
                                  </a:solidFill>
                                  <a:latin typeface="Cambria Math" panose="02040503050406030204" pitchFamily="18" charset="0"/>
                                </a:rPr>
                                <m:t>𝑌</m:t>
                              </m:r>
                            </m:e>
                            <m:sub>
                              <m:r>
                                <a:rPr lang="en-US" sz="1400" b="0" i="1" smtClean="0">
                                  <a:solidFill>
                                    <a:schemeClr val="accent5"/>
                                  </a:solidFill>
                                  <a:latin typeface="Cambria Math" panose="02040503050406030204" pitchFamily="18" charset="0"/>
                                </a:rPr>
                                <m:t>5</m:t>
                              </m:r>
                            </m:sub>
                          </m:sSub>
                          <m:d>
                            <m:dPr>
                              <m:ctrlPr>
                                <a:rPr lang="en-US" sz="1400" b="0" i="1" smtClean="0">
                                  <a:solidFill>
                                    <a:schemeClr val="accent5"/>
                                  </a:solidFill>
                                  <a:latin typeface="Cambria Math" panose="02040503050406030204" pitchFamily="18" charset="0"/>
                                </a:rPr>
                              </m:ctrlPr>
                            </m:dPr>
                            <m:e>
                              <m:r>
                                <a:rPr lang="en-US" sz="1400" b="0" i="1" smtClean="0">
                                  <a:solidFill>
                                    <a:schemeClr val="accent5"/>
                                  </a:solidFill>
                                  <a:latin typeface="Cambria Math" panose="02040503050406030204" pitchFamily="18" charset="0"/>
                                </a:rPr>
                                <m:t>1</m:t>
                              </m:r>
                            </m:e>
                          </m:d>
                          <m:r>
                            <a:rPr lang="en-US" sz="1400" b="0" i="1" smtClean="0">
                              <a:solidFill>
                                <a:schemeClr val="accent5"/>
                              </a:solidFill>
                              <a:latin typeface="Cambria Math" panose="02040503050406030204" pitchFamily="18" charset="0"/>
                            </a:rPr>
                            <m:t>=1</m:t>
                          </m:r>
                        </m:oMath>
                      </m:oMathPara>
                    </a14:m>
                    <a:endParaRPr lang="en-US" sz="1400" dirty="0">
                      <a:solidFill>
                        <a:schemeClr val="accent5"/>
                      </a:solidFill>
                    </a:endParaRPr>
                  </a:p>
                </p:txBody>
              </p:sp>
            </mc:Choice>
            <mc:Fallback xmlns="">
              <p:sp>
                <p:nvSpPr>
                  <p:cNvPr id="76" name="TextBox 75">
                    <a:extLst>
                      <a:ext uri="{FF2B5EF4-FFF2-40B4-BE49-F238E27FC236}">
                        <a16:creationId xmlns:a16="http://schemas.microsoft.com/office/drawing/2014/main" id="{645FC777-FAB7-6959-1311-F3EE7051036E}"/>
                      </a:ext>
                    </a:extLst>
                  </p:cNvPr>
                  <p:cNvSpPr txBox="1">
                    <a:spLocks noRot="1" noChangeAspect="1" noMove="1" noResize="1" noEditPoints="1" noAdjustHandles="1" noChangeArrowheads="1" noChangeShapeType="1" noTextEdit="1"/>
                  </p:cNvSpPr>
                  <p:nvPr/>
                </p:nvSpPr>
                <p:spPr>
                  <a:xfrm>
                    <a:off x="8845092" y="4535971"/>
                    <a:ext cx="1819574" cy="580639"/>
                  </a:xfrm>
                  <a:prstGeom prst="rect">
                    <a:avLst/>
                  </a:prstGeom>
                  <a:blipFill>
                    <a:blip r:embed="rId1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31C04BC1-B5BC-5F28-CDE9-316FF3FB73F2}"/>
                      </a:ext>
                    </a:extLst>
                  </p:cNvPr>
                  <p:cNvSpPr txBox="1"/>
                  <p:nvPr/>
                </p:nvSpPr>
                <p:spPr>
                  <a:xfrm>
                    <a:off x="10399579" y="4524946"/>
                    <a:ext cx="1819574" cy="58063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400" b="0" i="1" smtClean="0">
                                  <a:solidFill>
                                    <a:schemeClr val="accent5"/>
                                  </a:solidFill>
                                  <a:latin typeface="Cambria Math" panose="02040503050406030204" pitchFamily="18" charset="0"/>
                                </a:rPr>
                              </m:ctrlPr>
                            </m:sSubPr>
                            <m:e>
                              <m:r>
                                <a:rPr lang="en-US" sz="1400" b="0" i="1" smtClean="0">
                                  <a:solidFill>
                                    <a:schemeClr val="accent5"/>
                                  </a:solidFill>
                                  <a:latin typeface="Cambria Math" panose="02040503050406030204" pitchFamily="18" charset="0"/>
                                </a:rPr>
                                <m:t>𝑌</m:t>
                              </m:r>
                            </m:e>
                            <m:sub>
                              <m:r>
                                <a:rPr lang="en-US" sz="1400" b="0" i="1" smtClean="0">
                                  <a:solidFill>
                                    <a:schemeClr val="accent5"/>
                                  </a:solidFill>
                                  <a:latin typeface="Cambria Math" panose="02040503050406030204" pitchFamily="18" charset="0"/>
                                </a:rPr>
                                <m:t>6</m:t>
                              </m:r>
                            </m:sub>
                          </m:sSub>
                          <m:d>
                            <m:dPr>
                              <m:ctrlPr>
                                <a:rPr lang="en-US" sz="1400" b="0" i="1" smtClean="0">
                                  <a:solidFill>
                                    <a:schemeClr val="accent5"/>
                                  </a:solidFill>
                                  <a:latin typeface="Cambria Math" panose="02040503050406030204" pitchFamily="18" charset="0"/>
                                </a:rPr>
                              </m:ctrlPr>
                            </m:dPr>
                            <m:e>
                              <m:r>
                                <a:rPr lang="en-US" sz="1400" b="0" i="1" smtClean="0">
                                  <a:solidFill>
                                    <a:schemeClr val="accent5"/>
                                  </a:solidFill>
                                  <a:latin typeface="Cambria Math" panose="02040503050406030204" pitchFamily="18" charset="0"/>
                                </a:rPr>
                                <m:t>1</m:t>
                              </m:r>
                            </m:e>
                          </m:d>
                          <m:r>
                            <a:rPr lang="en-US" sz="1400" b="0" i="1" smtClean="0">
                              <a:solidFill>
                                <a:schemeClr val="accent5"/>
                              </a:solidFill>
                              <a:latin typeface="Cambria Math" panose="02040503050406030204" pitchFamily="18" charset="0"/>
                            </a:rPr>
                            <m:t>=0</m:t>
                          </m:r>
                        </m:oMath>
                      </m:oMathPara>
                    </a14:m>
                    <a:endParaRPr lang="en-US" sz="1400" dirty="0">
                      <a:solidFill>
                        <a:schemeClr val="accent5"/>
                      </a:solidFill>
                    </a:endParaRPr>
                  </a:p>
                </p:txBody>
              </p:sp>
            </mc:Choice>
            <mc:Fallback xmlns="">
              <p:sp>
                <p:nvSpPr>
                  <p:cNvPr id="77" name="TextBox 76">
                    <a:extLst>
                      <a:ext uri="{FF2B5EF4-FFF2-40B4-BE49-F238E27FC236}">
                        <a16:creationId xmlns:a16="http://schemas.microsoft.com/office/drawing/2014/main" id="{03BE1CC0-A16F-F581-C626-FCD3D6C45D25}"/>
                      </a:ext>
                    </a:extLst>
                  </p:cNvPr>
                  <p:cNvSpPr txBox="1">
                    <a:spLocks noRot="1" noChangeAspect="1" noMove="1" noResize="1" noEditPoints="1" noAdjustHandles="1" noChangeArrowheads="1" noChangeShapeType="1" noTextEdit="1"/>
                  </p:cNvSpPr>
                  <p:nvPr/>
                </p:nvSpPr>
                <p:spPr>
                  <a:xfrm>
                    <a:off x="10399579" y="4524946"/>
                    <a:ext cx="1819574" cy="580639"/>
                  </a:xfrm>
                  <a:prstGeom prst="rect">
                    <a:avLst/>
                  </a:prstGeom>
                  <a:blipFill>
                    <a:blip r:embed="rId1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1448F98C-5D24-A465-705D-0A83FF8FC701}"/>
                      </a:ext>
                    </a:extLst>
                  </p:cNvPr>
                  <p:cNvSpPr txBox="1"/>
                  <p:nvPr/>
                </p:nvSpPr>
                <p:spPr>
                  <a:xfrm>
                    <a:off x="1635963" y="5972952"/>
                    <a:ext cx="1811709" cy="58063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400" b="0" i="1" smtClean="0">
                                  <a:solidFill>
                                    <a:schemeClr val="accent5"/>
                                  </a:solidFill>
                                  <a:latin typeface="Cambria Math" panose="02040503050406030204" pitchFamily="18" charset="0"/>
                                </a:rPr>
                              </m:ctrlPr>
                            </m:sSubPr>
                            <m:e>
                              <m:r>
                                <a:rPr lang="en-US" sz="1400" b="0" i="1" smtClean="0">
                                  <a:solidFill>
                                    <a:schemeClr val="accent5"/>
                                  </a:solidFill>
                                  <a:latin typeface="Cambria Math" panose="02040503050406030204" pitchFamily="18" charset="0"/>
                                </a:rPr>
                                <m:t>𝑌</m:t>
                              </m:r>
                            </m:e>
                            <m:sub>
                              <m:r>
                                <a:rPr lang="en-US" sz="1400" b="0" i="1" smtClean="0">
                                  <a:solidFill>
                                    <a:schemeClr val="accent5"/>
                                  </a:solidFill>
                                  <a:latin typeface="Cambria Math" panose="02040503050406030204" pitchFamily="18" charset="0"/>
                                </a:rPr>
                                <m:t>1</m:t>
                              </m:r>
                            </m:sub>
                          </m:sSub>
                          <m:d>
                            <m:dPr>
                              <m:ctrlPr>
                                <a:rPr lang="en-US" sz="1400" b="0" i="1" smtClean="0">
                                  <a:solidFill>
                                    <a:schemeClr val="accent5"/>
                                  </a:solidFill>
                                  <a:latin typeface="Cambria Math" panose="02040503050406030204" pitchFamily="18" charset="0"/>
                                </a:rPr>
                              </m:ctrlPr>
                            </m:dPr>
                            <m:e>
                              <m:r>
                                <a:rPr lang="en-US" sz="1400" b="0" i="1" smtClean="0">
                                  <a:solidFill>
                                    <a:schemeClr val="accent5"/>
                                  </a:solidFill>
                                  <a:latin typeface="Cambria Math" panose="02040503050406030204" pitchFamily="18" charset="0"/>
                                </a:rPr>
                                <m:t>0</m:t>
                              </m:r>
                            </m:e>
                          </m:d>
                          <m:r>
                            <a:rPr lang="en-US" sz="1400" b="0" i="1" smtClean="0">
                              <a:solidFill>
                                <a:schemeClr val="accent5"/>
                              </a:solidFill>
                              <a:latin typeface="Cambria Math" panose="02040503050406030204" pitchFamily="18" charset="0"/>
                            </a:rPr>
                            <m:t>=0</m:t>
                          </m:r>
                        </m:oMath>
                      </m:oMathPara>
                    </a14:m>
                    <a:endParaRPr lang="en-US" sz="1400" dirty="0">
                      <a:solidFill>
                        <a:schemeClr val="accent5"/>
                      </a:solidFill>
                    </a:endParaRPr>
                  </a:p>
                </p:txBody>
              </p:sp>
            </mc:Choice>
            <mc:Fallback xmlns="">
              <p:sp>
                <p:nvSpPr>
                  <p:cNvPr id="78" name="TextBox 77">
                    <a:extLst>
                      <a:ext uri="{FF2B5EF4-FFF2-40B4-BE49-F238E27FC236}">
                        <a16:creationId xmlns:a16="http://schemas.microsoft.com/office/drawing/2014/main" id="{B906B93E-ECDD-43B2-CA30-F3EE5815338A}"/>
                      </a:ext>
                    </a:extLst>
                  </p:cNvPr>
                  <p:cNvSpPr txBox="1">
                    <a:spLocks noRot="1" noChangeAspect="1" noMove="1" noResize="1" noEditPoints="1" noAdjustHandles="1" noChangeArrowheads="1" noChangeShapeType="1" noTextEdit="1"/>
                  </p:cNvSpPr>
                  <p:nvPr/>
                </p:nvSpPr>
                <p:spPr>
                  <a:xfrm>
                    <a:off x="1635963" y="5972952"/>
                    <a:ext cx="1811709" cy="580639"/>
                  </a:xfrm>
                  <a:prstGeom prst="rect">
                    <a:avLst/>
                  </a:prstGeom>
                  <a:blipFill>
                    <a:blip r:embed="rId2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C23734F6-1C0D-66EA-626F-C9B3C5D0D537}"/>
                      </a:ext>
                    </a:extLst>
                  </p:cNvPr>
                  <p:cNvSpPr txBox="1"/>
                  <p:nvPr/>
                </p:nvSpPr>
                <p:spPr>
                  <a:xfrm>
                    <a:off x="3357083" y="5972952"/>
                    <a:ext cx="1819574" cy="58063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400" b="0" i="1" smtClean="0">
                                  <a:solidFill>
                                    <a:schemeClr val="accent5"/>
                                  </a:solidFill>
                                  <a:latin typeface="Cambria Math" panose="02040503050406030204" pitchFamily="18" charset="0"/>
                                </a:rPr>
                              </m:ctrlPr>
                            </m:sSubPr>
                            <m:e>
                              <m:r>
                                <a:rPr lang="en-US" sz="1400" b="0" i="1" smtClean="0">
                                  <a:solidFill>
                                    <a:schemeClr val="accent5"/>
                                  </a:solidFill>
                                  <a:latin typeface="Cambria Math" panose="02040503050406030204" pitchFamily="18" charset="0"/>
                                </a:rPr>
                                <m:t>𝑌</m:t>
                              </m:r>
                            </m:e>
                            <m:sub>
                              <m:r>
                                <a:rPr lang="en-US" sz="1400" b="0" i="1" smtClean="0">
                                  <a:solidFill>
                                    <a:schemeClr val="accent5"/>
                                  </a:solidFill>
                                  <a:latin typeface="Cambria Math" panose="02040503050406030204" pitchFamily="18" charset="0"/>
                                </a:rPr>
                                <m:t>2</m:t>
                              </m:r>
                            </m:sub>
                          </m:sSub>
                          <m:d>
                            <m:dPr>
                              <m:ctrlPr>
                                <a:rPr lang="en-US" sz="1400" b="0" i="1" smtClean="0">
                                  <a:solidFill>
                                    <a:schemeClr val="accent5"/>
                                  </a:solidFill>
                                  <a:latin typeface="Cambria Math" panose="02040503050406030204" pitchFamily="18" charset="0"/>
                                </a:rPr>
                              </m:ctrlPr>
                            </m:dPr>
                            <m:e>
                              <m:r>
                                <a:rPr lang="en-US" sz="1400" b="0" i="1" smtClean="0">
                                  <a:solidFill>
                                    <a:schemeClr val="accent5"/>
                                  </a:solidFill>
                                  <a:latin typeface="Cambria Math" panose="02040503050406030204" pitchFamily="18" charset="0"/>
                                </a:rPr>
                                <m:t>0</m:t>
                              </m:r>
                            </m:e>
                          </m:d>
                          <m:r>
                            <a:rPr lang="en-US" sz="1400" b="0" i="1" smtClean="0">
                              <a:solidFill>
                                <a:schemeClr val="accent5"/>
                              </a:solidFill>
                              <a:latin typeface="Cambria Math" panose="02040503050406030204" pitchFamily="18" charset="0"/>
                            </a:rPr>
                            <m:t>=0</m:t>
                          </m:r>
                        </m:oMath>
                      </m:oMathPara>
                    </a14:m>
                    <a:endParaRPr lang="en-US" sz="1400" dirty="0">
                      <a:solidFill>
                        <a:schemeClr val="accent5"/>
                      </a:solidFill>
                    </a:endParaRPr>
                  </a:p>
                </p:txBody>
              </p:sp>
            </mc:Choice>
            <mc:Fallback xmlns="">
              <p:sp>
                <p:nvSpPr>
                  <p:cNvPr id="79" name="TextBox 78">
                    <a:extLst>
                      <a:ext uri="{FF2B5EF4-FFF2-40B4-BE49-F238E27FC236}">
                        <a16:creationId xmlns:a16="http://schemas.microsoft.com/office/drawing/2014/main" id="{B41C38CB-164B-301D-CB3F-053010E79A01}"/>
                      </a:ext>
                    </a:extLst>
                  </p:cNvPr>
                  <p:cNvSpPr txBox="1">
                    <a:spLocks noRot="1" noChangeAspect="1" noMove="1" noResize="1" noEditPoints="1" noAdjustHandles="1" noChangeArrowheads="1" noChangeShapeType="1" noTextEdit="1"/>
                  </p:cNvSpPr>
                  <p:nvPr/>
                </p:nvSpPr>
                <p:spPr>
                  <a:xfrm>
                    <a:off x="3357083" y="5972952"/>
                    <a:ext cx="1819574" cy="580639"/>
                  </a:xfrm>
                  <a:prstGeom prst="rect">
                    <a:avLst/>
                  </a:prstGeom>
                  <a:blipFill>
                    <a:blip r:embed="rId2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52752560-3E8D-E58E-059C-B30E2E0A8CA6}"/>
                      </a:ext>
                    </a:extLst>
                  </p:cNvPr>
                  <p:cNvSpPr txBox="1"/>
                  <p:nvPr/>
                </p:nvSpPr>
                <p:spPr>
                  <a:xfrm>
                    <a:off x="5216181" y="5972952"/>
                    <a:ext cx="1819574" cy="58063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400" b="0" i="1" smtClean="0">
                                  <a:solidFill>
                                    <a:schemeClr val="accent5"/>
                                  </a:solidFill>
                                  <a:latin typeface="Cambria Math" panose="02040503050406030204" pitchFamily="18" charset="0"/>
                                </a:rPr>
                              </m:ctrlPr>
                            </m:sSubPr>
                            <m:e>
                              <m:r>
                                <a:rPr lang="en-US" sz="1400" b="0" i="1" smtClean="0">
                                  <a:solidFill>
                                    <a:schemeClr val="accent5"/>
                                  </a:solidFill>
                                  <a:latin typeface="Cambria Math" panose="02040503050406030204" pitchFamily="18" charset="0"/>
                                </a:rPr>
                                <m:t>𝑌</m:t>
                              </m:r>
                            </m:e>
                            <m:sub>
                              <m:r>
                                <a:rPr lang="en-US" sz="1400" b="0" i="1" smtClean="0">
                                  <a:solidFill>
                                    <a:schemeClr val="accent5"/>
                                  </a:solidFill>
                                  <a:latin typeface="Cambria Math" panose="02040503050406030204" pitchFamily="18" charset="0"/>
                                </a:rPr>
                                <m:t>3</m:t>
                              </m:r>
                            </m:sub>
                          </m:sSub>
                          <m:d>
                            <m:dPr>
                              <m:ctrlPr>
                                <a:rPr lang="en-US" sz="1400" b="0" i="1" smtClean="0">
                                  <a:solidFill>
                                    <a:schemeClr val="accent5"/>
                                  </a:solidFill>
                                  <a:latin typeface="Cambria Math" panose="02040503050406030204" pitchFamily="18" charset="0"/>
                                </a:rPr>
                              </m:ctrlPr>
                            </m:dPr>
                            <m:e>
                              <m:r>
                                <a:rPr lang="en-US" sz="1400" b="0" i="1" smtClean="0">
                                  <a:solidFill>
                                    <a:schemeClr val="accent5"/>
                                  </a:solidFill>
                                  <a:latin typeface="Cambria Math" panose="02040503050406030204" pitchFamily="18" charset="0"/>
                                </a:rPr>
                                <m:t>0</m:t>
                              </m:r>
                            </m:e>
                          </m:d>
                          <m:r>
                            <a:rPr lang="en-US" sz="1400" b="0" i="1" smtClean="0">
                              <a:solidFill>
                                <a:schemeClr val="accent5"/>
                              </a:solidFill>
                              <a:latin typeface="Cambria Math" panose="02040503050406030204" pitchFamily="18" charset="0"/>
                            </a:rPr>
                            <m:t>=0</m:t>
                          </m:r>
                        </m:oMath>
                      </m:oMathPara>
                    </a14:m>
                    <a:endParaRPr lang="en-US" sz="1400" dirty="0">
                      <a:solidFill>
                        <a:schemeClr val="accent5"/>
                      </a:solidFill>
                    </a:endParaRPr>
                  </a:p>
                </p:txBody>
              </p:sp>
            </mc:Choice>
            <mc:Fallback xmlns="">
              <p:sp>
                <p:nvSpPr>
                  <p:cNvPr id="80" name="TextBox 79">
                    <a:extLst>
                      <a:ext uri="{FF2B5EF4-FFF2-40B4-BE49-F238E27FC236}">
                        <a16:creationId xmlns:a16="http://schemas.microsoft.com/office/drawing/2014/main" id="{F0AA6090-0B13-2ABE-775F-74B87133F36A}"/>
                      </a:ext>
                    </a:extLst>
                  </p:cNvPr>
                  <p:cNvSpPr txBox="1">
                    <a:spLocks noRot="1" noChangeAspect="1" noMove="1" noResize="1" noEditPoints="1" noAdjustHandles="1" noChangeArrowheads="1" noChangeShapeType="1" noTextEdit="1"/>
                  </p:cNvSpPr>
                  <p:nvPr/>
                </p:nvSpPr>
                <p:spPr>
                  <a:xfrm>
                    <a:off x="5216181" y="5972952"/>
                    <a:ext cx="1819574" cy="580639"/>
                  </a:xfrm>
                  <a:prstGeom prst="rect">
                    <a:avLst/>
                  </a:prstGeom>
                  <a:blipFill>
                    <a:blip r:embed="rId2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07754B8A-17A9-3D6C-118C-56A2C3DBD2A6}"/>
                      </a:ext>
                    </a:extLst>
                  </p:cNvPr>
                  <p:cNvSpPr txBox="1"/>
                  <p:nvPr/>
                </p:nvSpPr>
                <p:spPr>
                  <a:xfrm>
                    <a:off x="7019155" y="5966015"/>
                    <a:ext cx="1819574" cy="58063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400" b="0" i="1" smtClean="0">
                                  <a:solidFill>
                                    <a:schemeClr val="accent5"/>
                                  </a:solidFill>
                                  <a:latin typeface="Cambria Math" panose="02040503050406030204" pitchFamily="18" charset="0"/>
                                </a:rPr>
                              </m:ctrlPr>
                            </m:sSubPr>
                            <m:e>
                              <m:r>
                                <a:rPr lang="en-US" sz="1400" b="0" i="1" smtClean="0">
                                  <a:solidFill>
                                    <a:schemeClr val="accent5"/>
                                  </a:solidFill>
                                  <a:latin typeface="Cambria Math" panose="02040503050406030204" pitchFamily="18" charset="0"/>
                                </a:rPr>
                                <m:t>𝑌</m:t>
                              </m:r>
                            </m:e>
                            <m:sub>
                              <m:r>
                                <a:rPr lang="en-US" sz="1400" b="0" i="1" smtClean="0">
                                  <a:solidFill>
                                    <a:schemeClr val="accent5"/>
                                  </a:solidFill>
                                  <a:latin typeface="Cambria Math" panose="02040503050406030204" pitchFamily="18" charset="0"/>
                                </a:rPr>
                                <m:t>4</m:t>
                              </m:r>
                            </m:sub>
                          </m:sSub>
                          <m:d>
                            <m:dPr>
                              <m:ctrlPr>
                                <a:rPr lang="en-US" sz="1400" b="0" i="1" smtClean="0">
                                  <a:solidFill>
                                    <a:schemeClr val="accent5"/>
                                  </a:solidFill>
                                  <a:latin typeface="Cambria Math" panose="02040503050406030204" pitchFamily="18" charset="0"/>
                                </a:rPr>
                              </m:ctrlPr>
                            </m:dPr>
                            <m:e>
                              <m:r>
                                <a:rPr lang="en-US" sz="1400" b="0" i="1" smtClean="0">
                                  <a:solidFill>
                                    <a:schemeClr val="accent5"/>
                                  </a:solidFill>
                                  <a:latin typeface="Cambria Math" panose="02040503050406030204" pitchFamily="18" charset="0"/>
                                </a:rPr>
                                <m:t>0</m:t>
                              </m:r>
                            </m:e>
                          </m:d>
                          <m:r>
                            <a:rPr lang="en-US" sz="1400" b="0" i="1" smtClean="0">
                              <a:solidFill>
                                <a:schemeClr val="accent5"/>
                              </a:solidFill>
                              <a:latin typeface="Cambria Math" panose="02040503050406030204" pitchFamily="18" charset="0"/>
                            </a:rPr>
                            <m:t>=0</m:t>
                          </m:r>
                        </m:oMath>
                      </m:oMathPara>
                    </a14:m>
                    <a:endParaRPr lang="en-US" sz="1400" dirty="0">
                      <a:solidFill>
                        <a:schemeClr val="accent5"/>
                      </a:solidFill>
                    </a:endParaRPr>
                  </a:p>
                </p:txBody>
              </p:sp>
            </mc:Choice>
            <mc:Fallback xmlns="">
              <p:sp>
                <p:nvSpPr>
                  <p:cNvPr id="81" name="TextBox 80">
                    <a:extLst>
                      <a:ext uri="{FF2B5EF4-FFF2-40B4-BE49-F238E27FC236}">
                        <a16:creationId xmlns:a16="http://schemas.microsoft.com/office/drawing/2014/main" id="{6299C522-9A07-8C39-2AE4-0E37C6071E95}"/>
                      </a:ext>
                    </a:extLst>
                  </p:cNvPr>
                  <p:cNvSpPr txBox="1">
                    <a:spLocks noRot="1" noChangeAspect="1" noMove="1" noResize="1" noEditPoints="1" noAdjustHandles="1" noChangeArrowheads="1" noChangeShapeType="1" noTextEdit="1"/>
                  </p:cNvSpPr>
                  <p:nvPr/>
                </p:nvSpPr>
                <p:spPr>
                  <a:xfrm>
                    <a:off x="7019155" y="5966015"/>
                    <a:ext cx="1819574" cy="580639"/>
                  </a:xfrm>
                  <a:prstGeom prst="rect">
                    <a:avLst/>
                  </a:prstGeom>
                  <a:blipFill>
                    <a:blip r:embed="rId2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042E5F37-6A72-B95F-FE68-6DC78375D1D8}"/>
                      </a:ext>
                    </a:extLst>
                  </p:cNvPr>
                  <p:cNvSpPr txBox="1"/>
                  <p:nvPr/>
                </p:nvSpPr>
                <p:spPr>
                  <a:xfrm>
                    <a:off x="8691410" y="5966015"/>
                    <a:ext cx="1819574" cy="58063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400" b="0" i="1" smtClean="0">
                                  <a:solidFill>
                                    <a:schemeClr val="accent5"/>
                                  </a:solidFill>
                                  <a:latin typeface="Cambria Math" panose="02040503050406030204" pitchFamily="18" charset="0"/>
                                </a:rPr>
                              </m:ctrlPr>
                            </m:sSubPr>
                            <m:e>
                              <m:r>
                                <a:rPr lang="en-US" sz="1400" b="0" i="1" smtClean="0">
                                  <a:solidFill>
                                    <a:schemeClr val="accent5"/>
                                  </a:solidFill>
                                  <a:latin typeface="Cambria Math" panose="02040503050406030204" pitchFamily="18" charset="0"/>
                                </a:rPr>
                                <m:t>𝑌</m:t>
                              </m:r>
                            </m:e>
                            <m:sub>
                              <m:r>
                                <a:rPr lang="en-US" sz="1400" b="0" i="1" smtClean="0">
                                  <a:solidFill>
                                    <a:schemeClr val="accent5"/>
                                  </a:solidFill>
                                  <a:latin typeface="Cambria Math" panose="02040503050406030204" pitchFamily="18" charset="0"/>
                                </a:rPr>
                                <m:t>5</m:t>
                              </m:r>
                            </m:sub>
                          </m:sSub>
                          <m:d>
                            <m:dPr>
                              <m:ctrlPr>
                                <a:rPr lang="en-US" sz="1400" b="0" i="1" smtClean="0">
                                  <a:solidFill>
                                    <a:schemeClr val="accent5"/>
                                  </a:solidFill>
                                  <a:latin typeface="Cambria Math" panose="02040503050406030204" pitchFamily="18" charset="0"/>
                                </a:rPr>
                              </m:ctrlPr>
                            </m:dPr>
                            <m:e>
                              <m:r>
                                <a:rPr lang="en-US" sz="1400" b="0" i="1" smtClean="0">
                                  <a:solidFill>
                                    <a:schemeClr val="accent5"/>
                                  </a:solidFill>
                                  <a:latin typeface="Cambria Math" panose="02040503050406030204" pitchFamily="18" charset="0"/>
                                </a:rPr>
                                <m:t>0</m:t>
                              </m:r>
                            </m:e>
                          </m:d>
                          <m:r>
                            <a:rPr lang="en-US" sz="1400" b="0" i="1" smtClean="0">
                              <a:solidFill>
                                <a:schemeClr val="accent5"/>
                              </a:solidFill>
                              <a:latin typeface="Cambria Math" panose="02040503050406030204" pitchFamily="18" charset="0"/>
                            </a:rPr>
                            <m:t>=0</m:t>
                          </m:r>
                        </m:oMath>
                      </m:oMathPara>
                    </a14:m>
                    <a:endParaRPr lang="en-US" sz="1400" dirty="0">
                      <a:solidFill>
                        <a:schemeClr val="accent5"/>
                      </a:solidFill>
                    </a:endParaRPr>
                  </a:p>
                </p:txBody>
              </p:sp>
            </mc:Choice>
            <mc:Fallback xmlns="">
              <p:sp>
                <p:nvSpPr>
                  <p:cNvPr id="82" name="TextBox 81">
                    <a:extLst>
                      <a:ext uri="{FF2B5EF4-FFF2-40B4-BE49-F238E27FC236}">
                        <a16:creationId xmlns:a16="http://schemas.microsoft.com/office/drawing/2014/main" id="{4C03B411-94A3-B6AC-2FDF-4C325F6028D0}"/>
                      </a:ext>
                    </a:extLst>
                  </p:cNvPr>
                  <p:cNvSpPr txBox="1">
                    <a:spLocks noRot="1" noChangeAspect="1" noMove="1" noResize="1" noEditPoints="1" noAdjustHandles="1" noChangeArrowheads="1" noChangeShapeType="1" noTextEdit="1"/>
                  </p:cNvSpPr>
                  <p:nvPr/>
                </p:nvSpPr>
                <p:spPr>
                  <a:xfrm>
                    <a:off x="8691410" y="5966015"/>
                    <a:ext cx="1819574" cy="580639"/>
                  </a:xfrm>
                  <a:prstGeom prst="rect">
                    <a:avLst/>
                  </a:prstGeom>
                  <a:blipFill>
                    <a:blip r:embed="rId2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7E85EEC8-005C-266A-1B64-45346022F1E7}"/>
                      </a:ext>
                    </a:extLst>
                  </p:cNvPr>
                  <p:cNvSpPr txBox="1"/>
                  <p:nvPr/>
                </p:nvSpPr>
                <p:spPr>
                  <a:xfrm>
                    <a:off x="10391061" y="5872530"/>
                    <a:ext cx="1819574" cy="58063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400" b="0" i="1" smtClean="0">
                                  <a:solidFill>
                                    <a:schemeClr val="accent5"/>
                                  </a:solidFill>
                                  <a:latin typeface="Cambria Math" panose="02040503050406030204" pitchFamily="18" charset="0"/>
                                </a:rPr>
                              </m:ctrlPr>
                            </m:sSubPr>
                            <m:e>
                              <m:r>
                                <a:rPr lang="en-US" sz="1400" b="0" i="1" smtClean="0">
                                  <a:solidFill>
                                    <a:schemeClr val="accent5"/>
                                  </a:solidFill>
                                  <a:latin typeface="Cambria Math" panose="02040503050406030204" pitchFamily="18" charset="0"/>
                                </a:rPr>
                                <m:t>𝑌</m:t>
                              </m:r>
                            </m:e>
                            <m:sub>
                              <m:r>
                                <a:rPr lang="en-US" sz="1400" b="0" i="1" smtClean="0">
                                  <a:solidFill>
                                    <a:schemeClr val="accent5"/>
                                  </a:solidFill>
                                  <a:latin typeface="Cambria Math" panose="02040503050406030204" pitchFamily="18" charset="0"/>
                                </a:rPr>
                                <m:t>6</m:t>
                              </m:r>
                            </m:sub>
                          </m:sSub>
                          <m:d>
                            <m:dPr>
                              <m:ctrlPr>
                                <a:rPr lang="en-US" sz="1400" b="0" i="1" smtClean="0">
                                  <a:solidFill>
                                    <a:schemeClr val="accent5"/>
                                  </a:solidFill>
                                  <a:latin typeface="Cambria Math" panose="02040503050406030204" pitchFamily="18" charset="0"/>
                                </a:rPr>
                              </m:ctrlPr>
                            </m:dPr>
                            <m:e>
                              <m:r>
                                <a:rPr lang="en-US" sz="1400" b="0" i="1" smtClean="0">
                                  <a:solidFill>
                                    <a:schemeClr val="accent5"/>
                                  </a:solidFill>
                                  <a:latin typeface="Cambria Math" panose="02040503050406030204" pitchFamily="18" charset="0"/>
                                </a:rPr>
                                <m:t>0</m:t>
                              </m:r>
                            </m:e>
                          </m:d>
                          <m:r>
                            <a:rPr lang="en-US" sz="1400" b="0" i="1" smtClean="0">
                              <a:solidFill>
                                <a:schemeClr val="accent5"/>
                              </a:solidFill>
                              <a:latin typeface="Cambria Math" panose="02040503050406030204" pitchFamily="18" charset="0"/>
                            </a:rPr>
                            <m:t>=1</m:t>
                          </m:r>
                        </m:oMath>
                      </m:oMathPara>
                    </a14:m>
                    <a:endParaRPr lang="en-US" sz="1400" dirty="0">
                      <a:solidFill>
                        <a:schemeClr val="accent5"/>
                      </a:solidFill>
                    </a:endParaRPr>
                  </a:p>
                </p:txBody>
              </p:sp>
            </mc:Choice>
            <mc:Fallback xmlns="">
              <p:sp>
                <p:nvSpPr>
                  <p:cNvPr id="83" name="TextBox 82">
                    <a:extLst>
                      <a:ext uri="{FF2B5EF4-FFF2-40B4-BE49-F238E27FC236}">
                        <a16:creationId xmlns:a16="http://schemas.microsoft.com/office/drawing/2014/main" id="{BE25472F-96EA-C37F-DAEA-175307618D90}"/>
                      </a:ext>
                    </a:extLst>
                  </p:cNvPr>
                  <p:cNvSpPr txBox="1">
                    <a:spLocks noRot="1" noChangeAspect="1" noMove="1" noResize="1" noEditPoints="1" noAdjustHandles="1" noChangeArrowheads="1" noChangeShapeType="1" noTextEdit="1"/>
                  </p:cNvSpPr>
                  <p:nvPr/>
                </p:nvSpPr>
                <p:spPr>
                  <a:xfrm>
                    <a:off x="10391061" y="5872530"/>
                    <a:ext cx="1819574" cy="580639"/>
                  </a:xfrm>
                  <a:prstGeom prst="rect">
                    <a:avLst/>
                  </a:prstGeom>
                  <a:blipFill>
                    <a:blip r:embed="rId25"/>
                    <a:stretch>
                      <a:fillRect/>
                    </a:stretch>
                  </a:blipFill>
                </p:spPr>
                <p:txBody>
                  <a:bodyPr/>
                  <a:lstStyle/>
                  <a:p>
                    <a:r>
                      <a:rPr lang="en-US">
                        <a:noFill/>
                      </a:rPr>
                      <a:t> </a:t>
                    </a:r>
                  </a:p>
                </p:txBody>
              </p:sp>
            </mc:Fallback>
          </mc:AlternateContent>
          <p:cxnSp>
            <p:nvCxnSpPr>
              <p:cNvPr id="47" name="Straight Connector 46">
                <a:extLst>
                  <a:ext uri="{FF2B5EF4-FFF2-40B4-BE49-F238E27FC236}">
                    <a16:creationId xmlns:a16="http://schemas.microsoft.com/office/drawing/2014/main" id="{F6FD93F0-48A4-A6E1-9540-934ACCDE198E}"/>
                  </a:ext>
                </a:extLst>
              </p:cNvPr>
              <p:cNvCxnSpPr>
                <a:cxnSpLocks/>
              </p:cNvCxnSpPr>
              <p:nvPr/>
            </p:nvCxnSpPr>
            <p:spPr>
              <a:xfrm flipV="1">
                <a:off x="3336099" y="2205467"/>
                <a:ext cx="0" cy="4712523"/>
              </a:xfrm>
              <a:prstGeom prst="line">
                <a:avLst/>
              </a:prstGeom>
            </p:spPr>
            <p:style>
              <a:lnRef idx="2">
                <a:schemeClr val="accent1"/>
              </a:lnRef>
              <a:fillRef idx="0">
                <a:schemeClr val="accent1"/>
              </a:fillRef>
              <a:effectRef idx="1">
                <a:schemeClr val="accent1"/>
              </a:effectRef>
              <a:fontRef idx="minor">
                <a:schemeClr val="tx1"/>
              </a:fontRef>
            </p:style>
          </p:cxnSp>
          <p:cxnSp>
            <p:nvCxnSpPr>
              <p:cNvPr id="48" name="Straight Connector 47">
                <a:extLst>
                  <a:ext uri="{FF2B5EF4-FFF2-40B4-BE49-F238E27FC236}">
                    <a16:creationId xmlns:a16="http://schemas.microsoft.com/office/drawing/2014/main" id="{5F00477E-2133-763E-3AF2-CFE4C4EFDAD6}"/>
                  </a:ext>
                </a:extLst>
              </p:cNvPr>
              <p:cNvCxnSpPr>
                <a:cxnSpLocks/>
              </p:cNvCxnSpPr>
              <p:nvPr/>
            </p:nvCxnSpPr>
            <p:spPr>
              <a:xfrm flipV="1">
                <a:off x="5117275" y="2205467"/>
                <a:ext cx="0" cy="4648995"/>
              </a:xfrm>
              <a:prstGeom prst="line">
                <a:avLst/>
              </a:prstGeom>
            </p:spPr>
            <p:style>
              <a:lnRef idx="2">
                <a:schemeClr val="accent1"/>
              </a:lnRef>
              <a:fillRef idx="0">
                <a:schemeClr val="accent1"/>
              </a:fillRef>
              <a:effectRef idx="1">
                <a:schemeClr val="accent1"/>
              </a:effectRef>
              <a:fontRef idx="minor">
                <a:schemeClr val="tx1"/>
              </a:fontRef>
            </p:style>
          </p:cxnSp>
          <p:cxnSp>
            <p:nvCxnSpPr>
              <p:cNvPr id="49" name="Straight Connector 48">
                <a:extLst>
                  <a:ext uri="{FF2B5EF4-FFF2-40B4-BE49-F238E27FC236}">
                    <a16:creationId xmlns:a16="http://schemas.microsoft.com/office/drawing/2014/main" id="{2DE082F1-FD0B-9FE8-D5DB-C4AE8BA07014}"/>
                  </a:ext>
                </a:extLst>
              </p:cNvPr>
              <p:cNvCxnSpPr>
                <a:cxnSpLocks/>
              </p:cNvCxnSpPr>
              <p:nvPr/>
            </p:nvCxnSpPr>
            <p:spPr>
              <a:xfrm flipV="1">
                <a:off x="6984175" y="2205467"/>
                <a:ext cx="0" cy="4640949"/>
              </a:xfrm>
              <a:prstGeom prst="line">
                <a:avLst/>
              </a:prstGeom>
            </p:spPr>
            <p:style>
              <a:lnRef idx="2">
                <a:schemeClr val="accent1"/>
              </a:lnRef>
              <a:fillRef idx="0">
                <a:schemeClr val="accent1"/>
              </a:fillRef>
              <a:effectRef idx="1">
                <a:schemeClr val="accent1"/>
              </a:effectRef>
              <a:fontRef idx="minor">
                <a:schemeClr val="tx1"/>
              </a:fontRef>
            </p:style>
          </p:cxnSp>
          <p:cxnSp>
            <p:nvCxnSpPr>
              <p:cNvPr id="50" name="Straight Connector 49">
                <a:extLst>
                  <a:ext uri="{FF2B5EF4-FFF2-40B4-BE49-F238E27FC236}">
                    <a16:creationId xmlns:a16="http://schemas.microsoft.com/office/drawing/2014/main" id="{EEAFA647-679C-4DB5-72E7-F86763A99055}"/>
                  </a:ext>
                </a:extLst>
              </p:cNvPr>
              <p:cNvCxnSpPr>
                <a:cxnSpLocks/>
              </p:cNvCxnSpPr>
              <p:nvPr/>
            </p:nvCxnSpPr>
            <p:spPr>
              <a:xfrm flipV="1">
                <a:off x="8779639" y="2205467"/>
                <a:ext cx="0" cy="4656040"/>
              </a:xfrm>
              <a:prstGeom prst="line">
                <a:avLst/>
              </a:prstGeom>
            </p:spPr>
            <p:style>
              <a:lnRef idx="2">
                <a:schemeClr val="accent1"/>
              </a:lnRef>
              <a:fillRef idx="0">
                <a:schemeClr val="accent1"/>
              </a:fillRef>
              <a:effectRef idx="1">
                <a:schemeClr val="accent1"/>
              </a:effectRef>
              <a:fontRef idx="minor">
                <a:schemeClr val="tx1"/>
              </a:fontRef>
            </p:style>
          </p:cxnSp>
          <p:cxnSp>
            <p:nvCxnSpPr>
              <p:cNvPr id="51" name="Straight Connector 50">
                <a:extLst>
                  <a:ext uri="{FF2B5EF4-FFF2-40B4-BE49-F238E27FC236}">
                    <a16:creationId xmlns:a16="http://schemas.microsoft.com/office/drawing/2014/main" id="{1C9EF17A-23A1-99EB-D53C-F1BE034277CA}"/>
                  </a:ext>
                </a:extLst>
              </p:cNvPr>
              <p:cNvCxnSpPr>
                <a:cxnSpLocks/>
              </p:cNvCxnSpPr>
              <p:nvPr/>
            </p:nvCxnSpPr>
            <p:spPr>
              <a:xfrm flipV="1">
                <a:off x="10489376" y="2205467"/>
                <a:ext cx="0" cy="4652533"/>
              </a:xfrm>
              <a:prstGeom prst="line">
                <a:avLst/>
              </a:prstGeom>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52" name="TextBox 51">
                    <a:extLst>
                      <a:ext uri="{FF2B5EF4-FFF2-40B4-BE49-F238E27FC236}">
                        <a16:creationId xmlns:a16="http://schemas.microsoft.com/office/drawing/2014/main" id="{0D83309A-0A12-8086-290E-EBEDAB964812}"/>
                      </a:ext>
                    </a:extLst>
                  </p:cNvPr>
                  <p:cNvSpPr txBox="1"/>
                  <p:nvPr/>
                </p:nvSpPr>
                <p:spPr>
                  <a:xfrm>
                    <a:off x="2218574" y="2171230"/>
                    <a:ext cx="883976" cy="69676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chemeClr val="accent5"/>
                              </a:solidFill>
                              <a:latin typeface="Cambria Math" panose="02040503050406030204" pitchFamily="18" charset="0"/>
                            </a:rPr>
                            <m:t>1</m:t>
                          </m:r>
                        </m:oMath>
                      </m:oMathPara>
                    </a14:m>
                    <a:endParaRPr lang="en-US" dirty="0">
                      <a:solidFill>
                        <a:schemeClr val="accent5"/>
                      </a:solidFill>
                    </a:endParaRPr>
                  </a:p>
                </p:txBody>
              </p:sp>
            </mc:Choice>
            <mc:Fallback xmlns="">
              <p:sp>
                <p:nvSpPr>
                  <p:cNvPr id="89" name="TextBox 88">
                    <a:extLst>
                      <a:ext uri="{FF2B5EF4-FFF2-40B4-BE49-F238E27FC236}">
                        <a16:creationId xmlns:a16="http://schemas.microsoft.com/office/drawing/2014/main" id="{FDE1B079-6D37-5DB3-6ACE-323548E39C80}"/>
                      </a:ext>
                    </a:extLst>
                  </p:cNvPr>
                  <p:cNvSpPr txBox="1">
                    <a:spLocks noRot="1" noChangeAspect="1" noMove="1" noResize="1" noEditPoints="1" noAdjustHandles="1" noChangeArrowheads="1" noChangeShapeType="1" noTextEdit="1"/>
                  </p:cNvSpPr>
                  <p:nvPr/>
                </p:nvSpPr>
                <p:spPr>
                  <a:xfrm>
                    <a:off x="2218574" y="2171230"/>
                    <a:ext cx="883976" cy="696766"/>
                  </a:xfrm>
                  <a:prstGeom prst="rect">
                    <a:avLst/>
                  </a:prstGeom>
                  <a:blipFill>
                    <a:blip r:embed="rId2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AC50EA46-6254-58B0-9A3D-23E8EF6564CB}"/>
                      </a:ext>
                    </a:extLst>
                  </p:cNvPr>
                  <p:cNvSpPr txBox="1"/>
                  <p:nvPr/>
                </p:nvSpPr>
                <p:spPr>
                  <a:xfrm>
                    <a:off x="3844099" y="2214241"/>
                    <a:ext cx="836612" cy="69676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dirty="0" smtClean="0">
                              <a:solidFill>
                                <a:schemeClr val="accent5"/>
                              </a:solidFill>
                              <a:latin typeface="Cambria Math" panose="02040503050406030204" pitchFamily="18" charset="0"/>
                            </a:rPr>
                            <m:t>2</m:t>
                          </m:r>
                        </m:oMath>
                      </m:oMathPara>
                    </a14:m>
                    <a:endParaRPr lang="en-US" dirty="0">
                      <a:solidFill>
                        <a:schemeClr val="accent5"/>
                      </a:solidFill>
                    </a:endParaRPr>
                  </a:p>
                </p:txBody>
              </p:sp>
            </mc:Choice>
            <mc:Fallback xmlns="">
              <p:sp>
                <p:nvSpPr>
                  <p:cNvPr id="90" name="TextBox 89">
                    <a:extLst>
                      <a:ext uri="{FF2B5EF4-FFF2-40B4-BE49-F238E27FC236}">
                        <a16:creationId xmlns:a16="http://schemas.microsoft.com/office/drawing/2014/main" id="{79DFC0BD-E051-19F6-DBE6-AB37A010F6DA}"/>
                      </a:ext>
                    </a:extLst>
                  </p:cNvPr>
                  <p:cNvSpPr txBox="1">
                    <a:spLocks noRot="1" noChangeAspect="1" noMove="1" noResize="1" noEditPoints="1" noAdjustHandles="1" noChangeArrowheads="1" noChangeShapeType="1" noTextEdit="1"/>
                  </p:cNvSpPr>
                  <p:nvPr/>
                </p:nvSpPr>
                <p:spPr>
                  <a:xfrm>
                    <a:off x="3844099" y="2214241"/>
                    <a:ext cx="836612" cy="696766"/>
                  </a:xfrm>
                  <a:prstGeom prst="rect">
                    <a:avLst/>
                  </a:prstGeom>
                  <a:blipFill>
                    <a:blip r:embed="rId2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4" name="TextBox 53">
                    <a:extLst>
                      <a:ext uri="{FF2B5EF4-FFF2-40B4-BE49-F238E27FC236}">
                        <a16:creationId xmlns:a16="http://schemas.microsoft.com/office/drawing/2014/main" id="{BBB2CF43-A05D-C914-75C1-81A936E823A1}"/>
                      </a:ext>
                    </a:extLst>
                  </p:cNvPr>
                  <p:cNvSpPr txBox="1"/>
                  <p:nvPr/>
                </p:nvSpPr>
                <p:spPr>
                  <a:xfrm>
                    <a:off x="1020139" y="2884644"/>
                    <a:ext cx="563341" cy="63870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𝑖</m:t>
                          </m:r>
                        </m:oMath>
                      </m:oMathPara>
                    </a14:m>
                    <a:endParaRPr lang="en-US" sz="1600" dirty="0"/>
                  </a:p>
                </p:txBody>
              </p:sp>
            </mc:Choice>
            <mc:Fallback xmlns="">
              <p:sp>
                <p:nvSpPr>
                  <p:cNvPr id="91" name="TextBox 90">
                    <a:extLst>
                      <a:ext uri="{FF2B5EF4-FFF2-40B4-BE49-F238E27FC236}">
                        <a16:creationId xmlns:a16="http://schemas.microsoft.com/office/drawing/2014/main" id="{30ACB0BF-45E7-07E2-97BC-FCCF353599E5}"/>
                      </a:ext>
                    </a:extLst>
                  </p:cNvPr>
                  <p:cNvSpPr txBox="1">
                    <a:spLocks noRot="1" noChangeAspect="1" noMove="1" noResize="1" noEditPoints="1" noAdjustHandles="1" noChangeArrowheads="1" noChangeShapeType="1" noTextEdit="1"/>
                  </p:cNvSpPr>
                  <p:nvPr/>
                </p:nvSpPr>
                <p:spPr>
                  <a:xfrm>
                    <a:off x="1020139" y="2884644"/>
                    <a:ext cx="563341" cy="638701"/>
                  </a:xfrm>
                  <a:prstGeom prst="rect">
                    <a:avLst/>
                  </a:prstGeom>
                  <a:blipFill>
                    <a:blip r:embed="rId2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5" name="TextBox 54">
                    <a:extLst>
                      <a:ext uri="{FF2B5EF4-FFF2-40B4-BE49-F238E27FC236}">
                        <a16:creationId xmlns:a16="http://schemas.microsoft.com/office/drawing/2014/main" id="{DDEE6C35-55B3-3E6A-4BCF-7366D4F05517}"/>
                      </a:ext>
                    </a:extLst>
                  </p:cNvPr>
                  <p:cNvSpPr txBox="1"/>
                  <p:nvPr/>
                </p:nvSpPr>
                <p:spPr>
                  <a:xfrm>
                    <a:off x="5707258" y="2205467"/>
                    <a:ext cx="836612" cy="69676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dirty="0" smtClean="0">
                              <a:solidFill>
                                <a:schemeClr val="accent5"/>
                              </a:solidFill>
                              <a:latin typeface="Cambria Math" panose="02040503050406030204" pitchFamily="18" charset="0"/>
                            </a:rPr>
                            <m:t>3</m:t>
                          </m:r>
                        </m:oMath>
                      </m:oMathPara>
                    </a14:m>
                    <a:endParaRPr lang="en-US" dirty="0">
                      <a:solidFill>
                        <a:schemeClr val="accent5"/>
                      </a:solidFill>
                    </a:endParaRPr>
                  </a:p>
                </p:txBody>
              </p:sp>
            </mc:Choice>
            <mc:Fallback xmlns="">
              <p:sp>
                <p:nvSpPr>
                  <p:cNvPr id="92" name="TextBox 91">
                    <a:extLst>
                      <a:ext uri="{FF2B5EF4-FFF2-40B4-BE49-F238E27FC236}">
                        <a16:creationId xmlns:a16="http://schemas.microsoft.com/office/drawing/2014/main" id="{10075E5C-294A-AD13-BFB9-12B4BDDD717B}"/>
                      </a:ext>
                    </a:extLst>
                  </p:cNvPr>
                  <p:cNvSpPr txBox="1">
                    <a:spLocks noRot="1" noChangeAspect="1" noMove="1" noResize="1" noEditPoints="1" noAdjustHandles="1" noChangeArrowheads="1" noChangeShapeType="1" noTextEdit="1"/>
                  </p:cNvSpPr>
                  <p:nvPr/>
                </p:nvSpPr>
                <p:spPr>
                  <a:xfrm>
                    <a:off x="5707258" y="2205467"/>
                    <a:ext cx="836612" cy="696766"/>
                  </a:xfrm>
                  <a:prstGeom prst="rect">
                    <a:avLst/>
                  </a:prstGeom>
                  <a:blipFill>
                    <a:blip r:embed="rId2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6" name="TextBox 55">
                    <a:extLst>
                      <a:ext uri="{FF2B5EF4-FFF2-40B4-BE49-F238E27FC236}">
                        <a16:creationId xmlns:a16="http://schemas.microsoft.com/office/drawing/2014/main" id="{4366A8AD-DA53-B5AB-E195-2B95F7959D73}"/>
                      </a:ext>
                    </a:extLst>
                  </p:cNvPr>
                  <p:cNvSpPr txBox="1"/>
                  <p:nvPr/>
                </p:nvSpPr>
                <p:spPr>
                  <a:xfrm>
                    <a:off x="7387429" y="2187879"/>
                    <a:ext cx="836612" cy="69676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dirty="0" smtClean="0">
                              <a:solidFill>
                                <a:schemeClr val="accent5"/>
                              </a:solidFill>
                              <a:latin typeface="Cambria Math" panose="02040503050406030204" pitchFamily="18" charset="0"/>
                            </a:rPr>
                            <m:t>4</m:t>
                          </m:r>
                        </m:oMath>
                      </m:oMathPara>
                    </a14:m>
                    <a:endParaRPr lang="en-US" dirty="0">
                      <a:solidFill>
                        <a:schemeClr val="accent5"/>
                      </a:solidFill>
                    </a:endParaRPr>
                  </a:p>
                </p:txBody>
              </p:sp>
            </mc:Choice>
            <mc:Fallback xmlns="">
              <p:sp>
                <p:nvSpPr>
                  <p:cNvPr id="93" name="TextBox 92">
                    <a:extLst>
                      <a:ext uri="{FF2B5EF4-FFF2-40B4-BE49-F238E27FC236}">
                        <a16:creationId xmlns:a16="http://schemas.microsoft.com/office/drawing/2014/main" id="{BCE763EA-F931-7312-7D57-FEC3CC3A42C6}"/>
                      </a:ext>
                    </a:extLst>
                  </p:cNvPr>
                  <p:cNvSpPr txBox="1">
                    <a:spLocks noRot="1" noChangeAspect="1" noMove="1" noResize="1" noEditPoints="1" noAdjustHandles="1" noChangeArrowheads="1" noChangeShapeType="1" noTextEdit="1"/>
                  </p:cNvSpPr>
                  <p:nvPr/>
                </p:nvSpPr>
                <p:spPr>
                  <a:xfrm>
                    <a:off x="7387429" y="2187879"/>
                    <a:ext cx="836612" cy="696766"/>
                  </a:xfrm>
                  <a:prstGeom prst="rect">
                    <a:avLst/>
                  </a:prstGeom>
                  <a:blipFill>
                    <a:blip r:embed="rId3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7" name="TextBox 56">
                    <a:extLst>
                      <a:ext uri="{FF2B5EF4-FFF2-40B4-BE49-F238E27FC236}">
                        <a16:creationId xmlns:a16="http://schemas.microsoft.com/office/drawing/2014/main" id="{CA561855-5098-92DC-0DE0-124491C0D9BA}"/>
                      </a:ext>
                    </a:extLst>
                  </p:cNvPr>
                  <p:cNvSpPr txBox="1"/>
                  <p:nvPr/>
                </p:nvSpPr>
                <p:spPr>
                  <a:xfrm>
                    <a:off x="9182891" y="2171230"/>
                    <a:ext cx="836612" cy="69676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dirty="0" smtClean="0">
                              <a:solidFill>
                                <a:schemeClr val="accent5"/>
                              </a:solidFill>
                              <a:latin typeface="Cambria Math" panose="02040503050406030204" pitchFamily="18" charset="0"/>
                            </a:rPr>
                            <m:t>5</m:t>
                          </m:r>
                        </m:oMath>
                      </m:oMathPara>
                    </a14:m>
                    <a:endParaRPr lang="en-US" dirty="0">
                      <a:solidFill>
                        <a:schemeClr val="accent5"/>
                      </a:solidFill>
                    </a:endParaRPr>
                  </a:p>
                </p:txBody>
              </p:sp>
            </mc:Choice>
            <mc:Fallback xmlns="">
              <p:sp>
                <p:nvSpPr>
                  <p:cNvPr id="94" name="TextBox 93">
                    <a:extLst>
                      <a:ext uri="{FF2B5EF4-FFF2-40B4-BE49-F238E27FC236}">
                        <a16:creationId xmlns:a16="http://schemas.microsoft.com/office/drawing/2014/main" id="{54DBBF8C-B75F-0E2F-EE01-28885DC17A8A}"/>
                      </a:ext>
                    </a:extLst>
                  </p:cNvPr>
                  <p:cNvSpPr txBox="1">
                    <a:spLocks noRot="1" noChangeAspect="1" noMove="1" noResize="1" noEditPoints="1" noAdjustHandles="1" noChangeArrowheads="1" noChangeShapeType="1" noTextEdit="1"/>
                  </p:cNvSpPr>
                  <p:nvPr/>
                </p:nvSpPr>
                <p:spPr>
                  <a:xfrm>
                    <a:off x="9182891" y="2171230"/>
                    <a:ext cx="836612" cy="696766"/>
                  </a:xfrm>
                  <a:prstGeom prst="rect">
                    <a:avLst/>
                  </a:prstGeom>
                  <a:blipFill>
                    <a:blip r:embed="rId3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6738B260-28F4-9139-9ABF-62A847AE6552}"/>
                      </a:ext>
                    </a:extLst>
                  </p:cNvPr>
                  <p:cNvSpPr txBox="1"/>
                  <p:nvPr/>
                </p:nvSpPr>
                <p:spPr>
                  <a:xfrm>
                    <a:off x="10882543" y="2152268"/>
                    <a:ext cx="836612" cy="69676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dirty="0" smtClean="0">
                              <a:solidFill>
                                <a:schemeClr val="accent5"/>
                              </a:solidFill>
                              <a:latin typeface="Cambria Math" panose="02040503050406030204" pitchFamily="18" charset="0"/>
                            </a:rPr>
                            <m:t>6</m:t>
                          </m:r>
                        </m:oMath>
                      </m:oMathPara>
                    </a14:m>
                    <a:endParaRPr lang="en-US" dirty="0">
                      <a:solidFill>
                        <a:schemeClr val="accent5"/>
                      </a:solidFill>
                    </a:endParaRPr>
                  </a:p>
                </p:txBody>
              </p:sp>
            </mc:Choice>
            <mc:Fallback xmlns="">
              <p:sp>
                <p:nvSpPr>
                  <p:cNvPr id="95" name="TextBox 94">
                    <a:extLst>
                      <a:ext uri="{FF2B5EF4-FFF2-40B4-BE49-F238E27FC236}">
                        <a16:creationId xmlns:a16="http://schemas.microsoft.com/office/drawing/2014/main" id="{B9E0CD7E-4EF8-9878-7836-EADA12A8C71A}"/>
                      </a:ext>
                    </a:extLst>
                  </p:cNvPr>
                  <p:cNvSpPr txBox="1">
                    <a:spLocks noRot="1" noChangeAspect="1" noMove="1" noResize="1" noEditPoints="1" noAdjustHandles="1" noChangeArrowheads="1" noChangeShapeType="1" noTextEdit="1"/>
                  </p:cNvSpPr>
                  <p:nvPr/>
                </p:nvSpPr>
                <p:spPr>
                  <a:xfrm>
                    <a:off x="10882543" y="2152268"/>
                    <a:ext cx="836612" cy="696766"/>
                  </a:xfrm>
                  <a:prstGeom prst="rect">
                    <a:avLst/>
                  </a:prstGeom>
                  <a:blipFill>
                    <a:blip r:embed="rId32"/>
                    <a:stretch>
                      <a:fillRect/>
                    </a:stretch>
                  </a:blipFill>
                </p:spPr>
                <p:txBody>
                  <a:bodyPr/>
                  <a:lstStyle/>
                  <a:p>
                    <a:r>
                      <a:rPr lang="en-US">
                        <a:noFill/>
                      </a:rPr>
                      <a:t> </a:t>
                    </a:r>
                  </a:p>
                </p:txBody>
              </p:sp>
            </mc:Fallback>
          </mc:AlternateContent>
        </p:grpSp>
      </p:grpSp>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A6C95C8E-F8C4-D062-7631-9606D151285E}"/>
                  </a:ext>
                </a:extLst>
              </p:cNvPr>
              <p:cNvSpPr txBox="1"/>
              <p:nvPr/>
            </p:nvSpPr>
            <p:spPr>
              <a:xfrm>
                <a:off x="1063443" y="4682795"/>
                <a:ext cx="4414697" cy="70788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4000" i="1" smtClean="0">
                          <a:solidFill>
                            <a:schemeClr val="accent1"/>
                          </a:solidFill>
                          <a:latin typeface="Cambria Math" panose="02040503050406030204" pitchFamily="18" charset="0"/>
                          <a:ea typeface="Cambria Math" panose="02040503050406030204" pitchFamily="18" charset="0"/>
                        </a:rPr>
                        <m:t>𝔼</m:t>
                      </m:r>
                      <m:d>
                        <m:dPr>
                          <m:begChr m:val="["/>
                          <m:endChr m:val="]"/>
                          <m:ctrlPr>
                            <a:rPr lang="en-US" sz="4000" i="1">
                              <a:solidFill>
                                <a:schemeClr val="accent1"/>
                              </a:solidFill>
                              <a:latin typeface="Cambria Math" panose="02040503050406030204" pitchFamily="18" charset="0"/>
                              <a:ea typeface="Cambria Math" panose="02040503050406030204" pitchFamily="18" charset="0"/>
                            </a:rPr>
                          </m:ctrlPr>
                        </m:dPr>
                        <m:e>
                          <m:sSub>
                            <m:sSubPr>
                              <m:ctrlPr>
                                <a:rPr lang="en-US" sz="4000" i="1">
                                  <a:solidFill>
                                    <a:schemeClr val="accent1"/>
                                  </a:solidFill>
                                  <a:latin typeface="Cambria Math" panose="02040503050406030204" pitchFamily="18" charset="0"/>
                                  <a:ea typeface="Cambria Math" panose="02040503050406030204" pitchFamily="18" charset="0"/>
                                </a:rPr>
                              </m:ctrlPr>
                            </m:sSubPr>
                            <m:e>
                              <m:r>
                                <a:rPr lang="en-US" sz="4000" i="1">
                                  <a:solidFill>
                                    <a:schemeClr val="accent1"/>
                                  </a:solidFill>
                                  <a:latin typeface="Cambria Math" panose="02040503050406030204" pitchFamily="18" charset="0"/>
                                  <a:ea typeface="Cambria Math" panose="02040503050406030204" pitchFamily="18" charset="0"/>
                                </a:rPr>
                                <m:t>𝑌</m:t>
                              </m:r>
                            </m:e>
                            <m:sub>
                              <m:r>
                                <a:rPr lang="en-US" sz="4000" i="1">
                                  <a:solidFill>
                                    <a:schemeClr val="accent1"/>
                                  </a:solidFill>
                                  <a:latin typeface="Cambria Math" panose="02040503050406030204" pitchFamily="18" charset="0"/>
                                  <a:ea typeface="Cambria Math" panose="02040503050406030204" pitchFamily="18" charset="0"/>
                                </a:rPr>
                                <m:t>𝑖</m:t>
                              </m:r>
                            </m:sub>
                          </m:sSub>
                          <m:d>
                            <m:dPr>
                              <m:ctrlPr>
                                <a:rPr lang="en-US" sz="4000" i="1">
                                  <a:solidFill>
                                    <a:schemeClr val="accent1"/>
                                  </a:solidFill>
                                  <a:latin typeface="Cambria Math" panose="02040503050406030204" pitchFamily="18" charset="0"/>
                                  <a:ea typeface="Cambria Math" panose="02040503050406030204" pitchFamily="18" charset="0"/>
                                </a:rPr>
                              </m:ctrlPr>
                            </m:dPr>
                            <m:e>
                              <m:r>
                                <a:rPr lang="en-US" sz="4000">
                                  <a:solidFill>
                                    <a:schemeClr val="accent1"/>
                                  </a:solidFill>
                                  <a:latin typeface="Cambria Math" panose="02040503050406030204" pitchFamily="18" charset="0"/>
                                  <a:ea typeface="Cambria Math" panose="02040503050406030204" pitchFamily="18" charset="0"/>
                                </a:rPr>
                                <m:t>1</m:t>
                              </m:r>
                            </m:e>
                          </m:d>
                          <m:r>
                            <a:rPr lang="en-US" sz="4000">
                              <a:solidFill>
                                <a:schemeClr val="accent1"/>
                              </a:solidFill>
                              <a:latin typeface="Cambria Math" panose="02040503050406030204" pitchFamily="18" charset="0"/>
                              <a:ea typeface="Cambria Math" panose="02040503050406030204" pitchFamily="18" charset="0"/>
                            </a:rPr>
                            <m:t>−</m:t>
                          </m:r>
                          <m:sSub>
                            <m:sSubPr>
                              <m:ctrlPr>
                                <a:rPr lang="en-US" sz="4000" i="1">
                                  <a:solidFill>
                                    <a:schemeClr val="accent1"/>
                                  </a:solidFill>
                                  <a:latin typeface="Cambria Math" panose="02040503050406030204" pitchFamily="18" charset="0"/>
                                  <a:ea typeface="Cambria Math" panose="02040503050406030204" pitchFamily="18" charset="0"/>
                                </a:rPr>
                              </m:ctrlPr>
                            </m:sSubPr>
                            <m:e>
                              <m:r>
                                <a:rPr lang="en-US" sz="4000" i="1">
                                  <a:solidFill>
                                    <a:schemeClr val="accent1"/>
                                  </a:solidFill>
                                  <a:latin typeface="Cambria Math" panose="02040503050406030204" pitchFamily="18" charset="0"/>
                                  <a:ea typeface="Cambria Math" panose="02040503050406030204" pitchFamily="18" charset="0"/>
                                </a:rPr>
                                <m:t>𝑌</m:t>
                              </m:r>
                            </m:e>
                            <m:sub>
                              <m:r>
                                <a:rPr lang="en-US" sz="4000" i="1">
                                  <a:solidFill>
                                    <a:schemeClr val="accent1"/>
                                  </a:solidFill>
                                  <a:latin typeface="Cambria Math" panose="02040503050406030204" pitchFamily="18" charset="0"/>
                                  <a:ea typeface="Cambria Math" panose="02040503050406030204" pitchFamily="18" charset="0"/>
                                </a:rPr>
                                <m:t>𝑖</m:t>
                              </m:r>
                            </m:sub>
                          </m:sSub>
                          <m:d>
                            <m:dPr>
                              <m:ctrlPr>
                                <a:rPr lang="en-US" sz="4000" i="1">
                                  <a:solidFill>
                                    <a:schemeClr val="accent1"/>
                                  </a:solidFill>
                                  <a:latin typeface="Cambria Math" panose="02040503050406030204" pitchFamily="18" charset="0"/>
                                  <a:ea typeface="Cambria Math" panose="02040503050406030204" pitchFamily="18" charset="0"/>
                                </a:rPr>
                              </m:ctrlPr>
                            </m:dPr>
                            <m:e>
                              <m:r>
                                <a:rPr lang="en-US" sz="4000">
                                  <a:solidFill>
                                    <a:schemeClr val="accent1"/>
                                  </a:solidFill>
                                  <a:latin typeface="Cambria Math" panose="02040503050406030204" pitchFamily="18" charset="0"/>
                                  <a:ea typeface="Cambria Math" panose="02040503050406030204" pitchFamily="18" charset="0"/>
                                </a:rPr>
                                <m:t>0</m:t>
                              </m:r>
                            </m:e>
                          </m:d>
                        </m:e>
                      </m:d>
                    </m:oMath>
                  </m:oMathPara>
                </a14:m>
                <a:endParaRPr lang="en-US" sz="4000" dirty="0"/>
              </a:p>
            </p:txBody>
          </p:sp>
        </mc:Choice>
        <mc:Fallback xmlns="">
          <p:sp>
            <p:nvSpPr>
              <p:cNvPr id="60" name="TextBox 59">
                <a:extLst>
                  <a:ext uri="{FF2B5EF4-FFF2-40B4-BE49-F238E27FC236}">
                    <a16:creationId xmlns:a16="http://schemas.microsoft.com/office/drawing/2014/main" id="{A6C95C8E-F8C4-D062-7631-9606D151285E}"/>
                  </a:ext>
                </a:extLst>
              </p:cNvPr>
              <p:cNvSpPr txBox="1">
                <a:spLocks noRot="1" noChangeAspect="1" noMove="1" noResize="1" noEditPoints="1" noAdjustHandles="1" noChangeArrowheads="1" noChangeShapeType="1" noTextEdit="1"/>
              </p:cNvSpPr>
              <p:nvPr/>
            </p:nvSpPr>
            <p:spPr>
              <a:xfrm>
                <a:off x="1063443" y="4682795"/>
                <a:ext cx="4414697" cy="707886"/>
              </a:xfrm>
              <a:prstGeom prst="rect">
                <a:avLst/>
              </a:prstGeom>
              <a:blipFill>
                <a:blip r:embed="rId33"/>
                <a:stretch>
                  <a:fillRect b="-5263"/>
                </a:stretch>
              </a:blipFill>
            </p:spPr>
            <p:txBody>
              <a:bodyPr/>
              <a:lstStyle/>
              <a:p>
                <a:r>
                  <a:rPr lang="en-US">
                    <a:noFill/>
                  </a:rPr>
                  <a:t> </a:t>
                </a:r>
              </a:p>
            </p:txBody>
          </p:sp>
        </mc:Fallback>
      </mc:AlternateContent>
      <p:sp>
        <p:nvSpPr>
          <p:cNvPr id="61" name="TextBox 60">
            <a:extLst>
              <a:ext uri="{FF2B5EF4-FFF2-40B4-BE49-F238E27FC236}">
                <a16:creationId xmlns:a16="http://schemas.microsoft.com/office/drawing/2014/main" id="{A7102566-87BD-8609-A543-EE1DB756A179}"/>
              </a:ext>
            </a:extLst>
          </p:cNvPr>
          <p:cNvSpPr txBox="1"/>
          <p:nvPr/>
        </p:nvSpPr>
        <p:spPr>
          <a:xfrm>
            <a:off x="1256343" y="5412532"/>
            <a:ext cx="3943362" cy="1200329"/>
          </a:xfrm>
          <a:prstGeom prst="rect">
            <a:avLst/>
          </a:prstGeom>
          <a:noFill/>
        </p:spPr>
        <p:txBody>
          <a:bodyPr wrap="square">
            <a:spAutoFit/>
          </a:bodyPr>
          <a:lstStyle/>
          <a:p>
            <a:pPr algn="ctr"/>
            <a:r>
              <a:rPr lang="en-US" sz="2400" b="1" dirty="0"/>
              <a:t>Fundamental problem of causal inference: </a:t>
            </a:r>
            <a:r>
              <a:rPr lang="en-US" sz="2400" dirty="0"/>
              <a:t>We can’t compute this!</a:t>
            </a:r>
          </a:p>
        </p:txBody>
      </p:sp>
      <p:grpSp>
        <p:nvGrpSpPr>
          <p:cNvPr id="63" name="Group 62">
            <a:extLst>
              <a:ext uri="{FF2B5EF4-FFF2-40B4-BE49-F238E27FC236}">
                <a16:creationId xmlns:a16="http://schemas.microsoft.com/office/drawing/2014/main" id="{5DDDF841-0075-6C88-7635-BA2D5C68BE9A}"/>
              </a:ext>
            </a:extLst>
          </p:cNvPr>
          <p:cNvGrpSpPr/>
          <p:nvPr/>
        </p:nvGrpSpPr>
        <p:grpSpPr>
          <a:xfrm>
            <a:off x="6458116" y="5271022"/>
            <a:ext cx="5896196" cy="1876415"/>
            <a:chOff x="6458116" y="5271022"/>
            <a:chExt cx="5896196" cy="1876415"/>
          </a:xfrm>
        </p:grpSpPr>
        <p:sp>
          <p:nvSpPr>
            <p:cNvPr id="59" name="Freeform 58">
              <a:extLst>
                <a:ext uri="{FF2B5EF4-FFF2-40B4-BE49-F238E27FC236}">
                  <a16:creationId xmlns:a16="http://schemas.microsoft.com/office/drawing/2014/main" id="{B90BDD16-A8B7-3A9A-D4EB-D2D5F6C97CDF}"/>
                </a:ext>
              </a:extLst>
            </p:cNvPr>
            <p:cNvSpPr/>
            <p:nvPr/>
          </p:nvSpPr>
          <p:spPr>
            <a:xfrm>
              <a:off x="6458116" y="5271022"/>
              <a:ext cx="5896196" cy="1876415"/>
            </a:xfrm>
            <a:custGeom>
              <a:avLst/>
              <a:gdLst>
                <a:gd name="connsiteX0" fmla="*/ 222903 w 5896196"/>
                <a:gd name="connsiteY0" fmla="*/ 731572 h 1876415"/>
                <a:gd name="connsiteX1" fmla="*/ 842336 w 5896196"/>
                <a:gd name="connsiteY1" fmla="*/ 702075 h 1876415"/>
                <a:gd name="connsiteX2" fmla="*/ 1078310 w 5896196"/>
                <a:gd name="connsiteY2" fmla="*/ 156384 h 1876415"/>
                <a:gd name="connsiteX3" fmla="*/ 1741987 w 5896196"/>
                <a:gd name="connsiteY3" fmla="*/ 8901 h 1876415"/>
                <a:gd name="connsiteX4" fmla="*/ 2597394 w 5896196"/>
                <a:gd name="connsiteY4" fmla="*/ 23649 h 1876415"/>
                <a:gd name="connsiteX5" fmla="*/ 3792013 w 5896196"/>
                <a:gd name="connsiteY5" fmla="*/ 82643 h 1876415"/>
                <a:gd name="connsiteX6" fmla="*/ 3998490 w 5896196"/>
                <a:gd name="connsiteY6" fmla="*/ 761068 h 1876415"/>
                <a:gd name="connsiteX7" fmla="*/ 5620813 w 5896196"/>
                <a:gd name="connsiteY7" fmla="*/ 628333 h 1876415"/>
                <a:gd name="connsiteX8" fmla="*/ 5753549 w 5896196"/>
                <a:gd name="connsiteY8" fmla="*/ 1572230 h 1876415"/>
                <a:gd name="connsiteX9" fmla="*/ 4160723 w 5896196"/>
                <a:gd name="connsiteY9" fmla="*/ 1675468 h 1876415"/>
                <a:gd name="connsiteX10" fmla="*/ 3836258 w 5896196"/>
                <a:gd name="connsiteY10" fmla="*/ 923301 h 1876415"/>
                <a:gd name="connsiteX11" fmla="*/ 2066452 w 5896196"/>
                <a:gd name="connsiteY11" fmla="*/ 834810 h 1876415"/>
                <a:gd name="connsiteX12" fmla="*/ 1078310 w 5896196"/>
                <a:gd name="connsiteY12" fmla="*/ 879055 h 1876415"/>
                <a:gd name="connsiteX13" fmla="*/ 1166800 w 5896196"/>
                <a:gd name="connsiteY13" fmla="*/ 1763959 h 1876415"/>
                <a:gd name="connsiteX14" fmla="*/ 60671 w 5896196"/>
                <a:gd name="connsiteY14" fmla="*/ 1749210 h 1876415"/>
                <a:gd name="connsiteX15" fmla="*/ 222903 w 5896196"/>
                <a:gd name="connsiteY15" fmla="*/ 731572 h 18764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896196" h="1876415">
                  <a:moveTo>
                    <a:pt x="222903" y="731572"/>
                  </a:moveTo>
                  <a:cubicBezTo>
                    <a:pt x="353180" y="557050"/>
                    <a:pt x="699768" y="797940"/>
                    <a:pt x="842336" y="702075"/>
                  </a:cubicBezTo>
                  <a:cubicBezTo>
                    <a:pt x="984904" y="606210"/>
                    <a:pt x="928368" y="271913"/>
                    <a:pt x="1078310" y="156384"/>
                  </a:cubicBezTo>
                  <a:cubicBezTo>
                    <a:pt x="1228252" y="40855"/>
                    <a:pt x="1488806" y="31023"/>
                    <a:pt x="1741987" y="8901"/>
                  </a:cubicBezTo>
                  <a:cubicBezTo>
                    <a:pt x="1995168" y="-13221"/>
                    <a:pt x="2255723" y="11359"/>
                    <a:pt x="2597394" y="23649"/>
                  </a:cubicBezTo>
                  <a:cubicBezTo>
                    <a:pt x="2939065" y="35939"/>
                    <a:pt x="3558497" y="-40260"/>
                    <a:pt x="3792013" y="82643"/>
                  </a:cubicBezTo>
                  <a:cubicBezTo>
                    <a:pt x="4025529" y="205546"/>
                    <a:pt x="3693690" y="670120"/>
                    <a:pt x="3998490" y="761068"/>
                  </a:cubicBezTo>
                  <a:cubicBezTo>
                    <a:pt x="4303290" y="852016"/>
                    <a:pt x="5328303" y="493139"/>
                    <a:pt x="5620813" y="628333"/>
                  </a:cubicBezTo>
                  <a:cubicBezTo>
                    <a:pt x="5913323" y="763527"/>
                    <a:pt x="5996897" y="1397708"/>
                    <a:pt x="5753549" y="1572230"/>
                  </a:cubicBezTo>
                  <a:cubicBezTo>
                    <a:pt x="5510201" y="1746752"/>
                    <a:pt x="4480271" y="1783623"/>
                    <a:pt x="4160723" y="1675468"/>
                  </a:cubicBezTo>
                  <a:cubicBezTo>
                    <a:pt x="3841175" y="1567313"/>
                    <a:pt x="4185303" y="1063411"/>
                    <a:pt x="3836258" y="923301"/>
                  </a:cubicBezTo>
                  <a:cubicBezTo>
                    <a:pt x="3487213" y="783191"/>
                    <a:pt x="2526110" y="842184"/>
                    <a:pt x="2066452" y="834810"/>
                  </a:cubicBezTo>
                  <a:cubicBezTo>
                    <a:pt x="1606794" y="827436"/>
                    <a:pt x="1228252" y="724197"/>
                    <a:pt x="1078310" y="879055"/>
                  </a:cubicBezTo>
                  <a:cubicBezTo>
                    <a:pt x="928368" y="1033913"/>
                    <a:pt x="1336406" y="1618933"/>
                    <a:pt x="1166800" y="1763959"/>
                  </a:cubicBezTo>
                  <a:cubicBezTo>
                    <a:pt x="997194" y="1908985"/>
                    <a:pt x="220445" y="1923733"/>
                    <a:pt x="60671" y="1749210"/>
                  </a:cubicBezTo>
                  <a:cubicBezTo>
                    <a:pt x="-99103" y="1574687"/>
                    <a:pt x="92626" y="906094"/>
                    <a:pt x="222903" y="731572"/>
                  </a:cubicBezTo>
                  <a:close/>
                </a:path>
              </a:pathLst>
            </a:cu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dirty="0"/>
            </a:p>
          </p:txBody>
        </p:sp>
        <p:sp>
          <p:nvSpPr>
            <p:cNvPr id="62" name="TextBox 61">
              <a:extLst>
                <a:ext uri="{FF2B5EF4-FFF2-40B4-BE49-F238E27FC236}">
                  <a16:creationId xmlns:a16="http://schemas.microsoft.com/office/drawing/2014/main" id="{E2882F32-AACC-C392-EE0D-772E24DE3878}"/>
                </a:ext>
              </a:extLst>
            </p:cNvPr>
            <p:cNvSpPr txBox="1"/>
            <p:nvPr/>
          </p:nvSpPr>
          <p:spPr>
            <a:xfrm>
              <a:off x="8046003" y="5473366"/>
              <a:ext cx="1715726" cy="461665"/>
            </a:xfrm>
            <a:prstGeom prst="rect">
              <a:avLst/>
            </a:prstGeom>
            <a:noFill/>
          </p:spPr>
          <p:txBody>
            <a:bodyPr wrap="none" rtlCol="0">
              <a:spAutoFit/>
            </a:bodyPr>
            <a:lstStyle/>
            <a:p>
              <a:r>
                <a:rPr lang="en-US" sz="2400" b="1" dirty="0">
                  <a:solidFill>
                    <a:schemeClr val="bg1"/>
                  </a:solidFill>
                  <a:latin typeface="Courier New" panose="02070309020205020404" pitchFamily="49" charset="0"/>
                  <a:cs typeface="Courier New" panose="02070309020205020404" pitchFamily="49" charset="0"/>
                </a:rPr>
                <a:t>REDACTED</a:t>
              </a:r>
            </a:p>
          </p:txBody>
        </p:sp>
      </p:grpSp>
    </p:spTree>
    <p:extLst>
      <p:ext uri="{BB962C8B-B14F-4D97-AF65-F5344CB8AC3E}">
        <p14:creationId xmlns:p14="http://schemas.microsoft.com/office/powerpoint/2010/main" val="41699505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6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60" grpId="0"/>
      <p:bldP spid="61"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7EB441-1362-35EC-09A5-449602D02206}"/>
              </a:ext>
            </a:extLst>
          </p:cNvPr>
          <p:cNvSpPr>
            <a:spLocks noGrp="1"/>
          </p:cNvSpPr>
          <p:nvPr>
            <p:ph type="title"/>
          </p:nvPr>
        </p:nvSpPr>
        <p:spPr/>
        <p:txBody>
          <a:bodyPr/>
          <a:lstStyle/>
          <a:p>
            <a:r>
              <a:rPr lang="en-US" dirty="0"/>
              <a:t>The magic of randomization!</a:t>
            </a:r>
          </a:p>
        </p:txBody>
      </p:sp>
      <p:sp>
        <p:nvSpPr>
          <p:cNvPr id="3" name="Content Placeholder 2">
            <a:extLst>
              <a:ext uri="{FF2B5EF4-FFF2-40B4-BE49-F238E27FC236}">
                <a16:creationId xmlns:a16="http://schemas.microsoft.com/office/drawing/2014/main" id="{4D8B9241-96A3-BE3A-CE2E-C31FC79E3BDE}"/>
              </a:ext>
            </a:extLst>
          </p:cNvPr>
          <p:cNvSpPr>
            <a:spLocks noGrp="1"/>
          </p:cNvSpPr>
          <p:nvPr>
            <p:ph idx="1"/>
          </p:nvPr>
        </p:nvSpPr>
        <p:spPr>
          <a:xfrm>
            <a:off x="838200" y="1825624"/>
            <a:ext cx="10515600" cy="4868235"/>
          </a:xfrm>
        </p:spPr>
        <p:txBody>
          <a:bodyPr>
            <a:normAutofit/>
          </a:bodyPr>
          <a:lstStyle/>
          <a:p>
            <a:r>
              <a:rPr lang="en-US" dirty="0"/>
              <a:t>With a randomized experiment, we can get an unbiased estimator for the ATE!</a:t>
            </a:r>
          </a:p>
          <a:p>
            <a:r>
              <a:rPr lang="en-US" dirty="0"/>
              <a:t>But we should still be worried…</a:t>
            </a:r>
          </a:p>
          <a:p>
            <a:pPr marL="971550" lvl="1" indent="-514350">
              <a:buFont typeface="+mj-lt"/>
              <a:buAutoNum type="arabicPeriod"/>
            </a:pPr>
            <a:r>
              <a:rPr lang="en-US" dirty="0">
                <a:solidFill>
                  <a:schemeClr val="accent1"/>
                </a:solidFill>
              </a:rPr>
              <a:t>External Validity</a:t>
            </a:r>
          </a:p>
          <a:p>
            <a:pPr marL="971550" lvl="1" indent="-514350">
              <a:buFont typeface="+mj-lt"/>
              <a:buAutoNum type="arabicPeriod"/>
            </a:pPr>
            <a:r>
              <a:rPr lang="en-US" dirty="0">
                <a:solidFill>
                  <a:schemeClr val="accent1"/>
                </a:solidFill>
              </a:rPr>
              <a:t>Construct Validity</a:t>
            </a:r>
          </a:p>
          <a:p>
            <a:pPr marL="971550" lvl="1" indent="-514350">
              <a:buFont typeface="+mj-lt"/>
              <a:buAutoNum type="arabicPeriod"/>
            </a:pPr>
            <a:r>
              <a:rPr lang="en-US" dirty="0">
                <a:solidFill>
                  <a:schemeClr val="accent1"/>
                </a:solidFill>
              </a:rPr>
              <a:t>Spillover Effects</a:t>
            </a:r>
          </a:p>
          <a:p>
            <a:pPr marL="971550" lvl="1" indent="-514350">
              <a:buFont typeface="+mj-lt"/>
              <a:buAutoNum type="arabicPeriod"/>
            </a:pPr>
            <a:r>
              <a:rPr lang="en-US" dirty="0">
                <a:solidFill>
                  <a:schemeClr val="accent1"/>
                </a:solidFill>
              </a:rPr>
              <a:t>Ethical Concerns</a:t>
            </a:r>
          </a:p>
          <a:p>
            <a:pPr marL="971550" lvl="1" indent="-514350">
              <a:buFont typeface="+mj-lt"/>
              <a:buAutoNum type="arabicPeriod"/>
            </a:pPr>
            <a:endParaRPr lang="en-US" dirty="0">
              <a:solidFill>
                <a:schemeClr val="accent1"/>
              </a:solidFill>
            </a:endParaRPr>
          </a:p>
          <a:p>
            <a:r>
              <a:rPr lang="en-US" dirty="0"/>
              <a:t>We can do fancy experiments!</a:t>
            </a:r>
          </a:p>
          <a:p>
            <a:pPr lvl="1"/>
            <a:r>
              <a:rPr lang="en-US" dirty="0">
                <a:solidFill>
                  <a:schemeClr val="accent1"/>
                </a:solidFill>
              </a:rPr>
              <a:t>Adaptive experiments and multi-armed bandits!</a:t>
            </a:r>
          </a:p>
          <a:p>
            <a:pPr lvl="1"/>
            <a:r>
              <a:rPr lang="en-US" dirty="0">
                <a:solidFill>
                  <a:schemeClr val="accent1"/>
                </a:solidFill>
              </a:rPr>
              <a:t>Thompson Sampling! UCB!</a:t>
            </a:r>
          </a:p>
        </p:txBody>
      </p:sp>
      <p:pic>
        <p:nvPicPr>
          <p:cNvPr id="4" name="Picture 2" descr="Roll the Dice: A fun probability experiment for all ages | by Kyle McIntyre  | Medium">
            <a:extLst>
              <a:ext uri="{FF2B5EF4-FFF2-40B4-BE49-F238E27FC236}">
                <a16:creationId xmlns:a16="http://schemas.microsoft.com/office/drawing/2014/main" id="{4F2BBD3C-42E3-025E-B487-C31B91D2D51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76591" y="534055"/>
            <a:ext cx="1320100" cy="987701"/>
          </a:xfrm>
          <a:prstGeom prst="rect">
            <a:avLst/>
          </a:prstGeom>
          <a:noFill/>
          <a:extLst>
            <a:ext uri="{909E8E84-426E-40DD-AFC4-6F175D3DCCD1}">
              <a14:hiddenFill xmlns:a14="http://schemas.microsoft.com/office/drawing/2010/main">
                <a:solidFill>
                  <a:srgbClr val="FFFFFF"/>
                </a:solidFill>
              </a14:hiddenFill>
            </a:ext>
          </a:extLst>
        </p:spPr>
      </p:pic>
      <p:grpSp>
        <p:nvGrpSpPr>
          <p:cNvPr id="5" name="Group 4">
            <a:extLst>
              <a:ext uri="{FF2B5EF4-FFF2-40B4-BE49-F238E27FC236}">
                <a16:creationId xmlns:a16="http://schemas.microsoft.com/office/drawing/2014/main" id="{8121F051-2773-BC74-1B48-2B0417A76387}"/>
              </a:ext>
            </a:extLst>
          </p:cNvPr>
          <p:cNvGrpSpPr/>
          <p:nvPr/>
        </p:nvGrpSpPr>
        <p:grpSpPr>
          <a:xfrm>
            <a:off x="5906713" y="2532308"/>
            <a:ext cx="2503877" cy="2377260"/>
            <a:chOff x="954158" y="3378478"/>
            <a:chExt cx="3261774" cy="3096832"/>
          </a:xfrm>
        </p:grpSpPr>
        <p:grpSp>
          <p:nvGrpSpPr>
            <p:cNvPr id="6" name="Group 5">
              <a:extLst>
                <a:ext uri="{FF2B5EF4-FFF2-40B4-BE49-F238E27FC236}">
                  <a16:creationId xmlns:a16="http://schemas.microsoft.com/office/drawing/2014/main" id="{126D6D9B-F489-F623-A8F8-8DC72FCCDC3C}"/>
                </a:ext>
              </a:extLst>
            </p:cNvPr>
            <p:cNvGrpSpPr/>
            <p:nvPr/>
          </p:nvGrpSpPr>
          <p:grpSpPr>
            <a:xfrm>
              <a:off x="954158" y="4133733"/>
              <a:ext cx="994718" cy="2341577"/>
              <a:chOff x="1637029" y="2533899"/>
              <a:chExt cx="854378" cy="1790201"/>
            </a:xfrm>
          </p:grpSpPr>
          <p:pic>
            <p:nvPicPr>
              <p:cNvPr id="8" name="Picture 7">
                <a:extLst>
                  <a:ext uri="{FF2B5EF4-FFF2-40B4-BE49-F238E27FC236}">
                    <a16:creationId xmlns:a16="http://schemas.microsoft.com/office/drawing/2014/main" id="{EB96C298-36EC-21AA-4FB7-B1F870FD05E0}"/>
                  </a:ext>
                </a:extLst>
              </p:cNvPr>
              <p:cNvPicPr>
                <a:picLocks noChangeAspect="1"/>
              </p:cNvPicPr>
              <p:nvPr/>
            </p:nvPicPr>
            <p:blipFill>
              <a:blip r:embed="rId4"/>
              <a:stretch>
                <a:fillRect/>
              </a:stretch>
            </p:blipFill>
            <p:spPr>
              <a:xfrm flipH="1">
                <a:off x="1637029" y="2533899"/>
                <a:ext cx="854378" cy="1790201"/>
              </a:xfrm>
              <a:prstGeom prst="rect">
                <a:avLst/>
              </a:prstGeom>
            </p:spPr>
          </p:pic>
          <p:pic>
            <p:nvPicPr>
              <p:cNvPr id="9" name="Picture 4" descr="Download Graduation Mortarboard Clipart Png Lat | Wallpapers.com">
                <a:extLst>
                  <a:ext uri="{FF2B5EF4-FFF2-40B4-BE49-F238E27FC236}">
                    <a16:creationId xmlns:a16="http://schemas.microsoft.com/office/drawing/2014/main" id="{3762DC9D-CF8A-3D63-948C-DB88483F0DC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37029" y="2773017"/>
                <a:ext cx="655983" cy="655983"/>
              </a:xfrm>
              <a:prstGeom prst="rect">
                <a:avLst/>
              </a:prstGeom>
              <a:noFill/>
              <a:extLst>
                <a:ext uri="{909E8E84-426E-40DD-AFC4-6F175D3DCCD1}">
                  <a14:hiddenFill xmlns:a14="http://schemas.microsoft.com/office/drawing/2010/main">
                    <a:solidFill>
                      <a:srgbClr val="FFFFFF"/>
                    </a:solidFill>
                  </a14:hiddenFill>
                </a:ext>
              </a:extLst>
            </p:spPr>
          </p:pic>
        </p:grpSp>
        <p:sp>
          <p:nvSpPr>
            <p:cNvPr id="7" name="Rounded Rectangular Callout 6">
              <a:extLst>
                <a:ext uri="{FF2B5EF4-FFF2-40B4-BE49-F238E27FC236}">
                  <a16:creationId xmlns:a16="http://schemas.microsoft.com/office/drawing/2014/main" id="{DDF04EDC-CAE9-AAB3-63ED-2F99DC0BBC1A}"/>
                </a:ext>
              </a:extLst>
            </p:cNvPr>
            <p:cNvSpPr/>
            <p:nvPr/>
          </p:nvSpPr>
          <p:spPr>
            <a:xfrm>
              <a:off x="2222145" y="3378478"/>
              <a:ext cx="1993787" cy="1606330"/>
            </a:xfrm>
            <a:prstGeom prst="wedgeRoundRectCallout">
              <a:avLst>
                <a:gd name="adj1" fmla="val -67773"/>
                <a:gd name="adj2" fmla="val 38019"/>
                <a:gd name="adj3" fmla="val 16667"/>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I’m going to do an RCT to see if parachutes work! </a:t>
              </a:r>
            </a:p>
          </p:txBody>
        </p:sp>
      </p:grpSp>
      <p:grpSp>
        <p:nvGrpSpPr>
          <p:cNvPr id="10" name="Group 9">
            <a:extLst>
              <a:ext uri="{FF2B5EF4-FFF2-40B4-BE49-F238E27FC236}">
                <a16:creationId xmlns:a16="http://schemas.microsoft.com/office/drawing/2014/main" id="{4DDA3A06-7DBF-A61E-1075-E1FD6E45A8AC}"/>
              </a:ext>
            </a:extLst>
          </p:cNvPr>
          <p:cNvGrpSpPr/>
          <p:nvPr/>
        </p:nvGrpSpPr>
        <p:grpSpPr>
          <a:xfrm>
            <a:off x="7385502" y="1859618"/>
            <a:ext cx="4833393" cy="3338292"/>
            <a:chOff x="7388084" y="795441"/>
            <a:chExt cx="4833393" cy="3338292"/>
          </a:xfrm>
        </p:grpSpPr>
        <p:pic>
          <p:nvPicPr>
            <p:cNvPr id="11" name="Picture 10">
              <a:extLst>
                <a:ext uri="{FF2B5EF4-FFF2-40B4-BE49-F238E27FC236}">
                  <a16:creationId xmlns:a16="http://schemas.microsoft.com/office/drawing/2014/main" id="{FEB6DF47-F4F1-38A1-D54F-BF45C5D201CC}"/>
                </a:ext>
              </a:extLst>
            </p:cNvPr>
            <p:cNvPicPr>
              <a:picLocks noChangeAspect="1"/>
            </p:cNvPicPr>
            <p:nvPr/>
          </p:nvPicPr>
          <p:blipFill rotWithShape="1">
            <a:blip r:embed="rId6"/>
            <a:srcRect b="13370"/>
            <a:stretch/>
          </p:blipFill>
          <p:spPr>
            <a:xfrm>
              <a:off x="9886123" y="795441"/>
              <a:ext cx="2335354" cy="3283551"/>
            </a:xfrm>
            <a:prstGeom prst="rect">
              <a:avLst/>
            </a:prstGeom>
          </p:spPr>
        </p:pic>
        <p:sp>
          <p:nvSpPr>
            <p:cNvPr id="12" name="Rounded Rectangular Callout 11">
              <a:extLst>
                <a:ext uri="{FF2B5EF4-FFF2-40B4-BE49-F238E27FC236}">
                  <a16:creationId xmlns:a16="http://schemas.microsoft.com/office/drawing/2014/main" id="{0EA08303-E911-9462-742D-72C95E706533}"/>
                </a:ext>
              </a:extLst>
            </p:cNvPr>
            <p:cNvSpPr/>
            <p:nvPr/>
          </p:nvSpPr>
          <p:spPr>
            <a:xfrm>
              <a:off x="7388084" y="2629130"/>
              <a:ext cx="2673631" cy="1504603"/>
            </a:xfrm>
            <a:prstGeom prst="wedgeRoundRectCallout">
              <a:avLst>
                <a:gd name="adj1" fmla="val 62887"/>
                <a:gd name="adj2" fmla="val -48814"/>
                <a:gd name="adj3" fmla="val 16667"/>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I mean, I’m glad I’m in the treatment group, but is this really necessary?</a:t>
              </a:r>
            </a:p>
          </p:txBody>
        </p:sp>
      </p:grpSp>
      <p:pic>
        <p:nvPicPr>
          <p:cNvPr id="13" name="Picture 4">
            <a:extLst>
              <a:ext uri="{FF2B5EF4-FFF2-40B4-BE49-F238E27FC236}">
                <a16:creationId xmlns:a16="http://schemas.microsoft.com/office/drawing/2014/main" id="{8A7ACCCE-AD06-FD36-843E-FC34C2E7F631}"/>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714218" y="4742077"/>
            <a:ext cx="2354783" cy="1951783"/>
          </a:xfrm>
          <a:prstGeom prst="rect">
            <a:avLst/>
          </a:prstGeom>
          <a:noFill/>
          <a:ln>
            <a:solidFill>
              <a:schemeClr val="tx1"/>
            </a:solidFill>
          </a:ln>
          <a:effectLst>
            <a:outerShdw blurRad="50800" dist="38100" dir="8100000" algn="tr"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152515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9" presetClass="entr" presetSubtype="0" decel="10000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 calcmode="lin" valueType="num">
                                      <p:cBhvr>
                                        <p:cTn id="9" dur="500" fill="hold"/>
                                        <p:tgtEl>
                                          <p:spTgt spid="4"/>
                                        </p:tgtEl>
                                        <p:attrNameLst>
                                          <p:attrName>style.rotation</p:attrName>
                                        </p:attrNameLst>
                                      </p:cBhvr>
                                      <p:tavLst>
                                        <p:tav tm="0">
                                          <p:val>
                                            <p:fltVal val="360"/>
                                          </p:val>
                                        </p:tav>
                                        <p:tav tm="100000">
                                          <p:val>
                                            <p:fltVal val="0"/>
                                          </p:val>
                                        </p:tav>
                                      </p:tavLst>
                                    </p:anim>
                                    <p:animEffect transition="in" filter="fade">
                                      <p:cBhvr>
                                        <p:cTn id="10" dur="5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2" presetClass="entr" presetSubtype="1" decel="50000" fill="hold" nodeType="clickEffect">
                                  <p:stCondLst>
                                    <p:cond delay="0"/>
                                  </p:stCondLst>
                                  <p:childTnLst>
                                    <p:set>
                                      <p:cBhvr>
                                        <p:cTn id="34" dur="1" fill="hold">
                                          <p:stCondLst>
                                            <p:cond delay="0"/>
                                          </p:stCondLst>
                                        </p:cTn>
                                        <p:tgtEl>
                                          <p:spTgt spid="10"/>
                                        </p:tgtEl>
                                        <p:attrNameLst>
                                          <p:attrName>style.visibility</p:attrName>
                                        </p:attrNameLst>
                                      </p:cBhvr>
                                      <p:to>
                                        <p:strVal val="visible"/>
                                      </p:to>
                                    </p:set>
                                    <p:anim calcmode="lin" valueType="num">
                                      <p:cBhvr additive="base">
                                        <p:cTn id="35" dur="1000" fill="hold"/>
                                        <p:tgtEl>
                                          <p:spTgt spid="10"/>
                                        </p:tgtEl>
                                        <p:attrNameLst>
                                          <p:attrName>ppt_x</p:attrName>
                                        </p:attrNameLst>
                                      </p:cBhvr>
                                      <p:tavLst>
                                        <p:tav tm="0">
                                          <p:val>
                                            <p:strVal val="#ppt_x"/>
                                          </p:val>
                                        </p:tav>
                                        <p:tav tm="100000">
                                          <p:val>
                                            <p:strVal val="#ppt_x"/>
                                          </p:val>
                                        </p:tav>
                                      </p:tavLst>
                                    </p:anim>
                                    <p:anim calcmode="lin" valueType="num">
                                      <p:cBhvr additive="base">
                                        <p:cTn id="36" dur="1000" fill="hold"/>
                                        <p:tgtEl>
                                          <p:spTgt spid="10"/>
                                        </p:tgtEl>
                                        <p:attrNameLst>
                                          <p:attrName>ppt_y</p:attrName>
                                        </p:attrNameLst>
                                      </p:cBhvr>
                                      <p:tavLst>
                                        <p:tav tm="0">
                                          <p:val>
                                            <p:strVal val="0-#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3">
                                            <p:txEl>
                                              <p:pRg st="7" end="7"/>
                                            </p:txEl>
                                          </p:spTgt>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
                                            <p:txEl>
                                              <p:pRg st="8" end="8"/>
                                            </p:txEl>
                                          </p:spTgt>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
                                            <p:txEl>
                                              <p:pRg st="9" end="9"/>
                                            </p:txEl>
                                          </p:spTgt>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15E4C3-B58E-592E-631A-E15E46E0B73F}"/>
              </a:ext>
            </a:extLst>
          </p:cNvPr>
          <p:cNvSpPr>
            <a:spLocks noGrp="1"/>
          </p:cNvSpPr>
          <p:nvPr>
            <p:ph type="title"/>
          </p:nvPr>
        </p:nvSpPr>
        <p:spPr/>
        <p:txBody>
          <a:bodyPr/>
          <a:lstStyle/>
          <a:p>
            <a:r>
              <a:rPr lang="en-US" dirty="0"/>
              <a:t>The effect of UBI</a:t>
            </a:r>
          </a:p>
        </p:txBody>
      </p:sp>
      <p:pic>
        <p:nvPicPr>
          <p:cNvPr id="4" name="Picture 10" descr="Lux - luxury paper bag - Papiroti">
            <a:extLst>
              <a:ext uri="{FF2B5EF4-FFF2-40B4-BE49-F238E27FC236}">
                <a16:creationId xmlns:a16="http://schemas.microsoft.com/office/drawing/2014/main" id="{7186E970-0BEA-2226-13C6-F809FC9EF36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10849199" y="4136533"/>
            <a:ext cx="1315939" cy="1137424"/>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8" descr="Custom Luxury Recycled High Quality Black Paper Shopping Bag for Packaging  Gift with Handle - AliExpress">
            <a:extLst>
              <a:ext uri="{FF2B5EF4-FFF2-40B4-BE49-F238E27FC236}">
                <a16:creationId xmlns:a16="http://schemas.microsoft.com/office/drawing/2014/main" id="{9EA37E42-0188-83C5-C157-3480ECFC01A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91823" y="3898898"/>
            <a:ext cx="1612695" cy="1612695"/>
          </a:xfrm>
          <a:prstGeom prst="rect">
            <a:avLst/>
          </a:prstGeom>
          <a:noFill/>
          <a:extLst>
            <a:ext uri="{909E8E84-426E-40DD-AFC4-6F175D3DCCD1}">
              <a14:hiddenFill xmlns:a14="http://schemas.microsoft.com/office/drawing/2010/main">
                <a:solidFill>
                  <a:srgbClr val="FFFFFF"/>
                </a:solidFill>
              </a14:hiddenFill>
            </a:ext>
          </a:extLst>
        </p:spPr>
      </p:pic>
      <p:grpSp>
        <p:nvGrpSpPr>
          <p:cNvPr id="6" name="Group 5">
            <a:extLst>
              <a:ext uri="{FF2B5EF4-FFF2-40B4-BE49-F238E27FC236}">
                <a16:creationId xmlns:a16="http://schemas.microsoft.com/office/drawing/2014/main" id="{FE03A2E7-4EED-31ED-3524-2B8E97414042}"/>
              </a:ext>
            </a:extLst>
          </p:cNvPr>
          <p:cNvGrpSpPr/>
          <p:nvPr/>
        </p:nvGrpSpPr>
        <p:grpSpPr>
          <a:xfrm>
            <a:off x="838200" y="1792919"/>
            <a:ext cx="5744388" cy="4247685"/>
            <a:chOff x="761515" y="1375569"/>
            <a:chExt cx="5744388" cy="4247685"/>
          </a:xfrm>
        </p:grpSpPr>
        <p:pic>
          <p:nvPicPr>
            <p:cNvPr id="7" name="Picture 2" descr="TAKE IT TO THE LIMITS: Milton Friedman on Libertarianism | Hoover  Institution TAKE IT TO THE LIMITS: Milton Friedman on Libertarianism">
              <a:extLst>
                <a:ext uri="{FF2B5EF4-FFF2-40B4-BE49-F238E27FC236}">
                  <a16:creationId xmlns:a16="http://schemas.microsoft.com/office/drawing/2014/main" id="{96A1BB75-44F5-6BDF-1051-D65AEC4EC26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flipH="1">
              <a:off x="838200" y="2742951"/>
              <a:ext cx="1728617" cy="2510971"/>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58BD3DD5-F76F-88CF-F774-FDD8D2841FEF}"/>
                </a:ext>
              </a:extLst>
            </p:cNvPr>
            <p:cNvSpPr txBox="1"/>
            <p:nvPr/>
          </p:nvSpPr>
          <p:spPr>
            <a:xfrm>
              <a:off x="761515" y="5253922"/>
              <a:ext cx="1805302" cy="369332"/>
            </a:xfrm>
            <a:prstGeom prst="rect">
              <a:avLst/>
            </a:prstGeom>
            <a:noFill/>
          </p:spPr>
          <p:txBody>
            <a:bodyPr wrap="none" rtlCol="0">
              <a:spAutoFit/>
            </a:bodyPr>
            <a:lstStyle/>
            <a:p>
              <a:r>
                <a:rPr lang="en-US" dirty="0"/>
                <a:t>Milton Friedman</a:t>
              </a:r>
            </a:p>
          </p:txBody>
        </p:sp>
        <p:sp>
          <p:nvSpPr>
            <p:cNvPr id="9" name="Rounded Rectangular Callout 8">
              <a:extLst>
                <a:ext uri="{FF2B5EF4-FFF2-40B4-BE49-F238E27FC236}">
                  <a16:creationId xmlns:a16="http://schemas.microsoft.com/office/drawing/2014/main" id="{C6206B3F-16A6-B4E1-ED9D-45663E57875E}"/>
                </a:ext>
              </a:extLst>
            </p:cNvPr>
            <p:cNvSpPr/>
            <p:nvPr/>
          </p:nvSpPr>
          <p:spPr>
            <a:xfrm>
              <a:off x="3214688" y="1375569"/>
              <a:ext cx="3291215" cy="2214563"/>
            </a:xfrm>
            <a:prstGeom prst="wedgeRoundRectCallout">
              <a:avLst>
                <a:gd name="adj1" fmla="val -80549"/>
                <a:gd name="adj2" fmla="val 31837"/>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t>When people win a one-time lottery, they will only increase consumption by a little bit.</a:t>
              </a:r>
            </a:p>
          </p:txBody>
        </p:sp>
      </p:grpSp>
      <p:grpSp>
        <p:nvGrpSpPr>
          <p:cNvPr id="10" name="Group 9">
            <a:extLst>
              <a:ext uri="{FF2B5EF4-FFF2-40B4-BE49-F238E27FC236}">
                <a16:creationId xmlns:a16="http://schemas.microsoft.com/office/drawing/2014/main" id="{3A15599D-A93F-1756-ECCB-D9930C8C2AA7}"/>
              </a:ext>
            </a:extLst>
          </p:cNvPr>
          <p:cNvGrpSpPr/>
          <p:nvPr/>
        </p:nvGrpSpPr>
        <p:grpSpPr>
          <a:xfrm>
            <a:off x="6696730" y="1690688"/>
            <a:ext cx="5167143" cy="4343869"/>
            <a:chOff x="6620045" y="1273338"/>
            <a:chExt cx="5167143" cy="4343869"/>
          </a:xfrm>
        </p:grpSpPr>
        <p:pic>
          <p:nvPicPr>
            <p:cNvPr id="11" name="Picture 10" descr="Adoptable Rabbits | morabbit">
              <a:extLst>
                <a:ext uri="{FF2B5EF4-FFF2-40B4-BE49-F238E27FC236}">
                  <a16:creationId xmlns:a16="http://schemas.microsoft.com/office/drawing/2014/main" id="{46B4FDF8-95CC-2717-A369-629E4C66CFE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flipH="1">
              <a:off x="9625183" y="2544420"/>
              <a:ext cx="1805302" cy="2964508"/>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F710C24B-9A79-997F-F483-D3AADF4AA41B}"/>
                </a:ext>
              </a:extLst>
            </p:cNvPr>
            <p:cNvSpPr txBox="1"/>
            <p:nvPr/>
          </p:nvSpPr>
          <p:spPr>
            <a:xfrm>
              <a:off x="9489452" y="5247875"/>
              <a:ext cx="2297736" cy="369332"/>
            </a:xfrm>
            <a:prstGeom prst="rect">
              <a:avLst/>
            </a:prstGeom>
            <a:noFill/>
          </p:spPr>
          <p:txBody>
            <a:bodyPr wrap="square" rtlCol="0">
              <a:spAutoFit/>
            </a:bodyPr>
            <a:lstStyle/>
            <a:p>
              <a:r>
                <a:rPr lang="en-US" dirty="0"/>
                <a:t>“Common Sense”</a:t>
              </a:r>
            </a:p>
          </p:txBody>
        </p:sp>
        <p:sp>
          <p:nvSpPr>
            <p:cNvPr id="13" name="Rounded Rectangular Callout 12">
              <a:extLst>
                <a:ext uri="{FF2B5EF4-FFF2-40B4-BE49-F238E27FC236}">
                  <a16:creationId xmlns:a16="http://schemas.microsoft.com/office/drawing/2014/main" id="{49D0E98A-FF94-F950-6DA2-8D305DCC4319}"/>
                </a:ext>
              </a:extLst>
            </p:cNvPr>
            <p:cNvSpPr/>
            <p:nvPr/>
          </p:nvSpPr>
          <p:spPr>
            <a:xfrm>
              <a:off x="6620045" y="1273338"/>
              <a:ext cx="3057525" cy="869788"/>
            </a:xfrm>
            <a:prstGeom prst="wedgeRoundRectCallout">
              <a:avLst>
                <a:gd name="adj1" fmla="val 68984"/>
                <a:gd name="adj2" fmla="val 119135"/>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t>Oh is that so?</a:t>
              </a:r>
            </a:p>
          </p:txBody>
        </p:sp>
      </p:grpSp>
      <p:pic>
        <p:nvPicPr>
          <p:cNvPr id="14" name="Picture 2" descr="Custom | Fly Mami Necklace – Lela Aura">
            <a:extLst>
              <a:ext uri="{FF2B5EF4-FFF2-40B4-BE49-F238E27FC236}">
                <a16:creationId xmlns:a16="http://schemas.microsoft.com/office/drawing/2014/main" id="{0DF0C923-B28D-5809-5B71-D6C2EEF45A65}"/>
              </a:ext>
            </a:extLst>
          </p:cNvPr>
          <p:cNvPicPr>
            <a:picLocks noChangeAspect="1" noChangeArrowheads="1"/>
          </p:cNvPicPr>
          <p:nvPr/>
        </p:nvPicPr>
        <p:blipFill>
          <a:blip r:embed="rId7">
            <a:lum bright="70000" contrast="-70000"/>
            <a:extLst>
              <a:ext uri="{BEBA8EAE-BF5A-486C-A8C5-ECC9F3942E4B}">
                <a14:imgProps xmlns:a14="http://schemas.microsoft.com/office/drawing/2010/main">
                  <a14:imgLayer r:embed="rId8">
                    <a14:imgEffect>
                      <a14:colorTemperature colorTemp="5959"/>
                    </a14:imgEffect>
                    <a14:imgEffect>
                      <a14:saturation sat="400000"/>
                    </a14:imgEffect>
                  </a14:imgLayer>
                </a14:imgProps>
              </a:ext>
              <a:ext uri="{28A0092B-C50C-407E-A947-70E740481C1C}">
                <a14:useLocalDpi xmlns:a14="http://schemas.microsoft.com/office/drawing/2010/main" val="0"/>
              </a:ext>
            </a:extLst>
          </a:blip>
          <a:srcRect/>
          <a:stretch>
            <a:fillRect/>
          </a:stretch>
        </p:blipFill>
        <p:spPr bwMode="auto">
          <a:xfrm>
            <a:off x="10115156" y="3886039"/>
            <a:ext cx="978725" cy="978725"/>
          </a:xfrm>
          <a:prstGeom prst="rect">
            <a:avLst/>
          </a:prstGeom>
          <a:noFill/>
          <a:effectLst>
            <a:outerShdw blurRad="50800" dist="38100" dir="18900000" algn="b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15" name="Picture 6" descr="Amazon.com: Retro Cateye Sunglasses For Women UV400 Protection Cat Eye Bling  Rhinestone Sun Glasses: Clothing | ShopLook">
            <a:extLst>
              <a:ext uri="{FF2B5EF4-FFF2-40B4-BE49-F238E27FC236}">
                <a16:creationId xmlns:a16="http://schemas.microsoft.com/office/drawing/2014/main" id="{699D04B5-1BAE-A2F2-82DE-2180A1827B38}"/>
              </a:ext>
            </a:extLst>
          </p:cNvPr>
          <p:cNvPicPr>
            <a:picLocks noChangeAspect="1" noChangeArrowheads="1"/>
          </p:cNvPicPr>
          <p:nvPr/>
        </p:nvPicPr>
        <p:blipFill>
          <a:blip r:embed="rId9">
            <a:alphaModFix/>
            <a:duotone>
              <a:schemeClr val="accent1">
                <a:shade val="45000"/>
                <a:satMod val="135000"/>
              </a:schemeClr>
              <a:prstClr val="white"/>
            </a:duotone>
            <a:extLst>
              <a:ext uri="{BEBA8EAE-BF5A-486C-A8C5-ECC9F3942E4B}">
                <a14:imgProps xmlns:a14="http://schemas.microsoft.com/office/drawing/2010/main">
                  <a14:imgLayer r:embed="rId10">
                    <a14:imgEffect>
                      <a14:colorTemperature colorTemp="11500"/>
                    </a14:imgEffect>
                    <a14:imgEffect>
                      <a14:saturation sat="64000"/>
                    </a14:imgEffect>
                    <a14:imgEffect>
                      <a14:brightnessContrast bright="-7000" contrast="26000"/>
                    </a14:imgEffect>
                  </a14:imgLayer>
                </a14:imgProps>
              </a:ext>
              <a:ext uri="{28A0092B-C50C-407E-A947-70E740481C1C}">
                <a14:useLocalDpi xmlns:a14="http://schemas.microsoft.com/office/drawing/2010/main" val="0"/>
              </a:ext>
            </a:extLst>
          </a:blip>
          <a:srcRect/>
          <a:stretch>
            <a:fillRect/>
          </a:stretch>
        </p:blipFill>
        <p:spPr bwMode="auto">
          <a:xfrm rot="545029">
            <a:off x="9936735" y="3273891"/>
            <a:ext cx="1084541" cy="370565"/>
          </a:xfrm>
          <a:prstGeom prst="rect">
            <a:avLst/>
          </a:prstGeom>
          <a:noFill/>
          <a:scene3d>
            <a:camera prst="orthographicFront">
              <a:rot lat="0" lon="2400000" rev="0"/>
            </a:camera>
            <a:lightRig rig="threePt" dir="t"/>
          </a:scene3d>
          <a:extLst>
            <a:ext uri="{909E8E84-426E-40DD-AFC4-6F175D3DCCD1}">
              <a14:hiddenFill xmlns:a14="http://schemas.microsoft.com/office/drawing/2010/main">
                <a:solidFill>
                  <a:srgbClr val="FFFFFF"/>
                </a:solidFill>
              </a14:hiddenFill>
            </a:ext>
          </a:extLst>
        </p:spPr>
      </p:pic>
      <p:pic>
        <p:nvPicPr>
          <p:cNvPr id="16" name="Picture 12">
            <a:extLst>
              <a:ext uri="{FF2B5EF4-FFF2-40B4-BE49-F238E27FC236}">
                <a16:creationId xmlns:a16="http://schemas.microsoft.com/office/drawing/2014/main" id="{46E7C771-CBB9-9534-0F7B-CA9AE81002F4}"/>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089171" y="4210520"/>
            <a:ext cx="1728617" cy="1728617"/>
          </a:xfrm>
          <a:prstGeom prst="rect">
            <a:avLst/>
          </a:prstGeom>
          <a:noFill/>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891138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335C26-6449-E902-AADB-E28C263DD97D}"/>
              </a:ext>
            </a:extLst>
          </p:cNvPr>
          <p:cNvSpPr>
            <a:spLocks noGrp="1"/>
          </p:cNvSpPr>
          <p:nvPr>
            <p:ph type="title"/>
          </p:nvPr>
        </p:nvSpPr>
        <p:spPr/>
        <p:txBody>
          <a:bodyPr/>
          <a:lstStyle/>
          <a:p>
            <a:r>
              <a:rPr lang="en-US" dirty="0"/>
              <a:t>Regression!</a:t>
            </a:r>
          </a:p>
        </p:txBody>
      </p:sp>
      <p:sp>
        <p:nvSpPr>
          <p:cNvPr id="3" name="Content Placeholder 2">
            <a:extLst>
              <a:ext uri="{FF2B5EF4-FFF2-40B4-BE49-F238E27FC236}">
                <a16:creationId xmlns:a16="http://schemas.microsoft.com/office/drawing/2014/main" id="{866ECA65-C676-CFFC-761E-9AEFC0C7F4FE}"/>
              </a:ext>
            </a:extLst>
          </p:cNvPr>
          <p:cNvSpPr>
            <a:spLocks noGrp="1"/>
          </p:cNvSpPr>
          <p:nvPr>
            <p:ph idx="1"/>
          </p:nvPr>
        </p:nvSpPr>
        <p:spPr>
          <a:xfrm>
            <a:off x="838200" y="1825626"/>
            <a:ext cx="10515600" cy="1157716"/>
          </a:xfrm>
        </p:spPr>
        <p:txBody>
          <a:bodyPr>
            <a:normAutofit/>
          </a:bodyPr>
          <a:lstStyle/>
          <a:p>
            <a:r>
              <a:rPr lang="en-US" sz="2400" dirty="0"/>
              <a:t>One-dimensional version: find the line of best fit!</a:t>
            </a:r>
          </a:p>
          <a:p>
            <a:endParaRPr lang="en-US" sz="1100" dirty="0"/>
          </a:p>
          <a:p>
            <a:r>
              <a:rPr lang="en-US" sz="2400" dirty="0"/>
              <a:t>If we throw in more covariates we can “control” for them</a:t>
            </a:r>
          </a:p>
        </p:txBody>
      </p:sp>
      <p:grpSp>
        <p:nvGrpSpPr>
          <p:cNvPr id="4" name="Group 3">
            <a:extLst>
              <a:ext uri="{FF2B5EF4-FFF2-40B4-BE49-F238E27FC236}">
                <a16:creationId xmlns:a16="http://schemas.microsoft.com/office/drawing/2014/main" id="{E4FF45E6-DFF4-3C8D-9EEA-503E20821008}"/>
              </a:ext>
            </a:extLst>
          </p:cNvPr>
          <p:cNvGrpSpPr/>
          <p:nvPr/>
        </p:nvGrpSpPr>
        <p:grpSpPr>
          <a:xfrm>
            <a:off x="8229746" y="1176581"/>
            <a:ext cx="2076339" cy="1157716"/>
            <a:chOff x="1148443" y="5230586"/>
            <a:chExt cx="2694214" cy="1502228"/>
          </a:xfrm>
        </p:grpSpPr>
        <p:cxnSp>
          <p:nvCxnSpPr>
            <p:cNvPr id="5" name="Straight Connector 4">
              <a:extLst>
                <a:ext uri="{FF2B5EF4-FFF2-40B4-BE49-F238E27FC236}">
                  <a16:creationId xmlns:a16="http://schemas.microsoft.com/office/drawing/2014/main" id="{9A78B709-BC26-7408-170E-B356BF95E4CB}"/>
                </a:ext>
              </a:extLst>
            </p:cNvPr>
            <p:cNvCxnSpPr>
              <a:cxnSpLocks/>
            </p:cNvCxnSpPr>
            <p:nvPr/>
          </p:nvCxnSpPr>
          <p:spPr>
            <a:xfrm>
              <a:off x="1148443" y="5230586"/>
              <a:ext cx="0" cy="1502228"/>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74BA38A8-9C9B-7D03-EA42-690C67895A13}"/>
                </a:ext>
              </a:extLst>
            </p:cNvPr>
            <p:cNvCxnSpPr>
              <a:cxnSpLocks/>
            </p:cNvCxnSpPr>
            <p:nvPr/>
          </p:nvCxnSpPr>
          <p:spPr>
            <a:xfrm flipH="1">
              <a:off x="1148443" y="6732814"/>
              <a:ext cx="2694214" cy="0"/>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4A3CFD2B-E291-5E40-8EE3-511D83FD4714}"/>
                </a:ext>
              </a:extLst>
            </p:cNvPr>
            <p:cNvCxnSpPr/>
            <p:nvPr/>
          </p:nvCxnSpPr>
          <p:spPr>
            <a:xfrm flipV="1">
              <a:off x="1148443" y="5377543"/>
              <a:ext cx="2579914" cy="1355271"/>
            </a:xfrm>
            <a:prstGeom prst="line">
              <a:avLst/>
            </a:prstGeom>
            <a:ln w="57150">
              <a:solidFill>
                <a:schemeClr val="accent5"/>
              </a:solidFill>
            </a:ln>
          </p:spPr>
          <p:style>
            <a:lnRef idx="2">
              <a:schemeClr val="accent1"/>
            </a:lnRef>
            <a:fillRef idx="0">
              <a:schemeClr val="accent1"/>
            </a:fillRef>
            <a:effectRef idx="1">
              <a:schemeClr val="accent1"/>
            </a:effectRef>
            <a:fontRef idx="minor">
              <a:schemeClr val="tx1"/>
            </a:fontRef>
          </p:style>
        </p:cxnSp>
        <p:sp>
          <p:nvSpPr>
            <p:cNvPr id="8" name="Oval 7">
              <a:extLst>
                <a:ext uri="{FF2B5EF4-FFF2-40B4-BE49-F238E27FC236}">
                  <a16:creationId xmlns:a16="http://schemas.microsoft.com/office/drawing/2014/main" id="{920EE137-BFA2-80ED-8B21-1EC666CCEB25}"/>
                </a:ext>
              </a:extLst>
            </p:cNvPr>
            <p:cNvSpPr/>
            <p:nvPr/>
          </p:nvSpPr>
          <p:spPr>
            <a:xfrm>
              <a:off x="2351314" y="5582347"/>
              <a:ext cx="205654" cy="205654"/>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CBE7D248-A395-1DDE-538A-BBD175AEBDCF}"/>
                </a:ext>
              </a:extLst>
            </p:cNvPr>
            <p:cNvSpPr/>
            <p:nvPr/>
          </p:nvSpPr>
          <p:spPr>
            <a:xfrm>
              <a:off x="3295650" y="5397292"/>
              <a:ext cx="205654" cy="205654"/>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53F150DD-880E-39B8-701E-6A44E78EC922}"/>
                </a:ext>
              </a:extLst>
            </p:cNvPr>
            <p:cNvSpPr/>
            <p:nvPr/>
          </p:nvSpPr>
          <p:spPr>
            <a:xfrm>
              <a:off x="2941865" y="5843607"/>
              <a:ext cx="205654" cy="205654"/>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CFA5A397-29A9-A368-0ADE-8F8AAF07B32F}"/>
                </a:ext>
              </a:extLst>
            </p:cNvPr>
            <p:cNvSpPr/>
            <p:nvPr/>
          </p:nvSpPr>
          <p:spPr>
            <a:xfrm>
              <a:off x="1562086" y="6038847"/>
              <a:ext cx="205654" cy="205654"/>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6D91B083-B883-7D26-48B1-1FEF55C88883}"/>
                </a:ext>
              </a:extLst>
            </p:cNvPr>
            <p:cNvSpPr/>
            <p:nvPr/>
          </p:nvSpPr>
          <p:spPr>
            <a:xfrm>
              <a:off x="1783161" y="6437087"/>
              <a:ext cx="205654" cy="205654"/>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7" name="Group 66">
            <a:extLst>
              <a:ext uri="{FF2B5EF4-FFF2-40B4-BE49-F238E27FC236}">
                <a16:creationId xmlns:a16="http://schemas.microsoft.com/office/drawing/2014/main" id="{39D720E5-128F-2BFB-17EC-045CEA3430E7}"/>
              </a:ext>
            </a:extLst>
          </p:cNvPr>
          <p:cNvGrpSpPr/>
          <p:nvPr/>
        </p:nvGrpSpPr>
        <p:grpSpPr>
          <a:xfrm>
            <a:off x="6875870" y="3118280"/>
            <a:ext cx="5180777" cy="2389318"/>
            <a:chOff x="1779792" y="2548103"/>
            <a:chExt cx="9666853" cy="4458249"/>
          </a:xfrm>
        </p:grpSpPr>
        <p:sp>
          <p:nvSpPr>
            <p:cNvPr id="13" name="Freeform 12">
              <a:extLst>
                <a:ext uri="{FF2B5EF4-FFF2-40B4-BE49-F238E27FC236}">
                  <a16:creationId xmlns:a16="http://schemas.microsoft.com/office/drawing/2014/main" id="{46BF6DB7-7C43-BEFB-3597-A85F3256FDE4}"/>
                </a:ext>
              </a:extLst>
            </p:cNvPr>
            <p:cNvSpPr/>
            <p:nvPr/>
          </p:nvSpPr>
          <p:spPr>
            <a:xfrm rot="166721">
              <a:off x="4235787" y="4970222"/>
              <a:ext cx="4529348" cy="1546479"/>
            </a:xfrm>
            <a:custGeom>
              <a:avLst/>
              <a:gdLst>
                <a:gd name="connsiteX0" fmla="*/ 1328928 w 4315968"/>
                <a:gd name="connsiteY0" fmla="*/ 85344 h 1243584"/>
                <a:gd name="connsiteX1" fmla="*/ 0 w 4315968"/>
                <a:gd name="connsiteY1" fmla="*/ 1243584 h 1243584"/>
                <a:gd name="connsiteX2" fmla="*/ 3438144 w 4315968"/>
                <a:gd name="connsiteY2" fmla="*/ 1219200 h 1243584"/>
                <a:gd name="connsiteX3" fmla="*/ 4315968 w 4315968"/>
                <a:gd name="connsiteY3" fmla="*/ 0 h 1243584"/>
                <a:gd name="connsiteX4" fmla="*/ 1328928 w 4315968"/>
                <a:gd name="connsiteY4" fmla="*/ 85344 h 12435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15968" h="1243584">
                  <a:moveTo>
                    <a:pt x="1328928" y="85344"/>
                  </a:moveTo>
                  <a:lnTo>
                    <a:pt x="0" y="1243584"/>
                  </a:lnTo>
                  <a:lnTo>
                    <a:pt x="3438144" y="1219200"/>
                  </a:lnTo>
                  <a:lnTo>
                    <a:pt x="4315968" y="0"/>
                  </a:lnTo>
                  <a:lnTo>
                    <a:pt x="1328928" y="85344"/>
                  </a:lnTo>
                  <a:close/>
                </a:path>
              </a:pathLst>
            </a:custGeom>
            <a:gradFill>
              <a:gsLst>
                <a:gs pos="0">
                  <a:schemeClr val="bg1">
                    <a:lumMod val="95000"/>
                    <a:alpha val="4923"/>
                  </a:schemeClr>
                </a:gs>
                <a:gs pos="100000">
                  <a:schemeClr val="bg1">
                    <a:lumMod val="85000"/>
                  </a:schemeClr>
                </a:gs>
              </a:gsLst>
              <a:lin ang="15600000" scaled="0"/>
            </a:gradFill>
            <a:ln>
              <a:noFill/>
            </a:ln>
            <a:effectLst>
              <a:softEdge rad="72004"/>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grpSp>
          <p:nvGrpSpPr>
            <p:cNvPr id="14" name="Group 13">
              <a:extLst>
                <a:ext uri="{FF2B5EF4-FFF2-40B4-BE49-F238E27FC236}">
                  <a16:creationId xmlns:a16="http://schemas.microsoft.com/office/drawing/2014/main" id="{5AF82889-C8D5-085F-F5A2-AEB1D5930B04}"/>
                </a:ext>
              </a:extLst>
            </p:cNvPr>
            <p:cNvGrpSpPr/>
            <p:nvPr/>
          </p:nvGrpSpPr>
          <p:grpSpPr>
            <a:xfrm>
              <a:off x="3858567" y="2771775"/>
              <a:ext cx="5215095" cy="3763962"/>
              <a:chOff x="2944167" y="2636838"/>
              <a:chExt cx="5215095" cy="3763962"/>
            </a:xfrm>
          </p:grpSpPr>
          <p:cxnSp>
            <p:nvCxnSpPr>
              <p:cNvPr id="15" name="Straight Arrow Connector 14">
                <a:extLst>
                  <a:ext uri="{FF2B5EF4-FFF2-40B4-BE49-F238E27FC236}">
                    <a16:creationId xmlns:a16="http://schemas.microsoft.com/office/drawing/2014/main" id="{28C33EEC-9E98-CE4C-A302-40791A5E7164}"/>
                  </a:ext>
                </a:extLst>
              </p:cNvPr>
              <p:cNvCxnSpPr>
                <a:cxnSpLocks/>
              </p:cNvCxnSpPr>
              <p:nvPr/>
            </p:nvCxnSpPr>
            <p:spPr>
              <a:xfrm>
                <a:off x="4672484" y="4829398"/>
                <a:ext cx="3486778" cy="0"/>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6FD6C9F5-CC25-7B28-A804-1D9DA3791677}"/>
                  </a:ext>
                </a:extLst>
              </p:cNvPr>
              <p:cNvCxnSpPr>
                <a:cxnSpLocks/>
              </p:cNvCxnSpPr>
              <p:nvPr/>
            </p:nvCxnSpPr>
            <p:spPr>
              <a:xfrm flipH="1">
                <a:off x="2944167" y="4833257"/>
                <a:ext cx="1728317" cy="1567543"/>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43CA4E97-53DD-77E6-8116-B4EFF5E6BDB0}"/>
                  </a:ext>
                </a:extLst>
              </p:cNvPr>
              <p:cNvCxnSpPr>
                <a:cxnSpLocks/>
              </p:cNvCxnSpPr>
              <p:nvPr/>
            </p:nvCxnSpPr>
            <p:spPr>
              <a:xfrm flipV="1">
                <a:off x="4672484" y="2636838"/>
                <a:ext cx="0" cy="2196418"/>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grpSp>
        <p:sp>
          <p:nvSpPr>
            <p:cNvPr id="18" name="Freeform 17">
              <a:extLst>
                <a:ext uri="{FF2B5EF4-FFF2-40B4-BE49-F238E27FC236}">
                  <a16:creationId xmlns:a16="http://schemas.microsoft.com/office/drawing/2014/main" id="{277A8993-B9C6-C143-E80C-7CA9849619A5}"/>
                </a:ext>
              </a:extLst>
            </p:cNvPr>
            <p:cNvSpPr/>
            <p:nvPr/>
          </p:nvSpPr>
          <p:spPr>
            <a:xfrm>
              <a:off x="4221497" y="3121009"/>
              <a:ext cx="4408153" cy="1579579"/>
            </a:xfrm>
            <a:custGeom>
              <a:avLst/>
              <a:gdLst>
                <a:gd name="connsiteX0" fmla="*/ 3471862 w 4343400"/>
                <a:gd name="connsiteY0" fmla="*/ 0 h 1543050"/>
                <a:gd name="connsiteX1" fmla="*/ 4343400 w 4343400"/>
                <a:gd name="connsiteY1" fmla="*/ 428625 h 1543050"/>
                <a:gd name="connsiteX2" fmla="*/ 1343025 w 4343400"/>
                <a:gd name="connsiteY2" fmla="*/ 1543050 h 1543050"/>
                <a:gd name="connsiteX3" fmla="*/ 0 w 4343400"/>
                <a:gd name="connsiteY3" fmla="*/ 1385887 h 1543050"/>
                <a:gd name="connsiteX4" fmla="*/ 3471862 w 4343400"/>
                <a:gd name="connsiteY4" fmla="*/ 0 h 1543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43400" h="1543050">
                  <a:moveTo>
                    <a:pt x="3471862" y="0"/>
                  </a:moveTo>
                  <a:lnTo>
                    <a:pt x="4343400" y="428625"/>
                  </a:lnTo>
                  <a:lnTo>
                    <a:pt x="1343025" y="1543050"/>
                  </a:lnTo>
                  <a:lnTo>
                    <a:pt x="0" y="1385887"/>
                  </a:lnTo>
                  <a:lnTo>
                    <a:pt x="3471862" y="0"/>
                  </a:lnTo>
                  <a:close/>
                </a:path>
              </a:pathLst>
            </a:custGeom>
            <a:solidFill>
              <a:schemeClr val="accent4">
                <a:lumMod val="20000"/>
                <a:lumOff val="80000"/>
                <a:alpha val="7122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9" name="TextBox 18">
              <a:extLst>
                <a:ext uri="{FF2B5EF4-FFF2-40B4-BE49-F238E27FC236}">
                  <a16:creationId xmlns:a16="http://schemas.microsoft.com/office/drawing/2014/main" id="{C7C35E53-47DD-6F02-0E09-17E02A00C27B}"/>
                </a:ext>
              </a:extLst>
            </p:cNvPr>
            <p:cNvSpPr txBox="1"/>
            <p:nvPr/>
          </p:nvSpPr>
          <p:spPr>
            <a:xfrm>
              <a:off x="5586884" y="2548103"/>
              <a:ext cx="2046481" cy="516855"/>
            </a:xfrm>
            <a:prstGeom prst="rect">
              <a:avLst/>
            </a:prstGeom>
            <a:noFill/>
          </p:spPr>
          <p:txBody>
            <a:bodyPr wrap="none" rtlCol="0">
              <a:spAutoFit/>
            </a:bodyPr>
            <a:lstStyle/>
            <a:p>
              <a:r>
                <a:rPr lang="en-US" sz="1200" dirty="0">
                  <a:solidFill>
                    <a:schemeClr val="accent1"/>
                  </a:solidFill>
                </a:rPr>
                <a:t>Consumption</a:t>
              </a:r>
            </a:p>
          </p:txBody>
        </p:sp>
        <p:sp>
          <p:nvSpPr>
            <p:cNvPr id="20" name="TextBox 19">
              <a:extLst>
                <a:ext uri="{FF2B5EF4-FFF2-40B4-BE49-F238E27FC236}">
                  <a16:creationId xmlns:a16="http://schemas.microsoft.com/office/drawing/2014/main" id="{DC57F20D-48C9-403E-FFE7-B75BD2897B12}"/>
                </a:ext>
              </a:extLst>
            </p:cNvPr>
            <p:cNvSpPr txBox="1"/>
            <p:nvPr/>
          </p:nvSpPr>
          <p:spPr>
            <a:xfrm>
              <a:off x="9073662" y="4779668"/>
              <a:ext cx="2372983" cy="516855"/>
            </a:xfrm>
            <a:prstGeom prst="rect">
              <a:avLst/>
            </a:prstGeom>
            <a:noFill/>
          </p:spPr>
          <p:txBody>
            <a:bodyPr wrap="none" rtlCol="0">
              <a:spAutoFit/>
            </a:bodyPr>
            <a:lstStyle/>
            <a:p>
              <a:r>
                <a:rPr lang="en-US" sz="1200" dirty="0">
                  <a:solidFill>
                    <a:schemeClr val="accent1"/>
                  </a:solidFill>
                </a:rPr>
                <a:t>Windfall Income</a:t>
              </a:r>
            </a:p>
          </p:txBody>
        </p:sp>
        <p:sp>
          <p:nvSpPr>
            <p:cNvPr id="21" name="TextBox 20">
              <a:extLst>
                <a:ext uri="{FF2B5EF4-FFF2-40B4-BE49-F238E27FC236}">
                  <a16:creationId xmlns:a16="http://schemas.microsoft.com/office/drawing/2014/main" id="{427BDDB6-CDE0-5428-F9FB-ECB854CAD69E}"/>
                </a:ext>
              </a:extLst>
            </p:cNvPr>
            <p:cNvSpPr txBox="1"/>
            <p:nvPr/>
          </p:nvSpPr>
          <p:spPr>
            <a:xfrm>
              <a:off x="1779792" y="6489497"/>
              <a:ext cx="2815610" cy="516855"/>
            </a:xfrm>
            <a:prstGeom prst="rect">
              <a:avLst/>
            </a:prstGeom>
            <a:noFill/>
          </p:spPr>
          <p:txBody>
            <a:bodyPr wrap="square" rtlCol="0">
              <a:spAutoFit/>
            </a:bodyPr>
            <a:lstStyle/>
            <a:p>
              <a:r>
                <a:rPr lang="en-US" sz="1200" dirty="0">
                  <a:solidFill>
                    <a:schemeClr val="accent1"/>
                  </a:solidFill>
                </a:rPr>
                <a:t>Permanent Income</a:t>
              </a:r>
            </a:p>
          </p:txBody>
        </p:sp>
        <p:grpSp>
          <p:nvGrpSpPr>
            <p:cNvPr id="22" name="Group 21">
              <a:extLst>
                <a:ext uri="{FF2B5EF4-FFF2-40B4-BE49-F238E27FC236}">
                  <a16:creationId xmlns:a16="http://schemas.microsoft.com/office/drawing/2014/main" id="{F9BDE18F-7C32-AD29-427D-1BA9E7E093D6}"/>
                </a:ext>
              </a:extLst>
            </p:cNvPr>
            <p:cNvGrpSpPr/>
            <p:nvPr/>
          </p:nvGrpSpPr>
          <p:grpSpPr>
            <a:xfrm>
              <a:off x="5499837" y="4609878"/>
              <a:ext cx="427581" cy="658771"/>
              <a:chOff x="5206516" y="3849139"/>
              <a:chExt cx="568641" cy="876095"/>
            </a:xfrm>
          </p:grpSpPr>
          <p:sp>
            <p:nvSpPr>
              <p:cNvPr id="23" name="Oval 22">
                <a:extLst>
                  <a:ext uri="{FF2B5EF4-FFF2-40B4-BE49-F238E27FC236}">
                    <a16:creationId xmlns:a16="http://schemas.microsoft.com/office/drawing/2014/main" id="{5D8CBFB1-DB73-3F2A-7F42-238E165AD961}"/>
                  </a:ext>
                </a:extLst>
              </p:cNvPr>
              <p:cNvSpPr/>
              <p:nvPr/>
            </p:nvSpPr>
            <p:spPr>
              <a:xfrm>
                <a:off x="5334000" y="3849139"/>
                <a:ext cx="251209" cy="251207"/>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24" name="Oval 23">
                <a:extLst>
                  <a:ext uri="{FF2B5EF4-FFF2-40B4-BE49-F238E27FC236}">
                    <a16:creationId xmlns:a16="http://schemas.microsoft.com/office/drawing/2014/main" id="{AB0FB97C-C37D-45DE-C496-C34D20CA83CB}"/>
                  </a:ext>
                </a:extLst>
              </p:cNvPr>
              <p:cNvSpPr/>
              <p:nvPr/>
            </p:nvSpPr>
            <p:spPr>
              <a:xfrm>
                <a:off x="5206516" y="4410599"/>
                <a:ext cx="568641" cy="314635"/>
              </a:xfrm>
              <a:prstGeom prst="ellipse">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grpSp>
        <p:grpSp>
          <p:nvGrpSpPr>
            <p:cNvPr id="25" name="Group 24">
              <a:extLst>
                <a:ext uri="{FF2B5EF4-FFF2-40B4-BE49-F238E27FC236}">
                  <a16:creationId xmlns:a16="http://schemas.microsoft.com/office/drawing/2014/main" id="{D9590889-BDBC-ACEB-46DC-5F410DE8EB5B}"/>
                </a:ext>
              </a:extLst>
            </p:cNvPr>
            <p:cNvGrpSpPr/>
            <p:nvPr/>
          </p:nvGrpSpPr>
          <p:grpSpPr>
            <a:xfrm>
              <a:off x="8429827" y="3481136"/>
              <a:ext cx="536541" cy="1744715"/>
              <a:chOff x="5094882" y="2405030"/>
              <a:chExt cx="713547" cy="2320298"/>
            </a:xfrm>
          </p:grpSpPr>
          <p:sp>
            <p:nvSpPr>
              <p:cNvPr id="26" name="Oval 25">
                <a:extLst>
                  <a:ext uri="{FF2B5EF4-FFF2-40B4-BE49-F238E27FC236}">
                    <a16:creationId xmlns:a16="http://schemas.microsoft.com/office/drawing/2014/main" id="{B41EF31D-16DE-AAA6-D16F-5D832AD15E2C}"/>
                  </a:ext>
                </a:extLst>
              </p:cNvPr>
              <p:cNvSpPr/>
              <p:nvPr/>
            </p:nvSpPr>
            <p:spPr>
              <a:xfrm>
                <a:off x="5334000" y="2405030"/>
                <a:ext cx="251209" cy="251209"/>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27" name="Oval 26">
                <a:extLst>
                  <a:ext uri="{FF2B5EF4-FFF2-40B4-BE49-F238E27FC236}">
                    <a16:creationId xmlns:a16="http://schemas.microsoft.com/office/drawing/2014/main" id="{1B455D57-3DF0-FF35-1207-E2AD2565F47E}"/>
                  </a:ext>
                </a:extLst>
              </p:cNvPr>
              <p:cNvSpPr/>
              <p:nvPr/>
            </p:nvSpPr>
            <p:spPr>
              <a:xfrm>
                <a:off x="5094882" y="4459473"/>
                <a:ext cx="713547" cy="265855"/>
              </a:xfrm>
              <a:prstGeom prst="ellipse">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grpSp>
        <p:grpSp>
          <p:nvGrpSpPr>
            <p:cNvPr id="28" name="Group 27">
              <a:extLst>
                <a:ext uri="{FF2B5EF4-FFF2-40B4-BE49-F238E27FC236}">
                  <a16:creationId xmlns:a16="http://schemas.microsoft.com/office/drawing/2014/main" id="{38BA5EBC-7B33-634A-ECD2-1A612873157C}"/>
                </a:ext>
              </a:extLst>
            </p:cNvPr>
            <p:cNvGrpSpPr/>
            <p:nvPr/>
          </p:nvGrpSpPr>
          <p:grpSpPr>
            <a:xfrm>
              <a:off x="7713753" y="3031689"/>
              <a:ext cx="197705" cy="3353786"/>
              <a:chOff x="5322278" y="713932"/>
              <a:chExt cx="262928" cy="4460215"/>
            </a:xfrm>
          </p:grpSpPr>
          <p:sp>
            <p:nvSpPr>
              <p:cNvPr id="29" name="Oval 28">
                <a:extLst>
                  <a:ext uri="{FF2B5EF4-FFF2-40B4-BE49-F238E27FC236}">
                    <a16:creationId xmlns:a16="http://schemas.microsoft.com/office/drawing/2014/main" id="{6F5FD004-CE55-B43D-1C0D-878AABDA12A8}"/>
                  </a:ext>
                </a:extLst>
              </p:cNvPr>
              <p:cNvSpPr/>
              <p:nvPr/>
            </p:nvSpPr>
            <p:spPr>
              <a:xfrm>
                <a:off x="5333997" y="713932"/>
                <a:ext cx="251209" cy="251210"/>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30" name="Oval 29">
                <a:extLst>
                  <a:ext uri="{FF2B5EF4-FFF2-40B4-BE49-F238E27FC236}">
                    <a16:creationId xmlns:a16="http://schemas.microsoft.com/office/drawing/2014/main" id="{914F101D-E964-78C0-4F16-9BB33AC277F1}"/>
                  </a:ext>
                </a:extLst>
              </p:cNvPr>
              <p:cNvSpPr/>
              <p:nvPr/>
            </p:nvSpPr>
            <p:spPr>
              <a:xfrm>
                <a:off x="5322278" y="5041725"/>
                <a:ext cx="251209" cy="132422"/>
              </a:xfrm>
              <a:prstGeom prst="ellipse">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grpSp>
        <p:grpSp>
          <p:nvGrpSpPr>
            <p:cNvPr id="31" name="Group 30">
              <a:extLst>
                <a:ext uri="{FF2B5EF4-FFF2-40B4-BE49-F238E27FC236}">
                  <a16:creationId xmlns:a16="http://schemas.microsoft.com/office/drawing/2014/main" id="{67EF53B9-227F-DF00-9CC7-B009CE847722}"/>
                </a:ext>
              </a:extLst>
            </p:cNvPr>
            <p:cNvGrpSpPr/>
            <p:nvPr/>
          </p:nvGrpSpPr>
          <p:grpSpPr>
            <a:xfrm>
              <a:off x="4131913" y="4399189"/>
              <a:ext cx="403508" cy="2093685"/>
              <a:chOff x="5184146" y="1987029"/>
              <a:chExt cx="536629" cy="2784387"/>
            </a:xfrm>
          </p:grpSpPr>
          <p:sp>
            <p:nvSpPr>
              <p:cNvPr id="32" name="Oval 31">
                <a:extLst>
                  <a:ext uri="{FF2B5EF4-FFF2-40B4-BE49-F238E27FC236}">
                    <a16:creationId xmlns:a16="http://schemas.microsoft.com/office/drawing/2014/main" id="{EFEF7914-51CC-3F19-925A-427104162519}"/>
                  </a:ext>
                </a:extLst>
              </p:cNvPr>
              <p:cNvSpPr/>
              <p:nvPr/>
            </p:nvSpPr>
            <p:spPr>
              <a:xfrm>
                <a:off x="5334002" y="1987029"/>
                <a:ext cx="251208" cy="251208"/>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33" name="Oval 32">
                <a:extLst>
                  <a:ext uri="{FF2B5EF4-FFF2-40B4-BE49-F238E27FC236}">
                    <a16:creationId xmlns:a16="http://schemas.microsoft.com/office/drawing/2014/main" id="{546174D2-D322-8405-5148-787229BFA3BA}"/>
                  </a:ext>
                </a:extLst>
              </p:cNvPr>
              <p:cNvSpPr/>
              <p:nvPr/>
            </p:nvSpPr>
            <p:spPr>
              <a:xfrm>
                <a:off x="5184146" y="4496163"/>
                <a:ext cx="536629" cy="275253"/>
              </a:xfrm>
              <a:prstGeom prst="ellipse">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grpSp>
        <p:grpSp>
          <p:nvGrpSpPr>
            <p:cNvPr id="34" name="Group 33">
              <a:extLst>
                <a:ext uri="{FF2B5EF4-FFF2-40B4-BE49-F238E27FC236}">
                  <a16:creationId xmlns:a16="http://schemas.microsoft.com/office/drawing/2014/main" id="{0A5011F1-4B7C-FC90-753D-79CD11593AD5}"/>
                </a:ext>
              </a:extLst>
            </p:cNvPr>
            <p:cNvGrpSpPr/>
            <p:nvPr/>
          </p:nvGrpSpPr>
          <p:grpSpPr>
            <a:xfrm>
              <a:off x="4405829" y="3126136"/>
              <a:ext cx="4203799" cy="1578191"/>
              <a:chOff x="4405829" y="3126136"/>
              <a:chExt cx="4203799" cy="1578191"/>
            </a:xfrm>
          </p:grpSpPr>
          <p:cxnSp>
            <p:nvCxnSpPr>
              <p:cNvPr id="35" name="Straight Connector 34">
                <a:extLst>
                  <a:ext uri="{FF2B5EF4-FFF2-40B4-BE49-F238E27FC236}">
                    <a16:creationId xmlns:a16="http://schemas.microsoft.com/office/drawing/2014/main" id="{640A7E9A-C1E3-02B3-12C2-17CBB94A21D8}"/>
                  </a:ext>
                </a:extLst>
              </p:cNvPr>
              <p:cNvCxnSpPr>
                <a:stCxn id="23" idx="7"/>
                <a:endCxn id="26" idx="2"/>
              </p:cNvCxnSpPr>
              <p:nvPr/>
            </p:nvCxnSpPr>
            <p:spPr>
              <a:xfrm flipV="1">
                <a:off x="5756927" y="3575583"/>
                <a:ext cx="2852701" cy="1061960"/>
              </a:xfrm>
              <a:prstGeom prst="line">
                <a:avLst/>
              </a:prstGeom>
              <a:ln>
                <a:solidFill>
                  <a:schemeClr val="accent4"/>
                </a:solidFill>
              </a:ln>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9499C757-B76A-C8C2-EE4D-86869C380CE0}"/>
                  </a:ext>
                </a:extLst>
              </p:cNvPr>
              <p:cNvCxnSpPr>
                <a:cxnSpLocks/>
                <a:stCxn id="23" idx="2"/>
                <a:endCxn id="32" idx="5"/>
              </p:cNvCxnSpPr>
              <p:nvPr/>
            </p:nvCxnSpPr>
            <p:spPr>
              <a:xfrm flipH="1" flipV="1">
                <a:off x="4405829" y="4560419"/>
                <a:ext cx="1189868" cy="143908"/>
              </a:xfrm>
              <a:prstGeom prst="line">
                <a:avLst/>
              </a:prstGeom>
              <a:ln>
                <a:solidFill>
                  <a:schemeClr val="accent4"/>
                </a:solidFill>
              </a:ln>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27EC61EC-899F-BAC3-72FA-55A0A66521C2}"/>
                  </a:ext>
                </a:extLst>
              </p:cNvPr>
              <p:cNvCxnSpPr>
                <a:cxnSpLocks/>
                <a:stCxn id="29" idx="2"/>
                <a:endCxn id="32" idx="7"/>
              </p:cNvCxnSpPr>
              <p:nvPr/>
            </p:nvCxnSpPr>
            <p:spPr>
              <a:xfrm flipH="1">
                <a:off x="4405829" y="3126136"/>
                <a:ext cx="3316733" cy="1300716"/>
              </a:xfrm>
              <a:prstGeom prst="line">
                <a:avLst/>
              </a:prstGeom>
              <a:ln>
                <a:solidFill>
                  <a:schemeClr val="accent4"/>
                </a:solidFill>
              </a:ln>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BC30A9CC-7DE6-BEB7-710A-0E4C4341B752}"/>
                  </a:ext>
                </a:extLst>
              </p:cNvPr>
              <p:cNvCxnSpPr>
                <a:cxnSpLocks/>
                <a:stCxn id="29" idx="5"/>
                <a:endCxn id="26" idx="2"/>
              </p:cNvCxnSpPr>
              <p:nvPr/>
            </p:nvCxnSpPr>
            <p:spPr>
              <a:xfrm>
                <a:off x="7883792" y="3192919"/>
                <a:ext cx="725836" cy="382664"/>
              </a:xfrm>
              <a:prstGeom prst="line">
                <a:avLst/>
              </a:prstGeom>
              <a:ln>
                <a:solidFill>
                  <a:schemeClr val="accent4"/>
                </a:solidFill>
              </a:ln>
            </p:spPr>
            <p:style>
              <a:lnRef idx="2">
                <a:schemeClr val="accent1"/>
              </a:lnRef>
              <a:fillRef idx="0">
                <a:schemeClr val="accent1"/>
              </a:fillRef>
              <a:effectRef idx="1">
                <a:schemeClr val="accent1"/>
              </a:effectRef>
              <a:fontRef idx="minor">
                <a:schemeClr val="tx1"/>
              </a:fontRef>
            </p:style>
          </p:cxnSp>
        </p:grpSp>
        <p:cxnSp>
          <p:nvCxnSpPr>
            <p:cNvPr id="39" name="Straight Connector 38">
              <a:extLst>
                <a:ext uri="{FF2B5EF4-FFF2-40B4-BE49-F238E27FC236}">
                  <a16:creationId xmlns:a16="http://schemas.microsoft.com/office/drawing/2014/main" id="{DCAA7522-F5CF-880C-BE60-1EBD24176B01}"/>
                </a:ext>
              </a:extLst>
            </p:cNvPr>
            <p:cNvCxnSpPr>
              <a:cxnSpLocks/>
              <a:stCxn id="26" idx="4"/>
              <a:endCxn id="27" idx="0"/>
            </p:cNvCxnSpPr>
            <p:nvPr/>
          </p:nvCxnSpPr>
          <p:spPr>
            <a:xfrm flipH="1">
              <a:off x="8698098" y="3670029"/>
              <a:ext cx="5977" cy="1355916"/>
            </a:xfrm>
            <a:prstGeom prst="line">
              <a:avLst/>
            </a:prstGeom>
            <a:ln>
              <a:solidFill>
                <a:schemeClr val="bg2">
                  <a:lumMod val="75000"/>
                </a:schemeClr>
              </a:solidFill>
              <a:prstDash val="dash"/>
            </a:ln>
          </p:spPr>
          <p:style>
            <a:lnRef idx="2">
              <a:schemeClr val="accent1"/>
            </a:lnRef>
            <a:fillRef idx="0">
              <a:schemeClr val="accent1"/>
            </a:fillRef>
            <a:effectRef idx="1">
              <a:schemeClr val="accent1"/>
            </a:effectRef>
            <a:fontRef idx="minor">
              <a:schemeClr val="tx1"/>
            </a:fontRef>
          </p:style>
        </p:cxnSp>
        <p:cxnSp>
          <p:nvCxnSpPr>
            <p:cNvPr id="40" name="Straight Connector 39">
              <a:extLst>
                <a:ext uri="{FF2B5EF4-FFF2-40B4-BE49-F238E27FC236}">
                  <a16:creationId xmlns:a16="http://schemas.microsoft.com/office/drawing/2014/main" id="{93B93A40-0A10-66FC-794B-12E4444CF106}"/>
                </a:ext>
              </a:extLst>
            </p:cNvPr>
            <p:cNvCxnSpPr>
              <a:cxnSpLocks/>
              <a:stCxn id="29" idx="4"/>
              <a:endCxn id="30" idx="0"/>
            </p:cNvCxnSpPr>
            <p:nvPr/>
          </p:nvCxnSpPr>
          <p:spPr>
            <a:xfrm flipH="1">
              <a:off x="7808195" y="3220582"/>
              <a:ext cx="8814" cy="3065320"/>
            </a:xfrm>
            <a:prstGeom prst="line">
              <a:avLst/>
            </a:prstGeom>
            <a:ln>
              <a:solidFill>
                <a:schemeClr val="bg2">
                  <a:lumMod val="75000"/>
                </a:schemeClr>
              </a:solidFill>
              <a:prstDash val="dash"/>
            </a:ln>
          </p:spPr>
          <p:style>
            <a:lnRef idx="2">
              <a:schemeClr val="accent1"/>
            </a:lnRef>
            <a:fillRef idx="0">
              <a:schemeClr val="accent1"/>
            </a:fillRef>
            <a:effectRef idx="1">
              <a:schemeClr val="accent1"/>
            </a:effectRef>
            <a:fontRef idx="minor">
              <a:schemeClr val="tx1"/>
            </a:fontRef>
          </p:style>
        </p:cxnSp>
        <p:cxnSp>
          <p:nvCxnSpPr>
            <p:cNvPr id="41" name="Straight Connector 40">
              <a:extLst>
                <a:ext uri="{FF2B5EF4-FFF2-40B4-BE49-F238E27FC236}">
                  <a16:creationId xmlns:a16="http://schemas.microsoft.com/office/drawing/2014/main" id="{AB8F7FC5-64B8-D9C3-6B45-F06E5A018442}"/>
                </a:ext>
              </a:extLst>
            </p:cNvPr>
            <p:cNvCxnSpPr>
              <a:cxnSpLocks/>
              <a:stCxn id="23" idx="4"/>
              <a:endCxn id="24" idx="0"/>
            </p:cNvCxnSpPr>
            <p:nvPr/>
          </p:nvCxnSpPr>
          <p:spPr>
            <a:xfrm>
              <a:off x="5690144" y="4798771"/>
              <a:ext cx="23484" cy="233291"/>
            </a:xfrm>
            <a:prstGeom prst="line">
              <a:avLst/>
            </a:prstGeom>
            <a:ln>
              <a:solidFill>
                <a:schemeClr val="bg2">
                  <a:lumMod val="75000"/>
                </a:schemeClr>
              </a:solidFill>
              <a:prstDash val="dash"/>
            </a:ln>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BE4B96FA-DD00-A85B-6031-5D2A294DA44C}"/>
                </a:ext>
              </a:extLst>
            </p:cNvPr>
            <p:cNvCxnSpPr>
              <a:cxnSpLocks/>
              <a:stCxn id="54" idx="3"/>
              <a:endCxn id="33" idx="0"/>
            </p:cNvCxnSpPr>
            <p:nvPr/>
          </p:nvCxnSpPr>
          <p:spPr>
            <a:xfrm flipH="1">
              <a:off x="4333667" y="4677121"/>
              <a:ext cx="8596" cy="1608780"/>
            </a:xfrm>
            <a:prstGeom prst="line">
              <a:avLst/>
            </a:prstGeom>
            <a:ln>
              <a:solidFill>
                <a:schemeClr val="bg2">
                  <a:lumMod val="75000"/>
                </a:schemeClr>
              </a:solidFill>
              <a:prstDash val="dash"/>
            </a:ln>
          </p:spPr>
          <p:style>
            <a:lnRef idx="2">
              <a:schemeClr val="accent1"/>
            </a:lnRef>
            <a:fillRef idx="0">
              <a:schemeClr val="accent1"/>
            </a:fillRef>
            <a:effectRef idx="1">
              <a:schemeClr val="accent1"/>
            </a:effectRef>
            <a:fontRef idx="minor">
              <a:schemeClr val="tx1"/>
            </a:fontRef>
          </p:style>
        </p:cxnSp>
        <p:sp>
          <p:nvSpPr>
            <p:cNvPr id="43" name="Oval 42">
              <a:extLst>
                <a:ext uri="{FF2B5EF4-FFF2-40B4-BE49-F238E27FC236}">
                  <a16:creationId xmlns:a16="http://schemas.microsoft.com/office/drawing/2014/main" id="{F1062DCB-4DD3-7F74-FF78-B0BF9F1C6A6D}"/>
                </a:ext>
              </a:extLst>
            </p:cNvPr>
            <p:cNvSpPr/>
            <p:nvPr/>
          </p:nvSpPr>
          <p:spPr>
            <a:xfrm>
              <a:off x="8747740" y="3562096"/>
              <a:ext cx="188893" cy="188893"/>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44" name="Oval 43">
              <a:extLst>
                <a:ext uri="{FF2B5EF4-FFF2-40B4-BE49-F238E27FC236}">
                  <a16:creationId xmlns:a16="http://schemas.microsoft.com/office/drawing/2014/main" id="{523BFB29-FF82-217F-1699-33CEF3F5B95F}"/>
                </a:ext>
              </a:extLst>
            </p:cNvPr>
            <p:cNvSpPr/>
            <p:nvPr/>
          </p:nvSpPr>
          <p:spPr>
            <a:xfrm>
              <a:off x="8771551" y="3443030"/>
              <a:ext cx="188893" cy="188893"/>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45" name="Oval 44">
              <a:extLst>
                <a:ext uri="{FF2B5EF4-FFF2-40B4-BE49-F238E27FC236}">
                  <a16:creationId xmlns:a16="http://schemas.microsoft.com/office/drawing/2014/main" id="{F8168F09-0FAA-0B5D-C822-D2AFEADC6540}"/>
                </a:ext>
              </a:extLst>
            </p:cNvPr>
            <p:cNvSpPr/>
            <p:nvPr/>
          </p:nvSpPr>
          <p:spPr>
            <a:xfrm>
              <a:off x="8538185" y="3595430"/>
              <a:ext cx="188893" cy="188893"/>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46" name="Oval 45">
              <a:extLst>
                <a:ext uri="{FF2B5EF4-FFF2-40B4-BE49-F238E27FC236}">
                  <a16:creationId xmlns:a16="http://schemas.microsoft.com/office/drawing/2014/main" id="{9DE78025-349E-08D1-169B-BA8FFC75B0CE}"/>
                </a:ext>
              </a:extLst>
            </p:cNvPr>
            <p:cNvSpPr/>
            <p:nvPr/>
          </p:nvSpPr>
          <p:spPr>
            <a:xfrm>
              <a:off x="8466746" y="3452552"/>
              <a:ext cx="188893" cy="188893"/>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47" name="Oval 46">
              <a:extLst>
                <a:ext uri="{FF2B5EF4-FFF2-40B4-BE49-F238E27FC236}">
                  <a16:creationId xmlns:a16="http://schemas.microsoft.com/office/drawing/2014/main" id="{4D84A0F6-43BC-F0C3-F840-C5E96ADFF785}"/>
                </a:ext>
              </a:extLst>
            </p:cNvPr>
            <p:cNvSpPr/>
            <p:nvPr/>
          </p:nvSpPr>
          <p:spPr>
            <a:xfrm>
              <a:off x="8604858" y="3333486"/>
              <a:ext cx="188893" cy="188893"/>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48" name="Oval 47">
              <a:extLst>
                <a:ext uri="{FF2B5EF4-FFF2-40B4-BE49-F238E27FC236}">
                  <a16:creationId xmlns:a16="http://schemas.microsoft.com/office/drawing/2014/main" id="{E16477F8-9FC1-6405-DEDD-AEF1264A62A2}"/>
                </a:ext>
              </a:extLst>
            </p:cNvPr>
            <p:cNvSpPr/>
            <p:nvPr/>
          </p:nvSpPr>
          <p:spPr>
            <a:xfrm>
              <a:off x="8428641" y="3600189"/>
              <a:ext cx="188893" cy="188893"/>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49" name="Oval 48">
              <a:extLst>
                <a:ext uri="{FF2B5EF4-FFF2-40B4-BE49-F238E27FC236}">
                  <a16:creationId xmlns:a16="http://schemas.microsoft.com/office/drawing/2014/main" id="{04C7B6DA-1323-A3C1-BDA9-EF8B4FA842E6}"/>
                </a:ext>
              </a:extLst>
            </p:cNvPr>
            <p:cNvSpPr/>
            <p:nvPr/>
          </p:nvSpPr>
          <p:spPr>
            <a:xfrm>
              <a:off x="5492434" y="4578478"/>
              <a:ext cx="188893" cy="188893"/>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50" name="Oval 49">
              <a:extLst>
                <a:ext uri="{FF2B5EF4-FFF2-40B4-BE49-F238E27FC236}">
                  <a16:creationId xmlns:a16="http://schemas.microsoft.com/office/drawing/2014/main" id="{023A7F1D-09C0-A603-2727-03DA4A55D5EC}"/>
                </a:ext>
              </a:extLst>
            </p:cNvPr>
            <p:cNvSpPr/>
            <p:nvPr/>
          </p:nvSpPr>
          <p:spPr>
            <a:xfrm>
              <a:off x="4131915" y="4401328"/>
              <a:ext cx="188893" cy="188893"/>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51" name="Oval 50">
              <a:extLst>
                <a:ext uri="{FF2B5EF4-FFF2-40B4-BE49-F238E27FC236}">
                  <a16:creationId xmlns:a16="http://schemas.microsoft.com/office/drawing/2014/main" id="{971F2160-BA6D-297F-61DA-612F93886F22}"/>
                </a:ext>
              </a:extLst>
            </p:cNvPr>
            <p:cNvSpPr/>
            <p:nvPr/>
          </p:nvSpPr>
          <p:spPr>
            <a:xfrm>
              <a:off x="4198866" y="4273343"/>
              <a:ext cx="188893" cy="188893"/>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52" name="Oval 51">
              <a:extLst>
                <a:ext uri="{FF2B5EF4-FFF2-40B4-BE49-F238E27FC236}">
                  <a16:creationId xmlns:a16="http://schemas.microsoft.com/office/drawing/2014/main" id="{2AB2EDE8-0C85-CE1D-0D3E-D2BCD5530FB2}"/>
                </a:ext>
              </a:extLst>
            </p:cNvPr>
            <p:cNvSpPr/>
            <p:nvPr/>
          </p:nvSpPr>
          <p:spPr>
            <a:xfrm>
              <a:off x="4375744" y="4315902"/>
              <a:ext cx="188893" cy="188893"/>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53" name="Oval 52">
              <a:extLst>
                <a:ext uri="{FF2B5EF4-FFF2-40B4-BE49-F238E27FC236}">
                  <a16:creationId xmlns:a16="http://schemas.microsoft.com/office/drawing/2014/main" id="{481174CC-88D7-F5E3-E29B-380989784E08}"/>
                </a:ext>
              </a:extLst>
            </p:cNvPr>
            <p:cNvSpPr/>
            <p:nvPr/>
          </p:nvSpPr>
          <p:spPr>
            <a:xfrm>
              <a:off x="3991736" y="4302393"/>
              <a:ext cx="188893" cy="188893"/>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54" name="Oval 53">
              <a:extLst>
                <a:ext uri="{FF2B5EF4-FFF2-40B4-BE49-F238E27FC236}">
                  <a16:creationId xmlns:a16="http://schemas.microsoft.com/office/drawing/2014/main" id="{B7B1B4FD-2EDA-DD82-CEF5-D9BC2446234F}"/>
                </a:ext>
              </a:extLst>
            </p:cNvPr>
            <p:cNvSpPr/>
            <p:nvPr/>
          </p:nvSpPr>
          <p:spPr>
            <a:xfrm>
              <a:off x="4314600" y="4515891"/>
              <a:ext cx="188893" cy="188893"/>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55" name="Oval 54">
              <a:extLst>
                <a:ext uri="{FF2B5EF4-FFF2-40B4-BE49-F238E27FC236}">
                  <a16:creationId xmlns:a16="http://schemas.microsoft.com/office/drawing/2014/main" id="{C6910C13-9DA0-B756-00A6-1C7B659C3B5C}"/>
                </a:ext>
              </a:extLst>
            </p:cNvPr>
            <p:cNvSpPr/>
            <p:nvPr/>
          </p:nvSpPr>
          <p:spPr>
            <a:xfrm>
              <a:off x="4052110" y="4557075"/>
              <a:ext cx="188893" cy="188893"/>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56" name="Oval 55">
              <a:extLst>
                <a:ext uri="{FF2B5EF4-FFF2-40B4-BE49-F238E27FC236}">
                  <a16:creationId xmlns:a16="http://schemas.microsoft.com/office/drawing/2014/main" id="{562D936A-BEF4-FE83-A833-A6EDEF2C0759}"/>
                </a:ext>
              </a:extLst>
            </p:cNvPr>
            <p:cNvSpPr/>
            <p:nvPr/>
          </p:nvSpPr>
          <p:spPr>
            <a:xfrm>
              <a:off x="5631574" y="4525035"/>
              <a:ext cx="188893" cy="188893"/>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57" name="Oval 56">
              <a:extLst>
                <a:ext uri="{FF2B5EF4-FFF2-40B4-BE49-F238E27FC236}">
                  <a16:creationId xmlns:a16="http://schemas.microsoft.com/office/drawing/2014/main" id="{42580D71-4C5D-F44B-C40B-0227B35116F2}"/>
                </a:ext>
              </a:extLst>
            </p:cNvPr>
            <p:cNvSpPr/>
            <p:nvPr/>
          </p:nvSpPr>
          <p:spPr>
            <a:xfrm>
              <a:off x="5794297" y="4592416"/>
              <a:ext cx="188893" cy="188893"/>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58" name="Oval 57">
              <a:extLst>
                <a:ext uri="{FF2B5EF4-FFF2-40B4-BE49-F238E27FC236}">
                  <a16:creationId xmlns:a16="http://schemas.microsoft.com/office/drawing/2014/main" id="{2DB0DE04-154F-FDC5-A7F5-8314FA272D3D}"/>
                </a:ext>
              </a:extLst>
            </p:cNvPr>
            <p:cNvSpPr/>
            <p:nvPr/>
          </p:nvSpPr>
          <p:spPr>
            <a:xfrm>
              <a:off x="5677289" y="4708061"/>
              <a:ext cx="188893" cy="188893"/>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59" name="Oval 58">
              <a:extLst>
                <a:ext uri="{FF2B5EF4-FFF2-40B4-BE49-F238E27FC236}">
                  <a16:creationId xmlns:a16="http://schemas.microsoft.com/office/drawing/2014/main" id="{CF0EF671-02D7-8D53-ED0F-B0E0D5E7E2A7}"/>
                </a:ext>
              </a:extLst>
            </p:cNvPr>
            <p:cNvSpPr/>
            <p:nvPr/>
          </p:nvSpPr>
          <p:spPr>
            <a:xfrm>
              <a:off x="5429661" y="4702210"/>
              <a:ext cx="188893" cy="188893"/>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60" name="Oval 59">
              <a:extLst>
                <a:ext uri="{FF2B5EF4-FFF2-40B4-BE49-F238E27FC236}">
                  <a16:creationId xmlns:a16="http://schemas.microsoft.com/office/drawing/2014/main" id="{FC319F45-186A-E8F1-1575-B0AA07D6696B}"/>
                </a:ext>
              </a:extLst>
            </p:cNvPr>
            <p:cNvSpPr/>
            <p:nvPr/>
          </p:nvSpPr>
          <p:spPr>
            <a:xfrm>
              <a:off x="5385129" y="4586336"/>
              <a:ext cx="188893" cy="188893"/>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grpSp>
          <p:nvGrpSpPr>
            <p:cNvPr id="61" name="Group 60">
              <a:extLst>
                <a:ext uri="{FF2B5EF4-FFF2-40B4-BE49-F238E27FC236}">
                  <a16:creationId xmlns:a16="http://schemas.microsoft.com/office/drawing/2014/main" id="{84669803-E836-E2A4-28FA-7E677E1DD960}"/>
                </a:ext>
              </a:extLst>
            </p:cNvPr>
            <p:cNvGrpSpPr/>
            <p:nvPr/>
          </p:nvGrpSpPr>
          <p:grpSpPr>
            <a:xfrm>
              <a:off x="4595403" y="3175172"/>
              <a:ext cx="3651307" cy="1393511"/>
              <a:chOff x="4595403" y="3175172"/>
              <a:chExt cx="3651307" cy="1393511"/>
            </a:xfrm>
          </p:grpSpPr>
          <p:cxnSp>
            <p:nvCxnSpPr>
              <p:cNvPr id="62" name="Straight Connector 61">
                <a:extLst>
                  <a:ext uri="{FF2B5EF4-FFF2-40B4-BE49-F238E27FC236}">
                    <a16:creationId xmlns:a16="http://schemas.microsoft.com/office/drawing/2014/main" id="{5FC06E06-713A-AA71-37B3-72DA75285C48}"/>
                  </a:ext>
                </a:extLst>
              </p:cNvPr>
              <p:cNvCxnSpPr>
                <a:cxnSpLocks/>
              </p:cNvCxnSpPr>
              <p:nvPr/>
            </p:nvCxnSpPr>
            <p:spPr>
              <a:xfrm flipV="1">
                <a:off x="4595403" y="3175172"/>
                <a:ext cx="3026096" cy="1144527"/>
              </a:xfrm>
              <a:prstGeom prst="line">
                <a:avLst/>
              </a:prstGeom>
              <a:ln w="57150">
                <a:solidFill>
                  <a:schemeClr val="accent5"/>
                </a:solidFill>
              </a:ln>
            </p:spPr>
            <p:style>
              <a:lnRef idx="2">
                <a:schemeClr val="accent1"/>
              </a:lnRef>
              <a:fillRef idx="0">
                <a:schemeClr val="accent1"/>
              </a:fillRef>
              <a:effectRef idx="1">
                <a:schemeClr val="accent1"/>
              </a:effectRef>
              <a:fontRef idx="minor">
                <a:schemeClr val="tx1"/>
              </a:fontRef>
            </p:style>
          </p:cxnSp>
          <p:cxnSp>
            <p:nvCxnSpPr>
              <p:cNvPr id="63" name="Straight Connector 62">
                <a:extLst>
                  <a:ext uri="{FF2B5EF4-FFF2-40B4-BE49-F238E27FC236}">
                    <a16:creationId xmlns:a16="http://schemas.microsoft.com/office/drawing/2014/main" id="{5A7948A0-8ACE-4EEF-4366-79A31A1C4A4F}"/>
                  </a:ext>
                </a:extLst>
              </p:cNvPr>
              <p:cNvCxnSpPr>
                <a:cxnSpLocks/>
              </p:cNvCxnSpPr>
              <p:nvPr/>
            </p:nvCxnSpPr>
            <p:spPr>
              <a:xfrm flipV="1">
                <a:off x="5983190" y="3734856"/>
                <a:ext cx="2263520" cy="833827"/>
              </a:xfrm>
              <a:prstGeom prst="line">
                <a:avLst/>
              </a:prstGeom>
              <a:ln w="57150">
                <a:solidFill>
                  <a:schemeClr val="accent5"/>
                </a:solidFill>
              </a:ln>
            </p:spPr>
            <p:style>
              <a:lnRef idx="2">
                <a:schemeClr val="accent1"/>
              </a:lnRef>
              <a:fillRef idx="0">
                <a:schemeClr val="accent1"/>
              </a:fillRef>
              <a:effectRef idx="1">
                <a:schemeClr val="accent1"/>
              </a:effectRef>
              <a:fontRef idx="minor">
                <a:schemeClr val="tx1"/>
              </a:fontRef>
            </p:style>
          </p:cxnSp>
          <p:cxnSp>
            <p:nvCxnSpPr>
              <p:cNvPr id="64" name="Straight Connector 63">
                <a:extLst>
                  <a:ext uri="{FF2B5EF4-FFF2-40B4-BE49-F238E27FC236}">
                    <a16:creationId xmlns:a16="http://schemas.microsoft.com/office/drawing/2014/main" id="{EEAC010A-67C3-13CC-F0A0-1B7992604521}"/>
                  </a:ext>
                </a:extLst>
              </p:cNvPr>
              <p:cNvCxnSpPr>
                <a:cxnSpLocks/>
              </p:cNvCxnSpPr>
              <p:nvPr/>
            </p:nvCxnSpPr>
            <p:spPr>
              <a:xfrm flipV="1">
                <a:off x="5720897" y="3522140"/>
                <a:ext cx="2454191" cy="930898"/>
              </a:xfrm>
              <a:prstGeom prst="line">
                <a:avLst/>
              </a:prstGeom>
              <a:ln w="57150">
                <a:solidFill>
                  <a:schemeClr val="accent5"/>
                </a:solidFill>
              </a:ln>
            </p:spPr>
            <p:style>
              <a:lnRef idx="2">
                <a:schemeClr val="accent1"/>
              </a:lnRef>
              <a:fillRef idx="0">
                <a:schemeClr val="accent1"/>
              </a:fillRef>
              <a:effectRef idx="1">
                <a:schemeClr val="accent1"/>
              </a:effectRef>
              <a:fontRef idx="minor">
                <a:schemeClr val="tx1"/>
              </a:fontRef>
            </p:style>
          </p:cxnSp>
          <p:cxnSp>
            <p:nvCxnSpPr>
              <p:cNvPr id="65" name="Straight Connector 64">
                <a:extLst>
                  <a:ext uri="{FF2B5EF4-FFF2-40B4-BE49-F238E27FC236}">
                    <a16:creationId xmlns:a16="http://schemas.microsoft.com/office/drawing/2014/main" id="{6CCE00E8-7B7B-AA19-689D-B13881A238F4}"/>
                  </a:ext>
                </a:extLst>
              </p:cNvPr>
              <p:cNvCxnSpPr>
                <a:cxnSpLocks/>
              </p:cNvCxnSpPr>
              <p:nvPr/>
            </p:nvCxnSpPr>
            <p:spPr>
              <a:xfrm flipV="1">
                <a:off x="4901695" y="3325328"/>
                <a:ext cx="3047130" cy="1161403"/>
              </a:xfrm>
              <a:prstGeom prst="line">
                <a:avLst/>
              </a:prstGeom>
              <a:ln w="57150">
                <a:solidFill>
                  <a:schemeClr val="accent5"/>
                </a:solidFill>
              </a:ln>
            </p:spPr>
            <p:style>
              <a:lnRef idx="2">
                <a:schemeClr val="accent1"/>
              </a:lnRef>
              <a:fillRef idx="0">
                <a:schemeClr val="accent1"/>
              </a:fillRef>
              <a:effectRef idx="1">
                <a:schemeClr val="accent1"/>
              </a:effectRef>
              <a:fontRef idx="minor">
                <a:schemeClr val="tx1"/>
              </a:fontRef>
            </p:style>
          </p:cxnSp>
        </p:grpSp>
      </p:grpSp>
      <p:sp>
        <p:nvSpPr>
          <p:cNvPr id="68" name="Content Placeholder 2">
            <a:extLst>
              <a:ext uri="{FF2B5EF4-FFF2-40B4-BE49-F238E27FC236}">
                <a16:creationId xmlns:a16="http://schemas.microsoft.com/office/drawing/2014/main" id="{6DCF9BA1-4660-4227-6F98-43FA14BA704F}"/>
              </a:ext>
            </a:extLst>
          </p:cNvPr>
          <p:cNvSpPr txBox="1">
            <a:spLocks/>
          </p:cNvSpPr>
          <p:nvPr/>
        </p:nvSpPr>
        <p:spPr>
          <a:xfrm>
            <a:off x="836956" y="3223829"/>
            <a:ext cx="7883183" cy="293311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dirty="0"/>
              <a:t>We can do that for settings where folks get (hopefully) random-</a:t>
            </a:r>
            <a:r>
              <a:rPr lang="en-US" sz="2400" dirty="0" err="1"/>
              <a:t>ish</a:t>
            </a:r>
            <a:r>
              <a:rPr lang="en-US" sz="2400" dirty="0"/>
              <a:t> windfall income to see what happens!</a:t>
            </a:r>
          </a:p>
          <a:p>
            <a:pPr lvl="1"/>
            <a:r>
              <a:rPr lang="en-US" sz="2000" dirty="0">
                <a:solidFill>
                  <a:schemeClr val="accent1"/>
                </a:solidFill>
              </a:rPr>
              <a:t>Results are mixed.</a:t>
            </a:r>
          </a:p>
          <a:p>
            <a:pPr lvl="2"/>
            <a:r>
              <a:rPr lang="en-US" sz="1800" dirty="0">
                <a:solidFill>
                  <a:schemeClr val="accent1"/>
                </a:solidFill>
              </a:rPr>
              <a:t>Unexpected benefits payouts!</a:t>
            </a:r>
          </a:p>
          <a:p>
            <a:pPr lvl="2"/>
            <a:r>
              <a:rPr lang="en-US" sz="1800" dirty="0">
                <a:solidFill>
                  <a:schemeClr val="accent1"/>
                </a:solidFill>
              </a:rPr>
              <a:t>Lottery winners!</a:t>
            </a:r>
          </a:p>
          <a:p>
            <a:pPr lvl="2"/>
            <a:r>
              <a:rPr lang="en-US" sz="1800" dirty="0" err="1">
                <a:solidFill>
                  <a:schemeClr val="accent1"/>
                </a:solidFill>
              </a:rPr>
              <a:t>OpenResearch</a:t>
            </a:r>
            <a:r>
              <a:rPr lang="en-US" sz="1800" dirty="0">
                <a:solidFill>
                  <a:schemeClr val="accent1"/>
                </a:solidFill>
              </a:rPr>
              <a:t> UBI study!</a:t>
            </a:r>
          </a:p>
        </p:txBody>
      </p:sp>
      <p:sp>
        <p:nvSpPr>
          <p:cNvPr id="66" name="Content Placeholder 2">
            <a:extLst>
              <a:ext uri="{FF2B5EF4-FFF2-40B4-BE49-F238E27FC236}">
                <a16:creationId xmlns:a16="http://schemas.microsoft.com/office/drawing/2014/main" id="{D0990217-7997-8CA2-EA5F-AE6F24465A1F}"/>
              </a:ext>
            </a:extLst>
          </p:cNvPr>
          <p:cNvSpPr txBox="1">
            <a:spLocks/>
          </p:cNvSpPr>
          <p:nvPr/>
        </p:nvSpPr>
        <p:spPr>
          <a:xfrm>
            <a:off x="725143" y="5559120"/>
            <a:ext cx="7437413" cy="132556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dirty="0"/>
              <a:t>We can also use non-parametric models, like random forests and causal forests!</a:t>
            </a:r>
            <a:endParaRPr lang="en-US" sz="1800" dirty="0">
              <a:solidFill>
                <a:schemeClr val="accent1"/>
              </a:solidFill>
            </a:endParaRPr>
          </a:p>
        </p:txBody>
      </p:sp>
      <p:grpSp>
        <p:nvGrpSpPr>
          <p:cNvPr id="69" name="Group 68">
            <a:extLst>
              <a:ext uri="{FF2B5EF4-FFF2-40B4-BE49-F238E27FC236}">
                <a16:creationId xmlns:a16="http://schemas.microsoft.com/office/drawing/2014/main" id="{FFC54EB0-E65D-A425-3F71-7456EB3C6743}"/>
              </a:ext>
            </a:extLst>
          </p:cNvPr>
          <p:cNvGrpSpPr/>
          <p:nvPr/>
        </p:nvGrpSpPr>
        <p:grpSpPr>
          <a:xfrm>
            <a:off x="5739769" y="5286981"/>
            <a:ext cx="6535151" cy="1661062"/>
            <a:chOff x="5481920" y="5226964"/>
            <a:chExt cx="6535151" cy="1661062"/>
          </a:xfrm>
        </p:grpSpPr>
        <p:grpSp>
          <p:nvGrpSpPr>
            <p:cNvPr id="70" name="Group 69">
              <a:extLst>
                <a:ext uri="{FF2B5EF4-FFF2-40B4-BE49-F238E27FC236}">
                  <a16:creationId xmlns:a16="http://schemas.microsoft.com/office/drawing/2014/main" id="{B00AD5FC-C57A-572A-BCB1-EAA010EDEC99}"/>
                </a:ext>
              </a:extLst>
            </p:cNvPr>
            <p:cNvGrpSpPr/>
            <p:nvPr/>
          </p:nvGrpSpPr>
          <p:grpSpPr>
            <a:xfrm>
              <a:off x="10283979" y="5226964"/>
              <a:ext cx="1733092" cy="1661062"/>
              <a:chOff x="7426236" y="4598781"/>
              <a:chExt cx="2399930" cy="2300185"/>
            </a:xfrm>
          </p:grpSpPr>
          <p:sp>
            <p:nvSpPr>
              <p:cNvPr id="147" name="Rectangle 146">
                <a:extLst>
                  <a:ext uri="{FF2B5EF4-FFF2-40B4-BE49-F238E27FC236}">
                    <a16:creationId xmlns:a16="http://schemas.microsoft.com/office/drawing/2014/main" id="{4AAB2D09-5209-774B-8FF1-0A79B0C7BA92}"/>
                  </a:ext>
                </a:extLst>
              </p:cNvPr>
              <p:cNvSpPr/>
              <p:nvPr/>
            </p:nvSpPr>
            <p:spPr>
              <a:xfrm>
                <a:off x="7496659" y="5367987"/>
                <a:ext cx="1051943" cy="132869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8" name="Rectangle 147">
                <a:extLst>
                  <a:ext uri="{FF2B5EF4-FFF2-40B4-BE49-F238E27FC236}">
                    <a16:creationId xmlns:a16="http://schemas.microsoft.com/office/drawing/2014/main" id="{FC201C7B-C0A6-640B-3029-F1579010E875}"/>
                  </a:ext>
                </a:extLst>
              </p:cNvPr>
              <p:cNvSpPr/>
              <p:nvPr/>
            </p:nvSpPr>
            <p:spPr>
              <a:xfrm>
                <a:off x="8578806" y="5739061"/>
                <a:ext cx="506478" cy="957616"/>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9" name="Rectangle 148">
                <a:extLst>
                  <a:ext uri="{FF2B5EF4-FFF2-40B4-BE49-F238E27FC236}">
                    <a16:creationId xmlns:a16="http://schemas.microsoft.com/office/drawing/2014/main" id="{F5F2CC69-A7D9-3AAE-D006-4D25ECBB642F}"/>
                  </a:ext>
                </a:extLst>
              </p:cNvPr>
              <p:cNvSpPr/>
              <p:nvPr/>
            </p:nvSpPr>
            <p:spPr>
              <a:xfrm>
                <a:off x="9142471" y="5739061"/>
                <a:ext cx="584359" cy="950861"/>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0" name="Rectangle 149">
                <a:extLst>
                  <a:ext uri="{FF2B5EF4-FFF2-40B4-BE49-F238E27FC236}">
                    <a16:creationId xmlns:a16="http://schemas.microsoft.com/office/drawing/2014/main" id="{920D80A2-78CB-0D68-DAA6-C26C2589B5D2}"/>
                  </a:ext>
                </a:extLst>
              </p:cNvPr>
              <p:cNvSpPr/>
              <p:nvPr/>
            </p:nvSpPr>
            <p:spPr>
              <a:xfrm>
                <a:off x="7492905" y="4632152"/>
                <a:ext cx="1063981" cy="705144"/>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1" name="Rectangle 150">
                <a:extLst>
                  <a:ext uri="{FF2B5EF4-FFF2-40B4-BE49-F238E27FC236}">
                    <a16:creationId xmlns:a16="http://schemas.microsoft.com/office/drawing/2014/main" id="{6D8DB492-EDAF-C2B7-29D8-A5EF2F27DE36}"/>
                  </a:ext>
                </a:extLst>
              </p:cNvPr>
              <p:cNvSpPr/>
              <p:nvPr/>
            </p:nvSpPr>
            <p:spPr>
              <a:xfrm>
                <a:off x="9432351" y="4622816"/>
                <a:ext cx="334887" cy="1071225"/>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2" name="Rectangle 151">
                <a:extLst>
                  <a:ext uri="{FF2B5EF4-FFF2-40B4-BE49-F238E27FC236}">
                    <a16:creationId xmlns:a16="http://schemas.microsoft.com/office/drawing/2014/main" id="{379D9C50-BAE0-598C-CB3E-E74A92E9C737}"/>
                  </a:ext>
                </a:extLst>
              </p:cNvPr>
              <p:cNvSpPr/>
              <p:nvPr/>
            </p:nvSpPr>
            <p:spPr>
              <a:xfrm>
                <a:off x="8609484" y="4598781"/>
                <a:ext cx="773404" cy="1071225"/>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53" name="Group 152">
                <a:extLst>
                  <a:ext uri="{FF2B5EF4-FFF2-40B4-BE49-F238E27FC236}">
                    <a16:creationId xmlns:a16="http://schemas.microsoft.com/office/drawing/2014/main" id="{B1428A07-D245-7161-680F-064844BC74A1}"/>
                  </a:ext>
                </a:extLst>
              </p:cNvPr>
              <p:cNvGrpSpPr/>
              <p:nvPr/>
            </p:nvGrpSpPr>
            <p:grpSpPr>
              <a:xfrm>
                <a:off x="7426236" y="4598781"/>
                <a:ext cx="2399930" cy="2300185"/>
                <a:chOff x="6660292" y="1281215"/>
                <a:chExt cx="5068242" cy="4857597"/>
              </a:xfrm>
            </p:grpSpPr>
            <p:cxnSp>
              <p:nvCxnSpPr>
                <p:cNvPr id="154" name="Straight Connector 153">
                  <a:extLst>
                    <a:ext uri="{FF2B5EF4-FFF2-40B4-BE49-F238E27FC236}">
                      <a16:creationId xmlns:a16="http://schemas.microsoft.com/office/drawing/2014/main" id="{BFE14723-ECE2-C3F0-F1B7-1A63C6A26DC9}"/>
                    </a:ext>
                  </a:extLst>
                </p:cNvPr>
                <p:cNvCxnSpPr/>
                <p:nvPr/>
              </p:nvCxnSpPr>
              <p:spPr>
                <a:xfrm>
                  <a:off x="6809014" y="1690688"/>
                  <a:ext cx="0" cy="4040641"/>
                </a:xfrm>
                <a:prstGeom prst="line">
                  <a:avLst/>
                </a:prstGeom>
              </p:spPr>
              <p:style>
                <a:lnRef idx="2">
                  <a:schemeClr val="accent1"/>
                </a:lnRef>
                <a:fillRef idx="0">
                  <a:schemeClr val="accent1"/>
                </a:fillRef>
                <a:effectRef idx="1">
                  <a:schemeClr val="accent1"/>
                </a:effectRef>
                <a:fontRef idx="minor">
                  <a:schemeClr val="tx1"/>
                </a:fontRef>
              </p:style>
            </p:cxnSp>
            <p:cxnSp>
              <p:nvCxnSpPr>
                <p:cNvPr id="155" name="Straight Connector 154">
                  <a:extLst>
                    <a:ext uri="{FF2B5EF4-FFF2-40B4-BE49-F238E27FC236}">
                      <a16:creationId xmlns:a16="http://schemas.microsoft.com/office/drawing/2014/main" id="{D4E395F0-533A-BE5E-4A81-67BC6E269A7C}"/>
                    </a:ext>
                  </a:extLst>
                </p:cNvPr>
                <p:cNvCxnSpPr>
                  <a:cxnSpLocks/>
                </p:cNvCxnSpPr>
                <p:nvPr/>
              </p:nvCxnSpPr>
              <p:spPr>
                <a:xfrm flipH="1">
                  <a:off x="6809014" y="5731329"/>
                  <a:ext cx="4816929" cy="0"/>
                </a:xfrm>
                <a:prstGeom prst="line">
                  <a:avLst/>
                </a:prstGeom>
              </p:spPr>
              <p:style>
                <a:lnRef idx="2">
                  <a:schemeClr val="accent1"/>
                </a:lnRef>
                <a:fillRef idx="0">
                  <a:schemeClr val="accent1"/>
                </a:fillRef>
                <a:effectRef idx="1">
                  <a:schemeClr val="accent1"/>
                </a:effectRef>
                <a:fontRef idx="minor">
                  <a:schemeClr val="tx1"/>
                </a:fontRef>
              </p:style>
            </p:cxnSp>
            <p:sp>
              <p:nvSpPr>
                <p:cNvPr id="156" name="Oval 155">
                  <a:extLst>
                    <a:ext uri="{FF2B5EF4-FFF2-40B4-BE49-F238E27FC236}">
                      <a16:creationId xmlns:a16="http://schemas.microsoft.com/office/drawing/2014/main" id="{0A93D808-214B-7CBB-4259-479464F1B035}"/>
                    </a:ext>
                  </a:extLst>
                </p:cNvPr>
                <p:cNvSpPr/>
                <p:nvPr/>
              </p:nvSpPr>
              <p:spPr>
                <a:xfrm>
                  <a:off x="9217478" y="1825625"/>
                  <a:ext cx="236765" cy="236765"/>
                </a:xfrm>
                <a:prstGeom prst="ellipse">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7" name="Oval 156">
                  <a:extLst>
                    <a:ext uri="{FF2B5EF4-FFF2-40B4-BE49-F238E27FC236}">
                      <a16:creationId xmlns:a16="http://schemas.microsoft.com/office/drawing/2014/main" id="{D462A44E-668D-5FC2-0F2B-5F2B69CF4BFD}"/>
                    </a:ext>
                  </a:extLst>
                </p:cNvPr>
                <p:cNvSpPr/>
                <p:nvPr/>
              </p:nvSpPr>
              <p:spPr>
                <a:xfrm>
                  <a:off x="10952770" y="1687331"/>
                  <a:ext cx="236765" cy="236765"/>
                </a:xfrm>
                <a:prstGeom prst="ellipse">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8" name="Oval 157">
                  <a:extLst>
                    <a:ext uri="{FF2B5EF4-FFF2-40B4-BE49-F238E27FC236}">
                      <a16:creationId xmlns:a16="http://schemas.microsoft.com/office/drawing/2014/main" id="{BE3C40F5-470E-D459-4219-D914A4E7E815}"/>
                    </a:ext>
                  </a:extLst>
                </p:cNvPr>
                <p:cNvSpPr/>
                <p:nvPr/>
              </p:nvSpPr>
              <p:spPr>
                <a:xfrm>
                  <a:off x="10367567" y="2210195"/>
                  <a:ext cx="236765" cy="236765"/>
                </a:xfrm>
                <a:prstGeom prst="ellipse">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9" name="Oval 158">
                  <a:extLst>
                    <a:ext uri="{FF2B5EF4-FFF2-40B4-BE49-F238E27FC236}">
                      <a16:creationId xmlns:a16="http://schemas.microsoft.com/office/drawing/2014/main" id="{3B577D49-3C58-7A2D-B10A-FFABE2B920A7}"/>
                    </a:ext>
                  </a:extLst>
                </p:cNvPr>
                <p:cNvSpPr/>
                <p:nvPr/>
              </p:nvSpPr>
              <p:spPr>
                <a:xfrm>
                  <a:off x="10632262" y="2859897"/>
                  <a:ext cx="236765" cy="236765"/>
                </a:xfrm>
                <a:prstGeom prst="ellipse">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0" name="Oval 159">
                  <a:extLst>
                    <a:ext uri="{FF2B5EF4-FFF2-40B4-BE49-F238E27FC236}">
                      <a16:creationId xmlns:a16="http://schemas.microsoft.com/office/drawing/2014/main" id="{AF6AD8AA-24B0-79F1-C3E9-50D957900D4E}"/>
                    </a:ext>
                  </a:extLst>
                </p:cNvPr>
                <p:cNvSpPr/>
                <p:nvPr/>
              </p:nvSpPr>
              <p:spPr>
                <a:xfrm>
                  <a:off x="10983056" y="3709330"/>
                  <a:ext cx="236765" cy="236765"/>
                </a:xfrm>
                <a:prstGeom prst="ellipse">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1" name="Oval 160">
                  <a:extLst>
                    <a:ext uri="{FF2B5EF4-FFF2-40B4-BE49-F238E27FC236}">
                      <a16:creationId xmlns:a16="http://schemas.microsoft.com/office/drawing/2014/main" id="{68865571-EC83-80B6-5008-26CBE9E97544}"/>
                    </a:ext>
                  </a:extLst>
                </p:cNvPr>
                <p:cNvSpPr/>
                <p:nvPr/>
              </p:nvSpPr>
              <p:spPr>
                <a:xfrm>
                  <a:off x="9857263" y="3239157"/>
                  <a:ext cx="236765" cy="236765"/>
                </a:xfrm>
                <a:prstGeom prst="ellipse">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2" name="Oval 161">
                  <a:extLst>
                    <a:ext uri="{FF2B5EF4-FFF2-40B4-BE49-F238E27FC236}">
                      <a16:creationId xmlns:a16="http://schemas.microsoft.com/office/drawing/2014/main" id="{3098B184-7213-6406-18B3-F21CFC48B09B}"/>
                    </a:ext>
                  </a:extLst>
                </p:cNvPr>
                <p:cNvSpPr/>
                <p:nvPr/>
              </p:nvSpPr>
              <p:spPr>
                <a:xfrm>
                  <a:off x="9454243" y="2623132"/>
                  <a:ext cx="236765" cy="236765"/>
                </a:xfrm>
                <a:prstGeom prst="ellipse">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3" name="Oval 162">
                  <a:extLst>
                    <a:ext uri="{FF2B5EF4-FFF2-40B4-BE49-F238E27FC236}">
                      <a16:creationId xmlns:a16="http://schemas.microsoft.com/office/drawing/2014/main" id="{E5DEB872-E65D-6F2F-7FA5-946A263BE37A}"/>
                    </a:ext>
                  </a:extLst>
                </p:cNvPr>
                <p:cNvSpPr/>
                <p:nvPr/>
              </p:nvSpPr>
              <p:spPr>
                <a:xfrm>
                  <a:off x="7148579" y="1529166"/>
                  <a:ext cx="236765" cy="236765"/>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4" name="Oval 163">
                  <a:extLst>
                    <a:ext uri="{FF2B5EF4-FFF2-40B4-BE49-F238E27FC236}">
                      <a16:creationId xmlns:a16="http://schemas.microsoft.com/office/drawing/2014/main" id="{1DB0B22E-95D7-A886-5323-E506513F79B8}"/>
                    </a:ext>
                  </a:extLst>
                </p:cNvPr>
                <p:cNvSpPr/>
                <p:nvPr/>
              </p:nvSpPr>
              <p:spPr>
                <a:xfrm>
                  <a:off x="7776481" y="1929994"/>
                  <a:ext cx="236765" cy="23676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5" name="Oval 164">
                  <a:extLst>
                    <a:ext uri="{FF2B5EF4-FFF2-40B4-BE49-F238E27FC236}">
                      <a16:creationId xmlns:a16="http://schemas.microsoft.com/office/drawing/2014/main" id="{6BE32ADB-3604-8BC1-25D5-7B3BA68629B9}"/>
                    </a:ext>
                  </a:extLst>
                </p:cNvPr>
                <p:cNvSpPr/>
                <p:nvPr/>
              </p:nvSpPr>
              <p:spPr>
                <a:xfrm>
                  <a:off x="7285263" y="2454729"/>
                  <a:ext cx="236765" cy="23676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6" name="Oval 165">
                  <a:extLst>
                    <a:ext uri="{FF2B5EF4-FFF2-40B4-BE49-F238E27FC236}">
                      <a16:creationId xmlns:a16="http://schemas.microsoft.com/office/drawing/2014/main" id="{11325818-FD7A-8283-78F1-55E395A38B71}"/>
                    </a:ext>
                  </a:extLst>
                </p:cNvPr>
                <p:cNvSpPr/>
                <p:nvPr/>
              </p:nvSpPr>
              <p:spPr>
                <a:xfrm>
                  <a:off x="8483873" y="2976593"/>
                  <a:ext cx="236765" cy="236765"/>
                </a:xfrm>
                <a:prstGeom prst="ellipse">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7" name="Oval 166">
                  <a:extLst>
                    <a:ext uri="{FF2B5EF4-FFF2-40B4-BE49-F238E27FC236}">
                      <a16:creationId xmlns:a16="http://schemas.microsoft.com/office/drawing/2014/main" id="{742D92AB-F243-3FC3-85B3-DEAE644FAA2B}"/>
                    </a:ext>
                  </a:extLst>
                </p:cNvPr>
                <p:cNvSpPr/>
                <p:nvPr/>
              </p:nvSpPr>
              <p:spPr>
                <a:xfrm>
                  <a:off x="7266961" y="3999504"/>
                  <a:ext cx="236765" cy="236765"/>
                </a:xfrm>
                <a:prstGeom prst="ellipse">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8" name="Oval 167">
                  <a:extLst>
                    <a:ext uri="{FF2B5EF4-FFF2-40B4-BE49-F238E27FC236}">
                      <a16:creationId xmlns:a16="http://schemas.microsoft.com/office/drawing/2014/main" id="{FA11BC89-F7F6-4717-8A98-A64BC8CCB5CE}"/>
                    </a:ext>
                  </a:extLst>
                </p:cNvPr>
                <p:cNvSpPr/>
                <p:nvPr/>
              </p:nvSpPr>
              <p:spPr>
                <a:xfrm>
                  <a:off x="7977991" y="3778477"/>
                  <a:ext cx="236765" cy="236765"/>
                </a:xfrm>
                <a:prstGeom prst="ellipse">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9" name="Oval 168">
                  <a:extLst>
                    <a:ext uri="{FF2B5EF4-FFF2-40B4-BE49-F238E27FC236}">
                      <a16:creationId xmlns:a16="http://schemas.microsoft.com/office/drawing/2014/main" id="{C53E1ED3-B0B2-3BF5-4153-AAF82F6BEB67}"/>
                    </a:ext>
                  </a:extLst>
                </p:cNvPr>
                <p:cNvSpPr/>
                <p:nvPr/>
              </p:nvSpPr>
              <p:spPr>
                <a:xfrm>
                  <a:off x="7731210" y="4702366"/>
                  <a:ext cx="236765" cy="236765"/>
                </a:xfrm>
                <a:prstGeom prst="ellipse">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0" name="Oval 169">
                  <a:extLst>
                    <a:ext uri="{FF2B5EF4-FFF2-40B4-BE49-F238E27FC236}">
                      <a16:creationId xmlns:a16="http://schemas.microsoft.com/office/drawing/2014/main" id="{6D405C55-9DE7-6916-E79D-6790E4B753B8}"/>
                    </a:ext>
                  </a:extLst>
                </p:cNvPr>
                <p:cNvSpPr/>
                <p:nvPr/>
              </p:nvSpPr>
              <p:spPr>
                <a:xfrm>
                  <a:off x="8351525" y="5255258"/>
                  <a:ext cx="236765" cy="236765"/>
                </a:xfrm>
                <a:prstGeom prst="ellipse">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1" name="Oval 170">
                  <a:extLst>
                    <a:ext uri="{FF2B5EF4-FFF2-40B4-BE49-F238E27FC236}">
                      <a16:creationId xmlns:a16="http://schemas.microsoft.com/office/drawing/2014/main" id="{6D84B13A-99CF-18AA-CAA1-5917DA31793B}"/>
                    </a:ext>
                  </a:extLst>
                </p:cNvPr>
                <p:cNvSpPr/>
                <p:nvPr/>
              </p:nvSpPr>
              <p:spPr>
                <a:xfrm>
                  <a:off x="8720638" y="4885166"/>
                  <a:ext cx="236765" cy="236765"/>
                </a:xfrm>
                <a:prstGeom prst="ellipse">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2" name="Oval 171">
                  <a:extLst>
                    <a:ext uri="{FF2B5EF4-FFF2-40B4-BE49-F238E27FC236}">
                      <a16:creationId xmlns:a16="http://schemas.microsoft.com/office/drawing/2014/main" id="{26219AEE-4178-7371-30E7-BEF7CEC7C36D}"/>
                    </a:ext>
                  </a:extLst>
                </p:cNvPr>
                <p:cNvSpPr/>
                <p:nvPr/>
              </p:nvSpPr>
              <p:spPr>
                <a:xfrm>
                  <a:off x="9691008" y="5142552"/>
                  <a:ext cx="236765" cy="236765"/>
                </a:xfrm>
                <a:prstGeom prst="ellipse">
                  <a:avLst/>
                </a:prstGeom>
                <a:solidFill>
                  <a:schemeClr val="accent4">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3" name="Oval 172">
                  <a:extLst>
                    <a:ext uri="{FF2B5EF4-FFF2-40B4-BE49-F238E27FC236}">
                      <a16:creationId xmlns:a16="http://schemas.microsoft.com/office/drawing/2014/main" id="{E186EDA4-65FF-0ED8-0D42-84D5B931AE32}"/>
                    </a:ext>
                  </a:extLst>
                </p:cNvPr>
                <p:cNvSpPr/>
                <p:nvPr/>
              </p:nvSpPr>
              <p:spPr>
                <a:xfrm>
                  <a:off x="10249184" y="4583984"/>
                  <a:ext cx="236765" cy="236765"/>
                </a:xfrm>
                <a:prstGeom prst="ellipse">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4" name="Oval 173">
                  <a:extLst>
                    <a:ext uri="{FF2B5EF4-FFF2-40B4-BE49-F238E27FC236}">
                      <a16:creationId xmlns:a16="http://schemas.microsoft.com/office/drawing/2014/main" id="{645EB3E3-3A05-D4C7-2445-48A6520464B4}"/>
                    </a:ext>
                  </a:extLst>
                </p:cNvPr>
                <p:cNvSpPr/>
                <p:nvPr/>
              </p:nvSpPr>
              <p:spPr>
                <a:xfrm>
                  <a:off x="10912108" y="5024169"/>
                  <a:ext cx="236765" cy="236765"/>
                </a:xfrm>
                <a:prstGeom prst="ellipse">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5" name="Oval 174">
                  <a:extLst>
                    <a:ext uri="{FF2B5EF4-FFF2-40B4-BE49-F238E27FC236}">
                      <a16:creationId xmlns:a16="http://schemas.microsoft.com/office/drawing/2014/main" id="{FFBA14AB-B6F2-151D-EF08-BC3FE431B464}"/>
                    </a:ext>
                  </a:extLst>
                </p:cNvPr>
                <p:cNvSpPr/>
                <p:nvPr/>
              </p:nvSpPr>
              <p:spPr>
                <a:xfrm>
                  <a:off x="9307497" y="4058848"/>
                  <a:ext cx="236765" cy="236765"/>
                </a:xfrm>
                <a:prstGeom prst="ellipse">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6" name="Oval 175">
                  <a:extLst>
                    <a:ext uri="{FF2B5EF4-FFF2-40B4-BE49-F238E27FC236}">
                      <a16:creationId xmlns:a16="http://schemas.microsoft.com/office/drawing/2014/main" id="{0B768AC9-DDA3-F94A-BBB6-5C3E7BAF9ABE}"/>
                    </a:ext>
                  </a:extLst>
                </p:cNvPr>
                <p:cNvSpPr/>
                <p:nvPr/>
              </p:nvSpPr>
              <p:spPr>
                <a:xfrm>
                  <a:off x="9883825" y="3896466"/>
                  <a:ext cx="236765" cy="236765"/>
                </a:xfrm>
                <a:prstGeom prst="ellipse">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7" name="Oval 176">
                  <a:extLst>
                    <a:ext uri="{FF2B5EF4-FFF2-40B4-BE49-F238E27FC236}">
                      <a16:creationId xmlns:a16="http://schemas.microsoft.com/office/drawing/2014/main" id="{11B13537-D89E-9931-80C0-682720EA2798}"/>
                    </a:ext>
                  </a:extLst>
                </p:cNvPr>
                <p:cNvSpPr/>
                <p:nvPr/>
              </p:nvSpPr>
              <p:spPr>
                <a:xfrm>
                  <a:off x="9738880" y="4658324"/>
                  <a:ext cx="236765" cy="236765"/>
                </a:xfrm>
                <a:prstGeom prst="ellipse">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8" name="Oval 177">
                  <a:extLst>
                    <a:ext uri="{FF2B5EF4-FFF2-40B4-BE49-F238E27FC236}">
                      <a16:creationId xmlns:a16="http://schemas.microsoft.com/office/drawing/2014/main" id="{CDBF30D3-912F-D2F5-DCA5-9D5699359E4C}"/>
                    </a:ext>
                  </a:extLst>
                </p:cNvPr>
                <p:cNvSpPr/>
                <p:nvPr/>
              </p:nvSpPr>
              <p:spPr>
                <a:xfrm>
                  <a:off x="10424612" y="5232310"/>
                  <a:ext cx="236765" cy="236765"/>
                </a:xfrm>
                <a:prstGeom prst="ellipse">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9" name="Oval 178">
                  <a:extLst>
                    <a:ext uri="{FF2B5EF4-FFF2-40B4-BE49-F238E27FC236}">
                      <a16:creationId xmlns:a16="http://schemas.microsoft.com/office/drawing/2014/main" id="{91C12586-C621-E70C-50E2-F1C69BE7E448}"/>
                    </a:ext>
                  </a:extLst>
                </p:cNvPr>
                <p:cNvSpPr/>
                <p:nvPr/>
              </p:nvSpPr>
              <p:spPr>
                <a:xfrm>
                  <a:off x="10318875" y="3616626"/>
                  <a:ext cx="236765" cy="236765"/>
                </a:xfrm>
                <a:prstGeom prst="ellipse">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0" name="Oval 179">
                  <a:extLst>
                    <a:ext uri="{FF2B5EF4-FFF2-40B4-BE49-F238E27FC236}">
                      <a16:creationId xmlns:a16="http://schemas.microsoft.com/office/drawing/2014/main" id="{A1EE488F-4C04-0FF3-A760-603530857CE9}"/>
                    </a:ext>
                  </a:extLst>
                </p:cNvPr>
                <p:cNvSpPr/>
                <p:nvPr/>
              </p:nvSpPr>
              <p:spPr>
                <a:xfrm>
                  <a:off x="10793725" y="4332114"/>
                  <a:ext cx="236765" cy="236765"/>
                </a:xfrm>
                <a:prstGeom prst="ellipse">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1" name="Oval 180">
                  <a:extLst>
                    <a:ext uri="{FF2B5EF4-FFF2-40B4-BE49-F238E27FC236}">
                      <a16:creationId xmlns:a16="http://schemas.microsoft.com/office/drawing/2014/main" id="{34080645-05C4-EA06-0C8F-DF5725C37444}"/>
                    </a:ext>
                  </a:extLst>
                </p:cNvPr>
                <p:cNvSpPr/>
                <p:nvPr/>
              </p:nvSpPr>
              <p:spPr>
                <a:xfrm>
                  <a:off x="7105718" y="3094975"/>
                  <a:ext cx="236765" cy="236765"/>
                </a:xfrm>
                <a:prstGeom prst="ellipse">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2" name="Oval 181">
                  <a:extLst>
                    <a:ext uri="{FF2B5EF4-FFF2-40B4-BE49-F238E27FC236}">
                      <a16:creationId xmlns:a16="http://schemas.microsoft.com/office/drawing/2014/main" id="{76E13E40-DAA2-B83F-1BAF-75639C4D1FBB}"/>
                    </a:ext>
                  </a:extLst>
                </p:cNvPr>
                <p:cNvSpPr/>
                <p:nvPr/>
              </p:nvSpPr>
              <p:spPr>
                <a:xfrm>
                  <a:off x="7888830" y="3051326"/>
                  <a:ext cx="236765" cy="236765"/>
                </a:xfrm>
                <a:prstGeom prst="ellipse">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3" name="Oval 182">
                  <a:extLst>
                    <a:ext uri="{FF2B5EF4-FFF2-40B4-BE49-F238E27FC236}">
                      <a16:creationId xmlns:a16="http://schemas.microsoft.com/office/drawing/2014/main" id="{42EAEEFC-ABC7-812D-08EE-0D930B7A4C80}"/>
                    </a:ext>
                  </a:extLst>
                </p:cNvPr>
                <p:cNvSpPr/>
                <p:nvPr/>
              </p:nvSpPr>
              <p:spPr>
                <a:xfrm>
                  <a:off x="8505414" y="4213731"/>
                  <a:ext cx="236765" cy="236765"/>
                </a:xfrm>
                <a:prstGeom prst="ellipse">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4" name="Oval 183">
                  <a:extLst>
                    <a:ext uri="{FF2B5EF4-FFF2-40B4-BE49-F238E27FC236}">
                      <a16:creationId xmlns:a16="http://schemas.microsoft.com/office/drawing/2014/main" id="{DEF94F16-B71D-24D4-D2C9-703236EF6CA9}"/>
                    </a:ext>
                  </a:extLst>
                </p:cNvPr>
                <p:cNvSpPr/>
                <p:nvPr/>
              </p:nvSpPr>
              <p:spPr>
                <a:xfrm>
                  <a:off x="7250868" y="5198105"/>
                  <a:ext cx="236765" cy="236765"/>
                </a:xfrm>
                <a:prstGeom prst="ellipse">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5" name="Oval 184">
                  <a:extLst>
                    <a:ext uri="{FF2B5EF4-FFF2-40B4-BE49-F238E27FC236}">
                      <a16:creationId xmlns:a16="http://schemas.microsoft.com/office/drawing/2014/main" id="{1BD3C0C6-47C2-AC2F-F4CA-90189BFC4411}"/>
                    </a:ext>
                  </a:extLst>
                </p:cNvPr>
                <p:cNvSpPr/>
                <p:nvPr/>
              </p:nvSpPr>
              <p:spPr>
                <a:xfrm>
                  <a:off x="8292334" y="2336346"/>
                  <a:ext cx="236765" cy="236765"/>
                </a:xfrm>
                <a:prstGeom prst="ellipse">
                  <a:avLst/>
                </a:prstGeom>
                <a:solidFill>
                  <a:schemeClr val="accent4">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6" name="Oval 185">
                  <a:extLst>
                    <a:ext uri="{FF2B5EF4-FFF2-40B4-BE49-F238E27FC236}">
                      <a16:creationId xmlns:a16="http://schemas.microsoft.com/office/drawing/2014/main" id="{BBF8CB5D-0048-FE0F-549E-7897F4F6009F}"/>
                    </a:ext>
                  </a:extLst>
                </p:cNvPr>
                <p:cNvSpPr/>
                <p:nvPr/>
              </p:nvSpPr>
              <p:spPr>
                <a:xfrm>
                  <a:off x="8327179" y="1554733"/>
                  <a:ext cx="236765" cy="23676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7" name="Oval 186">
                  <a:extLst>
                    <a:ext uri="{FF2B5EF4-FFF2-40B4-BE49-F238E27FC236}">
                      <a16:creationId xmlns:a16="http://schemas.microsoft.com/office/drawing/2014/main" id="{B582646B-70BD-34CD-2EF4-860119CC7538}"/>
                    </a:ext>
                  </a:extLst>
                </p:cNvPr>
                <p:cNvSpPr/>
                <p:nvPr/>
              </p:nvSpPr>
              <p:spPr>
                <a:xfrm>
                  <a:off x="10815937" y="2359295"/>
                  <a:ext cx="236765" cy="236765"/>
                </a:xfrm>
                <a:prstGeom prst="ellipse">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8" name="Oval 187">
                  <a:extLst>
                    <a:ext uri="{FF2B5EF4-FFF2-40B4-BE49-F238E27FC236}">
                      <a16:creationId xmlns:a16="http://schemas.microsoft.com/office/drawing/2014/main" id="{3A344279-25FF-EA03-1F11-DDDDAC37B906}"/>
                    </a:ext>
                  </a:extLst>
                </p:cNvPr>
                <p:cNvSpPr/>
                <p:nvPr/>
              </p:nvSpPr>
              <p:spPr>
                <a:xfrm>
                  <a:off x="10006500" y="2668880"/>
                  <a:ext cx="236765" cy="236765"/>
                </a:xfrm>
                <a:prstGeom prst="ellipse">
                  <a:avLst/>
                </a:prstGeom>
                <a:solidFill>
                  <a:schemeClr val="accent4">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9" name="Oval 188">
                  <a:extLst>
                    <a:ext uri="{FF2B5EF4-FFF2-40B4-BE49-F238E27FC236}">
                      <a16:creationId xmlns:a16="http://schemas.microsoft.com/office/drawing/2014/main" id="{1C292899-C123-7716-F8F7-754336137A8F}"/>
                    </a:ext>
                  </a:extLst>
                </p:cNvPr>
                <p:cNvSpPr/>
                <p:nvPr/>
              </p:nvSpPr>
              <p:spPr>
                <a:xfrm>
                  <a:off x="9189114" y="3331740"/>
                  <a:ext cx="236765" cy="236765"/>
                </a:xfrm>
                <a:prstGeom prst="ellipse">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0" name="Oval 189">
                  <a:extLst>
                    <a:ext uri="{FF2B5EF4-FFF2-40B4-BE49-F238E27FC236}">
                      <a16:creationId xmlns:a16="http://schemas.microsoft.com/office/drawing/2014/main" id="{AFD7D850-22BA-F381-B4FE-37634BB6469C}"/>
                    </a:ext>
                  </a:extLst>
                </p:cNvPr>
                <p:cNvSpPr/>
                <p:nvPr/>
              </p:nvSpPr>
              <p:spPr>
                <a:xfrm>
                  <a:off x="9321894" y="4999571"/>
                  <a:ext cx="236765" cy="236765"/>
                </a:xfrm>
                <a:prstGeom prst="ellipse">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1" name="Oval 190">
                  <a:extLst>
                    <a:ext uri="{FF2B5EF4-FFF2-40B4-BE49-F238E27FC236}">
                      <a16:creationId xmlns:a16="http://schemas.microsoft.com/office/drawing/2014/main" id="{7DD18103-5310-DD54-2A78-275ED4A1EEEC}"/>
                    </a:ext>
                  </a:extLst>
                </p:cNvPr>
                <p:cNvSpPr/>
                <p:nvPr/>
              </p:nvSpPr>
              <p:spPr>
                <a:xfrm>
                  <a:off x="9767146" y="1874554"/>
                  <a:ext cx="236765" cy="236765"/>
                </a:xfrm>
                <a:prstGeom prst="ellipse">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2" name="Oval 191">
                  <a:extLst>
                    <a:ext uri="{FF2B5EF4-FFF2-40B4-BE49-F238E27FC236}">
                      <a16:creationId xmlns:a16="http://schemas.microsoft.com/office/drawing/2014/main" id="{E75EF060-EB7B-7E70-3060-60406D6C10EC}"/>
                    </a:ext>
                  </a:extLst>
                </p:cNvPr>
                <p:cNvSpPr/>
                <p:nvPr/>
              </p:nvSpPr>
              <p:spPr>
                <a:xfrm>
                  <a:off x="10318875" y="1695714"/>
                  <a:ext cx="236765" cy="236765"/>
                </a:xfrm>
                <a:prstGeom prst="ellipse">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3" name="Oval 192">
                  <a:extLst>
                    <a:ext uri="{FF2B5EF4-FFF2-40B4-BE49-F238E27FC236}">
                      <a16:creationId xmlns:a16="http://schemas.microsoft.com/office/drawing/2014/main" id="{EB042170-E9C2-88CF-4FB2-218989E63929}"/>
                    </a:ext>
                  </a:extLst>
                </p:cNvPr>
                <p:cNvSpPr/>
                <p:nvPr/>
              </p:nvSpPr>
              <p:spPr>
                <a:xfrm>
                  <a:off x="10555640" y="4007242"/>
                  <a:ext cx="236765" cy="236765"/>
                </a:xfrm>
                <a:prstGeom prst="ellipse">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4" name="Straight Connector 193">
                  <a:extLst>
                    <a:ext uri="{FF2B5EF4-FFF2-40B4-BE49-F238E27FC236}">
                      <a16:creationId xmlns:a16="http://schemas.microsoft.com/office/drawing/2014/main" id="{4198CDE6-594B-78A3-CB20-476B99442D1C}"/>
                    </a:ext>
                  </a:extLst>
                </p:cNvPr>
                <p:cNvCxnSpPr/>
                <p:nvPr/>
              </p:nvCxnSpPr>
              <p:spPr>
                <a:xfrm flipV="1">
                  <a:off x="9082216" y="1281215"/>
                  <a:ext cx="0" cy="4857597"/>
                </a:xfrm>
                <a:prstGeom prst="line">
                  <a:avLst/>
                </a:prstGeom>
                <a:ln w="38100">
                  <a:solidFill>
                    <a:schemeClr val="accent2"/>
                  </a:solidFill>
                  <a:prstDash val="sysDot"/>
                </a:ln>
              </p:spPr>
              <p:style>
                <a:lnRef idx="2">
                  <a:schemeClr val="accent1"/>
                </a:lnRef>
                <a:fillRef idx="0">
                  <a:schemeClr val="accent1"/>
                </a:fillRef>
                <a:effectRef idx="1">
                  <a:schemeClr val="accent1"/>
                </a:effectRef>
                <a:fontRef idx="minor">
                  <a:schemeClr val="tx1"/>
                </a:fontRef>
              </p:style>
            </p:cxnSp>
            <p:cxnSp>
              <p:nvCxnSpPr>
                <p:cNvPr id="195" name="Straight Connector 194">
                  <a:extLst>
                    <a:ext uri="{FF2B5EF4-FFF2-40B4-BE49-F238E27FC236}">
                      <a16:creationId xmlns:a16="http://schemas.microsoft.com/office/drawing/2014/main" id="{255F4B1D-D28F-451E-D55C-F1B0E013BB68}"/>
                    </a:ext>
                  </a:extLst>
                </p:cNvPr>
                <p:cNvCxnSpPr>
                  <a:cxnSpLocks/>
                </p:cNvCxnSpPr>
                <p:nvPr/>
              </p:nvCxnSpPr>
              <p:spPr>
                <a:xfrm flipV="1">
                  <a:off x="6660292" y="2859897"/>
                  <a:ext cx="2421924" cy="19717"/>
                </a:xfrm>
                <a:prstGeom prst="line">
                  <a:avLst/>
                </a:prstGeom>
                <a:ln w="38100">
                  <a:solidFill>
                    <a:schemeClr val="accent5"/>
                  </a:solidFill>
                  <a:prstDash val="sysDot"/>
                </a:ln>
              </p:spPr>
              <p:style>
                <a:lnRef idx="2">
                  <a:schemeClr val="accent1"/>
                </a:lnRef>
                <a:fillRef idx="0">
                  <a:schemeClr val="accent1"/>
                </a:fillRef>
                <a:effectRef idx="1">
                  <a:schemeClr val="accent1"/>
                </a:effectRef>
                <a:fontRef idx="minor">
                  <a:schemeClr val="tx1"/>
                </a:fontRef>
              </p:style>
            </p:cxnSp>
            <p:cxnSp>
              <p:nvCxnSpPr>
                <p:cNvPr id="196" name="Straight Connector 195">
                  <a:extLst>
                    <a:ext uri="{FF2B5EF4-FFF2-40B4-BE49-F238E27FC236}">
                      <a16:creationId xmlns:a16="http://schemas.microsoft.com/office/drawing/2014/main" id="{FF1F9823-853E-56FE-D5E3-A50D7F86EEBD}"/>
                    </a:ext>
                  </a:extLst>
                </p:cNvPr>
                <p:cNvCxnSpPr>
                  <a:cxnSpLocks/>
                </p:cNvCxnSpPr>
                <p:nvPr/>
              </p:nvCxnSpPr>
              <p:spPr>
                <a:xfrm>
                  <a:off x="9059475" y="3628199"/>
                  <a:ext cx="2669059" cy="1401"/>
                </a:xfrm>
                <a:prstGeom prst="line">
                  <a:avLst/>
                </a:prstGeom>
                <a:ln w="38100">
                  <a:solidFill>
                    <a:schemeClr val="accent5"/>
                  </a:solidFill>
                  <a:prstDash val="sysDot"/>
                </a:ln>
              </p:spPr>
              <p:style>
                <a:lnRef idx="2">
                  <a:schemeClr val="accent1"/>
                </a:lnRef>
                <a:fillRef idx="0">
                  <a:schemeClr val="accent1"/>
                </a:fillRef>
                <a:effectRef idx="1">
                  <a:schemeClr val="accent1"/>
                </a:effectRef>
                <a:fontRef idx="minor">
                  <a:schemeClr val="tx1"/>
                </a:fontRef>
              </p:style>
            </p:cxnSp>
            <p:sp>
              <p:nvSpPr>
                <p:cNvPr id="197" name="Oval 196">
                  <a:extLst>
                    <a:ext uri="{FF2B5EF4-FFF2-40B4-BE49-F238E27FC236}">
                      <a16:creationId xmlns:a16="http://schemas.microsoft.com/office/drawing/2014/main" id="{F34BF839-5C84-9024-0C17-8DB5509131BE}"/>
                    </a:ext>
                  </a:extLst>
                </p:cNvPr>
                <p:cNvSpPr/>
                <p:nvPr/>
              </p:nvSpPr>
              <p:spPr>
                <a:xfrm>
                  <a:off x="10952770" y="1687331"/>
                  <a:ext cx="236765" cy="236765"/>
                </a:xfrm>
                <a:prstGeom prst="ellipse">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8" name="Oval 197">
                  <a:extLst>
                    <a:ext uri="{FF2B5EF4-FFF2-40B4-BE49-F238E27FC236}">
                      <a16:creationId xmlns:a16="http://schemas.microsoft.com/office/drawing/2014/main" id="{3EB2E52E-BEB6-78D3-32B6-202685FC8ECF}"/>
                    </a:ext>
                  </a:extLst>
                </p:cNvPr>
                <p:cNvSpPr/>
                <p:nvPr/>
              </p:nvSpPr>
              <p:spPr>
                <a:xfrm>
                  <a:off x="10815937" y="2359295"/>
                  <a:ext cx="236765" cy="236765"/>
                </a:xfrm>
                <a:prstGeom prst="ellipse">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9" name="Oval 198">
                  <a:extLst>
                    <a:ext uri="{FF2B5EF4-FFF2-40B4-BE49-F238E27FC236}">
                      <a16:creationId xmlns:a16="http://schemas.microsoft.com/office/drawing/2014/main" id="{0D6210C2-E435-48CB-A079-0FC8730EEEA5}"/>
                    </a:ext>
                  </a:extLst>
                </p:cNvPr>
                <p:cNvSpPr/>
                <p:nvPr/>
              </p:nvSpPr>
              <p:spPr>
                <a:xfrm>
                  <a:off x="11021259" y="2946950"/>
                  <a:ext cx="236765" cy="236765"/>
                </a:xfrm>
                <a:prstGeom prst="ellipse">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00" name="Straight Connector 199">
                  <a:extLst>
                    <a:ext uri="{FF2B5EF4-FFF2-40B4-BE49-F238E27FC236}">
                      <a16:creationId xmlns:a16="http://schemas.microsoft.com/office/drawing/2014/main" id="{DBE9025F-5F2B-7F2C-462C-841DE877D46A}"/>
                    </a:ext>
                  </a:extLst>
                </p:cNvPr>
                <p:cNvCxnSpPr>
                  <a:cxnSpLocks/>
                </p:cNvCxnSpPr>
                <p:nvPr/>
              </p:nvCxnSpPr>
              <p:spPr>
                <a:xfrm flipV="1">
                  <a:off x="10862680" y="1435303"/>
                  <a:ext cx="0" cy="2182630"/>
                </a:xfrm>
                <a:prstGeom prst="line">
                  <a:avLst/>
                </a:prstGeom>
                <a:ln w="38100">
                  <a:solidFill>
                    <a:schemeClr val="accent2"/>
                  </a:solidFill>
                  <a:prstDash val="sysDot"/>
                </a:ln>
              </p:spPr>
              <p:style>
                <a:lnRef idx="2">
                  <a:schemeClr val="accent1"/>
                </a:lnRef>
                <a:fillRef idx="0">
                  <a:schemeClr val="accent1"/>
                </a:fillRef>
                <a:effectRef idx="1">
                  <a:schemeClr val="accent1"/>
                </a:effectRef>
                <a:fontRef idx="minor">
                  <a:schemeClr val="tx1"/>
                </a:fontRef>
              </p:style>
            </p:cxnSp>
            <p:cxnSp>
              <p:nvCxnSpPr>
                <p:cNvPr id="201" name="Straight Connector 200">
                  <a:extLst>
                    <a:ext uri="{FF2B5EF4-FFF2-40B4-BE49-F238E27FC236}">
                      <a16:creationId xmlns:a16="http://schemas.microsoft.com/office/drawing/2014/main" id="{22E6D9D7-4B83-235F-8A96-EDEA800745B8}"/>
                    </a:ext>
                  </a:extLst>
                </p:cNvPr>
                <p:cNvCxnSpPr>
                  <a:cxnSpLocks/>
                </p:cNvCxnSpPr>
                <p:nvPr/>
              </p:nvCxnSpPr>
              <p:spPr>
                <a:xfrm flipV="1">
                  <a:off x="10199942" y="3646313"/>
                  <a:ext cx="0" cy="2307833"/>
                </a:xfrm>
                <a:prstGeom prst="line">
                  <a:avLst/>
                </a:prstGeom>
                <a:ln w="38100">
                  <a:solidFill>
                    <a:schemeClr val="accent2"/>
                  </a:solidFill>
                  <a:prstDash val="sysDot"/>
                </a:ln>
              </p:spPr>
              <p:style>
                <a:lnRef idx="2">
                  <a:schemeClr val="accent1"/>
                </a:lnRef>
                <a:fillRef idx="0">
                  <a:schemeClr val="accent1"/>
                </a:fillRef>
                <a:effectRef idx="1">
                  <a:schemeClr val="accent1"/>
                </a:effectRef>
                <a:fontRef idx="minor">
                  <a:schemeClr val="tx1"/>
                </a:fontRef>
              </p:style>
            </p:cxnSp>
          </p:grpSp>
        </p:grpSp>
        <p:grpSp>
          <p:nvGrpSpPr>
            <p:cNvPr id="72" name="Group 71">
              <a:extLst>
                <a:ext uri="{FF2B5EF4-FFF2-40B4-BE49-F238E27FC236}">
                  <a16:creationId xmlns:a16="http://schemas.microsoft.com/office/drawing/2014/main" id="{D9BD8804-49CC-AD92-13D2-E22C46F8ABE5}"/>
                </a:ext>
              </a:extLst>
            </p:cNvPr>
            <p:cNvGrpSpPr/>
            <p:nvPr/>
          </p:nvGrpSpPr>
          <p:grpSpPr>
            <a:xfrm>
              <a:off x="5481920" y="6017898"/>
              <a:ext cx="1398165" cy="774126"/>
              <a:chOff x="924464" y="3735008"/>
              <a:chExt cx="5666460" cy="3137366"/>
            </a:xfrm>
          </p:grpSpPr>
          <p:sp>
            <p:nvSpPr>
              <p:cNvPr id="121" name="Rounded Rectangle 120">
                <a:extLst>
                  <a:ext uri="{FF2B5EF4-FFF2-40B4-BE49-F238E27FC236}">
                    <a16:creationId xmlns:a16="http://schemas.microsoft.com/office/drawing/2014/main" id="{EB2D1FBE-0241-BA0E-3AF2-81424B690076}"/>
                  </a:ext>
                </a:extLst>
              </p:cNvPr>
              <p:cNvSpPr/>
              <p:nvPr/>
            </p:nvSpPr>
            <p:spPr>
              <a:xfrm>
                <a:off x="2647738" y="3735008"/>
                <a:ext cx="1408670" cy="561637"/>
              </a:xfrm>
              <a:prstGeom prst="round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22" name="Group 121">
                <a:extLst>
                  <a:ext uri="{FF2B5EF4-FFF2-40B4-BE49-F238E27FC236}">
                    <a16:creationId xmlns:a16="http://schemas.microsoft.com/office/drawing/2014/main" id="{D6699D66-ED45-4EC9-F76F-36AEC65010FC}"/>
                  </a:ext>
                </a:extLst>
              </p:cNvPr>
              <p:cNvGrpSpPr/>
              <p:nvPr/>
            </p:nvGrpSpPr>
            <p:grpSpPr>
              <a:xfrm>
                <a:off x="2409568" y="4296645"/>
                <a:ext cx="1779373" cy="405721"/>
                <a:chOff x="2409568" y="4296645"/>
                <a:chExt cx="1779373" cy="405721"/>
              </a:xfrm>
            </p:grpSpPr>
            <p:cxnSp>
              <p:nvCxnSpPr>
                <p:cNvPr id="145" name="Straight Arrow Connector 144">
                  <a:extLst>
                    <a:ext uri="{FF2B5EF4-FFF2-40B4-BE49-F238E27FC236}">
                      <a16:creationId xmlns:a16="http://schemas.microsoft.com/office/drawing/2014/main" id="{D3E097F5-B738-E7E4-2822-339424B0991E}"/>
                    </a:ext>
                  </a:extLst>
                </p:cNvPr>
                <p:cNvCxnSpPr/>
                <p:nvPr/>
              </p:nvCxnSpPr>
              <p:spPr>
                <a:xfrm flipH="1">
                  <a:off x="2409568" y="4296645"/>
                  <a:ext cx="942505" cy="36167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46" name="Straight Arrow Connector 145">
                  <a:extLst>
                    <a:ext uri="{FF2B5EF4-FFF2-40B4-BE49-F238E27FC236}">
                      <a16:creationId xmlns:a16="http://schemas.microsoft.com/office/drawing/2014/main" id="{1FB89D38-B271-CC67-3C62-61DC83EB6FC3}"/>
                    </a:ext>
                  </a:extLst>
                </p:cNvPr>
                <p:cNvCxnSpPr>
                  <a:cxnSpLocks/>
                </p:cNvCxnSpPr>
                <p:nvPr/>
              </p:nvCxnSpPr>
              <p:spPr>
                <a:xfrm>
                  <a:off x="3352073" y="4296645"/>
                  <a:ext cx="836868" cy="40572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sp>
            <p:nvSpPr>
              <p:cNvPr id="123" name="Rounded Rectangle 122">
                <a:extLst>
                  <a:ext uri="{FF2B5EF4-FFF2-40B4-BE49-F238E27FC236}">
                    <a16:creationId xmlns:a16="http://schemas.microsoft.com/office/drawing/2014/main" id="{26A8B28C-B567-3B7C-49E7-DE98E8508D75}"/>
                  </a:ext>
                </a:extLst>
              </p:cNvPr>
              <p:cNvSpPr/>
              <p:nvPr/>
            </p:nvSpPr>
            <p:spPr>
              <a:xfrm>
                <a:off x="1603839" y="4692451"/>
                <a:ext cx="1408670" cy="561637"/>
              </a:xfrm>
              <a:prstGeom prst="round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4" name="Rounded Rectangle 123">
                <a:extLst>
                  <a:ext uri="{FF2B5EF4-FFF2-40B4-BE49-F238E27FC236}">
                    <a16:creationId xmlns:a16="http://schemas.microsoft.com/office/drawing/2014/main" id="{BABED786-227A-AA86-BB90-E809C348E0DD}"/>
                  </a:ext>
                </a:extLst>
              </p:cNvPr>
              <p:cNvSpPr/>
              <p:nvPr/>
            </p:nvSpPr>
            <p:spPr>
              <a:xfrm>
                <a:off x="3823603" y="4702366"/>
                <a:ext cx="1408670" cy="561637"/>
              </a:xfrm>
              <a:prstGeom prst="round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25" name="Group 124">
                <a:extLst>
                  <a:ext uri="{FF2B5EF4-FFF2-40B4-BE49-F238E27FC236}">
                    <a16:creationId xmlns:a16="http://schemas.microsoft.com/office/drawing/2014/main" id="{50AE990E-D232-D799-ABAB-B4A9997476AB}"/>
                  </a:ext>
                </a:extLst>
              </p:cNvPr>
              <p:cNvGrpSpPr/>
              <p:nvPr/>
            </p:nvGrpSpPr>
            <p:grpSpPr>
              <a:xfrm>
                <a:off x="1161229" y="5263338"/>
                <a:ext cx="1779373" cy="405721"/>
                <a:chOff x="2409568" y="4296645"/>
                <a:chExt cx="1779373" cy="405721"/>
              </a:xfrm>
            </p:grpSpPr>
            <p:cxnSp>
              <p:nvCxnSpPr>
                <p:cNvPr id="143" name="Straight Arrow Connector 142">
                  <a:extLst>
                    <a:ext uri="{FF2B5EF4-FFF2-40B4-BE49-F238E27FC236}">
                      <a16:creationId xmlns:a16="http://schemas.microsoft.com/office/drawing/2014/main" id="{8A94CE15-8681-68CB-DC80-1DDB1B74C747}"/>
                    </a:ext>
                  </a:extLst>
                </p:cNvPr>
                <p:cNvCxnSpPr/>
                <p:nvPr/>
              </p:nvCxnSpPr>
              <p:spPr>
                <a:xfrm flipH="1">
                  <a:off x="2409568" y="4296645"/>
                  <a:ext cx="942505" cy="36167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44" name="Straight Arrow Connector 143">
                  <a:extLst>
                    <a:ext uri="{FF2B5EF4-FFF2-40B4-BE49-F238E27FC236}">
                      <a16:creationId xmlns:a16="http://schemas.microsoft.com/office/drawing/2014/main" id="{4ED2CFEE-C242-70FF-6496-F40B67698872}"/>
                    </a:ext>
                  </a:extLst>
                </p:cNvPr>
                <p:cNvCxnSpPr>
                  <a:cxnSpLocks/>
                </p:cNvCxnSpPr>
                <p:nvPr/>
              </p:nvCxnSpPr>
              <p:spPr>
                <a:xfrm>
                  <a:off x="3352073" y="4296645"/>
                  <a:ext cx="836868" cy="40572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grpSp>
            <p:nvGrpSpPr>
              <p:cNvPr id="126" name="Group 125">
                <a:extLst>
                  <a:ext uri="{FF2B5EF4-FFF2-40B4-BE49-F238E27FC236}">
                    <a16:creationId xmlns:a16="http://schemas.microsoft.com/office/drawing/2014/main" id="{3C322201-502F-32D6-C6CC-73C9121413B0}"/>
                  </a:ext>
                </a:extLst>
              </p:cNvPr>
              <p:cNvGrpSpPr/>
              <p:nvPr/>
            </p:nvGrpSpPr>
            <p:grpSpPr>
              <a:xfrm>
                <a:off x="3957131" y="5269370"/>
                <a:ext cx="1779373" cy="405721"/>
                <a:chOff x="2409568" y="4296645"/>
                <a:chExt cx="1779373" cy="405721"/>
              </a:xfrm>
            </p:grpSpPr>
            <p:cxnSp>
              <p:nvCxnSpPr>
                <p:cNvPr id="141" name="Straight Arrow Connector 140">
                  <a:extLst>
                    <a:ext uri="{FF2B5EF4-FFF2-40B4-BE49-F238E27FC236}">
                      <a16:creationId xmlns:a16="http://schemas.microsoft.com/office/drawing/2014/main" id="{B16CBF37-B8EB-D71F-9F87-5BD607AE9AF6}"/>
                    </a:ext>
                  </a:extLst>
                </p:cNvPr>
                <p:cNvCxnSpPr/>
                <p:nvPr/>
              </p:nvCxnSpPr>
              <p:spPr>
                <a:xfrm flipH="1">
                  <a:off x="2409568" y="4296645"/>
                  <a:ext cx="942505" cy="36167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42" name="Straight Arrow Connector 141">
                  <a:extLst>
                    <a:ext uri="{FF2B5EF4-FFF2-40B4-BE49-F238E27FC236}">
                      <a16:creationId xmlns:a16="http://schemas.microsoft.com/office/drawing/2014/main" id="{0D33E5C5-7DFC-CA1F-005B-D92CB7AFF2A1}"/>
                    </a:ext>
                  </a:extLst>
                </p:cNvPr>
                <p:cNvCxnSpPr>
                  <a:cxnSpLocks/>
                </p:cNvCxnSpPr>
                <p:nvPr/>
              </p:nvCxnSpPr>
              <p:spPr>
                <a:xfrm>
                  <a:off x="3352073" y="4296645"/>
                  <a:ext cx="836868" cy="40572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sp>
            <p:nvSpPr>
              <p:cNvPr id="127" name="Oval 126">
                <a:extLst>
                  <a:ext uri="{FF2B5EF4-FFF2-40B4-BE49-F238E27FC236}">
                    <a16:creationId xmlns:a16="http://schemas.microsoft.com/office/drawing/2014/main" id="{00E04F06-0D2F-B6F4-2656-104E4D1CF1EB}"/>
                  </a:ext>
                </a:extLst>
              </p:cNvPr>
              <p:cNvSpPr/>
              <p:nvPr/>
            </p:nvSpPr>
            <p:spPr>
              <a:xfrm>
                <a:off x="924464" y="5749775"/>
                <a:ext cx="236765" cy="236765"/>
              </a:xfrm>
              <a:prstGeom prst="ellipse">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8" name="Oval 127">
                <a:extLst>
                  <a:ext uri="{FF2B5EF4-FFF2-40B4-BE49-F238E27FC236}">
                    <a16:creationId xmlns:a16="http://schemas.microsoft.com/office/drawing/2014/main" id="{EA75B75C-D852-DBA2-6758-E6AD0EFA6043}"/>
                  </a:ext>
                </a:extLst>
              </p:cNvPr>
              <p:cNvSpPr/>
              <p:nvPr/>
            </p:nvSpPr>
            <p:spPr>
              <a:xfrm>
                <a:off x="2822219" y="5760115"/>
                <a:ext cx="236765" cy="23676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9" name="Rounded Rectangle 128">
                <a:extLst>
                  <a:ext uri="{FF2B5EF4-FFF2-40B4-BE49-F238E27FC236}">
                    <a16:creationId xmlns:a16="http://schemas.microsoft.com/office/drawing/2014/main" id="{14955BC6-957C-13EB-8771-921EAE1DC7A7}"/>
                  </a:ext>
                </a:extLst>
              </p:cNvPr>
              <p:cNvSpPr/>
              <p:nvPr/>
            </p:nvSpPr>
            <p:spPr>
              <a:xfrm>
                <a:off x="3401873" y="5667964"/>
                <a:ext cx="1097990" cy="561637"/>
              </a:xfrm>
              <a:prstGeom prst="round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0" name="Rounded Rectangle 129">
                <a:extLst>
                  <a:ext uri="{FF2B5EF4-FFF2-40B4-BE49-F238E27FC236}">
                    <a16:creationId xmlns:a16="http://schemas.microsoft.com/office/drawing/2014/main" id="{E1D01929-29FD-652B-C915-9145AB2713A5}"/>
                  </a:ext>
                </a:extLst>
              </p:cNvPr>
              <p:cNvSpPr/>
              <p:nvPr/>
            </p:nvSpPr>
            <p:spPr>
              <a:xfrm>
                <a:off x="5232714" y="5705721"/>
                <a:ext cx="1097990" cy="561637"/>
              </a:xfrm>
              <a:prstGeom prst="round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31" name="Group 130">
                <a:extLst>
                  <a:ext uri="{FF2B5EF4-FFF2-40B4-BE49-F238E27FC236}">
                    <a16:creationId xmlns:a16="http://schemas.microsoft.com/office/drawing/2014/main" id="{A5E8658E-E4C7-885E-22E2-77EBDCA8D619}"/>
                  </a:ext>
                </a:extLst>
              </p:cNvPr>
              <p:cNvGrpSpPr/>
              <p:nvPr/>
            </p:nvGrpSpPr>
            <p:grpSpPr>
              <a:xfrm>
                <a:off x="3343930" y="6205017"/>
                <a:ext cx="1161546" cy="405721"/>
                <a:chOff x="2409568" y="4296645"/>
                <a:chExt cx="1779373" cy="405721"/>
              </a:xfrm>
            </p:grpSpPr>
            <p:cxnSp>
              <p:nvCxnSpPr>
                <p:cNvPr id="139" name="Straight Arrow Connector 138">
                  <a:extLst>
                    <a:ext uri="{FF2B5EF4-FFF2-40B4-BE49-F238E27FC236}">
                      <a16:creationId xmlns:a16="http://schemas.microsoft.com/office/drawing/2014/main" id="{459E5BAF-E42F-296E-0DE1-EC7296B87153}"/>
                    </a:ext>
                  </a:extLst>
                </p:cNvPr>
                <p:cNvCxnSpPr/>
                <p:nvPr/>
              </p:nvCxnSpPr>
              <p:spPr>
                <a:xfrm flipH="1">
                  <a:off x="2409568" y="4296645"/>
                  <a:ext cx="942505" cy="36167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40" name="Straight Arrow Connector 139">
                  <a:extLst>
                    <a:ext uri="{FF2B5EF4-FFF2-40B4-BE49-F238E27FC236}">
                      <a16:creationId xmlns:a16="http://schemas.microsoft.com/office/drawing/2014/main" id="{3C8726E1-2C42-3ACB-34B2-7294FF7D9205}"/>
                    </a:ext>
                  </a:extLst>
                </p:cNvPr>
                <p:cNvCxnSpPr>
                  <a:cxnSpLocks/>
                </p:cNvCxnSpPr>
                <p:nvPr/>
              </p:nvCxnSpPr>
              <p:spPr>
                <a:xfrm>
                  <a:off x="3352073" y="4296645"/>
                  <a:ext cx="836868" cy="40572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grpSp>
            <p:nvGrpSpPr>
              <p:cNvPr id="132" name="Group 131">
                <a:extLst>
                  <a:ext uri="{FF2B5EF4-FFF2-40B4-BE49-F238E27FC236}">
                    <a16:creationId xmlns:a16="http://schemas.microsoft.com/office/drawing/2014/main" id="{84CC2146-90F2-5944-D3E7-13CE27E7CB1B}"/>
                  </a:ext>
                </a:extLst>
              </p:cNvPr>
              <p:cNvGrpSpPr/>
              <p:nvPr/>
            </p:nvGrpSpPr>
            <p:grpSpPr>
              <a:xfrm>
                <a:off x="5216702" y="6211049"/>
                <a:ext cx="1161546" cy="405721"/>
                <a:chOff x="2409568" y="4296645"/>
                <a:chExt cx="1779373" cy="405721"/>
              </a:xfrm>
            </p:grpSpPr>
            <p:cxnSp>
              <p:nvCxnSpPr>
                <p:cNvPr id="137" name="Straight Arrow Connector 136">
                  <a:extLst>
                    <a:ext uri="{FF2B5EF4-FFF2-40B4-BE49-F238E27FC236}">
                      <a16:creationId xmlns:a16="http://schemas.microsoft.com/office/drawing/2014/main" id="{00709CD6-9C77-A099-C07A-CBFB8FD485C4}"/>
                    </a:ext>
                  </a:extLst>
                </p:cNvPr>
                <p:cNvCxnSpPr/>
                <p:nvPr/>
              </p:nvCxnSpPr>
              <p:spPr>
                <a:xfrm flipH="1">
                  <a:off x="2409568" y="4296645"/>
                  <a:ext cx="942505" cy="36167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38" name="Straight Arrow Connector 137">
                  <a:extLst>
                    <a:ext uri="{FF2B5EF4-FFF2-40B4-BE49-F238E27FC236}">
                      <a16:creationId xmlns:a16="http://schemas.microsoft.com/office/drawing/2014/main" id="{0F84D41D-CE3B-AA33-3511-CCC6A798A50D}"/>
                    </a:ext>
                  </a:extLst>
                </p:cNvPr>
                <p:cNvCxnSpPr>
                  <a:cxnSpLocks/>
                </p:cNvCxnSpPr>
                <p:nvPr/>
              </p:nvCxnSpPr>
              <p:spPr>
                <a:xfrm>
                  <a:off x="3352073" y="4296645"/>
                  <a:ext cx="836868" cy="40572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sp>
            <p:nvSpPr>
              <p:cNvPr id="133" name="Oval 132">
                <a:extLst>
                  <a:ext uri="{FF2B5EF4-FFF2-40B4-BE49-F238E27FC236}">
                    <a16:creationId xmlns:a16="http://schemas.microsoft.com/office/drawing/2014/main" id="{F7065D95-7E2C-B6E4-698F-E08F98F8C78E}"/>
                  </a:ext>
                </a:extLst>
              </p:cNvPr>
              <p:cNvSpPr/>
              <p:nvPr/>
            </p:nvSpPr>
            <p:spPr>
              <a:xfrm>
                <a:off x="3165108" y="6621235"/>
                <a:ext cx="236765" cy="236765"/>
              </a:xfrm>
              <a:prstGeom prst="ellipse">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4" name="Oval 133">
                <a:extLst>
                  <a:ext uri="{FF2B5EF4-FFF2-40B4-BE49-F238E27FC236}">
                    <a16:creationId xmlns:a16="http://schemas.microsoft.com/office/drawing/2014/main" id="{A148B9E3-FC65-5A7F-676A-11372165C461}"/>
                  </a:ext>
                </a:extLst>
              </p:cNvPr>
              <p:cNvSpPr/>
              <p:nvPr/>
            </p:nvSpPr>
            <p:spPr>
              <a:xfrm>
                <a:off x="4444795" y="6635609"/>
                <a:ext cx="236765" cy="236765"/>
              </a:xfrm>
              <a:prstGeom prst="ellipse">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5" name="Oval 134">
                <a:extLst>
                  <a:ext uri="{FF2B5EF4-FFF2-40B4-BE49-F238E27FC236}">
                    <a16:creationId xmlns:a16="http://schemas.microsoft.com/office/drawing/2014/main" id="{643D50ED-1BAE-9E46-ACB2-AF4136C7F053}"/>
                  </a:ext>
                </a:extLst>
              </p:cNvPr>
              <p:cNvSpPr/>
              <p:nvPr/>
            </p:nvSpPr>
            <p:spPr>
              <a:xfrm>
                <a:off x="5089559" y="6611842"/>
                <a:ext cx="236765" cy="236765"/>
              </a:xfrm>
              <a:prstGeom prst="ellipse">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6" name="Oval 135">
                <a:extLst>
                  <a:ext uri="{FF2B5EF4-FFF2-40B4-BE49-F238E27FC236}">
                    <a16:creationId xmlns:a16="http://schemas.microsoft.com/office/drawing/2014/main" id="{34C5A80D-487D-0275-9A80-B5A7F70BF690}"/>
                  </a:ext>
                </a:extLst>
              </p:cNvPr>
              <p:cNvSpPr/>
              <p:nvPr/>
            </p:nvSpPr>
            <p:spPr>
              <a:xfrm>
                <a:off x="6354159" y="6621234"/>
                <a:ext cx="236765" cy="236765"/>
              </a:xfrm>
              <a:prstGeom prst="ellipse">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02" name="Group 201">
              <a:extLst>
                <a:ext uri="{FF2B5EF4-FFF2-40B4-BE49-F238E27FC236}">
                  <a16:creationId xmlns:a16="http://schemas.microsoft.com/office/drawing/2014/main" id="{B3F305E1-FB59-CEB6-BFCF-D8D66C1DDA0F}"/>
                </a:ext>
              </a:extLst>
            </p:cNvPr>
            <p:cNvGrpSpPr/>
            <p:nvPr/>
          </p:nvGrpSpPr>
          <p:grpSpPr>
            <a:xfrm>
              <a:off x="7105292" y="5898605"/>
              <a:ext cx="1506854" cy="873506"/>
              <a:chOff x="7105292" y="6179601"/>
              <a:chExt cx="1022116" cy="592509"/>
            </a:xfrm>
          </p:grpSpPr>
          <p:sp>
            <p:nvSpPr>
              <p:cNvPr id="73" name="Rounded Rectangle 72">
                <a:extLst>
                  <a:ext uri="{FF2B5EF4-FFF2-40B4-BE49-F238E27FC236}">
                    <a16:creationId xmlns:a16="http://schemas.microsoft.com/office/drawing/2014/main" id="{64BDFB85-646C-A2B7-275F-E3EFE60134EE}"/>
                  </a:ext>
                </a:extLst>
              </p:cNvPr>
              <p:cNvSpPr/>
              <p:nvPr/>
            </p:nvSpPr>
            <p:spPr>
              <a:xfrm>
                <a:off x="7513613" y="6179601"/>
                <a:ext cx="258000" cy="102865"/>
              </a:xfrm>
              <a:prstGeom prst="round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74" name="Group 73">
                <a:extLst>
                  <a:ext uri="{FF2B5EF4-FFF2-40B4-BE49-F238E27FC236}">
                    <a16:creationId xmlns:a16="http://schemas.microsoft.com/office/drawing/2014/main" id="{21C9DFF7-4941-C858-A4AE-DD34F8DB8433}"/>
                  </a:ext>
                </a:extLst>
              </p:cNvPr>
              <p:cNvGrpSpPr/>
              <p:nvPr/>
            </p:nvGrpSpPr>
            <p:grpSpPr>
              <a:xfrm>
                <a:off x="7469992" y="6282466"/>
                <a:ext cx="325895" cy="74309"/>
                <a:chOff x="2409568" y="4296645"/>
                <a:chExt cx="1779373" cy="405721"/>
              </a:xfrm>
            </p:grpSpPr>
            <p:cxnSp>
              <p:nvCxnSpPr>
                <p:cNvPr id="119" name="Straight Arrow Connector 118">
                  <a:extLst>
                    <a:ext uri="{FF2B5EF4-FFF2-40B4-BE49-F238E27FC236}">
                      <a16:creationId xmlns:a16="http://schemas.microsoft.com/office/drawing/2014/main" id="{55ACA964-E732-FEE3-7EF4-19068C83D701}"/>
                    </a:ext>
                  </a:extLst>
                </p:cNvPr>
                <p:cNvCxnSpPr/>
                <p:nvPr/>
              </p:nvCxnSpPr>
              <p:spPr>
                <a:xfrm flipH="1">
                  <a:off x="2409568" y="4296645"/>
                  <a:ext cx="942505" cy="36167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20" name="Straight Arrow Connector 119">
                  <a:extLst>
                    <a:ext uri="{FF2B5EF4-FFF2-40B4-BE49-F238E27FC236}">
                      <a16:creationId xmlns:a16="http://schemas.microsoft.com/office/drawing/2014/main" id="{F0C0FBD3-FA95-E927-A2C8-E7A2368B7500}"/>
                    </a:ext>
                  </a:extLst>
                </p:cNvPr>
                <p:cNvCxnSpPr>
                  <a:cxnSpLocks/>
                </p:cNvCxnSpPr>
                <p:nvPr/>
              </p:nvCxnSpPr>
              <p:spPr>
                <a:xfrm>
                  <a:off x="3352073" y="4296645"/>
                  <a:ext cx="836868" cy="40572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sp>
            <p:nvSpPr>
              <p:cNvPr id="75" name="Rounded Rectangle 74">
                <a:extLst>
                  <a:ext uri="{FF2B5EF4-FFF2-40B4-BE49-F238E27FC236}">
                    <a16:creationId xmlns:a16="http://schemas.microsoft.com/office/drawing/2014/main" id="{5CC6CDBB-0126-2FB2-E58D-DBB0F5958338}"/>
                  </a:ext>
                </a:extLst>
              </p:cNvPr>
              <p:cNvSpPr/>
              <p:nvPr/>
            </p:nvSpPr>
            <p:spPr>
              <a:xfrm>
                <a:off x="7322422" y="6354958"/>
                <a:ext cx="258000" cy="102865"/>
              </a:xfrm>
              <a:prstGeom prst="round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6" name="Rounded Rectangle 75">
                <a:extLst>
                  <a:ext uri="{FF2B5EF4-FFF2-40B4-BE49-F238E27FC236}">
                    <a16:creationId xmlns:a16="http://schemas.microsoft.com/office/drawing/2014/main" id="{48263506-5DC8-9AA7-FFB2-65AE23F18475}"/>
                  </a:ext>
                </a:extLst>
              </p:cNvPr>
              <p:cNvSpPr/>
              <p:nvPr/>
            </p:nvSpPr>
            <p:spPr>
              <a:xfrm>
                <a:off x="7728975" y="6356774"/>
                <a:ext cx="258000" cy="102865"/>
              </a:xfrm>
              <a:prstGeom prst="round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77" name="Group 76">
                <a:extLst>
                  <a:ext uri="{FF2B5EF4-FFF2-40B4-BE49-F238E27FC236}">
                    <a16:creationId xmlns:a16="http://schemas.microsoft.com/office/drawing/2014/main" id="{89A77D37-65C4-212C-9045-EE2D240D8FB6}"/>
                  </a:ext>
                </a:extLst>
              </p:cNvPr>
              <p:cNvGrpSpPr/>
              <p:nvPr/>
            </p:nvGrpSpPr>
            <p:grpSpPr>
              <a:xfrm>
                <a:off x="7241357" y="6459517"/>
                <a:ext cx="325895" cy="74309"/>
                <a:chOff x="2409568" y="4296645"/>
                <a:chExt cx="1779373" cy="405721"/>
              </a:xfrm>
            </p:grpSpPr>
            <p:cxnSp>
              <p:nvCxnSpPr>
                <p:cNvPr id="117" name="Straight Arrow Connector 116">
                  <a:extLst>
                    <a:ext uri="{FF2B5EF4-FFF2-40B4-BE49-F238E27FC236}">
                      <a16:creationId xmlns:a16="http://schemas.microsoft.com/office/drawing/2014/main" id="{10189210-6A15-56F5-2868-4E371674F497}"/>
                    </a:ext>
                  </a:extLst>
                </p:cNvPr>
                <p:cNvCxnSpPr/>
                <p:nvPr/>
              </p:nvCxnSpPr>
              <p:spPr>
                <a:xfrm flipH="1">
                  <a:off x="2409568" y="4296645"/>
                  <a:ext cx="942505" cy="36167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18" name="Straight Arrow Connector 117">
                  <a:extLst>
                    <a:ext uri="{FF2B5EF4-FFF2-40B4-BE49-F238E27FC236}">
                      <a16:creationId xmlns:a16="http://schemas.microsoft.com/office/drawing/2014/main" id="{6D2E2755-D2B7-B4A9-7D39-3CDCB29B4960}"/>
                    </a:ext>
                  </a:extLst>
                </p:cNvPr>
                <p:cNvCxnSpPr>
                  <a:cxnSpLocks/>
                </p:cNvCxnSpPr>
                <p:nvPr/>
              </p:nvCxnSpPr>
              <p:spPr>
                <a:xfrm>
                  <a:off x="3352073" y="4296645"/>
                  <a:ext cx="836868" cy="40572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grpSp>
            <p:nvGrpSpPr>
              <p:cNvPr id="78" name="Group 77">
                <a:extLst>
                  <a:ext uri="{FF2B5EF4-FFF2-40B4-BE49-F238E27FC236}">
                    <a16:creationId xmlns:a16="http://schemas.microsoft.com/office/drawing/2014/main" id="{B3189671-FEAA-1230-7A1B-2B679DFE85B5}"/>
                  </a:ext>
                </a:extLst>
              </p:cNvPr>
              <p:cNvGrpSpPr/>
              <p:nvPr/>
            </p:nvGrpSpPr>
            <p:grpSpPr>
              <a:xfrm>
                <a:off x="7753431" y="6460622"/>
                <a:ext cx="325895" cy="74309"/>
                <a:chOff x="2409568" y="4296645"/>
                <a:chExt cx="1779373" cy="405721"/>
              </a:xfrm>
            </p:grpSpPr>
            <p:cxnSp>
              <p:nvCxnSpPr>
                <p:cNvPr id="115" name="Straight Arrow Connector 114">
                  <a:extLst>
                    <a:ext uri="{FF2B5EF4-FFF2-40B4-BE49-F238E27FC236}">
                      <a16:creationId xmlns:a16="http://schemas.microsoft.com/office/drawing/2014/main" id="{345B4CE9-0BE8-8BA3-058B-62246F30121A}"/>
                    </a:ext>
                  </a:extLst>
                </p:cNvPr>
                <p:cNvCxnSpPr/>
                <p:nvPr/>
              </p:nvCxnSpPr>
              <p:spPr>
                <a:xfrm flipH="1">
                  <a:off x="2409568" y="4296645"/>
                  <a:ext cx="942505" cy="36167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16" name="Straight Arrow Connector 115">
                  <a:extLst>
                    <a:ext uri="{FF2B5EF4-FFF2-40B4-BE49-F238E27FC236}">
                      <a16:creationId xmlns:a16="http://schemas.microsoft.com/office/drawing/2014/main" id="{420F1743-190B-6C35-BD41-FB213B76E9BE}"/>
                    </a:ext>
                  </a:extLst>
                </p:cNvPr>
                <p:cNvCxnSpPr>
                  <a:cxnSpLocks/>
                </p:cNvCxnSpPr>
                <p:nvPr/>
              </p:nvCxnSpPr>
              <p:spPr>
                <a:xfrm>
                  <a:off x="3352073" y="4296645"/>
                  <a:ext cx="836868" cy="40572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sp>
            <p:nvSpPr>
              <p:cNvPr id="79" name="Oval 78">
                <a:extLst>
                  <a:ext uri="{FF2B5EF4-FFF2-40B4-BE49-F238E27FC236}">
                    <a16:creationId xmlns:a16="http://schemas.microsoft.com/office/drawing/2014/main" id="{8DAA0B53-1003-35DF-71B1-AB14AD5E7FFB}"/>
                  </a:ext>
                </a:extLst>
              </p:cNvPr>
              <p:cNvSpPr/>
              <p:nvPr/>
            </p:nvSpPr>
            <p:spPr>
              <a:xfrm>
                <a:off x="8084044" y="6548609"/>
                <a:ext cx="43364" cy="43364"/>
              </a:xfrm>
              <a:prstGeom prst="ellipse">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Oval 79">
                <a:extLst>
                  <a:ext uri="{FF2B5EF4-FFF2-40B4-BE49-F238E27FC236}">
                    <a16:creationId xmlns:a16="http://schemas.microsoft.com/office/drawing/2014/main" id="{549970F3-C889-D585-CA11-69147DF02404}"/>
                  </a:ext>
                </a:extLst>
              </p:cNvPr>
              <p:cNvSpPr/>
              <p:nvPr/>
            </p:nvSpPr>
            <p:spPr>
              <a:xfrm>
                <a:off x="7545570" y="6550503"/>
                <a:ext cx="43364" cy="4336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Rounded Rectangle 80">
                <a:extLst>
                  <a:ext uri="{FF2B5EF4-FFF2-40B4-BE49-F238E27FC236}">
                    <a16:creationId xmlns:a16="http://schemas.microsoft.com/office/drawing/2014/main" id="{FCF5A3F8-53C3-425E-69BA-481F72FBC729}"/>
                  </a:ext>
                </a:extLst>
              </p:cNvPr>
              <p:cNvSpPr/>
              <p:nvPr/>
            </p:nvSpPr>
            <p:spPr>
              <a:xfrm>
                <a:off x="7651734" y="6533625"/>
                <a:ext cx="201099" cy="102865"/>
              </a:xfrm>
              <a:prstGeom prst="round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2" name="Rounded Rectangle 81">
                <a:extLst>
                  <a:ext uri="{FF2B5EF4-FFF2-40B4-BE49-F238E27FC236}">
                    <a16:creationId xmlns:a16="http://schemas.microsoft.com/office/drawing/2014/main" id="{A12913DC-80F2-B423-21D4-DCECF5B8DF0F}"/>
                  </a:ext>
                </a:extLst>
              </p:cNvPr>
              <p:cNvSpPr/>
              <p:nvPr/>
            </p:nvSpPr>
            <p:spPr>
              <a:xfrm>
                <a:off x="7141144" y="6540540"/>
                <a:ext cx="201099" cy="102865"/>
              </a:xfrm>
              <a:prstGeom prst="round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83" name="Group 82">
                <a:extLst>
                  <a:ext uri="{FF2B5EF4-FFF2-40B4-BE49-F238E27FC236}">
                    <a16:creationId xmlns:a16="http://schemas.microsoft.com/office/drawing/2014/main" id="{DF195FA1-8375-E550-958E-45E9E1759CA2}"/>
                  </a:ext>
                </a:extLst>
              </p:cNvPr>
              <p:cNvGrpSpPr/>
              <p:nvPr/>
            </p:nvGrpSpPr>
            <p:grpSpPr>
              <a:xfrm>
                <a:off x="7641122" y="6631987"/>
                <a:ext cx="212739" cy="74309"/>
                <a:chOff x="2409568" y="4296645"/>
                <a:chExt cx="1779373" cy="405721"/>
              </a:xfrm>
            </p:grpSpPr>
            <p:cxnSp>
              <p:nvCxnSpPr>
                <p:cNvPr id="113" name="Straight Arrow Connector 112">
                  <a:extLst>
                    <a:ext uri="{FF2B5EF4-FFF2-40B4-BE49-F238E27FC236}">
                      <a16:creationId xmlns:a16="http://schemas.microsoft.com/office/drawing/2014/main" id="{B6BF087A-FBE6-9EAE-71E2-E08B06737648}"/>
                    </a:ext>
                  </a:extLst>
                </p:cNvPr>
                <p:cNvCxnSpPr/>
                <p:nvPr/>
              </p:nvCxnSpPr>
              <p:spPr>
                <a:xfrm flipH="1">
                  <a:off x="2409568" y="4296645"/>
                  <a:ext cx="942505" cy="36167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14" name="Straight Arrow Connector 113">
                  <a:extLst>
                    <a:ext uri="{FF2B5EF4-FFF2-40B4-BE49-F238E27FC236}">
                      <a16:creationId xmlns:a16="http://schemas.microsoft.com/office/drawing/2014/main" id="{BBD2A00B-518B-8DE0-37EB-B08B5DB6A16F}"/>
                    </a:ext>
                  </a:extLst>
                </p:cNvPr>
                <p:cNvCxnSpPr>
                  <a:cxnSpLocks/>
                </p:cNvCxnSpPr>
                <p:nvPr/>
              </p:nvCxnSpPr>
              <p:spPr>
                <a:xfrm>
                  <a:off x="3352073" y="4296645"/>
                  <a:ext cx="836868" cy="40572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grpSp>
            <p:nvGrpSpPr>
              <p:cNvPr id="84" name="Group 83">
                <a:extLst>
                  <a:ext uri="{FF2B5EF4-FFF2-40B4-BE49-F238E27FC236}">
                    <a16:creationId xmlns:a16="http://schemas.microsoft.com/office/drawing/2014/main" id="{63E7F0B8-514C-F94E-C631-A80BB38B8EE8}"/>
                  </a:ext>
                </a:extLst>
              </p:cNvPr>
              <p:cNvGrpSpPr/>
              <p:nvPr/>
            </p:nvGrpSpPr>
            <p:grpSpPr>
              <a:xfrm>
                <a:off x="7128579" y="6653620"/>
                <a:ext cx="212739" cy="74309"/>
                <a:chOff x="2409568" y="4296645"/>
                <a:chExt cx="1779373" cy="405721"/>
              </a:xfrm>
            </p:grpSpPr>
            <p:cxnSp>
              <p:nvCxnSpPr>
                <p:cNvPr id="111" name="Straight Arrow Connector 110">
                  <a:extLst>
                    <a:ext uri="{FF2B5EF4-FFF2-40B4-BE49-F238E27FC236}">
                      <a16:creationId xmlns:a16="http://schemas.microsoft.com/office/drawing/2014/main" id="{92ED259C-535F-D553-A221-5D6820337CB7}"/>
                    </a:ext>
                  </a:extLst>
                </p:cNvPr>
                <p:cNvCxnSpPr/>
                <p:nvPr/>
              </p:nvCxnSpPr>
              <p:spPr>
                <a:xfrm flipH="1">
                  <a:off x="2409568" y="4296645"/>
                  <a:ext cx="942505" cy="36167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12" name="Straight Arrow Connector 111">
                  <a:extLst>
                    <a:ext uri="{FF2B5EF4-FFF2-40B4-BE49-F238E27FC236}">
                      <a16:creationId xmlns:a16="http://schemas.microsoft.com/office/drawing/2014/main" id="{FA2336A4-3084-DC06-829A-1DD579461BDC}"/>
                    </a:ext>
                  </a:extLst>
                </p:cNvPr>
                <p:cNvCxnSpPr>
                  <a:cxnSpLocks/>
                </p:cNvCxnSpPr>
                <p:nvPr/>
              </p:nvCxnSpPr>
              <p:spPr>
                <a:xfrm>
                  <a:off x="3352073" y="4296645"/>
                  <a:ext cx="836868" cy="40572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sp>
            <p:nvSpPr>
              <p:cNvPr id="85" name="Oval 84">
                <a:extLst>
                  <a:ext uri="{FF2B5EF4-FFF2-40B4-BE49-F238E27FC236}">
                    <a16:creationId xmlns:a16="http://schemas.microsoft.com/office/drawing/2014/main" id="{B3679837-1380-24E1-A18D-BA44CC477DB7}"/>
                  </a:ext>
                </a:extLst>
              </p:cNvPr>
              <p:cNvSpPr/>
              <p:nvPr/>
            </p:nvSpPr>
            <p:spPr>
              <a:xfrm>
                <a:off x="7608371" y="6708218"/>
                <a:ext cx="43364" cy="43364"/>
              </a:xfrm>
              <a:prstGeom prst="ellipse">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Oval 85">
                <a:extLst>
                  <a:ext uri="{FF2B5EF4-FFF2-40B4-BE49-F238E27FC236}">
                    <a16:creationId xmlns:a16="http://schemas.microsoft.com/office/drawing/2014/main" id="{07461561-19C2-E6B0-E239-32CD98D43154}"/>
                  </a:ext>
                </a:extLst>
              </p:cNvPr>
              <p:cNvSpPr/>
              <p:nvPr/>
            </p:nvSpPr>
            <p:spPr>
              <a:xfrm>
                <a:off x="7842747" y="6710851"/>
                <a:ext cx="43364" cy="43364"/>
              </a:xfrm>
              <a:prstGeom prst="ellipse">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Oval 86">
                <a:extLst>
                  <a:ext uri="{FF2B5EF4-FFF2-40B4-BE49-F238E27FC236}">
                    <a16:creationId xmlns:a16="http://schemas.microsoft.com/office/drawing/2014/main" id="{55CF21C1-CB89-B065-8CB6-277070229245}"/>
                  </a:ext>
                </a:extLst>
              </p:cNvPr>
              <p:cNvSpPr/>
              <p:nvPr/>
            </p:nvSpPr>
            <p:spPr>
              <a:xfrm>
                <a:off x="7105292" y="6727026"/>
                <a:ext cx="43364" cy="43364"/>
              </a:xfrm>
              <a:prstGeom prst="ellipse">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Oval 87">
                <a:extLst>
                  <a:ext uri="{FF2B5EF4-FFF2-40B4-BE49-F238E27FC236}">
                    <a16:creationId xmlns:a16="http://schemas.microsoft.com/office/drawing/2014/main" id="{95CB6E6E-B57D-203A-750B-8DFC5A42C37D}"/>
                  </a:ext>
                </a:extLst>
              </p:cNvPr>
              <p:cNvSpPr/>
              <p:nvPr/>
            </p:nvSpPr>
            <p:spPr>
              <a:xfrm>
                <a:off x="7336906" y="6728746"/>
                <a:ext cx="43364" cy="43364"/>
              </a:xfrm>
              <a:prstGeom prst="ellipse">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89" name="Group 88">
              <a:extLst>
                <a:ext uri="{FF2B5EF4-FFF2-40B4-BE49-F238E27FC236}">
                  <a16:creationId xmlns:a16="http://schemas.microsoft.com/office/drawing/2014/main" id="{5879CDB1-1627-9C28-E620-5D92089FDB65}"/>
                </a:ext>
              </a:extLst>
            </p:cNvPr>
            <p:cNvGrpSpPr/>
            <p:nvPr/>
          </p:nvGrpSpPr>
          <p:grpSpPr>
            <a:xfrm>
              <a:off x="8436840" y="5520507"/>
              <a:ext cx="1741978" cy="960067"/>
              <a:chOff x="924464" y="3735008"/>
              <a:chExt cx="5666460" cy="3122991"/>
            </a:xfrm>
          </p:grpSpPr>
          <p:sp>
            <p:nvSpPr>
              <p:cNvPr id="90" name="Rounded Rectangle 89">
                <a:extLst>
                  <a:ext uri="{FF2B5EF4-FFF2-40B4-BE49-F238E27FC236}">
                    <a16:creationId xmlns:a16="http://schemas.microsoft.com/office/drawing/2014/main" id="{62F246DA-5951-9118-5520-300CEBC20AE6}"/>
                  </a:ext>
                </a:extLst>
              </p:cNvPr>
              <p:cNvSpPr/>
              <p:nvPr/>
            </p:nvSpPr>
            <p:spPr>
              <a:xfrm>
                <a:off x="2647738" y="3735008"/>
                <a:ext cx="1408670" cy="561637"/>
              </a:xfrm>
              <a:prstGeom prst="round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91" name="Group 90">
                <a:extLst>
                  <a:ext uri="{FF2B5EF4-FFF2-40B4-BE49-F238E27FC236}">
                    <a16:creationId xmlns:a16="http://schemas.microsoft.com/office/drawing/2014/main" id="{0C0BCE99-EADE-C1B0-8AC6-9411ABCAA742}"/>
                  </a:ext>
                </a:extLst>
              </p:cNvPr>
              <p:cNvGrpSpPr/>
              <p:nvPr/>
            </p:nvGrpSpPr>
            <p:grpSpPr>
              <a:xfrm>
                <a:off x="2409568" y="4296645"/>
                <a:ext cx="1779373" cy="405721"/>
                <a:chOff x="2409568" y="4296645"/>
                <a:chExt cx="1779373" cy="405721"/>
              </a:xfrm>
            </p:grpSpPr>
            <p:cxnSp>
              <p:nvCxnSpPr>
                <p:cNvPr id="109" name="Straight Arrow Connector 108">
                  <a:extLst>
                    <a:ext uri="{FF2B5EF4-FFF2-40B4-BE49-F238E27FC236}">
                      <a16:creationId xmlns:a16="http://schemas.microsoft.com/office/drawing/2014/main" id="{8001CF99-CBE7-0A24-5776-F0BEDAC6DC18}"/>
                    </a:ext>
                  </a:extLst>
                </p:cNvPr>
                <p:cNvCxnSpPr/>
                <p:nvPr/>
              </p:nvCxnSpPr>
              <p:spPr>
                <a:xfrm flipH="1">
                  <a:off x="2409568" y="4296645"/>
                  <a:ext cx="942505" cy="36167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10" name="Straight Arrow Connector 109">
                  <a:extLst>
                    <a:ext uri="{FF2B5EF4-FFF2-40B4-BE49-F238E27FC236}">
                      <a16:creationId xmlns:a16="http://schemas.microsoft.com/office/drawing/2014/main" id="{DD1193E8-ED54-3FBA-9864-74F463D47CDC}"/>
                    </a:ext>
                  </a:extLst>
                </p:cNvPr>
                <p:cNvCxnSpPr>
                  <a:cxnSpLocks/>
                </p:cNvCxnSpPr>
                <p:nvPr/>
              </p:nvCxnSpPr>
              <p:spPr>
                <a:xfrm>
                  <a:off x="3352073" y="4296645"/>
                  <a:ext cx="836868" cy="40572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sp>
            <p:nvSpPr>
              <p:cNvPr id="92" name="Rounded Rectangle 91">
                <a:extLst>
                  <a:ext uri="{FF2B5EF4-FFF2-40B4-BE49-F238E27FC236}">
                    <a16:creationId xmlns:a16="http://schemas.microsoft.com/office/drawing/2014/main" id="{506443D2-623C-EA52-DCA7-45C30BFCBF58}"/>
                  </a:ext>
                </a:extLst>
              </p:cNvPr>
              <p:cNvSpPr/>
              <p:nvPr/>
            </p:nvSpPr>
            <p:spPr>
              <a:xfrm>
                <a:off x="1603839" y="4692451"/>
                <a:ext cx="1408670" cy="561637"/>
              </a:xfrm>
              <a:prstGeom prst="round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3" name="Rounded Rectangle 92">
                <a:extLst>
                  <a:ext uri="{FF2B5EF4-FFF2-40B4-BE49-F238E27FC236}">
                    <a16:creationId xmlns:a16="http://schemas.microsoft.com/office/drawing/2014/main" id="{6A5C3CCA-9AA1-7838-1D8C-4B57871226D7}"/>
                  </a:ext>
                </a:extLst>
              </p:cNvPr>
              <p:cNvSpPr/>
              <p:nvPr/>
            </p:nvSpPr>
            <p:spPr>
              <a:xfrm>
                <a:off x="3823603" y="4702366"/>
                <a:ext cx="1408670" cy="561637"/>
              </a:xfrm>
              <a:prstGeom prst="round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94" name="Group 93">
                <a:extLst>
                  <a:ext uri="{FF2B5EF4-FFF2-40B4-BE49-F238E27FC236}">
                    <a16:creationId xmlns:a16="http://schemas.microsoft.com/office/drawing/2014/main" id="{ED86FAF9-E716-C811-E97E-A838E70EBE5D}"/>
                  </a:ext>
                </a:extLst>
              </p:cNvPr>
              <p:cNvGrpSpPr/>
              <p:nvPr/>
            </p:nvGrpSpPr>
            <p:grpSpPr>
              <a:xfrm>
                <a:off x="1161229" y="5263338"/>
                <a:ext cx="1779373" cy="405721"/>
                <a:chOff x="2409568" y="4296645"/>
                <a:chExt cx="1779373" cy="405721"/>
              </a:xfrm>
            </p:grpSpPr>
            <p:cxnSp>
              <p:nvCxnSpPr>
                <p:cNvPr id="107" name="Straight Arrow Connector 106">
                  <a:extLst>
                    <a:ext uri="{FF2B5EF4-FFF2-40B4-BE49-F238E27FC236}">
                      <a16:creationId xmlns:a16="http://schemas.microsoft.com/office/drawing/2014/main" id="{54A383B8-0952-788D-D398-7B5E5A1CCD31}"/>
                    </a:ext>
                  </a:extLst>
                </p:cNvPr>
                <p:cNvCxnSpPr/>
                <p:nvPr/>
              </p:nvCxnSpPr>
              <p:spPr>
                <a:xfrm flipH="1">
                  <a:off x="2409568" y="4296645"/>
                  <a:ext cx="942505" cy="36167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08" name="Straight Arrow Connector 107">
                  <a:extLst>
                    <a:ext uri="{FF2B5EF4-FFF2-40B4-BE49-F238E27FC236}">
                      <a16:creationId xmlns:a16="http://schemas.microsoft.com/office/drawing/2014/main" id="{42EA27F3-BCDD-0007-1C4A-444B8EAEC0BE}"/>
                    </a:ext>
                  </a:extLst>
                </p:cNvPr>
                <p:cNvCxnSpPr>
                  <a:cxnSpLocks/>
                </p:cNvCxnSpPr>
                <p:nvPr/>
              </p:nvCxnSpPr>
              <p:spPr>
                <a:xfrm>
                  <a:off x="3352073" y="4296645"/>
                  <a:ext cx="836868" cy="40572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grpSp>
            <p:nvGrpSpPr>
              <p:cNvPr id="95" name="Group 94">
                <a:extLst>
                  <a:ext uri="{FF2B5EF4-FFF2-40B4-BE49-F238E27FC236}">
                    <a16:creationId xmlns:a16="http://schemas.microsoft.com/office/drawing/2014/main" id="{9745C809-1335-24A5-0509-301AD6F8C03B}"/>
                  </a:ext>
                </a:extLst>
              </p:cNvPr>
              <p:cNvGrpSpPr/>
              <p:nvPr/>
            </p:nvGrpSpPr>
            <p:grpSpPr>
              <a:xfrm>
                <a:off x="3957131" y="5269370"/>
                <a:ext cx="1779373" cy="405721"/>
                <a:chOff x="2409568" y="4296645"/>
                <a:chExt cx="1779373" cy="405721"/>
              </a:xfrm>
            </p:grpSpPr>
            <p:cxnSp>
              <p:nvCxnSpPr>
                <p:cNvPr id="105" name="Straight Arrow Connector 104">
                  <a:extLst>
                    <a:ext uri="{FF2B5EF4-FFF2-40B4-BE49-F238E27FC236}">
                      <a16:creationId xmlns:a16="http://schemas.microsoft.com/office/drawing/2014/main" id="{DCA72411-6612-7167-5E2A-E0915CA0F580}"/>
                    </a:ext>
                  </a:extLst>
                </p:cNvPr>
                <p:cNvCxnSpPr/>
                <p:nvPr/>
              </p:nvCxnSpPr>
              <p:spPr>
                <a:xfrm flipH="1">
                  <a:off x="2409568" y="4296645"/>
                  <a:ext cx="942505" cy="36167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06" name="Straight Arrow Connector 105">
                  <a:extLst>
                    <a:ext uri="{FF2B5EF4-FFF2-40B4-BE49-F238E27FC236}">
                      <a16:creationId xmlns:a16="http://schemas.microsoft.com/office/drawing/2014/main" id="{FC19DD3D-A7C3-6058-B796-3AB6F7F4104C}"/>
                    </a:ext>
                  </a:extLst>
                </p:cNvPr>
                <p:cNvCxnSpPr>
                  <a:cxnSpLocks/>
                </p:cNvCxnSpPr>
                <p:nvPr/>
              </p:nvCxnSpPr>
              <p:spPr>
                <a:xfrm>
                  <a:off x="3352073" y="4296645"/>
                  <a:ext cx="836868" cy="40572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sp>
            <p:nvSpPr>
              <p:cNvPr id="96" name="Oval 95">
                <a:extLst>
                  <a:ext uri="{FF2B5EF4-FFF2-40B4-BE49-F238E27FC236}">
                    <a16:creationId xmlns:a16="http://schemas.microsoft.com/office/drawing/2014/main" id="{7A040E49-9307-F44E-37CE-DEF8FFE8D6D9}"/>
                  </a:ext>
                </a:extLst>
              </p:cNvPr>
              <p:cNvSpPr/>
              <p:nvPr/>
            </p:nvSpPr>
            <p:spPr>
              <a:xfrm>
                <a:off x="924464" y="5749775"/>
                <a:ext cx="236765" cy="236765"/>
              </a:xfrm>
              <a:prstGeom prst="ellipse">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Oval 96">
                <a:extLst>
                  <a:ext uri="{FF2B5EF4-FFF2-40B4-BE49-F238E27FC236}">
                    <a16:creationId xmlns:a16="http://schemas.microsoft.com/office/drawing/2014/main" id="{6C3C38D5-DB00-1E3E-0D7D-A8865082CAAC}"/>
                  </a:ext>
                </a:extLst>
              </p:cNvPr>
              <p:cNvSpPr/>
              <p:nvPr/>
            </p:nvSpPr>
            <p:spPr>
              <a:xfrm>
                <a:off x="2822219" y="5760115"/>
                <a:ext cx="236765" cy="23676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 name="Rounded Rectangle 97">
                <a:extLst>
                  <a:ext uri="{FF2B5EF4-FFF2-40B4-BE49-F238E27FC236}">
                    <a16:creationId xmlns:a16="http://schemas.microsoft.com/office/drawing/2014/main" id="{953437C9-FF98-F556-6BA4-D0A0B94B18DC}"/>
                  </a:ext>
                </a:extLst>
              </p:cNvPr>
              <p:cNvSpPr/>
              <p:nvPr/>
            </p:nvSpPr>
            <p:spPr>
              <a:xfrm>
                <a:off x="5232714" y="5705721"/>
                <a:ext cx="1097990" cy="561637"/>
              </a:xfrm>
              <a:prstGeom prst="round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99" name="Group 98">
                <a:extLst>
                  <a:ext uri="{FF2B5EF4-FFF2-40B4-BE49-F238E27FC236}">
                    <a16:creationId xmlns:a16="http://schemas.microsoft.com/office/drawing/2014/main" id="{614C35C6-90D2-14BA-6B3D-2C42E082F9E0}"/>
                  </a:ext>
                </a:extLst>
              </p:cNvPr>
              <p:cNvGrpSpPr/>
              <p:nvPr/>
            </p:nvGrpSpPr>
            <p:grpSpPr>
              <a:xfrm>
                <a:off x="5216702" y="6211049"/>
                <a:ext cx="1161546" cy="405721"/>
                <a:chOff x="2409568" y="4296645"/>
                <a:chExt cx="1779373" cy="405721"/>
              </a:xfrm>
            </p:grpSpPr>
            <p:cxnSp>
              <p:nvCxnSpPr>
                <p:cNvPr id="103" name="Straight Arrow Connector 102">
                  <a:extLst>
                    <a:ext uri="{FF2B5EF4-FFF2-40B4-BE49-F238E27FC236}">
                      <a16:creationId xmlns:a16="http://schemas.microsoft.com/office/drawing/2014/main" id="{0B7BECA5-69E3-79DA-B706-DA0214FEAD82}"/>
                    </a:ext>
                  </a:extLst>
                </p:cNvPr>
                <p:cNvCxnSpPr/>
                <p:nvPr/>
              </p:nvCxnSpPr>
              <p:spPr>
                <a:xfrm flipH="1">
                  <a:off x="2409568" y="4296645"/>
                  <a:ext cx="942505" cy="36167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04" name="Straight Arrow Connector 103">
                  <a:extLst>
                    <a:ext uri="{FF2B5EF4-FFF2-40B4-BE49-F238E27FC236}">
                      <a16:creationId xmlns:a16="http://schemas.microsoft.com/office/drawing/2014/main" id="{6BFD7D27-BE8D-8440-CDC1-4C386A81B0B1}"/>
                    </a:ext>
                  </a:extLst>
                </p:cNvPr>
                <p:cNvCxnSpPr>
                  <a:cxnSpLocks/>
                </p:cNvCxnSpPr>
                <p:nvPr/>
              </p:nvCxnSpPr>
              <p:spPr>
                <a:xfrm>
                  <a:off x="3352073" y="4296645"/>
                  <a:ext cx="836868" cy="40572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sp>
            <p:nvSpPr>
              <p:cNvPr id="100" name="Oval 99">
                <a:extLst>
                  <a:ext uri="{FF2B5EF4-FFF2-40B4-BE49-F238E27FC236}">
                    <a16:creationId xmlns:a16="http://schemas.microsoft.com/office/drawing/2014/main" id="{7E119A8A-A32F-CBCD-7663-360E27E68E3F}"/>
                  </a:ext>
                </a:extLst>
              </p:cNvPr>
              <p:cNvSpPr/>
              <p:nvPr/>
            </p:nvSpPr>
            <p:spPr>
              <a:xfrm>
                <a:off x="3857548" y="5768731"/>
                <a:ext cx="236766" cy="236766"/>
              </a:xfrm>
              <a:prstGeom prst="ellipse">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 name="Oval 100">
                <a:extLst>
                  <a:ext uri="{FF2B5EF4-FFF2-40B4-BE49-F238E27FC236}">
                    <a16:creationId xmlns:a16="http://schemas.microsoft.com/office/drawing/2014/main" id="{9F5498F5-F1B5-B615-560C-4105BAD4BA28}"/>
                  </a:ext>
                </a:extLst>
              </p:cNvPr>
              <p:cNvSpPr/>
              <p:nvPr/>
            </p:nvSpPr>
            <p:spPr>
              <a:xfrm>
                <a:off x="5089559" y="6611842"/>
                <a:ext cx="236765" cy="236765"/>
              </a:xfrm>
              <a:prstGeom prst="ellipse">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 name="Oval 101">
                <a:extLst>
                  <a:ext uri="{FF2B5EF4-FFF2-40B4-BE49-F238E27FC236}">
                    <a16:creationId xmlns:a16="http://schemas.microsoft.com/office/drawing/2014/main" id="{E24B4D1F-9A9D-BB3F-20BC-9CF57C2C68D3}"/>
                  </a:ext>
                </a:extLst>
              </p:cNvPr>
              <p:cNvSpPr/>
              <p:nvPr/>
            </p:nvSpPr>
            <p:spPr>
              <a:xfrm>
                <a:off x="6354159" y="6621234"/>
                <a:ext cx="236765" cy="236765"/>
              </a:xfrm>
              <a:prstGeom prst="ellipse">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Tree>
    <p:extLst>
      <p:ext uri="{BB962C8B-B14F-4D97-AF65-F5344CB8AC3E}">
        <p14:creationId xmlns:p14="http://schemas.microsoft.com/office/powerpoint/2010/main" val="1570948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8">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8">
                                            <p:txEl>
                                              <p:pRg st="1" end="1"/>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8">
                                            <p:txEl>
                                              <p:pRg st="2" end="2"/>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68">
                                            <p:txEl>
                                              <p:pRg st="3" end="3"/>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68">
                                            <p:txEl>
                                              <p:pRg st="4" end="4"/>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66">
                                            <p:txEl>
                                              <p:pRg st="0" end="0"/>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6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68" grpId="0" build="p" bldLvl="2"/>
      <p:bldP spid="66" grpId="0" build="p" bldLvl="2"/>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5956C7-CF60-9DF9-F946-BFCA305CEBB3}"/>
              </a:ext>
            </a:extLst>
          </p:cNvPr>
          <p:cNvSpPr>
            <a:spLocks noGrp="1"/>
          </p:cNvSpPr>
          <p:nvPr>
            <p:ph type="title"/>
          </p:nvPr>
        </p:nvSpPr>
        <p:spPr/>
        <p:txBody>
          <a:bodyPr/>
          <a:lstStyle/>
          <a:p>
            <a:r>
              <a:rPr lang="en-US" dirty="0"/>
              <a:t>Returns to Education</a:t>
            </a:r>
            <a:br>
              <a:rPr lang="en-US" dirty="0"/>
            </a:br>
            <a:r>
              <a:rPr lang="en-US" sz="3200" dirty="0"/>
              <a:t>And IV and LATE!</a:t>
            </a:r>
            <a:endParaRPr lang="en-US" dirty="0"/>
          </a:p>
        </p:txBody>
      </p:sp>
      <p:sp>
        <p:nvSpPr>
          <p:cNvPr id="3" name="Content Placeholder 2">
            <a:extLst>
              <a:ext uri="{FF2B5EF4-FFF2-40B4-BE49-F238E27FC236}">
                <a16:creationId xmlns:a16="http://schemas.microsoft.com/office/drawing/2014/main" id="{29587632-1071-1DFE-0967-7D99014B4E7F}"/>
              </a:ext>
            </a:extLst>
          </p:cNvPr>
          <p:cNvSpPr>
            <a:spLocks noGrp="1"/>
          </p:cNvSpPr>
          <p:nvPr>
            <p:ph idx="1"/>
          </p:nvPr>
        </p:nvSpPr>
        <p:spPr>
          <a:xfrm>
            <a:off x="838200" y="1692257"/>
            <a:ext cx="10515600" cy="2004128"/>
          </a:xfrm>
        </p:spPr>
        <p:txBody>
          <a:bodyPr/>
          <a:lstStyle/>
          <a:p>
            <a:r>
              <a:rPr lang="en-US" dirty="0"/>
              <a:t>More regressions yay!</a:t>
            </a:r>
          </a:p>
          <a:p>
            <a:pPr lvl="1"/>
            <a:r>
              <a:rPr lang="en-US" dirty="0">
                <a:solidFill>
                  <a:schemeClr val="accent1"/>
                </a:solidFill>
              </a:rPr>
              <a:t>Omitted Variable Bias!  What happens if we don’t control for everything.</a:t>
            </a:r>
          </a:p>
          <a:p>
            <a:pPr lvl="1"/>
            <a:r>
              <a:rPr lang="en-US" dirty="0">
                <a:solidFill>
                  <a:schemeClr val="accent1"/>
                </a:solidFill>
              </a:rPr>
              <a:t>Twin studies!  An attempt to control for everything!</a:t>
            </a:r>
          </a:p>
          <a:p>
            <a:r>
              <a:rPr lang="en-US" b="1" dirty="0"/>
              <a:t>Instrumental variables!</a:t>
            </a:r>
          </a:p>
        </p:txBody>
      </p:sp>
      <p:grpSp>
        <p:nvGrpSpPr>
          <p:cNvPr id="53" name="Group 52">
            <a:extLst>
              <a:ext uri="{FF2B5EF4-FFF2-40B4-BE49-F238E27FC236}">
                <a16:creationId xmlns:a16="http://schemas.microsoft.com/office/drawing/2014/main" id="{04166F02-FF1D-FF1D-CDA3-3F4EB8ADA3D9}"/>
              </a:ext>
            </a:extLst>
          </p:cNvPr>
          <p:cNvGrpSpPr/>
          <p:nvPr/>
        </p:nvGrpSpPr>
        <p:grpSpPr>
          <a:xfrm>
            <a:off x="7470754" y="175156"/>
            <a:ext cx="4721245" cy="1804448"/>
            <a:chOff x="7470754" y="175156"/>
            <a:chExt cx="4721245" cy="1804448"/>
          </a:xfrm>
        </p:grpSpPr>
        <p:pic>
          <p:nvPicPr>
            <p:cNvPr id="4" name="Picture 4" descr="Twins Day Festival | Akron/Summit Convention &amp; Visitors Bureau">
              <a:extLst>
                <a:ext uri="{FF2B5EF4-FFF2-40B4-BE49-F238E27FC236}">
                  <a16:creationId xmlns:a16="http://schemas.microsoft.com/office/drawing/2014/main" id="{663029ED-CA3E-8C47-30EE-9422299B6FA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70754" y="175156"/>
              <a:ext cx="2651145" cy="1676613"/>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C88BE747-2DF4-E317-A0C5-8443BBF8754A}"/>
                </a:ext>
              </a:extLst>
            </p:cNvPr>
            <p:cNvPicPr>
              <a:picLocks noChangeAspect="1"/>
            </p:cNvPicPr>
            <p:nvPr/>
          </p:nvPicPr>
          <p:blipFill>
            <a:blip r:embed="rId4"/>
            <a:stretch>
              <a:fillRect/>
            </a:stretch>
          </p:blipFill>
          <p:spPr>
            <a:xfrm>
              <a:off x="10342156" y="175156"/>
              <a:ext cx="1849843" cy="1804448"/>
            </a:xfrm>
            <a:prstGeom prst="rect">
              <a:avLst/>
            </a:prstGeom>
          </p:spPr>
        </p:pic>
      </p:grpSp>
      <p:grpSp>
        <p:nvGrpSpPr>
          <p:cNvPr id="45" name="Group 44">
            <a:extLst>
              <a:ext uri="{FF2B5EF4-FFF2-40B4-BE49-F238E27FC236}">
                <a16:creationId xmlns:a16="http://schemas.microsoft.com/office/drawing/2014/main" id="{523D3EF6-D941-0E3E-776B-574061104A63}"/>
              </a:ext>
            </a:extLst>
          </p:cNvPr>
          <p:cNvGrpSpPr/>
          <p:nvPr/>
        </p:nvGrpSpPr>
        <p:grpSpPr>
          <a:xfrm>
            <a:off x="6021606" y="3120866"/>
            <a:ext cx="5637135" cy="2130450"/>
            <a:chOff x="4755786" y="3204587"/>
            <a:chExt cx="6848319" cy="2588192"/>
          </a:xfrm>
        </p:grpSpPr>
        <p:sp>
          <p:nvSpPr>
            <p:cNvPr id="7" name="TextBox 6">
              <a:extLst>
                <a:ext uri="{FF2B5EF4-FFF2-40B4-BE49-F238E27FC236}">
                  <a16:creationId xmlns:a16="http://schemas.microsoft.com/office/drawing/2014/main" id="{895E3328-7B2E-EEB3-D1DC-FA06AF943079}"/>
                </a:ext>
              </a:extLst>
            </p:cNvPr>
            <p:cNvSpPr txBox="1"/>
            <p:nvPr/>
          </p:nvSpPr>
          <p:spPr>
            <a:xfrm>
              <a:off x="4755786" y="4914451"/>
              <a:ext cx="2824238" cy="878328"/>
            </a:xfrm>
            <a:prstGeom prst="rect">
              <a:avLst/>
            </a:prstGeom>
            <a:noFill/>
          </p:spPr>
          <p:txBody>
            <a:bodyPr wrap="square" rtlCol="0">
              <a:spAutoFit/>
            </a:bodyPr>
            <a:lstStyle/>
            <a:p>
              <a:pPr algn="ctr"/>
              <a:r>
                <a:rPr lang="en-US" sz="1200" dirty="0">
                  <a:solidFill>
                    <a:schemeClr val="accent5"/>
                  </a:solidFill>
                </a:rPr>
                <a:t>Quarter of birth!</a:t>
              </a:r>
            </a:p>
            <a:p>
              <a:pPr algn="ctr"/>
              <a:r>
                <a:rPr lang="en-US" sz="1200" dirty="0">
                  <a:solidFill>
                    <a:schemeClr val="accent5"/>
                  </a:solidFill>
                </a:rPr>
                <a:t>Draft lottery number!</a:t>
              </a:r>
            </a:p>
            <a:p>
              <a:pPr algn="ctr"/>
              <a:r>
                <a:rPr lang="en-US" sz="1200" dirty="0">
                  <a:solidFill>
                    <a:schemeClr val="accent5"/>
                  </a:solidFill>
                </a:rPr>
                <a:t>Proximity to college!</a:t>
              </a:r>
            </a:p>
          </p:txBody>
        </p:sp>
        <p:grpSp>
          <p:nvGrpSpPr>
            <p:cNvPr id="21" name="Group 20">
              <a:extLst>
                <a:ext uri="{FF2B5EF4-FFF2-40B4-BE49-F238E27FC236}">
                  <a16:creationId xmlns:a16="http://schemas.microsoft.com/office/drawing/2014/main" id="{BD3F569F-FA24-939F-B938-946CB9558753}"/>
                </a:ext>
              </a:extLst>
            </p:cNvPr>
            <p:cNvGrpSpPr/>
            <p:nvPr/>
          </p:nvGrpSpPr>
          <p:grpSpPr>
            <a:xfrm>
              <a:off x="5654331" y="3204587"/>
              <a:ext cx="5949774" cy="1433503"/>
              <a:chOff x="838200" y="4327742"/>
              <a:chExt cx="10041383" cy="2419310"/>
            </a:xfrm>
          </p:grpSpPr>
          <p:grpSp>
            <p:nvGrpSpPr>
              <p:cNvPr id="8" name="Group 7">
                <a:extLst>
                  <a:ext uri="{FF2B5EF4-FFF2-40B4-BE49-F238E27FC236}">
                    <a16:creationId xmlns:a16="http://schemas.microsoft.com/office/drawing/2014/main" id="{1B1CDF6E-285A-3644-890B-5D4963665809}"/>
                  </a:ext>
                </a:extLst>
              </p:cNvPr>
              <p:cNvGrpSpPr/>
              <p:nvPr/>
            </p:nvGrpSpPr>
            <p:grpSpPr>
              <a:xfrm>
                <a:off x="5362222" y="4684889"/>
                <a:ext cx="5517361" cy="1140178"/>
                <a:chOff x="5362222" y="4684889"/>
                <a:chExt cx="5517361" cy="1140178"/>
              </a:xfrm>
            </p:grpSpPr>
            <mc:AlternateContent xmlns:mc="http://schemas.openxmlformats.org/markup-compatibility/2006" xmlns:a14="http://schemas.microsoft.com/office/drawing/2010/main">
              <mc:Choice Requires="a14">
                <p:sp>
                  <p:nvSpPr>
                    <p:cNvPr id="9" name="Oval 8">
                      <a:extLst>
                        <a:ext uri="{FF2B5EF4-FFF2-40B4-BE49-F238E27FC236}">
                          <a16:creationId xmlns:a16="http://schemas.microsoft.com/office/drawing/2014/main" id="{D79C7951-8B2E-A543-BC2E-13184627420C}"/>
                        </a:ext>
                      </a:extLst>
                    </p:cNvPr>
                    <p:cNvSpPr/>
                    <p:nvPr/>
                  </p:nvSpPr>
                  <p:spPr>
                    <a:xfrm>
                      <a:off x="5362222" y="4684889"/>
                      <a:ext cx="1718650" cy="114017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4000" i="1" dirty="0" smtClean="0">
                                <a:latin typeface="Cambria Math" panose="02040503050406030204" pitchFamily="18" charset="0"/>
                              </a:rPr>
                              <m:t>𝑋</m:t>
                            </m:r>
                          </m:oMath>
                        </m:oMathPara>
                      </a14:m>
                      <a:endParaRPr lang="en-US" sz="4000" dirty="0"/>
                    </a:p>
                  </p:txBody>
                </p:sp>
              </mc:Choice>
              <mc:Fallback xmlns="">
                <p:sp>
                  <p:nvSpPr>
                    <p:cNvPr id="6" name="Oval 5">
                      <a:extLst>
                        <a:ext uri="{FF2B5EF4-FFF2-40B4-BE49-F238E27FC236}">
                          <a16:creationId xmlns:a16="http://schemas.microsoft.com/office/drawing/2014/main" id="{80E45570-3DB6-24BE-A14C-647D2AFCCDD2}"/>
                        </a:ext>
                      </a:extLst>
                    </p:cNvPr>
                    <p:cNvSpPr>
                      <a:spLocks noRot="1" noChangeAspect="1" noMove="1" noResize="1" noEditPoints="1" noAdjustHandles="1" noChangeArrowheads="1" noChangeShapeType="1" noTextEdit="1"/>
                    </p:cNvSpPr>
                    <p:nvPr/>
                  </p:nvSpPr>
                  <p:spPr>
                    <a:xfrm>
                      <a:off x="5362222" y="4684889"/>
                      <a:ext cx="1718650" cy="1140178"/>
                    </a:xfrm>
                    <a:prstGeom prst="ellipse">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Oval 9">
                      <a:extLst>
                        <a:ext uri="{FF2B5EF4-FFF2-40B4-BE49-F238E27FC236}">
                          <a16:creationId xmlns:a16="http://schemas.microsoft.com/office/drawing/2014/main" id="{3C5CF961-04ED-D562-1BBD-4E4D3548F555}"/>
                        </a:ext>
                      </a:extLst>
                    </p:cNvPr>
                    <p:cNvSpPr/>
                    <p:nvPr/>
                  </p:nvSpPr>
                  <p:spPr>
                    <a:xfrm>
                      <a:off x="9160933" y="4684889"/>
                      <a:ext cx="1718650" cy="114017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4000" i="1" dirty="0" smtClean="0">
                                <a:latin typeface="Cambria Math" panose="02040503050406030204" pitchFamily="18" charset="0"/>
                              </a:rPr>
                              <m:t>𝑌</m:t>
                            </m:r>
                          </m:oMath>
                        </m:oMathPara>
                      </a14:m>
                      <a:endParaRPr lang="en-US" sz="4000" dirty="0"/>
                    </a:p>
                  </p:txBody>
                </p:sp>
              </mc:Choice>
              <mc:Fallback xmlns="">
                <p:sp>
                  <p:nvSpPr>
                    <p:cNvPr id="7" name="Oval 6">
                      <a:extLst>
                        <a:ext uri="{FF2B5EF4-FFF2-40B4-BE49-F238E27FC236}">
                          <a16:creationId xmlns:a16="http://schemas.microsoft.com/office/drawing/2014/main" id="{956AC8CA-98C7-99F3-D770-FB5919ABA7DE}"/>
                        </a:ext>
                      </a:extLst>
                    </p:cNvPr>
                    <p:cNvSpPr>
                      <a:spLocks noRot="1" noChangeAspect="1" noMove="1" noResize="1" noEditPoints="1" noAdjustHandles="1" noChangeArrowheads="1" noChangeShapeType="1" noTextEdit="1"/>
                    </p:cNvSpPr>
                    <p:nvPr/>
                  </p:nvSpPr>
                  <p:spPr>
                    <a:xfrm>
                      <a:off x="9160933" y="4684889"/>
                      <a:ext cx="1718650" cy="1140178"/>
                    </a:xfrm>
                    <a:prstGeom prst="ellipse">
                      <a:avLst/>
                    </a:prstGeom>
                    <a:blipFill>
                      <a:blip r:embed="rId6"/>
                      <a:stretch>
                        <a:fillRect/>
                      </a:stretch>
                    </a:blipFill>
                  </p:spPr>
                  <p:txBody>
                    <a:bodyPr/>
                    <a:lstStyle/>
                    <a:p>
                      <a:r>
                        <a:rPr lang="en-US">
                          <a:noFill/>
                        </a:rPr>
                        <a:t> </a:t>
                      </a:r>
                    </a:p>
                  </p:txBody>
                </p:sp>
              </mc:Fallback>
            </mc:AlternateContent>
            <p:cxnSp>
              <p:nvCxnSpPr>
                <p:cNvPr id="11" name="Straight Arrow Connector 10">
                  <a:extLst>
                    <a:ext uri="{FF2B5EF4-FFF2-40B4-BE49-F238E27FC236}">
                      <a16:creationId xmlns:a16="http://schemas.microsoft.com/office/drawing/2014/main" id="{2E75A268-57BD-BCB2-1C12-C550C4513160}"/>
                    </a:ext>
                  </a:extLst>
                </p:cNvPr>
                <p:cNvCxnSpPr>
                  <a:endCxn id="10" idx="2"/>
                </p:cNvCxnSpPr>
                <p:nvPr/>
              </p:nvCxnSpPr>
              <p:spPr>
                <a:xfrm>
                  <a:off x="7080872" y="5254978"/>
                  <a:ext cx="2080061" cy="0"/>
                </a:xfrm>
                <a:prstGeom prst="straightConnector1">
                  <a:avLst/>
                </a:prstGeom>
                <a:ln w="38100">
                  <a:solidFill>
                    <a:schemeClr val="accent2"/>
                  </a:solidFill>
                  <a:tailEnd type="triangle"/>
                </a:ln>
              </p:spPr>
              <p:style>
                <a:lnRef idx="2">
                  <a:schemeClr val="accent1"/>
                </a:lnRef>
                <a:fillRef idx="0">
                  <a:schemeClr val="accent1"/>
                </a:fillRef>
                <a:effectRef idx="1">
                  <a:schemeClr val="accent1"/>
                </a:effectRef>
                <a:fontRef idx="minor">
                  <a:schemeClr val="tx1"/>
                </a:fontRef>
              </p:style>
            </p:cxnSp>
          </p:grpSp>
          <p:grpSp>
            <p:nvGrpSpPr>
              <p:cNvPr id="12" name="Group 11">
                <a:extLst>
                  <a:ext uri="{FF2B5EF4-FFF2-40B4-BE49-F238E27FC236}">
                    <a16:creationId xmlns:a16="http://schemas.microsoft.com/office/drawing/2014/main" id="{AC3574ED-01AD-0684-DAD7-0CE9B10F98C6}"/>
                  </a:ext>
                </a:extLst>
              </p:cNvPr>
              <p:cNvGrpSpPr/>
              <p:nvPr/>
            </p:nvGrpSpPr>
            <p:grpSpPr>
              <a:xfrm>
                <a:off x="1399822" y="4684889"/>
                <a:ext cx="3962400" cy="1140178"/>
                <a:chOff x="1399822" y="4684889"/>
                <a:chExt cx="3962400" cy="1140178"/>
              </a:xfrm>
            </p:grpSpPr>
            <mc:AlternateContent xmlns:mc="http://schemas.openxmlformats.org/markup-compatibility/2006" xmlns:a14="http://schemas.microsoft.com/office/drawing/2010/main">
              <mc:Choice Requires="a14">
                <p:sp>
                  <p:nvSpPr>
                    <p:cNvPr id="13" name="Oval 12">
                      <a:extLst>
                        <a:ext uri="{FF2B5EF4-FFF2-40B4-BE49-F238E27FC236}">
                          <a16:creationId xmlns:a16="http://schemas.microsoft.com/office/drawing/2014/main" id="{E999B99C-96B3-5C8C-0AC7-F530BF0EB29C}"/>
                        </a:ext>
                      </a:extLst>
                    </p:cNvPr>
                    <p:cNvSpPr/>
                    <p:nvPr/>
                  </p:nvSpPr>
                  <p:spPr>
                    <a:xfrm>
                      <a:off x="1399822" y="4684889"/>
                      <a:ext cx="1718650" cy="114017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4000" i="1" dirty="0" smtClean="0">
                                <a:latin typeface="Cambria Math" panose="02040503050406030204" pitchFamily="18" charset="0"/>
                              </a:rPr>
                              <m:t>𝑍</m:t>
                            </m:r>
                          </m:oMath>
                        </m:oMathPara>
                      </a14:m>
                      <a:endParaRPr lang="en-US" sz="4000" dirty="0"/>
                    </a:p>
                  </p:txBody>
                </p:sp>
              </mc:Choice>
              <mc:Fallback xmlns="">
                <p:sp>
                  <p:nvSpPr>
                    <p:cNvPr id="8" name="Oval 7">
                      <a:extLst>
                        <a:ext uri="{FF2B5EF4-FFF2-40B4-BE49-F238E27FC236}">
                          <a16:creationId xmlns:a16="http://schemas.microsoft.com/office/drawing/2014/main" id="{45135B80-A2AB-EF4C-2DD9-29A841C980F5}"/>
                        </a:ext>
                      </a:extLst>
                    </p:cNvPr>
                    <p:cNvSpPr>
                      <a:spLocks noRot="1" noChangeAspect="1" noMove="1" noResize="1" noEditPoints="1" noAdjustHandles="1" noChangeArrowheads="1" noChangeShapeType="1" noTextEdit="1"/>
                    </p:cNvSpPr>
                    <p:nvPr/>
                  </p:nvSpPr>
                  <p:spPr>
                    <a:xfrm>
                      <a:off x="1399822" y="4684889"/>
                      <a:ext cx="1718650" cy="1140178"/>
                    </a:xfrm>
                    <a:prstGeom prst="ellipse">
                      <a:avLst/>
                    </a:prstGeom>
                    <a:blipFill>
                      <a:blip r:embed="rId7"/>
                      <a:stretch>
                        <a:fillRect/>
                      </a:stretch>
                    </a:blipFill>
                  </p:spPr>
                  <p:txBody>
                    <a:bodyPr/>
                    <a:lstStyle/>
                    <a:p>
                      <a:r>
                        <a:rPr lang="en-US">
                          <a:noFill/>
                        </a:rPr>
                        <a:t> </a:t>
                      </a:r>
                    </a:p>
                  </p:txBody>
                </p:sp>
              </mc:Fallback>
            </mc:AlternateContent>
            <p:cxnSp>
              <p:nvCxnSpPr>
                <p:cNvPr id="14" name="Straight Arrow Connector 13">
                  <a:extLst>
                    <a:ext uri="{FF2B5EF4-FFF2-40B4-BE49-F238E27FC236}">
                      <a16:creationId xmlns:a16="http://schemas.microsoft.com/office/drawing/2014/main" id="{4B02E81E-47BB-A53E-690A-5E0029B64C07}"/>
                    </a:ext>
                  </a:extLst>
                </p:cNvPr>
                <p:cNvCxnSpPr>
                  <a:cxnSpLocks/>
                  <a:stCxn id="13" idx="6"/>
                  <a:endCxn id="9" idx="2"/>
                </p:cNvCxnSpPr>
                <p:nvPr/>
              </p:nvCxnSpPr>
              <p:spPr>
                <a:xfrm>
                  <a:off x="3118472" y="5254978"/>
                  <a:ext cx="2243750" cy="0"/>
                </a:xfrm>
                <a:prstGeom prst="straightConnector1">
                  <a:avLst/>
                </a:prstGeom>
                <a:ln w="38100">
                  <a:solidFill>
                    <a:schemeClr val="accent2"/>
                  </a:solidFill>
                  <a:tailEnd type="triangle"/>
                </a:ln>
              </p:spPr>
              <p:style>
                <a:lnRef idx="2">
                  <a:schemeClr val="accent1"/>
                </a:lnRef>
                <a:fillRef idx="0">
                  <a:schemeClr val="accent1"/>
                </a:fillRef>
                <a:effectRef idx="1">
                  <a:schemeClr val="accent1"/>
                </a:effectRef>
                <a:fontRef idx="minor">
                  <a:schemeClr val="tx1"/>
                </a:fontRef>
              </p:style>
            </p:cxnSp>
          </p:grpSp>
          <p:grpSp>
            <p:nvGrpSpPr>
              <p:cNvPr id="15" name="Group 14">
                <a:extLst>
                  <a:ext uri="{FF2B5EF4-FFF2-40B4-BE49-F238E27FC236}">
                    <a16:creationId xmlns:a16="http://schemas.microsoft.com/office/drawing/2014/main" id="{6EAD6906-E53F-8B61-2181-BBD7E11A3928}"/>
                  </a:ext>
                </a:extLst>
              </p:cNvPr>
              <p:cNvGrpSpPr/>
              <p:nvPr/>
            </p:nvGrpSpPr>
            <p:grpSpPr>
              <a:xfrm>
                <a:off x="2797139" y="5689600"/>
                <a:ext cx="6629083" cy="1057452"/>
                <a:chOff x="2797139" y="5689600"/>
                <a:chExt cx="6629083" cy="1057452"/>
              </a:xfrm>
            </p:grpSpPr>
            <p:sp>
              <p:nvSpPr>
                <p:cNvPr id="16" name="Freeform 15">
                  <a:extLst>
                    <a:ext uri="{FF2B5EF4-FFF2-40B4-BE49-F238E27FC236}">
                      <a16:creationId xmlns:a16="http://schemas.microsoft.com/office/drawing/2014/main" id="{FC724B6A-E0D8-9833-FFF5-C632A196868A}"/>
                    </a:ext>
                  </a:extLst>
                </p:cNvPr>
                <p:cNvSpPr/>
                <p:nvPr/>
              </p:nvSpPr>
              <p:spPr>
                <a:xfrm>
                  <a:off x="2797139" y="5689600"/>
                  <a:ext cx="6629083" cy="757351"/>
                </a:xfrm>
                <a:custGeom>
                  <a:avLst/>
                  <a:gdLst>
                    <a:gd name="connsiteX0" fmla="*/ 36372 w 6629083"/>
                    <a:gd name="connsiteY0" fmla="*/ 0 h 757351"/>
                    <a:gd name="connsiteX1" fmla="*/ 668550 w 6629083"/>
                    <a:gd name="connsiteY1" fmla="*/ 541867 h 757351"/>
                    <a:gd name="connsiteX2" fmla="*/ 4608372 w 6629083"/>
                    <a:gd name="connsiteY2" fmla="*/ 733778 h 757351"/>
                    <a:gd name="connsiteX3" fmla="*/ 6629083 w 6629083"/>
                    <a:gd name="connsiteY3" fmla="*/ 45156 h 757351"/>
                  </a:gdLst>
                  <a:ahLst/>
                  <a:cxnLst>
                    <a:cxn ang="0">
                      <a:pos x="connsiteX0" y="connsiteY0"/>
                    </a:cxn>
                    <a:cxn ang="0">
                      <a:pos x="connsiteX1" y="connsiteY1"/>
                    </a:cxn>
                    <a:cxn ang="0">
                      <a:pos x="connsiteX2" y="connsiteY2"/>
                    </a:cxn>
                    <a:cxn ang="0">
                      <a:pos x="connsiteX3" y="connsiteY3"/>
                    </a:cxn>
                  </a:cxnLst>
                  <a:rect l="l" t="t" r="r" b="b"/>
                  <a:pathLst>
                    <a:path w="6629083" h="757351">
                      <a:moveTo>
                        <a:pt x="36372" y="0"/>
                      </a:moveTo>
                      <a:cubicBezTo>
                        <a:pt x="-28539" y="209785"/>
                        <a:pt x="-93450" y="419571"/>
                        <a:pt x="668550" y="541867"/>
                      </a:cubicBezTo>
                      <a:cubicBezTo>
                        <a:pt x="1430550" y="664163"/>
                        <a:pt x="3614950" y="816563"/>
                        <a:pt x="4608372" y="733778"/>
                      </a:cubicBezTo>
                      <a:cubicBezTo>
                        <a:pt x="5601794" y="650993"/>
                        <a:pt x="6115438" y="348074"/>
                        <a:pt x="6629083" y="45156"/>
                      </a:cubicBezTo>
                    </a:path>
                  </a:pathLst>
                </a:custGeom>
                <a:ln w="38100">
                  <a:prstDash val="dash"/>
                  <a:headEnd type="none" w="med" len="med"/>
                  <a:tailEnd type="triangle" w="med" len="med"/>
                </a:ln>
              </p:spPr>
              <p:style>
                <a:lnRef idx="1">
                  <a:schemeClr val="accent2"/>
                </a:lnRef>
                <a:fillRef idx="0">
                  <a:schemeClr val="accent2"/>
                </a:fillRef>
                <a:effectRef idx="0">
                  <a:schemeClr val="accent2"/>
                </a:effectRef>
                <a:fontRef idx="minor">
                  <a:schemeClr val="tx1"/>
                </a:fontRef>
              </p:style>
              <p:txBody>
                <a:bodyPr rtlCol="0" anchor="ctr"/>
                <a:lstStyle/>
                <a:p>
                  <a:pPr algn="ctr"/>
                  <a:endParaRPr lang="en-US"/>
                </a:p>
              </p:txBody>
            </p:sp>
            <p:sp>
              <p:nvSpPr>
                <p:cNvPr id="17" name="&quot;No&quot; Symbol 16">
                  <a:extLst>
                    <a:ext uri="{FF2B5EF4-FFF2-40B4-BE49-F238E27FC236}">
                      <a16:creationId xmlns:a16="http://schemas.microsoft.com/office/drawing/2014/main" id="{F881F303-F283-8D71-BFA3-B0AFED69BA13}"/>
                    </a:ext>
                  </a:extLst>
                </p:cNvPr>
                <p:cNvSpPr/>
                <p:nvPr/>
              </p:nvSpPr>
              <p:spPr>
                <a:xfrm>
                  <a:off x="7591694" y="5942053"/>
                  <a:ext cx="818529" cy="804999"/>
                </a:xfrm>
                <a:prstGeom prst="noSmoking">
                  <a:avLst>
                    <a:gd name="adj" fmla="val 15464"/>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pSp>
            <p:nvGrpSpPr>
              <p:cNvPr id="18" name="Group 17">
                <a:extLst>
                  <a:ext uri="{FF2B5EF4-FFF2-40B4-BE49-F238E27FC236}">
                    <a16:creationId xmlns:a16="http://schemas.microsoft.com/office/drawing/2014/main" id="{7F97DD2C-3B11-91FE-E137-0A8B73D54548}"/>
                  </a:ext>
                </a:extLst>
              </p:cNvPr>
              <p:cNvGrpSpPr/>
              <p:nvPr/>
            </p:nvGrpSpPr>
            <p:grpSpPr>
              <a:xfrm>
                <a:off x="838200" y="4327742"/>
                <a:ext cx="1654771" cy="2313606"/>
                <a:chOff x="838200" y="4327742"/>
                <a:chExt cx="1654771" cy="2313606"/>
              </a:xfrm>
            </p:grpSpPr>
            <p:pic>
              <p:nvPicPr>
                <p:cNvPr id="19" name="Picture 2" descr="Hounder Black Red Honey Burst with Stiletto Hard Case">
                  <a:extLst>
                    <a:ext uri="{FF2B5EF4-FFF2-40B4-BE49-F238E27FC236}">
                      <a16:creationId xmlns:a16="http://schemas.microsoft.com/office/drawing/2014/main" id="{DD30D063-296A-0E9A-81FB-52625F850B75}"/>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38200" y="4327742"/>
                  <a:ext cx="1614311" cy="1614311"/>
                </a:xfrm>
                <a:prstGeom prst="rect">
                  <a:avLst/>
                </a:prstGeom>
                <a:noFill/>
                <a:effectLst>
                  <a:glow rad="63500">
                    <a:srgbClr val="FFFF00">
                      <a:alpha val="96138"/>
                    </a:srgbClr>
                  </a:glow>
                </a:effectLst>
                <a:extLst>
                  <a:ext uri="{909E8E84-426E-40DD-AFC4-6F175D3DCCD1}">
                    <a14:hiddenFill xmlns:a14="http://schemas.microsoft.com/office/drawing/2010/main">
                      <a:solidFill>
                        <a:srgbClr val="FFFFFF"/>
                      </a:solidFill>
                    </a14:hiddenFill>
                  </a:ext>
                </a:extLst>
              </p:spPr>
            </p:pic>
            <p:sp>
              <p:nvSpPr>
                <p:cNvPr id="20" name="TextBox 19">
                  <a:extLst>
                    <a:ext uri="{FF2B5EF4-FFF2-40B4-BE49-F238E27FC236}">
                      <a16:creationId xmlns:a16="http://schemas.microsoft.com/office/drawing/2014/main" id="{04813A54-4863-9E21-3575-C2B9ACEA1D8C}"/>
                    </a:ext>
                  </a:extLst>
                </p:cNvPr>
                <p:cNvSpPr txBox="1"/>
                <p:nvPr/>
              </p:nvSpPr>
              <p:spPr>
                <a:xfrm>
                  <a:off x="900740" y="5995017"/>
                  <a:ext cx="1592231" cy="646331"/>
                </a:xfrm>
                <a:prstGeom prst="rect">
                  <a:avLst/>
                </a:prstGeom>
                <a:noFill/>
              </p:spPr>
              <p:txBody>
                <a:bodyPr wrap="none" rtlCol="0">
                  <a:spAutoFit/>
                </a:bodyPr>
                <a:lstStyle/>
                <a:p>
                  <a:pPr algn="ctr"/>
                  <a:r>
                    <a:rPr lang="en-US" b="1" i="1" dirty="0">
                      <a:solidFill>
                        <a:schemeClr val="accent2"/>
                      </a:solidFill>
                    </a:rPr>
                    <a:t>Instrumental </a:t>
                  </a:r>
                </a:p>
                <a:p>
                  <a:pPr algn="ctr"/>
                  <a:r>
                    <a:rPr lang="en-US" b="1" i="1" dirty="0">
                      <a:solidFill>
                        <a:schemeClr val="accent2"/>
                      </a:solidFill>
                    </a:rPr>
                    <a:t>Variable!</a:t>
                  </a:r>
                </a:p>
              </p:txBody>
            </p:sp>
          </p:grpSp>
        </p:grpSp>
      </p:grpSp>
      <p:grpSp>
        <p:nvGrpSpPr>
          <p:cNvPr id="22" name="Group 21">
            <a:extLst>
              <a:ext uri="{FF2B5EF4-FFF2-40B4-BE49-F238E27FC236}">
                <a16:creationId xmlns:a16="http://schemas.microsoft.com/office/drawing/2014/main" id="{6EDF5A69-384A-7139-3056-0415EDFDC081}"/>
              </a:ext>
            </a:extLst>
          </p:cNvPr>
          <p:cNvGrpSpPr/>
          <p:nvPr/>
        </p:nvGrpSpPr>
        <p:grpSpPr>
          <a:xfrm>
            <a:off x="7991164" y="4530810"/>
            <a:ext cx="4115967" cy="2352324"/>
            <a:chOff x="-15735" y="1355799"/>
            <a:chExt cx="9750727" cy="5572657"/>
          </a:xfrm>
        </p:grpSpPr>
        <p:grpSp>
          <p:nvGrpSpPr>
            <p:cNvPr id="23" name="Group 22">
              <a:extLst>
                <a:ext uri="{FF2B5EF4-FFF2-40B4-BE49-F238E27FC236}">
                  <a16:creationId xmlns:a16="http://schemas.microsoft.com/office/drawing/2014/main" id="{F3EA48B3-F0D5-DD0B-4E4F-EBA65EEA32BB}"/>
                </a:ext>
              </a:extLst>
            </p:cNvPr>
            <p:cNvGrpSpPr/>
            <p:nvPr/>
          </p:nvGrpSpPr>
          <p:grpSpPr>
            <a:xfrm>
              <a:off x="-15735" y="1744216"/>
              <a:ext cx="9750727" cy="5184240"/>
              <a:chOff x="-15735" y="1744216"/>
              <a:chExt cx="9750727" cy="5184240"/>
            </a:xfrm>
          </p:grpSpPr>
          <p:sp>
            <p:nvSpPr>
              <p:cNvPr id="26" name="TextBox 25">
                <a:extLst>
                  <a:ext uri="{FF2B5EF4-FFF2-40B4-BE49-F238E27FC236}">
                    <a16:creationId xmlns:a16="http://schemas.microsoft.com/office/drawing/2014/main" id="{B62AF2C4-C527-8FFE-FD03-35E90F6C2A42}"/>
                  </a:ext>
                </a:extLst>
              </p:cNvPr>
              <p:cNvSpPr txBox="1"/>
              <p:nvPr/>
            </p:nvSpPr>
            <p:spPr>
              <a:xfrm>
                <a:off x="2364127" y="1744216"/>
                <a:ext cx="2489603" cy="772071"/>
              </a:xfrm>
              <a:prstGeom prst="rect">
                <a:avLst/>
              </a:prstGeom>
              <a:noFill/>
            </p:spPr>
            <p:txBody>
              <a:bodyPr wrap="none" rtlCol="0">
                <a:spAutoFit/>
              </a:bodyPr>
              <a:lstStyle/>
              <a:p>
                <a:r>
                  <a:rPr lang="en-US" sz="1400" dirty="0"/>
                  <a:t>Compliers</a:t>
                </a:r>
              </a:p>
            </p:txBody>
          </p:sp>
          <p:sp>
            <p:nvSpPr>
              <p:cNvPr id="27" name="TextBox 26">
                <a:extLst>
                  <a:ext uri="{FF2B5EF4-FFF2-40B4-BE49-F238E27FC236}">
                    <a16:creationId xmlns:a16="http://schemas.microsoft.com/office/drawing/2014/main" id="{88160331-B783-6044-CFDD-352DB5083839}"/>
                  </a:ext>
                </a:extLst>
              </p:cNvPr>
              <p:cNvSpPr txBox="1"/>
              <p:nvPr/>
            </p:nvSpPr>
            <p:spPr>
              <a:xfrm>
                <a:off x="391657" y="3429002"/>
                <a:ext cx="1921973" cy="772071"/>
              </a:xfrm>
              <a:prstGeom prst="rect">
                <a:avLst/>
              </a:prstGeom>
              <a:noFill/>
            </p:spPr>
            <p:txBody>
              <a:bodyPr wrap="none" rtlCol="0">
                <a:spAutoFit/>
              </a:bodyPr>
              <a:lstStyle/>
              <a:p>
                <a:r>
                  <a:rPr lang="en-US" sz="1400" dirty="0"/>
                  <a:t>Drafted</a:t>
                </a:r>
              </a:p>
            </p:txBody>
          </p:sp>
          <p:sp>
            <p:nvSpPr>
              <p:cNvPr id="28" name="TextBox 27">
                <a:extLst>
                  <a:ext uri="{FF2B5EF4-FFF2-40B4-BE49-F238E27FC236}">
                    <a16:creationId xmlns:a16="http://schemas.microsoft.com/office/drawing/2014/main" id="{E5DEF279-3857-429F-3E17-962B544E7634}"/>
                  </a:ext>
                </a:extLst>
              </p:cNvPr>
              <p:cNvSpPr txBox="1"/>
              <p:nvPr/>
            </p:nvSpPr>
            <p:spPr>
              <a:xfrm>
                <a:off x="-15735" y="5213477"/>
                <a:ext cx="1921973" cy="1312519"/>
              </a:xfrm>
              <a:prstGeom prst="rect">
                <a:avLst/>
              </a:prstGeom>
              <a:noFill/>
            </p:spPr>
            <p:txBody>
              <a:bodyPr wrap="none" rtlCol="0">
                <a:spAutoFit/>
              </a:bodyPr>
              <a:lstStyle/>
              <a:p>
                <a:pPr algn="r"/>
                <a:r>
                  <a:rPr lang="en-US" sz="1400" dirty="0"/>
                  <a:t>Not </a:t>
                </a:r>
              </a:p>
              <a:p>
                <a:pPr algn="r"/>
                <a:r>
                  <a:rPr lang="en-US" sz="1400" dirty="0"/>
                  <a:t>Drafted</a:t>
                </a:r>
              </a:p>
            </p:txBody>
          </p:sp>
          <p:sp>
            <p:nvSpPr>
              <p:cNvPr id="29" name="Rectangle 28">
                <a:extLst>
                  <a:ext uri="{FF2B5EF4-FFF2-40B4-BE49-F238E27FC236}">
                    <a16:creationId xmlns:a16="http://schemas.microsoft.com/office/drawing/2014/main" id="{4D4F0007-1A99-3B5F-18EC-B9490F283EA7}"/>
                  </a:ext>
                </a:extLst>
              </p:cNvPr>
              <p:cNvSpPr/>
              <p:nvPr/>
            </p:nvSpPr>
            <p:spPr>
              <a:xfrm>
                <a:off x="2058771" y="2456100"/>
                <a:ext cx="7639865" cy="44019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p>
            </p:txBody>
          </p:sp>
          <p:cxnSp>
            <p:nvCxnSpPr>
              <p:cNvPr id="30" name="Straight Connector 29">
                <a:extLst>
                  <a:ext uri="{FF2B5EF4-FFF2-40B4-BE49-F238E27FC236}">
                    <a16:creationId xmlns:a16="http://schemas.microsoft.com/office/drawing/2014/main" id="{AFCFB805-C422-95D9-ADBC-19460BC77B4B}"/>
                  </a:ext>
                </a:extLst>
              </p:cNvPr>
              <p:cNvCxnSpPr>
                <a:cxnSpLocks/>
                <a:stCxn id="29" idx="1"/>
              </p:cNvCxnSpPr>
              <p:nvPr/>
            </p:nvCxnSpPr>
            <p:spPr>
              <a:xfrm>
                <a:off x="2058771" y="4657050"/>
                <a:ext cx="7676221" cy="37238"/>
              </a:xfrm>
              <a:prstGeom prst="line">
                <a:avLst/>
              </a:prstGeom>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80A2D1B3-FEE4-5482-A469-D124D3FB38F6}"/>
                  </a:ext>
                </a:extLst>
              </p:cNvPr>
              <p:cNvCxnSpPr>
                <a:cxnSpLocks/>
              </p:cNvCxnSpPr>
              <p:nvPr/>
            </p:nvCxnSpPr>
            <p:spPr>
              <a:xfrm>
                <a:off x="4720856" y="2466718"/>
                <a:ext cx="0" cy="4391282"/>
              </a:xfrm>
              <a:prstGeom prst="line">
                <a:avLst/>
              </a:prstGeom>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1BA5C4F2-0586-A7B7-850D-97655B4A62AC}"/>
                  </a:ext>
                </a:extLst>
              </p:cNvPr>
              <p:cNvCxnSpPr>
                <a:cxnSpLocks/>
              </p:cNvCxnSpPr>
              <p:nvPr/>
            </p:nvCxnSpPr>
            <p:spPr>
              <a:xfrm>
                <a:off x="7226838" y="2466718"/>
                <a:ext cx="0" cy="4391282"/>
              </a:xfrm>
              <a:prstGeom prst="line">
                <a:avLst/>
              </a:prstGeom>
            </p:spPr>
            <p:style>
              <a:lnRef idx="2">
                <a:schemeClr val="accent1"/>
              </a:lnRef>
              <a:fillRef idx="0">
                <a:schemeClr val="accent1"/>
              </a:fillRef>
              <a:effectRef idx="1">
                <a:schemeClr val="accent1"/>
              </a:effectRef>
              <a:fontRef idx="minor">
                <a:schemeClr val="tx1"/>
              </a:fontRef>
            </p:style>
          </p:cxnSp>
          <p:pic>
            <p:nvPicPr>
              <p:cNvPr id="33" name="Picture 32">
                <a:extLst>
                  <a:ext uri="{FF2B5EF4-FFF2-40B4-BE49-F238E27FC236}">
                    <a16:creationId xmlns:a16="http://schemas.microsoft.com/office/drawing/2014/main" id="{F5A3CA6C-7F9A-8C40-B056-A07B6602D417}"/>
                  </a:ext>
                </a:extLst>
              </p:cNvPr>
              <p:cNvPicPr>
                <a:picLocks noChangeAspect="1"/>
              </p:cNvPicPr>
              <p:nvPr/>
            </p:nvPicPr>
            <p:blipFill>
              <a:blip r:embed="rId9"/>
              <a:stretch>
                <a:fillRect/>
              </a:stretch>
            </p:blipFill>
            <p:spPr>
              <a:xfrm>
                <a:off x="2667236" y="2433017"/>
                <a:ext cx="1475193" cy="2227383"/>
              </a:xfrm>
              <a:prstGeom prst="rect">
                <a:avLst/>
              </a:prstGeom>
            </p:spPr>
          </p:pic>
          <p:pic>
            <p:nvPicPr>
              <p:cNvPr id="34" name="Picture 4" descr="Military Beret Cap With Star PNG &amp; SVG Design For T-Shirts">
                <a:extLst>
                  <a:ext uri="{FF2B5EF4-FFF2-40B4-BE49-F238E27FC236}">
                    <a16:creationId xmlns:a16="http://schemas.microsoft.com/office/drawing/2014/main" id="{E527046B-B1A2-33B3-77FF-E83CB9DCD2B9}"/>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884951" y="2346568"/>
                <a:ext cx="873458" cy="873458"/>
              </a:xfrm>
              <a:prstGeom prst="rect">
                <a:avLst/>
              </a:prstGeom>
              <a:extLst>
                <a:ext uri="{909E8E84-426E-40DD-AFC4-6F175D3DCCD1}">
                  <a14:hiddenFill xmlns:a14="http://schemas.microsoft.com/office/drawing/2010/main">
                    <a:solidFill>
                      <a:srgbClr val="FFFFFF"/>
                    </a:solidFill>
                  </a14:hiddenFill>
                </a:ext>
              </a:extLst>
            </p:spPr>
          </p:pic>
          <p:pic>
            <p:nvPicPr>
              <p:cNvPr id="35" name="Picture 34">
                <a:extLst>
                  <a:ext uri="{FF2B5EF4-FFF2-40B4-BE49-F238E27FC236}">
                    <a16:creationId xmlns:a16="http://schemas.microsoft.com/office/drawing/2014/main" id="{29F2C945-1FFE-74A1-73A9-99167E5A1E3B}"/>
                  </a:ext>
                </a:extLst>
              </p:cNvPr>
              <p:cNvPicPr>
                <a:picLocks noChangeAspect="1"/>
              </p:cNvPicPr>
              <p:nvPr/>
            </p:nvPicPr>
            <p:blipFill>
              <a:blip r:embed="rId9"/>
              <a:stretch>
                <a:fillRect/>
              </a:stretch>
            </p:blipFill>
            <p:spPr>
              <a:xfrm>
                <a:off x="2645249" y="4577011"/>
                <a:ext cx="1475193" cy="2227383"/>
              </a:xfrm>
              <a:prstGeom prst="rect">
                <a:avLst/>
              </a:prstGeom>
            </p:spPr>
          </p:pic>
          <p:pic>
            <p:nvPicPr>
              <p:cNvPr id="36" name="Picture 6" descr="Tie Dye T-Shirt - Classic Rainbow Spiral - Psychedelic Shirt">
                <a:extLst>
                  <a:ext uri="{FF2B5EF4-FFF2-40B4-BE49-F238E27FC236}">
                    <a16:creationId xmlns:a16="http://schemas.microsoft.com/office/drawing/2014/main" id="{FD310FCE-31FF-9325-404F-575E85FE6D2F}"/>
                  </a:ext>
                </a:extLst>
              </p:cNvPr>
              <p:cNvPicPr>
                <a:picLocks noChangeAspect="1" noChangeArrowheads="1"/>
              </p:cNvPicPr>
              <p:nvPr/>
            </p:nvPicPr>
            <p:blipFill rotWithShape="1">
              <a:blip r:embed="rId11">
                <a:extLst>
                  <a:ext uri="{28A0092B-C50C-407E-A947-70E740481C1C}">
                    <a14:useLocalDpi xmlns:a14="http://schemas.microsoft.com/office/drawing/2010/main" val="0"/>
                  </a:ext>
                </a:extLst>
              </a:blip>
              <a:srcRect b="22682"/>
              <a:stretch/>
            </p:blipFill>
            <p:spPr bwMode="auto">
              <a:xfrm>
                <a:off x="2894354" y="5475296"/>
                <a:ext cx="1017530" cy="731520"/>
              </a:xfrm>
              <a:prstGeom prst="rect">
                <a:avLst/>
              </a:prstGeom>
              <a:extLst>
                <a:ext uri="{909E8E84-426E-40DD-AFC4-6F175D3DCCD1}">
                  <a14:hiddenFill xmlns:a14="http://schemas.microsoft.com/office/drawing/2010/main">
                    <a:solidFill>
                      <a:srgbClr val="FFFFFF"/>
                    </a:solidFill>
                  </a14:hiddenFill>
                </a:ext>
              </a:extLst>
            </p:spPr>
          </p:pic>
          <p:pic>
            <p:nvPicPr>
              <p:cNvPr id="37" name="Picture 7" descr="Adoptable Rabbits | morabbit">
                <a:extLst>
                  <a:ext uri="{FF2B5EF4-FFF2-40B4-BE49-F238E27FC236}">
                    <a16:creationId xmlns:a16="http://schemas.microsoft.com/office/drawing/2014/main" id="{168C514B-E1B6-7EEA-905C-CBD730095334}"/>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flipH="1">
                <a:off x="5333791" y="2702649"/>
                <a:ext cx="1209688" cy="1991639"/>
              </a:xfrm>
              <a:prstGeom prst="rect">
                <a:avLst/>
              </a:prstGeom>
              <a:extLst>
                <a:ext uri="{909E8E84-426E-40DD-AFC4-6F175D3DCCD1}">
                  <a14:hiddenFill xmlns:a14="http://schemas.microsoft.com/office/drawing/2010/main">
                    <a:solidFill>
                      <a:srgbClr val="FFFFFF"/>
                    </a:solidFill>
                  </a14:hiddenFill>
                </a:ext>
              </a:extLst>
            </p:spPr>
          </p:pic>
          <p:pic>
            <p:nvPicPr>
              <p:cNvPr id="38" name="Picture 7" descr="Adoptable Rabbits | morabbit">
                <a:extLst>
                  <a:ext uri="{FF2B5EF4-FFF2-40B4-BE49-F238E27FC236}">
                    <a16:creationId xmlns:a16="http://schemas.microsoft.com/office/drawing/2014/main" id="{20B2DB65-A313-1744-5383-2A07C1034CC5}"/>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flipH="1">
                <a:off x="5311148" y="4936817"/>
                <a:ext cx="1209688" cy="1991639"/>
              </a:xfrm>
              <a:prstGeom prst="rect">
                <a:avLst/>
              </a:prstGeom>
              <a:extLst>
                <a:ext uri="{909E8E84-426E-40DD-AFC4-6F175D3DCCD1}">
                  <a14:hiddenFill xmlns:a14="http://schemas.microsoft.com/office/drawing/2010/main">
                    <a:solidFill>
                      <a:srgbClr val="FFFFFF"/>
                    </a:solidFill>
                  </a14:hiddenFill>
                </a:ext>
              </a:extLst>
            </p:spPr>
          </p:pic>
          <p:pic>
            <p:nvPicPr>
              <p:cNvPr id="39" name="Picture 4" descr="Military Beret Cap With Star PNG &amp; SVG Design For T-Shirts">
                <a:extLst>
                  <a:ext uri="{FF2B5EF4-FFF2-40B4-BE49-F238E27FC236}">
                    <a16:creationId xmlns:a16="http://schemas.microsoft.com/office/drawing/2014/main" id="{594A86CD-43C8-D4C1-F2B3-FE8FD6D46BA8}"/>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553769" y="2586750"/>
                <a:ext cx="710622" cy="710622"/>
              </a:xfrm>
              <a:prstGeom prst="rect">
                <a:avLst/>
              </a:prstGeom>
              <a:extLst>
                <a:ext uri="{909E8E84-426E-40DD-AFC4-6F175D3DCCD1}">
                  <a14:hiddenFill xmlns:a14="http://schemas.microsoft.com/office/drawing/2010/main">
                    <a:solidFill>
                      <a:srgbClr val="FFFFFF"/>
                    </a:solidFill>
                  </a14:hiddenFill>
                </a:ext>
              </a:extLst>
            </p:spPr>
          </p:pic>
          <p:pic>
            <p:nvPicPr>
              <p:cNvPr id="40" name="Picture 4" descr="Military Beret Cap With Star PNG &amp; SVG Design For T-Shirts">
                <a:extLst>
                  <a:ext uri="{FF2B5EF4-FFF2-40B4-BE49-F238E27FC236}">
                    <a16:creationId xmlns:a16="http://schemas.microsoft.com/office/drawing/2014/main" id="{EB1FD5AD-FF0F-F0F5-AC7A-C22A28836AC5}"/>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489882" y="4837230"/>
                <a:ext cx="710622" cy="710622"/>
              </a:xfrm>
              <a:prstGeom prst="rect">
                <a:avLst/>
              </a:prstGeom>
              <a:extLst>
                <a:ext uri="{909E8E84-426E-40DD-AFC4-6F175D3DCCD1}">
                  <a14:hiddenFill xmlns:a14="http://schemas.microsoft.com/office/drawing/2010/main">
                    <a:solidFill>
                      <a:srgbClr val="FFFFFF"/>
                    </a:solidFill>
                  </a14:hiddenFill>
                </a:ext>
              </a:extLst>
            </p:spPr>
          </p:pic>
          <p:pic>
            <p:nvPicPr>
              <p:cNvPr id="41" name="Picture 40">
                <a:extLst>
                  <a:ext uri="{FF2B5EF4-FFF2-40B4-BE49-F238E27FC236}">
                    <a16:creationId xmlns:a16="http://schemas.microsoft.com/office/drawing/2014/main" id="{F184F8C8-75DC-66C0-1CB9-4F0BA8C84B65}"/>
                  </a:ext>
                </a:extLst>
              </p:cNvPr>
              <p:cNvPicPr>
                <a:picLocks noChangeAspect="1"/>
              </p:cNvPicPr>
              <p:nvPr/>
            </p:nvPicPr>
            <p:blipFill>
              <a:blip r:embed="rId13"/>
              <a:stretch>
                <a:fillRect/>
              </a:stretch>
            </p:blipFill>
            <p:spPr>
              <a:xfrm>
                <a:off x="7742706" y="2824992"/>
                <a:ext cx="1165158" cy="1477341"/>
              </a:xfrm>
              <a:prstGeom prst="rect">
                <a:avLst/>
              </a:prstGeom>
            </p:spPr>
          </p:pic>
          <p:pic>
            <p:nvPicPr>
              <p:cNvPr id="42" name="Picture 41">
                <a:extLst>
                  <a:ext uri="{FF2B5EF4-FFF2-40B4-BE49-F238E27FC236}">
                    <a16:creationId xmlns:a16="http://schemas.microsoft.com/office/drawing/2014/main" id="{75AA6D78-6139-7451-F7E2-345748BD3CA0}"/>
                  </a:ext>
                </a:extLst>
              </p:cNvPr>
              <p:cNvPicPr>
                <a:picLocks noChangeAspect="1"/>
              </p:cNvPicPr>
              <p:nvPr/>
            </p:nvPicPr>
            <p:blipFill>
              <a:blip r:embed="rId13"/>
              <a:stretch>
                <a:fillRect/>
              </a:stretch>
            </p:blipFill>
            <p:spPr>
              <a:xfrm>
                <a:off x="7695117" y="4945608"/>
                <a:ext cx="1165158" cy="1477341"/>
              </a:xfrm>
              <a:prstGeom prst="rect">
                <a:avLst/>
              </a:prstGeom>
            </p:spPr>
          </p:pic>
          <p:pic>
            <p:nvPicPr>
              <p:cNvPr id="43" name="Picture 6" descr="Tie Dye T-Shirt - Classic Rainbow Spiral - Psychedelic Shirt">
                <a:extLst>
                  <a:ext uri="{FF2B5EF4-FFF2-40B4-BE49-F238E27FC236}">
                    <a16:creationId xmlns:a16="http://schemas.microsoft.com/office/drawing/2014/main" id="{0867FB0D-E66B-6322-C821-1CC66EEB4514}"/>
                  </a:ext>
                </a:extLst>
              </p:cNvPr>
              <p:cNvPicPr>
                <a:picLocks noChangeAspect="1" noChangeArrowheads="1"/>
              </p:cNvPicPr>
              <p:nvPr/>
            </p:nvPicPr>
            <p:blipFill rotWithShape="1">
              <a:blip r:embed="rId11">
                <a:extLst>
                  <a:ext uri="{28A0092B-C50C-407E-A947-70E740481C1C}">
                    <a14:useLocalDpi xmlns:a14="http://schemas.microsoft.com/office/drawing/2010/main" val="0"/>
                  </a:ext>
                </a:extLst>
              </a:blip>
              <a:srcRect t="-1" b="44407"/>
              <a:stretch/>
            </p:blipFill>
            <p:spPr bwMode="auto">
              <a:xfrm>
                <a:off x="7742706" y="3341198"/>
                <a:ext cx="1415159" cy="731520"/>
              </a:xfrm>
              <a:prstGeom prst="rect">
                <a:avLst/>
              </a:prstGeom>
              <a:extLst>
                <a:ext uri="{909E8E84-426E-40DD-AFC4-6F175D3DCCD1}">
                  <a14:hiddenFill xmlns:a14="http://schemas.microsoft.com/office/drawing/2010/main">
                    <a:solidFill>
                      <a:srgbClr val="FFFFFF"/>
                    </a:solidFill>
                  </a14:hiddenFill>
                </a:ext>
              </a:extLst>
            </p:spPr>
          </p:pic>
          <p:pic>
            <p:nvPicPr>
              <p:cNvPr id="44" name="Picture 6" descr="Tie Dye T-Shirt - Classic Rainbow Spiral - Psychedelic Shirt">
                <a:extLst>
                  <a:ext uri="{FF2B5EF4-FFF2-40B4-BE49-F238E27FC236}">
                    <a16:creationId xmlns:a16="http://schemas.microsoft.com/office/drawing/2014/main" id="{F7B6189D-BB41-D678-508F-C119F37195B2}"/>
                  </a:ext>
                </a:extLst>
              </p:cNvPr>
              <p:cNvPicPr>
                <a:picLocks noChangeAspect="1" noChangeArrowheads="1"/>
              </p:cNvPicPr>
              <p:nvPr/>
            </p:nvPicPr>
            <p:blipFill rotWithShape="1">
              <a:blip r:embed="rId11">
                <a:extLst>
                  <a:ext uri="{28A0092B-C50C-407E-A947-70E740481C1C}">
                    <a14:useLocalDpi xmlns:a14="http://schemas.microsoft.com/office/drawing/2010/main" val="0"/>
                  </a:ext>
                </a:extLst>
              </a:blip>
              <a:srcRect t="-1" b="44407"/>
              <a:stretch/>
            </p:blipFill>
            <p:spPr bwMode="auto">
              <a:xfrm>
                <a:off x="7699679" y="5446416"/>
                <a:ext cx="1415159" cy="731520"/>
              </a:xfrm>
              <a:prstGeom prst="rect">
                <a:avLst/>
              </a:prstGeom>
              <a:extLst>
                <a:ext uri="{909E8E84-426E-40DD-AFC4-6F175D3DCCD1}">
                  <a14:hiddenFill xmlns:a14="http://schemas.microsoft.com/office/drawing/2010/main">
                    <a:solidFill>
                      <a:srgbClr val="FFFFFF"/>
                    </a:solidFill>
                  </a14:hiddenFill>
                </a:ext>
              </a:extLst>
            </p:spPr>
          </p:pic>
        </p:grpSp>
        <p:sp>
          <p:nvSpPr>
            <p:cNvPr id="24" name="TextBox 23">
              <a:extLst>
                <a:ext uri="{FF2B5EF4-FFF2-40B4-BE49-F238E27FC236}">
                  <a16:creationId xmlns:a16="http://schemas.microsoft.com/office/drawing/2014/main" id="{94A1396E-24E8-E9F8-529E-09BEFE6B8753}"/>
                </a:ext>
              </a:extLst>
            </p:cNvPr>
            <p:cNvSpPr txBox="1"/>
            <p:nvPr/>
          </p:nvSpPr>
          <p:spPr>
            <a:xfrm>
              <a:off x="5050705" y="1355799"/>
              <a:ext cx="1853610" cy="1312518"/>
            </a:xfrm>
            <a:prstGeom prst="rect">
              <a:avLst/>
            </a:prstGeom>
            <a:noFill/>
          </p:spPr>
          <p:txBody>
            <a:bodyPr wrap="square" rtlCol="0">
              <a:spAutoFit/>
            </a:bodyPr>
            <a:lstStyle/>
            <a:p>
              <a:pPr algn="ctr"/>
              <a:r>
                <a:rPr lang="en-US" sz="1400" dirty="0"/>
                <a:t>Always-Takers</a:t>
              </a:r>
            </a:p>
          </p:txBody>
        </p:sp>
        <p:sp>
          <p:nvSpPr>
            <p:cNvPr id="25" name="TextBox 24">
              <a:extLst>
                <a:ext uri="{FF2B5EF4-FFF2-40B4-BE49-F238E27FC236}">
                  <a16:creationId xmlns:a16="http://schemas.microsoft.com/office/drawing/2014/main" id="{4CE83D0C-65C4-9875-9D0C-32F53C7A371F}"/>
                </a:ext>
              </a:extLst>
            </p:cNvPr>
            <p:cNvSpPr txBox="1"/>
            <p:nvPr/>
          </p:nvSpPr>
          <p:spPr>
            <a:xfrm>
              <a:off x="7562004" y="1355799"/>
              <a:ext cx="1853610" cy="1312518"/>
            </a:xfrm>
            <a:prstGeom prst="rect">
              <a:avLst/>
            </a:prstGeom>
            <a:noFill/>
          </p:spPr>
          <p:txBody>
            <a:bodyPr wrap="square" rtlCol="0">
              <a:spAutoFit/>
            </a:bodyPr>
            <a:lstStyle/>
            <a:p>
              <a:pPr algn="ctr"/>
              <a:r>
                <a:rPr lang="en-US" sz="1400" dirty="0"/>
                <a:t>Never-Takers</a:t>
              </a:r>
            </a:p>
          </p:txBody>
        </p:sp>
      </p:grpSp>
      <p:sp>
        <p:nvSpPr>
          <p:cNvPr id="47" name="TextBox 46">
            <a:extLst>
              <a:ext uri="{FF2B5EF4-FFF2-40B4-BE49-F238E27FC236}">
                <a16:creationId xmlns:a16="http://schemas.microsoft.com/office/drawing/2014/main" id="{7BAF5249-DBDD-F934-3DDD-4E61CFD92262}"/>
              </a:ext>
            </a:extLst>
          </p:cNvPr>
          <p:cNvSpPr txBox="1"/>
          <p:nvPr/>
        </p:nvSpPr>
        <p:spPr>
          <a:xfrm>
            <a:off x="789962" y="3608880"/>
            <a:ext cx="6096000" cy="2923877"/>
          </a:xfrm>
          <a:prstGeom prst="rect">
            <a:avLst/>
          </a:prstGeom>
          <a:noFill/>
        </p:spPr>
        <p:txBody>
          <a:bodyPr wrap="square">
            <a:spAutoFit/>
          </a:bodyPr>
          <a:lstStyle/>
          <a:p>
            <a:pPr marL="285750" indent="-285750">
              <a:buFont typeface="Arial" panose="020B0604020202020204" pitchFamily="34" charset="0"/>
              <a:buChar char="•"/>
            </a:pPr>
            <a:r>
              <a:rPr lang="en-US" sz="2800" dirty="0"/>
              <a:t>We can’t learn ATE…but we can learn </a:t>
            </a:r>
            <a:r>
              <a:rPr lang="en-US" sz="2800" b="1" dirty="0"/>
              <a:t>LATE</a:t>
            </a:r>
            <a:r>
              <a:rPr lang="en-US" sz="2800" dirty="0"/>
              <a:t>!</a:t>
            </a:r>
          </a:p>
          <a:p>
            <a:pPr marL="742950" lvl="1" indent="-285750">
              <a:buFont typeface="Arial" panose="020B0604020202020204" pitchFamily="34" charset="0"/>
              <a:buChar char="•"/>
            </a:pPr>
            <a:r>
              <a:rPr lang="en-US" sz="2400" dirty="0">
                <a:solidFill>
                  <a:schemeClr val="accent1"/>
                </a:solidFill>
              </a:rPr>
              <a:t>ATE on the compliers</a:t>
            </a:r>
          </a:p>
          <a:p>
            <a:pPr marL="285750" indent="-285750">
              <a:buFont typeface="Arial" panose="020B0604020202020204" pitchFamily="34" charset="0"/>
              <a:buChar char="•"/>
            </a:pPr>
            <a:r>
              <a:rPr lang="en-US" sz="2800" dirty="0"/>
              <a:t>And we can even do it for fancier settings! </a:t>
            </a:r>
            <a:r>
              <a:rPr lang="en-US" sz="1100" dirty="0"/>
              <a:t>(Under some assumptions.  Void where prohibited.)</a:t>
            </a:r>
          </a:p>
          <a:p>
            <a:pPr marL="742950" lvl="1" indent="-285750">
              <a:buFont typeface="Arial" panose="020B0604020202020204" pitchFamily="34" charset="0"/>
              <a:buChar char="•"/>
            </a:pPr>
            <a:r>
              <a:rPr lang="en-US" sz="2400" dirty="0">
                <a:solidFill>
                  <a:schemeClr val="accent1"/>
                </a:solidFill>
              </a:rPr>
              <a:t>Multiple instruments!  Continuous treatments! 2SLS! Neural Networks!</a:t>
            </a:r>
          </a:p>
        </p:txBody>
      </p:sp>
      <p:grpSp>
        <p:nvGrpSpPr>
          <p:cNvPr id="48" name="Group 47">
            <a:extLst>
              <a:ext uri="{FF2B5EF4-FFF2-40B4-BE49-F238E27FC236}">
                <a16:creationId xmlns:a16="http://schemas.microsoft.com/office/drawing/2014/main" id="{CFB12995-280F-7BF8-C8FE-8CCA3C54994A}"/>
              </a:ext>
            </a:extLst>
          </p:cNvPr>
          <p:cNvGrpSpPr/>
          <p:nvPr/>
        </p:nvGrpSpPr>
        <p:grpSpPr>
          <a:xfrm>
            <a:off x="5798356" y="6000417"/>
            <a:ext cx="2392741" cy="780537"/>
            <a:chOff x="6325101" y="74548"/>
            <a:chExt cx="5122260" cy="1670934"/>
          </a:xfrm>
        </p:grpSpPr>
        <p:pic>
          <p:nvPicPr>
            <p:cNvPr id="49" name="Picture 2" descr="Classical guitars hand made in Spain">
              <a:extLst>
                <a:ext uri="{FF2B5EF4-FFF2-40B4-BE49-F238E27FC236}">
                  <a16:creationId xmlns:a16="http://schemas.microsoft.com/office/drawing/2014/main" id="{2DDD5323-42FF-E1CD-B3A0-1C5E784B27FE}"/>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rot="19631259">
              <a:off x="9894541" y="74548"/>
              <a:ext cx="1552820" cy="1552820"/>
            </a:xfrm>
            <a:prstGeom prst="rect">
              <a:avLst/>
            </a:prstGeom>
            <a:noFill/>
            <a:extLst>
              <a:ext uri="{909E8E84-426E-40DD-AFC4-6F175D3DCCD1}">
                <a14:hiddenFill xmlns:a14="http://schemas.microsoft.com/office/drawing/2010/main">
                  <a:solidFill>
                    <a:srgbClr val="FFFFFF"/>
                  </a:solidFill>
                </a14:hiddenFill>
              </a:ext>
            </a:extLst>
          </p:spPr>
        </p:pic>
        <p:pic>
          <p:nvPicPr>
            <p:cNvPr id="50" name="Picture 2" descr="Hounder Black Red Honey Burst with Stiletto Hard Case">
              <a:extLst>
                <a:ext uri="{FF2B5EF4-FFF2-40B4-BE49-F238E27FC236}">
                  <a16:creationId xmlns:a16="http://schemas.microsoft.com/office/drawing/2014/main" id="{4E19ACA6-2B3D-F792-6CF5-68E78A832472}"/>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325101" y="156734"/>
              <a:ext cx="1533954" cy="1533954"/>
            </a:xfrm>
            <a:prstGeom prst="rect">
              <a:avLst/>
            </a:prstGeom>
            <a:noFill/>
            <a:effectLst/>
            <a:extLst>
              <a:ext uri="{909E8E84-426E-40DD-AFC4-6F175D3DCCD1}">
                <a14:hiddenFill xmlns:a14="http://schemas.microsoft.com/office/drawing/2010/main">
                  <a:solidFill>
                    <a:srgbClr val="FFFFFF"/>
                  </a:solidFill>
                </a14:hiddenFill>
              </a:ext>
            </a:extLst>
          </p:spPr>
        </p:pic>
        <p:pic>
          <p:nvPicPr>
            <p:cNvPr id="51" name="Picture 4" descr="Selmer Paris Reference 54 Alto Saxophone - Dark Gold Finish – SAX">
              <a:extLst>
                <a:ext uri="{FF2B5EF4-FFF2-40B4-BE49-F238E27FC236}">
                  <a16:creationId xmlns:a16="http://schemas.microsoft.com/office/drawing/2014/main" id="{B02DF31E-1675-AB28-D175-03E057CAAF4D}"/>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rot="557032" flipH="1">
              <a:off x="7441421" y="312765"/>
              <a:ext cx="1109885" cy="1432717"/>
            </a:xfrm>
            <a:prstGeom prst="rect">
              <a:avLst/>
            </a:prstGeom>
            <a:noFill/>
            <a:extLst>
              <a:ext uri="{909E8E84-426E-40DD-AFC4-6F175D3DCCD1}">
                <a14:hiddenFill xmlns:a14="http://schemas.microsoft.com/office/drawing/2010/main">
                  <a:solidFill>
                    <a:srgbClr val="FFFFFF"/>
                  </a:solidFill>
                </a14:hiddenFill>
              </a:ext>
            </a:extLst>
          </p:spPr>
        </p:pic>
        <p:pic>
          <p:nvPicPr>
            <p:cNvPr id="52" name="Picture 6" descr="DRUM KITS | TAMA Drums">
              <a:extLst>
                <a:ext uri="{FF2B5EF4-FFF2-40B4-BE49-F238E27FC236}">
                  <a16:creationId xmlns:a16="http://schemas.microsoft.com/office/drawing/2014/main" id="{63E7AD02-C529-8EEC-012D-5B2B059EB113}"/>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8210775" y="156734"/>
              <a:ext cx="2362200" cy="1388449"/>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22892290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7">
                                            <p:txEl>
                                              <p:pRg st="0" end="0"/>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7">
                                            <p:txEl>
                                              <p:pRg st="1" end="1"/>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7">
                                            <p:txEl>
                                              <p:pRg st="2" end="2"/>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47">
                                            <p:txEl>
                                              <p:pRg st="3" end="3"/>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bldLvl="2"/>
      <p:bldP spid="47" grpId="0" uiExpand="1" build="p"/>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362297-CAAF-58FC-EB30-003443BCEF4C}"/>
              </a:ext>
            </a:extLst>
          </p:cNvPr>
          <p:cNvSpPr>
            <a:spLocks noGrp="1"/>
          </p:cNvSpPr>
          <p:nvPr>
            <p:ph type="title"/>
          </p:nvPr>
        </p:nvSpPr>
        <p:spPr/>
        <p:txBody>
          <a:bodyPr/>
          <a:lstStyle/>
          <a:p>
            <a:r>
              <a:rPr lang="en-US" dirty="0"/>
              <a:t>More Returns to Education</a:t>
            </a:r>
            <a:br>
              <a:rPr lang="en-US" dirty="0"/>
            </a:br>
            <a:r>
              <a:rPr lang="en-US" sz="2800" dirty="0"/>
              <a:t>Regression Discontinuity!</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E14C673-6062-9A53-49CB-1458DF80FA5D}"/>
                  </a:ext>
                </a:extLst>
              </p:cNvPr>
              <p:cNvSpPr>
                <a:spLocks noGrp="1"/>
              </p:cNvSpPr>
              <p:nvPr>
                <p:ph idx="1"/>
              </p:nvPr>
            </p:nvSpPr>
            <p:spPr>
              <a:xfrm>
                <a:off x="903035" y="2217720"/>
                <a:ext cx="10530043" cy="4351338"/>
              </a:xfrm>
            </p:spPr>
            <p:txBody>
              <a:bodyPr/>
              <a:lstStyle/>
              <a:p>
                <a:r>
                  <a:rPr lang="en-US" dirty="0"/>
                  <a:t>RD idea:</a:t>
                </a:r>
              </a:p>
              <a:p>
                <a:pPr lvl="1"/>
                <a:r>
                  <a:rPr lang="en-US" dirty="0"/>
                  <a:t>Sharp cut-offs </a:t>
                </a:r>
                <a14:m>
                  <m:oMath xmlns:m="http://schemas.openxmlformats.org/officeDocument/2006/math">
                    <m:r>
                      <a:rPr lang="en-US" b="0" i="1" smtClean="0">
                        <a:latin typeface="Cambria Math" panose="02040503050406030204" pitchFamily="18" charset="0"/>
                      </a:rPr>
                      <m:t>⇒</m:t>
                    </m:r>
                  </m:oMath>
                </a14:m>
                <a:r>
                  <a:rPr lang="en-US" dirty="0"/>
                  <a:t> Natural experiment!</a:t>
                </a:r>
              </a:p>
            </p:txBody>
          </p:sp>
        </mc:Choice>
        <mc:Fallback xmlns="">
          <p:sp>
            <p:nvSpPr>
              <p:cNvPr id="3" name="Content Placeholder 2">
                <a:extLst>
                  <a:ext uri="{FF2B5EF4-FFF2-40B4-BE49-F238E27FC236}">
                    <a16:creationId xmlns:a16="http://schemas.microsoft.com/office/drawing/2014/main" id="{8E14C673-6062-9A53-49CB-1458DF80FA5D}"/>
                  </a:ext>
                </a:extLst>
              </p:cNvPr>
              <p:cNvSpPr>
                <a:spLocks noGrp="1" noRot="1" noChangeAspect="1" noMove="1" noResize="1" noEditPoints="1" noAdjustHandles="1" noChangeArrowheads="1" noChangeShapeType="1" noTextEdit="1"/>
              </p:cNvSpPr>
              <p:nvPr>
                <p:ph idx="1"/>
              </p:nvPr>
            </p:nvSpPr>
            <p:spPr>
              <a:xfrm>
                <a:off x="903035" y="2217720"/>
                <a:ext cx="10530043" cy="4351338"/>
              </a:xfrm>
              <a:blipFill>
                <a:blip r:embed="rId3"/>
                <a:stretch>
                  <a:fillRect l="-1084" t="-2326"/>
                </a:stretch>
              </a:blipFill>
            </p:spPr>
            <p:txBody>
              <a:bodyPr/>
              <a:lstStyle/>
              <a:p>
                <a:r>
                  <a:rPr lang="en-US">
                    <a:noFill/>
                  </a:rPr>
                  <a:t> </a:t>
                </a:r>
              </a:p>
            </p:txBody>
          </p:sp>
        </mc:Fallback>
      </mc:AlternateContent>
      <p:grpSp>
        <p:nvGrpSpPr>
          <p:cNvPr id="43" name="Group 42">
            <a:extLst>
              <a:ext uri="{FF2B5EF4-FFF2-40B4-BE49-F238E27FC236}">
                <a16:creationId xmlns:a16="http://schemas.microsoft.com/office/drawing/2014/main" id="{D2AE9D40-E3F8-20BF-F5A3-9834CA5E2AAE}"/>
              </a:ext>
            </a:extLst>
          </p:cNvPr>
          <p:cNvGrpSpPr/>
          <p:nvPr/>
        </p:nvGrpSpPr>
        <p:grpSpPr>
          <a:xfrm>
            <a:off x="7880248" y="977607"/>
            <a:ext cx="3741611" cy="2241610"/>
            <a:chOff x="406401" y="4382260"/>
            <a:chExt cx="3741611" cy="2241610"/>
          </a:xfrm>
        </p:grpSpPr>
        <p:grpSp>
          <p:nvGrpSpPr>
            <p:cNvPr id="4" name="Group 3">
              <a:extLst>
                <a:ext uri="{FF2B5EF4-FFF2-40B4-BE49-F238E27FC236}">
                  <a16:creationId xmlns:a16="http://schemas.microsoft.com/office/drawing/2014/main" id="{5B28A8E5-7DF2-D999-E006-4F6B5C01CC11}"/>
                </a:ext>
              </a:extLst>
            </p:cNvPr>
            <p:cNvGrpSpPr/>
            <p:nvPr/>
          </p:nvGrpSpPr>
          <p:grpSpPr>
            <a:xfrm>
              <a:off x="406401" y="4414432"/>
              <a:ext cx="3741611" cy="2209438"/>
              <a:chOff x="787913" y="4465122"/>
              <a:chExt cx="4001424" cy="2362858"/>
            </a:xfrm>
          </p:grpSpPr>
          <p:grpSp>
            <p:nvGrpSpPr>
              <p:cNvPr id="5" name="Group 4">
                <a:extLst>
                  <a:ext uri="{FF2B5EF4-FFF2-40B4-BE49-F238E27FC236}">
                    <a16:creationId xmlns:a16="http://schemas.microsoft.com/office/drawing/2014/main" id="{C6FA96D6-A1C5-A230-4FF6-4F54A027CEDA}"/>
                  </a:ext>
                </a:extLst>
              </p:cNvPr>
              <p:cNvGrpSpPr/>
              <p:nvPr/>
            </p:nvGrpSpPr>
            <p:grpSpPr>
              <a:xfrm>
                <a:off x="1187532" y="4465122"/>
                <a:ext cx="3384468" cy="2054431"/>
                <a:chOff x="1187532" y="4465122"/>
                <a:chExt cx="3384468" cy="2054431"/>
              </a:xfrm>
            </p:grpSpPr>
            <p:cxnSp>
              <p:nvCxnSpPr>
                <p:cNvPr id="8" name="Straight Connector 7">
                  <a:extLst>
                    <a:ext uri="{FF2B5EF4-FFF2-40B4-BE49-F238E27FC236}">
                      <a16:creationId xmlns:a16="http://schemas.microsoft.com/office/drawing/2014/main" id="{F053818F-A4FC-D851-7C9B-59BDBE0DAC09}"/>
                    </a:ext>
                  </a:extLst>
                </p:cNvPr>
                <p:cNvCxnSpPr>
                  <a:cxnSpLocks/>
                </p:cNvCxnSpPr>
                <p:nvPr/>
              </p:nvCxnSpPr>
              <p:spPr>
                <a:xfrm>
                  <a:off x="1187532" y="4465122"/>
                  <a:ext cx="0" cy="2054431"/>
                </a:xfrm>
                <a:prstGeom prst="line">
                  <a:avLst/>
                </a:prstGeom>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90CC70FA-D0EC-22D0-DD3B-686CB6A3567F}"/>
                    </a:ext>
                  </a:extLst>
                </p:cNvPr>
                <p:cNvCxnSpPr>
                  <a:cxnSpLocks/>
                </p:cNvCxnSpPr>
                <p:nvPr/>
              </p:nvCxnSpPr>
              <p:spPr>
                <a:xfrm flipH="1">
                  <a:off x="1187532" y="6492875"/>
                  <a:ext cx="3384468" cy="26678"/>
                </a:xfrm>
                <a:prstGeom prst="line">
                  <a:avLst/>
                </a:prstGeom>
              </p:spPr>
              <p:style>
                <a:lnRef idx="2">
                  <a:schemeClr val="accent1"/>
                </a:lnRef>
                <a:fillRef idx="0">
                  <a:schemeClr val="accent1"/>
                </a:fillRef>
                <a:effectRef idx="1">
                  <a:schemeClr val="accent1"/>
                </a:effectRef>
                <a:fontRef idx="minor">
                  <a:schemeClr val="tx1"/>
                </a:fontRef>
              </p:style>
            </p:cxnSp>
          </p:grpSp>
          <p:sp>
            <p:nvSpPr>
              <p:cNvPr id="6" name="TextBox 5">
                <a:extLst>
                  <a:ext uri="{FF2B5EF4-FFF2-40B4-BE49-F238E27FC236}">
                    <a16:creationId xmlns:a16="http://schemas.microsoft.com/office/drawing/2014/main" id="{F9849FCA-E6F1-151A-34C8-94E960DE4A81}"/>
                  </a:ext>
                </a:extLst>
              </p:cNvPr>
              <p:cNvSpPr txBox="1"/>
              <p:nvPr/>
            </p:nvSpPr>
            <p:spPr>
              <a:xfrm>
                <a:off x="3518344" y="6498831"/>
                <a:ext cx="1270993" cy="329149"/>
              </a:xfrm>
              <a:prstGeom prst="rect">
                <a:avLst/>
              </a:prstGeom>
              <a:noFill/>
            </p:spPr>
            <p:txBody>
              <a:bodyPr wrap="none" rtlCol="0">
                <a:spAutoFit/>
              </a:bodyPr>
              <a:lstStyle/>
              <a:p>
                <a:r>
                  <a:rPr lang="en-US" sz="1400" dirty="0">
                    <a:solidFill>
                      <a:schemeClr val="accent1"/>
                    </a:solidFill>
                  </a:rPr>
                  <a:t>Z (SAT Score)</a:t>
                </a:r>
              </a:p>
            </p:txBody>
          </p:sp>
          <p:sp>
            <p:nvSpPr>
              <p:cNvPr id="7" name="TextBox 6">
                <a:extLst>
                  <a:ext uri="{FF2B5EF4-FFF2-40B4-BE49-F238E27FC236}">
                    <a16:creationId xmlns:a16="http://schemas.microsoft.com/office/drawing/2014/main" id="{1D520A79-F2AD-0D7A-8B74-5B14C6996250}"/>
                  </a:ext>
                </a:extLst>
              </p:cNvPr>
              <p:cNvSpPr txBox="1"/>
              <p:nvPr/>
            </p:nvSpPr>
            <p:spPr>
              <a:xfrm rot="16200000">
                <a:off x="289251" y="5109152"/>
                <a:ext cx="1366656" cy="369332"/>
              </a:xfrm>
              <a:prstGeom prst="rect">
                <a:avLst/>
              </a:prstGeom>
              <a:noFill/>
            </p:spPr>
            <p:txBody>
              <a:bodyPr wrap="none" rtlCol="0">
                <a:spAutoFit/>
              </a:bodyPr>
              <a:lstStyle/>
              <a:p>
                <a:r>
                  <a:rPr lang="en-US" dirty="0">
                    <a:solidFill>
                      <a:schemeClr val="accent1"/>
                    </a:solidFill>
                  </a:rPr>
                  <a:t>ln(Earnings)</a:t>
                </a:r>
              </a:p>
            </p:txBody>
          </p:sp>
        </p:grpSp>
        <p:grpSp>
          <p:nvGrpSpPr>
            <p:cNvPr id="10" name="Group 9">
              <a:extLst>
                <a:ext uri="{FF2B5EF4-FFF2-40B4-BE49-F238E27FC236}">
                  <a16:creationId xmlns:a16="http://schemas.microsoft.com/office/drawing/2014/main" id="{0FE43EEF-1742-08A8-834B-53A937706F5A}"/>
                </a:ext>
              </a:extLst>
            </p:cNvPr>
            <p:cNvGrpSpPr/>
            <p:nvPr/>
          </p:nvGrpSpPr>
          <p:grpSpPr>
            <a:xfrm>
              <a:off x="2120989" y="4560729"/>
              <a:ext cx="587193" cy="2029956"/>
              <a:chOff x="10078499" y="4557566"/>
              <a:chExt cx="587193" cy="2029956"/>
            </a:xfrm>
          </p:grpSpPr>
          <p:cxnSp>
            <p:nvCxnSpPr>
              <p:cNvPr id="11" name="Straight Connector 10">
                <a:extLst>
                  <a:ext uri="{FF2B5EF4-FFF2-40B4-BE49-F238E27FC236}">
                    <a16:creationId xmlns:a16="http://schemas.microsoft.com/office/drawing/2014/main" id="{138E8643-6916-5D3D-81E3-CF240E26F4B6}"/>
                  </a:ext>
                </a:extLst>
              </p:cNvPr>
              <p:cNvCxnSpPr>
                <a:cxnSpLocks/>
              </p:cNvCxnSpPr>
              <p:nvPr/>
            </p:nvCxnSpPr>
            <p:spPr>
              <a:xfrm flipV="1">
                <a:off x="10374513" y="4557566"/>
                <a:ext cx="0" cy="1744972"/>
              </a:xfrm>
              <a:prstGeom prst="line">
                <a:avLst/>
              </a:prstGeom>
              <a:ln>
                <a:prstDash val="dash"/>
              </a:ln>
            </p:spPr>
            <p:style>
              <a:lnRef idx="2">
                <a:schemeClr val="accent1"/>
              </a:lnRef>
              <a:fillRef idx="0">
                <a:schemeClr val="accent1"/>
              </a:fillRef>
              <a:effectRef idx="1">
                <a:schemeClr val="accent1"/>
              </a:effectRef>
              <a:fontRef idx="minor">
                <a:schemeClr val="tx1"/>
              </a:fontRef>
            </p:style>
          </p:cxnSp>
          <p:sp>
            <p:nvSpPr>
              <p:cNvPr id="12" name="TextBox 11">
                <a:extLst>
                  <a:ext uri="{FF2B5EF4-FFF2-40B4-BE49-F238E27FC236}">
                    <a16:creationId xmlns:a16="http://schemas.microsoft.com/office/drawing/2014/main" id="{120C7AC6-441D-342C-2FAC-C2124829AD09}"/>
                  </a:ext>
                </a:extLst>
              </p:cNvPr>
              <p:cNvSpPr txBox="1"/>
              <p:nvPr/>
            </p:nvSpPr>
            <p:spPr>
              <a:xfrm>
                <a:off x="10078499" y="6310523"/>
                <a:ext cx="587193" cy="276999"/>
              </a:xfrm>
              <a:prstGeom prst="rect">
                <a:avLst/>
              </a:prstGeom>
              <a:noFill/>
            </p:spPr>
            <p:txBody>
              <a:bodyPr wrap="square" rtlCol="0">
                <a:spAutoFit/>
              </a:bodyPr>
              <a:lstStyle/>
              <a:p>
                <a:r>
                  <a:rPr lang="en-US" sz="1200" dirty="0">
                    <a:solidFill>
                      <a:schemeClr val="accent1"/>
                    </a:solidFill>
                  </a:rPr>
                  <a:t>1300</a:t>
                </a:r>
              </a:p>
            </p:txBody>
          </p:sp>
        </p:grpSp>
        <p:sp>
          <p:nvSpPr>
            <p:cNvPr id="13" name="Freeform 12">
              <a:extLst>
                <a:ext uri="{FF2B5EF4-FFF2-40B4-BE49-F238E27FC236}">
                  <a16:creationId xmlns:a16="http://schemas.microsoft.com/office/drawing/2014/main" id="{39C3CA52-6391-07B0-9E96-5A00C41CEDFB}"/>
                </a:ext>
              </a:extLst>
            </p:cNvPr>
            <p:cNvSpPr/>
            <p:nvPr/>
          </p:nvSpPr>
          <p:spPr>
            <a:xfrm>
              <a:off x="853440" y="5608320"/>
              <a:ext cx="1560576" cy="505779"/>
            </a:xfrm>
            <a:custGeom>
              <a:avLst/>
              <a:gdLst>
                <a:gd name="connsiteX0" fmla="*/ 0 w 1560576"/>
                <a:gd name="connsiteY0" fmla="*/ 475488 h 505779"/>
                <a:gd name="connsiteX1" fmla="*/ 402336 w 1560576"/>
                <a:gd name="connsiteY1" fmla="*/ 499872 h 505779"/>
                <a:gd name="connsiteX2" fmla="*/ 1085088 w 1560576"/>
                <a:gd name="connsiteY2" fmla="*/ 377952 h 505779"/>
                <a:gd name="connsiteX3" fmla="*/ 1560576 w 1560576"/>
                <a:gd name="connsiteY3" fmla="*/ 0 h 505779"/>
              </a:gdLst>
              <a:ahLst/>
              <a:cxnLst>
                <a:cxn ang="0">
                  <a:pos x="connsiteX0" y="connsiteY0"/>
                </a:cxn>
                <a:cxn ang="0">
                  <a:pos x="connsiteX1" y="connsiteY1"/>
                </a:cxn>
                <a:cxn ang="0">
                  <a:pos x="connsiteX2" y="connsiteY2"/>
                </a:cxn>
                <a:cxn ang="0">
                  <a:pos x="connsiteX3" y="connsiteY3"/>
                </a:cxn>
              </a:cxnLst>
              <a:rect l="l" t="t" r="r" b="b"/>
              <a:pathLst>
                <a:path w="1560576" h="505779">
                  <a:moveTo>
                    <a:pt x="0" y="475488"/>
                  </a:moveTo>
                  <a:cubicBezTo>
                    <a:pt x="110744" y="495808"/>
                    <a:pt x="221488" y="516128"/>
                    <a:pt x="402336" y="499872"/>
                  </a:cubicBezTo>
                  <a:cubicBezTo>
                    <a:pt x="583184" y="483616"/>
                    <a:pt x="892048" y="461264"/>
                    <a:pt x="1085088" y="377952"/>
                  </a:cubicBezTo>
                  <a:cubicBezTo>
                    <a:pt x="1278128" y="294640"/>
                    <a:pt x="1419352" y="147320"/>
                    <a:pt x="1560576" y="0"/>
                  </a:cubicBezTo>
                </a:path>
              </a:pathLst>
            </a:custGeom>
            <a:ln w="38100">
              <a:solidFill>
                <a:schemeClr val="accent6"/>
              </a:solidFill>
            </a:ln>
          </p:spPr>
          <p:style>
            <a:lnRef idx="1">
              <a:schemeClr val="accent2"/>
            </a:lnRef>
            <a:fillRef idx="0">
              <a:schemeClr val="accent2"/>
            </a:fillRef>
            <a:effectRef idx="0">
              <a:schemeClr val="accent2"/>
            </a:effectRef>
            <a:fontRef idx="minor">
              <a:schemeClr val="tx1"/>
            </a:fontRef>
          </p:style>
          <p:txBody>
            <a:bodyPr rtlCol="0" anchor="ctr"/>
            <a:lstStyle/>
            <a:p>
              <a:pPr algn="ctr"/>
              <a:endParaRPr lang="en-US"/>
            </a:p>
          </p:txBody>
        </p:sp>
        <p:sp>
          <p:nvSpPr>
            <p:cNvPr id="14" name="Freeform 13">
              <a:extLst>
                <a:ext uri="{FF2B5EF4-FFF2-40B4-BE49-F238E27FC236}">
                  <a16:creationId xmlns:a16="http://schemas.microsoft.com/office/drawing/2014/main" id="{0C4BEABB-DD8F-9986-F6F2-36636DBAC27E}"/>
                </a:ext>
              </a:extLst>
            </p:cNvPr>
            <p:cNvSpPr/>
            <p:nvPr/>
          </p:nvSpPr>
          <p:spPr>
            <a:xfrm>
              <a:off x="2377440" y="4447787"/>
              <a:ext cx="1536192" cy="538741"/>
            </a:xfrm>
            <a:custGeom>
              <a:avLst/>
              <a:gdLst>
                <a:gd name="connsiteX0" fmla="*/ 0 w 1536192"/>
                <a:gd name="connsiteY0" fmla="*/ 538741 h 538741"/>
                <a:gd name="connsiteX1" fmla="*/ 341376 w 1536192"/>
                <a:gd name="connsiteY1" fmla="*/ 258325 h 538741"/>
                <a:gd name="connsiteX2" fmla="*/ 841248 w 1536192"/>
                <a:gd name="connsiteY2" fmla="*/ 26677 h 538741"/>
                <a:gd name="connsiteX3" fmla="*/ 1536192 w 1536192"/>
                <a:gd name="connsiteY3" fmla="*/ 14485 h 538741"/>
              </a:gdLst>
              <a:ahLst/>
              <a:cxnLst>
                <a:cxn ang="0">
                  <a:pos x="connsiteX0" y="connsiteY0"/>
                </a:cxn>
                <a:cxn ang="0">
                  <a:pos x="connsiteX1" y="connsiteY1"/>
                </a:cxn>
                <a:cxn ang="0">
                  <a:pos x="connsiteX2" y="connsiteY2"/>
                </a:cxn>
                <a:cxn ang="0">
                  <a:pos x="connsiteX3" y="connsiteY3"/>
                </a:cxn>
              </a:cxnLst>
              <a:rect l="l" t="t" r="r" b="b"/>
              <a:pathLst>
                <a:path w="1536192" h="538741">
                  <a:moveTo>
                    <a:pt x="0" y="538741"/>
                  </a:moveTo>
                  <a:cubicBezTo>
                    <a:pt x="100584" y="441205"/>
                    <a:pt x="201168" y="343669"/>
                    <a:pt x="341376" y="258325"/>
                  </a:cubicBezTo>
                  <a:cubicBezTo>
                    <a:pt x="481584" y="172981"/>
                    <a:pt x="642112" y="67317"/>
                    <a:pt x="841248" y="26677"/>
                  </a:cubicBezTo>
                  <a:cubicBezTo>
                    <a:pt x="1040384" y="-13963"/>
                    <a:pt x="1288288" y="261"/>
                    <a:pt x="1536192" y="14485"/>
                  </a:cubicBezTo>
                </a:path>
              </a:pathLst>
            </a:custGeom>
            <a:ln w="38100">
              <a:solidFill>
                <a:schemeClr val="accent6"/>
              </a:solidFill>
            </a:ln>
          </p:spPr>
          <p:style>
            <a:lnRef idx="1">
              <a:schemeClr val="accent2"/>
            </a:lnRef>
            <a:fillRef idx="0">
              <a:schemeClr val="accent2"/>
            </a:fillRef>
            <a:effectRef idx="0">
              <a:schemeClr val="accent2"/>
            </a:effectRef>
            <a:fontRef idx="minor">
              <a:schemeClr val="tx1"/>
            </a:fontRef>
          </p:style>
          <p:txBody>
            <a:bodyPr rtlCol="0" anchor="ctr"/>
            <a:lstStyle/>
            <a:p>
              <a:pPr algn="ctr"/>
              <a:endParaRPr lang="en-US"/>
            </a:p>
          </p:txBody>
        </p:sp>
        <p:grpSp>
          <p:nvGrpSpPr>
            <p:cNvPr id="15" name="Group 14">
              <a:extLst>
                <a:ext uri="{FF2B5EF4-FFF2-40B4-BE49-F238E27FC236}">
                  <a16:creationId xmlns:a16="http://schemas.microsoft.com/office/drawing/2014/main" id="{2EBD8831-EC15-3666-2C8F-076170BC2D66}"/>
                </a:ext>
              </a:extLst>
            </p:cNvPr>
            <p:cNvGrpSpPr/>
            <p:nvPr/>
          </p:nvGrpSpPr>
          <p:grpSpPr>
            <a:xfrm>
              <a:off x="804204" y="5667821"/>
              <a:ext cx="1527080" cy="521157"/>
              <a:chOff x="4866675" y="5775421"/>
              <a:chExt cx="1527080" cy="521157"/>
            </a:xfrm>
          </p:grpSpPr>
          <p:sp>
            <p:nvSpPr>
              <p:cNvPr id="16" name="Oval 15">
                <a:extLst>
                  <a:ext uri="{FF2B5EF4-FFF2-40B4-BE49-F238E27FC236}">
                    <a16:creationId xmlns:a16="http://schemas.microsoft.com/office/drawing/2014/main" id="{7D92F78A-4D6F-773F-73D1-FD9782B3EDCF}"/>
                  </a:ext>
                </a:extLst>
              </p:cNvPr>
              <p:cNvSpPr/>
              <p:nvPr/>
            </p:nvSpPr>
            <p:spPr>
              <a:xfrm>
                <a:off x="4866675" y="6170146"/>
                <a:ext cx="84924" cy="8492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DCF394C5-9338-0D7A-5C13-354261746392}"/>
                  </a:ext>
                </a:extLst>
              </p:cNvPr>
              <p:cNvSpPr/>
              <p:nvPr/>
            </p:nvSpPr>
            <p:spPr>
              <a:xfrm>
                <a:off x="5068271" y="6101692"/>
                <a:ext cx="84924" cy="8492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AB140E4F-A9E9-3399-92B9-EDE1D59989D5}"/>
                  </a:ext>
                </a:extLst>
              </p:cNvPr>
              <p:cNvSpPr/>
              <p:nvPr/>
            </p:nvSpPr>
            <p:spPr>
              <a:xfrm>
                <a:off x="5269866" y="6144154"/>
                <a:ext cx="84924" cy="8492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968D2525-87A6-7C76-7324-94E256EDA840}"/>
                  </a:ext>
                </a:extLst>
              </p:cNvPr>
              <p:cNvSpPr/>
              <p:nvPr/>
            </p:nvSpPr>
            <p:spPr>
              <a:xfrm>
                <a:off x="5461151" y="6067307"/>
                <a:ext cx="84924" cy="8492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F9A5FB6A-E703-7594-D59F-C4AD7C0D4320}"/>
                  </a:ext>
                </a:extLst>
              </p:cNvPr>
              <p:cNvSpPr/>
              <p:nvPr/>
            </p:nvSpPr>
            <p:spPr>
              <a:xfrm>
                <a:off x="5663360" y="6099999"/>
                <a:ext cx="84924" cy="8492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1D4E060A-F05D-3B2B-0C7E-D51DFB81978F}"/>
                  </a:ext>
                </a:extLst>
              </p:cNvPr>
              <p:cNvSpPr/>
              <p:nvPr/>
            </p:nvSpPr>
            <p:spPr>
              <a:xfrm>
                <a:off x="5823106" y="6158695"/>
                <a:ext cx="84924" cy="8492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2AD5E989-7D6F-3966-122E-E75C869F2C90}"/>
                  </a:ext>
                </a:extLst>
              </p:cNvPr>
              <p:cNvSpPr/>
              <p:nvPr/>
            </p:nvSpPr>
            <p:spPr>
              <a:xfrm>
                <a:off x="5904119" y="5987887"/>
                <a:ext cx="84924" cy="8492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634B3A72-2D70-6AD3-D9EB-9963878FF714}"/>
                  </a:ext>
                </a:extLst>
              </p:cNvPr>
              <p:cNvSpPr/>
              <p:nvPr/>
            </p:nvSpPr>
            <p:spPr>
              <a:xfrm>
                <a:off x="6056853" y="6025367"/>
                <a:ext cx="84924" cy="8492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E66E1FEE-E1B5-3FB7-B17F-608D3717F5A3}"/>
                  </a:ext>
                </a:extLst>
              </p:cNvPr>
              <p:cNvSpPr/>
              <p:nvPr/>
            </p:nvSpPr>
            <p:spPr>
              <a:xfrm>
                <a:off x="6145483" y="5860345"/>
                <a:ext cx="84924" cy="8492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74241B1E-DA42-D87B-773B-56C671694D6A}"/>
                  </a:ext>
                </a:extLst>
              </p:cNvPr>
              <p:cNvSpPr/>
              <p:nvPr/>
            </p:nvSpPr>
            <p:spPr>
              <a:xfrm>
                <a:off x="6307466" y="5775421"/>
                <a:ext cx="84924" cy="8492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E2901FF4-C035-6BD2-B815-61FF891ACD31}"/>
                  </a:ext>
                </a:extLst>
              </p:cNvPr>
              <p:cNvSpPr/>
              <p:nvPr/>
            </p:nvSpPr>
            <p:spPr>
              <a:xfrm>
                <a:off x="6308831" y="5908348"/>
                <a:ext cx="84924" cy="8492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4BC64577-631F-6F21-1412-FDDA5CC19278}"/>
                  </a:ext>
                </a:extLst>
              </p:cNvPr>
              <p:cNvSpPr/>
              <p:nvPr/>
            </p:nvSpPr>
            <p:spPr>
              <a:xfrm>
                <a:off x="5511829" y="6211654"/>
                <a:ext cx="84924" cy="8492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8" name="Group 27">
              <a:extLst>
                <a:ext uri="{FF2B5EF4-FFF2-40B4-BE49-F238E27FC236}">
                  <a16:creationId xmlns:a16="http://schemas.microsoft.com/office/drawing/2014/main" id="{A0F03D7B-2FDF-78F8-F37D-E9A22345AFE4}"/>
                </a:ext>
              </a:extLst>
            </p:cNvPr>
            <p:cNvGrpSpPr/>
            <p:nvPr/>
          </p:nvGrpSpPr>
          <p:grpSpPr>
            <a:xfrm>
              <a:off x="2438347" y="4382260"/>
              <a:ext cx="1434576" cy="623811"/>
              <a:chOff x="6517793" y="4970356"/>
              <a:chExt cx="1434576" cy="623811"/>
            </a:xfrm>
          </p:grpSpPr>
          <p:sp>
            <p:nvSpPr>
              <p:cNvPr id="29" name="Oval 28">
                <a:extLst>
                  <a:ext uri="{FF2B5EF4-FFF2-40B4-BE49-F238E27FC236}">
                    <a16:creationId xmlns:a16="http://schemas.microsoft.com/office/drawing/2014/main" id="{55FA2539-82B6-07B4-8BD9-D1514029E87E}"/>
                  </a:ext>
                </a:extLst>
              </p:cNvPr>
              <p:cNvSpPr/>
              <p:nvPr/>
            </p:nvSpPr>
            <p:spPr>
              <a:xfrm>
                <a:off x="6517793" y="5509243"/>
                <a:ext cx="84924" cy="8492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a:extLst>
                  <a:ext uri="{FF2B5EF4-FFF2-40B4-BE49-F238E27FC236}">
                    <a16:creationId xmlns:a16="http://schemas.microsoft.com/office/drawing/2014/main" id="{78AF6E51-6FDA-30FF-1A74-505B1BC288E3}"/>
                  </a:ext>
                </a:extLst>
              </p:cNvPr>
              <p:cNvSpPr/>
              <p:nvPr/>
            </p:nvSpPr>
            <p:spPr>
              <a:xfrm>
                <a:off x="6561833" y="5370951"/>
                <a:ext cx="84924" cy="8492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CC508222-435A-E561-8D70-80A5C894FCAB}"/>
                  </a:ext>
                </a:extLst>
              </p:cNvPr>
              <p:cNvSpPr/>
              <p:nvPr/>
            </p:nvSpPr>
            <p:spPr>
              <a:xfrm>
                <a:off x="6722453" y="5259150"/>
                <a:ext cx="84924" cy="8492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FD4AB97E-750E-7F24-B19C-5E189CCF9CBA}"/>
                  </a:ext>
                </a:extLst>
              </p:cNvPr>
              <p:cNvSpPr/>
              <p:nvPr/>
            </p:nvSpPr>
            <p:spPr>
              <a:xfrm>
                <a:off x="6807377" y="5139917"/>
                <a:ext cx="84924" cy="8492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77B5A33A-60CF-C334-EC9C-834F5D345A24}"/>
                  </a:ext>
                </a:extLst>
              </p:cNvPr>
              <p:cNvSpPr/>
              <p:nvPr/>
            </p:nvSpPr>
            <p:spPr>
              <a:xfrm>
                <a:off x="6957127" y="5211671"/>
                <a:ext cx="84924" cy="8492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BC84E416-16C9-FE83-339D-B22B8A9BE11F}"/>
                  </a:ext>
                </a:extLst>
              </p:cNvPr>
              <p:cNvSpPr/>
              <p:nvPr/>
            </p:nvSpPr>
            <p:spPr>
              <a:xfrm>
                <a:off x="7122217" y="5097455"/>
                <a:ext cx="84924" cy="8492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A9662FF1-23B4-B853-E9EF-EEA815913D41}"/>
                  </a:ext>
                </a:extLst>
              </p:cNvPr>
              <p:cNvSpPr/>
              <p:nvPr/>
            </p:nvSpPr>
            <p:spPr>
              <a:xfrm>
                <a:off x="7322689" y="5016081"/>
                <a:ext cx="84924" cy="8492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Oval 35">
                <a:extLst>
                  <a:ext uri="{FF2B5EF4-FFF2-40B4-BE49-F238E27FC236}">
                    <a16:creationId xmlns:a16="http://schemas.microsoft.com/office/drawing/2014/main" id="{16139785-7D34-5919-CE2E-DA2054210510}"/>
                  </a:ext>
                </a:extLst>
              </p:cNvPr>
              <p:cNvSpPr/>
              <p:nvPr/>
            </p:nvSpPr>
            <p:spPr>
              <a:xfrm>
                <a:off x="7480699" y="5049702"/>
                <a:ext cx="84924" cy="8492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a:extLst>
                  <a:ext uri="{FF2B5EF4-FFF2-40B4-BE49-F238E27FC236}">
                    <a16:creationId xmlns:a16="http://schemas.microsoft.com/office/drawing/2014/main" id="{1A9285CB-8909-F059-9376-97699CEF9637}"/>
                  </a:ext>
                </a:extLst>
              </p:cNvPr>
              <p:cNvSpPr/>
              <p:nvPr/>
            </p:nvSpPr>
            <p:spPr>
              <a:xfrm>
                <a:off x="7637529" y="4970356"/>
                <a:ext cx="84924" cy="8492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Oval 37">
                <a:extLst>
                  <a:ext uri="{FF2B5EF4-FFF2-40B4-BE49-F238E27FC236}">
                    <a16:creationId xmlns:a16="http://schemas.microsoft.com/office/drawing/2014/main" id="{0C38C099-3AC8-BE3D-0887-19AD44123738}"/>
                  </a:ext>
                </a:extLst>
              </p:cNvPr>
              <p:cNvSpPr/>
              <p:nvPr/>
            </p:nvSpPr>
            <p:spPr>
              <a:xfrm>
                <a:off x="7690656" y="5120768"/>
                <a:ext cx="84924" cy="8492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Oval 38">
                <a:extLst>
                  <a:ext uri="{FF2B5EF4-FFF2-40B4-BE49-F238E27FC236}">
                    <a16:creationId xmlns:a16="http://schemas.microsoft.com/office/drawing/2014/main" id="{4D01BB27-7964-08FA-F619-4E69B1C5C346}"/>
                  </a:ext>
                </a:extLst>
              </p:cNvPr>
              <p:cNvSpPr/>
              <p:nvPr/>
            </p:nvSpPr>
            <p:spPr>
              <a:xfrm>
                <a:off x="7867445" y="5007239"/>
                <a:ext cx="84924" cy="8492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Oval 39">
                <a:extLst>
                  <a:ext uri="{FF2B5EF4-FFF2-40B4-BE49-F238E27FC236}">
                    <a16:creationId xmlns:a16="http://schemas.microsoft.com/office/drawing/2014/main" id="{9A9D322C-6055-EB2A-29FF-2266DD8E405E}"/>
                  </a:ext>
                </a:extLst>
              </p:cNvPr>
              <p:cNvSpPr/>
              <p:nvPr/>
            </p:nvSpPr>
            <p:spPr>
              <a:xfrm>
                <a:off x="6709758" y="5413412"/>
                <a:ext cx="84924" cy="8492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1" name="Right Brace 40">
              <a:extLst>
                <a:ext uri="{FF2B5EF4-FFF2-40B4-BE49-F238E27FC236}">
                  <a16:creationId xmlns:a16="http://schemas.microsoft.com/office/drawing/2014/main" id="{D90825B8-C98B-5B2B-22AF-EF229FF7884B}"/>
                </a:ext>
              </a:extLst>
            </p:cNvPr>
            <p:cNvSpPr/>
            <p:nvPr/>
          </p:nvSpPr>
          <p:spPr>
            <a:xfrm flipH="1">
              <a:off x="1917758" y="5049458"/>
              <a:ext cx="436926" cy="456017"/>
            </a:xfrm>
            <a:prstGeom prst="rightBrace">
              <a:avLst/>
            </a:prstGeom>
            <a:ln w="19050">
              <a:solidFill>
                <a:schemeClr val="accent2"/>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E993F789-6F37-D113-8DAC-CD74DA4C5A42}"/>
                    </a:ext>
                  </a:extLst>
                </p:cNvPr>
                <p:cNvSpPr txBox="1"/>
                <p:nvPr/>
              </p:nvSpPr>
              <p:spPr>
                <a:xfrm>
                  <a:off x="1622062" y="5080616"/>
                  <a:ext cx="388247" cy="38420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acc>
                          <m:accPr>
                            <m:chr m:val="̂"/>
                            <m:ctrlPr>
                              <a:rPr lang="en-US" i="1" smtClean="0">
                                <a:solidFill>
                                  <a:schemeClr val="accent2"/>
                                </a:solidFill>
                                <a:latin typeface="Cambria Math" panose="02040503050406030204" pitchFamily="18" charset="0"/>
                              </a:rPr>
                            </m:ctrlPr>
                          </m:accPr>
                          <m:e>
                            <m:r>
                              <a:rPr lang="en-US" b="0" i="1" smtClean="0">
                                <a:solidFill>
                                  <a:schemeClr val="accent2"/>
                                </a:solidFill>
                                <a:latin typeface="Cambria Math" panose="02040503050406030204" pitchFamily="18" charset="0"/>
                              </a:rPr>
                              <m:t>𝛽</m:t>
                            </m:r>
                          </m:e>
                        </m:acc>
                      </m:oMath>
                    </m:oMathPara>
                  </a14:m>
                  <a:endParaRPr lang="en-US" dirty="0">
                    <a:solidFill>
                      <a:schemeClr val="accent2"/>
                    </a:solidFill>
                  </a:endParaRPr>
                </a:p>
              </p:txBody>
            </p:sp>
          </mc:Choice>
          <mc:Fallback xmlns="">
            <p:sp>
              <p:nvSpPr>
                <p:cNvPr id="42" name="TextBox 41">
                  <a:extLst>
                    <a:ext uri="{FF2B5EF4-FFF2-40B4-BE49-F238E27FC236}">
                      <a16:creationId xmlns:a16="http://schemas.microsoft.com/office/drawing/2014/main" id="{E993F789-6F37-D113-8DAC-CD74DA4C5A42}"/>
                    </a:ext>
                  </a:extLst>
                </p:cNvPr>
                <p:cNvSpPr txBox="1">
                  <a:spLocks noRot="1" noChangeAspect="1" noMove="1" noResize="1" noEditPoints="1" noAdjustHandles="1" noChangeArrowheads="1" noChangeShapeType="1" noTextEdit="1"/>
                </p:cNvSpPr>
                <p:nvPr/>
              </p:nvSpPr>
              <p:spPr>
                <a:xfrm>
                  <a:off x="1622062" y="5080616"/>
                  <a:ext cx="388247" cy="384208"/>
                </a:xfrm>
                <a:prstGeom prst="rect">
                  <a:avLst/>
                </a:prstGeom>
                <a:blipFill>
                  <a:blip r:embed="rId4"/>
                  <a:stretch>
                    <a:fillRect t="-3125" b="-12500"/>
                  </a:stretch>
                </a:blipFill>
              </p:spPr>
              <p:txBody>
                <a:bodyPr/>
                <a:lstStyle/>
                <a:p>
                  <a:r>
                    <a:rPr lang="en-US">
                      <a:noFill/>
                    </a:rPr>
                    <a:t> </a:t>
                  </a:r>
                </a:p>
              </p:txBody>
            </p:sp>
          </mc:Fallback>
        </mc:AlternateContent>
      </p:grpSp>
      <p:grpSp>
        <p:nvGrpSpPr>
          <p:cNvPr id="186" name="Group 185">
            <a:extLst>
              <a:ext uri="{FF2B5EF4-FFF2-40B4-BE49-F238E27FC236}">
                <a16:creationId xmlns:a16="http://schemas.microsoft.com/office/drawing/2014/main" id="{1B5D6FBD-9788-98CF-1DF3-2A254C1FC102}"/>
              </a:ext>
            </a:extLst>
          </p:cNvPr>
          <p:cNvGrpSpPr/>
          <p:nvPr/>
        </p:nvGrpSpPr>
        <p:grpSpPr>
          <a:xfrm>
            <a:off x="1369379" y="3281036"/>
            <a:ext cx="9079507" cy="2039188"/>
            <a:chOff x="1776073" y="2698083"/>
            <a:chExt cx="9079507" cy="2039188"/>
          </a:xfrm>
        </p:grpSpPr>
        <p:grpSp>
          <p:nvGrpSpPr>
            <p:cNvPr id="44" name="Group 43">
              <a:extLst>
                <a:ext uri="{FF2B5EF4-FFF2-40B4-BE49-F238E27FC236}">
                  <a16:creationId xmlns:a16="http://schemas.microsoft.com/office/drawing/2014/main" id="{A97CC170-5806-377A-7D58-CC38F60630B5}"/>
                </a:ext>
              </a:extLst>
            </p:cNvPr>
            <p:cNvGrpSpPr/>
            <p:nvPr/>
          </p:nvGrpSpPr>
          <p:grpSpPr>
            <a:xfrm>
              <a:off x="1776073" y="2698083"/>
              <a:ext cx="1909158" cy="2039188"/>
              <a:chOff x="2228099" y="4522344"/>
              <a:chExt cx="1909158" cy="2039188"/>
            </a:xfrm>
          </p:grpSpPr>
          <p:pic>
            <p:nvPicPr>
              <p:cNvPr id="45" name="Picture 7" descr="Adoptable Rabbits | morabbit">
                <a:extLst>
                  <a:ext uri="{FF2B5EF4-FFF2-40B4-BE49-F238E27FC236}">
                    <a16:creationId xmlns:a16="http://schemas.microsoft.com/office/drawing/2014/main" id="{FFCCAB98-D9FF-1AD9-C8E0-C5BAEF88A58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28099" y="4522344"/>
                <a:ext cx="1194816" cy="2039188"/>
              </a:xfrm>
              <a:prstGeom prst="rect">
                <a:avLst/>
              </a:prstGeom>
              <a:extLst>
                <a:ext uri="{909E8E84-426E-40DD-AFC4-6F175D3DCCD1}">
                  <a14:hiddenFill xmlns:a14="http://schemas.microsoft.com/office/drawing/2010/main">
                    <a:solidFill>
                      <a:srgbClr val="FFFFFF"/>
                    </a:solidFill>
                  </a14:hiddenFill>
                </a:ext>
              </a:extLst>
            </p:spPr>
          </p:pic>
          <p:sp>
            <p:nvSpPr>
              <p:cNvPr id="46" name="Vertical Scroll 45">
                <a:extLst>
                  <a:ext uri="{FF2B5EF4-FFF2-40B4-BE49-F238E27FC236}">
                    <a16:creationId xmlns:a16="http://schemas.microsoft.com/office/drawing/2014/main" id="{2681F9E7-6748-765C-AC56-B685966BEDD3}"/>
                  </a:ext>
                </a:extLst>
              </p:cNvPr>
              <p:cNvSpPr/>
              <p:nvPr/>
            </p:nvSpPr>
            <p:spPr>
              <a:xfrm>
                <a:off x="3196918" y="4783528"/>
                <a:ext cx="940339" cy="923787"/>
              </a:xfrm>
              <a:prstGeom prst="verticalScroll">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SAT: 1290</a:t>
                </a:r>
              </a:p>
            </p:txBody>
          </p:sp>
        </p:grpSp>
        <p:grpSp>
          <p:nvGrpSpPr>
            <p:cNvPr id="47" name="Group 46">
              <a:extLst>
                <a:ext uri="{FF2B5EF4-FFF2-40B4-BE49-F238E27FC236}">
                  <a16:creationId xmlns:a16="http://schemas.microsoft.com/office/drawing/2014/main" id="{26D565B5-A629-08C1-40AA-808582F3D2FB}"/>
                </a:ext>
              </a:extLst>
            </p:cNvPr>
            <p:cNvGrpSpPr/>
            <p:nvPr/>
          </p:nvGrpSpPr>
          <p:grpSpPr>
            <a:xfrm>
              <a:off x="3971817" y="2698083"/>
              <a:ext cx="1909158" cy="2039188"/>
              <a:chOff x="8730299" y="4673895"/>
              <a:chExt cx="1909158" cy="2039188"/>
            </a:xfrm>
          </p:grpSpPr>
          <p:sp>
            <p:nvSpPr>
              <p:cNvPr id="48" name="Vertical Scroll 47">
                <a:extLst>
                  <a:ext uri="{FF2B5EF4-FFF2-40B4-BE49-F238E27FC236}">
                    <a16:creationId xmlns:a16="http://schemas.microsoft.com/office/drawing/2014/main" id="{668EFF49-E955-CC77-DF4E-2518E9316047}"/>
                  </a:ext>
                </a:extLst>
              </p:cNvPr>
              <p:cNvSpPr/>
              <p:nvPr/>
            </p:nvSpPr>
            <p:spPr>
              <a:xfrm>
                <a:off x="9699118" y="4983567"/>
                <a:ext cx="940339" cy="923787"/>
              </a:xfrm>
              <a:prstGeom prst="verticalScroll">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SAT: 1310</a:t>
                </a:r>
              </a:p>
            </p:txBody>
          </p:sp>
          <p:pic>
            <p:nvPicPr>
              <p:cNvPr id="49" name="Picture 7" descr="Adoptable Rabbits | morabbit">
                <a:extLst>
                  <a:ext uri="{FF2B5EF4-FFF2-40B4-BE49-F238E27FC236}">
                    <a16:creationId xmlns:a16="http://schemas.microsoft.com/office/drawing/2014/main" id="{D1D5F2AB-9F66-5112-DCCF-70219118FE7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730299" y="4673895"/>
                <a:ext cx="1194816" cy="2039188"/>
              </a:xfrm>
              <a:prstGeom prst="rect">
                <a:avLst/>
              </a:prstGeom>
              <a:extLst>
                <a:ext uri="{909E8E84-426E-40DD-AFC4-6F175D3DCCD1}">
                  <a14:hiddenFill xmlns:a14="http://schemas.microsoft.com/office/drawing/2010/main">
                    <a:solidFill>
                      <a:srgbClr val="FFFFFF"/>
                    </a:solidFill>
                  </a14:hiddenFill>
                </a:ext>
              </a:extLst>
            </p:spPr>
          </p:pic>
        </p:grpSp>
        <p:sp>
          <p:nvSpPr>
            <p:cNvPr id="50" name="TextBox 49">
              <a:extLst>
                <a:ext uri="{FF2B5EF4-FFF2-40B4-BE49-F238E27FC236}">
                  <a16:creationId xmlns:a16="http://schemas.microsoft.com/office/drawing/2014/main" id="{874B78F0-AD21-4054-E9B1-1F6C7BBBD685}"/>
                </a:ext>
              </a:extLst>
            </p:cNvPr>
            <p:cNvSpPr txBox="1"/>
            <p:nvPr/>
          </p:nvSpPr>
          <p:spPr>
            <a:xfrm>
              <a:off x="6256225" y="3088380"/>
              <a:ext cx="4599355" cy="1200329"/>
            </a:xfrm>
            <a:prstGeom prst="rect">
              <a:avLst/>
            </a:prstGeom>
            <a:noFill/>
          </p:spPr>
          <p:txBody>
            <a:bodyPr wrap="square" rtlCol="0">
              <a:spAutoFit/>
            </a:bodyPr>
            <a:lstStyle/>
            <a:p>
              <a:r>
                <a:rPr lang="en-US" sz="2400" dirty="0">
                  <a:solidFill>
                    <a:schemeClr val="accent1"/>
                  </a:solidFill>
                </a:rPr>
                <a:t>Basically the same rabbit, but have very different probabilities of attending college!</a:t>
              </a:r>
            </a:p>
          </p:txBody>
        </p:sp>
      </p:grpSp>
      <p:grpSp>
        <p:nvGrpSpPr>
          <p:cNvPr id="187" name="Group 186">
            <a:extLst>
              <a:ext uri="{FF2B5EF4-FFF2-40B4-BE49-F238E27FC236}">
                <a16:creationId xmlns:a16="http://schemas.microsoft.com/office/drawing/2014/main" id="{B95FF861-E4BD-94EF-4F8F-B848BA60F5CA}"/>
              </a:ext>
            </a:extLst>
          </p:cNvPr>
          <p:cNvGrpSpPr/>
          <p:nvPr/>
        </p:nvGrpSpPr>
        <p:grpSpPr>
          <a:xfrm>
            <a:off x="8697207" y="4271497"/>
            <a:ext cx="3202215" cy="2176572"/>
            <a:chOff x="10040579" y="3335876"/>
            <a:chExt cx="2265537" cy="1539904"/>
          </a:xfrm>
        </p:grpSpPr>
        <p:pic>
          <p:nvPicPr>
            <p:cNvPr id="51" name="Picture 2" descr="Hounder Black Red Honey Burst with Stiletto Hard Case">
              <a:extLst>
                <a:ext uri="{FF2B5EF4-FFF2-40B4-BE49-F238E27FC236}">
                  <a16:creationId xmlns:a16="http://schemas.microsoft.com/office/drawing/2014/main" id="{D72BDA61-7F05-8DF7-BA55-77C9DB4B031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040579" y="3335876"/>
              <a:ext cx="1384510" cy="1423245"/>
            </a:xfrm>
            <a:prstGeom prst="rect">
              <a:avLst/>
            </a:prstGeom>
            <a:noFill/>
            <a:effectLst>
              <a:glow rad="63500">
                <a:srgbClr val="FFFF00">
                  <a:alpha val="40000"/>
                </a:srgbClr>
              </a:glow>
            </a:effectLst>
            <a:extLst>
              <a:ext uri="{909E8E84-426E-40DD-AFC4-6F175D3DCCD1}">
                <a14:hiddenFill xmlns:a14="http://schemas.microsoft.com/office/drawing/2010/main">
                  <a:solidFill>
                    <a:srgbClr val="FFFFFF"/>
                  </a:solidFill>
                </a14:hiddenFill>
              </a:ext>
            </a:extLst>
          </p:spPr>
        </p:pic>
        <p:sp>
          <p:nvSpPr>
            <p:cNvPr id="52" name="TextBox 51">
              <a:extLst>
                <a:ext uri="{FF2B5EF4-FFF2-40B4-BE49-F238E27FC236}">
                  <a16:creationId xmlns:a16="http://schemas.microsoft.com/office/drawing/2014/main" id="{A5A71A0D-3975-6D90-1AE2-72773912E131}"/>
                </a:ext>
              </a:extLst>
            </p:cNvPr>
            <p:cNvSpPr txBox="1"/>
            <p:nvPr/>
          </p:nvSpPr>
          <p:spPr>
            <a:xfrm>
              <a:off x="10937603" y="3952450"/>
              <a:ext cx="1368513" cy="923330"/>
            </a:xfrm>
            <a:prstGeom prst="rect">
              <a:avLst/>
            </a:prstGeom>
            <a:noFill/>
          </p:spPr>
          <p:txBody>
            <a:bodyPr wrap="square" rtlCol="0">
              <a:spAutoFit/>
            </a:bodyPr>
            <a:lstStyle/>
            <a:p>
              <a:r>
                <a:rPr lang="en-US" b="1" dirty="0">
                  <a:solidFill>
                    <a:schemeClr val="accent5"/>
                  </a:solidFill>
                </a:rPr>
                <a:t>Fuzzy RD: </a:t>
              </a:r>
              <a:r>
                <a:rPr lang="en-US" dirty="0">
                  <a:solidFill>
                    <a:schemeClr val="accent5"/>
                  </a:solidFill>
                </a:rPr>
                <a:t>Analyze it like IV!</a:t>
              </a:r>
            </a:p>
          </p:txBody>
        </p:sp>
      </p:grpSp>
    </p:spTree>
    <p:extLst>
      <p:ext uri="{BB962C8B-B14F-4D97-AF65-F5344CB8AC3E}">
        <p14:creationId xmlns:p14="http://schemas.microsoft.com/office/powerpoint/2010/main" val="2345424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8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8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AAA579-C1CD-062E-00A0-A5EF53FCD4DB}"/>
              </a:ext>
            </a:extLst>
          </p:cNvPr>
          <p:cNvSpPr>
            <a:spLocks noGrp="1"/>
          </p:cNvSpPr>
          <p:nvPr>
            <p:ph type="title"/>
          </p:nvPr>
        </p:nvSpPr>
        <p:spPr>
          <a:xfrm>
            <a:off x="613326" y="404771"/>
            <a:ext cx="10515600" cy="1325563"/>
          </a:xfrm>
        </p:spPr>
        <p:txBody>
          <a:bodyPr/>
          <a:lstStyle/>
          <a:p>
            <a:r>
              <a:rPr lang="en-US" dirty="0"/>
              <a:t>Panel Data!</a:t>
            </a:r>
          </a:p>
        </p:txBody>
      </p:sp>
      <p:sp>
        <p:nvSpPr>
          <p:cNvPr id="3" name="Content Placeholder 2">
            <a:extLst>
              <a:ext uri="{FF2B5EF4-FFF2-40B4-BE49-F238E27FC236}">
                <a16:creationId xmlns:a16="http://schemas.microsoft.com/office/drawing/2014/main" id="{7734B3FA-4198-3238-C8F9-A68537218D7A}"/>
              </a:ext>
            </a:extLst>
          </p:cNvPr>
          <p:cNvSpPr>
            <a:spLocks noGrp="1"/>
          </p:cNvSpPr>
          <p:nvPr>
            <p:ph idx="1"/>
          </p:nvPr>
        </p:nvSpPr>
        <p:spPr>
          <a:xfrm>
            <a:off x="849819" y="1853445"/>
            <a:ext cx="2744882" cy="1325563"/>
          </a:xfrm>
        </p:spPr>
        <p:txBody>
          <a:bodyPr/>
          <a:lstStyle/>
          <a:p>
            <a:r>
              <a:rPr lang="en-US" dirty="0"/>
              <a:t>So many examples!</a:t>
            </a:r>
          </a:p>
        </p:txBody>
      </p:sp>
      <p:grpSp>
        <p:nvGrpSpPr>
          <p:cNvPr id="98" name="Group 97">
            <a:extLst>
              <a:ext uri="{FF2B5EF4-FFF2-40B4-BE49-F238E27FC236}">
                <a16:creationId xmlns:a16="http://schemas.microsoft.com/office/drawing/2014/main" id="{08EDB304-6B8D-6497-F6FD-3E16D9A4EDC0}"/>
              </a:ext>
            </a:extLst>
          </p:cNvPr>
          <p:cNvGrpSpPr/>
          <p:nvPr/>
        </p:nvGrpSpPr>
        <p:grpSpPr>
          <a:xfrm>
            <a:off x="4100079" y="21988"/>
            <a:ext cx="7673009" cy="2444097"/>
            <a:chOff x="305622" y="3527947"/>
            <a:chExt cx="11909959" cy="3513934"/>
          </a:xfrm>
        </p:grpSpPr>
        <p:sp>
          <p:nvSpPr>
            <p:cNvPr id="5" name="Rectangle 4">
              <a:extLst>
                <a:ext uri="{FF2B5EF4-FFF2-40B4-BE49-F238E27FC236}">
                  <a16:creationId xmlns:a16="http://schemas.microsoft.com/office/drawing/2014/main" id="{8E569F8B-B97E-19D3-D25B-2EF7A55E82FB}"/>
                </a:ext>
              </a:extLst>
            </p:cNvPr>
            <p:cNvSpPr/>
            <p:nvPr/>
          </p:nvSpPr>
          <p:spPr>
            <a:xfrm>
              <a:off x="10348043" y="6057726"/>
              <a:ext cx="1867538" cy="78131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grpSp>
          <p:nvGrpSpPr>
            <p:cNvPr id="6" name="Group 5">
              <a:extLst>
                <a:ext uri="{FF2B5EF4-FFF2-40B4-BE49-F238E27FC236}">
                  <a16:creationId xmlns:a16="http://schemas.microsoft.com/office/drawing/2014/main" id="{BD1728F6-7FEE-5E6F-2A45-0B425C4F7F1A}"/>
                </a:ext>
              </a:extLst>
            </p:cNvPr>
            <p:cNvGrpSpPr/>
            <p:nvPr/>
          </p:nvGrpSpPr>
          <p:grpSpPr>
            <a:xfrm>
              <a:off x="305622" y="3610596"/>
              <a:ext cx="3711712" cy="3052174"/>
              <a:chOff x="6267951" y="2048610"/>
              <a:chExt cx="5843440" cy="4000215"/>
            </a:xfrm>
          </p:grpSpPr>
          <p:grpSp>
            <p:nvGrpSpPr>
              <p:cNvPr id="7" name="Group 6">
                <a:extLst>
                  <a:ext uri="{FF2B5EF4-FFF2-40B4-BE49-F238E27FC236}">
                    <a16:creationId xmlns:a16="http://schemas.microsoft.com/office/drawing/2014/main" id="{DB503035-7187-7995-C967-8F4B93C9F41F}"/>
                  </a:ext>
                </a:extLst>
              </p:cNvPr>
              <p:cNvGrpSpPr/>
              <p:nvPr/>
            </p:nvGrpSpPr>
            <p:grpSpPr>
              <a:xfrm>
                <a:off x="6267951" y="2048610"/>
                <a:ext cx="5843440" cy="4000215"/>
                <a:chOff x="6783253" y="2048610"/>
                <a:chExt cx="5843440" cy="4000215"/>
              </a:xfrm>
            </p:grpSpPr>
            <p:grpSp>
              <p:nvGrpSpPr>
                <p:cNvPr id="9" name="Group 8">
                  <a:extLst>
                    <a:ext uri="{FF2B5EF4-FFF2-40B4-BE49-F238E27FC236}">
                      <a16:creationId xmlns:a16="http://schemas.microsoft.com/office/drawing/2014/main" id="{5D9BCF57-1098-23BA-F980-5C6F023989A6}"/>
                    </a:ext>
                  </a:extLst>
                </p:cNvPr>
                <p:cNvGrpSpPr/>
                <p:nvPr/>
              </p:nvGrpSpPr>
              <p:grpSpPr>
                <a:xfrm>
                  <a:off x="7062142" y="2048610"/>
                  <a:ext cx="4797416" cy="3275653"/>
                  <a:chOff x="1727371" y="2494059"/>
                  <a:chExt cx="4797416" cy="3275653"/>
                </a:xfrm>
              </p:grpSpPr>
              <p:sp>
                <p:nvSpPr>
                  <p:cNvPr id="16" name="Rectangle 15">
                    <a:extLst>
                      <a:ext uri="{FF2B5EF4-FFF2-40B4-BE49-F238E27FC236}">
                        <a16:creationId xmlns:a16="http://schemas.microsoft.com/office/drawing/2014/main" id="{54F82D64-92C4-C9C4-461A-DE3E3AE2773C}"/>
                      </a:ext>
                    </a:extLst>
                  </p:cNvPr>
                  <p:cNvSpPr/>
                  <p:nvPr/>
                </p:nvSpPr>
                <p:spPr>
                  <a:xfrm>
                    <a:off x="2275669" y="3043251"/>
                    <a:ext cx="4249118" cy="2693288"/>
                  </a:xfrm>
                  <a:prstGeom prst="rect">
                    <a:avLst/>
                  </a:prstGeom>
                  <a:solidFill>
                    <a:schemeClr val="bg1">
                      <a:lumMod val="9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7" name="TextBox 16">
                    <a:extLst>
                      <a:ext uri="{FF2B5EF4-FFF2-40B4-BE49-F238E27FC236}">
                        <a16:creationId xmlns:a16="http://schemas.microsoft.com/office/drawing/2014/main" id="{6FB50FCF-E04D-2331-96CB-8F62E8C4D463}"/>
                      </a:ext>
                    </a:extLst>
                  </p:cNvPr>
                  <p:cNvSpPr txBox="1"/>
                  <p:nvPr/>
                </p:nvSpPr>
                <p:spPr>
                  <a:xfrm>
                    <a:off x="1727371" y="3119728"/>
                    <a:ext cx="664705" cy="1565845"/>
                  </a:xfrm>
                  <a:prstGeom prst="rect">
                    <a:avLst/>
                  </a:prstGeom>
                  <a:noFill/>
                </p:spPr>
                <p:txBody>
                  <a:bodyPr wrap="none" rtlCol="0">
                    <a:spAutoFit/>
                  </a:bodyPr>
                  <a:lstStyle/>
                  <a:p>
                    <a:r>
                      <a:rPr lang="en-US" sz="1600" b="1" dirty="0"/>
                      <a:t>1</a:t>
                    </a:r>
                  </a:p>
                  <a:p>
                    <a:r>
                      <a:rPr lang="en-US" sz="1600" b="1" dirty="0"/>
                      <a:t>2</a:t>
                    </a:r>
                  </a:p>
                  <a:p>
                    <a:r>
                      <a:rPr lang="en-US" sz="1600" b="1" dirty="0"/>
                      <a:t>3</a:t>
                    </a:r>
                  </a:p>
                </p:txBody>
              </p:sp>
              <p:sp>
                <p:nvSpPr>
                  <p:cNvPr id="18" name="TextBox 17">
                    <a:extLst>
                      <a:ext uri="{FF2B5EF4-FFF2-40B4-BE49-F238E27FC236}">
                        <a16:creationId xmlns:a16="http://schemas.microsoft.com/office/drawing/2014/main" id="{A2BAE907-D85F-CA21-6D1F-3EE84B616343}"/>
                      </a:ext>
                    </a:extLst>
                  </p:cNvPr>
                  <p:cNvSpPr txBox="1"/>
                  <p:nvPr/>
                </p:nvSpPr>
                <p:spPr>
                  <a:xfrm>
                    <a:off x="1807832" y="5131776"/>
                    <a:ext cx="686475" cy="637936"/>
                  </a:xfrm>
                  <a:prstGeom prst="rect">
                    <a:avLst/>
                  </a:prstGeom>
                  <a:noFill/>
                </p:spPr>
                <p:txBody>
                  <a:bodyPr wrap="none" rtlCol="0">
                    <a:spAutoFit/>
                  </a:bodyPr>
                  <a:lstStyle/>
                  <a:p>
                    <a:r>
                      <a:rPr lang="en-US" sz="1600" b="1" dirty="0"/>
                      <a:t>n</a:t>
                    </a:r>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2F03BCBB-60A0-075E-672B-60DC311A849A}"/>
                          </a:ext>
                        </a:extLst>
                      </p:cNvPr>
                      <p:cNvSpPr txBox="1"/>
                      <p:nvPr/>
                    </p:nvSpPr>
                    <p:spPr>
                      <a:xfrm>
                        <a:off x="1856428" y="4808794"/>
                        <a:ext cx="599396" cy="52194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200" b="0" i="1" smtClean="0">
                                  <a:latin typeface="Cambria Math" panose="02040503050406030204" pitchFamily="18" charset="0"/>
                                </a:rPr>
                                <m:t>⋮</m:t>
                              </m:r>
                            </m:oMath>
                          </m:oMathPara>
                        </a14:m>
                        <a:endParaRPr lang="en-US" sz="1200" dirty="0"/>
                      </a:p>
                    </p:txBody>
                  </p:sp>
                </mc:Choice>
                <mc:Fallback xmlns="">
                  <p:sp>
                    <p:nvSpPr>
                      <p:cNvPr id="19" name="TextBox 18">
                        <a:extLst>
                          <a:ext uri="{FF2B5EF4-FFF2-40B4-BE49-F238E27FC236}">
                            <a16:creationId xmlns:a16="http://schemas.microsoft.com/office/drawing/2014/main" id="{2F03BCBB-60A0-075E-672B-60DC311A849A}"/>
                          </a:ext>
                        </a:extLst>
                      </p:cNvPr>
                      <p:cNvSpPr txBox="1">
                        <a:spLocks noRot="1" noChangeAspect="1" noMove="1" noResize="1" noEditPoints="1" noAdjustHandles="1" noChangeArrowheads="1" noChangeShapeType="1" noTextEdit="1"/>
                      </p:cNvSpPr>
                      <p:nvPr/>
                    </p:nvSpPr>
                    <p:spPr>
                      <a:xfrm>
                        <a:off x="1856428" y="4808794"/>
                        <a:ext cx="599396" cy="521948"/>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9047AE67-B37C-1273-64A5-E191CC2A622F}"/>
                          </a:ext>
                        </a:extLst>
                      </p:cNvPr>
                      <p:cNvSpPr txBox="1"/>
                      <p:nvPr/>
                    </p:nvSpPr>
                    <p:spPr>
                      <a:xfrm>
                        <a:off x="2206205" y="2530601"/>
                        <a:ext cx="721671" cy="63793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b="1" i="1" smtClean="0">
                                  <a:latin typeface="Cambria Math" panose="02040503050406030204" pitchFamily="18" charset="0"/>
                                </a:rPr>
                                <m:t>𝟏</m:t>
                              </m:r>
                            </m:oMath>
                          </m:oMathPara>
                        </a14:m>
                        <a:endParaRPr lang="en-US" sz="1600" b="1" dirty="0"/>
                      </a:p>
                    </p:txBody>
                  </p:sp>
                </mc:Choice>
                <mc:Fallback xmlns="">
                  <p:sp>
                    <p:nvSpPr>
                      <p:cNvPr id="20" name="TextBox 19">
                        <a:extLst>
                          <a:ext uri="{FF2B5EF4-FFF2-40B4-BE49-F238E27FC236}">
                            <a16:creationId xmlns:a16="http://schemas.microsoft.com/office/drawing/2014/main" id="{9047AE67-B37C-1273-64A5-E191CC2A622F}"/>
                          </a:ext>
                        </a:extLst>
                      </p:cNvPr>
                      <p:cNvSpPr txBox="1">
                        <a:spLocks noRot="1" noChangeAspect="1" noMove="1" noResize="1" noEditPoints="1" noAdjustHandles="1" noChangeArrowheads="1" noChangeShapeType="1" noTextEdit="1"/>
                      </p:cNvSpPr>
                      <p:nvPr/>
                    </p:nvSpPr>
                    <p:spPr>
                      <a:xfrm>
                        <a:off x="2206205" y="2530601"/>
                        <a:ext cx="721671" cy="637936"/>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7A76AB7A-C8CA-7B57-996E-D3031E543131}"/>
                          </a:ext>
                        </a:extLst>
                      </p:cNvPr>
                      <p:cNvSpPr txBox="1"/>
                      <p:nvPr/>
                    </p:nvSpPr>
                    <p:spPr>
                      <a:xfrm>
                        <a:off x="3071462" y="2508868"/>
                        <a:ext cx="721671" cy="63793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b="1" i="1" smtClean="0">
                                  <a:latin typeface="Cambria Math" panose="02040503050406030204" pitchFamily="18" charset="0"/>
                                </a:rPr>
                                <m:t>𝟐</m:t>
                              </m:r>
                            </m:oMath>
                          </m:oMathPara>
                        </a14:m>
                        <a:endParaRPr lang="en-US" sz="1600" b="1" dirty="0"/>
                      </a:p>
                    </p:txBody>
                  </p:sp>
                </mc:Choice>
                <mc:Fallback xmlns="">
                  <p:sp>
                    <p:nvSpPr>
                      <p:cNvPr id="21" name="TextBox 20">
                        <a:extLst>
                          <a:ext uri="{FF2B5EF4-FFF2-40B4-BE49-F238E27FC236}">
                            <a16:creationId xmlns:a16="http://schemas.microsoft.com/office/drawing/2014/main" id="{7A76AB7A-C8CA-7B57-996E-D3031E543131}"/>
                          </a:ext>
                        </a:extLst>
                      </p:cNvPr>
                      <p:cNvSpPr txBox="1">
                        <a:spLocks noRot="1" noChangeAspect="1" noMove="1" noResize="1" noEditPoints="1" noAdjustHandles="1" noChangeArrowheads="1" noChangeShapeType="1" noTextEdit="1"/>
                      </p:cNvSpPr>
                      <p:nvPr/>
                    </p:nvSpPr>
                    <p:spPr>
                      <a:xfrm>
                        <a:off x="3071462" y="2508868"/>
                        <a:ext cx="721671" cy="637936"/>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3C362BBC-4BC2-E801-2B5F-25A73F00DE2D}"/>
                          </a:ext>
                        </a:extLst>
                      </p:cNvPr>
                      <p:cNvSpPr txBox="1"/>
                      <p:nvPr/>
                    </p:nvSpPr>
                    <p:spPr>
                      <a:xfrm>
                        <a:off x="5575900" y="2494059"/>
                        <a:ext cx="721671" cy="63793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b="1" i="1" smtClean="0">
                                  <a:latin typeface="Cambria Math" panose="02040503050406030204" pitchFamily="18" charset="0"/>
                                </a:rPr>
                                <m:t>𝑻</m:t>
                              </m:r>
                            </m:oMath>
                          </m:oMathPara>
                        </a14:m>
                        <a:endParaRPr lang="en-US" sz="1600" b="1" dirty="0"/>
                      </a:p>
                    </p:txBody>
                  </p:sp>
                </mc:Choice>
                <mc:Fallback xmlns="">
                  <p:sp>
                    <p:nvSpPr>
                      <p:cNvPr id="22" name="TextBox 21">
                        <a:extLst>
                          <a:ext uri="{FF2B5EF4-FFF2-40B4-BE49-F238E27FC236}">
                            <a16:creationId xmlns:a16="http://schemas.microsoft.com/office/drawing/2014/main" id="{3C362BBC-4BC2-E801-2B5F-25A73F00DE2D}"/>
                          </a:ext>
                        </a:extLst>
                      </p:cNvPr>
                      <p:cNvSpPr txBox="1">
                        <a:spLocks noRot="1" noChangeAspect="1" noMove="1" noResize="1" noEditPoints="1" noAdjustHandles="1" noChangeArrowheads="1" noChangeShapeType="1" noTextEdit="1"/>
                      </p:cNvSpPr>
                      <p:nvPr/>
                    </p:nvSpPr>
                    <p:spPr>
                      <a:xfrm>
                        <a:off x="5575900" y="2494059"/>
                        <a:ext cx="721671" cy="637936"/>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5490DE80-F95B-8A1A-4103-AA3EB4B36802}"/>
                          </a:ext>
                        </a:extLst>
                      </p:cNvPr>
                      <p:cNvSpPr txBox="1"/>
                      <p:nvPr/>
                    </p:nvSpPr>
                    <p:spPr>
                      <a:xfrm>
                        <a:off x="2368566" y="3233674"/>
                        <a:ext cx="656856" cy="40596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0</m:t>
                              </m:r>
                            </m:oMath>
                          </m:oMathPara>
                        </a14:m>
                        <a:endParaRPr lang="en-US" sz="1400" dirty="0"/>
                      </a:p>
                    </p:txBody>
                  </p:sp>
                </mc:Choice>
                <mc:Fallback xmlns="">
                  <p:sp>
                    <p:nvSpPr>
                      <p:cNvPr id="23" name="TextBox 22">
                        <a:extLst>
                          <a:ext uri="{FF2B5EF4-FFF2-40B4-BE49-F238E27FC236}">
                            <a16:creationId xmlns:a16="http://schemas.microsoft.com/office/drawing/2014/main" id="{5490DE80-F95B-8A1A-4103-AA3EB4B36802}"/>
                          </a:ext>
                        </a:extLst>
                      </p:cNvPr>
                      <p:cNvSpPr txBox="1">
                        <a:spLocks noRot="1" noChangeAspect="1" noMove="1" noResize="1" noEditPoints="1" noAdjustHandles="1" noChangeArrowheads="1" noChangeShapeType="1" noTextEdit="1"/>
                      </p:cNvSpPr>
                      <p:nvPr/>
                    </p:nvSpPr>
                    <p:spPr>
                      <a:xfrm>
                        <a:off x="2368566" y="3233674"/>
                        <a:ext cx="656856" cy="405960"/>
                      </a:xfrm>
                      <a:prstGeom prst="rect">
                        <a:avLst/>
                      </a:prstGeom>
                      <a:blipFill>
                        <a:blip r:embed="rId7"/>
                        <a:stretch>
                          <a:fillRect/>
                        </a:stretch>
                      </a:blipFill>
                    </p:spPr>
                    <p:txBody>
                      <a:bodyPr/>
                      <a:lstStyle/>
                      <a:p>
                        <a:r>
                          <a:rPr lang="en-US">
                            <a:noFill/>
                          </a:rPr>
                          <a:t> </a:t>
                        </a:r>
                      </a:p>
                    </p:txBody>
                  </p:sp>
                </mc:Fallback>
              </mc:AlternateContent>
              <p:sp>
                <p:nvSpPr>
                  <p:cNvPr id="24" name="TextBox 23">
                    <a:extLst>
                      <a:ext uri="{FF2B5EF4-FFF2-40B4-BE49-F238E27FC236}">
                        <a16:creationId xmlns:a16="http://schemas.microsoft.com/office/drawing/2014/main" id="{8800DF07-CABD-124B-4ECD-27CEF88670D5}"/>
                      </a:ext>
                    </a:extLst>
                  </p:cNvPr>
                  <p:cNvSpPr txBox="1"/>
                  <p:nvPr/>
                </p:nvSpPr>
                <p:spPr>
                  <a:xfrm>
                    <a:off x="6096000" y="3338190"/>
                    <a:ext cx="258306" cy="521948"/>
                  </a:xfrm>
                  <a:prstGeom prst="rect">
                    <a:avLst/>
                  </a:prstGeom>
                  <a:noFill/>
                </p:spPr>
                <p:txBody>
                  <a:bodyPr wrap="square" rtlCol="0">
                    <a:spAutoFit/>
                  </a:bodyPr>
                  <a:lstStyle/>
                  <a:p>
                    <a:endParaRPr lang="en-US" sz="1200" dirty="0"/>
                  </a:p>
                </p:txBody>
              </p:sp>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08DBFE4D-49EB-90FA-1563-9D2F8FBB0EB3}"/>
                          </a:ext>
                        </a:extLst>
                      </p:cNvPr>
                      <p:cNvSpPr txBox="1"/>
                      <p:nvPr/>
                    </p:nvSpPr>
                    <p:spPr>
                      <a:xfrm>
                        <a:off x="3121570" y="3233674"/>
                        <a:ext cx="656856" cy="40596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0</m:t>
                              </m:r>
                            </m:oMath>
                          </m:oMathPara>
                        </a14:m>
                        <a:endParaRPr lang="en-US" sz="1400" dirty="0"/>
                      </a:p>
                    </p:txBody>
                  </p:sp>
                </mc:Choice>
                <mc:Fallback xmlns="">
                  <p:sp>
                    <p:nvSpPr>
                      <p:cNvPr id="25" name="TextBox 24">
                        <a:extLst>
                          <a:ext uri="{FF2B5EF4-FFF2-40B4-BE49-F238E27FC236}">
                            <a16:creationId xmlns:a16="http://schemas.microsoft.com/office/drawing/2014/main" id="{08DBFE4D-49EB-90FA-1563-9D2F8FBB0EB3}"/>
                          </a:ext>
                        </a:extLst>
                      </p:cNvPr>
                      <p:cNvSpPr txBox="1">
                        <a:spLocks noRot="1" noChangeAspect="1" noMove="1" noResize="1" noEditPoints="1" noAdjustHandles="1" noChangeArrowheads="1" noChangeShapeType="1" noTextEdit="1"/>
                      </p:cNvSpPr>
                      <p:nvPr/>
                    </p:nvSpPr>
                    <p:spPr>
                      <a:xfrm>
                        <a:off x="3121570" y="3233674"/>
                        <a:ext cx="656856" cy="405960"/>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7BE83F8D-D9AA-F375-AAB4-717D2DD6E629}"/>
                          </a:ext>
                        </a:extLst>
                      </p:cNvPr>
                      <p:cNvSpPr txBox="1"/>
                      <p:nvPr/>
                    </p:nvSpPr>
                    <p:spPr>
                      <a:xfrm>
                        <a:off x="5608308" y="3233674"/>
                        <a:ext cx="656856" cy="40596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0</m:t>
                              </m:r>
                            </m:oMath>
                          </m:oMathPara>
                        </a14:m>
                        <a:endParaRPr lang="en-US" sz="1400" dirty="0"/>
                      </a:p>
                    </p:txBody>
                  </p:sp>
                </mc:Choice>
                <mc:Fallback xmlns="">
                  <p:sp>
                    <p:nvSpPr>
                      <p:cNvPr id="26" name="TextBox 25">
                        <a:extLst>
                          <a:ext uri="{FF2B5EF4-FFF2-40B4-BE49-F238E27FC236}">
                            <a16:creationId xmlns:a16="http://schemas.microsoft.com/office/drawing/2014/main" id="{7BE83F8D-D9AA-F375-AAB4-717D2DD6E629}"/>
                          </a:ext>
                        </a:extLst>
                      </p:cNvPr>
                      <p:cNvSpPr txBox="1">
                        <a:spLocks noRot="1" noChangeAspect="1" noMove="1" noResize="1" noEditPoints="1" noAdjustHandles="1" noChangeArrowheads="1" noChangeShapeType="1" noTextEdit="1"/>
                      </p:cNvSpPr>
                      <p:nvPr/>
                    </p:nvSpPr>
                    <p:spPr>
                      <a:xfrm>
                        <a:off x="5608308" y="3233674"/>
                        <a:ext cx="656856" cy="405960"/>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51E421B8-0570-6004-9B25-F3B8F909D6FB}"/>
                          </a:ext>
                        </a:extLst>
                      </p:cNvPr>
                      <p:cNvSpPr txBox="1"/>
                      <p:nvPr/>
                    </p:nvSpPr>
                    <p:spPr>
                      <a:xfrm>
                        <a:off x="2400974" y="3710677"/>
                        <a:ext cx="656856" cy="40596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0</m:t>
                              </m:r>
                            </m:oMath>
                          </m:oMathPara>
                        </a14:m>
                        <a:endParaRPr lang="en-US" sz="1400" dirty="0"/>
                      </a:p>
                    </p:txBody>
                  </p:sp>
                </mc:Choice>
                <mc:Fallback xmlns="">
                  <p:sp>
                    <p:nvSpPr>
                      <p:cNvPr id="27" name="TextBox 26">
                        <a:extLst>
                          <a:ext uri="{FF2B5EF4-FFF2-40B4-BE49-F238E27FC236}">
                            <a16:creationId xmlns:a16="http://schemas.microsoft.com/office/drawing/2014/main" id="{51E421B8-0570-6004-9B25-F3B8F909D6FB}"/>
                          </a:ext>
                        </a:extLst>
                      </p:cNvPr>
                      <p:cNvSpPr txBox="1">
                        <a:spLocks noRot="1" noChangeAspect="1" noMove="1" noResize="1" noEditPoints="1" noAdjustHandles="1" noChangeArrowheads="1" noChangeShapeType="1" noTextEdit="1"/>
                      </p:cNvSpPr>
                      <p:nvPr/>
                    </p:nvSpPr>
                    <p:spPr>
                      <a:xfrm>
                        <a:off x="2400974" y="3710677"/>
                        <a:ext cx="656856" cy="405960"/>
                      </a:xfrm>
                      <a:prstGeom prst="rect">
                        <a:avLst/>
                      </a:prstGeom>
                      <a:blipFill>
                        <a:blip r:embed="rId10"/>
                        <a:stretch>
                          <a:fillRect b="-588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475D5C3E-CD36-F37F-0B22-623A0F556FC5}"/>
                          </a:ext>
                        </a:extLst>
                      </p:cNvPr>
                      <p:cNvSpPr txBox="1"/>
                      <p:nvPr/>
                    </p:nvSpPr>
                    <p:spPr>
                      <a:xfrm>
                        <a:off x="3153978" y="3710677"/>
                        <a:ext cx="656856" cy="40596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0</m:t>
                              </m:r>
                            </m:oMath>
                          </m:oMathPara>
                        </a14:m>
                        <a:endParaRPr lang="en-US" sz="1400" dirty="0"/>
                      </a:p>
                    </p:txBody>
                  </p:sp>
                </mc:Choice>
                <mc:Fallback xmlns="">
                  <p:sp>
                    <p:nvSpPr>
                      <p:cNvPr id="28" name="TextBox 27">
                        <a:extLst>
                          <a:ext uri="{FF2B5EF4-FFF2-40B4-BE49-F238E27FC236}">
                            <a16:creationId xmlns:a16="http://schemas.microsoft.com/office/drawing/2014/main" id="{475D5C3E-CD36-F37F-0B22-623A0F556FC5}"/>
                          </a:ext>
                        </a:extLst>
                      </p:cNvPr>
                      <p:cNvSpPr txBox="1">
                        <a:spLocks noRot="1" noChangeAspect="1" noMove="1" noResize="1" noEditPoints="1" noAdjustHandles="1" noChangeArrowheads="1" noChangeShapeType="1" noTextEdit="1"/>
                      </p:cNvSpPr>
                      <p:nvPr/>
                    </p:nvSpPr>
                    <p:spPr>
                      <a:xfrm>
                        <a:off x="3153978" y="3710677"/>
                        <a:ext cx="656856" cy="405960"/>
                      </a:xfrm>
                      <a:prstGeom prst="rect">
                        <a:avLst/>
                      </a:prstGeom>
                      <a:blipFill>
                        <a:blip r:embed="rId11"/>
                        <a:stretch>
                          <a:fillRect b="-588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D2CCFDAB-BF8F-FF88-71CA-F3C074A84DA3}"/>
                          </a:ext>
                        </a:extLst>
                      </p:cNvPr>
                      <p:cNvSpPr txBox="1"/>
                      <p:nvPr/>
                    </p:nvSpPr>
                    <p:spPr>
                      <a:xfrm>
                        <a:off x="5640716" y="3710677"/>
                        <a:ext cx="656856" cy="40596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0</m:t>
                              </m:r>
                            </m:oMath>
                          </m:oMathPara>
                        </a14:m>
                        <a:endParaRPr lang="en-US" sz="1400" dirty="0"/>
                      </a:p>
                    </p:txBody>
                  </p:sp>
                </mc:Choice>
                <mc:Fallback xmlns="">
                  <p:sp>
                    <p:nvSpPr>
                      <p:cNvPr id="29" name="TextBox 28">
                        <a:extLst>
                          <a:ext uri="{FF2B5EF4-FFF2-40B4-BE49-F238E27FC236}">
                            <a16:creationId xmlns:a16="http://schemas.microsoft.com/office/drawing/2014/main" id="{D2CCFDAB-BF8F-FF88-71CA-F3C074A84DA3}"/>
                          </a:ext>
                        </a:extLst>
                      </p:cNvPr>
                      <p:cNvSpPr txBox="1">
                        <a:spLocks noRot="1" noChangeAspect="1" noMove="1" noResize="1" noEditPoints="1" noAdjustHandles="1" noChangeArrowheads="1" noChangeShapeType="1" noTextEdit="1"/>
                      </p:cNvSpPr>
                      <p:nvPr/>
                    </p:nvSpPr>
                    <p:spPr>
                      <a:xfrm>
                        <a:off x="5640716" y="3710677"/>
                        <a:ext cx="656856" cy="405960"/>
                      </a:xfrm>
                      <a:prstGeom prst="rect">
                        <a:avLst/>
                      </a:prstGeom>
                      <a:blipFill>
                        <a:blip r:embed="rId12"/>
                        <a:stretch>
                          <a:fillRect b="-588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3AD3CE49-8760-DC8C-A231-42F0CC6654A2}"/>
                          </a:ext>
                        </a:extLst>
                      </p:cNvPr>
                      <p:cNvSpPr txBox="1"/>
                      <p:nvPr/>
                    </p:nvSpPr>
                    <p:spPr>
                      <a:xfrm>
                        <a:off x="2400974" y="4248182"/>
                        <a:ext cx="656856" cy="40596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0</m:t>
                              </m:r>
                            </m:oMath>
                          </m:oMathPara>
                        </a14:m>
                        <a:endParaRPr lang="en-US" sz="1400" dirty="0"/>
                      </a:p>
                    </p:txBody>
                  </p:sp>
                </mc:Choice>
                <mc:Fallback xmlns="">
                  <p:sp>
                    <p:nvSpPr>
                      <p:cNvPr id="30" name="TextBox 29">
                        <a:extLst>
                          <a:ext uri="{FF2B5EF4-FFF2-40B4-BE49-F238E27FC236}">
                            <a16:creationId xmlns:a16="http://schemas.microsoft.com/office/drawing/2014/main" id="{3AD3CE49-8760-DC8C-A231-42F0CC6654A2}"/>
                          </a:ext>
                        </a:extLst>
                      </p:cNvPr>
                      <p:cNvSpPr txBox="1">
                        <a:spLocks noRot="1" noChangeAspect="1" noMove="1" noResize="1" noEditPoints="1" noAdjustHandles="1" noChangeArrowheads="1" noChangeShapeType="1" noTextEdit="1"/>
                      </p:cNvSpPr>
                      <p:nvPr/>
                    </p:nvSpPr>
                    <p:spPr>
                      <a:xfrm>
                        <a:off x="2400974" y="4248182"/>
                        <a:ext cx="656856" cy="405960"/>
                      </a:xfrm>
                      <a:prstGeom prst="rect">
                        <a:avLst/>
                      </a:prstGeom>
                      <a:blipFill>
                        <a:blip r:embed="rId13"/>
                        <a:stretch>
                          <a:fillRect b="-555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7C39E3D3-3D14-4231-9CD6-3A4C6AED024B}"/>
                          </a:ext>
                        </a:extLst>
                      </p:cNvPr>
                      <p:cNvSpPr txBox="1"/>
                      <p:nvPr/>
                    </p:nvSpPr>
                    <p:spPr>
                      <a:xfrm>
                        <a:off x="3153978" y="4248182"/>
                        <a:ext cx="656856" cy="40596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0</m:t>
                              </m:r>
                            </m:oMath>
                          </m:oMathPara>
                        </a14:m>
                        <a:endParaRPr lang="en-US" sz="1400" dirty="0"/>
                      </a:p>
                    </p:txBody>
                  </p:sp>
                </mc:Choice>
                <mc:Fallback xmlns="">
                  <p:sp>
                    <p:nvSpPr>
                      <p:cNvPr id="31" name="TextBox 30">
                        <a:extLst>
                          <a:ext uri="{FF2B5EF4-FFF2-40B4-BE49-F238E27FC236}">
                            <a16:creationId xmlns:a16="http://schemas.microsoft.com/office/drawing/2014/main" id="{7C39E3D3-3D14-4231-9CD6-3A4C6AED024B}"/>
                          </a:ext>
                        </a:extLst>
                      </p:cNvPr>
                      <p:cNvSpPr txBox="1">
                        <a:spLocks noRot="1" noChangeAspect="1" noMove="1" noResize="1" noEditPoints="1" noAdjustHandles="1" noChangeArrowheads="1" noChangeShapeType="1" noTextEdit="1"/>
                      </p:cNvSpPr>
                      <p:nvPr/>
                    </p:nvSpPr>
                    <p:spPr>
                      <a:xfrm>
                        <a:off x="3153978" y="4248182"/>
                        <a:ext cx="656856" cy="405960"/>
                      </a:xfrm>
                      <a:prstGeom prst="rect">
                        <a:avLst/>
                      </a:prstGeom>
                      <a:blipFill>
                        <a:blip r:embed="rId14"/>
                        <a:stretch>
                          <a:fillRect b="-555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BBB9CE96-F662-F0B6-9FA9-0C730124B8E8}"/>
                          </a:ext>
                        </a:extLst>
                      </p:cNvPr>
                      <p:cNvSpPr txBox="1"/>
                      <p:nvPr/>
                    </p:nvSpPr>
                    <p:spPr>
                      <a:xfrm>
                        <a:off x="5640716" y="4248182"/>
                        <a:ext cx="656856" cy="40596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0</m:t>
                              </m:r>
                            </m:oMath>
                          </m:oMathPara>
                        </a14:m>
                        <a:endParaRPr lang="en-US" sz="1400" dirty="0"/>
                      </a:p>
                    </p:txBody>
                  </p:sp>
                </mc:Choice>
                <mc:Fallback xmlns="">
                  <p:sp>
                    <p:nvSpPr>
                      <p:cNvPr id="32" name="TextBox 31">
                        <a:extLst>
                          <a:ext uri="{FF2B5EF4-FFF2-40B4-BE49-F238E27FC236}">
                            <a16:creationId xmlns:a16="http://schemas.microsoft.com/office/drawing/2014/main" id="{BBB9CE96-F662-F0B6-9FA9-0C730124B8E8}"/>
                          </a:ext>
                        </a:extLst>
                      </p:cNvPr>
                      <p:cNvSpPr txBox="1">
                        <a:spLocks noRot="1" noChangeAspect="1" noMove="1" noResize="1" noEditPoints="1" noAdjustHandles="1" noChangeArrowheads="1" noChangeShapeType="1" noTextEdit="1"/>
                      </p:cNvSpPr>
                      <p:nvPr/>
                    </p:nvSpPr>
                    <p:spPr>
                      <a:xfrm>
                        <a:off x="5640716" y="4248182"/>
                        <a:ext cx="656856" cy="405960"/>
                      </a:xfrm>
                      <a:prstGeom prst="rect">
                        <a:avLst/>
                      </a:prstGeom>
                      <a:blipFill>
                        <a:blip r:embed="rId15"/>
                        <a:stretch>
                          <a:fillRect b="-555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2098DB1C-D80E-943E-0F55-DDCEF5B84E11}"/>
                          </a:ext>
                        </a:extLst>
                      </p:cNvPr>
                      <p:cNvSpPr txBox="1"/>
                      <p:nvPr/>
                    </p:nvSpPr>
                    <p:spPr>
                      <a:xfrm>
                        <a:off x="2406232" y="5256351"/>
                        <a:ext cx="656856" cy="40596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0</m:t>
                              </m:r>
                            </m:oMath>
                          </m:oMathPara>
                        </a14:m>
                        <a:endParaRPr lang="en-US" sz="1400" dirty="0"/>
                      </a:p>
                    </p:txBody>
                  </p:sp>
                </mc:Choice>
                <mc:Fallback xmlns="">
                  <p:sp>
                    <p:nvSpPr>
                      <p:cNvPr id="33" name="TextBox 32">
                        <a:extLst>
                          <a:ext uri="{FF2B5EF4-FFF2-40B4-BE49-F238E27FC236}">
                            <a16:creationId xmlns:a16="http://schemas.microsoft.com/office/drawing/2014/main" id="{2098DB1C-D80E-943E-0F55-DDCEF5B84E11}"/>
                          </a:ext>
                        </a:extLst>
                      </p:cNvPr>
                      <p:cNvSpPr txBox="1">
                        <a:spLocks noRot="1" noChangeAspect="1" noMove="1" noResize="1" noEditPoints="1" noAdjustHandles="1" noChangeArrowheads="1" noChangeShapeType="1" noTextEdit="1"/>
                      </p:cNvSpPr>
                      <p:nvPr/>
                    </p:nvSpPr>
                    <p:spPr>
                      <a:xfrm>
                        <a:off x="2406232" y="5256351"/>
                        <a:ext cx="656856" cy="405960"/>
                      </a:xfrm>
                      <a:prstGeom prst="rect">
                        <a:avLst/>
                      </a:prstGeom>
                      <a:blipFill>
                        <a:blip r:embed="rId16"/>
                        <a:stretch>
                          <a:fillRect b="-555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84B92F18-1B72-3576-99F9-B87B0D9C16ED}"/>
                          </a:ext>
                        </a:extLst>
                      </p:cNvPr>
                      <p:cNvSpPr txBox="1"/>
                      <p:nvPr/>
                    </p:nvSpPr>
                    <p:spPr>
                      <a:xfrm>
                        <a:off x="3159238" y="5256351"/>
                        <a:ext cx="656856" cy="40596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0</m:t>
                              </m:r>
                            </m:oMath>
                          </m:oMathPara>
                        </a14:m>
                        <a:endParaRPr lang="en-US" sz="1400" dirty="0"/>
                      </a:p>
                    </p:txBody>
                  </p:sp>
                </mc:Choice>
                <mc:Fallback xmlns="">
                  <p:sp>
                    <p:nvSpPr>
                      <p:cNvPr id="34" name="TextBox 33">
                        <a:extLst>
                          <a:ext uri="{FF2B5EF4-FFF2-40B4-BE49-F238E27FC236}">
                            <a16:creationId xmlns:a16="http://schemas.microsoft.com/office/drawing/2014/main" id="{84B92F18-1B72-3576-99F9-B87B0D9C16ED}"/>
                          </a:ext>
                        </a:extLst>
                      </p:cNvPr>
                      <p:cNvSpPr txBox="1">
                        <a:spLocks noRot="1" noChangeAspect="1" noMove="1" noResize="1" noEditPoints="1" noAdjustHandles="1" noChangeArrowheads="1" noChangeShapeType="1" noTextEdit="1"/>
                      </p:cNvSpPr>
                      <p:nvPr/>
                    </p:nvSpPr>
                    <p:spPr>
                      <a:xfrm>
                        <a:off x="3159238" y="5256351"/>
                        <a:ext cx="656856" cy="405960"/>
                      </a:xfrm>
                      <a:prstGeom prst="rect">
                        <a:avLst/>
                      </a:prstGeom>
                      <a:blipFill>
                        <a:blip r:embed="rId17"/>
                        <a:stretch>
                          <a:fillRect b="-555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4CB581C4-BD88-B179-2894-67FE62E75D99}"/>
                          </a:ext>
                        </a:extLst>
                      </p:cNvPr>
                      <p:cNvSpPr txBox="1"/>
                      <p:nvPr/>
                    </p:nvSpPr>
                    <p:spPr>
                      <a:xfrm>
                        <a:off x="5645976" y="5256351"/>
                        <a:ext cx="656856" cy="46395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1600" b="1" i="1" smtClean="0">
                                  <a:solidFill>
                                    <a:schemeClr val="accent2"/>
                                  </a:solidFill>
                                  <a:latin typeface="Cambria Math" panose="02040503050406030204" pitchFamily="18" charset="0"/>
                                </a:rPr>
                                <m:t>𝟏</m:t>
                              </m:r>
                            </m:oMath>
                          </m:oMathPara>
                        </a14:m>
                        <a:endParaRPr lang="en-US" sz="1600" b="1" dirty="0">
                          <a:solidFill>
                            <a:schemeClr val="accent2"/>
                          </a:solidFill>
                        </a:endParaRPr>
                      </a:p>
                    </p:txBody>
                  </p:sp>
                </mc:Choice>
                <mc:Fallback xmlns="">
                  <p:sp>
                    <p:nvSpPr>
                      <p:cNvPr id="35" name="TextBox 34">
                        <a:extLst>
                          <a:ext uri="{FF2B5EF4-FFF2-40B4-BE49-F238E27FC236}">
                            <a16:creationId xmlns:a16="http://schemas.microsoft.com/office/drawing/2014/main" id="{4CB581C4-BD88-B179-2894-67FE62E75D99}"/>
                          </a:ext>
                        </a:extLst>
                      </p:cNvPr>
                      <p:cNvSpPr txBox="1">
                        <a:spLocks noRot="1" noChangeAspect="1" noMove="1" noResize="1" noEditPoints="1" noAdjustHandles="1" noChangeArrowheads="1" noChangeShapeType="1" noTextEdit="1"/>
                      </p:cNvSpPr>
                      <p:nvPr/>
                    </p:nvSpPr>
                    <p:spPr>
                      <a:xfrm>
                        <a:off x="5645976" y="5256351"/>
                        <a:ext cx="656856" cy="463953"/>
                      </a:xfrm>
                      <a:prstGeom prst="rect">
                        <a:avLst/>
                      </a:prstGeom>
                      <a:blipFill>
                        <a:blip r:embed="rId18"/>
                        <a:stretch>
                          <a:fillRect b="-476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412519D2-862B-F734-B75D-4CB1CFD75201}"/>
                          </a:ext>
                        </a:extLst>
                      </p:cNvPr>
                      <p:cNvSpPr txBox="1"/>
                      <p:nvPr/>
                    </p:nvSpPr>
                    <p:spPr>
                      <a:xfrm>
                        <a:off x="2545350" y="4808793"/>
                        <a:ext cx="599396" cy="52194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200" b="0" i="1" smtClean="0">
                                  <a:latin typeface="Cambria Math" panose="02040503050406030204" pitchFamily="18" charset="0"/>
                                </a:rPr>
                                <m:t>⋮</m:t>
                              </m:r>
                            </m:oMath>
                          </m:oMathPara>
                        </a14:m>
                        <a:endParaRPr lang="en-US" sz="1200" dirty="0"/>
                      </a:p>
                    </p:txBody>
                  </p:sp>
                </mc:Choice>
                <mc:Fallback xmlns="">
                  <p:sp>
                    <p:nvSpPr>
                      <p:cNvPr id="36" name="TextBox 35">
                        <a:extLst>
                          <a:ext uri="{FF2B5EF4-FFF2-40B4-BE49-F238E27FC236}">
                            <a16:creationId xmlns:a16="http://schemas.microsoft.com/office/drawing/2014/main" id="{412519D2-862B-F734-B75D-4CB1CFD75201}"/>
                          </a:ext>
                        </a:extLst>
                      </p:cNvPr>
                      <p:cNvSpPr txBox="1">
                        <a:spLocks noRot="1" noChangeAspect="1" noMove="1" noResize="1" noEditPoints="1" noAdjustHandles="1" noChangeArrowheads="1" noChangeShapeType="1" noTextEdit="1"/>
                      </p:cNvSpPr>
                      <p:nvPr/>
                    </p:nvSpPr>
                    <p:spPr>
                      <a:xfrm>
                        <a:off x="2545350" y="4808793"/>
                        <a:ext cx="599396" cy="521948"/>
                      </a:xfrm>
                      <a:prstGeom prst="rect">
                        <a:avLst/>
                      </a:prstGeom>
                      <a:blipFill>
                        <a:blip r:embed="rId1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2A5CC64B-FFEB-3F74-9CEB-2686B15A33C7}"/>
                          </a:ext>
                        </a:extLst>
                      </p:cNvPr>
                      <p:cNvSpPr txBox="1"/>
                      <p:nvPr/>
                    </p:nvSpPr>
                    <p:spPr>
                      <a:xfrm>
                        <a:off x="5785092" y="4783618"/>
                        <a:ext cx="599396" cy="52194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200" b="0" i="1" smtClean="0">
                                  <a:latin typeface="Cambria Math" panose="02040503050406030204" pitchFamily="18" charset="0"/>
                                </a:rPr>
                                <m:t>⋮</m:t>
                              </m:r>
                            </m:oMath>
                          </m:oMathPara>
                        </a14:m>
                        <a:endParaRPr lang="en-US" sz="1200" dirty="0"/>
                      </a:p>
                    </p:txBody>
                  </p:sp>
                </mc:Choice>
                <mc:Fallback xmlns="">
                  <p:sp>
                    <p:nvSpPr>
                      <p:cNvPr id="37" name="TextBox 36">
                        <a:extLst>
                          <a:ext uri="{FF2B5EF4-FFF2-40B4-BE49-F238E27FC236}">
                            <a16:creationId xmlns:a16="http://schemas.microsoft.com/office/drawing/2014/main" id="{2A5CC64B-FFEB-3F74-9CEB-2686B15A33C7}"/>
                          </a:ext>
                        </a:extLst>
                      </p:cNvPr>
                      <p:cNvSpPr txBox="1">
                        <a:spLocks noRot="1" noChangeAspect="1" noMove="1" noResize="1" noEditPoints="1" noAdjustHandles="1" noChangeArrowheads="1" noChangeShapeType="1" noTextEdit="1"/>
                      </p:cNvSpPr>
                      <p:nvPr/>
                    </p:nvSpPr>
                    <p:spPr>
                      <a:xfrm>
                        <a:off x="5785092" y="4783618"/>
                        <a:ext cx="599396" cy="521948"/>
                      </a:xfrm>
                      <a:prstGeom prst="rect">
                        <a:avLst/>
                      </a:prstGeom>
                      <a:blipFill>
                        <a:blip r:embed="rId2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5CF23EED-FEFD-2605-DDA0-785FEB20BA4F}"/>
                          </a:ext>
                        </a:extLst>
                      </p:cNvPr>
                      <p:cNvSpPr txBox="1"/>
                      <p:nvPr/>
                    </p:nvSpPr>
                    <p:spPr>
                      <a:xfrm>
                        <a:off x="4233710" y="3244333"/>
                        <a:ext cx="850774" cy="52194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200" i="1" smtClean="0">
                                  <a:latin typeface="Cambria Math" panose="02040503050406030204" pitchFamily="18" charset="0"/>
                                </a:rPr>
                                <m:t>⋯</m:t>
                              </m:r>
                            </m:oMath>
                          </m:oMathPara>
                        </a14:m>
                        <a:endParaRPr lang="en-US" sz="1200" dirty="0"/>
                      </a:p>
                    </p:txBody>
                  </p:sp>
                </mc:Choice>
                <mc:Fallback xmlns="">
                  <p:sp>
                    <p:nvSpPr>
                      <p:cNvPr id="38" name="TextBox 37">
                        <a:extLst>
                          <a:ext uri="{FF2B5EF4-FFF2-40B4-BE49-F238E27FC236}">
                            <a16:creationId xmlns:a16="http://schemas.microsoft.com/office/drawing/2014/main" id="{5CF23EED-FEFD-2605-DDA0-785FEB20BA4F}"/>
                          </a:ext>
                        </a:extLst>
                      </p:cNvPr>
                      <p:cNvSpPr txBox="1">
                        <a:spLocks noRot="1" noChangeAspect="1" noMove="1" noResize="1" noEditPoints="1" noAdjustHandles="1" noChangeArrowheads="1" noChangeShapeType="1" noTextEdit="1"/>
                      </p:cNvSpPr>
                      <p:nvPr/>
                    </p:nvSpPr>
                    <p:spPr>
                      <a:xfrm>
                        <a:off x="4233710" y="3244333"/>
                        <a:ext cx="850774" cy="521948"/>
                      </a:xfrm>
                      <a:prstGeom prst="rect">
                        <a:avLst/>
                      </a:prstGeom>
                      <a:blipFill>
                        <a:blip r:embed="rId21"/>
                        <a:stretch>
                          <a:fillRect/>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EC949E15-FF6E-C179-5F65-6AE21262FE36}"/>
                        </a:ext>
                      </a:extLst>
                    </p:cNvPr>
                    <p:cNvSpPr txBox="1"/>
                    <p:nvPr/>
                  </p:nvSpPr>
                  <p:spPr>
                    <a:xfrm>
                      <a:off x="9562899" y="2164106"/>
                      <a:ext cx="850774" cy="52194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200" i="1" smtClean="0">
                                <a:latin typeface="Cambria Math" panose="02040503050406030204" pitchFamily="18" charset="0"/>
                              </a:rPr>
                              <m:t>⋯</m:t>
                            </m:r>
                          </m:oMath>
                        </m:oMathPara>
                      </a14:m>
                      <a:endParaRPr lang="en-US" sz="1200" dirty="0"/>
                    </a:p>
                  </p:txBody>
                </p:sp>
              </mc:Choice>
              <mc:Fallback xmlns="">
                <p:sp>
                  <p:nvSpPr>
                    <p:cNvPr id="10" name="TextBox 9">
                      <a:extLst>
                        <a:ext uri="{FF2B5EF4-FFF2-40B4-BE49-F238E27FC236}">
                          <a16:creationId xmlns:a16="http://schemas.microsoft.com/office/drawing/2014/main" id="{EC949E15-FF6E-C179-5F65-6AE21262FE36}"/>
                        </a:ext>
                      </a:extLst>
                    </p:cNvPr>
                    <p:cNvSpPr txBox="1">
                      <a:spLocks noRot="1" noChangeAspect="1" noMove="1" noResize="1" noEditPoints="1" noAdjustHandles="1" noChangeArrowheads="1" noChangeShapeType="1" noTextEdit="1"/>
                    </p:cNvSpPr>
                    <p:nvPr/>
                  </p:nvSpPr>
                  <p:spPr>
                    <a:xfrm>
                      <a:off x="9562899" y="2164106"/>
                      <a:ext cx="850774" cy="521948"/>
                    </a:xfrm>
                    <a:prstGeom prst="rect">
                      <a:avLst/>
                    </a:prstGeom>
                    <a:blipFill>
                      <a:blip r:embed="rId2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879D0A61-F534-6696-A8AE-5DFC7BAB9660}"/>
                        </a:ext>
                      </a:extLst>
                    </p:cNvPr>
                    <p:cNvSpPr txBox="1"/>
                    <p:nvPr/>
                  </p:nvSpPr>
                  <p:spPr>
                    <a:xfrm>
                      <a:off x="6783253" y="5410889"/>
                      <a:ext cx="5843440" cy="637936"/>
                    </a:xfrm>
                    <a:prstGeom prst="rect">
                      <a:avLst/>
                    </a:prstGeom>
                    <a:noFill/>
                  </p:spPr>
                  <p:txBody>
                    <a:bodyPr wrap="square" rtlCol="0">
                      <a:spAutoFit/>
                    </a:bodyPr>
                    <a:lstStyle/>
                    <a:p>
                      <a:pPr algn="ctr"/>
                      <a:r>
                        <a:rPr lang="en-US" sz="1600" dirty="0">
                          <a:solidFill>
                            <a:schemeClr val="accent1"/>
                          </a:solidFill>
                        </a:rPr>
                        <a:t>Matrix </a:t>
                      </a:r>
                      <a14:m>
                        <m:oMath xmlns:m="http://schemas.openxmlformats.org/officeDocument/2006/math">
                          <m:r>
                            <a:rPr lang="en-US" sz="1600" b="1" i="1" smtClean="0">
                              <a:solidFill>
                                <a:schemeClr val="accent1"/>
                              </a:solidFill>
                              <a:latin typeface="Cambria Math" panose="02040503050406030204" pitchFamily="18" charset="0"/>
                            </a:rPr>
                            <m:t>𝑾</m:t>
                          </m:r>
                        </m:oMath>
                      </a14:m>
                      <a:r>
                        <a:rPr lang="en-US" sz="1600" b="1" dirty="0">
                          <a:solidFill>
                            <a:schemeClr val="accent1"/>
                          </a:solidFill>
                        </a:rPr>
                        <a:t> </a:t>
                      </a:r>
                      <a:r>
                        <a:rPr lang="en-US" sz="1600" dirty="0">
                          <a:solidFill>
                            <a:schemeClr val="accent1"/>
                          </a:solidFill>
                        </a:rPr>
                        <a:t>of treatments</a:t>
                      </a:r>
                    </a:p>
                  </p:txBody>
                </p:sp>
              </mc:Choice>
              <mc:Fallback xmlns="">
                <p:sp>
                  <p:nvSpPr>
                    <p:cNvPr id="11" name="TextBox 10">
                      <a:extLst>
                        <a:ext uri="{FF2B5EF4-FFF2-40B4-BE49-F238E27FC236}">
                          <a16:creationId xmlns:a16="http://schemas.microsoft.com/office/drawing/2014/main" id="{879D0A61-F534-6696-A8AE-5DFC7BAB9660}"/>
                        </a:ext>
                      </a:extLst>
                    </p:cNvPr>
                    <p:cNvSpPr txBox="1">
                      <a:spLocks noRot="1" noChangeAspect="1" noMove="1" noResize="1" noEditPoints="1" noAdjustHandles="1" noChangeArrowheads="1" noChangeShapeType="1" noTextEdit="1"/>
                    </p:cNvSpPr>
                    <p:nvPr/>
                  </p:nvSpPr>
                  <p:spPr>
                    <a:xfrm>
                      <a:off x="6783253" y="5410889"/>
                      <a:ext cx="5843440" cy="637936"/>
                    </a:xfrm>
                    <a:prstGeom prst="rect">
                      <a:avLst/>
                    </a:prstGeom>
                    <a:blipFill>
                      <a:blip r:embed="rId23"/>
                      <a:stretch>
                        <a:fillRect t="-3571" b="-2142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F224868B-C998-DE59-68DF-BFED4A7AE962}"/>
                        </a:ext>
                      </a:extLst>
                    </p:cNvPr>
                    <p:cNvSpPr txBox="1"/>
                    <p:nvPr/>
                  </p:nvSpPr>
                  <p:spPr>
                    <a:xfrm>
                      <a:off x="10463007" y="4823505"/>
                      <a:ext cx="656856" cy="46395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1600" b="1" i="1" smtClean="0">
                                <a:solidFill>
                                  <a:schemeClr val="accent2"/>
                                </a:solidFill>
                                <a:latin typeface="Cambria Math" panose="02040503050406030204" pitchFamily="18" charset="0"/>
                              </a:rPr>
                              <m:t>𝟏</m:t>
                            </m:r>
                          </m:oMath>
                        </m:oMathPara>
                      </a14:m>
                      <a:endParaRPr lang="en-US" sz="1600" b="1" dirty="0">
                        <a:solidFill>
                          <a:schemeClr val="accent2"/>
                        </a:solidFill>
                      </a:endParaRPr>
                    </a:p>
                  </p:txBody>
                </p:sp>
              </mc:Choice>
              <mc:Fallback xmlns="">
                <p:sp>
                  <p:nvSpPr>
                    <p:cNvPr id="12" name="TextBox 11">
                      <a:extLst>
                        <a:ext uri="{FF2B5EF4-FFF2-40B4-BE49-F238E27FC236}">
                          <a16:creationId xmlns:a16="http://schemas.microsoft.com/office/drawing/2014/main" id="{F224868B-C998-DE59-68DF-BFED4A7AE962}"/>
                        </a:ext>
                      </a:extLst>
                    </p:cNvPr>
                    <p:cNvSpPr txBox="1">
                      <a:spLocks noRot="1" noChangeAspect="1" noMove="1" noResize="1" noEditPoints="1" noAdjustHandles="1" noChangeArrowheads="1" noChangeShapeType="1" noTextEdit="1"/>
                    </p:cNvSpPr>
                    <p:nvPr/>
                  </p:nvSpPr>
                  <p:spPr>
                    <a:xfrm>
                      <a:off x="10463007" y="4823505"/>
                      <a:ext cx="656856" cy="463953"/>
                    </a:xfrm>
                    <a:prstGeom prst="rect">
                      <a:avLst/>
                    </a:prstGeom>
                    <a:blipFill>
                      <a:blip r:embed="rId24"/>
                      <a:stretch>
                        <a:fillRect b="-1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941DB976-8FDC-C528-9F08-5F9113ADCC2F}"/>
                        </a:ext>
                      </a:extLst>
                    </p:cNvPr>
                    <p:cNvSpPr txBox="1"/>
                    <p:nvPr/>
                  </p:nvSpPr>
                  <p:spPr>
                    <a:xfrm>
                      <a:off x="9978372" y="4801215"/>
                      <a:ext cx="656856" cy="46395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1600" b="1" i="1" smtClean="0">
                                <a:solidFill>
                                  <a:schemeClr val="accent2"/>
                                </a:solidFill>
                                <a:latin typeface="Cambria Math" panose="02040503050406030204" pitchFamily="18" charset="0"/>
                              </a:rPr>
                              <m:t>𝟏</m:t>
                            </m:r>
                          </m:oMath>
                        </m:oMathPara>
                      </a14:m>
                      <a:endParaRPr lang="en-US" sz="1600" b="1" dirty="0">
                        <a:solidFill>
                          <a:schemeClr val="accent2"/>
                        </a:solidFill>
                      </a:endParaRPr>
                    </a:p>
                  </p:txBody>
                </p:sp>
              </mc:Choice>
              <mc:Fallback xmlns="">
                <p:sp>
                  <p:nvSpPr>
                    <p:cNvPr id="13" name="TextBox 12">
                      <a:extLst>
                        <a:ext uri="{FF2B5EF4-FFF2-40B4-BE49-F238E27FC236}">
                          <a16:creationId xmlns:a16="http://schemas.microsoft.com/office/drawing/2014/main" id="{941DB976-8FDC-C528-9F08-5F9113ADCC2F}"/>
                        </a:ext>
                      </a:extLst>
                    </p:cNvPr>
                    <p:cNvSpPr txBox="1">
                      <a:spLocks noRot="1" noChangeAspect="1" noMove="1" noResize="1" noEditPoints="1" noAdjustHandles="1" noChangeArrowheads="1" noChangeShapeType="1" noTextEdit="1"/>
                    </p:cNvSpPr>
                    <p:nvPr/>
                  </p:nvSpPr>
                  <p:spPr>
                    <a:xfrm>
                      <a:off x="9978372" y="4801215"/>
                      <a:ext cx="656856" cy="463953"/>
                    </a:xfrm>
                    <a:prstGeom prst="rect">
                      <a:avLst/>
                    </a:prstGeom>
                    <a:blipFill>
                      <a:blip r:embed="rId25"/>
                      <a:stretch>
                        <a:fillRect b="-1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A733DCBC-903A-E9C4-E4C5-D6670930E8CC}"/>
                        </a:ext>
                      </a:extLst>
                    </p:cNvPr>
                    <p:cNvSpPr txBox="1"/>
                    <p:nvPr/>
                  </p:nvSpPr>
                  <p:spPr>
                    <a:xfrm>
                      <a:off x="9444596" y="4823505"/>
                      <a:ext cx="656856" cy="40596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0</m:t>
                            </m:r>
                          </m:oMath>
                        </m:oMathPara>
                      </a14:m>
                      <a:endParaRPr lang="en-US" sz="1400" dirty="0"/>
                    </a:p>
                  </p:txBody>
                </p:sp>
              </mc:Choice>
              <mc:Fallback xmlns="">
                <p:sp>
                  <p:nvSpPr>
                    <p:cNvPr id="14" name="TextBox 13">
                      <a:extLst>
                        <a:ext uri="{FF2B5EF4-FFF2-40B4-BE49-F238E27FC236}">
                          <a16:creationId xmlns:a16="http://schemas.microsoft.com/office/drawing/2014/main" id="{A733DCBC-903A-E9C4-E4C5-D6670930E8CC}"/>
                        </a:ext>
                      </a:extLst>
                    </p:cNvPr>
                    <p:cNvSpPr txBox="1">
                      <a:spLocks noRot="1" noChangeAspect="1" noMove="1" noResize="1" noEditPoints="1" noAdjustHandles="1" noChangeArrowheads="1" noChangeShapeType="1" noTextEdit="1"/>
                    </p:cNvSpPr>
                    <p:nvPr/>
                  </p:nvSpPr>
                  <p:spPr>
                    <a:xfrm>
                      <a:off x="9444596" y="4823505"/>
                      <a:ext cx="656856" cy="405960"/>
                    </a:xfrm>
                    <a:prstGeom prst="rect">
                      <a:avLst/>
                    </a:prstGeom>
                    <a:blipFill>
                      <a:blip r:embed="rId13"/>
                      <a:stretch>
                        <a:fillRect b="-555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F1A54E2B-ECF4-A766-9A8E-08C1DE8377A1}"/>
                        </a:ext>
                      </a:extLst>
                    </p:cNvPr>
                    <p:cNvSpPr txBox="1"/>
                    <p:nvPr/>
                  </p:nvSpPr>
                  <p:spPr>
                    <a:xfrm>
                      <a:off x="8854199" y="4796325"/>
                      <a:ext cx="850774" cy="52194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200" i="1" smtClean="0">
                                <a:latin typeface="Cambria Math" panose="02040503050406030204" pitchFamily="18" charset="0"/>
                              </a:rPr>
                              <m:t>⋯</m:t>
                            </m:r>
                          </m:oMath>
                        </m:oMathPara>
                      </a14:m>
                      <a:endParaRPr lang="en-US" sz="1200" dirty="0"/>
                    </a:p>
                  </p:txBody>
                </p:sp>
              </mc:Choice>
              <mc:Fallback xmlns="">
                <p:sp>
                  <p:nvSpPr>
                    <p:cNvPr id="15" name="TextBox 14">
                      <a:extLst>
                        <a:ext uri="{FF2B5EF4-FFF2-40B4-BE49-F238E27FC236}">
                          <a16:creationId xmlns:a16="http://schemas.microsoft.com/office/drawing/2014/main" id="{F1A54E2B-ECF4-A766-9A8E-08C1DE8377A1}"/>
                        </a:ext>
                      </a:extLst>
                    </p:cNvPr>
                    <p:cNvSpPr txBox="1">
                      <a:spLocks noRot="1" noChangeAspect="1" noMove="1" noResize="1" noEditPoints="1" noAdjustHandles="1" noChangeArrowheads="1" noChangeShapeType="1" noTextEdit="1"/>
                    </p:cNvSpPr>
                    <p:nvPr/>
                  </p:nvSpPr>
                  <p:spPr>
                    <a:xfrm>
                      <a:off x="8854199" y="4796325"/>
                      <a:ext cx="850774" cy="521948"/>
                    </a:xfrm>
                    <a:prstGeom prst="rect">
                      <a:avLst/>
                    </a:prstGeom>
                    <a:blipFill>
                      <a:blip r:embed="rId26"/>
                      <a:stretch>
                        <a:fillRect/>
                      </a:stretch>
                    </a:blipFill>
                  </p:spPr>
                  <p:txBody>
                    <a:bodyPr/>
                    <a:lstStyle/>
                    <a:p>
                      <a:r>
                        <a:rPr lang="en-US">
                          <a:noFill/>
                        </a:rPr>
                        <a:t> </a:t>
                      </a:r>
                    </a:p>
                  </p:txBody>
                </p:sp>
              </mc:Fallback>
            </mc:AlternateContent>
          </p:grpSp>
          <p:sp>
            <p:nvSpPr>
              <p:cNvPr id="8" name="Rounded Rectangle 7">
                <a:extLst>
                  <a:ext uri="{FF2B5EF4-FFF2-40B4-BE49-F238E27FC236}">
                    <a16:creationId xmlns:a16="http://schemas.microsoft.com/office/drawing/2014/main" id="{3B5A4F86-87C1-2ED2-0747-2D98DEBDC777}"/>
                  </a:ext>
                </a:extLst>
              </p:cNvPr>
              <p:cNvSpPr/>
              <p:nvPr/>
            </p:nvSpPr>
            <p:spPr>
              <a:xfrm>
                <a:off x="9549862" y="4773080"/>
                <a:ext cx="1634183" cy="470184"/>
              </a:xfrm>
              <a:prstGeom prst="roundRect">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grpSp>
        <p:grpSp>
          <p:nvGrpSpPr>
            <p:cNvPr id="39" name="Group 38">
              <a:extLst>
                <a:ext uri="{FF2B5EF4-FFF2-40B4-BE49-F238E27FC236}">
                  <a16:creationId xmlns:a16="http://schemas.microsoft.com/office/drawing/2014/main" id="{F7CDAEC7-86DA-B8B2-4128-E561428720E3}"/>
                </a:ext>
              </a:extLst>
            </p:cNvPr>
            <p:cNvGrpSpPr/>
            <p:nvPr/>
          </p:nvGrpSpPr>
          <p:grpSpPr>
            <a:xfrm>
              <a:off x="3914043" y="3557588"/>
              <a:ext cx="3689085" cy="3435593"/>
              <a:chOff x="1297255" y="2940685"/>
              <a:chExt cx="3689085" cy="3435593"/>
            </a:xfrm>
          </p:grpSpPr>
          <p:grpSp>
            <p:nvGrpSpPr>
              <p:cNvPr id="40" name="Group 39">
                <a:extLst>
                  <a:ext uri="{FF2B5EF4-FFF2-40B4-BE49-F238E27FC236}">
                    <a16:creationId xmlns:a16="http://schemas.microsoft.com/office/drawing/2014/main" id="{2E6813C7-3FE1-75FE-C3D7-A6A8B3558214}"/>
                  </a:ext>
                </a:extLst>
              </p:cNvPr>
              <p:cNvGrpSpPr/>
              <p:nvPr/>
            </p:nvGrpSpPr>
            <p:grpSpPr>
              <a:xfrm>
                <a:off x="1297255" y="2940685"/>
                <a:ext cx="3689085" cy="3435593"/>
                <a:chOff x="1356034" y="2048610"/>
                <a:chExt cx="4779341" cy="4450936"/>
              </a:xfrm>
            </p:grpSpPr>
            <p:grpSp>
              <p:nvGrpSpPr>
                <p:cNvPr id="43" name="Group 42">
                  <a:extLst>
                    <a:ext uri="{FF2B5EF4-FFF2-40B4-BE49-F238E27FC236}">
                      <a16:creationId xmlns:a16="http://schemas.microsoft.com/office/drawing/2014/main" id="{D3325130-587F-3AA5-6488-5A5076FDD2DE}"/>
                    </a:ext>
                  </a:extLst>
                </p:cNvPr>
                <p:cNvGrpSpPr/>
                <p:nvPr/>
              </p:nvGrpSpPr>
              <p:grpSpPr>
                <a:xfrm>
                  <a:off x="1356034" y="2048610"/>
                  <a:ext cx="4739966" cy="3271078"/>
                  <a:chOff x="1784821" y="2494059"/>
                  <a:chExt cx="4739966" cy="3271078"/>
                </a:xfrm>
              </p:grpSpPr>
              <p:sp>
                <p:nvSpPr>
                  <p:cNvPr id="46" name="Rectangle 45">
                    <a:extLst>
                      <a:ext uri="{FF2B5EF4-FFF2-40B4-BE49-F238E27FC236}">
                        <a16:creationId xmlns:a16="http://schemas.microsoft.com/office/drawing/2014/main" id="{2B7C1AF8-E392-FA01-5279-940A7C06B360}"/>
                      </a:ext>
                    </a:extLst>
                  </p:cNvPr>
                  <p:cNvSpPr/>
                  <p:nvPr/>
                </p:nvSpPr>
                <p:spPr>
                  <a:xfrm>
                    <a:off x="2275669" y="3043251"/>
                    <a:ext cx="4249118" cy="2693288"/>
                  </a:xfrm>
                  <a:prstGeom prst="rect">
                    <a:avLst/>
                  </a:prstGeom>
                  <a:solidFill>
                    <a:schemeClr val="bg1">
                      <a:lumMod val="9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47" name="TextBox 46">
                    <a:extLst>
                      <a:ext uri="{FF2B5EF4-FFF2-40B4-BE49-F238E27FC236}">
                        <a16:creationId xmlns:a16="http://schemas.microsoft.com/office/drawing/2014/main" id="{7A8D10AE-5BF4-65BF-E6E6-ED8F871191AF}"/>
                      </a:ext>
                    </a:extLst>
                  </p:cNvPr>
                  <p:cNvSpPr txBox="1"/>
                  <p:nvPr/>
                </p:nvSpPr>
                <p:spPr>
                  <a:xfrm>
                    <a:off x="1784821" y="3126690"/>
                    <a:ext cx="546996" cy="1547834"/>
                  </a:xfrm>
                  <a:prstGeom prst="rect">
                    <a:avLst/>
                  </a:prstGeom>
                  <a:noFill/>
                </p:spPr>
                <p:txBody>
                  <a:bodyPr wrap="none" rtlCol="0">
                    <a:spAutoFit/>
                  </a:bodyPr>
                  <a:lstStyle/>
                  <a:p>
                    <a:r>
                      <a:rPr lang="en-US" sz="1600" b="1" dirty="0"/>
                      <a:t>1</a:t>
                    </a:r>
                  </a:p>
                  <a:p>
                    <a:r>
                      <a:rPr lang="en-US" sz="1600" b="1" dirty="0"/>
                      <a:t>2</a:t>
                    </a:r>
                  </a:p>
                  <a:p>
                    <a:r>
                      <a:rPr lang="en-US" sz="1600" b="1" dirty="0"/>
                      <a:t>3</a:t>
                    </a:r>
                  </a:p>
                </p:txBody>
              </p:sp>
              <p:sp>
                <p:nvSpPr>
                  <p:cNvPr id="48" name="TextBox 47">
                    <a:extLst>
                      <a:ext uri="{FF2B5EF4-FFF2-40B4-BE49-F238E27FC236}">
                        <a16:creationId xmlns:a16="http://schemas.microsoft.com/office/drawing/2014/main" id="{7F005F79-9DC4-CEE9-8872-E19633F5A302}"/>
                      </a:ext>
                    </a:extLst>
                  </p:cNvPr>
                  <p:cNvSpPr txBox="1"/>
                  <p:nvPr/>
                </p:nvSpPr>
                <p:spPr>
                  <a:xfrm>
                    <a:off x="1811214" y="5134539"/>
                    <a:ext cx="564911" cy="630598"/>
                  </a:xfrm>
                  <a:prstGeom prst="rect">
                    <a:avLst/>
                  </a:prstGeom>
                  <a:noFill/>
                </p:spPr>
                <p:txBody>
                  <a:bodyPr wrap="none" rtlCol="0">
                    <a:spAutoFit/>
                  </a:bodyPr>
                  <a:lstStyle/>
                  <a:p>
                    <a:r>
                      <a:rPr lang="en-US" sz="1600" b="1" dirty="0"/>
                      <a:t>n</a:t>
                    </a:r>
                  </a:p>
                </p:txBody>
              </p:sp>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DE621907-C3E1-5890-3E39-37F43ED29475}"/>
                          </a:ext>
                        </a:extLst>
                      </p:cNvPr>
                      <p:cNvSpPr txBox="1"/>
                      <p:nvPr/>
                    </p:nvSpPr>
                    <p:spPr>
                      <a:xfrm>
                        <a:off x="1856429" y="4808790"/>
                        <a:ext cx="493252" cy="51594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200" b="0" i="1" smtClean="0">
                                  <a:latin typeface="Cambria Math" panose="02040503050406030204" pitchFamily="18" charset="0"/>
                                </a:rPr>
                                <m:t>⋮</m:t>
                              </m:r>
                            </m:oMath>
                          </m:oMathPara>
                        </a14:m>
                        <a:endParaRPr lang="en-US" sz="1200" dirty="0"/>
                      </a:p>
                    </p:txBody>
                  </p:sp>
                </mc:Choice>
                <mc:Fallback xmlns="">
                  <p:sp>
                    <p:nvSpPr>
                      <p:cNvPr id="49" name="TextBox 48">
                        <a:extLst>
                          <a:ext uri="{FF2B5EF4-FFF2-40B4-BE49-F238E27FC236}">
                            <a16:creationId xmlns:a16="http://schemas.microsoft.com/office/drawing/2014/main" id="{DE621907-C3E1-5890-3E39-37F43ED29475}"/>
                          </a:ext>
                        </a:extLst>
                      </p:cNvPr>
                      <p:cNvSpPr txBox="1">
                        <a:spLocks noRot="1" noChangeAspect="1" noMove="1" noResize="1" noEditPoints="1" noAdjustHandles="1" noChangeArrowheads="1" noChangeShapeType="1" noTextEdit="1"/>
                      </p:cNvSpPr>
                      <p:nvPr/>
                    </p:nvSpPr>
                    <p:spPr>
                      <a:xfrm>
                        <a:off x="1856429" y="4808790"/>
                        <a:ext cx="493252" cy="515945"/>
                      </a:xfrm>
                      <a:prstGeom prst="rect">
                        <a:avLst/>
                      </a:prstGeom>
                      <a:blipFill>
                        <a:blip r:embed="rId2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FEA9B67A-43E7-4C77-64BF-A3BCB40D6B91}"/>
                          </a:ext>
                        </a:extLst>
                      </p:cNvPr>
                      <p:cNvSpPr txBox="1"/>
                      <p:nvPr/>
                    </p:nvSpPr>
                    <p:spPr>
                      <a:xfrm>
                        <a:off x="2206206" y="2530600"/>
                        <a:ext cx="721673" cy="63059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b="1" i="1" smtClean="0">
                                  <a:latin typeface="Cambria Math" panose="02040503050406030204" pitchFamily="18" charset="0"/>
                                </a:rPr>
                                <m:t>𝟏</m:t>
                              </m:r>
                            </m:oMath>
                          </m:oMathPara>
                        </a14:m>
                        <a:endParaRPr lang="en-US" sz="1600" b="1" dirty="0"/>
                      </a:p>
                    </p:txBody>
                  </p:sp>
                </mc:Choice>
                <mc:Fallback xmlns="">
                  <p:sp>
                    <p:nvSpPr>
                      <p:cNvPr id="50" name="TextBox 49">
                        <a:extLst>
                          <a:ext uri="{FF2B5EF4-FFF2-40B4-BE49-F238E27FC236}">
                            <a16:creationId xmlns:a16="http://schemas.microsoft.com/office/drawing/2014/main" id="{FEA9B67A-43E7-4C77-64BF-A3BCB40D6B91}"/>
                          </a:ext>
                        </a:extLst>
                      </p:cNvPr>
                      <p:cNvSpPr txBox="1">
                        <a:spLocks noRot="1" noChangeAspect="1" noMove="1" noResize="1" noEditPoints="1" noAdjustHandles="1" noChangeArrowheads="1" noChangeShapeType="1" noTextEdit="1"/>
                      </p:cNvSpPr>
                      <p:nvPr/>
                    </p:nvSpPr>
                    <p:spPr>
                      <a:xfrm>
                        <a:off x="2206206" y="2530600"/>
                        <a:ext cx="721673" cy="630598"/>
                      </a:xfrm>
                      <a:prstGeom prst="rect">
                        <a:avLst/>
                      </a:prstGeom>
                      <a:blipFill>
                        <a:blip r:embed="rId2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1" name="TextBox 50">
                        <a:extLst>
                          <a:ext uri="{FF2B5EF4-FFF2-40B4-BE49-F238E27FC236}">
                            <a16:creationId xmlns:a16="http://schemas.microsoft.com/office/drawing/2014/main" id="{2A7C892D-A6E5-BB32-A282-229B9DBC7AF2}"/>
                          </a:ext>
                        </a:extLst>
                      </p:cNvPr>
                      <p:cNvSpPr txBox="1"/>
                      <p:nvPr/>
                    </p:nvSpPr>
                    <p:spPr>
                      <a:xfrm>
                        <a:off x="3071462" y="2508867"/>
                        <a:ext cx="721673" cy="63059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b="1" i="1" smtClean="0">
                                  <a:latin typeface="Cambria Math" panose="02040503050406030204" pitchFamily="18" charset="0"/>
                                </a:rPr>
                                <m:t>𝟐</m:t>
                              </m:r>
                            </m:oMath>
                          </m:oMathPara>
                        </a14:m>
                        <a:endParaRPr lang="en-US" sz="1600" b="1" dirty="0"/>
                      </a:p>
                    </p:txBody>
                  </p:sp>
                </mc:Choice>
                <mc:Fallback xmlns="">
                  <p:sp>
                    <p:nvSpPr>
                      <p:cNvPr id="51" name="TextBox 50">
                        <a:extLst>
                          <a:ext uri="{FF2B5EF4-FFF2-40B4-BE49-F238E27FC236}">
                            <a16:creationId xmlns:a16="http://schemas.microsoft.com/office/drawing/2014/main" id="{2A7C892D-A6E5-BB32-A282-229B9DBC7AF2}"/>
                          </a:ext>
                        </a:extLst>
                      </p:cNvPr>
                      <p:cNvSpPr txBox="1">
                        <a:spLocks noRot="1" noChangeAspect="1" noMove="1" noResize="1" noEditPoints="1" noAdjustHandles="1" noChangeArrowheads="1" noChangeShapeType="1" noTextEdit="1"/>
                      </p:cNvSpPr>
                      <p:nvPr/>
                    </p:nvSpPr>
                    <p:spPr>
                      <a:xfrm>
                        <a:off x="3071462" y="2508867"/>
                        <a:ext cx="721673" cy="630598"/>
                      </a:xfrm>
                      <a:prstGeom prst="rect">
                        <a:avLst/>
                      </a:prstGeom>
                      <a:blipFill>
                        <a:blip r:embed="rId2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2" name="TextBox 51">
                        <a:extLst>
                          <a:ext uri="{FF2B5EF4-FFF2-40B4-BE49-F238E27FC236}">
                            <a16:creationId xmlns:a16="http://schemas.microsoft.com/office/drawing/2014/main" id="{CABBC7D9-E438-88BD-398A-C1FB23473CCF}"/>
                          </a:ext>
                        </a:extLst>
                      </p:cNvPr>
                      <p:cNvSpPr txBox="1"/>
                      <p:nvPr/>
                    </p:nvSpPr>
                    <p:spPr>
                      <a:xfrm>
                        <a:off x="5575900" y="2494059"/>
                        <a:ext cx="721673" cy="63059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b="1" i="1" smtClean="0">
                                  <a:latin typeface="Cambria Math" panose="02040503050406030204" pitchFamily="18" charset="0"/>
                                </a:rPr>
                                <m:t>𝑻</m:t>
                              </m:r>
                            </m:oMath>
                          </m:oMathPara>
                        </a14:m>
                        <a:endParaRPr lang="en-US" sz="1600" b="1" dirty="0"/>
                      </a:p>
                    </p:txBody>
                  </p:sp>
                </mc:Choice>
                <mc:Fallback xmlns="">
                  <p:sp>
                    <p:nvSpPr>
                      <p:cNvPr id="52" name="TextBox 51">
                        <a:extLst>
                          <a:ext uri="{FF2B5EF4-FFF2-40B4-BE49-F238E27FC236}">
                            <a16:creationId xmlns:a16="http://schemas.microsoft.com/office/drawing/2014/main" id="{CABBC7D9-E438-88BD-398A-C1FB23473CCF}"/>
                          </a:ext>
                        </a:extLst>
                      </p:cNvPr>
                      <p:cNvSpPr txBox="1">
                        <a:spLocks noRot="1" noChangeAspect="1" noMove="1" noResize="1" noEditPoints="1" noAdjustHandles="1" noChangeArrowheads="1" noChangeShapeType="1" noTextEdit="1"/>
                      </p:cNvSpPr>
                      <p:nvPr/>
                    </p:nvSpPr>
                    <p:spPr>
                      <a:xfrm>
                        <a:off x="5575900" y="2494059"/>
                        <a:ext cx="721673" cy="630598"/>
                      </a:xfrm>
                      <a:prstGeom prst="rect">
                        <a:avLst/>
                      </a:prstGeom>
                      <a:blipFill>
                        <a:blip r:embed="rId3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27857929-D023-4A04-D98D-5FA719BA7B27}"/>
                          </a:ext>
                        </a:extLst>
                      </p:cNvPr>
                      <p:cNvSpPr txBox="1"/>
                      <p:nvPr/>
                    </p:nvSpPr>
                    <p:spPr>
                      <a:xfrm>
                        <a:off x="2368565" y="3233675"/>
                        <a:ext cx="656855" cy="32903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100" b="0" i="1" smtClean="0">
                                      <a:latin typeface="Cambria Math" panose="02040503050406030204" pitchFamily="18" charset="0"/>
                                    </a:rPr>
                                  </m:ctrlPr>
                                </m:sSubPr>
                                <m:e>
                                  <m:r>
                                    <a:rPr lang="en-US" sz="1100" b="0" i="1" smtClean="0">
                                      <a:latin typeface="Cambria Math" panose="02040503050406030204" pitchFamily="18" charset="0"/>
                                    </a:rPr>
                                    <m:t>𝑌</m:t>
                                  </m:r>
                                </m:e>
                                <m:sub>
                                  <m:r>
                                    <a:rPr lang="en-US" sz="1100" b="0" i="1" smtClean="0">
                                      <a:latin typeface="Cambria Math" panose="02040503050406030204" pitchFamily="18" charset="0"/>
                                    </a:rPr>
                                    <m:t>1,1</m:t>
                                  </m:r>
                                </m:sub>
                              </m:sSub>
                            </m:oMath>
                          </m:oMathPara>
                        </a14:m>
                        <a:endParaRPr lang="en-US" sz="1100" dirty="0"/>
                      </a:p>
                    </p:txBody>
                  </p:sp>
                </mc:Choice>
                <mc:Fallback xmlns="">
                  <p:sp>
                    <p:nvSpPr>
                      <p:cNvPr id="53" name="TextBox 52">
                        <a:extLst>
                          <a:ext uri="{FF2B5EF4-FFF2-40B4-BE49-F238E27FC236}">
                            <a16:creationId xmlns:a16="http://schemas.microsoft.com/office/drawing/2014/main" id="{27857929-D023-4A04-D98D-5FA719BA7B27}"/>
                          </a:ext>
                        </a:extLst>
                      </p:cNvPr>
                      <p:cNvSpPr txBox="1">
                        <a:spLocks noRot="1" noChangeAspect="1" noMove="1" noResize="1" noEditPoints="1" noAdjustHandles="1" noChangeArrowheads="1" noChangeShapeType="1" noTextEdit="1"/>
                      </p:cNvSpPr>
                      <p:nvPr/>
                    </p:nvSpPr>
                    <p:spPr>
                      <a:xfrm>
                        <a:off x="2368565" y="3233675"/>
                        <a:ext cx="656855" cy="329034"/>
                      </a:xfrm>
                      <a:prstGeom prst="rect">
                        <a:avLst/>
                      </a:prstGeom>
                      <a:blipFill>
                        <a:blip r:embed="rId31"/>
                        <a:stretch>
                          <a:fillRect b="-6667"/>
                        </a:stretch>
                      </a:blipFill>
                    </p:spPr>
                    <p:txBody>
                      <a:bodyPr/>
                      <a:lstStyle/>
                      <a:p>
                        <a:r>
                          <a:rPr lang="en-US">
                            <a:noFill/>
                          </a:rPr>
                          <a:t> </a:t>
                        </a:r>
                      </a:p>
                    </p:txBody>
                  </p:sp>
                </mc:Fallback>
              </mc:AlternateContent>
              <p:sp>
                <p:nvSpPr>
                  <p:cNvPr id="54" name="TextBox 53">
                    <a:extLst>
                      <a:ext uri="{FF2B5EF4-FFF2-40B4-BE49-F238E27FC236}">
                        <a16:creationId xmlns:a16="http://schemas.microsoft.com/office/drawing/2014/main" id="{BF823BDF-4052-DA0A-9796-E634C9ECB982}"/>
                      </a:ext>
                    </a:extLst>
                  </p:cNvPr>
                  <p:cNvSpPr txBox="1"/>
                  <p:nvPr/>
                </p:nvSpPr>
                <p:spPr>
                  <a:xfrm>
                    <a:off x="6096000" y="3338190"/>
                    <a:ext cx="258305" cy="515945"/>
                  </a:xfrm>
                  <a:prstGeom prst="rect">
                    <a:avLst/>
                  </a:prstGeom>
                  <a:noFill/>
                </p:spPr>
                <p:txBody>
                  <a:bodyPr wrap="square" rtlCol="0">
                    <a:spAutoFit/>
                  </a:bodyPr>
                  <a:lstStyle/>
                  <a:p>
                    <a:endParaRPr lang="en-US" sz="1200" dirty="0"/>
                  </a:p>
                </p:txBody>
              </p:sp>
              <mc:AlternateContent xmlns:mc="http://schemas.openxmlformats.org/markup-compatibility/2006" xmlns:a14="http://schemas.microsoft.com/office/drawing/2010/main">
                <mc:Choice Requires="a14">
                  <p:sp>
                    <p:nvSpPr>
                      <p:cNvPr id="55" name="TextBox 54">
                        <a:extLst>
                          <a:ext uri="{FF2B5EF4-FFF2-40B4-BE49-F238E27FC236}">
                            <a16:creationId xmlns:a16="http://schemas.microsoft.com/office/drawing/2014/main" id="{90A3EE1B-EB0D-3850-F223-1BABF23F7C23}"/>
                          </a:ext>
                        </a:extLst>
                      </p:cNvPr>
                      <p:cNvSpPr txBox="1"/>
                      <p:nvPr/>
                    </p:nvSpPr>
                    <p:spPr>
                      <a:xfrm>
                        <a:off x="3121571" y="3233675"/>
                        <a:ext cx="656855" cy="32903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100" b="0" i="1" smtClean="0">
                                      <a:latin typeface="Cambria Math" panose="02040503050406030204" pitchFamily="18" charset="0"/>
                                    </a:rPr>
                                  </m:ctrlPr>
                                </m:sSubPr>
                                <m:e>
                                  <m:r>
                                    <a:rPr lang="en-US" sz="1100" b="0" i="1" smtClean="0">
                                      <a:latin typeface="Cambria Math" panose="02040503050406030204" pitchFamily="18" charset="0"/>
                                    </a:rPr>
                                    <m:t>𝑌</m:t>
                                  </m:r>
                                </m:e>
                                <m:sub>
                                  <m:r>
                                    <a:rPr lang="en-US" sz="1100" b="0" i="1" smtClean="0">
                                      <a:latin typeface="Cambria Math" panose="02040503050406030204" pitchFamily="18" charset="0"/>
                                    </a:rPr>
                                    <m:t>1,2</m:t>
                                  </m:r>
                                </m:sub>
                              </m:sSub>
                            </m:oMath>
                          </m:oMathPara>
                        </a14:m>
                        <a:endParaRPr lang="en-US" sz="1100" dirty="0"/>
                      </a:p>
                    </p:txBody>
                  </p:sp>
                </mc:Choice>
                <mc:Fallback xmlns="">
                  <p:sp>
                    <p:nvSpPr>
                      <p:cNvPr id="55" name="TextBox 54">
                        <a:extLst>
                          <a:ext uri="{FF2B5EF4-FFF2-40B4-BE49-F238E27FC236}">
                            <a16:creationId xmlns:a16="http://schemas.microsoft.com/office/drawing/2014/main" id="{90A3EE1B-EB0D-3850-F223-1BABF23F7C23}"/>
                          </a:ext>
                        </a:extLst>
                      </p:cNvPr>
                      <p:cNvSpPr txBox="1">
                        <a:spLocks noRot="1" noChangeAspect="1" noMove="1" noResize="1" noEditPoints="1" noAdjustHandles="1" noChangeArrowheads="1" noChangeShapeType="1" noTextEdit="1"/>
                      </p:cNvSpPr>
                      <p:nvPr/>
                    </p:nvSpPr>
                    <p:spPr>
                      <a:xfrm>
                        <a:off x="3121571" y="3233675"/>
                        <a:ext cx="656855" cy="329034"/>
                      </a:xfrm>
                      <a:prstGeom prst="rect">
                        <a:avLst/>
                      </a:prstGeom>
                      <a:blipFill>
                        <a:blip r:embed="rId32"/>
                        <a:stretch>
                          <a:fillRect b="-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6" name="TextBox 55">
                        <a:extLst>
                          <a:ext uri="{FF2B5EF4-FFF2-40B4-BE49-F238E27FC236}">
                            <a16:creationId xmlns:a16="http://schemas.microsoft.com/office/drawing/2014/main" id="{56A4BB36-7953-57CF-4F7B-087EFB3EE7FC}"/>
                          </a:ext>
                        </a:extLst>
                      </p:cNvPr>
                      <p:cNvSpPr txBox="1"/>
                      <p:nvPr/>
                    </p:nvSpPr>
                    <p:spPr>
                      <a:xfrm>
                        <a:off x="5608308" y="3233675"/>
                        <a:ext cx="656855" cy="32903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100" b="0" i="1" smtClean="0">
                                      <a:latin typeface="Cambria Math" panose="02040503050406030204" pitchFamily="18" charset="0"/>
                                    </a:rPr>
                                  </m:ctrlPr>
                                </m:sSubPr>
                                <m:e>
                                  <m:r>
                                    <a:rPr lang="en-US" sz="1100" b="0" i="1" smtClean="0">
                                      <a:latin typeface="Cambria Math" panose="02040503050406030204" pitchFamily="18" charset="0"/>
                                    </a:rPr>
                                    <m:t>𝑌</m:t>
                                  </m:r>
                                </m:e>
                                <m:sub>
                                  <m:r>
                                    <a:rPr lang="en-US" sz="1100" b="0" i="1" smtClean="0">
                                      <a:latin typeface="Cambria Math" panose="02040503050406030204" pitchFamily="18" charset="0"/>
                                    </a:rPr>
                                    <m:t>1,</m:t>
                                  </m:r>
                                  <m:r>
                                    <a:rPr lang="en-US" sz="1100" b="0" i="1" smtClean="0">
                                      <a:latin typeface="Cambria Math" panose="02040503050406030204" pitchFamily="18" charset="0"/>
                                    </a:rPr>
                                    <m:t>𝑇</m:t>
                                  </m:r>
                                </m:sub>
                              </m:sSub>
                            </m:oMath>
                          </m:oMathPara>
                        </a14:m>
                        <a:endParaRPr lang="en-US" sz="1100" dirty="0"/>
                      </a:p>
                    </p:txBody>
                  </p:sp>
                </mc:Choice>
                <mc:Fallback xmlns="">
                  <p:sp>
                    <p:nvSpPr>
                      <p:cNvPr id="56" name="TextBox 55">
                        <a:extLst>
                          <a:ext uri="{FF2B5EF4-FFF2-40B4-BE49-F238E27FC236}">
                            <a16:creationId xmlns:a16="http://schemas.microsoft.com/office/drawing/2014/main" id="{56A4BB36-7953-57CF-4F7B-087EFB3EE7FC}"/>
                          </a:ext>
                        </a:extLst>
                      </p:cNvPr>
                      <p:cNvSpPr txBox="1">
                        <a:spLocks noRot="1" noChangeAspect="1" noMove="1" noResize="1" noEditPoints="1" noAdjustHandles="1" noChangeArrowheads="1" noChangeShapeType="1" noTextEdit="1"/>
                      </p:cNvSpPr>
                      <p:nvPr/>
                    </p:nvSpPr>
                    <p:spPr>
                      <a:xfrm>
                        <a:off x="5608308" y="3233675"/>
                        <a:ext cx="656855" cy="329034"/>
                      </a:xfrm>
                      <a:prstGeom prst="rect">
                        <a:avLst/>
                      </a:prstGeom>
                      <a:blipFill>
                        <a:blip r:embed="rId33"/>
                        <a:stretch>
                          <a:fillRect b="-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7" name="TextBox 56">
                        <a:extLst>
                          <a:ext uri="{FF2B5EF4-FFF2-40B4-BE49-F238E27FC236}">
                            <a16:creationId xmlns:a16="http://schemas.microsoft.com/office/drawing/2014/main" id="{A9391C9D-81A6-6F0A-104C-A60B07D5951F}"/>
                          </a:ext>
                        </a:extLst>
                      </p:cNvPr>
                      <p:cNvSpPr txBox="1"/>
                      <p:nvPr/>
                    </p:nvSpPr>
                    <p:spPr>
                      <a:xfrm>
                        <a:off x="2400974" y="3710679"/>
                        <a:ext cx="656855" cy="32903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100" b="0" i="1" smtClean="0">
                                      <a:latin typeface="Cambria Math" panose="02040503050406030204" pitchFamily="18" charset="0"/>
                                    </a:rPr>
                                  </m:ctrlPr>
                                </m:sSubPr>
                                <m:e>
                                  <m:r>
                                    <a:rPr lang="en-US" sz="1100" b="0" i="1" smtClean="0">
                                      <a:latin typeface="Cambria Math" panose="02040503050406030204" pitchFamily="18" charset="0"/>
                                    </a:rPr>
                                    <m:t>𝑌</m:t>
                                  </m:r>
                                </m:e>
                                <m:sub>
                                  <m:r>
                                    <a:rPr lang="en-US" sz="1100" b="0" i="1" smtClean="0">
                                      <a:latin typeface="Cambria Math" panose="02040503050406030204" pitchFamily="18" charset="0"/>
                                    </a:rPr>
                                    <m:t>2,1</m:t>
                                  </m:r>
                                </m:sub>
                              </m:sSub>
                            </m:oMath>
                          </m:oMathPara>
                        </a14:m>
                        <a:endParaRPr lang="en-US" sz="1100" dirty="0"/>
                      </a:p>
                    </p:txBody>
                  </p:sp>
                </mc:Choice>
                <mc:Fallback xmlns="">
                  <p:sp>
                    <p:nvSpPr>
                      <p:cNvPr id="57" name="TextBox 56">
                        <a:extLst>
                          <a:ext uri="{FF2B5EF4-FFF2-40B4-BE49-F238E27FC236}">
                            <a16:creationId xmlns:a16="http://schemas.microsoft.com/office/drawing/2014/main" id="{A9391C9D-81A6-6F0A-104C-A60B07D5951F}"/>
                          </a:ext>
                        </a:extLst>
                      </p:cNvPr>
                      <p:cNvSpPr txBox="1">
                        <a:spLocks noRot="1" noChangeAspect="1" noMove="1" noResize="1" noEditPoints="1" noAdjustHandles="1" noChangeArrowheads="1" noChangeShapeType="1" noTextEdit="1"/>
                      </p:cNvSpPr>
                      <p:nvPr/>
                    </p:nvSpPr>
                    <p:spPr>
                      <a:xfrm>
                        <a:off x="2400974" y="3710679"/>
                        <a:ext cx="656855" cy="329034"/>
                      </a:xfrm>
                      <a:prstGeom prst="rect">
                        <a:avLst/>
                      </a:prstGeom>
                      <a:blipFill>
                        <a:blip r:embed="rId34"/>
                        <a:stretch>
                          <a:fillRect b="-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D7724E61-C065-4830-FA8A-D9EBF9F1EFCF}"/>
                          </a:ext>
                        </a:extLst>
                      </p:cNvPr>
                      <p:cNvSpPr txBox="1"/>
                      <p:nvPr/>
                    </p:nvSpPr>
                    <p:spPr>
                      <a:xfrm>
                        <a:off x="3153978" y="3710679"/>
                        <a:ext cx="656855" cy="32903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100" b="0" i="1" smtClean="0">
                                      <a:latin typeface="Cambria Math" panose="02040503050406030204" pitchFamily="18" charset="0"/>
                                    </a:rPr>
                                  </m:ctrlPr>
                                </m:sSubPr>
                                <m:e>
                                  <m:r>
                                    <a:rPr lang="en-US" sz="1100" b="0" i="1" smtClean="0">
                                      <a:latin typeface="Cambria Math" panose="02040503050406030204" pitchFamily="18" charset="0"/>
                                    </a:rPr>
                                    <m:t>𝑌</m:t>
                                  </m:r>
                                </m:e>
                                <m:sub>
                                  <m:r>
                                    <a:rPr lang="en-US" sz="1100" b="0" i="1" smtClean="0">
                                      <a:latin typeface="Cambria Math" panose="02040503050406030204" pitchFamily="18" charset="0"/>
                                    </a:rPr>
                                    <m:t>2,2</m:t>
                                  </m:r>
                                </m:sub>
                              </m:sSub>
                            </m:oMath>
                          </m:oMathPara>
                        </a14:m>
                        <a:endParaRPr lang="en-US" sz="1100" dirty="0"/>
                      </a:p>
                    </p:txBody>
                  </p:sp>
                </mc:Choice>
                <mc:Fallback xmlns="">
                  <p:sp>
                    <p:nvSpPr>
                      <p:cNvPr id="58" name="TextBox 57">
                        <a:extLst>
                          <a:ext uri="{FF2B5EF4-FFF2-40B4-BE49-F238E27FC236}">
                            <a16:creationId xmlns:a16="http://schemas.microsoft.com/office/drawing/2014/main" id="{D7724E61-C065-4830-FA8A-D9EBF9F1EFCF}"/>
                          </a:ext>
                        </a:extLst>
                      </p:cNvPr>
                      <p:cNvSpPr txBox="1">
                        <a:spLocks noRot="1" noChangeAspect="1" noMove="1" noResize="1" noEditPoints="1" noAdjustHandles="1" noChangeArrowheads="1" noChangeShapeType="1" noTextEdit="1"/>
                      </p:cNvSpPr>
                      <p:nvPr/>
                    </p:nvSpPr>
                    <p:spPr>
                      <a:xfrm>
                        <a:off x="3153978" y="3710679"/>
                        <a:ext cx="656855" cy="329034"/>
                      </a:xfrm>
                      <a:prstGeom prst="rect">
                        <a:avLst/>
                      </a:prstGeom>
                      <a:blipFill>
                        <a:blip r:embed="rId35"/>
                        <a:stretch>
                          <a:fillRect b="-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9" name="TextBox 58">
                        <a:extLst>
                          <a:ext uri="{FF2B5EF4-FFF2-40B4-BE49-F238E27FC236}">
                            <a16:creationId xmlns:a16="http://schemas.microsoft.com/office/drawing/2014/main" id="{93B20131-CDF8-43FA-579F-5D1CD7624D78}"/>
                          </a:ext>
                        </a:extLst>
                      </p:cNvPr>
                      <p:cNvSpPr txBox="1"/>
                      <p:nvPr/>
                    </p:nvSpPr>
                    <p:spPr>
                      <a:xfrm>
                        <a:off x="5640716" y="3710679"/>
                        <a:ext cx="656855" cy="32903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100" b="0" i="1" smtClean="0">
                                      <a:latin typeface="Cambria Math" panose="02040503050406030204" pitchFamily="18" charset="0"/>
                                    </a:rPr>
                                  </m:ctrlPr>
                                </m:sSubPr>
                                <m:e>
                                  <m:r>
                                    <a:rPr lang="en-US" sz="1100" b="0" i="1" smtClean="0">
                                      <a:latin typeface="Cambria Math" panose="02040503050406030204" pitchFamily="18" charset="0"/>
                                    </a:rPr>
                                    <m:t>𝑌</m:t>
                                  </m:r>
                                </m:e>
                                <m:sub>
                                  <m:r>
                                    <a:rPr lang="en-US" sz="1100" b="0" i="1" smtClean="0">
                                      <a:latin typeface="Cambria Math" panose="02040503050406030204" pitchFamily="18" charset="0"/>
                                    </a:rPr>
                                    <m:t>2,</m:t>
                                  </m:r>
                                  <m:r>
                                    <a:rPr lang="en-US" sz="1100" b="0" i="1" smtClean="0">
                                      <a:latin typeface="Cambria Math" panose="02040503050406030204" pitchFamily="18" charset="0"/>
                                    </a:rPr>
                                    <m:t>𝑇</m:t>
                                  </m:r>
                                </m:sub>
                              </m:sSub>
                            </m:oMath>
                          </m:oMathPara>
                        </a14:m>
                        <a:endParaRPr lang="en-US" sz="1100" dirty="0"/>
                      </a:p>
                    </p:txBody>
                  </p:sp>
                </mc:Choice>
                <mc:Fallback xmlns="">
                  <p:sp>
                    <p:nvSpPr>
                      <p:cNvPr id="59" name="TextBox 58">
                        <a:extLst>
                          <a:ext uri="{FF2B5EF4-FFF2-40B4-BE49-F238E27FC236}">
                            <a16:creationId xmlns:a16="http://schemas.microsoft.com/office/drawing/2014/main" id="{93B20131-CDF8-43FA-579F-5D1CD7624D78}"/>
                          </a:ext>
                        </a:extLst>
                      </p:cNvPr>
                      <p:cNvSpPr txBox="1">
                        <a:spLocks noRot="1" noChangeAspect="1" noMove="1" noResize="1" noEditPoints="1" noAdjustHandles="1" noChangeArrowheads="1" noChangeShapeType="1" noTextEdit="1"/>
                      </p:cNvSpPr>
                      <p:nvPr/>
                    </p:nvSpPr>
                    <p:spPr>
                      <a:xfrm>
                        <a:off x="5640716" y="3710679"/>
                        <a:ext cx="656855" cy="329034"/>
                      </a:xfrm>
                      <a:prstGeom prst="rect">
                        <a:avLst/>
                      </a:prstGeom>
                      <a:blipFill>
                        <a:blip r:embed="rId36"/>
                        <a:stretch>
                          <a:fillRect b="-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F4D8F98D-626A-5B46-4F33-B0AC90C1799E}"/>
                          </a:ext>
                        </a:extLst>
                      </p:cNvPr>
                      <p:cNvSpPr txBox="1"/>
                      <p:nvPr/>
                    </p:nvSpPr>
                    <p:spPr>
                      <a:xfrm>
                        <a:off x="2400974" y="4248184"/>
                        <a:ext cx="656855" cy="32903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100" b="0" i="1" smtClean="0">
                                      <a:latin typeface="Cambria Math" panose="02040503050406030204" pitchFamily="18" charset="0"/>
                                    </a:rPr>
                                  </m:ctrlPr>
                                </m:sSubPr>
                                <m:e>
                                  <m:r>
                                    <a:rPr lang="en-US" sz="1100" b="0" i="1" smtClean="0">
                                      <a:latin typeface="Cambria Math" panose="02040503050406030204" pitchFamily="18" charset="0"/>
                                    </a:rPr>
                                    <m:t>𝑌</m:t>
                                  </m:r>
                                </m:e>
                                <m:sub>
                                  <m:r>
                                    <a:rPr lang="en-US" sz="1100" b="0" i="1" smtClean="0">
                                      <a:latin typeface="Cambria Math" panose="02040503050406030204" pitchFamily="18" charset="0"/>
                                    </a:rPr>
                                    <m:t>3,1</m:t>
                                  </m:r>
                                </m:sub>
                              </m:sSub>
                            </m:oMath>
                          </m:oMathPara>
                        </a14:m>
                        <a:endParaRPr lang="en-US" sz="1100" dirty="0"/>
                      </a:p>
                    </p:txBody>
                  </p:sp>
                </mc:Choice>
                <mc:Fallback xmlns="">
                  <p:sp>
                    <p:nvSpPr>
                      <p:cNvPr id="60" name="TextBox 59">
                        <a:extLst>
                          <a:ext uri="{FF2B5EF4-FFF2-40B4-BE49-F238E27FC236}">
                            <a16:creationId xmlns:a16="http://schemas.microsoft.com/office/drawing/2014/main" id="{F4D8F98D-626A-5B46-4F33-B0AC90C1799E}"/>
                          </a:ext>
                        </a:extLst>
                      </p:cNvPr>
                      <p:cNvSpPr txBox="1">
                        <a:spLocks noRot="1" noChangeAspect="1" noMove="1" noResize="1" noEditPoints="1" noAdjustHandles="1" noChangeArrowheads="1" noChangeShapeType="1" noTextEdit="1"/>
                      </p:cNvSpPr>
                      <p:nvPr/>
                    </p:nvSpPr>
                    <p:spPr>
                      <a:xfrm>
                        <a:off x="2400974" y="4248184"/>
                        <a:ext cx="656855" cy="329034"/>
                      </a:xfrm>
                      <a:prstGeom prst="rect">
                        <a:avLst/>
                      </a:prstGeom>
                      <a:blipFill>
                        <a:blip r:embed="rId37"/>
                        <a:stretch>
                          <a:fillRect b="-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1" name="TextBox 60">
                        <a:extLst>
                          <a:ext uri="{FF2B5EF4-FFF2-40B4-BE49-F238E27FC236}">
                            <a16:creationId xmlns:a16="http://schemas.microsoft.com/office/drawing/2014/main" id="{71BC9AF9-9E91-A912-3824-2681BEC7915E}"/>
                          </a:ext>
                        </a:extLst>
                      </p:cNvPr>
                      <p:cNvSpPr txBox="1"/>
                      <p:nvPr/>
                    </p:nvSpPr>
                    <p:spPr>
                      <a:xfrm>
                        <a:off x="3153978" y="4248184"/>
                        <a:ext cx="656855" cy="32903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100" b="0" i="1" smtClean="0">
                                      <a:latin typeface="Cambria Math" panose="02040503050406030204" pitchFamily="18" charset="0"/>
                                    </a:rPr>
                                  </m:ctrlPr>
                                </m:sSubPr>
                                <m:e>
                                  <m:r>
                                    <a:rPr lang="en-US" sz="1100" b="0" i="1" smtClean="0">
                                      <a:latin typeface="Cambria Math" panose="02040503050406030204" pitchFamily="18" charset="0"/>
                                    </a:rPr>
                                    <m:t>𝑌</m:t>
                                  </m:r>
                                </m:e>
                                <m:sub>
                                  <m:r>
                                    <a:rPr lang="en-US" sz="1100" b="0" i="1" smtClean="0">
                                      <a:latin typeface="Cambria Math" panose="02040503050406030204" pitchFamily="18" charset="0"/>
                                    </a:rPr>
                                    <m:t>3,2</m:t>
                                  </m:r>
                                </m:sub>
                              </m:sSub>
                            </m:oMath>
                          </m:oMathPara>
                        </a14:m>
                        <a:endParaRPr lang="en-US" sz="1100" dirty="0"/>
                      </a:p>
                    </p:txBody>
                  </p:sp>
                </mc:Choice>
                <mc:Fallback xmlns="">
                  <p:sp>
                    <p:nvSpPr>
                      <p:cNvPr id="61" name="TextBox 60">
                        <a:extLst>
                          <a:ext uri="{FF2B5EF4-FFF2-40B4-BE49-F238E27FC236}">
                            <a16:creationId xmlns:a16="http://schemas.microsoft.com/office/drawing/2014/main" id="{71BC9AF9-9E91-A912-3824-2681BEC7915E}"/>
                          </a:ext>
                        </a:extLst>
                      </p:cNvPr>
                      <p:cNvSpPr txBox="1">
                        <a:spLocks noRot="1" noChangeAspect="1" noMove="1" noResize="1" noEditPoints="1" noAdjustHandles="1" noChangeArrowheads="1" noChangeShapeType="1" noTextEdit="1"/>
                      </p:cNvSpPr>
                      <p:nvPr/>
                    </p:nvSpPr>
                    <p:spPr>
                      <a:xfrm>
                        <a:off x="3153978" y="4248184"/>
                        <a:ext cx="656855" cy="329034"/>
                      </a:xfrm>
                      <a:prstGeom prst="rect">
                        <a:avLst/>
                      </a:prstGeom>
                      <a:blipFill>
                        <a:blip r:embed="rId38"/>
                        <a:stretch>
                          <a:fillRect b="-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id="{E22EF7F7-4751-CF7C-926A-93CA417EBE15}"/>
                          </a:ext>
                        </a:extLst>
                      </p:cNvPr>
                      <p:cNvSpPr txBox="1"/>
                      <p:nvPr/>
                    </p:nvSpPr>
                    <p:spPr>
                      <a:xfrm>
                        <a:off x="5640716" y="4248184"/>
                        <a:ext cx="656855" cy="32903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100" b="0" i="1" smtClean="0">
                                      <a:latin typeface="Cambria Math" panose="02040503050406030204" pitchFamily="18" charset="0"/>
                                    </a:rPr>
                                  </m:ctrlPr>
                                </m:sSubPr>
                                <m:e>
                                  <m:r>
                                    <a:rPr lang="en-US" sz="1100" b="0" i="1" smtClean="0">
                                      <a:latin typeface="Cambria Math" panose="02040503050406030204" pitchFamily="18" charset="0"/>
                                    </a:rPr>
                                    <m:t>𝑌</m:t>
                                  </m:r>
                                </m:e>
                                <m:sub>
                                  <m:r>
                                    <a:rPr lang="en-US" sz="1100" b="0" i="1" smtClean="0">
                                      <a:latin typeface="Cambria Math" panose="02040503050406030204" pitchFamily="18" charset="0"/>
                                    </a:rPr>
                                    <m:t>3,</m:t>
                                  </m:r>
                                  <m:r>
                                    <a:rPr lang="en-US" sz="1100" b="0" i="1" smtClean="0">
                                      <a:latin typeface="Cambria Math" panose="02040503050406030204" pitchFamily="18" charset="0"/>
                                    </a:rPr>
                                    <m:t>𝑇</m:t>
                                  </m:r>
                                </m:sub>
                              </m:sSub>
                            </m:oMath>
                          </m:oMathPara>
                        </a14:m>
                        <a:endParaRPr lang="en-US" sz="1100" dirty="0"/>
                      </a:p>
                    </p:txBody>
                  </p:sp>
                </mc:Choice>
                <mc:Fallback xmlns="">
                  <p:sp>
                    <p:nvSpPr>
                      <p:cNvPr id="62" name="TextBox 61">
                        <a:extLst>
                          <a:ext uri="{FF2B5EF4-FFF2-40B4-BE49-F238E27FC236}">
                            <a16:creationId xmlns:a16="http://schemas.microsoft.com/office/drawing/2014/main" id="{E22EF7F7-4751-CF7C-926A-93CA417EBE15}"/>
                          </a:ext>
                        </a:extLst>
                      </p:cNvPr>
                      <p:cNvSpPr txBox="1">
                        <a:spLocks noRot="1" noChangeAspect="1" noMove="1" noResize="1" noEditPoints="1" noAdjustHandles="1" noChangeArrowheads="1" noChangeShapeType="1" noTextEdit="1"/>
                      </p:cNvSpPr>
                      <p:nvPr/>
                    </p:nvSpPr>
                    <p:spPr>
                      <a:xfrm>
                        <a:off x="5640716" y="4248184"/>
                        <a:ext cx="656855" cy="329034"/>
                      </a:xfrm>
                      <a:prstGeom prst="rect">
                        <a:avLst/>
                      </a:prstGeom>
                      <a:blipFill>
                        <a:blip r:embed="rId39"/>
                        <a:stretch>
                          <a:fillRect b="-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3" name="TextBox 62">
                        <a:extLst>
                          <a:ext uri="{FF2B5EF4-FFF2-40B4-BE49-F238E27FC236}">
                            <a16:creationId xmlns:a16="http://schemas.microsoft.com/office/drawing/2014/main" id="{3E6D473D-7DCF-0C17-12EC-17122B3B3E73}"/>
                          </a:ext>
                        </a:extLst>
                      </p:cNvPr>
                      <p:cNvSpPr txBox="1"/>
                      <p:nvPr/>
                    </p:nvSpPr>
                    <p:spPr>
                      <a:xfrm>
                        <a:off x="2406233" y="5256350"/>
                        <a:ext cx="656855" cy="32903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100" b="0" i="1" smtClean="0">
                                      <a:latin typeface="Cambria Math" panose="02040503050406030204" pitchFamily="18" charset="0"/>
                                    </a:rPr>
                                  </m:ctrlPr>
                                </m:sSubPr>
                                <m:e>
                                  <m:r>
                                    <a:rPr lang="en-US" sz="1100" b="0" i="1" smtClean="0">
                                      <a:latin typeface="Cambria Math" panose="02040503050406030204" pitchFamily="18" charset="0"/>
                                    </a:rPr>
                                    <m:t>𝑌</m:t>
                                  </m:r>
                                </m:e>
                                <m:sub>
                                  <m:r>
                                    <a:rPr lang="en-US" sz="1100" b="0" i="1" smtClean="0">
                                      <a:latin typeface="Cambria Math" panose="02040503050406030204" pitchFamily="18" charset="0"/>
                                    </a:rPr>
                                    <m:t>𝑛</m:t>
                                  </m:r>
                                  <m:r>
                                    <a:rPr lang="en-US" sz="1100" b="0" i="1" smtClean="0">
                                      <a:latin typeface="Cambria Math" panose="02040503050406030204" pitchFamily="18" charset="0"/>
                                    </a:rPr>
                                    <m:t>,1</m:t>
                                  </m:r>
                                </m:sub>
                              </m:sSub>
                            </m:oMath>
                          </m:oMathPara>
                        </a14:m>
                        <a:endParaRPr lang="en-US" sz="1100" dirty="0"/>
                      </a:p>
                    </p:txBody>
                  </p:sp>
                </mc:Choice>
                <mc:Fallback xmlns="">
                  <p:sp>
                    <p:nvSpPr>
                      <p:cNvPr id="63" name="TextBox 62">
                        <a:extLst>
                          <a:ext uri="{FF2B5EF4-FFF2-40B4-BE49-F238E27FC236}">
                            <a16:creationId xmlns:a16="http://schemas.microsoft.com/office/drawing/2014/main" id="{3E6D473D-7DCF-0C17-12EC-17122B3B3E73}"/>
                          </a:ext>
                        </a:extLst>
                      </p:cNvPr>
                      <p:cNvSpPr txBox="1">
                        <a:spLocks noRot="1" noChangeAspect="1" noMove="1" noResize="1" noEditPoints="1" noAdjustHandles="1" noChangeArrowheads="1" noChangeShapeType="1" noTextEdit="1"/>
                      </p:cNvSpPr>
                      <p:nvPr/>
                    </p:nvSpPr>
                    <p:spPr>
                      <a:xfrm>
                        <a:off x="2406233" y="5256350"/>
                        <a:ext cx="656855" cy="329034"/>
                      </a:xfrm>
                      <a:prstGeom prst="rect">
                        <a:avLst/>
                      </a:prstGeom>
                      <a:blipFill>
                        <a:blip r:embed="rId40"/>
                        <a:stretch>
                          <a:fillRect b="-714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4" name="TextBox 63">
                        <a:extLst>
                          <a:ext uri="{FF2B5EF4-FFF2-40B4-BE49-F238E27FC236}">
                            <a16:creationId xmlns:a16="http://schemas.microsoft.com/office/drawing/2014/main" id="{18D6FDEC-C3E3-2806-A4AC-51BA5C3EE578}"/>
                          </a:ext>
                        </a:extLst>
                      </p:cNvPr>
                      <p:cNvSpPr txBox="1"/>
                      <p:nvPr/>
                    </p:nvSpPr>
                    <p:spPr>
                      <a:xfrm>
                        <a:off x="3159238" y="5256350"/>
                        <a:ext cx="656855" cy="32903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100" b="0" i="1" smtClean="0">
                                      <a:latin typeface="Cambria Math" panose="02040503050406030204" pitchFamily="18" charset="0"/>
                                    </a:rPr>
                                  </m:ctrlPr>
                                </m:sSubPr>
                                <m:e>
                                  <m:r>
                                    <a:rPr lang="en-US" sz="1100" b="0" i="1" smtClean="0">
                                      <a:latin typeface="Cambria Math" panose="02040503050406030204" pitchFamily="18" charset="0"/>
                                    </a:rPr>
                                    <m:t>𝑌</m:t>
                                  </m:r>
                                </m:e>
                                <m:sub>
                                  <m:r>
                                    <a:rPr lang="en-US" sz="1100" b="0" i="1" smtClean="0">
                                      <a:latin typeface="Cambria Math" panose="02040503050406030204" pitchFamily="18" charset="0"/>
                                    </a:rPr>
                                    <m:t>𝑛</m:t>
                                  </m:r>
                                  <m:r>
                                    <a:rPr lang="en-US" sz="1100" b="0" i="1" smtClean="0">
                                      <a:latin typeface="Cambria Math" panose="02040503050406030204" pitchFamily="18" charset="0"/>
                                    </a:rPr>
                                    <m:t>,2</m:t>
                                  </m:r>
                                </m:sub>
                              </m:sSub>
                            </m:oMath>
                          </m:oMathPara>
                        </a14:m>
                        <a:endParaRPr lang="en-US" sz="1100" dirty="0"/>
                      </a:p>
                    </p:txBody>
                  </p:sp>
                </mc:Choice>
                <mc:Fallback xmlns="">
                  <p:sp>
                    <p:nvSpPr>
                      <p:cNvPr id="64" name="TextBox 63">
                        <a:extLst>
                          <a:ext uri="{FF2B5EF4-FFF2-40B4-BE49-F238E27FC236}">
                            <a16:creationId xmlns:a16="http://schemas.microsoft.com/office/drawing/2014/main" id="{18D6FDEC-C3E3-2806-A4AC-51BA5C3EE578}"/>
                          </a:ext>
                        </a:extLst>
                      </p:cNvPr>
                      <p:cNvSpPr txBox="1">
                        <a:spLocks noRot="1" noChangeAspect="1" noMove="1" noResize="1" noEditPoints="1" noAdjustHandles="1" noChangeArrowheads="1" noChangeShapeType="1" noTextEdit="1"/>
                      </p:cNvSpPr>
                      <p:nvPr/>
                    </p:nvSpPr>
                    <p:spPr>
                      <a:xfrm>
                        <a:off x="3159238" y="5256350"/>
                        <a:ext cx="656855" cy="329034"/>
                      </a:xfrm>
                      <a:prstGeom prst="rect">
                        <a:avLst/>
                      </a:prstGeom>
                      <a:blipFill>
                        <a:blip r:embed="rId41"/>
                        <a:stretch>
                          <a:fillRect b="-714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5" name="TextBox 64">
                        <a:extLst>
                          <a:ext uri="{FF2B5EF4-FFF2-40B4-BE49-F238E27FC236}">
                            <a16:creationId xmlns:a16="http://schemas.microsoft.com/office/drawing/2014/main" id="{0CF75783-3AA3-1EC0-912B-D5D2BE43E606}"/>
                          </a:ext>
                        </a:extLst>
                      </p:cNvPr>
                      <p:cNvSpPr txBox="1"/>
                      <p:nvPr/>
                    </p:nvSpPr>
                    <p:spPr>
                      <a:xfrm>
                        <a:off x="2545348" y="4808790"/>
                        <a:ext cx="472353" cy="47295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0" i="1" smtClean="0">
                                  <a:latin typeface="Cambria Math" panose="02040503050406030204" pitchFamily="18" charset="0"/>
                                </a:rPr>
                                <m:t>⋮</m:t>
                              </m:r>
                            </m:oMath>
                          </m:oMathPara>
                        </a14:m>
                        <a:endParaRPr lang="en-US" sz="1050" dirty="0"/>
                      </a:p>
                    </p:txBody>
                  </p:sp>
                </mc:Choice>
                <mc:Fallback xmlns="">
                  <p:sp>
                    <p:nvSpPr>
                      <p:cNvPr id="65" name="TextBox 64">
                        <a:extLst>
                          <a:ext uri="{FF2B5EF4-FFF2-40B4-BE49-F238E27FC236}">
                            <a16:creationId xmlns:a16="http://schemas.microsoft.com/office/drawing/2014/main" id="{0CF75783-3AA3-1EC0-912B-D5D2BE43E606}"/>
                          </a:ext>
                        </a:extLst>
                      </p:cNvPr>
                      <p:cNvSpPr txBox="1">
                        <a:spLocks noRot="1" noChangeAspect="1" noMove="1" noResize="1" noEditPoints="1" noAdjustHandles="1" noChangeArrowheads="1" noChangeShapeType="1" noTextEdit="1"/>
                      </p:cNvSpPr>
                      <p:nvPr/>
                    </p:nvSpPr>
                    <p:spPr>
                      <a:xfrm>
                        <a:off x="2545348" y="4808790"/>
                        <a:ext cx="472353" cy="472950"/>
                      </a:xfrm>
                      <a:prstGeom prst="rect">
                        <a:avLst/>
                      </a:prstGeom>
                      <a:blipFill>
                        <a:blip r:embed="rId4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6" name="TextBox 65">
                        <a:extLst>
                          <a:ext uri="{FF2B5EF4-FFF2-40B4-BE49-F238E27FC236}">
                            <a16:creationId xmlns:a16="http://schemas.microsoft.com/office/drawing/2014/main" id="{EF1071F9-B7AC-0F28-DBD1-C4FBE08EC663}"/>
                          </a:ext>
                        </a:extLst>
                      </p:cNvPr>
                      <p:cNvSpPr txBox="1"/>
                      <p:nvPr/>
                    </p:nvSpPr>
                    <p:spPr>
                      <a:xfrm>
                        <a:off x="5854701" y="4802822"/>
                        <a:ext cx="472353" cy="47295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0" i="1" smtClean="0">
                                  <a:latin typeface="Cambria Math" panose="02040503050406030204" pitchFamily="18" charset="0"/>
                                </a:rPr>
                                <m:t>⋮</m:t>
                              </m:r>
                            </m:oMath>
                          </m:oMathPara>
                        </a14:m>
                        <a:endParaRPr lang="en-US" sz="1050" dirty="0"/>
                      </a:p>
                    </p:txBody>
                  </p:sp>
                </mc:Choice>
                <mc:Fallback xmlns="">
                  <p:sp>
                    <p:nvSpPr>
                      <p:cNvPr id="66" name="TextBox 65">
                        <a:extLst>
                          <a:ext uri="{FF2B5EF4-FFF2-40B4-BE49-F238E27FC236}">
                            <a16:creationId xmlns:a16="http://schemas.microsoft.com/office/drawing/2014/main" id="{EF1071F9-B7AC-0F28-DBD1-C4FBE08EC663}"/>
                          </a:ext>
                        </a:extLst>
                      </p:cNvPr>
                      <p:cNvSpPr txBox="1">
                        <a:spLocks noRot="1" noChangeAspect="1" noMove="1" noResize="1" noEditPoints="1" noAdjustHandles="1" noChangeArrowheads="1" noChangeShapeType="1" noTextEdit="1"/>
                      </p:cNvSpPr>
                      <p:nvPr/>
                    </p:nvSpPr>
                    <p:spPr>
                      <a:xfrm>
                        <a:off x="5854701" y="4802822"/>
                        <a:ext cx="472353" cy="472950"/>
                      </a:xfrm>
                      <a:prstGeom prst="rect">
                        <a:avLst/>
                      </a:prstGeom>
                      <a:blipFill>
                        <a:blip r:embed="rId4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7" name="TextBox 66">
                        <a:extLst>
                          <a:ext uri="{FF2B5EF4-FFF2-40B4-BE49-F238E27FC236}">
                            <a16:creationId xmlns:a16="http://schemas.microsoft.com/office/drawing/2014/main" id="{37EEDDB1-7E47-9592-0139-3EF69F518758}"/>
                          </a:ext>
                        </a:extLst>
                      </p:cNvPr>
                      <p:cNvSpPr txBox="1"/>
                      <p:nvPr/>
                    </p:nvSpPr>
                    <p:spPr>
                      <a:xfrm>
                        <a:off x="4233710" y="3244335"/>
                        <a:ext cx="850773" cy="47295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050" i="1" smtClean="0">
                                  <a:latin typeface="Cambria Math" panose="02040503050406030204" pitchFamily="18" charset="0"/>
                                </a:rPr>
                                <m:t>⋯</m:t>
                              </m:r>
                            </m:oMath>
                          </m:oMathPara>
                        </a14:m>
                        <a:endParaRPr lang="en-US" sz="1050" dirty="0"/>
                      </a:p>
                    </p:txBody>
                  </p:sp>
                </mc:Choice>
                <mc:Fallback xmlns="">
                  <p:sp>
                    <p:nvSpPr>
                      <p:cNvPr id="67" name="TextBox 66">
                        <a:extLst>
                          <a:ext uri="{FF2B5EF4-FFF2-40B4-BE49-F238E27FC236}">
                            <a16:creationId xmlns:a16="http://schemas.microsoft.com/office/drawing/2014/main" id="{37EEDDB1-7E47-9592-0139-3EF69F518758}"/>
                          </a:ext>
                        </a:extLst>
                      </p:cNvPr>
                      <p:cNvSpPr txBox="1">
                        <a:spLocks noRot="1" noChangeAspect="1" noMove="1" noResize="1" noEditPoints="1" noAdjustHandles="1" noChangeArrowheads="1" noChangeShapeType="1" noTextEdit="1"/>
                      </p:cNvSpPr>
                      <p:nvPr/>
                    </p:nvSpPr>
                    <p:spPr>
                      <a:xfrm>
                        <a:off x="4233710" y="3244335"/>
                        <a:ext cx="850773" cy="472950"/>
                      </a:xfrm>
                      <a:prstGeom prst="rect">
                        <a:avLst/>
                      </a:prstGeom>
                      <a:blipFill>
                        <a:blip r:embed="rId44"/>
                        <a:stretch>
                          <a:fillRect/>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DF773622-351F-205F-A097-FBEF45F34C41}"/>
                        </a:ext>
                      </a:extLst>
                    </p:cNvPr>
                    <p:cNvSpPr txBox="1"/>
                    <p:nvPr/>
                  </p:nvSpPr>
                  <p:spPr>
                    <a:xfrm>
                      <a:off x="3799342" y="2164107"/>
                      <a:ext cx="850773" cy="51594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200" i="1" smtClean="0">
                                <a:latin typeface="Cambria Math" panose="02040503050406030204" pitchFamily="18" charset="0"/>
                              </a:rPr>
                              <m:t>⋯</m:t>
                            </m:r>
                          </m:oMath>
                        </m:oMathPara>
                      </a14:m>
                      <a:endParaRPr lang="en-US" sz="1200" dirty="0"/>
                    </a:p>
                  </p:txBody>
                </p:sp>
              </mc:Choice>
              <mc:Fallback xmlns="">
                <p:sp>
                  <p:nvSpPr>
                    <p:cNvPr id="44" name="TextBox 43">
                      <a:extLst>
                        <a:ext uri="{FF2B5EF4-FFF2-40B4-BE49-F238E27FC236}">
                          <a16:creationId xmlns:a16="http://schemas.microsoft.com/office/drawing/2014/main" id="{DF773622-351F-205F-A097-FBEF45F34C41}"/>
                        </a:ext>
                      </a:extLst>
                    </p:cNvPr>
                    <p:cNvSpPr txBox="1">
                      <a:spLocks noRot="1" noChangeAspect="1" noMove="1" noResize="1" noEditPoints="1" noAdjustHandles="1" noChangeArrowheads="1" noChangeShapeType="1" noTextEdit="1"/>
                    </p:cNvSpPr>
                    <p:nvPr/>
                  </p:nvSpPr>
                  <p:spPr>
                    <a:xfrm>
                      <a:off x="3799342" y="2164107"/>
                      <a:ext cx="850773" cy="515945"/>
                    </a:xfrm>
                    <a:prstGeom prst="rect">
                      <a:avLst/>
                    </a:prstGeom>
                    <a:blipFill>
                      <a:blip r:embed="rId4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43C769DA-09DF-2596-8602-B2AACFE78A58}"/>
                        </a:ext>
                      </a:extLst>
                    </p:cNvPr>
                    <p:cNvSpPr txBox="1"/>
                    <p:nvPr/>
                  </p:nvSpPr>
                  <p:spPr>
                    <a:xfrm>
                      <a:off x="1781030" y="5410331"/>
                      <a:ext cx="4354345" cy="1089215"/>
                    </a:xfrm>
                    <a:prstGeom prst="rect">
                      <a:avLst/>
                    </a:prstGeom>
                    <a:noFill/>
                  </p:spPr>
                  <p:txBody>
                    <a:bodyPr wrap="square" rtlCol="0">
                      <a:spAutoFit/>
                    </a:bodyPr>
                    <a:lstStyle/>
                    <a:p>
                      <a:pPr algn="ctr"/>
                      <a:r>
                        <a:rPr lang="en-US" sz="1600" dirty="0">
                          <a:solidFill>
                            <a:schemeClr val="accent1"/>
                          </a:solidFill>
                        </a:rPr>
                        <a:t>Matrix </a:t>
                      </a:r>
                      <a14:m>
                        <m:oMath xmlns:m="http://schemas.openxmlformats.org/officeDocument/2006/math">
                          <m:r>
                            <a:rPr lang="en-US" sz="1600" b="1" i="1" smtClean="0">
                              <a:solidFill>
                                <a:schemeClr val="accent1"/>
                              </a:solidFill>
                              <a:latin typeface="Cambria Math" panose="02040503050406030204" pitchFamily="18" charset="0"/>
                            </a:rPr>
                            <m:t>𝒀</m:t>
                          </m:r>
                          <m:r>
                            <a:rPr lang="en-US" sz="1600" b="1" i="1" smtClean="0">
                              <a:solidFill>
                                <a:schemeClr val="accent1"/>
                              </a:solidFill>
                              <a:latin typeface="Cambria Math" panose="02040503050406030204" pitchFamily="18" charset="0"/>
                            </a:rPr>
                            <m:t>(</m:t>
                          </m:r>
                          <m:r>
                            <a:rPr lang="en-US" sz="1600" b="1" i="1" smtClean="0">
                              <a:solidFill>
                                <a:schemeClr val="accent1"/>
                              </a:solidFill>
                              <a:latin typeface="Cambria Math" panose="02040503050406030204" pitchFamily="18" charset="0"/>
                            </a:rPr>
                            <m:t>𝟎</m:t>
                          </m:r>
                          <m:r>
                            <a:rPr lang="en-US" sz="1600" b="1" i="1" smtClean="0">
                              <a:solidFill>
                                <a:schemeClr val="accent1"/>
                              </a:solidFill>
                              <a:latin typeface="Cambria Math" panose="02040503050406030204" pitchFamily="18" charset="0"/>
                            </a:rPr>
                            <m:t>)</m:t>
                          </m:r>
                        </m:oMath>
                      </a14:m>
                      <a:r>
                        <a:rPr lang="en-US" sz="1600" b="1" dirty="0">
                          <a:solidFill>
                            <a:schemeClr val="accent1"/>
                          </a:solidFill>
                        </a:rPr>
                        <a:t> </a:t>
                      </a:r>
                      <a:r>
                        <a:rPr lang="en-US" sz="1600" dirty="0">
                          <a:solidFill>
                            <a:schemeClr val="accent1"/>
                          </a:solidFill>
                        </a:rPr>
                        <a:t>of potential outcomes if not treated</a:t>
                      </a:r>
                    </a:p>
                  </p:txBody>
                </p:sp>
              </mc:Choice>
              <mc:Fallback xmlns="">
                <p:sp>
                  <p:nvSpPr>
                    <p:cNvPr id="45" name="TextBox 44">
                      <a:extLst>
                        <a:ext uri="{FF2B5EF4-FFF2-40B4-BE49-F238E27FC236}">
                          <a16:creationId xmlns:a16="http://schemas.microsoft.com/office/drawing/2014/main" id="{43C769DA-09DF-2596-8602-B2AACFE78A58}"/>
                        </a:ext>
                      </a:extLst>
                    </p:cNvPr>
                    <p:cNvSpPr txBox="1">
                      <a:spLocks noRot="1" noChangeAspect="1" noMove="1" noResize="1" noEditPoints="1" noAdjustHandles="1" noChangeArrowheads="1" noChangeShapeType="1" noTextEdit="1"/>
                    </p:cNvSpPr>
                    <p:nvPr/>
                  </p:nvSpPr>
                  <p:spPr>
                    <a:xfrm>
                      <a:off x="1781030" y="5410331"/>
                      <a:ext cx="4354345" cy="1089215"/>
                    </a:xfrm>
                    <a:prstGeom prst="rect">
                      <a:avLst/>
                    </a:prstGeom>
                    <a:blipFill>
                      <a:blip r:embed="rId46"/>
                      <a:stretch>
                        <a:fillRect t="-2128" r="-581" b="-53191"/>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B754DA1B-F60C-675C-E928-D7EF82020C19}"/>
                      </a:ext>
                    </a:extLst>
                  </p:cNvPr>
                  <p:cNvSpPr txBox="1"/>
                  <p:nvPr/>
                </p:nvSpPr>
                <p:spPr>
                  <a:xfrm>
                    <a:off x="2655148" y="5030479"/>
                    <a:ext cx="656696" cy="36506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050" i="1" smtClean="0">
                              <a:latin typeface="Cambria Math" panose="02040503050406030204" pitchFamily="18" charset="0"/>
                            </a:rPr>
                            <m:t>⋯</m:t>
                          </m:r>
                        </m:oMath>
                      </m:oMathPara>
                    </a14:m>
                    <a:endParaRPr lang="en-US" sz="1050" dirty="0"/>
                  </a:p>
                </p:txBody>
              </p:sp>
            </mc:Choice>
            <mc:Fallback xmlns="">
              <p:sp>
                <p:nvSpPr>
                  <p:cNvPr id="41" name="TextBox 40">
                    <a:extLst>
                      <a:ext uri="{FF2B5EF4-FFF2-40B4-BE49-F238E27FC236}">
                        <a16:creationId xmlns:a16="http://schemas.microsoft.com/office/drawing/2014/main" id="{B754DA1B-F60C-675C-E928-D7EF82020C19}"/>
                      </a:ext>
                    </a:extLst>
                  </p:cNvPr>
                  <p:cNvSpPr txBox="1">
                    <a:spLocks noRot="1" noChangeAspect="1" noMove="1" noResize="1" noEditPoints="1" noAdjustHandles="1" noChangeArrowheads="1" noChangeShapeType="1" noTextEdit="1"/>
                  </p:cNvSpPr>
                  <p:nvPr/>
                </p:nvSpPr>
                <p:spPr>
                  <a:xfrm>
                    <a:off x="2655148" y="5030479"/>
                    <a:ext cx="656696" cy="365061"/>
                  </a:xfrm>
                  <a:prstGeom prst="rect">
                    <a:avLst/>
                  </a:prstGeom>
                  <a:blipFill>
                    <a:blip r:embed="rId47"/>
                    <a:stretch>
                      <a:fillRect/>
                    </a:stretch>
                  </a:blipFill>
                </p:spPr>
                <p:txBody>
                  <a:bodyPr/>
                  <a:lstStyle/>
                  <a:p>
                    <a:r>
                      <a:rPr lang="en-US">
                        <a:noFill/>
                      </a:rPr>
                      <a:t> </a:t>
                    </a:r>
                  </a:p>
                </p:txBody>
              </p:sp>
            </mc:Fallback>
          </mc:AlternateContent>
          <p:sp>
            <p:nvSpPr>
              <p:cNvPr id="42" name="Rounded Rectangle 41">
                <a:extLst>
                  <a:ext uri="{FF2B5EF4-FFF2-40B4-BE49-F238E27FC236}">
                    <a16:creationId xmlns:a16="http://schemas.microsoft.com/office/drawing/2014/main" id="{1BB9FD8B-5955-D8BA-10AB-2F951A63B3F3}"/>
                  </a:ext>
                </a:extLst>
              </p:cNvPr>
              <p:cNvSpPr/>
              <p:nvPr/>
            </p:nvSpPr>
            <p:spPr>
              <a:xfrm>
                <a:off x="3183200" y="4983408"/>
                <a:ext cx="1772748" cy="416402"/>
              </a:xfrm>
              <a:prstGeom prst="roundRect">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grpSp>
        <p:grpSp>
          <p:nvGrpSpPr>
            <p:cNvPr id="68" name="Group 67">
              <a:extLst>
                <a:ext uri="{FF2B5EF4-FFF2-40B4-BE49-F238E27FC236}">
                  <a16:creationId xmlns:a16="http://schemas.microsoft.com/office/drawing/2014/main" id="{61776050-9A41-5F3D-EDFC-4E793013B112}"/>
                </a:ext>
              </a:extLst>
            </p:cNvPr>
            <p:cNvGrpSpPr/>
            <p:nvPr/>
          </p:nvGrpSpPr>
          <p:grpSpPr>
            <a:xfrm>
              <a:off x="7879183" y="3527947"/>
              <a:ext cx="4240339" cy="3513934"/>
              <a:chOff x="6941122" y="2313992"/>
              <a:chExt cx="4240339" cy="3513934"/>
            </a:xfrm>
          </p:grpSpPr>
          <p:sp>
            <p:nvSpPr>
              <p:cNvPr id="69" name="Rectangle 68">
                <a:extLst>
                  <a:ext uri="{FF2B5EF4-FFF2-40B4-BE49-F238E27FC236}">
                    <a16:creationId xmlns:a16="http://schemas.microsoft.com/office/drawing/2014/main" id="{6E1857DC-6705-F1DF-0B30-E975283FA8FC}"/>
                  </a:ext>
                </a:extLst>
              </p:cNvPr>
              <p:cNvSpPr/>
              <p:nvPr/>
            </p:nvSpPr>
            <p:spPr>
              <a:xfrm>
                <a:off x="7329565" y="2792427"/>
                <a:ext cx="3751116" cy="2078898"/>
              </a:xfrm>
              <a:prstGeom prst="rect">
                <a:avLst/>
              </a:prstGeom>
              <a:solidFill>
                <a:schemeClr val="bg1">
                  <a:lumMod val="9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70" name="TextBox 69">
                <a:extLst>
                  <a:ext uri="{FF2B5EF4-FFF2-40B4-BE49-F238E27FC236}">
                    <a16:creationId xmlns:a16="http://schemas.microsoft.com/office/drawing/2014/main" id="{E81E1940-569D-4D52-A1E6-8B4533447EDF}"/>
                  </a:ext>
                </a:extLst>
              </p:cNvPr>
              <p:cNvSpPr txBox="1"/>
              <p:nvPr/>
            </p:nvSpPr>
            <p:spPr>
              <a:xfrm>
                <a:off x="6950689" y="2856832"/>
                <a:ext cx="422216" cy="1194743"/>
              </a:xfrm>
              <a:prstGeom prst="rect">
                <a:avLst/>
              </a:prstGeom>
              <a:noFill/>
            </p:spPr>
            <p:txBody>
              <a:bodyPr wrap="none" rtlCol="0">
                <a:spAutoFit/>
              </a:bodyPr>
              <a:lstStyle/>
              <a:p>
                <a:r>
                  <a:rPr lang="en-US" sz="1600" b="1" dirty="0"/>
                  <a:t>1</a:t>
                </a:r>
              </a:p>
              <a:p>
                <a:r>
                  <a:rPr lang="en-US" sz="1600" b="1" dirty="0"/>
                  <a:t>2</a:t>
                </a:r>
              </a:p>
              <a:p>
                <a:r>
                  <a:rPr lang="en-US" sz="1600" b="1" dirty="0"/>
                  <a:t>3</a:t>
                </a:r>
              </a:p>
            </p:txBody>
          </p:sp>
          <p:sp>
            <p:nvSpPr>
              <p:cNvPr id="71" name="TextBox 70">
                <a:extLst>
                  <a:ext uri="{FF2B5EF4-FFF2-40B4-BE49-F238E27FC236}">
                    <a16:creationId xmlns:a16="http://schemas.microsoft.com/office/drawing/2014/main" id="{779581CE-C097-42CE-2FEA-0C15961E4EF8}"/>
                  </a:ext>
                </a:extLst>
              </p:cNvPr>
              <p:cNvSpPr txBox="1"/>
              <p:nvPr/>
            </p:nvSpPr>
            <p:spPr>
              <a:xfrm>
                <a:off x="6941122" y="4406654"/>
                <a:ext cx="436044" cy="486747"/>
              </a:xfrm>
              <a:prstGeom prst="rect">
                <a:avLst/>
              </a:prstGeom>
              <a:noFill/>
            </p:spPr>
            <p:txBody>
              <a:bodyPr wrap="none" rtlCol="0">
                <a:spAutoFit/>
              </a:bodyPr>
              <a:lstStyle/>
              <a:p>
                <a:r>
                  <a:rPr lang="en-US" sz="1600" b="1" dirty="0"/>
                  <a:t>n</a:t>
                </a:r>
              </a:p>
            </p:txBody>
          </p:sp>
          <mc:AlternateContent xmlns:mc="http://schemas.openxmlformats.org/markup-compatibility/2006" xmlns:a14="http://schemas.microsoft.com/office/drawing/2010/main">
            <mc:Choice Requires="a14">
              <p:sp>
                <p:nvSpPr>
                  <p:cNvPr id="72" name="TextBox 71">
                    <a:extLst>
                      <a:ext uri="{FF2B5EF4-FFF2-40B4-BE49-F238E27FC236}">
                        <a16:creationId xmlns:a16="http://schemas.microsoft.com/office/drawing/2014/main" id="{EBD8715B-1755-EC51-FD29-C13E6020B18F}"/>
                      </a:ext>
                    </a:extLst>
                  </p:cNvPr>
                  <p:cNvSpPr txBox="1"/>
                  <p:nvPr/>
                </p:nvSpPr>
                <p:spPr>
                  <a:xfrm>
                    <a:off x="7005960" y="4155215"/>
                    <a:ext cx="380732" cy="39824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200" b="0" i="1" smtClean="0">
                              <a:latin typeface="Cambria Math" panose="02040503050406030204" pitchFamily="18" charset="0"/>
                            </a:rPr>
                            <m:t>⋮</m:t>
                          </m:r>
                        </m:oMath>
                      </m:oMathPara>
                    </a14:m>
                    <a:endParaRPr lang="en-US" sz="1200" dirty="0"/>
                  </a:p>
                </p:txBody>
              </p:sp>
            </mc:Choice>
            <mc:Fallback xmlns="">
              <p:sp>
                <p:nvSpPr>
                  <p:cNvPr id="72" name="TextBox 71">
                    <a:extLst>
                      <a:ext uri="{FF2B5EF4-FFF2-40B4-BE49-F238E27FC236}">
                        <a16:creationId xmlns:a16="http://schemas.microsoft.com/office/drawing/2014/main" id="{EBD8715B-1755-EC51-FD29-C13E6020B18F}"/>
                      </a:ext>
                    </a:extLst>
                  </p:cNvPr>
                  <p:cNvSpPr txBox="1">
                    <a:spLocks noRot="1" noChangeAspect="1" noMove="1" noResize="1" noEditPoints="1" noAdjustHandles="1" noChangeArrowheads="1" noChangeShapeType="1" noTextEdit="1"/>
                  </p:cNvSpPr>
                  <p:nvPr/>
                </p:nvSpPr>
                <p:spPr>
                  <a:xfrm>
                    <a:off x="7005960" y="4155215"/>
                    <a:ext cx="380732" cy="398248"/>
                  </a:xfrm>
                  <a:prstGeom prst="rect">
                    <a:avLst/>
                  </a:prstGeom>
                  <a:blipFill>
                    <a:blip r:embed="rId4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3" name="TextBox 72">
                    <a:extLst>
                      <a:ext uri="{FF2B5EF4-FFF2-40B4-BE49-F238E27FC236}">
                        <a16:creationId xmlns:a16="http://schemas.microsoft.com/office/drawing/2014/main" id="{8B73C5B8-71E5-2340-1E97-ED6302B5EB2B}"/>
                      </a:ext>
                    </a:extLst>
                  </p:cNvPr>
                  <p:cNvSpPr txBox="1"/>
                  <p:nvPr/>
                </p:nvSpPr>
                <p:spPr>
                  <a:xfrm>
                    <a:off x="7275948" y="2396721"/>
                    <a:ext cx="557046" cy="48674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b="1" i="1" smtClean="0">
                              <a:latin typeface="Cambria Math" panose="02040503050406030204" pitchFamily="18" charset="0"/>
                            </a:rPr>
                            <m:t>𝟏</m:t>
                          </m:r>
                        </m:oMath>
                      </m:oMathPara>
                    </a14:m>
                    <a:endParaRPr lang="en-US" sz="1600" b="1" dirty="0"/>
                  </a:p>
                </p:txBody>
              </p:sp>
            </mc:Choice>
            <mc:Fallback xmlns="">
              <p:sp>
                <p:nvSpPr>
                  <p:cNvPr id="73" name="TextBox 72">
                    <a:extLst>
                      <a:ext uri="{FF2B5EF4-FFF2-40B4-BE49-F238E27FC236}">
                        <a16:creationId xmlns:a16="http://schemas.microsoft.com/office/drawing/2014/main" id="{8B73C5B8-71E5-2340-1E97-ED6302B5EB2B}"/>
                      </a:ext>
                    </a:extLst>
                  </p:cNvPr>
                  <p:cNvSpPr txBox="1">
                    <a:spLocks noRot="1" noChangeAspect="1" noMove="1" noResize="1" noEditPoints="1" noAdjustHandles="1" noChangeArrowheads="1" noChangeShapeType="1" noTextEdit="1"/>
                  </p:cNvSpPr>
                  <p:nvPr/>
                </p:nvSpPr>
                <p:spPr>
                  <a:xfrm>
                    <a:off x="7275948" y="2396721"/>
                    <a:ext cx="557046" cy="486747"/>
                  </a:xfrm>
                  <a:prstGeom prst="rect">
                    <a:avLst/>
                  </a:prstGeom>
                  <a:blipFill>
                    <a:blip r:embed="rId4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4" name="TextBox 73">
                    <a:extLst>
                      <a:ext uri="{FF2B5EF4-FFF2-40B4-BE49-F238E27FC236}">
                        <a16:creationId xmlns:a16="http://schemas.microsoft.com/office/drawing/2014/main" id="{432C41E2-BB06-2A80-A08B-19FBF5CF2B96}"/>
                      </a:ext>
                    </a:extLst>
                  </p:cNvPr>
                  <p:cNvSpPr txBox="1"/>
                  <p:nvPr/>
                </p:nvSpPr>
                <p:spPr>
                  <a:xfrm>
                    <a:off x="7943821" y="2379946"/>
                    <a:ext cx="557046" cy="48674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b="1" i="1" smtClean="0">
                              <a:latin typeface="Cambria Math" panose="02040503050406030204" pitchFamily="18" charset="0"/>
                            </a:rPr>
                            <m:t>𝟐</m:t>
                          </m:r>
                        </m:oMath>
                      </m:oMathPara>
                    </a14:m>
                    <a:endParaRPr lang="en-US" sz="1600" b="1" dirty="0"/>
                  </a:p>
                </p:txBody>
              </p:sp>
            </mc:Choice>
            <mc:Fallback xmlns="">
              <p:sp>
                <p:nvSpPr>
                  <p:cNvPr id="74" name="TextBox 73">
                    <a:extLst>
                      <a:ext uri="{FF2B5EF4-FFF2-40B4-BE49-F238E27FC236}">
                        <a16:creationId xmlns:a16="http://schemas.microsoft.com/office/drawing/2014/main" id="{432C41E2-BB06-2A80-A08B-19FBF5CF2B96}"/>
                      </a:ext>
                    </a:extLst>
                  </p:cNvPr>
                  <p:cNvSpPr txBox="1">
                    <a:spLocks noRot="1" noChangeAspect="1" noMove="1" noResize="1" noEditPoints="1" noAdjustHandles="1" noChangeArrowheads="1" noChangeShapeType="1" noTextEdit="1"/>
                  </p:cNvSpPr>
                  <p:nvPr/>
                </p:nvSpPr>
                <p:spPr>
                  <a:xfrm>
                    <a:off x="7943821" y="2379946"/>
                    <a:ext cx="557046" cy="486747"/>
                  </a:xfrm>
                  <a:prstGeom prst="rect">
                    <a:avLst/>
                  </a:prstGeom>
                  <a:blipFill>
                    <a:blip r:embed="rId5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5" name="TextBox 74">
                    <a:extLst>
                      <a:ext uri="{FF2B5EF4-FFF2-40B4-BE49-F238E27FC236}">
                        <a16:creationId xmlns:a16="http://schemas.microsoft.com/office/drawing/2014/main" id="{C5763944-EE27-3074-2B9F-CB157F5C8284}"/>
                      </a:ext>
                    </a:extLst>
                  </p:cNvPr>
                  <p:cNvSpPr txBox="1"/>
                  <p:nvPr/>
                </p:nvSpPr>
                <p:spPr>
                  <a:xfrm>
                    <a:off x="10511911" y="2313992"/>
                    <a:ext cx="557046" cy="48674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b="1" i="1" smtClean="0">
                              <a:latin typeface="Cambria Math" panose="02040503050406030204" pitchFamily="18" charset="0"/>
                            </a:rPr>
                            <m:t>𝑻</m:t>
                          </m:r>
                        </m:oMath>
                      </m:oMathPara>
                    </a14:m>
                    <a:endParaRPr lang="en-US" sz="1600" b="1" dirty="0"/>
                  </a:p>
                </p:txBody>
              </p:sp>
            </mc:Choice>
            <mc:Fallback xmlns="">
              <p:sp>
                <p:nvSpPr>
                  <p:cNvPr id="75" name="TextBox 74">
                    <a:extLst>
                      <a:ext uri="{FF2B5EF4-FFF2-40B4-BE49-F238E27FC236}">
                        <a16:creationId xmlns:a16="http://schemas.microsoft.com/office/drawing/2014/main" id="{C5763944-EE27-3074-2B9F-CB157F5C8284}"/>
                      </a:ext>
                    </a:extLst>
                  </p:cNvPr>
                  <p:cNvSpPr txBox="1">
                    <a:spLocks noRot="1" noChangeAspect="1" noMove="1" noResize="1" noEditPoints="1" noAdjustHandles="1" noChangeArrowheads="1" noChangeShapeType="1" noTextEdit="1"/>
                  </p:cNvSpPr>
                  <p:nvPr/>
                </p:nvSpPr>
                <p:spPr>
                  <a:xfrm>
                    <a:off x="10511911" y="2313992"/>
                    <a:ext cx="557046" cy="486747"/>
                  </a:xfrm>
                  <a:prstGeom prst="rect">
                    <a:avLst/>
                  </a:prstGeom>
                  <a:blipFill>
                    <a:blip r:embed="rId5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6" name="TextBox 75">
                    <a:extLst>
                      <a:ext uri="{FF2B5EF4-FFF2-40B4-BE49-F238E27FC236}">
                        <a16:creationId xmlns:a16="http://schemas.microsoft.com/office/drawing/2014/main" id="{42F3C8F2-F8F5-AA49-B7FF-1AAA1AA36526}"/>
                      </a:ext>
                    </a:extLst>
                  </p:cNvPr>
                  <p:cNvSpPr txBox="1"/>
                  <p:nvPr/>
                </p:nvSpPr>
                <p:spPr>
                  <a:xfrm>
                    <a:off x="7401269" y="2939411"/>
                    <a:ext cx="507014" cy="24337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1100" b="0" i="1" smtClean="0">
                              <a:latin typeface="Cambria Math" panose="02040503050406030204" pitchFamily="18" charset="0"/>
                            </a:rPr>
                            <m:t>?</m:t>
                          </m:r>
                        </m:oMath>
                      </m:oMathPara>
                    </a14:m>
                    <a:endParaRPr lang="en-US" sz="1100" dirty="0"/>
                  </a:p>
                </p:txBody>
              </p:sp>
            </mc:Choice>
            <mc:Fallback xmlns="">
              <p:sp>
                <p:nvSpPr>
                  <p:cNvPr id="76" name="TextBox 75">
                    <a:extLst>
                      <a:ext uri="{FF2B5EF4-FFF2-40B4-BE49-F238E27FC236}">
                        <a16:creationId xmlns:a16="http://schemas.microsoft.com/office/drawing/2014/main" id="{42F3C8F2-F8F5-AA49-B7FF-1AAA1AA36526}"/>
                      </a:ext>
                    </a:extLst>
                  </p:cNvPr>
                  <p:cNvSpPr txBox="1">
                    <a:spLocks noRot="1" noChangeAspect="1" noMove="1" noResize="1" noEditPoints="1" noAdjustHandles="1" noChangeArrowheads="1" noChangeShapeType="1" noTextEdit="1"/>
                  </p:cNvSpPr>
                  <p:nvPr/>
                </p:nvSpPr>
                <p:spPr>
                  <a:xfrm>
                    <a:off x="7401269" y="2939411"/>
                    <a:ext cx="507014" cy="243373"/>
                  </a:xfrm>
                  <a:prstGeom prst="rect">
                    <a:avLst/>
                  </a:prstGeom>
                  <a:blipFill>
                    <a:blip r:embed="rId52"/>
                    <a:stretch>
                      <a:fillRect/>
                    </a:stretch>
                  </a:blipFill>
                </p:spPr>
                <p:txBody>
                  <a:bodyPr/>
                  <a:lstStyle/>
                  <a:p>
                    <a:r>
                      <a:rPr lang="en-US">
                        <a:noFill/>
                      </a:rPr>
                      <a:t> </a:t>
                    </a:r>
                  </a:p>
                </p:txBody>
              </p:sp>
            </mc:Fallback>
          </mc:AlternateContent>
          <p:sp>
            <p:nvSpPr>
              <p:cNvPr id="77" name="TextBox 76">
                <a:extLst>
                  <a:ext uri="{FF2B5EF4-FFF2-40B4-BE49-F238E27FC236}">
                    <a16:creationId xmlns:a16="http://schemas.microsoft.com/office/drawing/2014/main" id="{E1CF71DE-5CC9-6E78-31D4-99231BF4041F}"/>
                  </a:ext>
                </a:extLst>
              </p:cNvPr>
              <p:cNvSpPr txBox="1"/>
              <p:nvPr/>
            </p:nvSpPr>
            <p:spPr>
              <a:xfrm>
                <a:off x="10278407" y="3020085"/>
                <a:ext cx="199381" cy="398248"/>
              </a:xfrm>
              <a:prstGeom prst="rect">
                <a:avLst/>
              </a:prstGeom>
              <a:noFill/>
            </p:spPr>
            <p:txBody>
              <a:bodyPr wrap="square" rtlCol="0">
                <a:spAutoFit/>
              </a:bodyPr>
              <a:lstStyle/>
              <a:p>
                <a:endParaRPr lang="en-US" sz="1200" dirty="0"/>
              </a:p>
            </p:txBody>
          </p:sp>
          <mc:AlternateContent xmlns:mc="http://schemas.openxmlformats.org/markup-compatibility/2006" xmlns:a14="http://schemas.microsoft.com/office/drawing/2010/main">
            <mc:Choice Requires="a14">
              <p:sp>
                <p:nvSpPr>
                  <p:cNvPr id="78" name="TextBox 77">
                    <a:extLst>
                      <a:ext uri="{FF2B5EF4-FFF2-40B4-BE49-F238E27FC236}">
                        <a16:creationId xmlns:a16="http://schemas.microsoft.com/office/drawing/2014/main" id="{A1592566-F633-A4D2-94B6-A3CFE7D3B3FF}"/>
                      </a:ext>
                    </a:extLst>
                  </p:cNvPr>
                  <p:cNvSpPr txBox="1"/>
                  <p:nvPr/>
                </p:nvSpPr>
                <p:spPr>
                  <a:xfrm>
                    <a:off x="7982501" y="2939411"/>
                    <a:ext cx="507014" cy="24337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1100" b="0" i="1" smtClean="0">
                              <a:latin typeface="Cambria Math" panose="02040503050406030204" pitchFamily="18" charset="0"/>
                            </a:rPr>
                            <m:t>?</m:t>
                          </m:r>
                        </m:oMath>
                      </m:oMathPara>
                    </a14:m>
                    <a:endParaRPr lang="en-US" sz="1100" dirty="0"/>
                  </a:p>
                </p:txBody>
              </p:sp>
            </mc:Choice>
            <mc:Fallback xmlns="">
              <p:sp>
                <p:nvSpPr>
                  <p:cNvPr id="78" name="TextBox 77">
                    <a:extLst>
                      <a:ext uri="{FF2B5EF4-FFF2-40B4-BE49-F238E27FC236}">
                        <a16:creationId xmlns:a16="http://schemas.microsoft.com/office/drawing/2014/main" id="{A1592566-F633-A4D2-94B6-A3CFE7D3B3FF}"/>
                      </a:ext>
                    </a:extLst>
                  </p:cNvPr>
                  <p:cNvSpPr txBox="1">
                    <a:spLocks noRot="1" noChangeAspect="1" noMove="1" noResize="1" noEditPoints="1" noAdjustHandles="1" noChangeArrowheads="1" noChangeShapeType="1" noTextEdit="1"/>
                  </p:cNvSpPr>
                  <p:nvPr/>
                </p:nvSpPr>
                <p:spPr>
                  <a:xfrm>
                    <a:off x="7982501" y="2939411"/>
                    <a:ext cx="507014" cy="243373"/>
                  </a:xfrm>
                  <a:prstGeom prst="rect">
                    <a:avLst/>
                  </a:prstGeom>
                  <a:blipFill>
                    <a:blip r:embed="rId5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9" name="TextBox 78">
                    <a:extLst>
                      <a:ext uri="{FF2B5EF4-FFF2-40B4-BE49-F238E27FC236}">
                        <a16:creationId xmlns:a16="http://schemas.microsoft.com/office/drawing/2014/main" id="{27FC0D75-190F-49C5-05F3-30564A255FB1}"/>
                      </a:ext>
                    </a:extLst>
                  </p:cNvPr>
                  <p:cNvSpPr txBox="1"/>
                  <p:nvPr/>
                </p:nvSpPr>
                <p:spPr>
                  <a:xfrm>
                    <a:off x="10429505" y="2939411"/>
                    <a:ext cx="507014" cy="24337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1100" b="0" i="1" smtClean="0">
                              <a:latin typeface="Cambria Math" panose="02040503050406030204" pitchFamily="18" charset="0"/>
                            </a:rPr>
                            <m:t>?</m:t>
                          </m:r>
                        </m:oMath>
                      </m:oMathPara>
                    </a14:m>
                    <a:endParaRPr lang="en-US" sz="1100" dirty="0"/>
                  </a:p>
                </p:txBody>
              </p:sp>
            </mc:Choice>
            <mc:Fallback xmlns="">
              <p:sp>
                <p:nvSpPr>
                  <p:cNvPr id="79" name="TextBox 78">
                    <a:extLst>
                      <a:ext uri="{FF2B5EF4-FFF2-40B4-BE49-F238E27FC236}">
                        <a16:creationId xmlns:a16="http://schemas.microsoft.com/office/drawing/2014/main" id="{27FC0D75-190F-49C5-05F3-30564A255FB1}"/>
                      </a:ext>
                    </a:extLst>
                  </p:cNvPr>
                  <p:cNvSpPr txBox="1">
                    <a:spLocks noRot="1" noChangeAspect="1" noMove="1" noResize="1" noEditPoints="1" noAdjustHandles="1" noChangeArrowheads="1" noChangeShapeType="1" noTextEdit="1"/>
                  </p:cNvSpPr>
                  <p:nvPr/>
                </p:nvSpPr>
                <p:spPr>
                  <a:xfrm>
                    <a:off x="10429505" y="2939411"/>
                    <a:ext cx="507014" cy="243373"/>
                  </a:xfrm>
                  <a:prstGeom prst="rect">
                    <a:avLst/>
                  </a:prstGeom>
                  <a:blipFill>
                    <a:blip r:embed="rId5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0" name="TextBox 79">
                    <a:extLst>
                      <a:ext uri="{FF2B5EF4-FFF2-40B4-BE49-F238E27FC236}">
                        <a16:creationId xmlns:a16="http://schemas.microsoft.com/office/drawing/2014/main" id="{CBB6EAB5-CED3-E063-F5F9-E334333501C4}"/>
                      </a:ext>
                    </a:extLst>
                  </p:cNvPr>
                  <p:cNvSpPr txBox="1"/>
                  <p:nvPr/>
                </p:nvSpPr>
                <p:spPr>
                  <a:xfrm>
                    <a:off x="7426284" y="3307602"/>
                    <a:ext cx="507014" cy="24337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1100" b="0" i="1" smtClean="0">
                              <a:latin typeface="Cambria Math" panose="02040503050406030204" pitchFamily="18" charset="0"/>
                            </a:rPr>
                            <m:t>?</m:t>
                          </m:r>
                        </m:oMath>
                      </m:oMathPara>
                    </a14:m>
                    <a:endParaRPr lang="en-US" sz="1100" dirty="0"/>
                  </a:p>
                </p:txBody>
              </p:sp>
            </mc:Choice>
            <mc:Fallback xmlns="">
              <p:sp>
                <p:nvSpPr>
                  <p:cNvPr id="80" name="TextBox 79">
                    <a:extLst>
                      <a:ext uri="{FF2B5EF4-FFF2-40B4-BE49-F238E27FC236}">
                        <a16:creationId xmlns:a16="http://schemas.microsoft.com/office/drawing/2014/main" id="{CBB6EAB5-CED3-E063-F5F9-E334333501C4}"/>
                      </a:ext>
                    </a:extLst>
                  </p:cNvPr>
                  <p:cNvSpPr txBox="1">
                    <a:spLocks noRot="1" noChangeAspect="1" noMove="1" noResize="1" noEditPoints="1" noAdjustHandles="1" noChangeArrowheads="1" noChangeShapeType="1" noTextEdit="1"/>
                  </p:cNvSpPr>
                  <p:nvPr/>
                </p:nvSpPr>
                <p:spPr>
                  <a:xfrm>
                    <a:off x="7426284" y="3307602"/>
                    <a:ext cx="507014" cy="243373"/>
                  </a:xfrm>
                  <a:prstGeom prst="rect">
                    <a:avLst/>
                  </a:prstGeom>
                  <a:blipFill>
                    <a:blip r:embed="rId55"/>
                    <a:stretch>
                      <a:fillRect b="-714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1" name="TextBox 80">
                    <a:extLst>
                      <a:ext uri="{FF2B5EF4-FFF2-40B4-BE49-F238E27FC236}">
                        <a16:creationId xmlns:a16="http://schemas.microsoft.com/office/drawing/2014/main" id="{0655376C-5D07-5A78-0620-ABB40ED1E919}"/>
                      </a:ext>
                    </a:extLst>
                  </p:cNvPr>
                  <p:cNvSpPr txBox="1"/>
                  <p:nvPr/>
                </p:nvSpPr>
                <p:spPr>
                  <a:xfrm>
                    <a:off x="8007515" y="3307602"/>
                    <a:ext cx="507014" cy="24337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1100" b="0" i="1" smtClean="0">
                              <a:latin typeface="Cambria Math" panose="02040503050406030204" pitchFamily="18" charset="0"/>
                            </a:rPr>
                            <m:t>?</m:t>
                          </m:r>
                        </m:oMath>
                      </m:oMathPara>
                    </a14:m>
                    <a:endParaRPr lang="en-US" sz="1100" dirty="0"/>
                  </a:p>
                </p:txBody>
              </p:sp>
            </mc:Choice>
            <mc:Fallback xmlns="">
              <p:sp>
                <p:nvSpPr>
                  <p:cNvPr id="81" name="TextBox 80">
                    <a:extLst>
                      <a:ext uri="{FF2B5EF4-FFF2-40B4-BE49-F238E27FC236}">
                        <a16:creationId xmlns:a16="http://schemas.microsoft.com/office/drawing/2014/main" id="{0655376C-5D07-5A78-0620-ABB40ED1E919}"/>
                      </a:ext>
                    </a:extLst>
                  </p:cNvPr>
                  <p:cNvSpPr txBox="1">
                    <a:spLocks noRot="1" noChangeAspect="1" noMove="1" noResize="1" noEditPoints="1" noAdjustHandles="1" noChangeArrowheads="1" noChangeShapeType="1" noTextEdit="1"/>
                  </p:cNvSpPr>
                  <p:nvPr/>
                </p:nvSpPr>
                <p:spPr>
                  <a:xfrm>
                    <a:off x="8007515" y="3307602"/>
                    <a:ext cx="507014" cy="243373"/>
                  </a:xfrm>
                  <a:prstGeom prst="rect">
                    <a:avLst/>
                  </a:prstGeom>
                  <a:blipFill>
                    <a:blip r:embed="rId56"/>
                    <a:stretch>
                      <a:fillRect b="-714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2" name="TextBox 81">
                    <a:extLst>
                      <a:ext uri="{FF2B5EF4-FFF2-40B4-BE49-F238E27FC236}">
                        <a16:creationId xmlns:a16="http://schemas.microsoft.com/office/drawing/2014/main" id="{DF8AA27F-0362-1C15-569A-F6096488B2AE}"/>
                      </a:ext>
                    </a:extLst>
                  </p:cNvPr>
                  <p:cNvSpPr txBox="1"/>
                  <p:nvPr/>
                </p:nvSpPr>
                <p:spPr>
                  <a:xfrm>
                    <a:off x="10454520" y="3307602"/>
                    <a:ext cx="507014" cy="24337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1100" b="0" i="1" smtClean="0">
                              <a:latin typeface="Cambria Math" panose="02040503050406030204" pitchFamily="18" charset="0"/>
                            </a:rPr>
                            <m:t>?</m:t>
                          </m:r>
                        </m:oMath>
                      </m:oMathPara>
                    </a14:m>
                    <a:endParaRPr lang="en-US" sz="1100" dirty="0"/>
                  </a:p>
                </p:txBody>
              </p:sp>
            </mc:Choice>
            <mc:Fallback xmlns="">
              <p:sp>
                <p:nvSpPr>
                  <p:cNvPr id="82" name="TextBox 81">
                    <a:extLst>
                      <a:ext uri="{FF2B5EF4-FFF2-40B4-BE49-F238E27FC236}">
                        <a16:creationId xmlns:a16="http://schemas.microsoft.com/office/drawing/2014/main" id="{DF8AA27F-0362-1C15-569A-F6096488B2AE}"/>
                      </a:ext>
                    </a:extLst>
                  </p:cNvPr>
                  <p:cNvSpPr txBox="1">
                    <a:spLocks noRot="1" noChangeAspect="1" noMove="1" noResize="1" noEditPoints="1" noAdjustHandles="1" noChangeArrowheads="1" noChangeShapeType="1" noTextEdit="1"/>
                  </p:cNvSpPr>
                  <p:nvPr/>
                </p:nvSpPr>
                <p:spPr>
                  <a:xfrm>
                    <a:off x="10454520" y="3307602"/>
                    <a:ext cx="507014" cy="243373"/>
                  </a:xfrm>
                  <a:prstGeom prst="rect">
                    <a:avLst/>
                  </a:prstGeom>
                  <a:blipFill>
                    <a:blip r:embed="rId57"/>
                    <a:stretch>
                      <a:fillRect b="-714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3" name="TextBox 82">
                    <a:extLst>
                      <a:ext uri="{FF2B5EF4-FFF2-40B4-BE49-F238E27FC236}">
                        <a16:creationId xmlns:a16="http://schemas.microsoft.com/office/drawing/2014/main" id="{5D27B0B3-4937-574E-6379-8467B8845708}"/>
                      </a:ext>
                    </a:extLst>
                  </p:cNvPr>
                  <p:cNvSpPr txBox="1"/>
                  <p:nvPr/>
                </p:nvSpPr>
                <p:spPr>
                  <a:xfrm>
                    <a:off x="7426284" y="3722490"/>
                    <a:ext cx="507014" cy="24337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1100" b="0" i="1" smtClean="0">
                              <a:latin typeface="Cambria Math" panose="02040503050406030204" pitchFamily="18" charset="0"/>
                            </a:rPr>
                            <m:t>?</m:t>
                          </m:r>
                        </m:oMath>
                      </m:oMathPara>
                    </a14:m>
                    <a:endParaRPr lang="en-US" sz="1100" dirty="0"/>
                  </a:p>
                </p:txBody>
              </p:sp>
            </mc:Choice>
            <mc:Fallback xmlns="">
              <p:sp>
                <p:nvSpPr>
                  <p:cNvPr id="83" name="TextBox 82">
                    <a:extLst>
                      <a:ext uri="{FF2B5EF4-FFF2-40B4-BE49-F238E27FC236}">
                        <a16:creationId xmlns:a16="http://schemas.microsoft.com/office/drawing/2014/main" id="{5D27B0B3-4937-574E-6379-8467B8845708}"/>
                      </a:ext>
                    </a:extLst>
                  </p:cNvPr>
                  <p:cNvSpPr txBox="1">
                    <a:spLocks noRot="1" noChangeAspect="1" noMove="1" noResize="1" noEditPoints="1" noAdjustHandles="1" noChangeArrowheads="1" noChangeShapeType="1" noTextEdit="1"/>
                  </p:cNvSpPr>
                  <p:nvPr/>
                </p:nvSpPr>
                <p:spPr>
                  <a:xfrm>
                    <a:off x="7426284" y="3722490"/>
                    <a:ext cx="507014" cy="243373"/>
                  </a:xfrm>
                  <a:prstGeom prst="rect">
                    <a:avLst/>
                  </a:prstGeom>
                  <a:blipFill>
                    <a:blip r:embed="rId5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4" name="TextBox 83">
                    <a:extLst>
                      <a:ext uri="{FF2B5EF4-FFF2-40B4-BE49-F238E27FC236}">
                        <a16:creationId xmlns:a16="http://schemas.microsoft.com/office/drawing/2014/main" id="{054EDE5F-CD91-029E-D774-A79F1407059E}"/>
                      </a:ext>
                    </a:extLst>
                  </p:cNvPr>
                  <p:cNvSpPr txBox="1"/>
                  <p:nvPr/>
                </p:nvSpPr>
                <p:spPr>
                  <a:xfrm>
                    <a:off x="8007515" y="3722490"/>
                    <a:ext cx="507014" cy="24337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1100" b="0" i="1" smtClean="0">
                              <a:latin typeface="Cambria Math" panose="02040503050406030204" pitchFamily="18" charset="0"/>
                            </a:rPr>
                            <m:t>?</m:t>
                          </m:r>
                        </m:oMath>
                      </m:oMathPara>
                    </a14:m>
                    <a:endParaRPr lang="en-US" sz="1100" dirty="0"/>
                  </a:p>
                </p:txBody>
              </p:sp>
            </mc:Choice>
            <mc:Fallback xmlns="">
              <p:sp>
                <p:nvSpPr>
                  <p:cNvPr id="84" name="TextBox 83">
                    <a:extLst>
                      <a:ext uri="{FF2B5EF4-FFF2-40B4-BE49-F238E27FC236}">
                        <a16:creationId xmlns:a16="http://schemas.microsoft.com/office/drawing/2014/main" id="{054EDE5F-CD91-029E-D774-A79F1407059E}"/>
                      </a:ext>
                    </a:extLst>
                  </p:cNvPr>
                  <p:cNvSpPr txBox="1">
                    <a:spLocks noRot="1" noChangeAspect="1" noMove="1" noResize="1" noEditPoints="1" noAdjustHandles="1" noChangeArrowheads="1" noChangeShapeType="1" noTextEdit="1"/>
                  </p:cNvSpPr>
                  <p:nvPr/>
                </p:nvSpPr>
                <p:spPr>
                  <a:xfrm>
                    <a:off x="8007515" y="3722490"/>
                    <a:ext cx="507014" cy="243373"/>
                  </a:xfrm>
                  <a:prstGeom prst="rect">
                    <a:avLst/>
                  </a:prstGeom>
                  <a:blipFill>
                    <a:blip r:embed="rId5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5" name="TextBox 84">
                    <a:extLst>
                      <a:ext uri="{FF2B5EF4-FFF2-40B4-BE49-F238E27FC236}">
                        <a16:creationId xmlns:a16="http://schemas.microsoft.com/office/drawing/2014/main" id="{44768539-93D8-FA41-645D-6E27EDB2B991}"/>
                      </a:ext>
                    </a:extLst>
                  </p:cNvPr>
                  <p:cNvSpPr txBox="1"/>
                  <p:nvPr/>
                </p:nvSpPr>
                <p:spPr>
                  <a:xfrm>
                    <a:off x="10454520" y="3722490"/>
                    <a:ext cx="507014" cy="24337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1100" b="0" i="1" smtClean="0">
                              <a:latin typeface="Cambria Math" panose="02040503050406030204" pitchFamily="18" charset="0"/>
                            </a:rPr>
                            <m:t>?</m:t>
                          </m:r>
                        </m:oMath>
                      </m:oMathPara>
                    </a14:m>
                    <a:endParaRPr lang="en-US" sz="1100" dirty="0"/>
                  </a:p>
                </p:txBody>
              </p:sp>
            </mc:Choice>
            <mc:Fallback xmlns="">
              <p:sp>
                <p:nvSpPr>
                  <p:cNvPr id="85" name="TextBox 84">
                    <a:extLst>
                      <a:ext uri="{FF2B5EF4-FFF2-40B4-BE49-F238E27FC236}">
                        <a16:creationId xmlns:a16="http://schemas.microsoft.com/office/drawing/2014/main" id="{44768539-93D8-FA41-645D-6E27EDB2B991}"/>
                      </a:ext>
                    </a:extLst>
                  </p:cNvPr>
                  <p:cNvSpPr txBox="1">
                    <a:spLocks noRot="1" noChangeAspect="1" noMove="1" noResize="1" noEditPoints="1" noAdjustHandles="1" noChangeArrowheads="1" noChangeShapeType="1" noTextEdit="1"/>
                  </p:cNvSpPr>
                  <p:nvPr/>
                </p:nvSpPr>
                <p:spPr>
                  <a:xfrm>
                    <a:off x="10454520" y="3722490"/>
                    <a:ext cx="507014" cy="243373"/>
                  </a:xfrm>
                  <a:prstGeom prst="rect">
                    <a:avLst/>
                  </a:prstGeom>
                  <a:blipFill>
                    <a:blip r:embed="rId6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6" name="TextBox 85">
                    <a:extLst>
                      <a:ext uri="{FF2B5EF4-FFF2-40B4-BE49-F238E27FC236}">
                        <a16:creationId xmlns:a16="http://schemas.microsoft.com/office/drawing/2014/main" id="{2274494A-F669-082E-0B17-99141ACD6DDF}"/>
                      </a:ext>
                    </a:extLst>
                  </p:cNvPr>
                  <p:cNvSpPr txBox="1"/>
                  <p:nvPr/>
                </p:nvSpPr>
                <p:spPr>
                  <a:xfrm>
                    <a:off x="7430345" y="4500676"/>
                    <a:ext cx="507014" cy="24337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1100" b="0" i="1" smtClean="0">
                              <a:latin typeface="Cambria Math" panose="02040503050406030204" pitchFamily="18" charset="0"/>
                            </a:rPr>
                            <m:t>?</m:t>
                          </m:r>
                        </m:oMath>
                      </m:oMathPara>
                    </a14:m>
                    <a:endParaRPr lang="en-US" sz="1100" dirty="0"/>
                  </a:p>
                </p:txBody>
              </p:sp>
            </mc:Choice>
            <mc:Fallback xmlns="">
              <p:sp>
                <p:nvSpPr>
                  <p:cNvPr id="86" name="TextBox 85">
                    <a:extLst>
                      <a:ext uri="{FF2B5EF4-FFF2-40B4-BE49-F238E27FC236}">
                        <a16:creationId xmlns:a16="http://schemas.microsoft.com/office/drawing/2014/main" id="{2274494A-F669-082E-0B17-99141ACD6DDF}"/>
                      </a:ext>
                    </a:extLst>
                  </p:cNvPr>
                  <p:cNvSpPr txBox="1">
                    <a:spLocks noRot="1" noChangeAspect="1" noMove="1" noResize="1" noEditPoints="1" noAdjustHandles="1" noChangeArrowheads="1" noChangeShapeType="1" noTextEdit="1"/>
                  </p:cNvSpPr>
                  <p:nvPr/>
                </p:nvSpPr>
                <p:spPr>
                  <a:xfrm>
                    <a:off x="7430345" y="4500676"/>
                    <a:ext cx="507014" cy="243373"/>
                  </a:xfrm>
                  <a:prstGeom prst="rect">
                    <a:avLst/>
                  </a:prstGeom>
                  <a:blipFill>
                    <a:blip r:embed="rId61"/>
                    <a:stretch>
                      <a:fillRect b="-714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7" name="TextBox 86">
                    <a:extLst>
                      <a:ext uri="{FF2B5EF4-FFF2-40B4-BE49-F238E27FC236}">
                        <a16:creationId xmlns:a16="http://schemas.microsoft.com/office/drawing/2014/main" id="{643B054E-A6A5-5DA5-FC8D-9139463E7E87}"/>
                      </a:ext>
                    </a:extLst>
                  </p:cNvPr>
                  <p:cNvSpPr txBox="1"/>
                  <p:nvPr/>
                </p:nvSpPr>
                <p:spPr>
                  <a:xfrm>
                    <a:off x="8011576" y="4500676"/>
                    <a:ext cx="507014" cy="24337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1100" b="0" i="1" smtClean="0">
                              <a:latin typeface="Cambria Math" panose="02040503050406030204" pitchFamily="18" charset="0"/>
                            </a:rPr>
                            <m:t>?</m:t>
                          </m:r>
                        </m:oMath>
                      </m:oMathPara>
                    </a14:m>
                    <a:endParaRPr lang="en-US" sz="1100" dirty="0"/>
                  </a:p>
                </p:txBody>
              </p:sp>
            </mc:Choice>
            <mc:Fallback xmlns="">
              <p:sp>
                <p:nvSpPr>
                  <p:cNvPr id="87" name="TextBox 86">
                    <a:extLst>
                      <a:ext uri="{FF2B5EF4-FFF2-40B4-BE49-F238E27FC236}">
                        <a16:creationId xmlns:a16="http://schemas.microsoft.com/office/drawing/2014/main" id="{643B054E-A6A5-5DA5-FC8D-9139463E7E87}"/>
                      </a:ext>
                    </a:extLst>
                  </p:cNvPr>
                  <p:cNvSpPr txBox="1">
                    <a:spLocks noRot="1" noChangeAspect="1" noMove="1" noResize="1" noEditPoints="1" noAdjustHandles="1" noChangeArrowheads="1" noChangeShapeType="1" noTextEdit="1"/>
                  </p:cNvSpPr>
                  <p:nvPr/>
                </p:nvSpPr>
                <p:spPr>
                  <a:xfrm>
                    <a:off x="8011576" y="4500676"/>
                    <a:ext cx="507014" cy="243373"/>
                  </a:xfrm>
                  <a:prstGeom prst="rect">
                    <a:avLst/>
                  </a:prstGeom>
                  <a:blipFill>
                    <a:blip r:embed="rId62"/>
                    <a:stretch>
                      <a:fillRect b="-714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8" name="TextBox 87">
                    <a:extLst>
                      <a:ext uri="{FF2B5EF4-FFF2-40B4-BE49-F238E27FC236}">
                        <a16:creationId xmlns:a16="http://schemas.microsoft.com/office/drawing/2014/main" id="{FD14AFF6-3BE7-BE38-A9F5-4481338E23DB}"/>
                      </a:ext>
                    </a:extLst>
                  </p:cNvPr>
                  <p:cNvSpPr txBox="1"/>
                  <p:nvPr/>
                </p:nvSpPr>
                <p:spPr>
                  <a:xfrm>
                    <a:off x="9091029" y="4493052"/>
                    <a:ext cx="2090432" cy="27729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200" i="1" smtClean="0">
                                  <a:solidFill>
                                    <a:schemeClr val="accent2"/>
                                  </a:solidFill>
                                  <a:latin typeface="Cambria Math" panose="02040503050406030204" pitchFamily="18" charset="0"/>
                                </a:rPr>
                              </m:ctrlPr>
                            </m:sSubPr>
                            <m:e>
                              <m:r>
                                <a:rPr lang="en-US" sz="1200" b="0" i="1" smtClean="0">
                                  <a:solidFill>
                                    <a:schemeClr val="accent2"/>
                                  </a:solidFill>
                                  <a:latin typeface="Cambria Math" panose="02040503050406030204" pitchFamily="18" charset="0"/>
                                </a:rPr>
                                <m:t>𝑌</m:t>
                              </m:r>
                            </m:e>
                            <m:sub>
                              <m:r>
                                <a:rPr lang="en-US" sz="1200" b="0" i="1" smtClean="0">
                                  <a:solidFill>
                                    <a:schemeClr val="accent2"/>
                                  </a:solidFill>
                                  <a:latin typeface="Cambria Math" panose="02040503050406030204" pitchFamily="18" charset="0"/>
                                </a:rPr>
                                <m:t>𝑛</m:t>
                              </m:r>
                              <m:r>
                                <a:rPr lang="en-US" sz="1200" b="0" i="1" smtClean="0">
                                  <a:solidFill>
                                    <a:schemeClr val="accent2"/>
                                  </a:solidFill>
                                  <a:latin typeface="Cambria Math" panose="02040503050406030204" pitchFamily="18" charset="0"/>
                                </a:rPr>
                                <m:t>,</m:t>
                              </m:r>
                              <m:r>
                                <a:rPr lang="en-US" sz="1200" b="0" i="1" smtClean="0">
                                  <a:solidFill>
                                    <a:schemeClr val="accent2"/>
                                  </a:solidFill>
                                  <a:latin typeface="Cambria Math" panose="02040503050406030204" pitchFamily="18" charset="0"/>
                                </a:rPr>
                                <m:t>𝑇</m:t>
                              </m:r>
                              <m:r>
                                <a:rPr lang="en-US" sz="1200" b="0" i="1" smtClean="0">
                                  <a:solidFill>
                                    <a:schemeClr val="accent2"/>
                                  </a:solidFill>
                                  <a:latin typeface="Cambria Math" panose="02040503050406030204" pitchFamily="18" charset="0"/>
                                </a:rPr>
                                <m:t>−2</m:t>
                              </m:r>
                            </m:sub>
                          </m:sSub>
                          <m:sSub>
                            <m:sSubPr>
                              <m:ctrlPr>
                                <a:rPr lang="en-US" sz="1200" i="1" smtClean="0">
                                  <a:solidFill>
                                    <a:schemeClr val="accent2"/>
                                  </a:solidFill>
                                  <a:latin typeface="Cambria Math" panose="02040503050406030204" pitchFamily="18" charset="0"/>
                                </a:rPr>
                              </m:ctrlPr>
                            </m:sSubPr>
                            <m:e>
                              <m:r>
                                <a:rPr lang="en-US" sz="1200" b="0" i="1" smtClean="0">
                                  <a:solidFill>
                                    <a:schemeClr val="accent2"/>
                                  </a:solidFill>
                                  <a:latin typeface="Cambria Math" panose="02040503050406030204" pitchFamily="18" charset="0"/>
                                </a:rPr>
                                <m:t>    </m:t>
                              </m:r>
                              <m:r>
                                <a:rPr lang="en-US" sz="1200" b="0" i="1" smtClean="0">
                                  <a:solidFill>
                                    <a:schemeClr val="accent2"/>
                                  </a:solidFill>
                                  <a:latin typeface="Cambria Math" panose="02040503050406030204" pitchFamily="18" charset="0"/>
                                </a:rPr>
                                <m:t>𝑌</m:t>
                              </m:r>
                            </m:e>
                            <m:sub>
                              <m:r>
                                <a:rPr lang="en-US" sz="1200" b="0" i="1" smtClean="0">
                                  <a:solidFill>
                                    <a:schemeClr val="accent2"/>
                                  </a:solidFill>
                                  <a:latin typeface="Cambria Math" panose="02040503050406030204" pitchFamily="18" charset="0"/>
                                </a:rPr>
                                <m:t>𝑛</m:t>
                              </m:r>
                              <m:r>
                                <a:rPr lang="en-US" sz="1200" b="0" i="1" smtClean="0">
                                  <a:solidFill>
                                    <a:schemeClr val="accent2"/>
                                  </a:solidFill>
                                  <a:latin typeface="Cambria Math" panose="02040503050406030204" pitchFamily="18" charset="0"/>
                                </a:rPr>
                                <m:t>,</m:t>
                              </m:r>
                              <m:r>
                                <a:rPr lang="en-US" sz="1200" b="0" i="1" smtClean="0">
                                  <a:solidFill>
                                    <a:schemeClr val="accent2"/>
                                  </a:solidFill>
                                  <a:latin typeface="Cambria Math" panose="02040503050406030204" pitchFamily="18" charset="0"/>
                                </a:rPr>
                                <m:t>𝑇</m:t>
                              </m:r>
                              <m:r>
                                <a:rPr lang="en-US" sz="1200" b="0" i="1" smtClean="0">
                                  <a:solidFill>
                                    <a:schemeClr val="accent2"/>
                                  </a:solidFill>
                                  <a:latin typeface="Cambria Math" panose="02040503050406030204" pitchFamily="18" charset="0"/>
                                </a:rPr>
                                <m:t>−1</m:t>
                              </m:r>
                            </m:sub>
                          </m:sSub>
                          <m:r>
                            <a:rPr lang="en-US" sz="1200" b="0" i="1" smtClean="0">
                              <a:solidFill>
                                <a:schemeClr val="accent2"/>
                              </a:solidFill>
                              <a:latin typeface="Cambria Math" panose="02040503050406030204" pitchFamily="18" charset="0"/>
                            </a:rPr>
                            <m:t> </m:t>
                          </m:r>
                          <m:sSub>
                            <m:sSubPr>
                              <m:ctrlPr>
                                <a:rPr lang="en-US" sz="1200" i="1" smtClean="0">
                                  <a:solidFill>
                                    <a:schemeClr val="accent2"/>
                                  </a:solidFill>
                                  <a:latin typeface="Cambria Math" panose="02040503050406030204" pitchFamily="18" charset="0"/>
                                </a:rPr>
                              </m:ctrlPr>
                            </m:sSubPr>
                            <m:e>
                              <m:r>
                                <a:rPr lang="en-US" sz="1200" b="0" i="1" smtClean="0">
                                  <a:solidFill>
                                    <a:schemeClr val="accent2"/>
                                  </a:solidFill>
                                  <a:latin typeface="Cambria Math" panose="02040503050406030204" pitchFamily="18" charset="0"/>
                                </a:rPr>
                                <m:t>   </m:t>
                              </m:r>
                              <m:r>
                                <a:rPr lang="en-US" sz="1200" b="0" i="1" smtClean="0">
                                  <a:solidFill>
                                    <a:schemeClr val="accent2"/>
                                  </a:solidFill>
                                  <a:latin typeface="Cambria Math" panose="02040503050406030204" pitchFamily="18" charset="0"/>
                                </a:rPr>
                                <m:t>𝑌</m:t>
                              </m:r>
                            </m:e>
                            <m:sub>
                              <m:r>
                                <a:rPr lang="en-US" sz="1200" b="0" i="1" smtClean="0">
                                  <a:solidFill>
                                    <a:schemeClr val="accent2"/>
                                  </a:solidFill>
                                  <a:latin typeface="Cambria Math" panose="02040503050406030204" pitchFamily="18" charset="0"/>
                                </a:rPr>
                                <m:t>𝑛</m:t>
                              </m:r>
                              <m:r>
                                <a:rPr lang="en-US" sz="1200" b="0" i="1" smtClean="0">
                                  <a:solidFill>
                                    <a:schemeClr val="accent2"/>
                                  </a:solidFill>
                                  <a:latin typeface="Cambria Math" panose="02040503050406030204" pitchFamily="18" charset="0"/>
                                </a:rPr>
                                <m:t>,</m:t>
                              </m:r>
                              <m:r>
                                <a:rPr lang="en-US" sz="1200" b="0" i="1" smtClean="0">
                                  <a:solidFill>
                                    <a:schemeClr val="accent2"/>
                                  </a:solidFill>
                                  <a:latin typeface="Cambria Math" panose="02040503050406030204" pitchFamily="18" charset="0"/>
                                </a:rPr>
                                <m:t>𝑇</m:t>
                              </m:r>
                            </m:sub>
                          </m:sSub>
                          <m:r>
                            <a:rPr lang="en-US" sz="1200" b="0" i="1" smtClean="0">
                              <a:solidFill>
                                <a:schemeClr val="accent2"/>
                              </a:solidFill>
                              <a:latin typeface="Cambria Math" panose="02040503050406030204" pitchFamily="18" charset="0"/>
                            </a:rPr>
                            <m:t> </m:t>
                          </m:r>
                        </m:oMath>
                      </m:oMathPara>
                    </a14:m>
                    <a:endParaRPr lang="en-US" sz="1200" dirty="0">
                      <a:solidFill>
                        <a:schemeClr val="accent2"/>
                      </a:solidFill>
                    </a:endParaRPr>
                  </a:p>
                </p:txBody>
              </p:sp>
            </mc:Choice>
            <mc:Fallback xmlns="">
              <p:sp>
                <p:nvSpPr>
                  <p:cNvPr id="88" name="TextBox 87">
                    <a:extLst>
                      <a:ext uri="{FF2B5EF4-FFF2-40B4-BE49-F238E27FC236}">
                        <a16:creationId xmlns:a16="http://schemas.microsoft.com/office/drawing/2014/main" id="{FD14AFF6-3BE7-BE38-A9F5-4481338E23DB}"/>
                      </a:ext>
                    </a:extLst>
                  </p:cNvPr>
                  <p:cNvSpPr txBox="1">
                    <a:spLocks noRot="1" noChangeAspect="1" noMove="1" noResize="1" noEditPoints="1" noAdjustHandles="1" noChangeArrowheads="1" noChangeShapeType="1" noTextEdit="1"/>
                  </p:cNvSpPr>
                  <p:nvPr/>
                </p:nvSpPr>
                <p:spPr>
                  <a:xfrm>
                    <a:off x="9091029" y="4493052"/>
                    <a:ext cx="2090432" cy="277298"/>
                  </a:xfrm>
                  <a:prstGeom prst="rect">
                    <a:avLst/>
                  </a:prstGeom>
                  <a:blipFill>
                    <a:blip r:embed="rId63"/>
                    <a:stretch>
                      <a:fillRect l="-2804" t="-5882" r="-4673" b="-2941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9" name="TextBox 88">
                    <a:extLst>
                      <a:ext uri="{FF2B5EF4-FFF2-40B4-BE49-F238E27FC236}">
                        <a16:creationId xmlns:a16="http://schemas.microsoft.com/office/drawing/2014/main" id="{AC5B1C17-107A-1672-B5A5-8A59281ACBE9}"/>
                      </a:ext>
                    </a:extLst>
                  </p:cNvPr>
                  <p:cNvSpPr txBox="1"/>
                  <p:nvPr/>
                </p:nvSpPr>
                <p:spPr>
                  <a:xfrm>
                    <a:off x="7537727" y="4155215"/>
                    <a:ext cx="364601" cy="36506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0" i="1" smtClean="0">
                              <a:latin typeface="Cambria Math" panose="02040503050406030204" pitchFamily="18" charset="0"/>
                            </a:rPr>
                            <m:t>⋮</m:t>
                          </m:r>
                        </m:oMath>
                      </m:oMathPara>
                    </a14:m>
                    <a:endParaRPr lang="en-US" sz="1050" dirty="0"/>
                  </a:p>
                </p:txBody>
              </p:sp>
            </mc:Choice>
            <mc:Fallback xmlns="">
              <p:sp>
                <p:nvSpPr>
                  <p:cNvPr id="89" name="TextBox 88">
                    <a:extLst>
                      <a:ext uri="{FF2B5EF4-FFF2-40B4-BE49-F238E27FC236}">
                        <a16:creationId xmlns:a16="http://schemas.microsoft.com/office/drawing/2014/main" id="{AC5B1C17-107A-1672-B5A5-8A59281ACBE9}"/>
                      </a:ext>
                    </a:extLst>
                  </p:cNvPr>
                  <p:cNvSpPr txBox="1">
                    <a:spLocks noRot="1" noChangeAspect="1" noMove="1" noResize="1" noEditPoints="1" noAdjustHandles="1" noChangeArrowheads="1" noChangeShapeType="1" noTextEdit="1"/>
                  </p:cNvSpPr>
                  <p:nvPr/>
                </p:nvSpPr>
                <p:spPr>
                  <a:xfrm>
                    <a:off x="7537727" y="4155215"/>
                    <a:ext cx="364601" cy="365061"/>
                  </a:xfrm>
                  <a:prstGeom prst="rect">
                    <a:avLst/>
                  </a:prstGeom>
                  <a:blipFill>
                    <a:blip r:embed="rId4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0" name="TextBox 89">
                    <a:extLst>
                      <a:ext uri="{FF2B5EF4-FFF2-40B4-BE49-F238E27FC236}">
                        <a16:creationId xmlns:a16="http://schemas.microsoft.com/office/drawing/2014/main" id="{A5D51A61-71EE-DD78-5E1E-EE0970E24A53}"/>
                      </a:ext>
                    </a:extLst>
                  </p:cNvPr>
                  <p:cNvSpPr txBox="1"/>
                  <p:nvPr/>
                </p:nvSpPr>
                <p:spPr>
                  <a:xfrm>
                    <a:off x="10584523" y="4150608"/>
                    <a:ext cx="364601" cy="36506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0" i="1" smtClean="0">
                              <a:latin typeface="Cambria Math" panose="02040503050406030204" pitchFamily="18" charset="0"/>
                            </a:rPr>
                            <m:t>⋮</m:t>
                          </m:r>
                        </m:oMath>
                      </m:oMathPara>
                    </a14:m>
                    <a:endParaRPr lang="en-US" sz="1050" dirty="0"/>
                  </a:p>
                </p:txBody>
              </p:sp>
            </mc:Choice>
            <mc:Fallback xmlns="">
              <p:sp>
                <p:nvSpPr>
                  <p:cNvPr id="90" name="TextBox 89">
                    <a:extLst>
                      <a:ext uri="{FF2B5EF4-FFF2-40B4-BE49-F238E27FC236}">
                        <a16:creationId xmlns:a16="http://schemas.microsoft.com/office/drawing/2014/main" id="{A5D51A61-71EE-DD78-5E1E-EE0970E24A53}"/>
                      </a:ext>
                    </a:extLst>
                  </p:cNvPr>
                  <p:cNvSpPr txBox="1">
                    <a:spLocks noRot="1" noChangeAspect="1" noMove="1" noResize="1" noEditPoints="1" noAdjustHandles="1" noChangeArrowheads="1" noChangeShapeType="1" noTextEdit="1"/>
                  </p:cNvSpPr>
                  <p:nvPr/>
                </p:nvSpPr>
                <p:spPr>
                  <a:xfrm>
                    <a:off x="10584523" y="4150608"/>
                    <a:ext cx="364601" cy="365061"/>
                  </a:xfrm>
                  <a:prstGeom prst="rect">
                    <a:avLst/>
                  </a:prstGeom>
                  <a:blipFill>
                    <a:blip r:embed="rId6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1" name="TextBox 90">
                    <a:extLst>
                      <a:ext uri="{FF2B5EF4-FFF2-40B4-BE49-F238E27FC236}">
                        <a16:creationId xmlns:a16="http://schemas.microsoft.com/office/drawing/2014/main" id="{BD8286CF-790A-D350-DBF9-F4AAF31CA80B}"/>
                      </a:ext>
                    </a:extLst>
                  </p:cNvPr>
                  <p:cNvSpPr txBox="1"/>
                  <p:nvPr/>
                </p:nvSpPr>
                <p:spPr>
                  <a:xfrm>
                    <a:off x="8840940" y="2947640"/>
                    <a:ext cx="656696" cy="36506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050" i="1" smtClean="0">
                              <a:latin typeface="Cambria Math" panose="02040503050406030204" pitchFamily="18" charset="0"/>
                            </a:rPr>
                            <m:t>⋯</m:t>
                          </m:r>
                        </m:oMath>
                      </m:oMathPara>
                    </a14:m>
                    <a:endParaRPr lang="en-US" sz="1050" dirty="0"/>
                  </a:p>
                </p:txBody>
              </p:sp>
            </mc:Choice>
            <mc:Fallback xmlns="">
              <p:sp>
                <p:nvSpPr>
                  <p:cNvPr id="91" name="TextBox 90">
                    <a:extLst>
                      <a:ext uri="{FF2B5EF4-FFF2-40B4-BE49-F238E27FC236}">
                        <a16:creationId xmlns:a16="http://schemas.microsoft.com/office/drawing/2014/main" id="{BD8286CF-790A-D350-DBF9-F4AAF31CA80B}"/>
                      </a:ext>
                    </a:extLst>
                  </p:cNvPr>
                  <p:cNvSpPr txBox="1">
                    <a:spLocks noRot="1" noChangeAspect="1" noMove="1" noResize="1" noEditPoints="1" noAdjustHandles="1" noChangeArrowheads="1" noChangeShapeType="1" noTextEdit="1"/>
                  </p:cNvSpPr>
                  <p:nvPr/>
                </p:nvSpPr>
                <p:spPr>
                  <a:xfrm>
                    <a:off x="8840940" y="2947640"/>
                    <a:ext cx="656696" cy="365061"/>
                  </a:xfrm>
                  <a:prstGeom prst="rect">
                    <a:avLst/>
                  </a:prstGeom>
                  <a:blipFill>
                    <a:blip r:embed="rId6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2" name="TextBox 91">
                    <a:extLst>
                      <a:ext uri="{FF2B5EF4-FFF2-40B4-BE49-F238E27FC236}">
                        <a16:creationId xmlns:a16="http://schemas.microsoft.com/office/drawing/2014/main" id="{72EB5C92-DD65-FD58-8770-5E77A726F357}"/>
                      </a:ext>
                    </a:extLst>
                  </p:cNvPr>
                  <p:cNvSpPr txBox="1"/>
                  <p:nvPr/>
                </p:nvSpPr>
                <p:spPr>
                  <a:xfrm>
                    <a:off x="8836632" y="2457665"/>
                    <a:ext cx="656696" cy="39824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200" i="1" smtClean="0">
                              <a:latin typeface="Cambria Math" panose="02040503050406030204" pitchFamily="18" charset="0"/>
                            </a:rPr>
                            <m:t>⋯</m:t>
                          </m:r>
                        </m:oMath>
                      </m:oMathPara>
                    </a14:m>
                    <a:endParaRPr lang="en-US" sz="1200" dirty="0"/>
                  </a:p>
                </p:txBody>
              </p:sp>
            </mc:Choice>
            <mc:Fallback xmlns="">
              <p:sp>
                <p:nvSpPr>
                  <p:cNvPr id="92" name="TextBox 91">
                    <a:extLst>
                      <a:ext uri="{FF2B5EF4-FFF2-40B4-BE49-F238E27FC236}">
                        <a16:creationId xmlns:a16="http://schemas.microsoft.com/office/drawing/2014/main" id="{72EB5C92-DD65-FD58-8770-5E77A726F357}"/>
                      </a:ext>
                    </a:extLst>
                  </p:cNvPr>
                  <p:cNvSpPr txBox="1">
                    <a:spLocks noRot="1" noChangeAspect="1" noMove="1" noResize="1" noEditPoints="1" noAdjustHandles="1" noChangeArrowheads="1" noChangeShapeType="1" noTextEdit="1"/>
                  </p:cNvSpPr>
                  <p:nvPr/>
                </p:nvSpPr>
                <p:spPr>
                  <a:xfrm>
                    <a:off x="8836632" y="2457665"/>
                    <a:ext cx="656696" cy="398248"/>
                  </a:xfrm>
                  <a:prstGeom prst="rect">
                    <a:avLst/>
                  </a:prstGeom>
                  <a:blipFill>
                    <a:blip r:embed="rId6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3" name="TextBox 92">
                    <a:extLst>
                      <a:ext uri="{FF2B5EF4-FFF2-40B4-BE49-F238E27FC236}">
                        <a16:creationId xmlns:a16="http://schemas.microsoft.com/office/drawing/2014/main" id="{BA430895-8C8B-A897-59F3-D1EABDAA8C59}"/>
                      </a:ext>
                    </a:extLst>
                  </p:cNvPr>
                  <p:cNvSpPr txBox="1"/>
                  <p:nvPr/>
                </p:nvSpPr>
                <p:spPr>
                  <a:xfrm>
                    <a:off x="7554469" y="4987182"/>
                    <a:ext cx="3361036" cy="840744"/>
                  </a:xfrm>
                  <a:prstGeom prst="rect">
                    <a:avLst/>
                  </a:prstGeom>
                  <a:noFill/>
                </p:spPr>
                <p:txBody>
                  <a:bodyPr wrap="square" rtlCol="0">
                    <a:spAutoFit/>
                  </a:bodyPr>
                  <a:lstStyle/>
                  <a:p>
                    <a:pPr algn="ctr"/>
                    <a:r>
                      <a:rPr lang="en-US" sz="1600" dirty="0">
                        <a:solidFill>
                          <a:schemeClr val="accent1"/>
                        </a:solidFill>
                      </a:rPr>
                      <a:t>Matrix </a:t>
                    </a:r>
                    <a14:m>
                      <m:oMath xmlns:m="http://schemas.openxmlformats.org/officeDocument/2006/math">
                        <m:r>
                          <a:rPr lang="en-US" sz="1600" b="1" i="1" smtClean="0">
                            <a:solidFill>
                              <a:schemeClr val="accent1"/>
                            </a:solidFill>
                            <a:latin typeface="Cambria Math" panose="02040503050406030204" pitchFamily="18" charset="0"/>
                          </a:rPr>
                          <m:t>𝒀</m:t>
                        </m:r>
                        <m:r>
                          <a:rPr lang="en-US" sz="1600" b="1" i="1" smtClean="0">
                            <a:solidFill>
                              <a:schemeClr val="accent1"/>
                            </a:solidFill>
                            <a:latin typeface="Cambria Math" panose="02040503050406030204" pitchFamily="18" charset="0"/>
                          </a:rPr>
                          <m:t>(</m:t>
                        </m:r>
                        <m:r>
                          <a:rPr lang="en-US" sz="1600" b="1" i="1" smtClean="0">
                            <a:solidFill>
                              <a:schemeClr val="accent1"/>
                            </a:solidFill>
                            <a:latin typeface="Cambria Math" panose="02040503050406030204" pitchFamily="18" charset="0"/>
                          </a:rPr>
                          <m:t>𝟏</m:t>
                        </m:r>
                        <m:r>
                          <a:rPr lang="en-US" sz="1600" b="1" i="1" smtClean="0">
                            <a:solidFill>
                              <a:schemeClr val="accent1"/>
                            </a:solidFill>
                            <a:latin typeface="Cambria Math" panose="02040503050406030204" pitchFamily="18" charset="0"/>
                          </a:rPr>
                          <m:t>)</m:t>
                        </m:r>
                      </m:oMath>
                    </a14:m>
                    <a:r>
                      <a:rPr lang="en-US" sz="1600" b="1" dirty="0">
                        <a:solidFill>
                          <a:schemeClr val="accent1"/>
                        </a:solidFill>
                      </a:rPr>
                      <a:t> </a:t>
                    </a:r>
                    <a:r>
                      <a:rPr lang="en-US" sz="1600" dirty="0">
                        <a:solidFill>
                          <a:schemeClr val="accent1"/>
                        </a:solidFill>
                      </a:rPr>
                      <a:t>of potential outcomes if treated</a:t>
                    </a:r>
                  </a:p>
                </p:txBody>
              </p:sp>
            </mc:Choice>
            <mc:Fallback xmlns="">
              <p:sp>
                <p:nvSpPr>
                  <p:cNvPr id="93" name="TextBox 92">
                    <a:extLst>
                      <a:ext uri="{FF2B5EF4-FFF2-40B4-BE49-F238E27FC236}">
                        <a16:creationId xmlns:a16="http://schemas.microsoft.com/office/drawing/2014/main" id="{BA430895-8C8B-A897-59F3-D1EABDAA8C59}"/>
                      </a:ext>
                    </a:extLst>
                  </p:cNvPr>
                  <p:cNvSpPr txBox="1">
                    <a:spLocks noRot="1" noChangeAspect="1" noMove="1" noResize="1" noEditPoints="1" noAdjustHandles="1" noChangeArrowheads="1" noChangeShapeType="1" noTextEdit="1"/>
                  </p:cNvSpPr>
                  <p:nvPr/>
                </p:nvSpPr>
                <p:spPr>
                  <a:xfrm>
                    <a:off x="7554469" y="4987182"/>
                    <a:ext cx="3361036" cy="840744"/>
                  </a:xfrm>
                  <a:prstGeom prst="rect">
                    <a:avLst/>
                  </a:prstGeom>
                  <a:blipFill>
                    <a:blip r:embed="rId67"/>
                    <a:stretch>
                      <a:fillRect t="-4255" r="-1170" b="-5106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4" name="TextBox 93">
                    <a:extLst>
                      <a:ext uri="{FF2B5EF4-FFF2-40B4-BE49-F238E27FC236}">
                        <a16:creationId xmlns:a16="http://schemas.microsoft.com/office/drawing/2014/main" id="{258BDA35-6278-676A-6DD9-409286309948}"/>
                      </a:ext>
                    </a:extLst>
                  </p:cNvPr>
                  <p:cNvSpPr txBox="1"/>
                  <p:nvPr/>
                </p:nvSpPr>
                <p:spPr>
                  <a:xfrm>
                    <a:off x="8727930" y="4509094"/>
                    <a:ext cx="678338" cy="24337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1100" b="0" i="1" smtClean="0">
                              <a:latin typeface="Cambria Math" panose="02040503050406030204" pitchFamily="18" charset="0"/>
                            </a:rPr>
                            <m:t>?</m:t>
                          </m:r>
                        </m:oMath>
                      </m:oMathPara>
                    </a14:m>
                    <a:endParaRPr lang="en-US" sz="1100" dirty="0"/>
                  </a:p>
                </p:txBody>
              </p:sp>
            </mc:Choice>
            <mc:Fallback xmlns="">
              <p:sp>
                <p:nvSpPr>
                  <p:cNvPr id="94" name="TextBox 93">
                    <a:extLst>
                      <a:ext uri="{FF2B5EF4-FFF2-40B4-BE49-F238E27FC236}">
                        <a16:creationId xmlns:a16="http://schemas.microsoft.com/office/drawing/2014/main" id="{258BDA35-6278-676A-6DD9-409286309948}"/>
                      </a:ext>
                    </a:extLst>
                  </p:cNvPr>
                  <p:cNvSpPr txBox="1">
                    <a:spLocks noRot="1" noChangeAspect="1" noMove="1" noResize="1" noEditPoints="1" noAdjustHandles="1" noChangeArrowheads="1" noChangeShapeType="1" noTextEdit="1"/>
                  </p:cNvSpPr>
                  <p:nvPr/>
                </p:nvSpPr>
                <p:spPr>
                  <a:xfrm>
                    <a:off x="8727930" y="4509094"/>
                    <a:ext cx="678338" cy="243373"/>
                  </a:xfrm>
                  <a:prstGeom prst="rect">
                    <a:avLst/>
                  </a:prstGeom>
                  <a:blipFill>
                    <a:blip r:embed="rId6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5" name="TextBox 94">
                    <a:extLst>
                      <a:ext uri="{FF2B5EF4-FFF2-40B4-BE49-F238E27FC236}">
                        <a16:creationId xmlns:a16="http://schemas.microsoft.com/office/drawing/2014/main" id="{6E2B7BF4-E572-AE75-6429-58F28CB4692A}"/>
                      </a:ext>
                    </a:extLst>
                  </p:cNvPr>
                  <p:cNvSpPr txBox="1"/>
                  <p:nvPr/>
                </p:nvSpPr>
                <p:spPr>
                  <a:xfrm>
                    <a:off x="8308580" y="4458310"/>
                    <a:ext cx="656696" cy="36506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050" i="1" smtClean="0">
                              <a:latin typeface="Cambria Math" panose="02040503050406030204" pitchFamily="18" charset="0"/>
                            </a:rPr>
                            <m:t>⋯</m:t>
                          </m:r>
                        </m:oMath>
                      </m:oMathPara>
                    </a14:m>
                    <a:endParaRPr lang="en-US" sz="1050" dirty="0"/>
                  </a:p>
                </p:txBody>
              </p:sp>
            </mc:Choice>
            <mc:Fallback xmlns="">
              <p:sp>
                <p:nvSpPr>
                  <p:cNvPr id="95" name="TextBox 94">
                    <a:extLst>
                      <a:ext uri="{FF2B5EF4-FFF2-40B4-BE49-F238E27FC236}">
                        <a16:creationId xmlns:a16="http://schemas.microsoft.com/office/drawing/2014/main" id="{6E2B7BF4-E572-AE75-6429-58F28CB4692A}"/>
                      </a:ext>
                    </a:extLst>
                  </p:cNvPr>
                  <p:cNvSpPr txBox="1">
                    <a:spLocks noRot="1" noChangeAspect="1" noMove="1" noResize="1" noEditPoints="1" noAdjustHandles="1" noChangeArrowheads="1" noChangeShapeType="1" noTextEdit="1"/>
                  </p:cNvSpPr>
                  <p:nvPr/>
                </p:nvSpPr>
                <p:spPr>
                  <a:xfrm>
                    <a:off x="8308580" y="4458310"/>
                    <a:ext cx="656696" cy="365061"/>
                  </a:xfrm>
                  <a:prstGeom prst="rect">
                    <a:avLst/>
                  </a:prstGeom>
                  <a:blipFill>
                    <a:blip r:embed="rId65"/>
                    <a:stretch>
                      <a:fillRect/>
                    </a:stretch>
                  </a:blipFill>
                </p:spPr>
                <p:txBody>
                  <a:bodyPr/>
                  <a:lstStyle/>
                  <a:p>
                    <a:r>
                      <a:rPr lang="en-US">
                        <a:noFill/>
                      </a:rPr>
                      <a:t> </a:t>
                    </a:r>
                  </a:p>
                </p:txBody>
              </p:sp>
            </mc:Fallback>
          </mc:AlternateContent>
          <p:sp>
            <p:nvSpPr>
              <p:cNvPr id="96" name="Rounded Rectangle 95">
                <a:extLst>
                  <a:ext uri="{FF2B5EF4-FFF2-40B4-BE49-F238E27FC236}">
                    <a16:creationId xmlns:a16="http://schemas.microsoft.com/office/drawing/2014/main" id="{FEE3AB05-5E3C-8AC3-5F88-CE16C11FA374}"/>
                  </a:ext>
                </a:extLst>
              </p:cNvPr>
              <p:cNvSpPr/>
              <p:nvPr/>
            </p:nvSpPr>
            <p:spPr>
              <a:xfrm>
                <a:off x="9174616" y="4411240"/>
                <a:ext cx="1935165" cy="410301"/>
              </a:xfrm>
              <a:prstGeom prst="roundRect">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grpSp>
        <mc:AlternateContent xmlns:mc="http://schemas.openxmlformats.org/markup-compatibility/2006" xmlns:a14="http://schemas.microsoft.com/office/drawing/2010/main">
          <mc:Choice Requires="a14">
            <p:sp>
              <p:nvSpPr>
                <p:cNvPr id="97" name="TextBox 96">
                  <a:extLst>
                    <a:ext uri="{FF2B5EF4-FFF2-40B4-BE49-F238E27FC236}">
                      <a16:creationId xmlns:a16="http://schemas.microsoft.com/office/drawing/2014/main" id="{5CAEDC4E-C360-3E04-DB6E-3ECB9B53E42F}"/>
                    </a:ext>
                  </a:extLst>
                </p:cNvPr>
                <p:cNvSpPr txBox="1"/>
                <p:nvPr/>
              </p:nvSpPr>
              <p:spPr>
                <a:xfrm>
                  <a:off x="5676647" y="5721747"/>
                  <a:ext cx="2090432" cy="24245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050" i="1" smtClean="0">
                                <a:solidFill>
                                  <a:schemeClr val="accent2"/>
                                </a:solidFill>
                                <a:latin typeface="Cambria Math" panose="02040503050406030204" pitchFamily="18" charset="0"/>
                              </a:rPr>
                            </m:ctrlPr>
                          </m:sSubPr>
                          <m:e>
                            <m:r>
                              <a:rPr lang="en-US" sz="1050" b="0" i="1" smtClean="0">
                                <a:solidFill>
                                  <a:schemeClr val="accent2"/>
                                </a:solidFill>
                                <a:latin typeface="Cambria Math" panose="02040503050406030204" pitchFamily="18" charset="0"/>
                              </a:rPr>
                              <m:t>𝑌</m:t>
                            </m:r>
                          </m:e>
                          <m:sub>
                            <m:r>
                              <a:rPr lang="en-US" sz="1050" b="0" i="1" smtClean="0">
                                <a:solidFill>
                                  <a:schemeClr val="accent2"/>
                                </a:solidFill>
                                <a:latin typeface="Cambria Math" panose="02040503050406030204" pitchFamily="18" charset="0"/>
                              </a:rPr>
                              <m:t>𝑛</m:t>
                            </m:r>
                            <m:r>
                              <a:rPr lang="en-US" sz="1050" b="0" i="1" smtClean="0">
                                <a:solidFill>
                                  <a:schemeClr val="accent2"/>
                                </a:solidFill>
                                <a:latin typeface="Cambria Math" panose="02040503050406030204" pitchFamily="18" charset="0"/>
                              </a:rPr>
                              <m:t>,</m:t>
                            </m:r>
                            <m:r>
                              <a:rPr lang="en-US" sz="1050" b="0" i="1" smtClean="0">
                                <a:solidFill>
                                  <a:schemeClr val="accent2"/>
                                </a:solidFill>
                                <a:latin typeface="Cambria Math" panose="02040503050406030204" pitchFamily="18" charset="0"/>
                              </a:rPr>
                              <m:t>𝑇</m:t>
                            </m:r>
                            <m:r>
                              <a:rPr lang="en-US" sz="1050" b="0" i="1" smtClean="0">
                                <a:solidFill>
                                  <a:schemeClr val="accent2"/>
                                </a:solidFill>
                                <a:latin typeface="Cambria Math" panose="02040503050406030204" pitchFamily="18" charset="0"/>
                              </a:rPr>
                              <m:t>−2</m:t>
                            </m:r>
                          </m:sub>
                        </m:sSub>
                        <m:r>
                          <a:rPr lang="en-US" sz="1050" b="0" i="1" smtClean="0">
                            <a:solidFill>
                              <a:schemeClr val="accent2"/>
                            </a:solidFill>
                            <a:latin typeface="Cambria Math" panose="02040503050406030204" pitchFamily="18" charset="0"/>
                          </a:rPr>
                          <m:t>(0) </m:t>
                        </m:r>
                        <m:sSub>
                          <m:sSubPr>
                            <m:ctrlPr>
                              <a:rPr lang="en-US" sz="1050" i="1" smtClean="0">
                                <a:solidFill>
                                  <a:schemeClr val="accent2"/>
                                </a:solidFill>
                                <a:latin typeface="Cambria Math" panose="02040503050406030204" pitchFamily="18" charset="0"/>
                              </a:rPr>
                            </m:ctrlPr>
                          </m:sSubPr>
                          <m:e>
                            <m:r>
                              <a:rPr lang="en-US" sz="1050" b="0" i="1" smtClean="0">
                                <a:solidFill>
                                  <a:schemeClr val="accent2"/>
                                </a:solidFill>
                                <a:latin typeface="Cambria Math" panose="02040503050406030204" pitchFamily="18" charset="0"/>
                              </a:rPr>
                              <m:t>𝑌</m:t>
                            </m:r>
                          </m:e>
                          <m:sub>
                            <m:r>
                              <a:rPr lang="en-US" sz="1050" b="0" i="1" smtClean="0">
                                <a:solidFill>
                                  <a:schemeClr val="accent2"/>
                                </a:solidFill>
                                <a:latin typeface="Cambria Math" panose="02040503050406030204" pitchFamily="18" charset="0"/>
                              </a:rPr>
                              <m:t>𝑛</m:t>
                            </m:r>
                            <m:r>
                              <a:rPr lang="en-US" sz="1050" b="0" i="1" smtClean="0">
                                <a:solidFill>
                                  <a:schemeClr val="accent2"/>
                                </a:solidFill>
                                <a:latin typeface="Cambria Math" panose="02040503050406030204" pitchFamily="18" charset="0"/>
                              </a:rPr>
                              <m:t>,</m:t>
                            </m:r>
                            <m:r>
                              <a:rPr lang="en-US" sz="1050" b="0" i="1" smtClean="0">
                                <a:solidFill>
                                  <a:schemeClr val="accent2"/>
                                </a:solidFill>
                                <a:latin typeface="Cambria Math" panose="02040503050406030204" pitchFamily="18" charset="0"/>
                              </a:rPr>
                              <m:t>𝑇</m:t>
                            </m:r>
                            <m:r>
                              <a:rPr lang="en-US" sz="1050" b="0" i="1" smtClean="0">
                                <a:solidFill>
                                  <a:schemeClr val="accent2"/>
                                </a:solidFill>
                                <a:latin typeface="Cambria Math" panose="02040503050406030204" pitchFamily="18" charset="0"/>
                              </a:rPr>
                              <m:t>−1</m:t>
                            </m:r>
                          </m:sub>
                        </m:sSub>
                        <m:r>
                          <a:rPr lang="en-US" sz="1050" b="0" i="1" smtClean="0">
                            <a:solidFill>
                              <a:schemeClr val="accent2"/>
                            </a:solidFill>
                            <a:latin typeface="Cambria Math" panose="02040503050406030204" pitchFamily="18" charset="0"/>
                          </a:rPr>
                          <m:t>(0) </m:t>
                        </m:r>
                        <m:sSub>
                          <m:sSubPr>
                            <m:ctrlPr>
                              <a:rPr lang="en-US" sz="1050" i="1" smtClean="0">
                                <a:solidFill>
                                  <a:schemeClr val="accent2"/>
                                </a:solidFill>
                                <a:latin typeface="Cambria Math" panose="02040503050406030204" pitchFamily="18" charset="0"/>
                              </a:rPr>
                            </m:ctrlPr>
                          </m:sSubPr>
                          <m:e>
                            <m:r>
                              <a:rPr lang="en-US" sz="1050" b="0" i="1" smtClean="0">
                                <a:solidFill>
                                  <a:schemeClr val="accent2"/>
                                </a:solidFill>
                                <a:latin typeface="Cambria Math" panose="02040503050406030204" pitchFamily="18" charset="0"/>
                              </a:rPr>
                              <m:t>𝑌</m:t>
                            </m:r>
                          </m:e>
                          <m:sub>
                            <m:r>
                              <a:rPr lang="en-US" sz="1050" b="0" i="1" smtClean="0">
                                <a:solidFill>
                                  <a:schemeClr val="accent2"/>
                                </a:solidFill>
                                <a:latin typeface="Cambria Math" panose="02040503050406030204" pitchFamily="18" charset="0"/>
                              </a:rPr>
                              <m:t>𝑛</m:t>
                            </m:r>
                            <m:r>
                              <a:rPr lang="en-US" sz="1050" b="0" i="1" smtClean="0">
                                <a:solidFill>
                                  <a:schemeClr val="accent2"/>
                                </a:solidFill>
                                <a:latin typeface="Cambria Math" panose="02040503050406030204" pitchFamily="18" charset="0"/>
                              </a:rPr>
                              <m:t>,</m:t>
                            </m:r>
                            <m:r>
                              <a:rPr lang="en-US" sz="1050" b="0" i="1" smtClean="0">
                                <a:solidFill>
                                  <a:schemeClr val="accent2"/>
                                </a:solidFill>
                                <a:latin typeface="Cambria Math" panose="02040503050406030204" pitchFamily="18" charset="0"/>
                              </a:rPr>
                              <m:t>𝑇</m:t>
                            </m:r>
                          </m:sub>
                        </m:sSub>
                        <m:r>
                          <a:rPr lang="en-US" sz="1050" b="0" i="1" smtClean="0">
                            <a:solidFill>
                              <a:schemeClr val="accent2"/>
                            </a:solidFill>
                            <a:latin typeface="Cambria Math" panose="02040503050406030204" pitchFamily="18" charset="0"/>
                          </a:rPr>
                          <m:t>(0) </m:t>
                        </m:r>
                      </m:oMath>
                    </m:oMathPara>
                  </a14:m>
                  <a:endParaRPr lang="en-US" sz="1050" dirty="0">
                    <a:solidFill>
                      <a:schemeClr val="accent2"/>
                    </a:solidFill>
                  </a:endParaRPr>
                </a:p>
              </p:txBody>
            </p:sp>
          </mc:Choice>
          <mc:Fallback xmlns="">
            <p:sp>
              <p:nvSpPr>
                <p:cNvPr id="97" name="TextBox 96">
                  <a:extLst>
                    <a:ext uri="{FF2B5EF4-FFF2-40B4-BE49-F238E27FC236}">
                      <a16:creationId xmlns:a16="http://schemas.microsoft.com/office/drawing/2014/main" id="{5CAEDC4E-C360-3E04-DB6E-3ECB9B53E42F}"/>
                    </a:ext>
                  </a:extLst>
                </p:cNvPr>
                <p:cNvSpPr txBox="1">
                  <a:spLocks noRot="1" noChangeAspect="1" noMove="1" noResize="1" noEditPoints="1" noAdjustHandles="1" noChangeArrowheads="1" noChangeShapeType="1" noTextEdit="1"/>
                </p:cNvSpPr>
                <p:nvPr/>
              </p:nvSpPr>
              <p:spPr>
                <a:xfrm>
                  <a:off x="5676647" y="5721747"/>
                  <a:ext cx="2090432" cy="242452"/>
                </a:xfrm>
                <a:prstGeom prst="rect">
                  <a:avLst/>
                </a:prstGeom>
                <a:blipFill>
                  <a:blip r:embed="rId69"/>
                  <a:stretch>
                    <a:fillRect l="-3738" t="-6667" r="-18692" b="-33333"/>
                  </a:stretch>
                </a:blipFill>
              </p:spPr>
              <p:txBody>
                <a:bodyPr/>
                <a:lstStyle/>
                <a:p>
                  <a:r>
                    <a:rPr lang="en-US">
                      <a:noFill/>
                    </a:rPr>
                    <a:t> </a:t>
                  </a:r>
                </a:p>
              </p:txBody>
            </p:sp>
          </mc:Fallback>
        </mc:AlternateContent>
      </p:grpSp>
      <p:grpSp>
        <p:nvGrpSpPr>
          <p:cNvPr id="117" name="Group 116">
            <a:extLst>
              <a:ext uri="{FF2B5EF4-FFF2-40B4-BE49-F238E27FC236}">
                <a16:creationId xmlns:a16="http://schemas.microsoft.com/office/drawing/2014/main" id="{6DBE0608-779F-E5E4-DD7C-4CAB9E047917}"/>
              </a:ext>
            </a:extLst>
          </p:cNvPr>
          <p:cNvGrpSpPr/>
          <p:nvPr/>
        </p:nvGrpSpPr>
        <p:grpSpPr>
          <a:xfrm>
            <a:off x="-104922" y="3433996"/>
            <a:ext cx="4114705" cy="2852042"/>
            <a:chOff x="-104922" y="3433996"/>
            <a:chExt cx="4114705" cy="2852042"/>
          </a:xfrm>
        </p:grpSpPr>
        <p:pic>
          <p:nvPicPr>
            <p:cNvPr id="99" name="Picture 98" descr="Cartoon a cartoon of a person running on a cliff&#10;&#10;Description automatically generated">
              <a:extLst>
                <a:ext uri="{FF2B5EF4-FFF2-40B4-BE49-F238E27FC236}">
                  <a16:creationId xmlns:a16="http://schemas.microsoft.com/office/drawing/2014/main" id="{35B8718C-A97A-E69C-78B7-A3A2A6C11E3B}"/>
                </a:ext>
              </a:extLst>
            </p:cNvPr>
            <p:cNvPicPr>
              <a:picLocks noChangeAspect="1"/>
            </p:cNvPicPr>
            <p:nvPr/>
          </p:nvPicPr>
          <p:blipFill>
            <a:blip r:embed="rId70">
              <a:extLst>
                <a:ext uri="{28A0092B-C50C-407E-A947-70E740481C1C}">
                  <a14:useLocalDpi xmlns:a14="http://schemas.microsoft.com/office/drawing/2010/main" val="0"/>
                </a:ext>
              </a:extLst>
            </a:blip>
            <a:stretch>
              <a:fillRect/>
            </a:stretch>
          </p:blipFill>
          <p:spPr>
            <a:xfrm rot="21314884">
              <a:off x="-104922" y="3433996"/>
              <a:ext cx="4114705" cy="2350687"/>
            </a:xfrm>
            <a:prstGeom prst="rect">
              <a:avLst/>
            </a:prstGeom>
            <a:ln w="28575">
              <a:solidFill>
                <a:schemeClr val="accent4"/>
              </a:solidFill>
            </a:ln>
          </p:spPr>
        </p:pic>
        <p:sp>
          <p:nvSpPr>
            <p:cNvPr id="100" name="TextBox 99">
              <a:extLst>
                <a:ext uri="{FF2B5EF4-FFF2-40B4-BE49-F238E27FC236}">
                  <a16:creationId xmlns:a16="http://schemas.microsoft.com/office/drawing/2014/main" id="{0A24CF08-18A5-11DA-08FF-0F8383FCDD7A}"/>
                </a:ext>
              </a:extLst>
            </p:cNvPr>
            <p:cNvSpPr txBox="1"/>
            <p:nvPr/>
          </p:nvSpPr>
          <p:spPr>
            <a:xfrm rot="21421440">
              <a:off x="1330458" y="5824373"/>
              <a:ext cx="935577" cy="461665"/>
            </a:xfrm>
            <a:prstGeom prst="rect">
              <a:avLst/>
            </a:prstGeom>
            <a:noFill/>
          </p:spPr>
          <p:txBody>
            <a:bodyPr wrap="none" rtlCol="0">
              <a:spAutoFit/>
            </a:bodyPr>
            <a:lstStyle/>
            <a:p>
              <a:r>
                <a:rPr lang="en-US" sz="2400" dirty="0"/>
                <a:t>Brexit</a:t>
              </a:r>
            </a:p>
          </p:txBody>
        </p:sp>
      </p:grpSp>
      <p:grpSp>
        <p:nvGrpSpPr>
          <p:cNvPr id="116" name="Group 115">
            <a:extLst>
              <a:ext uri="{FF2B5EF4-FFF2-40B4-BE49-F238E27FC236}">
                <a16:creationId xmlns:a16="http://schemas.microsoft.com/office/drawing/2014/main" id="{E2A135D4-31F0-82D9-DBB0-4F2FC4081D52}"/>
              </a:ext>
            </a:extLst>
          </p:cNvPr>
          <p:cNvGrpSpPr/>
          <p:nvPr/>
        </p:nvGrpSpPr>
        <p:grpSpPr>
          <a:xfrm>
            <a:off x="4443844" y="2740516"/>
            <a:ext cx="3413346" cy="2960613"/>
            <a:chOff x="4443844" y="2740516"/>
            <a:chExt cx="3413346" cy="2960613"/>
          </a:xfrm>
        </p:grpSpPr>
        <p:grpSp>
          <p:nvGrpSpPr>
            <p:cNvPr id="101" name="Group 100">
              <a:extLst>
                <a:ext uri="{FF2B5EF4-FFF2-40B4-BE49-F238E27FC236}">
                  <a16:creationId xmlns:a16="http://schemas.microsoft.com/office/drawing/2014/main" id="{3E6FC977-E2F3-2A99-9427-0478F858A514}"/>
                </a:ext>
              </a:extLst>
            </p:cNvPr>
            <p:cNvGrpSpPr/>
            <p:nvPr/>
          </p:nvGrpSpPr>
          <p:grpSpPr>
            <a:xfrm>
              <a:off x="4443844" y="2740516"/>
              <a:ext cx="3413346" cy="2439943"/>
              <a:chOff x="4979937" y="2408213"/>
              <a:chExt cx="7176993" cy="5130291"/>
            </a:xfrm>
          </p:grpSpPr>
          <p:pic>
            <p:nvPicPr>
              <p:cNvPr id="102" name="Picture 2" descr="New Jersey County Map (Printable State Map with County Lines) – DIY  Projects, Patterns, Monograms, Designs, Templates">
                <a:extLst>
                  <a:ext uri="{FF2B5EF4-FFF2-40B4-BE49-F238E27FC236}">
                    <a16:creationId xmlns:a16="http://schemas.microsoft.com/office/drawing/2014/main" id="{92461BCB-59A0-B9F4-6FEB-B2E6216998B9}"/>
                  </a:ext>
                </a:extLst>
              </p:cNvPr>
              <p:cNvPicPr>
                <a:picLocks noChangeAspect="1" noChangeArrowheads="1"/>
              </p:cNvPicPr>
              <p:nvPr/>
            </p:nvPicPr>
            <p:blipFill>
              <a:blip r:embed="rId71">
                <a:duotone>
                  <a:schemeClr val="accent6">
                    <a:shade val="45000"/>
                    <a:satMod val="135000"/>
                  </a:schemeClr>
                  <a:prstClr val="white"/>
                </a:duotone>
                <a:extLst>
                  <a:ext uri="{BEBA8EAE-BF5A-486C-A8C5-ECC9F3942E4B}">
                    <a14:imgProps xmlns:a14="http://schemas.microsoft.com/office/drawing/2010/main">
                      <a14:imgLayer r:embed="rId72">
                        <a14:imgEffect>
                          <a14:colorTemperature colorTemp="11200"/>
                        </a14:imgEffect>
                        <a14:imgEffect>
                          <a14:saturation sat="0"/>
                        </a14:imgEffect>
                      </a14:imgLayer>
                    </a14:imgProps>
                  </a:ext>
                  <a:ext uri="{28A0092B-C50C-407E-A947-70E740481C1C}">
                    <a14:useLocalDpi xmlns:a14="http://schemas.microsoft.com/office/drawing/2010/main" val="0"/>
                  </a:ext>
                </a:extLst>
              </a:blip>
              <a:srcRect/>
              <a:stretch>
                <a:fillRect/>
              </a:stretch>
            </p:blipFill>
            <p:spPr bwMode="auto">
              <a:xfrm rot="21402701">
                <a:off x="9039085" y="3897719"/>
                <a:ext cx="1645682" cy="3101852"/>
              </a:xfrm>
              <a:prstGeom prst="rect">
                <a:avLst/>
              </a:prstGeom>
              <a:noFill/>
              <a:extLst>
                <a:ext uri="{909E8E84-426E-40DD-AFC4-6F175D3DCCD1}">
                  <a14:hiddenFill xmlns:a14="http://schemas.microsoft.com/office/drawing/2010/main">
                    <a:solidFill>
                      <a:srgbClr val="FFFFFF"/>
                    </a:solidFill>
                  </a14:hiddenFill>
                </a:ext>
              </a:extLst>
            </p:spPr>
          </p:pic>
          <p:pic>
            <p:nvPicPr>
              <p:cNvPr id="103" name="Picture 4">
                <a:extLst>
                  <a:ext uri="{FF2B5EF4-FFF2-40B4-BE49-F238E27FC236}">
                    <a16:creationId xmlns:a16="http://schemas.microsoft.com/office/drawing/2014/main" id="{3DB03A69-6921-6B71-9FDD-477F540E0200}"/>
                  </a:ext>
                </a:extLst>
              </p:cNvPr>
              <p:cNvPicPr>
                <a:picLocks noChangeAspect="1" noChangeArrowheads="1"/>
              </p:cNvPicPr>
              <p:nvPr/>
            </p:nvPicPr>
            <p:blipFill>
              <a:blip r:embed="rId73">
                <a:duotone>
                  <a:schemeClr val="accent5">
                    <a:shade val="45000"/>
                    <a:satMod val="135000"/>
                  </a:schemeClr>
                  <a:prstClr val="white"/>
                </a:duotone>
                <a:extLst>
                  <a:ext uri="{BEBA8EAE-BF5A-486C-A8C5-ECC9F3942E4B}">
                    <a14:imgProps xmlns:a14="http://schemas.microsoft.com/office/drawing/2010/main">
                      <a14:imgLayer r:embed="rId74">
                        <a14:imgEffect>
                          <a14:sharpenSoften amount="16000"/>
                        </a14:imgEffect>
                        <a14:imgEffect>
                          <a14:saturation sat="0"/>
                        </a14:imgEffect>
                        <a14:imgEffect>
                          <a14:brightnessContrast bright="-7000" contrast="-58000"/>
                        </a14:imgEffect>
                      </a14:imgLayer>
                    </a14:imgProps>
                  </a:ext>
                  <a:ext uri="{28A0092B-C50C-407E-A947-70E740481C1C}">
                    <a14:useLocalDpi xmlns:a14="http://schemas.microsoft.com/office/drawing/2010/main" val="0"/>
                  </a:ext>
                </a:extLst>
              </a:blip>
              <a:srcRect/>
              <a:stretch>
                <a:fillRect/>
              </a:stretch>
            </p:blipFill>
            <p:spPr bwMode="auto">
              <a:xfrm rot="181285">
                <a:off x="4979937" y="3171331"/>
                <a:ext cx="5040685" cy="3014855"/>
              </a:xfrm>
              <a:prstGeom prst="rect">
                <a:avLst/>
              </a:prstGeom>
              <a:noFill/>
              <a:extLst>
                <a:ext uri="{909E8E84-426E-40DD-AFC4-6F175D3DCCD1}">
                  <a14:hiddenFill xmlns:a14="http://schemas.microsoft.com/office/drawing/2010/main">
                    <a:solidFill>
                      <a:srgbClr val="FFFFFF"/>
                    </a:solidFill>
                  </a14:hiddenFill>
                </a:ext>
              </a:extLst>
            </p:spPr>
          </p:pic>
          <p:grpSp>
            <p:nvGrpSpPr>
              <p:cNvPr id="104" name="Group 103">
                <a:extLst>
                  <a:ext uri="{FF2B5EF4-FFF2-40B4-BE49-F238E27FC236}">
                    <a16:creationId xmlns:a16="http://schemas.microsoft.com/office/drawing/2014/main" id="{9F5022BA-7229-3A0A-845E-279446988AC7}"/>
                  </a:ext>
                </a:extLst>
              </p:cNvPr>
              <p:cNvGrpSpPr/>
              <p:nvPr/>
            </p:nvGrpSpPr>
            <p:grpSpPr>
              <a:xfrm>
                <a:off x="8087983" y="2408213"/>
                <a:ext cx="4068947" cy="5130291"/>
                <a:chOff x="8087983" y="2408213"/>
                <a:chExt cx="4068947" cy="5130291"/>
              </a:xfrm>
            </p:grpSpPr>
            <p:sp>
              <p:nvSpPr>
                <p:cNvPr id="107" name="Rounded Rectangular Callout 106">
                  <a:extLst>
                    <a:ext uri="{FF2B5EF4-FFF2-40B4-BE49-F238E27FC236}">
                      <a16:creationId xmlns:a16="http://schemas.microsoft.com/office/drawing/2014/main" id="{EE67EE28-8D8A-4689-589E-7516C50081EB}"/>
                    </a:ext>
                  </a:extLst>
                </p:cNvPr>
                <p:cNvSpPr/>
                <p:nvPr/>
              </p:nvSpPr>
              <p:spPr>
                <a:xfrm>
                  <a:off x="9625821" y="2408213"/>
                  <a:ext cx="2531109" cy="1459166"/>
                </a:xfrm>
                <a:prstGeom prst="wedgeRoundRectCallout">
                  <a:avLst>
                    <a:gd name="adj1" fmla="val -35380"/>
                    <a:gd name="adj2" fmla="val 94854"/>
                    <a:gd name="adj3" fmla="val 16667"/>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We’re raising the minimum wage!</a:t>
                  </a:r>
                </a:p>
              </p:txBody>
            </p:sp>
            <p:sp>
              <p:nvSpPr>
                <p:cNvPr id="108" name="Rounded Rectangular Callout 107">
                  <a:extLst>
                    <a:ext uri="{FF2B5EF4-FFF2-40B4-BE49-F238E27FC236}">
                      <a16:creationId xmlns:a16="http://schemas.microsoft.com/office/drawing/2014/main" id="{784641AA-FD7B-8249-AB84-93B6C67EE807}"/>
                    </a:ext>
                  </a:extLst>
                </p:cNvPr>
                <p:cNvSpPr/>
                <p:nvPr/>
              </p:nvSpPr>
              <p:spPr>
                <a:xfrm>
                  <a:off x="8087983" y="6700043"/>
                  <a:ext cx="1537838" cy="838461"/>
                </a:xfrm>
                <a:prstGeom prst="wedgeRoundRectCallout">
                  <a:avLst>
                    <a:gd name="adj1" fmla="val -19715"/>
                    <a:gd name="adj2" fmla="val -213722"/>
                    <a:gd name="adj3" fmla="val 16667"/>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Nah.</a:t>
                  </a:r>
                </a:p>
              </p:txBody>
            </p:sp>
          </p:grpSp>
          <p:sp>
            <p:nvSpPr>
              <p:cNvPr id="105" name="TextBox 104">
                <a:extLst>
                  <a:ext uri="{FF2B5EF4-FFF2-40B4-BE49-F238E27FC236}">
                    <a16:creationId xmlns:a16="http://schemas.microsoft.com/office/drawing/2014/main" id="{E36B01FA-B279-36A8-AE25-C536AA94213A}"/>
                  </a:ext>
                </a:extLst>
              </p:cNvPr>
              <p:cNvSpPr txBox="1"/>
              <p:nvPr/>
            </p:nvSpPr>
            <p:spPr>
              <a:xfrm>
                <a:off x="5338067" y="5941891"/>
                <a:ext cx="3179327" cy="1100137"/>
              </a:xfrm>
              <a:prstGeom prst="rect">
                <a:avLst/>
              </a:prstGeom>
              <a:noFill/>
            </p:spPr>
            <p:txBody>
              <a:bodyPr wrap="square" rtlCol="0">
                <a:spAutoFit/>
              </a:bodyPr>
              <a:lstStyle/>
              <a:p>
                <a:pPr algn="ctr"/>
                <a:r>
                  <a:rPr lang="en-US" sz="1400" dirty="0"/>
                  <a:t>Pennsylvania (PA)</a:t>
                </a:r>
              </a:p>
            </p:txBody>
          </p:sp>
          <p:sp>
            <p:nvSpPr>
              <p:cNvPr id="106" name="TextBox 105">
                <a:extLst>
                  <a:ext uri="{FF2B5EF4-FFF2-40B4-BE49-F238E27FC236}">
                    <a16:creationId xmlns:a16="http://schemas.microsoft.com/office/drawing/2014/main" id="{9973C03A-BF33-438E-2284-38E00AE8E334}"/>
                  </a:ext>
                </a:extLst>
              </p:cNvPr>
              <p:cNvSpPr txBox="1"/>
              <p:nvPr/>
            </p:nvSpPr>
            <p:spPr>
              <a:xfrm>
                <a:off x="10261872" y="5055810"/>
                <a:ext cx="1713037" cy="1553135"/>
              </a:xfrm>
              <a:prstGeom prst="rect">
                <a:avLst/>
              </a:prstGeom>
              <a:noFill/>
            </p:spPr>
            <p:txBody>
              <a:bodyPr wrap="square" rtlCol="0">
                <a:spAutoFit/>
              </a:bodyPr>
              <a:lstStyle/>
              <a:p>
                <a:pPr algn="ctr"/>
                <a:r>
                  <a:rPr lang="en-US" sz="1400" dirty="0"/>
                  <a:t>New Jersey</a:t>
                </a:r>
              </a:p>
              <a:p>
                <a:pPr algn="ctr"/>
                <a:r>
                  <a:rPr lang="en-US" sz="1400" dirty="0"/>
                  <a:t>(NJ)</a:t>
                </a:r>
              </a:p>
            </p:txBody>
          </p:sp>
        </p:grpSp>
        <p:sp>
          <p:nvSpPr>
            <p:cNvPr id="109" name="TextBox 108">
              <a:extLst>
                <a:ext uri="{FF2B5EF4-FFF2-40B4-BE49-F238E27FC236}">
                  <a16:creationId xmlns:a16="http://schemas.microsoft.com/office/drawing/2014/main" id="{D9DBA518-B9E5-F1FD-0675-E11E2CB6FFEF}"/>
                </a:ext>
              </a:extLst>
            </p:cNvPr>
            <p:cNvSpPr txBox="1"/>
            <p:nvPr/>
          </p:nvSpPr>
          <p:spPr>
            <a:xfrm>
              <a:off x="5113762" y="5331797"/>
              <a:ext cx="1723549" cy="369332"/>
            </a:xfrm>
            <a:prstGeom prst="rect">
              <a:avLst/>
            </a:prstGeom>
            <a:noFill/>
          </p:spPr>
          <p:txBody>
            <a:bodyPr wrap="none" rtlCol="0">
              <a:spAutoFit/>
            </a:bodyPr>
            <a:lstStyle/>
            <a:p>
              <a:r>
                <a:rPr lang="en-US" dirty="0"/>
                <a:t>Minimum Wage</a:t>
              </a:r>
            </a:p>
          </p:txBody>
        </p:sp>
      </p:grpSp>
      <p:grpSp>
        <p:nvGrpSpPr>
          <p:cNvPr id="119" name="Group 118">
            <a:extLst>
              <a:ext uri="{FF2B5EF4-FFF2-40B4-BE49-F238E27FC236}">
                <a16:creationId xmlns:a16="http://schemas.microsoft.com/office/drawing/2014/main" id="{D000D5C5-4426-D4F5-1CC7-03B14F000A0A}"/>
              </a:ext>
            </a:extLst>
          </p:cNvPr>
          <p:cNvGrpSpPr/>
          <p:nvPr/>
        </p:nvGrpSpPr>
        <p:grpSpPr>
          <a:xfrm>
            <a:off x="8073615" y="2919976"/>
            <a:ext cx="3918663" cy="2278212"/>
            <a:chOff x="8073615" y="2919976"/>
            <a:chExt cx="3918663" cy="2278212"/>
          </a:xfrm>
        </p:grpSpPr>
        <p:grpSp>
          <p:nvGrpSpPr>
            <p:cNvPr id="115" name="Group 114">
              <a:extLst>
                <a:ext uri="{FF2B5EF4-FFF2-40B4-BE49-F238E27FC236}">
                  <a16:creationId xmlns:a16="http://schemas.microsoft.com/office/drawing/2014/main" id="{BC8673E6-1B03-BF32-8902-5EE02FE5AD88}"/>
                </a:ext>
              </a:extLst>
            </p:cNvPr>
            <p:cNvGrpSpPr/>
            <p:nvPr/>
          </p:nvGrpSpPr>
          <p:grpSpPr>
            <a:xfrm>
              <a:off x="8073615" y="3041266"/>
              <a:ext cx="2823654" cy="2156922"/>
              <a:chOff x="7349083" y="2491753"/>
              <a:chExt cx="5349408" cy="4086286"/>
            </a:xfrm>
          </p:grpSpPr>
          <p:pic>
            <p:nvPicPr>
              <p:cNvPr id="111" name="Picture 110">
                <a:extLst>
                  <a:ext uri="{FF2B5EF4-FFF2-40B4-BE49-F238E27FC236}">
                    <a16:creationId xmlns:a16="http://schemas.microsoft.com/office/drawing/2014/main" id="{8A4510D3-ADDC-6922-AE58-D09D1D54067F}"/>
                  </a:ext>
                </a:extLst>
              </p:cNvPr>
              <p:cNvPicPr>
                <a:picLocks noChangeAspect="1"/>
              </p:cNvPicPr>
              <p:nvPr/>
            </p:nvPicPr>
            <p:blipFill>
              <a:blip r:embed="rId75"/>
              <a:stretch>
                <a:fillRect/>
              </a:stretch>
            </p:blipFill>
            <p:spPr>
              <a:xfrm>
                <a:off x="7349083" y="2491753"/>
                <a:ext cx="5293117" cy="4086286"/>
              </a:xfrm>
              <a:prstGeom prst="rect">
                <a:avLst/>
              </a:prstGeom>
            </p:spPr>
          </p:pic>
          <p:sp>
            <p:nvSpPr>
              <p:cNvPr id="112" name="Freeform 111">
                <a:extLst>
                  <a:ext uri="{FF2B5EF4-FFF2-40B4-BE49-F238E27FC236}">
                    <a16:creationId xmlns:a16="http://schemas.microsoft.com/office/drawing/2014/main" id="{BC1B3515-1EDF-43F1-E799-40B2AD9F4399}"/>
                  </a:ext>
                </a:extLst>
              </p:cNvPr>
              <p:cNvSpPr/>
              <p:nvPr/>
            </p:nvSpPr>
            <p:spPr>
              <a:xfrm>
                <a:off x="7753958" y="2514386"/>
                <a:ext cx="4944533" cy="3942080"/>
              </a:xfrm>
              <a:custGeom>
                <a:avLst/>
                <a:gdLst>
                  <a:gd name="connsiteX0" fmla="*/ 2993813 w 4944533"/>
                  <a:gd name="connsiteY0" fmla="*/ 419947 h 3942080"/>
                  <a:gd name="connsiteX1" fmla="*/ 2939626 w 4944533"/>
                  <a:gd name="connsiteY1" fmla="*/ 494453 h 3942080"/>
                  <a:gd name="connsiteX2" fmla="*/ 2851573 w 4944533"/>
                  <a:gd name="connsiteY2" fmla="*/ 501227 h 3942080"/>
                  <a:gd name="connsiteX3" fmla="*/ 2661920 w 4944533"/>
                  <a:gd name="connsiteY3" fmla="*/ 765387 h 3942080"/>
                  <a:gd name="connsiteX4" fmla="*/ 2641600 w 4944533"/>
                  <a:gd name="connsiteY4" fmla="*/ 758613 h 3942080"/>
                  <a:gd name="connsiteX5" fmla="*/ 2661920 w 4944533"/>
                  <a:gd name="connsiteY5" fmla="*/ 853440 h 3942080"/>
                  <a:gd name="connsiteX6" fmla="*/ 2600960 w 4944533"/>
                  <a:gd name="connsiteY6" fmla="*/ 839893 h 3942080"/>
                  <a:gd name="connsiteX7" fmla="*/ 2458720 w 4944533"/>
                  <a:gd name="connsiteY7" fmla="*/ 765387 h 3942080"/>
                  <a:gd name="connsiteX8" fmla="*/ 2458720 w 4944533"/>
                  <a:gd name="connsiteY8" fmla="*/ 704427 h 3942080"/>
                  <a:gd name="connsiteX9" fmla="*/ 2370666 w 4944533"/>
                  <a:gd name="connsiteY9" fmla="*/ 690880 h 3942080"/>
                  <a:gd name="connsiteX10" fmla="*/ 2404533 w 4944533"/>
                  <a:gd name="connsiteY10" fmla="*/ 562187 h 3942080"/>
                  <a:gd name="connsiteX11" fmla="*/ 2336800 w 4944533"/>
                  <a:gd name="connsiteY11" fmla="*/ 528320 h 3942080"/>
                  <a:gd name="connsiteX12" fmla="*/ 2309706 w 4944533"/>
                  <a:gd name="connsiteY12" fmla="*/ 304800 h 3942080"/>
                  <a:gd name="connsiteX13" fmla="*/ 1916853 w 4944533"/>
                  <a:gd name="connsiteY13" fmla="*/ 60960 h 3942080"/>
                  <a:gd name="connsiteX14" fmla="*/ 555413 w 4944533"/>
                  <a:gd name="connsiteY14" fmla="*/ 0 h 3942080"/>
                  <a:gd name="connsiteX15" fmla="*/ 0 w 4944533"/>
                  <a:gd name="connsiteY15" fmla="*/ 453813 h 3942080"/>
                  <a:gd name="connsiteX16" fmla="*/ 13546 w 4944533"/>
                  <a:gd name="connsiteY16" fmla="*/ 1110827 h 3942080"/>
                  <a:gd name="connsiteX17" fmla="*/ 738293 w 4944533"/>
                  <a:gd name="connsiteY17" fmla="*/ 1293707 h 3942080"/>
                  <a:gd name="connsiteX18" fmla="*/ 555413 w 4944533"/>
                  <a:gd name="connsiteY18" fmla="*/ 2404533 h 3942080"/>
                  <a:gd name="connsiteX19" fmla="*/ 494453 w 4944533"/>
                  <a:gd name="connsiteY19" fmla="*/ 3102187 h 3942080"/>
                  <a:gd name="connsiteX20" fmla="*/ 826346 w 4944533"/>
                  <a:gd name="connsiteY20" fmla="*/ 3942080 h 3942080"/>
                  <a:gd name="connsiteX21" fmla="*/ 2032000 w 4944533"/>
                  <a:gd name="connsiteY21" fmla="*/ 3942080 h 3942080"/>
                  <a:gd name="connsiteX22" fmla="*/ 2749973 w 4944533"/>
                  <a:gd name="connsiteY22" fmla="*/ 3508587 h 3942080"/>
                  <a:gd name="connsiteX23" fmla="*/ 4009813 w 4944533"/>
                  <a:gd name="connsiteY23" fmla="*/ 2898987 h 3942080"/>
                  <a:gd name="connsiteX24" fmla="*/ 4944533 w 4944533"/>
                  <a:gd name="connsiteY24" fmla="*/ 846667 h 3942080"/>
                  <a:gd name="connsiteX25" fmla="*/ 4700693 w 4944533"/>
                  <a:gd name="connsiteY25" fmla="*/ 460587 h 3942080"/>
                  <a:gd name="connsiteX26" fmla="*/ 2993813 w 4944533"/>
                  <a:gd name="connsiteY26" fmla="*/ 419947 h 3942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4944533" h="3942080">
                    <a:moveTo>
                      <a:pt x="2993813" y="419947"/>
                    </a:moveTo>
                    <a:lnTo>
                      <a:pt x="2939626" y="494453"/>
                    </a:lnTo>
                    <a:lnTo>
                      <a:pt x="2851573" y="501227"/>
                    </a:lnTo>
                    <a:lnTo>
                      <a:pt x="2661920" y="765387"/>
                    </a:lnTo>
                    <a:lnTo>
                      <a:pt x="2641600" y="758613"/>
                    </a:lnTo>
                    <a:lnTo>
                      <a:pt x="2661920" y="853440"/>
                    </a:lnTo>
                    <a:lnTo>
                      <a:pt x="2600960" y="839893"/>
                    </a:lnTo>
                    <a:lnTo>
                      <a:pt x="2458720" y="765387"/>
                    </a:lnTo>
                    <a:lnTo>
                      <a:pt x="2458720" y="704427"/>
                    </a:lnTo>
                    <a:lnTo>
                      <a:pt x="2370666" y="690880"/>
                    </a:lnTo>
                    <a:lnTo>
                      <a:pt x="2404533" y="562187"/>
                    </a:lnTo>
                    <a:lnTo>
                      <a:pt x="2336800" y="528320"/>
                    </a:lnTo>
                    <a:lnTo>
                      <a:pt x="2309706" y="304800"/>
                    </a:lnTo>
                    <a:lnTo>
                      <a:pt x="1916853" y="60960"/>
                    </a:lnTo>
                    <a:lnTo>
                      <a:pt x="555413" y="0"/>
                    </a:lnTo>
                    <a:lnTo>
                      <a:pt x="0" y="453813"/>
                    </a:lnTo>
                    <a:lnTo>
                      <a:pt x="13546" y="1110827"/>
                    </a:lnTo>
                    <a:lnTo>
                      <a:pt x="738293" y="1293707"/>
                    </a:lnTo>
                    <a:lnTo>
                      <a:pt x="555413" y="2404533"/>
                    </a:lnTo>
                    <a:lnTo>
                      <a:pt x="494453" y="3102187"/>
                    </a:lnTo>
                    <a:lnTo>
                      <a:pt x="826346" y="3942080"/>
                    </a:lnTo>
                    <a:lnTo>
                      <a:pt x="2032000" y="3942080"/>
                    </a:lnTo>
                    <a:lnTo>
                      <a:pt x="2749973" y="3508587"/>
                    </a:lnTo>
                    <a:lnTo>
                      <a:pt x="4009813" y="2898987"/>
                    </a:lnTo>
                    <a:lnTo>
                      <a:pt x="4944533" y="846667"/>
                    </a:lnTo>
                    <a:lnTo>
                      <a:pt x="4700693" y="460587"/>
                    </a:lnTo>
                    <a:lnTo>
                      <a:pt x="2993813" y="419947"/>
                    </a:lnTo>
                    <a:close/>
                  </a:path>
                </a:pathLst>
              </a:custGeom>
              <a:solidFill>
                <a:schemeClr val="bg1">
                  <a:alpha val="54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 name="Freeform 112">
                <a:extLst>
                  <a:ext uri="{FF2B5EF4-FFF2-40B4-BE49-F238E27FC236}">
                    <a16:creationId xmlns:a16="http://schemas.microsoft.com/office/drawing/2014/main" id="{35FA568A-4E24-1C2E-5351-6BFF7478BB7C}"/>
                  </a:ext>
                </a:extLst>
              </p:cNvPr>
              <p:cNvSpPr/>
              <p:nvPr/>
            </p:nvSpPr>
            <p:spPr>
              <a:xfrm>
                <a:off x="10037473" y="2861002"/>
                <a:ext cx="652130" cy="489098"/>
              </a:xfrm>
              <a:custGeom>
                <a:avLst/>
                <a:gdLst>
                  <a:gd name="connsiteX0" fmla="*/ 0 w 652130"/>
                  <a:gd name="connsiteY0" fmla="*/ 0 h 489098"/>
                  <a:gd name="connsiteX1" fmla="*/ 85061 w 652130"/>
                  <a:gd name="connsiteY1" fmla="*/ 77972 h 489098"/>
                  <a:gd name="connsiteX2" fmla="*/ 155944 w 652130"/>
                  <a:gd name="connsiteY2" fmla="*/ 49619 h 489098"/>
                  <a:gd name="connsiteX3" fmla="*/ 248093 w 652130"/>
                  <a:gd name="connsiteY3" fmla="*/ 28354 h 489098"/>
                  <a:gd name="connsiteX4" fmla="*/ 333154 w 652130"/>
                  <a:gd name="connsiteY4" fmla="*/ 92149 h 489098"/>
                  <a:gd name="connsiteX5" fmla="*/ 404037 w 652130"/>
                  <a:gd name="connsiteY5" fmla="*/ 99237 h 489098"/>
                  <a:gd name="connsiteX6" fmla="*/ 482009 w 652130"/>
                  <a:gd name="connsiteY6" fmla="*/ 85061 h 489098"/>
                  <a:gd name="connsiteX7" fmla="*/ 588335 w 652130"/>
                  <a:gd name="connsiteY7" fmla="*/ 63796 h 489098"/>
                  <a:gd name="connsiteX8" fmla="*/ 652130 w 652130"/>
                  <a:gd name="connsiteY8" fmla="*/ 92149 h 489098"/>
                  <a:gd name="connsiteX9" fmla="*/ 609600 w 652130"/>
                  <a:gd name="connsiteY9" fmla="*/ 148856 h 489098"/>
                  <a:gd name="connsiteX10" fmla="*/ 545805 w 652130"/>
                  <a:gd name="connsiteY10" fmla="*/ 148856 h 489098"/>
                  <a:gd name="connsiteX11" fmla="*/ 474921 w 652130"/>
                  <a:gd name="connsiteY11" fmla="*/ 233917 h 489098"/>
                  <a:gd name="connsiteX12" fmla="*/ 404037 w 652130"/>
                  <a:gd name="connsiteY12" fmla="*/ 333154 h 489098"/>
                  <a:gd name="connsiteX13" fmla="*/ 361507 w 652130"/>
                  <a:gd name="connsiteY13" fmla="*/ 404037 h 489098"/>
                  <a:gd name="connsiteX14" fmla="*/ 326065 w 652130"/>
                  <a:gd name="connsiteY14" fmla="*/ 418214 h 489098"/>
                  <a:gd name="connsiteX15" fmla="*/ 326065 w 652130"/>
                  <a:gd name="connsiteY15" fmla="*/ 489098 h 489098"/>
                  <a:gd name="connsiteX16" fmla="*/ 191386 w 652130"/>
                  <a:gd name="connsiteY16" fmla="*/ 425303 h 489098"/>
                  <a:gd name="connsiteX17" fmla="*/ 155944 w 652130"/>
                  <a:gd name="connsiteY17" fmla="*/ 375684 h 489098"/>
                  <a:gd name="connsiteX18" fmla="*/ 92149 w 652130"/>
                  <a:gd name="connsiteY18" fmla="*/ 340242 h 489098"/>
                  <a:gd name="connsiteX19" fmla="*/ 106326 w 652130"/>
                  <a:gd name="connsiteY19" fmla="*/ 311889 h 489098"/>
                  <a:gd name="connsiteX20" fmla="*/ 106326 w 652130"/>
                  <a:gd name="connsiteY20" fmla="*/ 233917 h 489098"/>
                  <a:gd name="connsiteX21" fmla="*/ 28354 w 652130"/>
                  <a:gd name="connsiteY21" fmla="*/ 184298 h 489098"/>
                  <a:gd name="connsiteX22" fmla="*/ 7089 w 652130"/>
                  <a:gd name="connsiteY22" fmla="*/ 85061 h 489098"/>
                  <a:gd name="connsiteX23" fmla="*/ 0 w 652130"/>
                  <a:gd name="connsiteY23" fmla="*/ 0 h 4890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652130" h="489098">
                    <a:moveTo>
                      <a:pt x="0" y="0"/>
                    </a:moveTo>
                    <a:lnTo>
                      <a:pt x="85061" y="77972"/>
                    </a:lnTo>
                    <a:lnTo>
                      <a:pt x="155944" y="49619"/>
                    </a:lnTo>
                    <a:lnTo>
                      <a:pt x="248093" y="28354"/>
                    </a:lnTo>
                    <a:lnTo>
                      <a:pt x="333154" y="92149"/>
                    </a:lnTo>
                    <a:lnTo>
                      <a:pt x="404037" y="99237"/>
                    </a:lnTo>
                    <a:lnTo>
                      <a:pt x="482009" y="85061"/>
                    </a:lnTo>
                    <a:lnTo>
                      <a:pt x="588335" y="63796"/>
                    </a:lnTo>
                    <a:lnTo>
                      <a:pt x="652130" y="92149"/>
                    </a:lnTo>
                    <a:lnTo>
                      <a:pt x="609600" y="148856"/>
                    </a:lnTo>
                    <a:lnTo>
                      <a:pt x="545805" y="148856"/>
                    </a:lnTo>
                    <a:lnTo>
                      <a:pt x="474921" y="233917"/>
                    </a:lnTo>
                    <a:lnTo>
                      <a:pt x="404037" y="333154"/>
                    </a:lnTo>
                    <a:lnTo>
                      <a:pt x="361507" y="404037"/>
                    </a:lnTo>
                    <a:lnTo>
                      <a:pt x="326065" y="418214"/>
                    </a:lnTo>
                    <a:lnTo>
                      <a:pt x="326065" y="489098"/>
                    </a:lnTo>
                    <a:lnTo>
                      <a:pt x="191386" y="425303"/>
                    </a:lnTo>
                    <a:lnTo>
                      <a:pt x="155944" y="375684"/>
                    </a:lnTo>
                    <a:lnTo>
                      <a:pt x="92149" y="340242"/>
                    </a:lnTo>
                    <a:lnTo>
                      <a:pt x="106326" y="311889"/>
                    </a:lnTo>
                    <a:lnTo>
                      <a:pt x="106326" y="233917"/>
                    </a:lnTo>
                    <a:lnTo>
                      <a:pt x="28354" y="184298"/>
                    </a:lnTo>
                    <a:lnTo>
                      <a:pt x="7089" y="85061"/>
                    </a:lnTo>
                    <a:lnTo>
                      <a:pt x="0" y="0"/>
                    </a:lnTo>
                    <a:close/>
                  </a:path>
                </a:pathLst>
              </a:custGeom>
              <a:noFill/>
              <a:ln>
                <a:solidFill>
                  <a:srgbClr val="FFFF00"/>
                </a:solidFill>
              </a:ln>
              <a:effectLst>
                <a:glow rad="32938">
                  <a:schemeClr val="accent5">
                    <a:satMod val="175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Down Arrow 113">
                <a:extLst>
                  <a:ext uri="{FF2B5EF4-FFF2-40B4-BE49-F238E27FC236}">
                    <a16:creationId xmlns:a16="http://schemas.microsoft.com/office/drawing/2014/main" id="{F42E52F6-0491-9F11-538C-E53499C08772}"/>
                  </a:ext>
                </a:extLst>
              </p:cNvPr>
              <p:cNvSpPr/>
              <p:nvPr/>
            </p:nvSpPr>
            <p:spPr>
              <a:xfrm rot="2143427">
                <a:off x="10406672" y="2515441"/>
                <a:ext cx="199389" cy="404670"/>
              </a:xfrm>
              <a:prstGeom prst="downArrow">
                <a:avLst/>
              </a:prstGeom>
              <a:solidFill>
                <a:srgbClr val="FFFF00"/>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18" name="TextBox 117">
              <a:extLst>
                <a:ext uri="{FF2B5EF4-FFF2-40B4-BE49-F238E27FC236}">
                  <a16:creationId xmlns:a16="http://schemas.microsoft.com/office/drawing/2014/main" id="{258EBED0-DECB-FDEE-5549-85CE7C6DE517}"/>
                </a:ext>
              </a:extLst>
            </p:cNvPr>
            <p:cNvSpPr txBox="1"/>
            <p:nvPr/>
          </p:nvSpPr>
          <p:spPr>
            <a:xfrm>
              <a:off x="10571203" y="2919976"/>
              <a:ext cx="1421075" cy="940452"/>
            </a:xfrm>
            <a:prstGeom prst="rect">
              <a:avLst/>
            </a:prstGeom>
            <a:noFill/>
          </p:spPr>
          <p:txBody>
            <a:bodyPr wrap="square" rtlCol="0">
              <a:spAutoFit/>
            </a:bodyPr>
            <a:lstStyle/>
            <a:p>
              <a:r>
                <a:rPr lang="en-US" dirty="0"/>
                <a:t>Terrorism in the Basque Country</a:t>
              </a:r>
            </a:p>
          </p:txBody>
        </p:sp>
      </p:grpSp>
      <p:grpSp>
        <p:nvGrpSpPr>
          <p:cNvPr id="122" name="Group 121">
            <a:extLst>
              <a:ext uri="{FF2B5EF4-FFF2-40B4-BE49-F238E27FC236}">
                <a16:creationId xmlns:a16="http://schemas.microsoft.com/office/drawing/2014/main" id="{63671944-9E3E-FB5E-87D9-92E063288110}"/>
              </a:ext>
            </a:extLst>
          </p:cNvPr>
          <p:cNvGrpSpPr/>
          <p:nvPr/>
        </p:nvGrpSpPr>
        <p:grpSpPr>
          <a:xfrm>
            <a:off x="6907321" y="4986867"/>
            <a:ext cx="3022019" cy="1755307"/>
            <a:chOff x="7134639" y="4864692"/>
            <a:chExt cx="3022019" cy="1755307"/>
          </a:xfrm>
        </p:grpSpPr>
        <p:pic>
          <p:nvPicPr>
            <p:cNvPr id="120" name="Picture 2" descr="California aggressively fights Big Tobacco usage in ads such as this, with funds voters allocated when they increased the tobacco tax by passing Proposition 99 in 1988. Image courtesy of the California Department of Public Health">
              <a:extLst>
                <a:ext uri="{FF2B5EF4-FFF2-40B4-BE49-F238E27FC236}">
                  <a16:creationId xmlns:a16="http://schemas.microsoft.com/office/drawing/2014/main" id="{B3EB3FCC-9BC0-DE39-9BF9-7BDAE7571C6B}"/>
                </a:ext>
              </a:extLst>
            </p:cNvPr>
            <p:cNvPicPr>
              <a:picLocks noChangeAspect="1" noChangeArrowheads="1"/>
            </p:cNvPicPr>
            <p:nvPr/>
          </p:nvPicPr>
          <p:blipFill>
            <a:blip r:embed="rId76">
              <a:extLst>
                <a:ext uri="{28A0092B-C50C-407E-A947-70E740481C1C}">
                  <a14:useLocalDpi xmlns:a14="http://schemas.microsoft.com/office/drawing/2010/main" val="0"/>
                </a:ext>
              </a:extLst>
            </a:blip>
            <a:srcRect/>
            <a:stretch>
              <a:fillRect/>
            </a:stretch>
          </p:blipFill>
          <p:spPr bwMode="auto">
            <a:xfrm>
              <a:off x="7134639" y="4864692"/>
              <a:ext cx="3022019" cy="1378796"/>
            </a:xfrm>
            <a:prstGeom prst="rect">
              <a:avLst/>
            </a:prstGeom>
            <a:noFill/>
            <a:extLst>
              <a:ext uri="{909E8E84-426E-40DD-AFC4-6F175D3DCCD1}">
                <a14:hiddenFill xmlns:a14="http://schemas.microsoft.com/office/drawing/2010/main">
                  <a:solidFill>
                    <a:srgbClr val="FFFFFF"/>
                  </a:solidFill>
                </a14:hiddenFill>
              </a:ext>
            </a:extLst>
          </p:spPr>
        </p:pic>
        <p:sp>
          <p:nvSpPr>
            <p:cNvPr id="121" name="TextBox 120">
              <a:extLst>
                <a:ext uri="{FF2B5EF4-FFF2-40B4-BE49-F238E27FC236}">
                  <a16:creationId xmlns:a16="http://schemas.microsoft.com/office/drawing/2014/main" id="{E54B95EC-24DC-8AE9-532D-6200AB77A5B7}"/>
                </a:ext>
              </a:extLst>
            </p:cNvPr>
            <p:cNvSpPr txBox="1"/>
            <p:nvPr/>
          </p:nvSpPr>
          <p:spPr>
            <a:xfrm>
              <a:off x="7345819" y="6250667"/>
              <a:ext cx="2701958" cy="369332"/>
            </a:xfrm>
            <a:prstGeom prst="rect">
              <a:avLst/>
            </a:prstGeom>
            <a:noFill/>
          </p:spPr>
          <p:txBody>
            <a:bodyPr wrap="none" rtlCol="0">
              <a:spAutoFit/>
            </a:bodyPr>
            <a:lstStyle/>
            <a:p>
              <a:r>
                <a:rPr lang="en-US" dirty="0"/>
                <a:t>Anti-Smoking Campaigns</a:t>
              </a:r>
            </a:p>
          </p:txBody>
        </p:sp>
      </p:grpSp>
      <p:grpSp>
        <p:nvGrpSpPr>
          <p:cNvPr id="131" name="Group 130">
            <a:extLst>
              <a:ext uri="{FF2B5EF4-FFF2-40B4-BE49-F238E27FC236}">
                <a16:creationId xmlns:a16="http://schemas.microsoft.com/office/drawing/2014/main" id="{9BEE2A59-7EA5-F47B-A2E3-D454FB79BC62}"/>
              </a:ext>
            </a:extLst>
          </p:cNvPr>
          <p:cNvGrpSpPr/>
          <p:nvPr/>
        </p:nvGrpSpPr>
        <p:grpSpPr>
          <a:xfrm>
            <a:off x="10386888" y="4020040"/>
            <a:ext cx="1805112" cy="2789587"/>
            <a:chOff x="10386888" y="4020040"/>
            <a:chExt cx="1805112" cy="2789587"/>
          </a:xfrm>
        </p:grpSpPr>
        <p:grpSp>
          <p:nvGrpSpPr>
            <p:cNvPr id="128" name="Group 127">
              <a:extLst>
                <a:ext uri="{FF2B5EF4-FFF2-40B4-BE49-F238E27FC236}">
                  <a16:creationId xmlns:a16="http://schemas.microsoft.com/office/drawing/2014/main" id="{56AA9645-4D7A-BB1D-33F3-B276A194213D}"/>
                </a:ext>
              </a:extLst>
            </p:cNvPr>
            <p:cNvGrpSpPr/>
            <p:nvPr/>
          </p:nvGrpSpPr>
          <p:grpSpPr>
            <a:xfrm>
              <a:off x="10513781" y="4020040"/>
              <a:ext cx="1552249" cy="2156922"/>
              <a:chOff x="8898345" y="1918434"/>
              <a:chExt cx="3423657" cy="4757331"/>
            </a:xfrm>
          </p:grpSpPr>
          <p:pic>
            <p:nvPicPr>
              <p:cNvPr id="123" name="Picture 122">
                <a:extLst>
                  <a:ext uri="{FF2B5EF4-FFF2-40B4-BE49-F238E27FC236}">
                    <a16:creationId xmlns:a16="http://schemas.microsoft.com/office/drawing/2014/main" id="{D41D2D5A-3EAA-5E31-84D8-B3AF7FEF62D9}"/>
                  </a:ext>
                </a:extLst>
              </p:cNvPr>
              <p:cNvPicPr>
                <a:picLocks noChangeAspect="1"/>
              </p:cNvPicPr>
              <p:nvPr/>
            </p:nvPicPr>
            <p:blipFill>
              <a:blip r:embed="rId77"/>
              <a:stretch>
                <a:fillRect/>
              </a:stretch>
            </p:blipFill>
            <p:spPr>
              <a:xfrm>
                <a:off x="8898345" y="2402100"/>
                <a:ext cx="3181716" cy="4273665"/>
              </a:xfrm>
              <a:prstGeom prst="rect">
                <a:avLst/>
              </a:prstGeom>
            </p:spPr>
          </p:pic>
          <p:sp>
            <p:nvSpPr>
              <p:cNvPr id="124" name="TextBox 123">
                <a:extLst>
                  <a:ext uri="{FF2B5EF4-FFF2-40B4-BE49-F238E27FC236}">
                    <a16:creationId xmlns:a16="http://schemas.microsoft.com/office/drawing/2014/main" id="{1F877E0C-D57F-44C3-7AC7-71DF6927F45B}"/>
                  </a:ext>
                </a:extLst>
              </p:cNvPr>
              <p:cNvSpPr txBox="1"/>
              <p:nvPr/>
            </p:nvSpPr>
            <p:spPr>
              <a:xfrm>
                <a:off x="10954808" y="1918434"/>
                <a:ext cx="1367194" cy="678836"/>
              </a:xfrm>
              <a:prstGeom prst="rect">
                <a:avLst/>
              </a:prstGeom>
              <a:solidFill>
                <a:schemeClr val="bg1"/>
              </a:solidFill>
              <a:ln>
                <a:solidFill>
                  <a:srgbClr val="7030A0"/>
                </a:solidFill>
              </a:ln>
              <a:effectLst>
                <a:outerShdw blurRad="50800" dist="38100" dir="8100000" algn="tr" rotWithShape="0">
                  <a:prstClr val="black">
                    <a:alpha val="40000"/>
                  </a:prstClr>
                </a:outerShdw>
              </a:effectLst>
            </p:spPr>
            <p:txBody>
              <a:bodyPr wrap="square" rtlCol="0">
                <a:spAutoFit/>
              </a:bodyPr>
              <a:lstStyle/>
              <a:p>
                <a:pPr algn="ctr"/>
                <a:r>
                  <a:rPr lang="en-US" sz="700" dirty="0">
                    <a:solidFill>
                      <a:srgbClr val="7030A0"/>
                    </a:solidFill>
                  </a:rPr>
                  <a:t>Palo Alto Watershed</a:t>
                </a:r>
              </a:p>
            </p:txBody>
          </p:sp>
          <p:cxnSp>
            <p:nvCxnSpPr>
              <p:cNvPr id="125" name="Straight Arrow Connector 124">
                <a:extLst>
                  <a:ext uri="{FF2B5EF4-FFF2-40B4-BE49-F238E27FC236}">
                    <a16:creationId xmlns:a16="http://schemas.microsoft.com/office/drawing/2014/main" id="{448AFF6D-0E30-1CED-71C3-123DABF5C40A}"/>
                  </a:ext>
                </a:extLst>
              </p:cNvPr>
              <p:cNvCxnSpPr>
                <a:cxnSpLocks/>
                <a:stCxn id="124" idx="2"/>
              </p:cNvCxnSpPr>
              <p:nvPr/>
            </p:nvCxnSpPr>
            <p:spPr>
              <a:xfrm flipH="1">
                <a:off x="11168529" y="2597270"/>
                <a:ext cx="469877" cy="1230810"/>
              </a:xfrm>
              <a:prstGeom prst="straightConnector1">
                <a:avLst/>
              </a:prstGeom>
              <a:ln>
                <a:solidFill>
                  <a:srgbClr val="7030A0"/>
                </a:solidFill>
                <a:tailEnd type="triangle"/>
              </a:ln>
              <a:effectLst>
                <a:outerShdw blurRad="50800" dist="38100" dir="8100000" algn="tr" rotWithShape="0">
                  <a:prstClr val="black">
                    <a:alpha val="40000"/>
                  </a:prstClr>
                </a:outerShdw>
              </a:effectLst>
            </p:spPr>
            <p:style>
              <a:lnRef idx="2">
                <a:schemeClr val="accent1"/>
              </a:lnRef>
              <a:fillRef idx="0">
                <a:schemeClr val="accent1"/>
              </a:fillRef>
              <a:effectRef idx="1">
                <a:schemeClr val="accent1"/>
              </a:effectRef>
              <a:fontRef idx="minor">
                <a:schemeClr val="tx1"/>
              </a:fontRef>
            </p:style>
          </p:cxnSp>
          <p:sp>
            <p:nvSpPr>
              <p:cNvPr id="126" name="TextBox 125">
                <a:extLst>
                  <a:ext uri="{FF2B5EF4-FFF2-40B4-BE49-F238E27FC236}">
                    <a16:creationId xmlns:a16="http://schemas.microsoft.com/office/drawing/2014/main" id="{82B2CB0C-0E06-76E3-0A63-0922CF6AC4F0}"/>
                  </a:ext>
                </a:extLst>
              </p:cNvPr>
              <p:cNvSpPr txBox="1"/>
              <p:nvPr/>
            </p:nvSpPr>
            <p:spPr>
              <a:xfrm>
                <a:off x="9688880" y="2525255"/>
                <a:ext cx="1440334" cy="916427"/>
              </a:xfrm>
              <a:prstGeom prst="rect">
                <a:avLst/>
              </a:prstGeom>
              <a:solidFill>
                <a:schemeClr val="bg1"/>
              </a:solidFill>
              <a:ln>
                <a:solidFill>
                  <a:schemeClr val="accent2"/>
                </a:solidFill>
              </a:ln>
              <a:effectLst>
                <a:outerShdw blurRad="50800" dist="38100" dir="8100000" algn="tr" rotWithShape="0">
                  <a:prstClr val="black">
                    <a:alpha val="40000"/>
                  </a:prstClr>
                </a:outerShdw>
              </a:effectLst>
            </p:spPr>
            <p:txBody>
              <a:bodyPr wrap="square" rtlCol="0">
                <a:spAutoFit/>
              </a:bodyPr>
              <a:lstStyle/>
              <a:p>
                <a:pPr algn="ctr"/>
                <a:r>
                  <a:rPr lang="en-US" sz="700" dirty="0">
                    <a:solidFill>
                      <a:schemeClr val="accent2"/>
                    </a:solidFill>
                  </a:rPr>
                  <a:t>Stanford </a:t>
                </a:r>
              </a:p>
              <a:p>
                <a:pPr algn="ctr"/>
                <a:r>
                  <a:rPr lang="en-US" sz="700" dirty="0">
                    <a:solidFill>
                      <a:schemeClr val="accent2"/>
                    </a:solidFill>
                  </a:rPr>
                  <a:t>sub-watershed</a:t>
                </a:r>
              </a:p>
            </p:txBody>
          </p:sp>
          <p:cxnSp>
            <p:nvCxnSpPr>
              <p:cNvPr id="127" name="Straight Arrow Connector 126">
                <a:extLst>
                  <a:ext uri="{FF2B5EF4-FFF2-40B4-BE49-F238E27FC236}">
                    <a16:creationId xmlns:a16="http://schemas.microsoft.com/office/drawing/2014/main" id="{59B6C8F0-124E-29C9-A97D-3558374DDA6E}"/>
                  </a:ext>
                </a:extLst>
              </p:cNvPr>
              <p:cNvCxnSpPr>
                <a:cxnSpLocks/>
                <a:stCxn id="126" idx="2"/>
              </p:cNvCxnSpPr>
              <p:nvPr/>
            </p:nvCxnSpPr>
            <p:spPr>
              <a:xfrm>
                <a:off x="10409047" y="3441682"/>
                <a:ext cx="306520" cy="842451"/>
              </a:xfrm>
              <a:prstGeom prst="straightConnector1">
                <a:avLst/>
              </a:prstGeom>
              <a:ln>
                <a:solidFill>
                  <a:schemeClr val="accent2"/>
                </a:solidFill>
                <a:tailEnd type="triangle"/>
              </a:ln>
              <a:effectLst>
                <a:outerShdw blurRad="50800" dist="38100" dir="8100000" algn="tr" rotWithShape="0">
                  <a:prstClr val="black">
                    <a:alpha val="40000"/>
                  </a:prstClr>
                </a:outerShdw>
              </a:effectLst>
            </p:spPr>
            <p:style>
              <a:lnRef idx="2">
                <a:schemeClr val="accent1"/>
              </a:lnRef>
              <a:fillRef idx="0">
                <a:schemeClr val="accent1"/>
              </a:fillRef>
              <a:effectRef idx="1">
                <a:schemeClr val="accent1"/>
              </a:effectRef>
              <a:fontRef idx="minor">
                <a:schemeClr val="tx1"/>
              </a:fontRef>
            </p:style>
          </p:cxnSp>
        </p:grpSp>
        <p:sp>
          <p:nvSpPr>
            <p:cNvPr id="130" name="TextBox 129">
              <a:extLst>
                <a:ext uri="{FF2B5EF4-FFF2-40B4-BE49-F238E27FC236}">
                  <a16:creationId xmlns:a16="http://schemas.microsoft.com/office/drawing/2014/main" id="{1DD84B16-AD3E-ADC5-5E3D-DC2F5A4DCA75}"/>
                </a:ext>
              </a:extLst>
            </p:cNvPr>
            <p:cNvSpPr txBox="1"/>
            <p:nvPr/>
          </p:nvSpPr>
          <p:spPr>
            <a:xfrm>
              <a:off x="10386888" y="6163296"/>
              <a:ext cx="1805112" cy="646331"/>
            </a:xfrm>
            <a:prstGeom prst="rect">
              <a:avLst/>
            </a:prstGeom>
            <a:solidFill>
              <a:schemeClr val="bg1"/>
            </a:solidFill>
          </p:spPr>
          <p:txBody>
            <a:bodyPr wrap="square" rtlCol="0">
              <a:spAutoFit/>
            </a:bodyPr>
            <a:lstStyle/>
            <a:p>
              <a:pPr algn="ctr"/>
              <a:r>
                <a:rPr lang="en-US" dirty="0"/>
                <a:t>COVID policies at Stanford</a:t>
              </a:r>
            </a:p>
          </p:txBody>
        </p:sp>
      </p:grpSp>
      <p:grpSp>
        <p:nvGrpSpPr>
          <p:cNvPr id="134" name="Group 133">
            <a:extLst>
              <a:ext uri="{FF2B5EF4-FFF2-40B4-BE49-F238E27FC236}">
                <a16:creationId xmlns:a16="http://schemas.microsoft.com/office/drawing/2014/main" id="{F36D925F-C5EC-1216-B5A5-26B28AAE3368}"/>
              </a:ext>
            </a:extLst>
          </p:cNvPr>
          <p:cNvGrpSpPr/>
          <p:nvPr/>
        </p:nvGrpSpPr>
        <p:grpSpPr>
          <a:xfrm>
            <a:off x="2430390" y="4885853"/>
            <a:ext cx="4102023" cy="1944524"/>
            <a:chOff x="2430390" y="4885853"/>
            <a:chExt cx="4102023" cy="1944524"/>
          </a:xfrm>
        </p:grpSpPr>
        <p:pic>
          <p:nvPicPr>
            <p:cNvPr id="132" name="Picture 2">
              <a:extLst>
                <a:ext uri="{FF2B5EF4-FFF2-40B4-BE49-F238E27FC236}">
                  <a16:creationId xmlns:a16="http://schemas.microsoft.com/office/drawing/2014/main" id="{76D0E91D-2938-4D5A-04CE-2B1750D64D92}"/>
                </a:ext>
              </a:extLst>
            </p:cNvPr>
            <p:cNvPicPr>
              <a:picLocks noChangeAspect="1" noChangeArrowheads="1"/>
            </p:cNvPicPr>
            <p:nvPr/>
          </p:nvPicPr>
          <p:blipFill>
            <a:blip r:embed="rId78">
              <a:extLst>
                <a:ext uri="{28A0092B-C50C-407E-A947-70E740481C1C}">
                  <a14:useLocalDpi xmlns:a14="http://schemas.microsoft.com/office/drawing/2010/main" val="0"/>
                </a:ext>
              </a:extLst>
            </a:blip>
            <a:srcRect/>
            <a:stretch>
              <a:fillRect/>
            </a:stretch>
          </p:blipFill>
          <p:spPr bwMode="auto">
            <a:xfrm>
              <a:off x="2430390" y="4885853"/>
              <a:ext cx="2664748" cy="1847559"/>
            </a:xfrm>
            <a:prstGeom prst="rect">
              <a:avLst/>
            </a:prstGeom>
            <a:noFill/>
            <a:ln>
              <a:solidFill>
                <a:schemeClr val="accent1"/>
              </a:solidFill>
            </a:ln>
            <a:extLst>
              <a:ext uri="{909E8E84-426E-40DD-AFC4-6F175D3DCCD1}">
                <a14:hiddenFill xmlns:a14="http://schemas.microsoft.com/office/drawing/2010/main">
                  <a:solidFill>
                    <a:srgbClr val="FFFFFF"/>
                  </a:solidFill>
                </a14:hiddenFill>
              </a:ext>
            </a:extLst>
          </p:spPr>
        </p:pic>
        <p:sp>
          <p:nvSpPr>
            <p:cNvPr id="133" name="TextBox 132">
              <a:extLst>
                <a:ext uri="{FF2B5EF4-FFF2-40B4-BE49-F238E27FC236}">
                  <a16:creationId xmlns:a16="http://schemas.microsoft.com/office/drawing/2014/main" id="{53D4CACC-5E7A-4B4B-840A-D9FBA89949AE}"/>
                </a:ext>
              </a:extLst>
            </p:cNvPr>
            <p:cNvSpPr txBox="1"/>
            <p:nvPr/>
          </p:nvSpPr>
          <p:spPr>
            <a:xfrm>
              <a:off x="5090585" y="5999380"/>
              <a:ext cx="1441828" cy="830997"/>
            </a:xfrm>
            <a:prstGeom prst="rect">
              <a:avLst/>
            </a:prstGeom>
            <a:noFill/>
          </p:spPr>
          <p:txBody>
            <a:bodyPr wrap="square" rtlCol="0">
              <a:spAutoFit/>
            </a:bodyPr>
            <a:lstStyle/>
            <a:p>
              <a:r>
                <a:rPr lang="en-US" sz="1600" dirty="0"/>
                <a:t>Immigration and the Mariel Boatlift</a:t>
              </a:r>
            </a:p>
          </p:txBody>
        </p:sp>
      </p:grpSp>
    </p:spTree>
    <p:extLst>
      <p:ext uri="{BB962C8B-B14F-4D97-AF65-F5344CB8AC3E}">
        <p14:creationId xmlns:p14="http://schemas.microsoft.com/office/powerpoint/2010/main" val="20314892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3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08E32A-5D6F-9259-4862-0E48DA3A1F9F}"/>
              </a:ext>
            </a:extLst>
          </p:cNvPr>
          <p:cNvSpPr>
            <a:spLocks noGrp="1"/>
          </p:cNvSpPr>
          <p:nvPr>
            <p:ph type="title"/>
          </p:nvPr>
        </p:nvSpPr>
        <p:spPr>
          <a:xfrm>
            <a:off x="838200" y="166447"/>
            <a:ext cx="10515600" cy="1325563"/>
          </a:xfrm>
        </p:spPr>
        <p:txBody>
          <a:bodyPr/>
          <a:lstStyle/>
          <a:p>
            <a:r>
              <a:rPr lang="en-US" dirty="0"/>
              <a:t>Three Methods and a Sanity-Check</a:t>
            </a:r>
          </a:p>
        </p:txBody>
      </p:sp>
      <p:sp>
        <p:nvSpPr>
          <p:cNvPr id="3" name="Content Placeholder 2">
            <a:extLst>
              <a:ext uri="{FF2B5EF4-FFF2-40B4-BE49-F238E27FC236}">
                <a16:creationId xmlns:a16="http://schemas.microsoft.com/office/drawing/2014/main" id="{445C2F1A-132D-82D5-0417-7BE8DD9DE457}"/>
              </a:ext>
            </a:extLst>
          </p:cNvPr>
          <p:cNvSpPr>
            <a:spLocks noGrp="1"/>
          </p:cNvSpPr>
          <p:nvPr>
            <p:ph idx="1"/>
          </p:nvPr>
        </p:nvSpPr>
        <p:spPr/>
        <p:txBody>
          <a:bodyPr/>
          <a:lstStyle/>
          <a:p>
            <a:r>
              <a:rPr lang="en-US" dirty="0"/>
              <a:t>Difference-in-Differences</a:t>
            </a:r>
          </a:p>
          <a:p>
            <a:endParaRPr lang="en-US" dirty="0"/>
          </a:p>
          <a:p>
            <a:r>
              <a:rPr lang="en-US" dirty="0"/>
              <a:t>Matrix Completion</a:t>
            </a:r>
          </a:p>
          <a:p>
            <a:endParaRPr lang="en-US" dirty="0"/>
          </a:p>
          <a:p>
            <a:r>
              <a:rPr lang="en-US" dirty="0"/>
              <a:t>Synthetic Controls</a:t>
            </a:r>
          </a:p>
          <a:p>
            <a:endParaRPr lang="en-US" dirty="0"/>
          </a:p>
          <a:p>
            <a:r>
              <a:rPr lang="en-US" dirty="0">
                <a:solidFill>
                  <a:schemeClr val="accent5"/>
                </a:solidFill>
              </a:rPr>
              <a:t>Placebo Methods</a:t>
            </a:r>
          </a:p>
        </p:txBody>
      </p:sp>
      <p:grpSp>
        <p:nvGrpSpPr>
          <p:cNvPr id="18" name="Group 17">
            <a:extLst>
              <a:ext uri="{FF2B5EF4-FFF2-40B4-BE49-F238E27FC236}">
                <a16:creationId xmlns:a16="http://schemas.microsoft.com/office/drawing/2014/main" id="{7BEE0F08-7A1C-8CB8-C3B7-0916AEF9D286}"/>
              </a:ext>
            </a:extLst>
          </p:cNvPr>
          <p:cNvGrpSpPr/>
          <p:nvPr/>
        </p:nvGrpSpPr>
        <p:grpSpPr>
          <a:xfrm>
            <a:off x="5508120" y="1302260"/>
            <a:ext cx="4748642" cy="2103207"/>
            <a:chOff x="1882588" y="2716306"/>
            <a:chExt cx="8729021" cy="3866144"/>
          </a:xfrm>
        </p:grpSpPr>
        <p:cxnSp>
          <p:nvCxnSpPr>
            <p:cNvPr id="4" name="Straight Arrow Connector 3">
              <a:extLst>
                <a:ext uri="{FF2B5EF4-FFF2-40B4-BE49-F238E27FC236}">
                  <a16:creationId xmlns:a16="http://schemas.microsoft.com/office/drawing/2014/main" id="{2FDF9BDD-7032-7DBF-FB31-E44756B591C4}"/>
                </a:ext>
              </a:extLst>
            </p:cNvPr>
            <p:cNvCxnSpPr/>
            <p:nvPr/>
          </p:nvCxnSpPr>
          <p:spPr>
            <a:xfrm>
              <a:off x="1917354" y="5841995"/>
              <a:ext cx="7030399" cy="0"/>
            </a:xfrm>
            <a:prstGeom prst="straightConnector1">
              <a:avLst/>
            </a:prstGeom>
            <a:ln w="38100">
              <a:tailEnd type="triangle"/>
            </a:ln>
          </p:spPr>
          <p:style>
            <a:lnRef idx="2">
              <a:schemeClr val="accent1"/>
            </a:lnRef>
            <a:fillRef idx="0">
              <a:schemeClr val="accent1"/>
            </a:fillRef>
            <a:effectRef idx="1">
              <a:schemeClr val="accent1"/>
            </a:effectRef>
            <a:fontRef idx="minor">
              <a:schemeClr val="tx1"/>
            </a:fontRef>
          </p:style>
        </p:cxnSp>
        <p:cxnSp>
          <p:nvCxnSpPr>
            <p:cNvPr id="5" name="Straight Arrow Connector 4">
              <a:extLst>
                <a:ext uri="{FF2B5EF4-FFF2-40B4-BE49-F238E27FC236}">
                  <a16:creationId xmlns:a16="http://schemas.microsoft.com/office/drawing/2014/main" id="{13D300E9-DA7A-50DB-68B2-313831BAD2BA}"/>
                </a:ext>
              </a:extLst>
            </p:cNvPr>
            <p:cNvCxnSpPr>
              <a:cxnSpLocks/>
            </p:cNvCxnSpPr>
            <p:nvPr/>
          </p:nvCxnSpPr>
          <p:spPr>
            <a:xfrm flipV="1">
              <a:off x="1917354" y="2716306"/>
              <a:ext cx="0" cy="3125689"/>
            </a:xfrm>
            <a:prstGeom prst="straightConnector1">
              <a:avLst/>
            </a:prstGeom>
            <a:ln w="38100">
              <a:tailEnd type="triangle"/>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33FD228F-E358-20F5-656B-AEAEE2267053}"/>
                </a:ext>
              </a:extLst>
            </p:cNvPr>
            <p:cNvSpPr txBox="1"/>
            <p:nvPr/>
          </p:nvSpPr>
          <p:spPr>
            <a:xfrm>
              <a:off x="8305017" y="5888041"/>
              <a:ext cx="642736" cy="354953"/>
            </a:xfrm>
            <a:prstGeom prst="rect">
              <a:avLst/>
            </a:prstGeom>
            <a:noFill/>
          </p:spPr>
          <p:txBody>
            <a:bodyPr wrap="none" rtlCol="0">
              <a:spAutoFit/>
            </a:bodyPr>
            <a:lstStyle/>
            <a:p>
              <a:r>
                <a:rPr lang="en-US" dirty="0">
                  <a:solidFill>
                    <a:schemeClr val="accent1"/>
                  </a:solidFill>
                </a:rPr>
                <a:t>Time</a:t>
              </a:r>
            </a:p>
          </p:txBody>
        </p:sp>
        <p:sp>
          <p:nvSpPr>
            <p:cNvPr id="8" name="TextBox 7">
              <a:extLst>
                <a:ext uri="{FF2B5EF4-FFF2-40B4-BE49-F238E27FC236}">
                  <a16:creationId xmlns:a16="http://schemas.microsoft.com/office/drawing/2014/main" id="{79ABA80F-75C7-0B76-81A4-CD1FD1B2BEF4}"/>
                </a:ext>
              </a:extLst>
            </p:cNvPr>
            <p:cNvSpPr txBox="1"/>
            <p:nvPr/>
          </p:nvSpPr>
          <p:spPr>
            <a:xfrm>
              <a:off x="4415945" y="5903539"/>
              <a:ext cx="2202572" cy="678911"/>
            </a:xfrm>
            <a:prstGeom prst="rect">
              <a:avLst/>
            </a:prstGeom>
            <a:noFill/>
          </p:spPr>
          <p:txBody>
            <a:bodyPr wrap="none" rtlCol="0">
              <a:spAutoFit/>
            </a:bodyPr>
            <a:lstStyle/>
            <a:p>
              <a:r>
                <a:rPr lang="en-US" dirty="0">
                  <a:solidFill>
                    <a:schemeClr val="accent5"/>
                  </a:solidFill>
                </a:rPr>
                <a:t>Treatment</a:t>
              </a:r>
            </a:p>
          </p:txBody>
        </p:sp>
        <p:cxnSp>
          <p:nvCxnSpPr>
            <p:cNvPr id="9" name="Straight Connector 8">
              <a:extLst>
                <a:ext uri="{FF2B5EF4-FFF2-40B4-BE49-F238E27FC236}">
                  <a16:creationId xmlns:a16="http://schemas.microsoft.com/office/drawing/2014/main" id="{178449A9-3210-A598-2F23-22A64C8BF5C8}"/>
                </a:ext>
              </a:extLst>
            </p:cNvPr>
            <p:cNvCxnSpPr>
              <a:cxnSpLocks/>
              <a:stCxn id="8" idx="0"/>
            </p:cNvCxnSpPr>
            <p:nvPr/>
          </p:nvCxnSpPr>
          <p:spPr>
            <a:xfrm flipV="1">
              <a:off x="5517232" y="3039797"/>
              <a:ext cx="0" cy="2863742"/>
            </a:xfrm>
            <a:prstGeom prst="line">
              <a:avLst/>
            </a:prstGeom>
            <a:ln w="57150">
              <a:solidFill>
                <a:schemeClr val="accent5"/>
              </a:solidFill>
              <a:prstDash val="sysDash"/>
            </a:ln>
          </p:spPr>
          <p:style>
            <a:lnRef idx="2">
              <a:schemeClr val="accent1"/>
            </a:lnRef>
            <a:fillRef idx="0">
              <a:schemeClr val="accent1"/>
            </a:fillRef>
            <a:effectRef idx="1">
              <a:schemeClr val="accent1"/>
            </a:effectRef>
            <a:fontRef idx="minor">
              <a:schemeClr val="tx1"/>
            </a:fontRef>
          </p:style>
        </p:cxnSp>
        <p:sp>
          <p:nvSpPr>
            <p:cNvPr id="10" name="Freeform 9">
              <a:extLst>
                <a:ext uri="{FF2B5EF4-FFF2-40B4-BE49-F238E27FC236}">
                  <a16:creationId xmlns:a16="http://schemas.microsoft.com/office/drawing/2014/main" id="{22E7E03F-60FF-AD1E-775F-FF80A1DD9212}"/>
                </a:ext>
              </a:extLst>
            </p:cNvPr>
            <p:cNvSpPr/>
            <p:nvPr/>
          </p:nvSpPr>
          <p:spPr>
            <a:xfrm>
              <a:off x="1882588" y="3401777"/>
              <a:ext cx="3563471" cy="955073"/>
            </a:xfrm>
            <a:custGeom>
              <a:avLst/>
              <a:gdLst>
                <a:gd name="connsiteX0" fmla="*/ 0 w 3563471"/>
                <a:gd name="connsiteY0" fmla="*/ 955073 h 955073"/>
                <a:gd name="connsiteX1" fmla="*/ 564777 w 3563471"/>
                <a:gd name="connsiteY1" fmla="*/ 457532 h 955073"/>
                <a:gd name="connsiteX2" fmla="*/ 927847 w 3563471"/>
                <a:gd name="connsiteY2" fmla="*/ 726473 h 955073"/>
                <a:gd name="connsiteX3" fmla="*/ 1815353 w 3563471"/>
                <a:gd name="connsiteY3" fmla="*/ 332 h 955073"/>
                <a:gd name="connsiteX4" fmla="*/ 2622177 w 3563471"/>
                <a:gd name="connsiteY4" fmla="*/ 632343 h 955073"/>
                <a:gd name="connsiteX5" fmla="*/ 3065930 w 3563471"/>
                <a:gd name="connsiteY5" fmla="*/ 618896 h 955073"/>
                <a:gd name="connsiteX6" fmla="*/ 3348318 w 3563471"/>
                <a:gd name="connsiteY6" fmla="*/ 107908 h 955073"/>
                <a:gd name="connsiteX7" fmla="*/ 3563471 w 3563471"/>
                <a:gd name="connsiteY7" fmla="*/ 309614 h 9550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63471" h="955073">
                  <a:moveTo>
                    <a:pt x="0" y="955073"/>
                  </a:moveTo>
                  <a:cubicBezTo>
                    <a:pt x="205068" y="725352"/>
                    <a:pt x="410136" y="495632"/>
                    <a:pt x="564777" y="457532"/>
                  </a:cubicBezTo>
                  <a:cubicBezTo>
                    <a:pt x="719418" y="419432"/>
                    <a:pt x="719418" y="802673"/>
                    <a:pt x="927847" y="726473"/>
                  </a:cubicBezTo>
                  <a:cubicBezTo>
                    <a:pt x="1136276" y="650273"/>
                    <a:pt x="1532965" y="16020"/>
                    <a:pt x="1815353" y="332"/>
                  </a:cubicBezTo>
                  <a:cubicBezTo>
                    <a:pt x="2097741" y="-15356"/>
                    <a:pt x="2413748" y="529249"/>
                    <a:pt x="2622177" y="632343"/>
                  </a:cubicBezTo>
                  <a:cubicBezTo>
                    <a:pt x="2830606" y="735437"/>
                    <a:pt x="2944907" y="706302"/>
                    <a:pt x="3065930" y="618896"/>
                  </a:cubicBezTo>
                  <a:cubicBezTo>
                    <a:pt x="3186953" y="531490"/>
                    <a:pt x="3265395" y="159455"/>
                    <a:pt x="3348318" y="107908"/>
                  </a:cubicBezTo>
                  <a:cubicBezTo>
                    <a:pt x="3431242" y="56361"/>
                    <a:pt x="3497356" y="182987"/>
                    <a:pt x="3563471" y="309614"/>
                  </a:cubicBezTo>
                </a:path>
              </a:pathLst>
            </a:cu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10">
              <a:extLst>
                <a:ext uri="{FF2B5EF4-FFF2-40B4-BE49-F238E27FC236}">
                  <a16:creationId xmlns:a16="http://schemas.microsoft.com/office/drawing/2014/main" id="{7991EB04-9651-9D99-1327-C33789A0624B}"/>
                </a:ext>
              </a:extLst>
            </p:cNvPr>
            <p:cNvSpPr/>
            <p:nvPr/>
          </p:nvSpPr>
          <p:spPr>
            <a:xfrm>
              <a:off x="1882588" y="3931413"/>
              <a:ext cx="3563471" cy="955073"/>
            </a:xfrm>
            <a:custGeom>
              <a:avLst/>
              <a:gdLst>
                <a:gd name="connsiteX0" fmla="*/ 0 w 3563471"/>
                <a:gd name="connsiteY0" fmla="*/ 955073 h 955073"/>
                <a:gd name="connsiteX1" fmla="*/ 564777 w 3563471"/>
                <a:gd name="connsiteY1" fmla="*/ 457532 h 955073"/>
                <a:gd name="connsiteX2" fmla="*/ 927847 w 3563471"/>
                <a:gd name="connsiteY2" fmla="*/ 726473 h 955073"/>
                <a:gd name="connsiteX3" fmla="*/ 1815353 w 3563471"/>
                <a:gd name="connsiteY3" fmla="*/ 332 h 955073"/>
                <a:gd name="connsiteX4" fmla="*/ 2622177 w 3563471"/>
                <a:gd name="connsiteY4" fmla="*/ 632343 h 955073"/>
                <a:gd name="connsiteX5" fmla="*/ 3065930 w 3563471"/>
                <a:gd name="connsiteY5" fmla="*/ 618896 h 955073"/>
                <a:gd name="connsiteX6" fmla="*/ 3348318 w 3563471"/>
                <a:gd name="connsiteY6" fmla="*/ 107908 h 955073"/>
                <a:gd name="connsiteX7" fmla="*/ 3563471 w 3563471"/>
                <a:gd name="connsiteY7" fmla="*/ 309614 h 9550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63471" h="955073">
                  <a:moveTo>
                    <a:pt x="0" y="955073"/>
                  </a:moveTo>
                  <a:cubicBezTo>
                    <a:pt x="205068" y="725352"/>
                    <a:pt x="410136" y="495632"/>
                    <a:pt x="564777" y="457532"/>
                  </a:cubicBezTo>
                  <a:cubicBezTo>
                    <a:pt x="719418" y="419432"/>
                    <a:pt x="719418" y="802673"/>
                    <a:pt x="927847" y="726473"/>
                  </a:cubicBezTo>
                  <a:cubicBezTo>
                    <a:pt x="1136276" y="650273"/>
                    <a:pt x="1532965" y="16020"/>
                    <a:pt x="1815353" y="332"/>
                  </a:cubicBezTo>
                  <a:cubicBezTo>
                    <a:pt x="2097741" y="-15356"/>
                    <a:pt x="2413748" y="529249"/>
                    <a:pt x="2622177" y="632343"/>
                  </a:cubicBezTo>
                  <a:cubicBezTo>
                    <a:pt x="2830606" y="735437"/>
                    <a:pt x="2944907" y="706302"/>
                    <a:pt x="3065930" y="618896"/>
                  </a:cubicBezTo>
                  <a:cubicBezTo>
                    <a:pt x="3186953" y="531490"/>
                    <a:pt x="3265395" y="159455"/>
                    <a:pt x="3348318" y="107908"/>
                  </a:cubicBezTo>
                  <a:cubicBezTo>
                    <a:pt x="3431242" y="56361"/>
                    <a:pt x="3497356" y="182987"/>
                    <a:pt x="3563471" y="309614"/>
                  </a:cubicBezTo>
                </a:path>
              </a:pathLst>
            </a:cu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11">
              <a:extLst>
                <a:ext uri="{FF2B5EF4-FFF2-40B4-BE49-F238E27FC236}">
                  <a16:creationId xmlns:a16="http://schemas.microsoft.com/office/drawing/2014/main" id="{3D62B9D8-D6CE-B521-69DE-7819A318C9B8}"/>
                </a:ext>
              </a:extLst>
            </p:cNvPr>
            <p:cNvSpPr/>
            <p:nvPr/>
          </p:nvSpPr>
          <p:spPr>
            <a:xfrm>
              <a:off x="5432612" y="4249271"/>
              <a:ext cx="3684494" cy="1362889"/>
            </a:xfrm>
            <a:custGeom>
              <a:avLst/>
              <a:gdLst>
                <a:gd name="connsiteX0" fmla="*/ 0 w 3684494"/>
                <a:gd name="connsiteY0" fmla="*/ 0 h 1362889"/>
                <a:gd name="connsiteX1" fmla="*/ 242047 w 3684494"/>
                <a:gd name="connsiteY1" fmla="*/ 1210235 h 1362889"/>
                <a:gd name="connsiteX2" fmla="*/ 591670 w 3684494"/>
                <a:gd name="connsiteY2" fmla="*/ 1317811 h 1362889"/>
                <a:gd name="connsiteX3" fmla="*/ 995082 w 3684494"/>
                <a:gd name="connsiteY3" fmla="*/ 954741 h 1362889"/>
                <a:gd name="connsiteX4" fmla="*/ 1936376 w 3684494"/>
                <a:gd name="connsiteY4" fmla="*/ 1169894 h 1362889"/>
                <a:gd name="connsiteX5" fmla="*/ 2756647 w 3684494"/>
                <a:gd name="connsiteY5" fmla="*/ 685800 h 1362889"/>
                <a:gd name="connsiteX6" fmla="*/ 3684494 w 3684494"/>
                <a:gd name="connsiteY6" fmla="*/ 1250576 h 1362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84494" h="1362889">
                  <a:moveTo>
                    <a:pt x="0" y="0"/>
                  </a:moveTo>
                  <a:cubicBezTo>
                    <a:pt x="71717" y="495300"/>
                    <a:pt x="143435" y="990600"/>
                    <a:pt x="242047" y="1210235"/>
                  </a:cubicBezTo>
                  <a:cubicBezTo>
                    <a:pt x="340659" y="1429870"/>
                    <a:pt x="466164" y="1360393"/>
                    <a:pt x="591670" y="1317811"/>
                  </a:cubicBezTo>
                  <a:cubicBezTo>
                    <a:pt x="717176" y="1275229"/>
                    <a:pt x="770964" y="979394"/>
                    <a:pt x="995082" y="954741"/>
                  </a:cubicBezTo>
                  <a:cubicBezTo>
                    <a:pt x="1219200" y="930088"/>
                    <a:pt x="1642782" y="1214718"/>
                    <a:pt x="1936376" y="1169894"/>
                  </a:cubicBezTo>
                  <a:cubicBezTo>
                    <a:pt x="2229970" y="1125071"/>
                    <a:pt x="2465294" y="672353"/>
                    <a:pt x="2756647" y="685800"/>
                  </a:cubicBezTo>
                  <a:cubicBezTo>
                    <a:pt x="3048000" y="699247"/>
                    <a:pt x="3366247" y="974911"/>
                    <a:pt x="3684494" y="1250576"/>
                  </a:cubicBezTo>
                </a:path>
              </a:pathLst>
            </a:cu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12">
              <a:extLst>
                <a:ext uri="{FF2B5EF4-FFF2-40B4-BE49-F238E27FC236}">
                  <a16:creationId xmlns:a16="http://schemas.microsoft.com/office/drawing/2014/main" id="{F5CA731C-6356-A4D6-52DD-831B346B3017}"/>
                </a:ext>
              </a:extLst>
            </p:cNvPr>
            <p:cNvSpPr/>
            <p:nvPr/>
          </p:nvSpPr>
          <p:spPr>
            <a:xfrm>
              <a:off x="5438071" y="3359771"/>
              <a:ext cx="3509682" cy="668598"/>
            </a:xfrm>
            <a:custGeom>
              <a:avLst/>
              <a:gdLst>
                <a:gd name="connsiteX0" fmla="*/ 0 w 3684494"/>
                <a:gd name="connsiteY0" fmla="*/ 0 h 1362889"/>
                <a:gd name="connsiteX1" fmla="*/ 242047 w 3684494"/>
                <a:gd name="connsiteY1" fmla="*/ 1210235 h 1362889"/>
                <a:gd name="connsiteX2" fmla="*/ 591670 w 3684494"/>
                <a:gd name="connsiteY2" fmla="*/ 1317811 h 1362889"/>
                <a:gd name="connsiteX3" fmla="*/ 995082 w 3684494"/>
                <a:gd name="connsiteY3" fmla="*/ 954741 h 1362889"/>
                <a:gd name="connsiteX4" fmla="*/ 1936376 w 3684494"/>
                <a:gd name="connsiteY4" fmla="*/ 1169894 h 1362889"/>
                <a:gd name="connsiteX5" fmla="*/ 2756647 w 3684494"/>
                <a:gd name="connsiteY5" fmla="*/ 685800 h 1362889"/>
                <a:gd name="connsiteX6" fmla="*/ 3684494 w 3684494"/>
                <a:gd name="connsiteY6" fmla="*/ 1250576 h 1362889"/>
                <a:gd name="connsiteX0" fmla="*/ 0 w 3509682"/>
                <a:gd name="connsiteY0" fmla="*/ 329030 h 642634"/>
                <a:gd name="connsiteX1" fmla="*/ 67235 w 3509682"/>
                <a:gd name="connsiteY1" fmla="*/ 524729 h 642634"/>
                <a:gd name="connsiteX2" fmla="*/ 416858 w 3509682"/>
                <a:gd name="connsiteY2" fmla="*/ 632305 h 642634"/>
                <a:gd name="connsiteX3" fmla="*/ 820270 w 3509682"/>
                <a:gd name="connsiteY3" fmla="*/ 269235 h 642634"/>
                <a:gd name="connsiteX4" fmla="*/ 1761564 w 3509682"/>
                <a:gd name="connsiteY4" fmla="*/ 484388 h 642634"/>
                <a:gd name="connsiteX5" fmla="*/ 2581835 w 3509682"/>
                <a:gd name="connsiteY5" fmla="*/ 294 h 642634"/>
                <a:gd name="connsiteX6" fmla="*/ 3509682 w 3509682"/>
                <a:gd name="connsiteY6" fmla="*/ 565070 h 642634"/>
                <a:gd name="connsiteX0" fmla="*/ 0 w 3509682"/>
                <a:gd name="connsiteY0" fmla="*/ 329030 h 649534"/>
                <a:gd name="connsiteX1" fmla="*/ 155725 w 3509682"/>
                <a:gd name="connsiteY1" fmla="*/ 564292 h 649534"/>
                <a:gd name="connsiteX2" fmla="*/ 416858 w 3509682"/>
                <a:gd name="connsiteY2" fmla="*/ 632305 h 649534"/>
                <a:gd name="connsiteX3" fmla="*/ 820270 w 3509682"/>
                <a:gd name="connsiteY3" fmla="*/ 269235 h 649534"/>
                <a:gd name="connsiteX4" fmla="*/ 1761564 w 3509682"/>
                <a:gd name="connsiteY4" fmla="*/ 484388 h 649534"/>
                <a:gd name="connsiteX5" fmla="*/ 2581835 w 3509682"/>
                <a:gd name="connsiteY5" fmla="*/ 294 h 649534"/>
                <a:gd name="connsiteX6" fmla="*/ 3509682 w 3509682"/>
                <a:gd name="connsiteY6" fmla="*/ 565070 h 649534"/>
                <a:gd name="connsiteX0" fmla="*/ 23604 w 3533286"/>
                <a:gd name="connsiteY0" fmla="*/ 329030 h 658850"/>
                <a:gd name="connsiteX1" fmla="*/ 179329 w 3533286"/>
                <a:gd name="connsiteY1" fmla="*/ 564292 h 658850"/>
                <a:gd name="connsiteX2" fmla="*/ 440462 w 3533286"/>
                <a:gd name="connsiteY2" fmla="*/ 632305 h 658850"/>
                <a:gd name="connsiteX3" fmla="*/ 843874 w 3533286"/>
                <a:gd name="connsiteY3" fmla="*/ 269235 h 658850"/>
                <a:gd name="connsiteX4" fmla="*/ 1785168 w 3533286"/>
                <a:gd name="connsiteY4" fmla="*/ 484388 h 658850"/>
                <a:gd name="connsiteX5" fmla="*/ 2605439 w 3533286"/>
                <a:gd name="connsiteY5" fmla="*/ 294 h 658850"/>
                <a:gd name="connsiteX6" fmla="*/ 3533286 w 3533286"/>
                <a:gd name="connsiteY6" fmla="*/ 565070 h 658850"/>
                <a:gd name="connsiteX0" fmla="*/ 0 w 3509682"/>
                <a:gd name="connsiteY0" fmla="*/ 329030 h 654436"/>
                <a:gd name="connsiteX1" fmla="*/ 155725 w 3509682"/>
                <a:gd name="connsiteY1" fmla="*/ 564292 h 654436"/>
                <a:gd name="connsiteX2" fmla="*/ 416858 w 3509682"/>
                <a:gd name="connsiteY2" fmla="*/ 632305 h 654436"/>
                <a:gd name="connsiteX3" fmla="*/ 820270 w 3509682"/>
                <a:gd name="connsiteY3" fmla="*/ 269235 h 654436"/>
                <a:gd name="connsiteX4" fmla="*/ 1761564 w 3509682"/>
                <a:gd name="connsiteY4" fmla="*/ 484388 h 654436"/>
                <a:gd name="connsiteX5" fmla="*/ 2581835 w 3509682"/>
                <a:gd name="connsiteY5" fmla="*/ 294 h 654436"/>
                <a:gd name="connsiteX6" fmla="*/ 3509682 w 3509682"/>
                <a:gd name="connsiteY6" fmla="*/ 565070 h 654436"/>
                <a:gd name="connsiteX0" fmla="*/ 0 w 3509682"/>
                <a:gd name="connsiteY0" fmla="*/ 329030 h 644884"/>
                <a:gd name="connsiteX1" fmla="*/ 155725 w 3509682"/>
                <a:gd name="connsiteY1" fmla="*/ 564292 h 644884"/>
                <a:gd name="connsiteX2" fmla="*/ 416858 w 3509682"/>
                <a:gd name="connsiteY2" fmla="*/ 632305 h 644884"/>
                <a:gd name="connsiteX3" fmla="*/ 820270 w 3509682"/>
                <a:gd name="connsiteY3" fmla="*/ 269235 h 644884"/>
                <a:gd name="connsiteX4" fmla="*/ 1761564 w 3509682"/>
                <a:gd name="connsiteY4" fmla="*/ 484388 h 644884"/>
                <a:gd name="connsiteX5" fmla="*/ 2581835 w 3509682"/>
                <a:gd name="connsiteY5" fmla="*/ 294 h 644884"/>
                <a:gd name="connsiteX6" fmla="*/ 3509682 w 3509682"/>
                <a:gd name="connsiteY6" fmla="*/ 565070 h 644884"/>
                <a:gd name="connsiteX0" fmla="*/ 0 w 3509682"/>
                <a:gd name="connsiteY0" fmla="*/ 329030 h 667105"/>
                <a:gd name="connsiteX1" fmla="*/ 160343 w 3509682"/>
                <a:gd name="connsiteY1" fmla="*/ 633976 h 667105"/>
                <a:gd name="connsiteX2" fmla="*/ 416858 w 3509682"/>
                <a:gd name="connsiteY2" fmla="*/ 632305 h 667105"/>
                <a:gd name="connsiteX3" fmla="*/ 820270 w 3509682"/>
                <a:gd name="connsiteY3" fmla="*/ 269235 h 667105"/>
                <a:gd name="connsiteX4" fmla="*/ 1761564 w 3509682"/>
                <a:gd name="connsiteY4" fmla="*/ 484388 h 667105"/>
                <a:gd name="connsiteX5" fmla="*/ 2581835 w 3509682"/>
                <a:gd name="connsiteY5" fmla="*/ 294 h 667105"/>
                <a:gd name="connsiteX6" fmla="*/ 3509682 w 3509682"/>
                <a:gd name="connsiteY6" fmla="*/ 565070 h 667105"/>
                <a:gd name="connsiteX0" fmla="*/ 0 w 3509682"/>
                <a:gd name="connsiteY0" fmla="*/ 329030 h 672580"/>
                <a:gd name="connsiteX1" fmla="*/ 160343 w 3509682"/>
                <a:gd name="connsiteY1" fmla="*/ 633976 h 672580"/>
                <a:gd name="connsiteX2" fmla="*/ 416858 w 3509682"/>
                <a:gd name="connsiteY2" fmla="*/ 632305 h 672580"/>
                <a:gd name="connsiteX3" fmla="*/ 820270 w 3509682"/>
                <a:gd name="connsiteY3" fmla="*/ 269235 h 672580"/>
                <a:gd name="connsiteX4" fmla="*/ 1761564 w 3509682"/>
                <a:gd name="connsiteY4" fmla="*/ 484388 h 672580"/>
                <a:gd name="connsiteX5" fmla="*/ 2581835 w 3509682"/>
                <a:gd name="connsiteY5" fmla="*/ 294 h 672580"/>
                <a:gd name="connsiteX6" fmla="*/ 3509682 w 3509682"/>
                <a:gd name="connsiteY6" fmla="*/ 565070 h 672580"/>
                <a:gd name="connsiteX0" fmla="*/ 0 w 3509682"/>
                <a:gd name="connsiteY0" fmla="*/ 329030 h 672580"/>
                <a:gd name="connsiteX1" fmla="*/ 160343 w 3509682"/>
                <a:gd name="connsiteY1" fmla="*/ 633976 h 672580"/>
                <a:gd name="connsiteX2" fmla="*/ 416858 w 3509682"/>
                <a:gd name="connsiteY2" fmla="*/ 632305 h 672580"/>
                <a:gd name="connsiteX3" fmla="*/ 820270 w 3509682"/>
                <a:gd name="connsiteY3" fmla="*/ 269235 h 672580"/>
                <a:gd name="connsiteX4" fmla="*/ 1761564 w 3509682"/>
                <a:gd name="connsiteY4" fmla="*/ 484388 h 672580"/>
                <a:gd name="connsiteX5" fmla="*/ 2581835 w 3509682"/>
                <a:gd name="connsiteY5" fmla="*/ 294 h 672580"/>
                <a:gd name="connsiteX6" fmla="*/ 3509682 w 3509682"/>
                <a:gd name="connsiteY6" fmla="*/ 565070 h 672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9682" h="672580">
                  <a:moveTo>
                    <a:pt x="0" y="329030"/>
                  </a:moveTo>
                  <a:cubicBezTo>
                    <a:pt x="117899" y="601337"/>
                    <a:pt x="69862" y="590023"/>
                    <a:pt x="160343" y="633976"/>
                  </a:cubicBezTo>
                  <a:cubicBezTo>
                    <a:pt x="250824" y="677929"/>
                    <a:pt x="306870" y="693095"/>
                    <a:pt x="416858" y="632305"/>
                  </a:cubicBezTo>
                  <a:cubicBezTo>
                    <a:pt x="526846" y="571515"/>
                    <a:pt x="596152" y="293888"/>
                    <a:pt x="820270" y="269235"/>
                  </a:cubicBezTo>
                  <a:cubicBezTo>
                    <a:pt x="1044388" y="244582"/>
                    <a:pt x="1467970" y="529212"/>
                    <a:pt x="1761564" y="484388"/>
                  </a:cubicBezTo>
                  <a:cubicBezTo>
                    <a:pt x="2055158" y="439565"/>
                    <a:pt x="2290482" y="-13153"/>
                    <a:pt x="2581835" y="294"/>
                  </a:cubicBezTo>
                  <a:cubicBezTo>
                    <a:pt x="2873188" y="13741"/>
                    <a:pt x="3191435" y="289405"/>
                    <a:pt x="3509682" y="565070"/>
                  </a:cubicBezTo>
                </a:path>
              </a:pathLst>
            </a:cu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Freeform 13">
              <a:extLst>
                <a:ext uri="{FF2B5EF4-FFF2-40B4-BE49-F238E27FC236}">
                  <a16:creationId xmlns:a16="http://schemas.microsoft.com/office/drawing/2014/main" id="{BABFC2C4-6B76-928D-DDDA-599B089AF0EE}"/>
                </a:ext>
              </a:extLst>
            </p:cNvPr>
            <p:cNvSpPr/>
            <p:nvPr/>
          </p:nvSpPr>
          <p:spPr>
            <a:xfrm>
              <a:off x="5451576" y="3894446"/>
              <a:ext cx="3509682" cy="668598"/>
            </a:xfrm>
            <a:custGeom>
              <a:avLst/>
              <a:gdLst>
                <a:gd name="connsiteX0" fmla="*/ 0 w 3684494"/>
                <a:gd name="connsiteY0" fmla="*/ 0 h 1362889"/>
                <a:gd name="connsiteX1" fmla="*/ 242047 w 3684494"/>
                <a:gd name="connsiteY1" fmla="*/ 1210235 h 1362889"/>
                <a:gd name="connsiteX2" fmla="*/ 591670 w 3684494"/>
                <a:gd name="connsiteY2" fmla="*/ 1317811 h 1362889"/>
                <a:gd name="connsiteX3" fmla="*/ 995082 w 3684494"/>
                <a:gd name="connsiteY3" fmla="*/ 954741 h 1362889"/>
                <a:gd name="connsiteX4" fmla="*/ 1936376 w 3684494"/>
                <a:gd name="connsiteY4" fmla="*/ 1169894 h 1362889"/>
                <a:gd name="connsiteX5" fmla="*/ 2756647 w 3684494"/>
                <a:gd name="connsiteY5" fmla="*/ 685800 h 1362889"/>
                <a:gd name="connsiteX6" fmla="*/ 3684494 w 3684494"/>
                <a:gd name="connsiteY6" fmla="*/ 1250576 h 1362889"/>
                <a:gd name="connsiteX0" fmla="*/ 0 w 3509682"/>
                <a:gd name="connsiteY0" fmla="*/ 329030 h 642634"/>
                <a:gd name="connsiteX1" fmla="*/ 67235 w 3509682"/>
                <a:gd name="connsiteY1" fmla="*/ 524729 h 642634"/>
                <a:gd name="connsiteX2" fmla="*/ 416858 w 3509682"/>
                <a:gd name="connsiteY2" fmla="*/ 632305 h 642634"/>
                <a:gd name="connsiteX3" fmla="*/ 820270 w 3509682"/>
                <a:gd name="connsiteY3" fmla="*/ 269235 h 642634"/>
                <a:gd name="connsiteX4" fmla="*/ 1761564 w 3509682"/>
                <a:gd name="connsiteY4" fmla="*/ 484388 h 642634"/>
                <a:gd name="connsiteX5" fmla="*/ 2581835 w 3509682"/>
                <a:gd name="connsiteY5" fmla="*/ 294 h 642634"/>
                <a:gd name="connsiteX6" fmla="*/ 3509682 w 3509682"/>
                <a:gd name="connsiteY6" fmla="*/ 565070 h 642634"/>
                <a:gd name="connsiteX0" fmla="*/ 0 w 3509682"/>
                <a:gd name="connsiteY0" fmla="*/ 329030 h 649534"/>
                <a:gd name="connsiteX1" fmla="*/ 155725 w 3509682"/>
                <a:gd name="connsiteY1" fmla="*/ 564292 h 649534"/>
                <a:gd name="connsiteX2" fmla="*/ 416858 w 3509682"/>
                <a:gd name="connsiteY2" fmla="*/ 632305 h 649534"/>
                <a:gd name="connsiteX3" fmla="*/ 820270 w 3509682"/>
                <a:gd name="connsiteY3" fmla="*/ 269235 h 649534"/>
                <a:gd name="connsiteX4" fmla="*/ 1761564 w 3509682"/>
                <a:gd name="connsiteY4" fmla="*/ 484388 h 649534"/>
                <a:gd name="connsiteX5" fmla="*/ 2581835 w 3509682"/>
                <a:gd name="connsiteY5" fmla="*/ 294 h 649534"/>
                <a:gd name="connsiteX6" fmla="*/ 3509682 w 3509682"/>
                <a:gd name="connsiteY6" fmla="*/ 565070 h 649534"/>
                <a:gd name="connsiteX0" fmla="*/ 23604 w 3533286"/>
                <a:gd name="connsiteY0" fmla="*/ 329030 h 658850"/>
                <a:gd name="connsiteX1" fmla="*/ 179329 w 3533286"/>
                <a:gd name="connsiteY1" fmla="*/ 564292 h 658850"/>
                <a:gd name="connsiteX2" fmla="*/ 440462 w 3533286"/>
                <a:gd name="connsiteY2" fmla="*/ 632305 h 658850"/>
                <a:gd name="connsiteX3" fmla="*/ 843874 w 3533286"/>
                <a:gd name="connsiteY3" fmla="*/ 269235 h 658850"/>
                <a:gd name="connsiteX4" fmla="*/ 1785168 w 3533286"/>
                <a:gd name="connsiteY4" fmla="*/ 484388 h 658850"/>
                <a:gd name="connsiteX5" fmla="*/ 2605439 w 3533286"/>
                <a:gd name="connsiteY5" fmla="*/ 294 h 658850"/>
                <a:gd name="connsiteX6" fmla="*/ 3533286 w 3533286"/>
                <a:gd name="connsiteY6" fmla="*/ 565070 h 658850"/>
                <a:gd name="connsiteX0" fmla="*/ 0 w 3509682"/>
                <a:gd name="connsiteY0" fmla="*/ 329030 h 654436"/>
                <a:gd name="connsiteX1" fmla="*/ 155725 w 3509682"/>
                <a:gd name="connsiteY1" fmla="*/ 564292 h 654436"/>
                <a:gd name="connsiteX2" fmla="*/ 416858 w 3509682"/>
                <a:gd name="connsiteY2" fmla="*/ 632305 h 654436"/>
                <a:gd name="connsiteX3" fmla="*/ 820270 w 3509682"/>
                <a:gd name="connsiteY3" fmla="*/ 269235 h 654436"/>
                <a:gd name="connsiteX4" fmla="*/ 1761564 w 3509682"/>
                <a:gd name="connsiteY4" fmla="*/ 484388 h 654436"/>
                <a:gd name="connsiteX5" fmla="*/ 2581835 w 3509682"/>
                <a:gd name="connsiteY5" fmla="*/ 294 h 654436"/>
                <a:gd name="connsiteX6" fmla="*/ 3509682 w 3509682"/>
                <a:gd name="connsiteY6" fmla="*/ 565070 h 654436"/>
                <a:gd name="connsiteX0" fmla="*/ 0 w 3509682"/>
                <a:gd name="connsiteY0" fmla="*/ 329030 h 644884"/>
                <a:gd name="connsiteX1" fmla="*/ 155725 w 3509682"/>
                <a:gd name="connsiteY1" fmla="*/ 564292 h 644884"/>
                <a:gd name="connsiteX2" fmla="*/ 416858 w 3509682"/>
                <a:gd name="connsiteY2" fmla="*/ 632305 h 644884"/>
                <a:gd name="connsiteX3" fmla="*/ 820270 w 3509682"/>
                <a:gd name="connsiteY3" fmla="*/ 269235 h 644884"/>
                <a:gd name="connsiteX4" fmla="*/ 1761564 w 3509682"/>
                <a:gd name="connsiteY4" fmla="*/ 484388 h 644884"/>
                <a:gd name="connsiteX5" fmla="*/ 2581835 w 3509682"/>
                <a:gd name="connsiteY5" fmla="*/ 294 h 644884"/>
                <a:gd name="connsiteX6" fmla="*/ 3509682 w 3509682"/>
                <a:gd name="connsiteY6" fmla="*/ 565070 h 644884"/>
                <a:gd name="connsiteX0" fmla="*/ 0 w 3509682"/>
                <a:gd name="connsiteY0" fmla="*/ 329030 h 667105"/>
                <a:gd name="connsiteX1" fmla="*/ 160343 w 3509682"/>
                <a:gd name="connsiteY1" fmla="*/ 633976 h 667105"/>
                <a:gd name="connsiteX2" fmla="*/ 416858 w 3509682"/>
                <a:gd name="connsiteY2" fmla="*/ 632305 h 667105"/>
                <a:gd name="connsiteX3" fmla="*/ 820270 w 3509682"/>
                <a:gd name="connsiteY3" fmla="*/ 269235 h 667105"/>
                <a:gd name="connsiteX4" fmla="*/ 1761564 w 3509682"/>
                <a:gd name="connsiteY4" fmla="*/ 484388 h 667105"/>
                <a:gd name="connsiteX5" fmla="*/ 2581835 w 3509682"/>
                <a:gd name="connsiteY5" fmla="*/ 294 h 667105"/>
                <a:gd name="connsiteX6" fmla="*/ 3509682 w 3509682"/>
                <a:gd name="connsiteY6" fmla="*/ 565070 h 667105"/>
                <a:gd name="connsiteX0" fmla="*/ 0 w 3509682"/>
                <a:gd name="connsiteY0" fmla="*/ 329030 h 672580"/>
                <a:gd name="connsiteX1" fmla="*/ 160343 w 3509682"/>
                <a:gd name="connsiteY1" fmla="*/ 633976 h 672580"/>
                <a:gd name="connsiteX2" fmla="*/ 416858 w 3509682"/>
                <a:gd name="connsiteY2" fmla="*/ 632305 h 672580"/>
                <a:gd name="connsiteX3" fmla="*/ 820270 w 3509682"/>
                <a:gd name="connsiteY3" fmla="*/ 269235 h 672580"/>
                <a:gd name="connsiteX4" fmla="*/ 1761564 w 3509682"/>
                <a:gd name="connsiteY4" fmla="*/ 484388 h 672580"/>
                <a:gd name="connsiteX5" fmla="*/ 2581835 w 3509682"/>
                <a:gd name="connsiteY5" fmla="*/ 294 h 672580"/>
                <a:gd name="connsiteX6" fmla="*/ 3509682 w 3509682"/>
                <a:gd name="connsiteY6" fmla="*/ 565070 h 672580"/>
                <a:gd name="connsiteX0" fmla="*/ 0 w 3509682"/>
                <a:gd name="connsiteY0" fmla="*/ 329030 h 672580"/>
                <a:gd name="connsiteX1" fmla="*/ 160343 w 3509682"/>
                <a:gd name="connsiteY1" fmla="*/ 633976 h 672580"/>
                <a:gd name="connsiteX2" fmla="*/ 416858 w 3509682"/>
                <a:gd name="connsiteY2" fmla="*/ 632305 h 672580"/>
                <a:gd name="connsiteX3" fmla="*/ 820270 w 3509682"/>
                <a:gd name="connsiteY3" fmla="*/ 269235 h 672580"/>
                <a:gd name="connsiteX4" fmla="*/ 1761564 w 3509682"/>
                <a:gd name="connsiteY4" fmla="*/ 484388 h 672580"/>
                <a:gd name="connsiteX5" fmla="*/ 2581835 w 3509682"/>
                <a:gd name="connsiteY5" fmla="*/ 294 h 672580"/>
                <a:gd name="connsiteX6" fmla="*/ 3509682 w 3509682"/>
                <a:gd name="connsiteY6" fmla="*/ 565070 h 672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9682" h="672580">
                  <a:moveTo>
                    <a:pt x="0" y="329030"/>
                  </a:moveTo>
                  <a:cubicBezTo>
                    <a:pt x="117899" y="601337"/>
                    <a:pt x="69862" y="590023"/>
                    <a:pt x="160343" y="633976"/>
                  </a:cubicBezTo>
                  <a:cubicBezTo>
                    <a:pt x="250824" y="677929"/>
                    <a:pt x="306870" y="693095"/>
                    <a:pt x="416858" y="632305"/>
                  </a:cubicBezTo>
                  <a:cubicBezTo>
                    <a:pt x="526846" y="571515"/>
                    <a:pt x="596152" y="293888"/>
                    <a:pt x="820270" y="269235"/>
                  </a:cubicBezTo>
                  <a:cubicBezTo>
                    <a:pt x="1044388" y="244582"/>
                    <a:pt x="1467970" y="529212"/>
                    <a:pt x="1761564" y="484388"/>
                  </a:cubicBezTo>
                  <a:cubicBezTo>
                    <a:pt x="2055158" y="439565"/>
                    <a:pt x="2290482" y="-13153"/>
                    <a:pt x="2581835" y="294"/>
                  </a:cubicBezTo>
                  <a:cubicBezTo>
                    <a:pt x="2873188" y="13741"/>
                    <a:pt x="3191435" y="289405"/>
                    <a:pt x="3509682" y="565070"/>
                  </a:cubicBezTo>
                </a:path>
              </a:pathLst>
            </a:custGeom>
            <a:noFill/>
            <a:ln w="9525">
              <a:solidFill>
                <a:schemeClr val="accent2"/>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2"/>
                </a:solidFill>
              </a:endParaRPr>
            </a:p>
          </p:txBody>
        </p:sp>
        <p:sp>
          <p:nvSpPr>
            <p:cNvPr id="15" name="TextBox 14">
              <a:extLst>
                <a:ext uri="{FF2B5EF4-FFF2-40B4-BE49-F238E27FC236}">
                  <a16:creationId xmlns:a16="http://schemas.microsoft.com/office/drawing/2014/main" id="{B815B7C6-52EF-FC2F-00F5-71FDD9AA7CD9}"/>
                </a:ext>
              </a:extLst>
            </p:cNvPr>
            <p:cNvSpPr txBox="1"/>
            <p:nvPr/>
          </p:nvSpPr>
          <p:spPr>
            <a:xfrm>
              <a:off x="8909284" y="4336838"/>
              <a:ext cx="1702325" cy="276999"/>
            </a:xfrm>
            <a:prstGeom prst="rect">
              <a:avLst/>
            </a:prstGeom>
            <a:noFill/>
          </p:spPr>
          <p:txBody>
            <a:bodyPr wrap="none" rtlCol="0">
              <a:spAutoFit/>
            </a:bodyPr>
            <a:lstStyle/>
            <a:p>
              <a:r>
                <a:rPr lang="en-US" sz="1200" dirty="0">
                  <a:solidFill>
                    <a:schemeClr val="accent2"/>
                  </a:solidFill>
                </a:rPr>
                <a:t>Implied counterfactual</a:t>
              </a:r>
            </a:p>
          </p:txBody>
        </p:sp>
        <p:sp>
          <p:nvSpPr>
            <p:cNvPr id="16" name="TextBox 15">
              <a:extLst>
                <a:ext uri="{FF2B5EF4-FFF2-40B4-BE49-F238E27FC236}">
                  <a16:creationId xmlns:a16="http://schemas.microsoft.com/office/drawing/2014/main" id="{54DFBD4A-50CF-347D-9E38-D1026750DEB8}"/>
                </a:ext>
              </a:extLst>
            </p:cNvPr>
            <p:cNvSpPr txBox="1"/>
            <p:nvPr/>
          </p:nvSpPr>
          <p:spPr>
            <a:xfrm>
              <a:off x="9117106" y="5357746"/>
              <a:ext cx="1358962" cy="369332"/>
            </a:xfrm>
            <a:prstGeom prst="rect">
              <a:avLst/>
            </a:prstGeom>
            <a:noFill/>
          </p:spPr>
          <p:txBody>
            <a:bodyPr wrap="none" rtlCol="0">
              <a:spAutoFit/>
            </a:bodyPr>
            <a:lstStyle/>
            <a:p>
              <a:r>
                <a:rPr lang="en-US" dirty="0">
                  <a:solidFill>
                    <a:schemeClr val="accent2"/>
                  </a:solidFill>
                </a:rPr>
                <a:t>Treated unit</a:t>
              </a:r>
            </a:p>
          </p:txBody>
        </p:sp>
        <p:sp>
          <p:nvSpPr>
            <p:cNvPr id="17" name="TextBox 16">
              <a:extLst>
                <a:ext uri="{FF2B5EF4-FFF2-40B4-BE49-F238E27FC236}">
                  <a16:creationId xmlns:a16="http://schemas.microsoft.com/office/drawing/2014/main" id="{265F8163-6B07-07B1-C90F-5CCC54C51AA7}"/>
                </a:ext>
              </a:extLst>
            </p:cNvPr>
            <p:cNvSpPr txBox="1"/>
            <p:nvPr/>
          </p:nvSpPr>
          <p:spPr>
            <a:xfrm>
              <a:off x="8947753" y="3715372"/>
              <a:ext cx="1617815" cy="369332"/>
            </a:xfrm>
            <a:prstGeom prst="rect">
              <a:avLst/>
            </a:prstGeom>
            <a:noFill/>
          </p:spPr>
          <p:txBody>
            <a:bodyPr wrap="none" rtlCol="0">
              <a:spAutoFit/>
            </a:bodyPr>
            <a:lstStyle/>
            <a:p>
              <a:r>
                <a:rPr lang="en-US" dirty="0">
                  <a:solidFill>
                    <a:schemeClr val="accent1"/>
                  </a:solidFill>
                </a:rPr>
                <a:t>Untreated unit</a:t>
              </a:r>
            </a:p>
          </p:txBody>
        </p:sp>
      </p:grpSp>
      <p:grpSp>
        <p:nvGrpSpPr>
          <p:cNvPr id="20" name="Group 19">
            <a:extLst>
              <a:ext uri="{FF2B5EF4-FFF2-40B4-BE49-F238E27FC236}">
                <a16:creationId xmlns:a16="http://schemas.microsoft.com/office/drawing/2014/main" id="{5339A2D9-5332-97BC-CDF7-BB7BB71EB7AF}"/>
              </a:ext>
            </a:extLst>
          </p:cNvPr>
          <p:cNvGrpSpPr/>
          <p:nvPr/>
        </p:nvGrpSpPr>
        <p:grpSpPr>
          <a:xfrm>
            <a:off x="1132428" y="5465776"/>
            <a:ext cx="2237107" cy="1172044"/>
            <a:chOff x="9528859" y="5477745"/>
            <a:chExt cx="2237107" cy="1172044"/>
          </a:xfrm>
        </p:grpSpPr>
        <p:pic>
          <p:nvPicPr>
            <p:cNvPr id="21" name="Picture 20">
              <a:extLst>
                <a:ext uri="{FF2B5EF4-FFF2-40B4-BE49-F238E27FC236}">
                  <a16:creationId xmlns:a16="http://schemas.microsoft.com/office/drawing/2014/main" id="{37FDD7F4-0714-C165-E71D-2ADE938DA655}"/>
                </a:ext>
              </a:extLst>
            </p:cNvPr>
            <p:cNvPicPr>
              <a:picLocks noChangeAspect="1"/>
            </p:cNvPicPr>
            <p:nvPr/>
          </p:nvPicPr>
          <p:blipFill>
            <a:blip r:embed="rId3"/>
            <a:stretch>
              <a:fillRect/>
            </a:stretch>
          </p:blipFill>
          <p:spPr>
            <a:xfrm>
              <a:off x="11206333" y="5477745"/>
              <a:ext cx="559633" cy="1172044"/>
            </a:xfrm>
            <a:prstGeom prst="rect">
              <a:avLst/>
            </a:prstGeom>
          </p:spPr>
        </p:pic>
        <p:sp>
          <p:nvSpPr>
            <p:cNvPr id="22" name="TextBox 21">
              <a:extLst>
                <a:ext uri="{FF2B5EF4-FFF2-40B4-BE49-F238E27FC236}">
                  <a16:creationId xmlns:a16="http://schemas.microsoft.com/office/drawing/2014/main" id="{0AE671CB-0E92-7ABB-795A-409EAA447BF4}"/>
                </a:ext>
              </a:extLst>
            </p:cNvPr>
            <p:cNvSpPr txBox="1"/>
            <p:nvPr/>
          </p:nvSpPr>
          <p:spPr>
            <a:xfrm>
              <a:off x="9528859" y="5544131"/>
              <a:ext cx="1957363" cy="523220"/>
            </a:xfrm>
            <a:prstGeom prst="rect">
              <a:avLst/>
            </a:prstGeom>
            <a:noFill/>
          </p:spPr>
          <p:txBody>
            <a:bodyPr wrap="square" rtlCol="0">
              <a:spAutoFit/>
            </a:bodyPr>
            <a:lstStyle/>
            <a:p>
              <a:pPr algn="ctr"/>
              <a:r>
                <a:rPr lang="en-US" sz="2800" dirty="0">
                  <a:solidFill>
                    <a:srgbClr val="0070C0"/>
                  </a:solidFill>
                </a:rPr>
                <a:t>I call BS!</a:t>
              </a:r>
            </a:p>
          </p:txBody>
        </p:sp>
      </p:grpSp>
      <p:grpSp>
        <p:nvGrpSpPr>
          <p:cNvPr id="23" name="Group 22">
            <a:extLst>
              <a:ext uri="{FF2B5EF4-FFF2-40B4-BE49-F238E27FC236}">
                <a16:creationId xmlns:a16="http://schemas.microsoft.com/office/drawing/2014/main" id="{4EA76DD2-6524-13B3-6843-E8C5A1514983}"/>
              </a:ext>
            </a:extLst>
          </p:cNvPr>
          <p:cNvGrpSpPr/>
          <p:nvPr/>
        </p:nvGrpSpPr>
        <p:grpSpPr>
          <a:xfrm>
            <a:off x="7867054" y="3655127"/>
            <a:ext cx="4106075" cy="1316742"/>
            <a:chOff x="3189508" y="4312173"/>
            <a:chExt cx="5757583" cy="1864790"/>
          </a:xfrm>
        </p:grpSpPr>
        <mc:AlternateContent xmlns:mc="http://schemas.openxmlformats.org/markup-compatibility/2006" xmlns:a14="http://schemas.microsoft.com/office/drawing/2010/main">
          <mc:Choice Requires="a14">
            <p:sp>
              <p:nvSpPr>
                <p:cNvPr id="24" name="Rectangle 23">
                  <a:extLst>
                    <a:ext uri="{FF2B5EF4-FFF2-40B4-BE49-F238E27FC236}">
                      <a16:creationId xmlns:a16="http://schemas.microsoft.com/office/drawing/2014/main" id="{CD812C2E-B12D-69F6-68C1-DDB5831F31FC}"/>
                    </a:ext>
                  </a:extLst>
                </p:cNvPr>
                <p:cNvSpPr/>
                <p:nvPr/>
              </p:nvSpPr>
              <p:spPr>
                <a:xfrm>
                  <a:off x="3189508" y="4312173"/>
                  <a:ext cx="710693" cy="1864790"/>
                </a:xfrm>
                <a:prstGeom prst="rect">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1" i="1" dirty="0" smtClean="0">
                            <a:solidFill>
                              <a:schemeClr val="tx1"/>
                            </a:solidFill>
                            <a:latin typeface="Cambria Math" panose="02040503050406030204" pitchFamily="18" charset="0"/>
                          </a:rPr>
                          <m:t>𝑿</m:t>
                        </m:r>
                      </m:oMath>
                    </m:oMathPara>
                  </a14:m>
                  <a:endParaRPr lang="en-US" sz="1200" b="1" dirty="0">
                    <a:solidFill>
                      <a:schemeClr val="tx1"/>
                    </a:solidFill>
                  </a:endParaRPr>
                </a:p>
              </p:txBody>
            </p:sp>
          </mc:Choice>
          <mc:Fallback xmlns="">
            <p:sp>
              <p:nvSpPr>
                <p:cNvPr id="4" name="Rectangle 3">
                  <a:extLst>
                    <a:ext uri="{FF2B5EF4-FFF2-40B4-BE49-F238E27FC236}">
                      <a16:creationId xmlns:a16="http://schemas.microsoft.com/office/drawing/2014/main" id="{36910640-FD0A-D866-272C-6E61774AA509}"/>
                    </a:ext>
                  </a:extLst>
                </p:cNvPr>
                <p:cNvSpPr>
                  <a:spLocks noRot="1" noChangeAspect="1" noMove="1" noResize="1" noEditPoints="1" noAdjustHandles="1" noChangeArrowheads="1" noChangeShapeType="1" noTextEdit="1"/>
                </p:cNvSpPr>
                <p:nvPr/>
              </p:nvSpPr>
              <p:spPr>
                <a:xfrm>
                  <a:off x="3189508" y="4312173"/>
                  <a:ext cx="710693" cy="1864790"/>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Rectangle 24">
                  <a:extLst>
                    <a:ext uri="{FF2B5EF4-FFF2-40B4-BE49-F238E27FC236}">
                      <a16:creationId xmlns:a16="http://schemas.microsoft.com/office/drawing/2014/main" id="{10658521-7341-7F7E-4E50-5698150D977D}"/>
                    </a:ext>
                  </a:extLst>
                </p:cNvPr>
                <p:cNvSpPr/>
                <p:nvPr/>
              </p:nvSpPr>
              <p:spPr>
                <a:xfrm>
                  <a:off x="4021043" y="4312173"/>
                  <a:ext cx="1767229" cy="715122"/>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b="1" i="1" smtClean="0">
                            <a:solidFill>
                              <a:schemeClr val="tx1"/>
                            </a:solidFill>
                            <a:latin typeface="Cambria Math" panose="02040503050406030204" pitchFamily="18" charset="0"/>
                          </a:rPr>
                          <m:t>𝑩</m:t>
                        </m:r>
                      </m:oMath>
                    </m:oMathPara>
                  </a14:m>
                  <a:endParaRPr lang="en-US" sz="1200" b="1" dirty="0">
                    <a:solidFill>
                      <a:schemeClr val="tx1"/>
                    </a:solidFill>
                  </a:endParaRPr>
                </a:p>
              </p:txBody>
            </p:sp>
          </mc:Choice>
          <mc:Fallback xmlns="">
            <p:sp>
              <p:nvSpPr>
                <p:cNvPr id="5" name="Rectangle 4">
                  <a:extLst>
                    <a:ext uri="{FF2B5EF4-FFF2-40B4-BE49-F238E27FC236}">
                      <a16:creationId xmlns:a16="http://schemas.microsoft.com/office/drawing/2014/main" id="{495C7084-8C7D-69ED-37FA-9E78C8A58635}"/>
                    </a:ext>
                  </a:extLst>
                </p:cNvPr>
                <p:cNvSpPr>
                  <a:spLocks noRot="1" noChangeAspect="1" noMove="1" noResize="1" noEditPoints="1" noAdjustHandles="1" noChangeArrowheads="1" noChangeShapeType="1" noTextEdit="1"/>
                </p:cNvSpPr>
                <p:nvPr/>
              </p:nvSpPr>
              <p:spPr>
                <a:xfrm>
                  <a:off x="4021043" y="4312173"/>
                  <a:ext cx="1767229" cy="715122"/>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Rectangle 25">
                  <a:extLst>
                    <a:ext uri="{FF2B5EF4-FFF2-40B4-BE49-F238E27FC236}">
                      <a16:creationId xmlns:a16="http://schemas.microsoft.com/office/drawing/2014/main" id="{17FD71AB-6426-50C3-4C26-E25202465807}"/>
                    </a:ext>
                  </a:extLst>
                </p:cNvPr>
                <p:cNvSpPr/>
                <p:nvPr/>
              </p:nvSpPr>
              <p:spPr>
                <a:xfrm>
                  <a:off x="6689018" y="4312173"/>
                  <a:ext cx="2258073" cy="1864790"/>
                </a:xfrm>
                <a:prstGeom prst="rect">
                  <a:avLst/>
                </a:prstGeom>
                <a:solidFill>
                  <a:schemeClr val="accent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b="1" i="1" dirty="0" smtClean="0">
                            <a:solidFill>
                              <a:schemeClr val="bg1"/>
                            </a:solidFill>
                            <a:latin typeface="Cambria Math" panose="02040503050406030204" pitchFamily="18" charset="0"/>
                          </a:rPr>
                          <m:t>𝒀</m:t>
                        </m:r>
                      </m:oMath>
                    </m:oMathPara>
                  </a14:m>
                  <a:endParaRPr lang="en-US" sz="1000" b="1" dirty="0">
                    <a:solidFill>
                      <a:schemeClr val="bg1"/>
                    </a:solidFill>
                  </a:endParaRPr>
                </a:p>
              </p:txBody>
            </p:sp>
          </mc:Choice>
          <mc:Fallback xmlns="">
            <p:sp>
              <p:nvSpPr>
                <p:cNvPr id="6" name="Rectangle 5">
                  <a:extLst>
                    <a:ext uri="{FF2B5EF4-FFF2-40B4-BE49-F238E27FC236}">
                      <a16:creationId xmlns:a16="http://schemas.microsoft.com/office/drawing/2014/main" id="{71D1B855-5D3C-D410-7C35-37F85510E491}"/>
                    </a:ext>
                  </a:extLst>
                </p:cNvPr>
                <p:cNvSpPr>
                  <a:spLocks noRot="1" noChangeAspect="1" noMove="1" noResize="1" noEditPoints="1" noAdjustHandles="1" noChangeArrowheads="1" noChangeShapeType="1" noTextEdit="1"/>
                </p:cNvSpPr>
                <p:nvPr/>
              </p:nvSpPr>
              <p:spPr>
                <a:xfrm>
                  <a:off x="6689018" y="4312173"/>
                  <a:ext cx="2258073" cy="1864790"/>
                </a:xfrm>
                <a:prstGeom prst="rect">
                  <a:avLst/>
                </a:prstGeom>
                <a:blipFill>
                  <a:blip r:embed="rId6"/>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2D4EA4CB-BF40-1C19-0FAA-E2B03F5551B1}"/>
                    </a:ext>
                  </a:extLst>
                </p:cNvPr>
                <p:cNvSpPr txBox="1"/>
                <p:nvPr/>
              </p:nvSpPr>
              <p:spPr>
                <a:xfrm>
                  <a:off x="5788272" y="5140463"/>
                  <a:ext cx="752111"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400" b="1" i="1" dirty="0" smtClean="0">
                            <a:solidFill>
                              <a:schemeClr val="tx1"/>
                            </a:solidFill>
                            <a:latin typeface="Cambria Math" panose="02040503050406030204" pitchFamily="18" charset="0"/>
                          </a:rPr>
                          <m:t>≈</m:t>
                        </m:r>
                      </m:oMath>
                    </m:oMathPara>
                  </a14:m>
                  <a:endParaRPr lang="en-US" sz="2400" b="1" dirty="0">
                    <a:solidFill>
                      <a:schemeClr val="tx1"/>
                    </a:solidFill>
                  </a:endParaRPr>
                </a:p>
              </p:txBody>
            </p:sp>
          </mc:Choice>
          <mc:Fallback xmlns="">
            <p:sp>
              <p:nvSpPr>
                <p:cNvPr id="7" name="TextBox 6">
                  <a:extLst>
                    <a:ext uri="{FF2B5EF4-FFF2-40B4-BE49-F238E27FC236}">
                      <a16:creationId xmlns:a16="http://schemas.microsoft.com/office/drawing/2014/main" id="{16C627AF-5CC2-CF84-EE76-646841571950}"/>
                    </a:ext>
                  </a:extLst>
                </p:cNvPr>
                <p:cNvSpPr txBox="1">
                  <a:spLocks noRot="1" noChangeAspect="1" noMove="1" noResize="1" noEditPoints="1" noAdjustHandles="1" noChangeArrowheads="1" noChangeShapeType="1" noTextEdit="1"/>
                </p:cNvSpPr>
                <p:nvPr/>
              </p:nvSpPr>
              <p:spPr>
                <a:xfrm>
                  <a:off x="5788272" y="5140463"/>
                  <a:ext cx="752111" cy="461665"/>
                </a:xfrm>
                <a:prstGeom prst="rect">
                  <a:avLst/>
                </a:prstGeom>
                <a:blipFill>
                  <a:blip r:embed="rId7"/>
                  <a:stretch>
                    <a:fillRect/>
                  </a:stretch>
                </a:blipFill>
              </p:spPr>
              <p:txBody>
                <a:bodyPr/>
                <a:lstStyle/>
                <a:p>
                  <a:r>
                    <a:rPr lang="en-US">
                      <a:noFill/>
                    </a:rPr>
                    <a:t> </a:t>
                  </a:r>
                </a:p>
              </p:txBody>
            </p:sp>
          </mc:Fallback>
        </mc:AlternateContent>
        <p:sp>
          <p:nvSpPr>
            <p:cNvPr id="28" name="Rounded Rectangle 27">
              <a:extLst>
                <a:ext uri="{FF2B5EF4-FFF2-40B4-BE49-F238E27FC236}">
                  <a16:creationId xmlns:a16="http://schemas.microsoft.com/office/drawing/2014/main" id="{516E5453-8B37-3848-AD68-75947369D093}"/>
                </a:ext>
              </a:extLst>
            </p:cNvPr>
            <p:cNvSpPr/>
            <p:nvPr/>
          </p:nvSpPr>
          <p:spPr>
            <a:xfrm>
              <a:off x="7713551" y="4599131"/>
              <a:ext cx="1129037" cy="428164"/>
            </a:xfrm>
            <a:prstGeom prst="roundRect">
              <a:avLst/>
            </a:prstGeom>
            <a:solidFill>
              <a:schemeClr val="bg2"/>
            </a:solid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accent2"/>
                  </a:solidFill>
                </a:rPr>
                <a:t>? ? ? ? ? </a:t>
              </a:r>
            </a:p>
          </p:txBody>
        </p:sp>
      </p:grpSp>
      <p:grpSp>
        <p:nvGrpSpPr>
          <p:cNvPr id="38" name="Group 37">
            <a:extLst>
              <a:ext uri="{FF2B5EF4-FFF2-40B4-BE49-F238E27FC236}">
                <a16:creationId xmlns:a16="http://schemas.microsoft.com/office/drawing/2014/main" id="{757EFAA2-5737-C72F-A42E-64909DB4C0B3}"/>
              </a:ext>
            </a:extLst>
          </p:cNvPr>
          <p:cNvGrpSpPr/>
          <p:nvPr/>
        </p:nvGrpSpPr>
        <p:grpSpPr>
          <a:xfrm>
            <a:off x="4537357" y="4511582"/>
            <a:ext cx="4226431" cy="2149657"/>
            <a:chOff x="4537357" y="4511582"/>
            <a:chExt cx="4226431" cy="2149657"/>
          </a:xfrm>
        </p:grpSpPr>
        <p:grpSp>
          <p:nvGrpSpPr>
            <p:cNvPr id="30" name="Group 29">
              <a:extLst>
                <a:ext uri="{FF2B5EF4-FFF2-40B4-BE49-F238E27FC236}">
                  <a16:creationId xmlns:a16="http://schemas.microsoft.com/office/drawing/2014/main" id="{85B4669A-BE6F-A499-48FF-AA38D4AE8F29}"/>
                </a:ext>
              </a:extLst>
            </p:cNvPr>
            <p:cNvGrpSpPr/>
            <p:nvPr/>
          </p:nvGrpSpPr>
          <p:grpSpPr>
            <a:xfrm>
              <a:off x="4537357" y="4511582"/>
              <a:ext cx="3117286" cy="2149657"/>
              <a:chOff x="1221015" y="2441151"/>
              <a:chExt cx="5996379" cy="3713886"/>
            </a:xfrm>
          </p:grpSpPr>
          <p:pic>
            <p:nvPicPr>
              <p:cNvPr id="31" name="Picture 2">
                <a:extLst>
                  <a:ext uri="{FF2B5EF4-FFF2-40B4-BE49-F238E27FC236}">
                    <a16:creationId xmlns:a16="http://schemas.microsoft.com/office/drawing/2014/main" id="{0E4192D5-9ECD-A577-C41C-99B4902765F1}"/>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221015" y="2441151"/>
                <a:ext cx="5996379" cy="3713886"/>
              </a:xfrm>
              <a:prstGeom prst="rect">
                <a:avLst/>
              </a:prstGeom>
              <a:noFill/>
              <a:extLst>
                <a:ext uri="{909E8E84-426E-40DD-AFC4-6F175D3DCCD1}">
                  <a14:hiddenFill xmlns:a14="http://schemas.microsoft.com/office/drawing/2010/main">
                    <a:solidFill>
                      <a:srgbClr val="FFFFFF"/>
                    </a:solidFill>
                  </a14:hiddenFill>
                </a:ext>
              </a:extLst>
            </p:spPr>
          </p:pic>
          <p:sp>
            <p:nvSpPr>
              <p:cNvPr id="32" name="TextBox 31">
                <a:extLst>
                  <a:ext uri="{FF2B5EF4-FFF2-40B4-BE49-F238E27FC236}">
                    <a16:creationId xmlns:a16="http://schemas.microsoft.com/office/drawing/2014/main" id="{FB68DDF0-B9E1-72FE-07F8-E727E47EDED0}"/>
                  </a:ext>
                </a:extLst>
              </p:cNvPr>
              <p:cNvSpPr txBox="1"/>
              <p:nvPr/>
            </p:nvSpPr>
            <p:spPr>
              <a:xfrm>
                <a:off x="6043114" y="3244334"/>
                <a:ext cx="873252" cy="451974"/>
              </a:xfrm>
              <a:prstGeom prst="rect">
                <a:avLst/>
              </a:prstGeom>
              <a:noFill/>
            </p:spPr>
            <p:txBody>
              <a:bodyPr wrap="none" rtlCol="0">
                <a:spAutoFit/>
              </a:bodyPr>
              <a:lstStyle/>
              <a:p>
                <a:r>
                  <a:rPr lang="en-US" sz="1100" b="1" dirty="0">
                    <a:solidFill>
                      <a:schemeClr val="bg1"/>
                    </a:solidFill>
                  </a:rPr>
                  <a:t>33%</a:t>
                </a:r>
              </a:p>
            </p:txBody>
          </p:sp>
          <p:sp>
            <p:nvSpPr>
              <p:cNvPr id="33" name="TextBox 32">
                <a:extLst>
                  <a:ext uri="{FF2B5EF4-FFF2-40B4-BE49-F238E27FC236}">
                    <a16:creationId xmlns:a16="http://schemas.microsoft.com/office/drawing/2014/main" id="{52026DDC-D89C-DFF2-F77B-8D1DDFFE203C}"/>
                  </a:ext>
                </a:extLst>
              </p:cNvPr>
              <p:cNvSpPr txBox="1"/>
              <p:nvPr/>
            </p:nvSpPr>
            <p:spPr>
              <a:xfrm>
                <a:off x="5019856" y="4089678"/>
                <a:ext cx="873252" cy="451974"/>
              </a:xfrm>
              <a:prstGeom prst="rect">
                <a:avLst/>
              </a:prstGeom>
              <a:noFill/>
            </p:spPr>
            <p:txBody>
              <a:bodyPr wrap="none" rtlCol="0">
                <a:spAutoFit/>
              </a:bodyPr>
              <a:lstStyle/>
              <a:p>
                <a:r>
                  <a:rPr lang="en-US" sz="1100" b="1" dirty="0">
                    <a:solidFill>
                      <a:schemeClr val="bg1"/>
                    </a:solidFill>
                  </a:rPr>
                  <a:t>23%</a:t>
                </a:r>
              </a:p>
            </p:txBody>
          </p:sp>
          <p:sp>
            <p:nvSpPr>
              <p:cNvPr id="34" name="TextBox 33">
                <a:extLst>
                  <a:ext uri="{FF2B5EF4-FFF2-40B4-BE49-F238E27FC236}">
                    <a16:creationId xmlns:a16="http://schemas.microsoft.com/office/drawing/2014/main" id="{353F0DD5-6C78-B128-9E87-09CA281B2932}"/>
                  </a:ext>
                </a:extLst>
              </p:cNvPr>
              <p:cNvSpPr txBox="1"/>
              <p:nvPr/>
            </p:nvSpPr>
            <p:spPr>
              <a:xfrm>
                <a:off x="4014758" y="4298095"/>
                <a:ext cx="873252" cy="451974"/>
              </a:xfrm>
              <a:prstGeom prst="rect">
                <a:avLst/>
              </a:prstGeom>
              <a:noFill/>
            </p:spPr>
            <p:txBody>
              <a:bodyPr wrap="none" rtlCol="0">
                <a:spAutoFit/>
              </a:bodyPr>
              <a:lstStyle/>
              <a:p>
                <a:r>
                  <a:rPr lang="en-US" sz="1100" b="1" dirty="0">
                    <a:solidFill>
                      <a:schemeClr val="bg1"/>
                    </a:solidFill>
                  </a:rPr>
                  <a:t>19%</a:t>
                </a:r>
              </a:p>
            </p:txBody>
          </p:sp>
          <p:sp>
            <p:nvSpPr>
              <p:cNvPr id="35" name="TextBox 34">
                <a:extLst>
                  <a:ext uri="{FF2B5EF4-FFF2-40B4-BE49-F238E27FC236}">
                    <a16:creationId xmlns:a16="http://schemas.microsoft.com/office/drawing/2014/main" id="{1609E5A9-03BF-A0F7-7260-ECFE263F0BE4}"/>
                  </a:ext>
                </a:extLst>
              </p:cNvPr>
              <p:cNvSpPr txBox="1"/>
              <p:nvPr/>
            </p:nvSpPr>
            <p:spPr>
              <a:xfrm>
                <a:off x="3080009" y="5258016"/>
                <a:ext cx="728329" cy="451974"/>
              </a:xfrm>
              <a:prstGeom prst="rect">
                <a:avLst/>
              </a:prstGeom>
              <a:noFill/>
            </p:spPr>
            <p:txBody>
              <a:bodyPr wrap="none" rtlCol="0">
                <a:spAutoFit/>
              </a:bodyPr>
              <a:lstStyle/>
              <a:p>
                <a:r>
                  <a:rPr lang="en-US" sz="1100" b="1" dirty="0">
                    <a:solidFill>
                      <a:schemeClr val="bg1"/>
                    </a:solidFill>
                  </a:rPr>
                  <a:t>7%</a:t>
                </a:r>
              </a:p>
            </p:txBody>
          </p:sp>
          <p:sp>
            <p:nvSpPr>
              <p:cNvPr id="36" name="TextBox 35">
                <a:extLst>
                  <a:ext uri="{FF2B5EF4-FFF2-40B4-BE49-F238E27FC236}">
                    <a16:creationId xmlns:a16="http://schemas.microsoft.com/office/drawing/2014/main" id="{943002D4-3A26-3328-5058-3B7344B66AE4}"/>
                  </a:ext>
                </a:extLst>
              </p:cNvPr>
              <p:cNvSpPr txBox="1"/>
              <p:nvPr/>
            </p:nvSpPr>
            <p:spPr>
              <a:xfrm>
                <a:off x="1997587" y="4608052"/>
                <a:ext cx="873252" cy="451974"/>
              </a:xfrm>
              <a:prstGeom prst="rect">
                <a:avLst/>
              </a:prstGeom>
              <a:noFill/>
            </p:spPr>
            <p:txBody>
              <a:bodyPr wrap="none" rtlCol="0">
                <a:spAutoFit/>
              </a:bodyPr>
              <a:lstStyle/>
              <a:p>
                <a:r>
                  <a:rPr lang="en-US" sz="1100" b="1" dirty="0">
                    <a:solidFill>
                      <a:schemeClr val="bg1"/>
                    </a:solidFill>
                  </a:rPr>
                  <a:t>16%</a:t>
                </a:r>
              </a:p>
            </p:txBody>
          </p:sp>
        </p:grpSp>
        <p:sp>
          <p:nvSpPr>
            <p:cNvPr id="37" name="TextBox 36">
              <a:extLst>
                <a:ext uri="{FF2B5EF4-FFF2-40B4-BE49-F238E27FC236}">
                  <a16:creationId xmlns:a16="http://schemas.microsoft.com/office/drawing/2014/main" id="{6DC2B6B2-F7DA-EE3F-00C9-7B8A11E8ED67}"/>
                </a:ext>
              </a:extLst>
            </p:cNvPr>
            <p:cNvSpPr txBox="1"/>
            <p:nvPr/>
          </p:nvSpPr>
          <p:spPr>
            <a:xfrm>
              <a:off x="7540613" y="5471189"/>
              <a:ext cx="1223175" cy="646331"/>
            </a:xfrm>
            <a:prstGeom prst="rect">
              <a:avLst/>
            </a:prstGeom>
            <a:noFill/>
          </p:spPr>
          <p:txBody>
            <a:bodyPr wrap="square" rtlCol="0">
              <a:spAutoFit/>
            </a:bodyPr>
            <a:lstStyle/>
            <a:p>
              <a:r>
                <a:rPr lang="en-US" sz="3600" dirty="0"/>
                <a:t>= CA</a:t>
              </a:r>
            </a:p>
          </p:txBody>
        </p:sp>
      </p:grpSp>
      <p:grpSp>
        <p:nvGrpSpPr>
          <p:cNvPr id="39" name="Group 38">
            <a:extLst>
              <a:ext uri="{FF2B5EF4-FFF2-40B4-BE49-F238E27FC236}">
                <a16:creationId xmlns:a16="http://schemas.microsoft.com/office/drawing/2014/main" id="{B5C7D562-51E0-17C9-836B-55AF4123EDA5}"/>
              </a:ext>
            </a:extLst>
          </p:cNvPr>
          <p:cNvGrpSpPr/>
          <p:nvPr/>
        </p:nvGrpSpPr>
        <p:grpSpPr>
          <a:xfrm>
            <a:off x="3369535" y="3794207"/>
            <a:ext cx="3297370" cy="1376493"/>
            <a:chOff x="2975018" y="3544921"/>
            <a:chExt cx="6850914" cy="2859926"/>
          </a:xfrm>
        </p:grpSpPr>
        <p:grpSp>
          <p:nvGrpSpPr>
            <p:cNvPr id="40" name="Group 39">
              <a:extLst>
                <a:ext uri="{FF2B5EF4-FFF2-40B4-BE49-F238E27FC236}">
                  <a16:creationId xmlns:a16="http://schemas.microsoft.com/office/drawing/2014/main" id="{DDC4F2FC-EBCA-C0E9-E6A3-676C3D88220D}"/>
                </a:ext>
              </a:extLst>
            </p:cNvPr>
            <p:cNvGrpSpPr/>
            <p:nvPr/>
          </p:nvGrpSpPr>
          <p:grpSpPr>
            <a:xfrm>
              <a:off x="3977890" y="4581124"/>
              <a:ext cx="4037758" cy="1823723"/>
              <a:chOff x="5891105" y="3700424"/>
              <a:chExt cx="4037758" cy="1823723"/>
            </a:xfrm>
          </p:grpSpPr>
          <p:sp>
            <p:nvSpPr>
              <p:cNvPr id="43" name="Cloud 42">
                <a:extLst>
                  <a:ext uri="{FF2B5EF4-FFF2-40B4-BE49-F238E27FC236}">
                    <a16:creationId xmlns:a16="http://schemas.microsoft.com/office/drawing/2014/main" id="{335986F5-EF92-A2B0-4B2C-59A2BB7386C5}"/>
                  </a:ext>
                </a:extLst>
              </p:cNvPr>
              <p:cNvSpPr/>
              <p:nvPr/>
            </p:nvSpPr>
            <p:spPr>
              <a:xfrm>
                <a:off x="6403940" y="3700424"/>
                <a:ext cx="3524923" cy="1823723"/>
              </a:xfrm>
              <a:prstGeom prst="cloud">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t>Complicated </a:t>
                </a:r>
              </a:p>
              <a:p>
                <a:pPr algn="ctr"/>
                <a:r>
                  <a:rPr lang="en-US" sz="1100" dirty="0"/>
                  <a:t>Statistics!</a:t>
                </a:r>
              </a:p>
            </p:txBody>
          </p:sp>
          <p:sp>
            <p:nvSpPr>
              <p:cNvPr id="44" name="Right Arrow 43">
                <a:extLst>
                  <a:ext uri="{FF2B5EF4-FFF2-40B4-BE49-F238E27FC236}">
                    <a16:creationId xmlns:a16="http://schemas.microsoft.com/office/drawing/2014/main" id="{4AE1B13F-1D06-3143-0327-AF66D210FCAA}"/>
                  </a:ext>
                </a:extLst>
              </p:cNvPr>
              <p:cNvSpPr/>
              <p:nvPr/>
            </p:nvSpPr>
            <p:spPr>
              <a:xfrm>
                <a:off x="5891105" y="4327590"/>
                <a:ext cx="873247" cy="890195"/>
              </a:xfrm>
              <a:prstGeom prst="rightArrow">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a:p>
            </p:txBody>
          </p:sp>
        </p:grpSp>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FD5633ED-ABE0-E208-D43D-13F5702D6BAB}"/>
                    </a:ext>
                  </a:extLst>
                </p:cNvPr>
                <p:cNvSpPr txBox="1"/>
                <p:nvPr/>
              </p:nvSpPr>
              <p:spPr>
                <a:xfrm>
                  <a:off x="7786417" y="3544921"/>
                  <a:ext cx="2039515" cy="1326549"/>
                </a:xfrm>
                <a:prstGeom prst="wedgeRoundRectCallout">
                  <a:avLst>
                    <a:gd name="adj1" fmla="val -91117"/>
                    <a:gd name="adj2" fmla="val 69657"/>
                    <a:gd name="adj3" fmla="val 16667"/>
                  </a:avLst>
                </a:prstGeom>
                <a:solidFill>
                  <a:schemeClr val="accent1">
                    <a:lumMod val="20000"/>
                    <a:lumOff val="80000"/>
                  </a:schemeClr>
                </a:solidFill>
                <a:ln>
                  <a:solidFill>
                    <a:schemeClr val="tx1"/>
                  </a:solidFill>
                </a:ln>
              </p:spPr>
              <p:txBody>
                <a:bodyPr wrap="square" rtlCol="0">
                  <a:spAutoFit/>
                </a:bodyPr>
                <a:lstStyle/>
                <a:p>
                  <a:pPr algn="ctr"/>
                  <a:r>
                    <a:rPr lang="en-US" sz="1050" dirty="0">
                      <a:solidFill>
                        <a:schemeClr val="tx1"/>
                      </a:solidFill>
                    </a:rPr>
                    <a:t>The effect of </a:t>
                  </a:r>
                  <a:r>
                    <a:rPr lang="en-US" sz="1050" dirty="0"/>
                    <a:t>Prop 99 </a:t>
                  </a:r>
                  <a:r>
                    <a:rPr lang="en-US" sz="1050" dirty="0">
                      <a:solidFill>
                        <a:schemeClr val="tx1"/>
                      </a:solidFill>
                    </a:rPr>
                    <a:t>on Nevada is </a:t>
                  </a:r>
                  <a14:m>
                    <m:oMath xmlns:m="http://schemas.openxmlformats.org/officeDocument/2006/math">
                      <m:r>
                        <a:rPr lang="en-US" sz="1050" b="0" i="1" smtClean="0">
                          <a:solidFill>
                            <a:schemeClr val="tx1"/>
                          </a:solidFill>
                          <a:latin typeface="Cambria Math" panose="02040503050406030204" pitchFamily="18" charset="0"/>
                        </a:rPr>
                        <m:t>𝜏</m:t>
                      </m:r>
                    </m:oMath>
                  </a14:m>
                  <a:r>
                    <a:rPr lang="en-US" sz="1050" dirty="0">
                      <a:solidFill>
                        <a:schemeClr val="tx1"/>
                      </a:solidFill>
                    </a:rPr>
                    <a:t>! </a:t>
                  </a:r>
                </a:p>
              </p:txBody>
            </p:sp>
          </mc:Choice>
          <mc:Fallback xmlns="">
            <p:sp>
              <p:nvSpPr>
                <p:cNvPr id="41" name="TextBox 40">
                  <a:extLst>
                    <a:ext uri="{FF2B5EF4-FFF2-40B4-BE49-F238E27FC236}">
                      <a16:creationId xmlns:a16="http://schemas.microsoft.com/office/drawing/2014/main" id="{FD5633ED-ABE0-E208-D43D-13F5702D6BAB}"/>
                    </a:ext>
                  </a:extLst>
                </p:cNvPr>
                <p:cNvSpPr txBox="1">
                  <a:spLocks noRot="1" noChangeAspect="1" noMove="1" noResize="1" noEditPoints="1" noAdjustHandles="1" noChangeArrowheads="1" noChangeShapeType="1" noTextEdit="1"/>
                </p:cNvSpPr>
                <p:nvPr/>
              </p:nvSpPr>
              <p:spPr>
                <a:xfrm>
                  <a:off x="7786417" y="3544921"/>
                  <a:ext cx="2039515" cy="1326549"/>
                </a:xfrm>
                <a:prstGeom prst="wedgeRoundRectCallout">
                  <a:avLst>
                    <a:gd name="adj1" fmla="val -91117"/>
                    <a:gd name="adj2" fmla="val 69657"/>
                    <a:gd name="adj3" fmla="val 16667"/>
                  </a:avLst>
                </a:prstGeom>
                <a:blipFill>
                  <a:blip r:embed="rId9"/>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1CDD6E38-C15B-320A-7E72-0FE41092F723}"/>
                    </a:ext>
                  </a:extLst>
                </p:cNvPr>
                <p:cNvSpPr txBox="1"/>
                <p:nvPr/>
              </p:nvSpPr>
              <p:spPr>
                <a:xfrm>
                  <a:off x="2975018" y="5399411"/>
                  <a:ext cx="1023144" cy="554469"/>
                </a:xfrm>
                <a:prstGeom prst="rect">
                  <a:avLst/>
                </a:prstGeom>
                <a:noFill/>
              </p:spPr>
              <p:txBody>
                <a:bodyPr wrap="none" rtlCol="0">
                  <a:spAutoFit/>
                </a:bodyPr>
                <a:lstStyle/>
                <a:p>
                  <a:pPr algn="r"/>
                  <a14:m>
                    <m:oMathPara xmlns:m="http://schemas.openxmlformats.org/officeDocument/2006/math">
                      <m:oMathParaPr>
                        <m:jc m:val="centerGroup"/>
                      </m:oMathParaPr>
                      <m:oMath xmlns:m="http://schemas.openxmlformats.org/officeDocument/2006/math">
                        <m:acc>
                          <m:accPr>
                            <m:chr m:val="̃"/>
                            <m:ctrlPr>
                              <a:rPr lang="en-US" sz="1100" b="0" i="1" dirty="0" smtClean="0">
                                <a:solidFill>
                                  <a:schemeClr val="accent1"/>
                                </a:solidFill>
                                <a:latin typeface="Cambria Math" panose="02040503050406030204" pitchFamily="18" charset="0"/>
                              </a:rPr>
                            </m:ctrlPr>
                          </m:accPr>
                          <m:e>
                            <m:r>
                              <m:rPr>
                                <m:sty m:val="p"/>
                              </m:rPr>
                              <a:rPr lang="en-US" sz="1100" b="0" i="0" dirty="0" smtClean="0">
                                <a:solidFill>
                                  <a:schemeClr val="accent1"/>
                                </a:solidFill>
                                <a:latin typeface="Cambria Math" panose="02040503050406030204" pitchFamily="18" charset="0"/>
                              </a:rPr>
                              <m:t>Data</m:t>
                            </m:r>
                          </m:e>
                        </m:acc>
                      </m:oMath>
                    </m:oMathPara>
                  </a14:m>
                  <a:endParaRPr lang="en-US" sz="1100" b="0" dirty="0">
                    <a:solidFill>
                      <a:schemeClr val="accent1"/>
                    </a:solidFill>
                  </a:endParaRPr>
                </a:p>
              </p:txBody>
            </p:sp>
          </mc:Choice>
          <mc:Fallback xmlns="">
            <p:sp>
              <p:nvSpPr>
                <p:cNvPr id="42" name="TextBox 41">
                  <a:extLst>
                    <a:ext uri="{FF2B5EF4-FFF2-40B4-BE49-F238E27FC236}">
                      <a16:creationId xmlns:a16="http://schemas.microsoft.com/office/drawing/2014/main" id="{1CDD6E38-C15B-320A-7E72-0FE41092F723}"/>
                    </a:ext>
                  </a:extLst>
                </p:cNvPr>
                <p:cNvSpPr txBox="1">
                  <a:spLocks noRot="1" noChangeAspect="1" noMove="1" noResize="1" noEditPoints="1" noAdjustHandles="1" noChangeArrowheads="1" noChangeShapeType="1" noTextEdit="1"/>
                </p:cNvSpPr>
                <p:nvPr/>
              </p:nvSpPr>
              <p:spPr>
                <a:xfrm>
                  <a:off x="2975018" y="5399411"/>
                  <a:ext cx="1023144" cy="554469"/>
                </a:xfrm>
                <a:prstGeom prst="rect">
                  <a:avLst/>
                </a:prstGeom>
                <a:blipFill>
                  <a:blip r:embed="rId10"/>
                  <a:stretch>
                    <a:fillRect/>
                  </a:stretch>
                </a:blipFill>
              </p:spPr>
              <p:txBody>
                <a:bodyPr/>
                <a:lstStyle/>
                <a:p>
                  <a:r>
                    <a:rPr lang="en-US">
                      <a:noFill/>
                    </a:rPr>
                    <a:t> </a:t>
                  </a:r>
                </a:p>
              </p:txBody>
            </p:sp>
          </mc:Fallback>
        </mc:AlternateContent>
      </p:grpSp>
    </p:spTree>
    <p:extLst>
      <p:ext uri="{BB962C8B-B14F-4D97-AF65-F5344CB8AC3E}">
        <p14:creationId xmlns:p14="http://schemas.microsoft.com/office/powerpoint/2010/main" val="34054621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8718CF-9259-B411-453D-72A75EFF003D}"/>
              </a:ext>
            </a:extLst>
          </p:cNvPr>
          <p:cNvSpPr>
            <a:spLocks noGrp="1"/>
          </p:cNvSpPr>
          <p:nvPr>
            <p:ph type="title"/>
          </p:nvPr>
        </p:nvSpPr>
        <p:spPr>
          <a:xfrm>
            <a:off x="838200" y="318052"/>
            <a:ext cx="10515600" cy="1007511"/>
          </a:xfrm>
        </p:spPr>
        <p:txBody>
          <a:bodyPr>
            <a:normAutofit fontScale="90000"/>
          </a:bodyPr>
          <a:lstStyle/>
          <a:p>
            <a:r>
              <a:rPr lang="en-US" dirty="0"/>
              <a:t>And here we are!</a:t>
            </a:r>
            <a:br>
              <a:rPr lang="en-US" dirty="0"/>
            </a:br>
            <a:endParaRPr lang="en-US" dirty="0"/>
          </a:p>
        </p:txBody>
      </p:sp>
      <p:sp>
        <p:nvSpPr>
          <p:cNvPr id="3" name="Content Placeholder 2">
            <a:extLst>
              <a:ext uri="{FF2B5EF4-FFF2-40B4-BE49-F238E27FC236}">
                <a16:creationId xmlns:a16="http://schemas.microsoft.com/office/drawing/2014/main" id="{DFD9E0CA-E46F-420F-798A-50944A94B14C}"/>
              </a:ext>
            </a:extLst>
          </p:cNvPr>
          <p:cNvSpPr>
            <a:spLocks noGrp="1"/>
          </p:cNvSpPr>
          <p:nvPr>
            <p:ph idx="1"/>
          </p:nvPr>
        </p:nvSpPr>
        <p:spPr>
          <a:xfrm>
            <a:off x="838200" y="1457739"/>
            <a:ext cx="9790043" cy="5400261"/>
          </a:xfrm>
        </p:spPr>
        <p:txBody>
          <a:bodyPr>
            <a:normAutofit fontScale="92500" lnSpcReduction="10000"/>
          </a:bodyPr>
          <a:lstStyle/>
          <a:p>
            <a:pPr marL="514350" indent="-514350">
              <a:buFont typeface="+mj-lt"/>
              <a:buAutoNum type="arabicPeriod"/>
            </a:pPr>
            <a:r>
              <a:rPr lang="en-US" dirty="0"/>
              <a:t>Causal inference is hard.</a:t>
            </a:r>
          </a:p>
          <a:p>
            <a:pPr lvl="1"/>
            <a:r>
              <a:rPr lang="en-US" dirty="0">
                <a:solidFill>
                  <a:schemeClr val="accent1"/>
                </a:solidFill>
              </a:rPr>
              <a:t>We need to be</a:t>
            </a:r>
            <a:r>
              <a:rPr lang="en-US" b="1" dirty="0">
                <a:solidFill>
                  <a:schemeClr val="accent1"/>
                </a:solidFill>
              </a:rPr>
              <a:t> thoughtful </a:t>
            </a:r>
            <a:r>
              <a:rPr lang="en-US" dirty="0">
                <a:solidFill>
                  <a:schemeClr val="accent1"/>
                </a:solidFill>
              </a:rPr>
              <a:t>and to ask questions:  </a:t>
            </a:r>
          </a:p>
          <a:p>
            <a:pPr lvl="2"/>
            <a:r>
              <a:rPr lang="en-US" dirty="0">
                <a:solidFill>
                  <a:schemeClr val="accent1"/>
                </a:solidFill>
              </a:rPr>
              <a:t>Is this answering a causal question?  Does this extend to the population I care about?  Am I measuring the right thing? …</a:t>
            </a:r>
          </a:p>
          <a:p>
            <a:pPr marL="514350" indent="-514350">
              <a:buFont typeface="+mj-lt"/>
              <a:buAutoNum type="arabicPeriod"/>
            </a:pPr>
            <a:r>
              <a:rPr lang="en-US" dirty="0"/>
              <a:t>Causal inference is hard.</a:t>
            </a:r>
          </a:p>
          <a:p>
            <a:pPr lvl="1"/>
            <a:r>
              <a:rPr lang="en-US" dirty="0">
                <a:solidFill>
                  <a:schemeClr val="accent1"/>
                </a:solidFill>
              </a:rPr>
              <a:t>We need to be </a:t>
            </a:r>
            <a:r>
              <a:rPr lang="en-US" b="1" dirty="0">
                <a:solidFill>
                  <a:schemeClr val="accent1"/>
                </a:solidFill>
              </a:rPr>
              <a:t>creative</a:t>
            </a:r>
            <a:r>
              <a:rPr lang="en-US" dirty="0">
                <a:solidFill>
                  <a:schemeClr val="accent1"/>
                </a:solidFill>
              </a:rPr>
              <a:t> to design solutions:</a:t>
            </a:r>
          </a:p>
          <a:p>
            <a:pPr lvl="2"/>
            <a:r>
              <a:rPr lang="en-US" dirty="0">
                <a:solidFill>
                  <a:schemeClr val="accent1"/>
                </a:solidFill>
              </a:rPr>
              <a:t>Identify natural experiments, find IVs, RDs, interesting datasets, …</a:t>
            </a:r>
          </a:p>
          <a:p>
            <a:pPr marL="514350" indent="-514350">
              <a:buFont typeface="+mj-lt"/>
              <a:buAutoNum type="arabicPeriod"/>
            </a:pPr>
            <a:r>
              <a:rPr lang="en-US" dirty="0"/>
              <a:t>Causal inference is hard.</a:t>
            </a:r>
          </a:p>
          <a:p>
            <a:pPr lvl="1"/>
            <a:r>
              <a:rPr lang="en-US" dirty="0">
                <a:solidFill>
                  <a:schemeClr val="accent1"/>
                </a:solidFill>
              </a:rPr>
              <a:t>We need to be </a:t>
            </a:r>
            <a:r>
              <a:rPr lang="en-US" b="1" dirty="0">
                <a:solidFill>
                  <a:schemeClr val="accent1"/>
                </a:solidFill>
              </a:rPr>
              <a:t>actively skeptical </a:t>
            </a:r>
            <a:r>
              <a:rPr lang="en-US" dirty="0">
                <a:solidFill>
                  <a:schemeClr val="accent1"/>
                </a:solidFill>
              </a:rPr>
              <a:t>of our answers:</a:t>
            </a:r>
          </a:p>
          <a:p>
            <a:pPr lvl="2"/>
            <a:r>
              <a:rPr lang="en-US" dirty="0">
                <a:solidFill>
                  <a:schemeClr val="accent1"/>
                </a:solidFill>
              </a:rPr>
              <a:t>Do placebo analyses. What testable implications does your “causal story” have?  Test as many of them as you can! </a:t>
            </a:r>
          </a:p>
          <a:p>
            <a:pPr lvl="1"/>
            <a:endParaRPr lang="en-US" sz="1300" dirty="0">
              <a:solidFill>
                <a:schemeClr val="accent1"/>
              </a:solidFill>
            </a:endParaRPr>
          </a:p>
          <a:p>
            <a:pPr marL="514350" indent="-514350">
              <a:buFont typeface="+mj-lt"/>
              <a:buAutoNum type="arabicPeriod"/>
            </a:pPr>
            <a:r>
              <a:rPr lang="en-US" dirty="0"/>
              <a:t>But at some point, we need to make decisions.</a:t>
            </a:r>
          </a:p>
          <a:p>
            <a:pPr lvl="1"/>
            <a:r>
              <a:rPr lang="en-US" dirty="0">
                <a:solidFill>
                  <a:schemeClr val="accent1"/>
                </a:solidFill>
              </a:rPr>
              <a:t>Hopefully, we can amass enough evidence from being thoughtful enough and creative enough and skeptical enough that we can get some idea of what’s going on!</a:t>
            </a:r>
          </a:p>
        </p:txBody>
      </p:sp>
      <p:sp>
        <p:nvSpPr>
          <p:cNvPr id="5" name="TextBox 4">
            <a:extLst>
              <a:ext uri="{FF2B5EF4-FFF2-40B4-BE49-F238E27FC236}">
                <a16:creationId xmlns:a16="http://schemas.microsoft.com/office/drawing/2014/main" id="{C718886D-E600-9FC3-CD84-6E8F8355AFCE}"/>
              </a:ext>
            </a:extLst>
          </p:cNvPr>
          <p:cNvSpPr txBox="1"/>
          <p:nvPr/>
        </p:nvSpPr>
        <p:spPr>
          <a:xfrm>
            <a:off x="838200" y="837653"/>
            <a:ext cx="6096000" cy="369332"/>
          </a:xfrm>
          <a:prstGeom prst="rect">
            <a:avLst/>
          </a:prstGeom>
          <a:noFill/>
        </p:spPr>
        <p:txBody>
          <a:bodyPr wrap="square">
            <a:spAutoFit/>
          </a:bodyPr>
          <a:lstStyle/>
          <a:p>
            <a:r>
              <a:rPr lang="en-US" sz="1800" dirty="0">
                <a:solidFill>
                  <a:srgbClr val="8C1516"/>
                </a:solidFill>
              </a:rPr>
              <a:t>Zooming out, a few take-aways:</a:t>
            </a:r>
            <a:endParaRPr lang="en-US" dirty="0">
              <a:solidFill>
                <a:srgbClr val="8C1516"/>
              </a:solidFill>
            </a:endParaRPr>
          </a:p>
        </p:txBody>
      </p:sp>
    </p:spTree>
    <p:extLst>
      <p:ext uri="{BB962C8B-B14F-4D97-AF65-F5344CB8AC3E}">
        <p14:creationId xmlns:p14="http://schemas.microsoft.com/office/powerpoint/2010/main" val="2306380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2"/>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E6683F-51CD-55CC-AB41-F9F7D30C172C}"/>
              </a:ext>
            </a:extLst>
          </p:cNvPr>
          <p:cNvSpPr>
            <a:spLocks noGrp="1"/>
          </p:cNvSpPr>
          <p:nvPr>
            <p:ph type="title"/>
          </p:nvPr>
        </p:nvSpPr>
        <p:spPr/>
        <p:txBody>
          <a:bodyPr/>
          <a:lstStyle/>
          <a:p>
            <a:r>
              <a:rPr lang="en-US" dirty="0"/>
              <a:t>Next time: Project Presentations!</a:t>
            </a:r>
          </a:p>
        </p:txBody>
      </p:sp>
      <p:sp>
        <p:nvSpPr>
          <p:cNvPr id="3" name="Content Placeholder 2">
            <a:extLst>
              <a:ext uri="{FF2B5EF4-FFF2-40B4-BE49-F238E27FC236}">
                <a16:creationId xmlns:a16="http://schemas.microsoft.com/office/drawing/2014/main" id="{D6E4341F-232C-40C3-61ED-3E0CA37FDDAE}"/>
              </a:ext>
            </a:extLst>
          </p:cNvPr>
          <p:cNvSpPr>
            <a:spLocks noGrp="1"/>
          </p:cNvSpPr>
          <p:nvPr>
            <p:ph idx="1"/>
          </p:nvPr>
        </p:nvSpPr>
        <p:spPr/>
        <p:txBody>
          <a:bodyPr/>
          <a:lstStyle/>
          <a:p>
            <a:endParaRPr lang="en-US" dirty="0"/>
          </a:p>
        </p:txBody>
      </p:sp>
    </p:spTree>
    <p:extLst>
      <p:ext uri="{BB962C8B-B14F-4D97-AF65-F5344CB8AC3E}">
        <p14:creationId xmlns:p14="http://schemas.microsoft.com/office/powerpoint/2010/main" val="408194943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9F0EB9-8855-6AA6-B0C9-E83FD33E117B}"/>
              </a:ext>
            </a:extLst>
          </p:cNvPr>
          <p:cNvSpPr>
            <a:spLocks noGrp="1"/>
          </p:cNvSpPr>
          <p:nvPr>
            <p:ph type="title"/>
          </p:nvPr>
        </p:nvSpPr>
        <p:spPr/>
        <p:txBody>
          <a:bodyPr/>
          <a:lstStyle/>
          <a:p>
            <a:r>
              <a:rPr lang="en-US" dirty="0"/>
              <a:t>Exit ticket</a:t>
            </a:r>
          </a:p>
        </p:txBody>
      </p:sp>
      <p:pic>
        <p:nvPicPr>
          <p:cNvPr id="4" name="Picture 3">
            <a:extLst>
              <a:ext uri="{FF2B5EF4-FFF2-40B4-BE49-F238E27FC236}">
                <a16:creationId xmlns:a16="http://schemas.microsoft.com/office/drawing/2014/main" id="{30D56821-B36F-05BE-8C22-119BD426E006}"/>
              </a:ext>
            </a:extLst>
          </p:cNvPr>
          <p:cNvPicPr>
            <a:picLocks noChangeAspect="1"/>
          </p:cNvPicPr>
          <p:nvPr/>
        </p:nvPicPr>
        <p:blipFill>
          <a:blip r:embed="rId3"/>
          <a:stretch>
            <a:fillRect/>
          </a:stretch>
        </p:blipFill>
        <p:spPr>
          <a:xfrm>
            <a:off x="10010775" y="146050"/>
            <a:ext cx="2028825" cy="1440602"/>
          </a:xfrm>
          <a:prstGeom prst="rect">
            <a:avLst/>
          </a:prstGeom>
        </p:spPr>
      </p:pic>
      <p:sp>
        <p:nvSpPr>
          <p:cNvPr id="8" name="TextBox 7">
            <a:extLst>
              <a:ext uri="{FF2B5EF4-FFF2-40B4-BE49-F238E27FC236}">
                <a16:creationId xmlns:a16="http://schemas.microsoft.com/office/drawing/2014/main" id="{65F0044E-68BA-46FB-DFE2-EB19710BB196}"/>
              </a:ext>
            </a:extLst>
          </p:cNvPr>
          <p:cNvSpPr txBox="1"/>
          <p:nvPr/>
        </p:nvSpPr>
        <p:spPr>
          <a:xfrm>
            <a:off x="1505712" y="1984243"/>
            <a:ext cx="9848088" cy="523220"/>
          </a:xfrm>
          <a:prstGeom prst="rect">
            <a:avLst/>
          </a:prstGeom>
          <a:noFill/>
        </p:spPr>
        <p:txBody>
          <a:bodyPr wrap="square">
            <a:spAutoFit/>
          </a:bodyPr>
          <a:lstStyle/>
          <a:p>
            <a:r>
              <a:rPr lang="en-US" sz="2800" dirty="0">
                <a:latin typeface="Arial" panose="020B0604020202020204" pitchFamily="34" charset="0"/>
                <a:cs typeface="Arial" panose="020B0604020202020204" pitchFamily="34" charset="0"/>
              </a:rPr>
              <a:t>Don’t forget to fill out the exit ticket before you leave class!</a:t>
            </a:r>
          </a:p>
        </p:txBody>
      </p:sp>
      <p:sp>
        <p:nvSpPr>
          <p:cNvPr id="10" name="Arrow: Bent 9">
            <a:extLst>
              <a:ext uri="{FF2B5EF4-FFF2-40B4-BE49-F238E27FC236}">
                <a16:creationId xmlns:a16="http://schemas.microsoft.com/office/drawing/2014/main" id="{01F52CB0-CE46-989E-A338-6C694D0A271D}"/>
              </a:ext>
            </a:extLst>
          </p:cNvPr>
          <p:cNvSpPr/>
          <p:nvPr/>
        </p:nvSpPr>
        <p:spPr>
          <a:xfrm rot="10800000">
            <a:off x="8403336" y="2902064"/>
            <a:ext cx="2002536" cy="1551063"/>
          </a:xfrm>
          <a:prstGeom prst="bentArrow">
            <a:avLst/>
          </a:prstGeom>
          <a:solidFill>
            <a:srgbClr val="8C151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4098" name="Picture 2" descr="Turkey Dancing Stock Illustrations – 388 Turkey Dancing Stock  Illustrations, Vectors &amp; Clipart - Dreamstime">
            <a:extLst>
              <a:ext uri="{FF2B5EF4-FFF2-40B4-BE49-F238E27FC236}">
                <a16:creationId xmlns:a16="http://schemas.microsoft.com/office/drawing/2014/main" id="{8985886C-55A6-6B93-B007-FE454EB74BF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34040" y="4088002"/>
            <a:ext cx="2252899" cy="2404873"/>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1F156ACC-E757-11F4-50AB-6B75832F2407}"/>
              </a:ext>
            </a:extLst>
          </p:cNvPr>
          <p:cNvSpPr txBox="1"/>
          <p:nvPr/>
        </p:nvSpPr>
        <p:spPr>
          <a:xfrm>
            <a:off x="1533010" y="3170297"/>
            <a:ext cx="2111188" cy="830997"/>
          </a:xfrm>
          <a:prstGeom prst="rect">
            <a:avLst/>
          </a:prstGeom>
          <a:noFill/>
        </p:spPr>
        <p:txBody>
          <a:bodyPr wrap="square" rtlCol="0">
            <a:spAutoFit/>
          </a:bodyPr>
          <a:lstStyle/>
          <a:p>
            <a:pPr algn="ctr"/>
            <a:r>
              <a:rPr lang="en-US" sz="2400" dirty="0"/>
              <a:t>…and have a nice break!</a:t>
            </a:r>
          </a:p>
        </p:txBody>
      </p:sp>
      <p:pic>
        <p:nvPicPr>
          <p:cNvPr id="7" name="Picture 6">
            <a:extLst>
              <a:ext uri="{FF2B5EF4-FFF2-40B4-BE49-F238E27FC236}">
                <a16:creationId xmlns:a16="http://schemas.microsoft.com/office/drawing/2014/main" id="{A0B983F5-1479-C3BD-218C-BDA0829FE655}"/>
              </a:ext>
            </a:extLst>
          </p:cNvPr>
          <p:cNvPicPr>
            <a:picLocks noChangeAspect="1"/>
          </p:cNvPicPr>
          <p:nvPr/>
        </p:nvPicPr>
        <p:blipFill>
          <a:blip r:embed="rId5"/>
          <a:stretch>
            <a:fillRect/>
          </a:stretch>
        </p:blipFill>
        <p:spPr>
          <a:xfrm>
            <a:off x="4548089" y="2874268"/>
            <a:ext cx="3404302" cy="3404302"/>
          </a:xfrm>
          <a:prstGeom prst="rect">
            <a:avLst/>
          </a:prstGeom>
        </p:spPr>
      </p:pic>
    </p:spTree>
    <p:extLst>
      <p:ext uri="{BB962C8B-B14F-4D97-AF65-F5344CB8AC3E}">
        <p14:creationId xmlns:p14="http://schemas.microsoft.com/office/powerpoint/2010/main" val="51911427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__PE_POLL_EMBED_ID" val="a5d3988c-9cf7-44b4-ba52-b105350defc3"/>
</p:tagLst>
</file>

<file path=ppt/tags/tag2.xml><?xml version="1.0" encoding="utf-8"?>
<p:tagLst xmlns:a="http://schemas.openxmlformats.org/drawingml/2006/main" xmlns:r="http://schemas.openxmlformats.org/officeDocument/2006/relationships" xmlns:p="http://schemas.openxmlformats.org/presentationml/2006/main">
  <p:tag name="__PE_POLL_EMBED_ID" val="5f83b48c-1bcf-4e1d-8771-de56ab65988a"/>
</p:tagLst>
</file>

<file path=ppt/theme/theme1.xml><?xml version="1.0" encoding="utf-8"?>
<a:theme xmlns:a="http://schemas.openxmlformats.org/drawingml/2006/main" name="stanford_theme_1">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stanford_theme_1" id="{A142E0A3-F9A9-4D8A-A335-47DDAA9BD0A9}" vid="{02C1A18B-3E97-49A8-9281-C5CEFF48935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stanford_theme_1</Template>
  <TotalTime>6646</TotalTime>
  <Words>3525</Words>
  <Application>Microsoft Macintosh PowerPoint</Application>
  <PresentationFormat>Widescreen</PresentationFormat>
  <Paragraphs>841</Paragraphs>
  <Slides>64</Slides>
  <Notes>58</Notes>
  <HiddenSlides>8</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64</vt:i4>
      </vt:variant>
    </vt:vector>
  </HeadingPairs>
  <TitlesOfParts>
    <vt:vector size="70" baseType="lpstr">
      <vt:lpstr>Aptos</vt:lpstr>
      <vt:lpstr>Arial</vt:lpstr>
      <vt:lpstr>Cambria Math</vt:lpstr>
      <vt:lpstr>Courier New</vt:lpstr>
      <vt:lpstr>Eurostile</vt:lpstr>
      <vt:lpstr>stanford_theme_1</vt:lpstr>
      <vt:lpstr>Synthetic Controls and course recap</vt:lpstr>
      <vt:lpstr>Announcements</vt:lpstr>
      <vt:lpstr>Agenda</vt:lpstr>
      <vt:lpstr>Synthetic Controls</vt:lpstr>
      <vt:lpstr>Idea of synthetic control</vt:lpstr>
      <vt:lpstr>Idea of synthetic control</vt:lpstr>
      <vt:lpstr>Questions about this idea</vt:lpstr>
      <vt:lpstr>Running example for today’s class</vt:lpstr>
      <vt:lpstr>Effect of anti-smoking legislation Abadie, Diamond and Hainmueller (2010)</vt:lpstr>
      <vt:lpstr>What do we get?</vt:lpstr>
      <vt:lpstr>How do we make “synthetic CA”?</vt:lpstr>
      <vt:lpstr>How did they make “synthetic CA”?</vt:lpstr>
      <vt:lpstr>How did they make “synthetic CA”?</vt:lpstr>
      <vt:lpstr>That’s how they got this result</vt:lpstr>
      <vt:lpstr>Do we believe the results?</vt:lpstr>
      <vt:lpstr>Do we believe it?</vt:lpstr>
      <vt:lpstr>Do we believe it?</vt:lpstr>
      <vt:lpstr>Questions about this idea</vt:lpstr>
      <vt:lpstr>How do we find the best weights?</vt:lpstr>
      <vt:lpstr>Suppose there are no covariates</vt:lpstr>
      <vt:lpstr>Minimize MSE!</vt:lpstr>
      <vt:lpstr>What if you had covariates?</vt:lpstr>
      <vt:lpstr>Minimize MSE!</vt:lpstr>
      <vt:lpstr>In this example…</vt:lpstr>
      <vt:lpstr>Questions about this idea</vt:lpstr>
      <vt:lpstr>Seems like a good time for a break</vt:lpstr>
      <vt:lpstr>So far we’ve seen three methods for dealing with panel data</vt:lpstr>
      <vt:lpstr>DiD vs Synthetic Controls</vt:lpstr>
      <vt:lpstr>Synthetic controls generalizes DiD</vt:lpstr>
      <vt:lpstr>Synthetic controls generalizes DiD</vt:lpstr>
      <vt:lpstr>Synthetic controls generalizes DiD</vt:lpstr>
      <vt:lpstr>Synthetic controls generalizes DiD</vt:lpstr>
      <vt:lpstr>Synthetic controls generalizes DiD</vt:lpstr>
      <vt:lpstr>Mathematically, what’s the difference?</vt:lpstr>
      <vt:lpstr>Mathematically, what’s the difference?</vt:lpstr>
      <vt:lpstr>Matrix Completion vs. Synthetic Controls</vt:lpstr>
      <vt:lpstr>Claim: if the data are low-rank These are doing very* similar things</vt:lpstr>
      <vt:lpstr>Claim: if the data are low-rank These are doing very* similar things</vt:lpstr>
      <vt:lpstr>Synthetic controls vs Matrix completion</vt:lpstr>
      <vt:lpstr>In this example?</vt:lpstr>
      <vt:lpstr>Most important feature</vt:lpstr>
      <vt:lpstr>Second most important feature</vt:lpstr>
      <vt:lpstr>Third most important feature?</vt:lpstr>
      <vt:lpstr>…And we get pretty similar results</vt:lpstr>
      <vt:lpstr>Do you believe these results? </vt:lpstr>
      <vt:lpstr>PowerPoint Presentation</vt:lpstr>
      <vt:lpstr>One big concern</vt:lpstr>
      <vt:lpstr>Spillovers?</vt:lpstr>
      <vt:lpstr>Which of the three approaches would you find most compelling to study Brexit?</vt:lpstr>
      <vt:lpstr>PowerPoint Presentation</vt:lpstr>
      <vt:lpstr>Take-aways</vt:lpstr>
      <vt:lpstr>What just happened?</vt:lpstr>
      <vt:lpstr>OMG STATISTICS</vt:lpstr>
      <vt:lpstr>What is Causality? Definitely not the same as correlation!</vt:lpstr>
      <vt:lpstr>The magic of randomization!</vt:lpstr>
      <vt:lpstr>The effect of UBI</vt:lpstr>
      <vt:lpstr>Regression!</vt:lpstr>
      <vt:lpstr>Returns to Education And IV and LATE!</vt:lpstr>
      <vt:lpstr>More Returns to Education Regression Discontinuity!</vt:lpstr>
      <vt:lpstr>Panel Data!</vt:lpstr>
      <vt:lpstr>Three Methods and a Sanity-Check</vt:lpstr>
      <vt:lpstr>And here we are! </vt:lpstr>
      <vt:lpstr>Next time: Project Presentations!</vt:lpstr>
      <vt:lpstr>Exit ticket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Mary Katherine Wootters</dc:creator>
  <cp:lastModifiedBy>Mary Katherine Wootters</cp:lastModifiedBy>
  <cp:revision>31</cp:revision>
  <dcterms:created xsi:type="dcterms:W3CDTF">2024-11-17T20:17:50Z</dcterms:created>
  <dcterms:modified xsi:type="dcterms:W3CDTF">2025-11-24T22:22:18Z</dcterms:modified>
</cp:coreProperties>
</file>